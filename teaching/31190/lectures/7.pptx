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jpeg" ContentType="image/jpeg"/>
  <Default Extension="emf" ContentType="image/x-emf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0"/>
  </p:notesMasterIdLst>
  <p:handoutMasterIdLst>
    <p:handoutMasterId r:id="rId61"/>
  </p:handoutMasterIdLst>
  <p:sldIdLst>
    <p:sldId id="256" r:id="rId2"/>
    <p:sldId id="1054" r:id="rId3"/>
    <p:sldId id="1130" r:id="rId4"/>
    <p:sldId id="1114" r:id="rId5"/>
    <p:sldId id="1116" r:id="rId6"/>
    <p:sldId id="1118" r:id="rId7"/>
    <p:sldId id="1119" r:id="rId8"/>
    <p:sldId id="1120" r:id="rId9"/>
    <p:sldId id="1121" r:id="rId10"/>
    <p:sldId id="1125" r:id="rId11"/>
    <p:sldId id="1126" r:id="rId12"/>
    <p:sldId id="1150" r:id="rId13"/>
    <p:sldId id="259" r:id="rId14"/>
    <p:sldId id="1131" r:id="rId15"/>
    <p:sldId id="1148" r:id="rId16"/>
    <p:sldId id="1149" r:id="rId17"/>
    <p:sldId id="1132" r:id="rId18"/>
    <p:sldId id="1134" r:id="rId19"/>
    <p:sldId id="1135" r:id="rId20"/>
    <p:sldId id="1136" r:id="rId21"/>
    <p:sldId id="1133" r:id="rId22"/>
    <p:sldId id="1143" r:id="rId23"/>
    <p:sldId id="1075" r:id="rId24"/>
    <p:sldId id="1076" r:id="rId25"/>
    <p:sldId id="1139" r:id="rId26"/>
    <p:sldId id="1142" r:id="rId27"/>
    <p:sldId id="1077" r:id="rId28"/>
    <p:sldId id="1100" r:id="rId29"/>
    <p:sldId id="1151" r:id="rId30"/>
    <p:sldId id="1094" r:id="rId31"/>
    <p:sldId id="1095" r:id="rId32"/>
    <p:sldId id="1082" r:id="rId33"/>
    <p:sldId id="1101" r:id="rId34"/>
    <p:sldId id="1102" r:id="rId35"/>
    <p:sldId id="1144" r:id="rId36"/>
    <p:sldId id="1103" r:id="rId37"/>
    <p:sldId id="1158" r:id="rId38"/>
    <p:sldId id="1165" r:id="rId39"/>
    <p:sldId id="1162" r:id="rId40"/>
    <p:sldId id="1164" r:id="rId41"/>
    <p:sldId id="1159" r:id="rId42"/>
    <p:sldId id="1104" r:id="rId43"/>
    <p:sldId id="1160" r:id="rId44"/>
    <p:sldId id="1161" r:id="rId45"/>
    <p:sldId id="1152" r:id="rId46"/>
    <p:sldId id="905" r:id="rId47"/>
    <p:sldId id="906" r:id="rId48"/>
    <p:sldId id="907" r:id="rId49"/>
    <p:sldId id="942" r:id="rId50"/>
    <p:sldId id="943" r:id="rId51"/>
    <p:sldId id="944" r:id="rId52"/>
    <p:sldId id="945" r:id="rId53"/>
    <p:sldId id="946" r:id="rId54"/>
    <p:sldId id="947" r:id="rId55"/>
    <p:sldId id="948" r:id="rId56"/>
    <p:sldId id="949" r:id="rId57"/>
    <p:sldId id="950" r:id="rId58"/>
    <p:sldId id="951" r:id="rId5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B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6390" autoAdjust="0"/>
  </p:normalViewPr>
  <p:slideViewPr>
    <p:cSldViewPr snapToGrid="0" snapToObjects="1">
      <p:cViewPr>
        <p:scale>
          <a:sx n="125" d="100"/>
          <a:sy n="125" d="100"/>
        </p:scale>
        <p:origin x="3952" y="16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notesMaster" Target="notesMasters/notesMaster1.xml"/><Relationship Id="rId61" Type="http://schemas.openxmlformats.org/officeDocument/2006/relationships/handoutMaster" Target="handoutMasters/handoutMaster1.xml"/><Relationship Id="rId62" Type="http://schemas.openxmlformats.org/officeDocument/2006/relationships/presProps" Target="presProp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Relationship Id="rId2" Type="http://schemas.openxmlformats.org/officeDocument/2006/relationships/image" Target="../media/image6.emf"/><Relationship Id="rId3" Type="http://schemas.openxmlformats.org/officeDocument/2006/relationships/image" Target="../media/image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1/26/16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1/26/16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357E1AA-3B5C-7144-BCE2-DB2BE2D704A0}" type="slidenum">
              <a:rPr lang="en-US"/>
              <a:pPr/>
              <a:t>4</a:t>
            </a:fld>
            <a:endParaRPr lang="en-US"/>
          </a:p>
        </p:txBody>
      </p:sp>
      <p:sp>
        <p:nvSpPr>
          <p:cNvPr id="64515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26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C90346-8C42-B949-9ED1-59E585D457E3}" type="slidenum">
              <a:rPr lang="en-US"/>
              <a:pPr/>
              <a:t>5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022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D138486-EADF-6047-899A-01D4ECB9C2CD}" type="slidenum">
              <a:rPr lang="en-US" sz="1200">
                <a:latin typeface="Calibri" charset="0"/>
              </a:rPr>
              <a:pPr eaLnBrk="1" hangingPunct="1"/>
              <a:t>6</a:t>
            </a:fld>
            <a:endParaRPr lang="en-US" sz="1200">
              <a:latin typeface="Calibri" charset="0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87169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00714BF-B725-3A42-9963-355062504B2E}" type="slidenum">
              <a:rPr lang="en-US"/>
              <a:pPr/>
              <a:t>7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99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084E14E-C2B8-AF4C-A6BB-263B528C3713}" type="slidenum">
              <a:rPr lang="en-US" sz="1200">
                <a:latin typeface="Calibri" charset="0"/>
              </a:rPr>
              <a:pPr eaLnBrk="1" hangingPunct="1"/>
              <a:t>8</a:t>
            </a:fld>
            <a:endParaRPr lang="en-US" sz="1200">
              <a:latin typeface="Calibri" charset="0"/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6188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EA890B0-808E-6E44-A4DD-EB79892851F2}" type="slidenum">
              <a:rPr lang="en-US"/>
              <a:pPr/>
              <a:t>9</a:t>
            </a:fld>
            <a:endParaRPr lang="en-US"/>
          </a:p>
        </p:txBody>
      </p:sp>
      <p:sp>
        <p:nvSpPr>
          <p:cNvPr id="169987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480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C19D017-F901-9141-9593-12493BACCB70}" type="slidenum">
              <a:rPr lang="en-US" sz="1200">
                <a:latin typeface="Calibri" charset="0"/>
              </a:rPr>
              <a:pPr eaLnBrk="1" hangingPunct="1"/>
              <a:t>10</a:t>
            </a:fld>
            <a:endParaRPr lang="en-US" sz="1200">
              <a:latin typeface="Calibri" charset="0"/>
            </a:endParaRPr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1944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BC19D017-F901-9141-9593-12493BACCB70}" type="slidenum">
              <a:rPr lang="en-US" sz="1200">
                <a:latin typeface="Calibri" charset="0"/>
              </a:rPr>
              <a:pPr eaLnBrk="1" hangingPunct="1"/>
              <a:t>11</a:t>
            </a:fld>
            <a:endParaRPr lang="en-US" sz="1200">
              <a:latin typeface="Calibri" charset="0"/>
            </a:endParaRPr>
          </a:p>
        </p:txBody>
      </p:sp>
      <p:sp>
        <p:nvSpPr>
          <p:cNvPr id="768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76803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FAA26D3D-D897-4be2-8F04-BA451C77F1D7}">
              <ma14:placeholderFlag xmlns:ma14="http://schemas.microsoft.com/office/mac/drawingml/2011/main" val="1"/>
            </a:ex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0994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193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sentence -&gt; NER labeling</a:t>
            </a:r>
          </a:p>
          <a:p>
            <a:endParaRPr lang="en-US" dirty="0" smtClean="0"/>
          </a:p>
          <a:p>
            <a:r>
              <a:rPr lang="en-US" dirty="0" smtClean="0"/>
              <a:t>sentence -&gt; translation</a:t>
            </a:r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baseline="0" dirty="0" err="1" smtClean="0"/>
              <a:t>Neue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Umfrage</a:t>
            </a:r>
            <a:r>
              <a:rPr lang="en-US" baseline="0" dirty="0" smtClean="0"/>
              <a:t>: </a:t>
            </a:r>
            <a:r>
              <a:rPr lang="en-US" baseline="0" dirty="0" err="1" smtClean="0"/>
              <a:t>Kaufen</a:t>
            </a:r>
            <a:r>
              <a:rPr lang="en-US" baseline="0" dirty="0" smtClean="0"/>
              <a:t> </a:t>
            </a:r>
            <a:r>
              <a:rPr lang="en-US" baseline="0" dirty="0" err="1" smtClean="0"/>
              <a:t>Sie</a:t>
            </a:r>
            <a:r>
              <a:rPr lang="en-US" baseline="0" dirty="0" smtClean="0"/>
              <a:t> </a:t>
            </a:r>
            <a:r>
              <a:rPr lang="en-US" baseline="0" dirty="0" err="1" smtClean="0"/>
              <a:t>eine</a:t>
            </a:r>
            <a:r>
              <a:rPr lang="en-US" baseline="0" dirty="0" smtClean="0"/>
              <a:t> Apple Watch?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sentence -&gt; parse tree</a:t>
            </a:r>
          </a:p>
          <a:p>
            <a:r>
              <a:rPr lang="en-US" dirty="0" smtClean="0"/>
              <a:t>set of documents</a:t>
            </a:r>
            <a:r>
              <a:rPr lang="en-US" baseline="0" dirty="0" smtClean="0"/>
              <a:t> -&gt; summary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09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C90346-8C42-B949-9ED1-59E585D457E3}" type="slidenum">
              <a:rPr lang="en-US"/>
              <a:pPr/>
              <a:t>38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8534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6C90346-8C42-B949-9ED1-59E585D457E3}" type="slidenum">
              <a:rPr lang="en-US"/>
              <a:pPr/>
              <a:t>40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171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dirty="0" err="1" smtClean="0"/>
              <a:t>misse</a:t>
            </a:r>
            <a:r>
              <a:rPr lang="en-US" dirty="0" smtClean="0"/>
              <a:t> </a:t>
            </a:r>
            <a:r>
              <a:rPr lang="en-US" dirty="0" err="1" smtClean="0"/>
              <a:t>loveddd</a:t>
            </a:r>
            <a:r>
              <a:rPr lang="en-US" dirty="0" smtClean="0"/>
              <a:t> </a:t>
            </a:r>
            <a:r>
              <a:rPr lang="en-US" dirty="0" err="1" smtClean="0"/>
              <a:t>mised</a:t>
            </a:r>
            <a:r>
              <a:rPr lang="en-US" dirty="0" smtClean="0"/>
              <a:t> </a:t>
            </a:r>
            <a:r>
              <a:rPr lang="en-US" dirty="0" err="1" smtClean="0"/>
              <a:t>luv'd</a:t>
            </a:r>
            <a:r>
              <a:rPr lang="en-US" dirty="0" smtClean="0"/>
              <a:t> </a:t>
            </a:r>
            <a:r>
              <a:rPr lang="en-US" dirty="0" err="1" smtClean="0"/>
              <a:t>mis</a:t>
            </a:r>
            <a:r>
              <a:rPr lang="en-US" dirty="0" smtClean="0"/>
              <a:t>-read </a:t>
            </a:r>
            <a:r>
              <a:rPr lang="en-US" dirty="0" err="1" smtClean="0"/>
              <a:t>loooooved</a:t>
            </a:r>
            <a:r>
              <a:rPr lang="en-US" dirty="0" smtClean="0"/>
              <a:t> resented </a:t>
            </a:r>
            <a:r>
              <a:rPr lang="en-US" dirty="0" err="1" smtClean="0"/>
              <a:t>lovedddd</a:t>
            </a:r>
            <a:r>
              <a:rPr lang="en-US" dirty="0" smtClean="0"/>
              <a:t> </a:t>
            </a:r>
            <a:r>
              <a:rPr lang="en-US" dirty="0" err="1" smtClean="0"/>
              <a:t>choosed</a:t>
            </a:r>
            <a:r>
              <a:rPr lang="en-US" dirty="0" smtClean="0"/>
              <a:t> </a:t>
            </a:r>
            <a:r>
              <a:rPr lang="en-US" dirty="0" err="1" smtClean="0"/>
              <a:t>missedd</a:t>
            </a:r>
            <a:r>
              <a:rPr lang="en-US" dirty="0" smtClean="0"/>
              <a:t> </a:t>
            </a:r>
            <a:r>
              <a:rPr lang="en-US" dirty="0" err="1" smtClean="0"/>
              <a:t>loveed</a:t>
            </a:r>
            <a:r>
              <a:rPr lang="en-US" dirty="0" smtClean="0"/>
              <a:t> </a:t>
            </a:r>
            <a:r>
              <a:rPr lang="en-US" dirty="0" err="1" smtClean="0"/>
              <a:t>pvr'd</a:t>
            </a:r>
            <a:r>
              <a:rPr lang="en-US" dirty="0" smtClean="0"/>
              <a:t> detested </a:t>
            </a:r>
            <a:r>
              <a:rPr lang="en-US" dirty="0" err="1" smtClean="0"/>
              <a:t>looooooved</a:t>
            </a:r>
            <a:r>
              <a:rPr lang="en-US" dirty="0" smtClean="0"/>
              <a:t> biffed </a:t>
            </a:r>
            <a:r>
              <a:rPr lang="en-US" dirty="0" err="1" smtClean="0"/>
              <a:t>looved</a:t>
            </a:r>
            <a:r>
              <a:rPr lang="en-US" dirty="0" smtClean="0"/>
              <a:t> </a:t>
            </a:r>
            <a:r>
              <a:rPr lang="en-US" dirty="0" err="1" smtClean="0"/>
              <a:t>miss'd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58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dirty="0" err="1" smtClean="0"/>
              <a:t>misse</a:t>
            </a:r>
            <a:r>
              <a:rPr lang="en-US" dirty="0" smtClean="0"/>
              <a:t> </a:t>
            </a:r>
            <a:r>
              <a:rPr lang="en-US" dirty="0" err="1" smtClean="0"/>
              <a:t>loveddd</a:t>
            </a:r>
            <a:r>
              <a:rPr lang="en-US" dirty="0" smtClean="0"/>
              <a:t> </a:t>
            </a:r>
            <a:r>
              <a:rPr lang="en-US" dirty="0" err="1" smtClean="0"/>
              <a:t>mised</a:t>
            </a:r>
            <a:r>
              <a:rPr lang="en-US" dirty="0" smtClean="0"/>
              <a:t> </a:t>
            </a:r>
            <a:r>
              <a:rPr lang="en-US" dirty="0" err="1" smtClean="0"/>
              <a:t>luv'd</a:t>
            </a:r>
            <a:r>
              <a:rPr lang="en-US" dirty="0" smtClean="0"/>
              <a:t> </a:t>
            </a:r>
            <a:r>
              <a:rPr lang="en-US" dirty="0" err="1" smtClean="0"/>
              <a:t>mis</a:t>
            </a:r>
            <a:r>
              <a:rPr lang="en-US" dirty="0" smtClean="0"/>
              <a:t>-read </a:t>
            </a:r>
            <a:r>
              <a:rPr lang="en-US" dirty="0" err="1" smtClean="0"/>
              <a:t>loooooved</a:t>
            </a:r>
            <a:r>
              <a:rPr lang="en-US" dirty="0" smtClean="0"/>
              <a:t> resented </a:t>
            </a:r>
            <a:r>
              <a:rPr lang="en-US" dirty="0" err="1" smtClean="0"/>
              <a:t>lovedddd</a:t>
            </a:r>
            <a:r>
              <a:rPr lang="en-US" dirty="0" smtClean="0"/>
              <a:t> </a:t>
            </a:r>
            <a:r>
              <a:rPr lang="en-US" dirty="0" err="1" smtClean="0"/>
              <a:t>choosed</a:t>
            </a:r>
            <a:r>
              <a:rPr lang="en-US" dirty="0" smtClean="0"/>
              <a:t> </a:t>
            </a:r>
            <a:r>
              <a:rPr lang="en-US" dirty="0" err="1" smtClean="0"/>
              <a:t>missedd</a:t>
            </a:r>
            <a:r>
              <a:rPr lang="en-US" dirty="0" smtClean="0"/>
              <a:t> </a:t>
            </a:r>
            <a:r>
              <a:rPr lang="en-US" dirty="0" err="1" smtClean="0"/>
              <a:t>loveed</a:t>
            </a:r>
            <a:r>
              <a:rPr lang="en-US" dirty="0" smtClean="0"/>
              <a:t> </a:t>
            </a:r>
            <a:r>
              <a:rPr lang="en-US" dirty="0" err="1" smtClean="0"/>
              <a:t>pvr'd</a:t>
            </a:r>
            <a:r>
              <a:rPr lang="en-US" dirty="0" smtClean="0"/>
              <a:t> detested </a:t>
            </a:r>
            <a:r>
              <a:rPr lang="en-US" dirty="0" err="1" smtClean="0"/>
              <a:t>looooooved</a:t>
            </a:r>
            <a:r>
              <a:rPr lang="en-US" dirty="0" smtClean="0"/>
              <a:t> biffed </a:t>
            </a:r>
            <a:r>
              <a:rPr lang="en-US" dirty="0" err="1" smtClean="0"/>
              <a:t>looved</a:t>
            </a:r>
            <a:r>
              <a:rPr lang="en-US" dirty="0" smtClean="0"/>
              <a:t> </a:t>
            </a:r>
            <a:r>
              <a:rPr lang="en-US" dirty="0" err="1" smtClean="0"/>
              <a:t>miss'd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58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58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sooooooooooooooooooooo</a:t>
            </a:r>
            <a:r>
              <a:rPr lang="en-US" dirty="0" smtClean="0"/>
              <a:t> so0o0o </a:t>
            </a:r>
            <a:r>
              <a:rPr lang="en-US" dirty="0" err="1" smtClean="0"/>
              <a:t>sososososo</a:t>
            </a:r>
            <a:r>
              <a:rPr lang="en-US" dirty="0" smtClean="0"/>
              <a:t> </a:t>
            </a:r>
            <a:r>
              <a:rPr lang="en-US" dirty="0" err="1" smtClean="0"/>
              <a:t>soooooooooooooooooooooo</a:t>
            </a:r>
            <a:r>
              <a:rPr lang="en-US" dirty="0" smtClean="0"/>
              <a:t> </a:t>
            </a:r>
            <a:r>
              <a:rPr lang="en-US" dirty="0" err="1" smtClean="0"/>
              <a:t>sssoooo</a:t>
            </a:r>
            <a:r>
              <a:rPr lang="en-US" dirty="0" smtClean="0"/>
              <a:t> </a:t>
            </a:r>
            <a:r>
              <a:rPr lang="en-US" dirty="0" err="1" smtClean="0"/>
              <a:t>ssooooo</a:t>
            </a:r>
            <a:r>
              <a:rPr lang="en-US" dirty="0" smtClean="0"/>
              <a:t> </a:t>
            </a:r>
            <a:r>
              <a:rPr lang="en-US" dirty="0" err="1" smtClean="0"/>
              <a:t>superrrrr</a:t>
            </a:r>
            <a:r>
              <a:rPr lang="en-US" dirty="0" smtClean="0"/>
              <a:t> very2 s000 </a:t>
            </a:r>
            <a:r>
              <a:rPr lang="en-US" dirty="0" err="1" smtClean="0"/>
              <a:t>soooooooooooooooooooooooo</a:t>
            </a:r>
            <a:r>
              <a:rPr lang="en-US" dirty="0" smtClean="0"/>
              <a:t> </a:t>
            </a:r>
            <a:r>
              <a:rPr lang="en-US" dirty="0" err="1" smtClean="0"/>
              <a:t>sooooooooooooooooooooooooo</a:t>
            </a:r>
            <a:r>
              <a:rPr lang="en-US" dirty="0" smtClean="0"/>
              <a:t> </a:t>
            </a:r>
            <a:r>
              <a:rPr lang="en-US" dirty="0" err="1" smtClean="0"/>
              <a:t>sooooooooooooooooooooooo</a:t>
            </a:r>
            <a:r>
              <a:rPr lang="en-US" dirty="0" smtClean="0"/>
              <a:t> _so_ </a:t>
            </a:r>
            <a:r>
              <a:rPr lang="en-US" dirty="0" err="1" smtClean="0"/>
              <a:t>soooooooooooooooooooooooooo</a:t>
            </a:r>
            <a:r>
              <a:rPr lang="en-US" dirty="0" smtClean="0"/>
              <a:t> /so/ </a:t>
            </a:r>
            <a:r>
              <a:rPr lang="en-US" dirty="0" err="1" smtClean="0"/>
              <a:t>sssooooo</a:t>
            </a:r>
            <a:r>
              <a:rPr lang="en-US" dirty="0" smtClean="0"/>
              <a:t> </a:t>
            </a:r>
            <a:r>
              <a:rPr lang="en-US" dirty="0" err="1" smtClean="0"/>
              <a:t>sosososososo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58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endParaRPr lang="en-US" sz="1100" dirty="0"/>
          </a:p>
          <a:p>
            <a:pPr defTabSz="844083" fontAlgn="base">
              <a:spcBef>
                <a:spcPct val="30000"/>
              </a:spcBef>
              <a:spcAft>
                <a:spcPct val="0"/>
              </a:spcAft>
              <a:defRPr/>
            </a:pPr>
            <a:r>
              <a:rPr lang="en-US" sz="1100" dirty="0"/>
              <a:t>crazy nuts insane </a:t>
            </a:r>
            <a:r>
              <a:rPr lang="en-US" sz="1100" dirty="0" err="1"/>
              <a:t>cray</a:t>
            </a:r>
            <a:r>
              <a:rPr lang="en-US" sz="1100" dirty="0"/>
              <a:t> tuff </a:t>
            </a:r>
            <a:r>
              <a:rPr lang="en-US" sz="1100" dirty="0" err="1"/>
              <a:t>krazy</a:t>
            </a:r>
            <a:r>
              <a:rPr lang="en-US" sz="1100" dirty="0"/>
              <a:t> </a:t>
            </a:r>
            <a:r>
              <a:rPr lang="en-US" sz="1100" dirty="0" err="1"/>
              <a:t>crazyy</a:t>
            </a:r>
            <a:r>
              <a:rPr lang="en-US" sz="1100" dirty="0"/>
              <a:t> bonkers </a:t>
            </a:r>
            <a:r>
              <a:rPr lang="en-US" sz="1100" dirty="0" err="1"/>
              <a:t>crazyyy</a:t>
            </a:r>
            <a:r>
              <a:rPr lang="en-US" sz="1100" dirty="0"/>
              <a:t> </a:t>
            </a:r>
            <a:r>
              <a:rPr lang="en-US" sz="1100" dirty="0" err="1"/>
              <a:t>nutz</a:t>
            </a:r>
            <a:r>
              <a:rPr lang="en-US" sz="1100" dirty="0"/>
              <a:t> </a:t>
            </a:r>
            <a:r>
              <a:rPr lang="en-US" sz="1100" dirty="0" err="1"/>
              <a:t>smoove</a:t>
            </a:r>
            <a:r>
              <a:rPr lang="en-US" sz="1100" dirty="0"/>
              <a:t> </a:t>
            </a:r>
            <a:r>
              <a:rPr lang="en-US" sz="1100" dirty="0" err="1"/>
              <a:t>crzy</a:t>
            </a:r>
            <a:r>
              <a:rPr lang="en-US" sz="1100" dirty="0"/>
              <a:t> </a:t>
            </a:r>
            <a:r>
              <a:rPr lang="en-US" sz="1100" dirty="0" err="1"/>
              <a:t>crazyyyy</a:t>
            </a:r>
            <a:r>
              <a:rPr lang="en-US" sz="1100" dirty="0"/>
              <a:t> </a:t>
            </a:r>
            <a:r>
              <a:rPr lang="en-US" sz="1100" dirty="0" err="1"/>
              <a:t>crazzy</a:t>
            </a:r>
            <a:r>
              <a:rPr lang="en-US" sz="1100" dirty="0"/>
              <a:t> </a:t>
            </a:r>
            <a:r>
              <a:rPr lang="en-US" sz="1100" dirty="0" err="1"/>
              <a:t>crazii</a:t>
            </a:r>
            <a:r>
              <a:rPr lang="en-US" sz="1100" dirty="0"/>
              <a:t> </a:t>
            </a:r>
            <a:r>
              <a:rPr lang="en-US" sz="1100" dirty="0" err="1"/>
              <a:t>batshit</a:t>
            </a:r>
            <a:r>
              <a:rPr lang="en-US" sz="1100" dirty="0"/>
              <a:t> screwy </a:t>
            </a:r>
            <a:r>
              <a:rPr lang="en-US" sz="1100" dirty="0" err="1"/>
              <a:t>craaazy</a:t>
            </a:r>
            <a:r>
              <a:rPr lang="en-US" sz="1100" dirty="0"/>
              <a:t> </a:t>
            </a:r>
            <a:r>
              <a:rPr lang="en-US" sz="1100" dirty="0" err="1"/>
              <a:t>crazi</a:t>
            </a:r>
            <a:r>
              <a:rPr lang="en-US" sz="1100" dirty="0"/>
              <a:t> #</a:t>
            </a:r>
            <a:r>
              <a:rPr lang="en-US" sz="1100" dirty="0" err="1"/>
              <a:t>playedout</a:t>
            </a:r>
            <a:r>
              <a:rPr lang="en-US" sz="1100" dirty="0"/>
              <a:t> </a:t>
            </a:r>
            <a:r>
              <a:rPr lang="en-US" sz="1100" dirty="0" err="1"/>
              <a:t>craaaazy</a:t>
            </a:r>
            <a:r>
              <a:rPr lang="en-US" sz="1100" dirty="0"/>
              <a:t> </a:t>
            </a:r>
            <a:r>
              <a:rPr lang="en-US" sz="1100" dirty="0" err="1"/>
              <a:t>brazy</a:t>
            </a:r>
            <a:r>
              <a:rPr lang="en-US" sz="1100" dirty="0"/>
              <a:t> </a:t>
            </a:r>
            <a:r>
              <a:rPr lang="en-US" sz="1100" dirty="0" err="1"/>
              <a:t>liveee</a:t>
            </a:r>
            <a:r>
              <a:rPr lang="en-US" sz="1100" dirty="0"/>
              <a:t> </a:t>
            </a:r>
            <a:r>
              <a:rPr lang="en-US" sz="1100" dirty="0" err="1"/>
              <a:t>crazzzy</a:t>
            </a:r>
            <a:r>
              <a:rPr lang="en-US" sz="1100" dirty="0"/>
              <a:t> </a:t>
            </a:r>
            <a:r>
              <a:rPr lang="en-US" sz="1100" dirty="0" err="1"/>
              <a:t>nutts</a:t>
            </a:r>
            <a:r>
              <a:rPr lang="en-US" sz="1100" dirty="0"/>
              <a:t> </a:t>
            </a:r>
            <a:r>
              <a:rPr lang="en-US" sz="1100" dirty="0" err="1"/>
              <a:t>crazyyyyy</a:t>
            </a:r>
            <a:r>
              <a:rPr lang="en-US" sz="1100" dirty="0"/>
              <a:t> cross-eyed </a:t>
            </a:r>
            <a:r>
              <a:rPr lang="en-US" sz="1100" dirty="0" err="1"/>
              <a:t>faf</a:t>
            </a:r>
            <a:r>
              <a:rPr lang="en-US" sz="1100" dirty="0"/>
              <a:t> </a:t>
            </a:r>
            <a:r>
              <a:rPr lang="en-US" sz="1100" dirty="0" err="1"/>
              <a:t>physco</a:t>
            </a:r>
            <a:r>
              <a:rPr lang="en-US" sz="1100" dirty="0"/>
              <a:t> kaput </a:t>
            </a:r>
            <a:r>
              <a:rPr lang="en-US" sz="1100" dirty="0" err="1"/>
              <a:t>kray</a:t>
            </a:r>
            <a:r>
              <a:rPr lang="en-US" sz="1100" dirty="0"/>
              <a:t> </a:t>
            </a:r>
            <a:r>
              <a:rPr lang="en-US" sz="1100" dirty="0" err="1"/>
              <a:t>reet</a:t>
            </a:r>
            <a:r>
              <a:rPr lang="en-US" sz="1100" dirty="0"/>
              <a:t> </a:t>
            </a:r>
            <a:r>
              <a:rPr lang="en-US" sz="1100" dirty="0" err="1"/>
              <a:t>wackk</a:t>
            </a:r>
            <a:r>
              <a:rPr lang="en-US" sz="1100" dirty="0"/>
              <a:t> </a:t>
            </a:r>
            <a:r>
              <a:rPr lang="en-US" sz="1100" dirty="0" err="1"/>
              <a:t>nutso</a:t>
            </a:r>
            <a:r>
              <a:rPr lang="en-US" sz="1100" dirty="0"/>
              <a:t> </a:t>
            </a:r>
            <a:r>
              <a:rPr lang="en-US" sz="1100" dirty="0" err="1"/>
              <a:t>craazy</a:t>
            </a:r>
            <a:r>
              <a:rPr lang="en-US" sz="1100" dirty="0"/>
              <a:t> </a:t>
            </a:r>
            <a:r>
              <a:rPr lang="en-US" sz="1100" dirty="0" err="1"/>
              <a:t>madt</a:t>
            </a:r>
            <a:r>
              <a:rPr lang="en-US" sz="1100" dirty="0"/>
              <a:t> </a:t>
            </a:r>
            <a:r>
              <a:rPr lang="en-US" sz="1100" dirty="0" err="1"/>
              <a:t>guu</a:t>
            </a:r>
            <a:r>
              <a:rPr lang="en-US" sz="1100" dirty="0"/>
              <a:t> </a:t>
            </a:r>
            <a:r>
              <a:rPr lang="en-US" sz="1100" dirty="0" err="1"/>
              <a:t>liveeee</a:t>
            </a:r>
            <a:r>
              <a:rPr lang="en-US" sz="1100" dirty="0"/>
              <a:t> #outrageous </a:t>
            </a:r>
            <a:r>
              <a:rPr lang="en-US" sz="1100" dirty="0" err="1"/>
              <a:t>crazzzzy</a:t>
            </a:r>
            <a:r>
              <a:rPr lang="en-US" sz="1100" dirty="0"/>
              <a:t> </a:t>
            </a:r>
            <a:r>
              <a:rPr lang="en-US" sz="1100" dirty="0" err="1"/>
              <a:t>craaaaazy</a:t>
            </a:r>
            <a:r>
              <a:rPr lang="en-US" sz="1100" dirty="0"/>
              <a:t> </a:t>
            </a:r>
            <a:r>
              <a:rPr lang="en-US" sz="1100" dirty="0" err="1"/>
              <a:t>dunzo</a:t>
            </a:r>
            <a:r>
              <a:rPr lang="en-US" sz="1100" dirty="0"/>
              <a:t> </a:t>
            </a:r>
            <a:r>
              <a:rPr lang="en-US" sz="1100" dirty="0" err="1"/>
              <a:t>gayyyy</a:t>
            </a:r>
            <a:r>
              <a:rPr lang="en-US" sz="1100" dirty="0"/>
              <a:t> </a:t>
            </a:r>
            <a:r>
              <a:rPr lang="en-US" sz="1100" dirty="0" err="1"/>
              <a:t>crazee</a:t>
            </a:r>
            <a:r>
              <a:rPr lang="en-US" sz="1100" dirty="0"/>
              <a:t> </a:t>
            </a:r>
            <a:r>
              <a:rPr lang="en-US" sz="1100" dirty="0" err="1"/>
              <a:t>crazyyyyyy</a:t>
            </a:r>
            <a:r>
              <a:rPr lang="en-US" sz="1100" dirty="0"/>
              <a:t> </a:t>
            </a:r>
            <a:r>
              <a:rPr lang="en-US" sz="1100" dirty="0" err="1"/>
              <a:t>craz</a:t>
            </a:r>
            <a:r>
              <a:rPr lang="en-US" sz="1100" dirty="0"/>
              <a:t> </a:t>
            </a:r>
            <a:r>
              <a:rPr lang="en-US" sz="1100" dirty="0" err="1"/>
              <a:t>crazzyy</a:t>
            </a:r>
            <a:r>
              <a:rPr lang="en-US" sz="1100" dirty="0"/>
              <a:t> </a:t>
            </a:r>
            <a:r>
              <a:rPr lang="en-US" sz="1100" dirty="0" err="1"/>
              <a:t>greezy</a:t>
            </a:r>
            <a:r>
              <a:rPr lang="en-US" sz="1100" dirty="0"/>
              <a:t> </a:t>
            </a:r>
            <a:r>
              <a:rPr lang="en-US" sz="1100" dirty="0" err="1"/>
              <a:t>wildd</a:t>
            </a:r>
            <a:r>
              <a:rPr lang="en-US" sz="1100" dirty="0"/>
              <a:t> </a:t>
            </a:r>
            <a:r>
              <a:rPr lang="en-US" sz="1100" dirty="0" err="1"/>
              <a:t>buckwild</a:t>
            </a:r>
            <a:endParaRPr lang="en-US" sz="11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58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4458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1/26/16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1/26/16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1/26/16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1/26/16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1/26/16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1/26/16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1/26/16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1/26/16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1/26/16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1/26/16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1/26/16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1/26/16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4" Type="http://schemas.openxmlformats.org/officeDocument/2006/relationships/image" Target="../media/image3.emf"/><Relationship Id="rId5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4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6.e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7.emf"/><Relationship Id="rId6" Type="http://schemas.openxmlformats.org/officeDocument/2006/relationships/oleObject" Target="../embeddings/oleObject3.bin"/><Relationship Id="rId7" Type="http://schemas.openxmlformats.org/officeDocument/2006/relationships/image" Target="../media/image6.emf"/><Relationship Id="rId8" Type="http://schemas.openxmlformats.org/officeDocument/2006/relationships/oleObject" Target="../embeddings/oleObject4.bin"/><Relationship Id="rId9" Type="http://schemas.openxmlformats.org/officeDocument/2006/relationships/image" Target="../media/image8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4" Type="http://schemas.openxmlformats.org/officeDocument/2006/relationships/image" Target="../media/image13.emf"/><Relationship Id="rId5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3" Type="http://schemas.openxmlformats.org/officeDocument/2006/relationships/image" Target="../media/image1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4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Relationship Id="rId3" Type="http://schemas.openxmlformats.org/officeDocument/2006/relationships/image" Target="../media/image20.emf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emf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emf"/><Relationship Id="rId3" Type="http://schemas.openxmlformats.org/officeDocument/2006/relationships/image" Target="../media/image12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4" Type="http://schemas.openxmlformats.org/officeDocument/2006/relationships/image" Target="../media/image2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4" Type="http://schemas.openxmlformats.org/officeDocument/2006/relationships/image" Target="../media/image26.emf"/><Relationship Id="rId5" Type="http://schemas.openxmlformats.org/officeDocument/2006/relationships/image" Target="../media/image27.emf"/><Relationship Id="rId6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4" Type="http://schemas.openxmlformats.org/officeDocument/2006/relationships/image" Target="../media/image31.emf"/><Relationship Id="rId5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4" Type="http://schemas.openxmlformats.org/officeDocument/2006/relationships/image" Target="../media/image34.emf"/><Relationship Id="rId5" Type="http://schemas.openxmlformats.org/officeDocument/2006/relationships/image" Target="../media/image3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emf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e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emf"/><Relationship Id="rId3" Type="http://schemas.openxmlformats.org/officeDocument/2006/relationships/image" Target="../media/image36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4" Type="http://schemas.openxmlformats.org/officeDocument/2006/relationships/image" Target="../media/image3.emf"/><Relationship Id="rId5" Type="http://schemas.openxmlformats.org/officeDocument/2006/relationships/image" Target="../media/image1.emf"/><Relationship Id="rId6" Type="http://schemas.openxmlformats.org/officeDocument/2006/relationships/image" Target="../media/image37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4" Type="http://schemas.openxmlformats.org/officeDocument/2006/relationships/image" Target="../media/image40.emf"/><Relationship Id="rId5" Type="http://schemas.openxmlformats.org/officeDocument/2006/relationships/image" Target="../media/image41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4" Type="http://schemas.openxmlformats.org/officeDocument/2006/relationships/image" Target="../media/image1.emf"/><Relationship Id="rId5" Type="http://schemas.openxmlformats.org/officeDocument/2006/relationships/image" Target="../media/image37.emf"/><Relationship Id="rId6" Type="http://schemas.openxmlformats.org/officeDocument/2006/relationships/image" Target="../media/image4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emf"/><Relationship Id="rId4" Type="http://schemas.openxmlformats.org/officeDocument/2006/relationships/image" Target="../media/image45.emf"/><Relationship Id="rId5" Type="http://schemas.openxmlformats.org/officeDocument/2006/relationships/image" Target="../media/image36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emf"/><Relationship Id="rId3" Type="http://schemas.openxmlformats.org/officeDocument/2006/relationships/image" Target="../media/image47.e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emf"/><Relationship Id="rId4" Type="http://schemas.openxmlformats.org/officeDocument/2006/relationships/image" Target="../media/image43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emf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emf"/><Relationship Id="rId3" Type="http://schemas.openxmlformats.org/officeDocument/2006/relationships/image" Target="../media/image49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/>
          <a:lstStyle/>
          <a:p>
            <a:r>
              <a:rPr lang="en-US" dirty="0" smtClean="0"/>
              <a:t>TTIC 31190:</a:t>
            </a:r>
            <a:br>
              <a:rPr lang="en-US" dirty="0" smtClean="0"/>
            </a:br>
            <a:r>
              <a:rPr lang="en-US" dirty="0" smtClean="0"/>
              <a:t>Natural Language Processing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1993900"/>
            <a:ext cx="6400800" cy="3403600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Winter 2016</a:t>
            </a:r>
          </a:p>
          <a:p>
            <a:endParaRPr lang="en-US" dirty="0" smtClean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 smtClean="0">
                <a:solidFill>
                  <a:schemeClr val="tx1"/>
                </a:solidFill>
              </a:rPr>
              <a:t>Lecture 7: Sequence Models</a:t>
            </a:r>
            <a:endParaRPr lang="en-US" sz="4000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Announcements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Assignment 2 has been posted, due Feb. 3</a:t>
            </a:r>
          </a:p>
          <a:p>
            <a:r>
              <a:rPr lang="en-US" dirty="0" smtClean="0"/>
              <a:t>Midterm scheduled for Thursday, Feb. 18</a:t>
            </a:r>
          </a:p>
          <a:p>
            <a:r>
              <a:rPr lang="en-US" dirty="0" smtClean="0"/>
              <a:t>Project proposal due Tuesday, Feb. 23</a:t>
            </a:r>
          </a:p>
          <a:p>
            <a:r>
              <a:rPr lang="en-US" dirty="0" smtClean="0"/>
              <a:t>Thursday’s class will be more like a lab / flipped class</a:t>
            </a:r>
          </a:p>
          <a:p>
            <a:pPr lvl="1"/>
            <a:r>
              <a:rPr lang="en-US" dirty="0" smtClean="0"/>
              <a:t>we will use the whiteboard and implement things in class, so bring paper, laptop,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11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 smtClean="0"/>
              <a:t>classification</a:t>
            </a:r>
          </a:p>
          <a:p>
            <a:r>
              <a:rPr lang="en-US" sz="2400" dirty="0" smtClean="0"/>
              <a:t>words</a:t>
            </a:r>
          </a:p>
          <a:p>
            <a:r>
              <a:rPr lang="en-US" sz="2400" dirty="0" smtClean="0"/>
              <a:t>lexical semantics</a:t>
            </a:r>
          </a:p>
          <a:p>
            <a:r>
              <a:rPr lang="en-US" sz="2400" dirty="0" smtClean="0">
                <a:solidFill>
                  <a:srgbClr val="288CD2"/>
                </a:solidFill>
              </a:rPr>
              <a:t>language modeling</a:t>
            </a:r>
          </a:p>
          <a:p>
            <a:r>
              <a:rPr lang="en-US" sz="2400" dirty="0" smtClean="0"/>
              <a:t>sequence labeling</a:t>
            </a:r>
          </a:p>
          <a:p>
            <a:r>
              <a:rPr lang="en-US" sz="2400" dirty="0" smtClean="0"/>
              <a:t>syntax and syntactic parsing</a:t>
            </a:r>
          </a:p>
          <a:p>
            <a:r>
              <a:rPr lang="en-US" sz="2400" dirty="0" smtClean="0"/>
              <a:t>neural network methods in NLP</a:t>
            </a:r>
          </a:p>
          <a:p>
            <a:r>
              <a:rPr lang="en-US" sz="2400" dirty="0" smtClean="0"/>
              <a:t>semantic compositionality</a:t>
            </a:r>
          </a:p>
          <a:p>
            <a:r>
              <a:rPr lang="en-US" sz="2400" dirty="0" smtClean="0"/>
              <a:t>semantic parsing</a:t>
            </a:r>
          </a:p>
          <a:p>
            <a:r>
              <a:rPr lang="en-US" sz="2400" dirty="0" smtClean="0"/>
              <a:t>unsupervised learning</a:t>
            </a:r>
          </a:p>
          <a:p>
            <a:r>
              <a:rPr lang="en-US" sz="2400" dirty="0" smtClean="0"/>
              <a:t>machine translation and other applications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35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Language </a:t>
            </a:r>
            <a:r>
              <a:rPr lang="en-US" dirty="0"/>
              <a:t>Modeling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701800"/>
            <a:ext cx="8534400" cy="44450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g</a:t>
            </a:r>
            <a:r>
              <a:rPr lang="en-US" sz="2800" dirty="0" smtClean="0">
                <a:latin typeface="Calibri" charset="0"/>
              </a:rPr>
              <a:t>oal</a:t>
            </a:r>
            <a:r>
              <a:rPr lang="en-US" sz="2800" dirty="0">
                <a:latin typeface="Calibri" charset="0"/>
              </a:rPr>
              <a:t>: compute the probability of a </a:t>
            </a:r>
            <a:r>
              <a:rPr lang="en-US" sz="2800" dirty="0" smtClean="0">
                <a:latin typeface="Calibri" charset="0"/>
              </a:rPr>
              <a:t>sequence </a:t>
            </a:r>
            <a:r>
              <a:rPr lang="en-US" sz="2800" dirty="0">
                <a:latin typeface="Calibri" charset="0"/>
              </a:rPr>
              <a:t>of words</a:t>
            </a:r>
            <a:r>
              <a:rPr lang="en-US" sz="2800" dirty="0" smtClean="0">
                <a:latin typeface="Calibri" charset="0"/>
              </a:rPr>
              <a:t>:</a:t>
            </a:r>
            <a:endParaRPr lang="en-US" sz="2800" dirty="0">
              <a:latin typeface="Calibri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5600" y="2423160"/>
            <a:ext cx="5880100" cy="111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176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177801"/>
            <a:ext cx="6014720" cy="1722119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Markov </a:t>
            </a:r>
            <a:r>
              <a:rPr lang="en-US" dirty="0" smtClean="0"/>
              <a:t>Assumption for Language Modeling</a:t>
            </a:r>
            <a:endParaRPr lang="en-US" dirty="0"/>
          </a:p>
        </p:txBody>
      </p:sp>
      <p:pic>
        <p:nvPicPr>
          <p:cNvPr id="2" name="Picture 1" descr="225px-AAMarkov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057" y="20321"/>
            <a:ext cx="1780133" cy="23012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20930" y="2321560"/>
            <a:ext cx="14414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alibri"/>
                <a:cs typeface="Calibri"/>
              </a:rPr>
              <a:t>Andrei Markov</a:t>
            </a:r>
            <a:endParaRPr lang="en-US" sz="1600" dirty="0">
              <a:latin typeface="Calibri"/>
              <a:cs typeface="Calibri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80" y="4358640"/>
            <a:ext cx="6261100" cy="1117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70" y="2321560"/>
            <a:ext cx="5880100" cy="1117600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4683760" y="3357880"/>
            <a:ext cx="497840" cy="100076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41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ChangeArrowheads="1"/>
          </p:cNvSpPr>
          <p:nvPr>
            <p:ph type="title"/>
          </p:nvPr>
        </p:nvSpPr>
        <p:spPr>
          <a:xfrm>
            <a:off x="833120" y="127000"/>
            <a:ext cx="7467600" cy="9906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3200" dirty="0" smtClean="0">
                <a:ea typeface="ＭＳ Ｐゴシック" charset="0"/>
                <a:cs typeface="ＭＳ Ｐゴシック" charset="0"/>
              </a:rPr>
              <a:t>Intuition of smoothing (from Dan Klein)</a:t>
            </a:r>
            <a:endParaRPr lang="en-US" sz="32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" y="1306493"/>
            <a:ext cx="8229600" cy="5384800"/>
          </a:xfrm>
        </p:spPr>
        <p:txBody>
          <a:bodyPr/>
          <a:lstStyle/>
          <a:p>
            <a:pPr eaLnBrk="1" hangingPunct="1">
              <a:lnSpc>
                <a:spcPct val="70000"/>
              </a:lnSpc>
            </a:pPr>
            <a:r>
              <a:rPr lang="en-US" sz="1800" dirty="0" smtClean="0">
                <a:latin typeface="Calibri"/>
                <a:ea typeface="ＭＳ Ｐゴシック" charset="0"/>
                <a:cs typeface="Calibri"/>
              </a:rPr>
              <a:t>When we have sparse statistics:</a:t>
            </a:r>
            <a:endParaRPr lang="en-US" sz="18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 smtClean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 smtClean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  <a:buFont typeface="Wingdings" charset="0"/>
              <a:buNone/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r>
              <a:rPr lang="en-US" sz="1800" dirty="0" smtClean="0">
                <a:latin typeface="Calibri"/>
                <a:ea typeface="ＭＳ Ｐゴシック" charset="0"/>
                <a:cs typeface="Calibri"/>
              </a:rPr>
              <a:t>Steal probability mass to generalize better:</a:t>
            </a:r>
            <a:endParaRPr lang="en-US" sz="18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eaLnBrk="1" hangingPunct="1">
              <a:lnSpc>
                <a:spcPct val="70000"/>
              </a:lnSpc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  <a:p>
            <a:pPr marL="0" indent="0" eaLnBrk="1" hangingPunct="1">
              <a:lnSpc>
                <a:spcPct val="70000"/>
              </a:lnSpc>
              <a:buNone/>
            </a:pPr>
            <a:endParaRPr lang="en-US" sz="1400" dirty="0">
              <a:latin typeface="Calibri"/>
              <a:ea typeface="ＭＳ Ｐゴシック" charset="0"/>
              <a:cs typeface="Calibri"/>
            </a:endParaRPr>
          </a:p>
        </p:txBody>
      </p:sp>
      <p:sp>
        <p:nvSpPr>
          <p:cNvPr id="64515" name="Text Box 4"/>
          <p:cNvSpPr txBox="1">
            <a:spLocks noChangeArrowheads="1"/>
          </p:cNvSpPr>
          <p:nvPr/>
        </p:nvSpPr>
        <p:spPr bwMode="auto">
          <a:xfrm>
            <a:off x="1508760" y="1691640"/>
            <a:ext cx="2438400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>
                <a:latin typeface="Calibri"/>
                <a:cs typeface="Calibri"/>
              </a:rPr>
              <a:t>P(w | </a:t>
            </a:r>
            <a:r>
              <a:rPr lang="en-US" sz="1600" i="1" dirty="0">
                <a:latin typeface="Calibri"/>
                <a:cs typeface="Calibri"/>
              </a:rPr>
              <a:t>denied the</a:t>
            </a:r>
            <a:r>
              <a:rPr lang="en-US" sz="1600" dirty="0">
                <a:latin typeface="Calibri"/>
                <a:cs typeface="Calibri"/>
              </a:rPr>
              <a:t>)</a:t>
            </a:r>
          </a:p>
          <a:p>
            <a:pPr eaLnBrk="1" hangingPunct="1"/>
            <a:r>
              <a:rPr lang="en-US" sz="1600" dirty="0">
                <a:latin typeface="Calibri"/>
                <a:cs typeface="Calibri"/>
              </a:rPr>
              <a:t>  3 </a:t>
            </a:r>
            <a:r>
              <a:rPr lang="en-US" sz="1600" i="1" dirty="0">
                <a:latin typeface="Calibri"/>
                <a:cs typeface="Calibri"/>
              </a:rPr>
              <a:t>allegations</a:t>
            </a:r>
          </a:p>
          <a:p>
            <a:pPr eaLnBrk="1" hangingPunct="1"/>
            <a:r>
              <a:rPr lang="en-US" sz="1600" dirty="0">
                <a:latin typeface="Calibri"/>
                <a:cs typeface="Calibri"/>
              </a:rPr>
              <a:t>  2 </a:t>
            </a:r>
            <a:r>
              <a:rPr lang="en-US" sz="1600" i="1" dirty="0">
                <a:latin typeface="Calibri"/>
                <a:cs typeface="Calibri"/>
              </a:rPr>
              <a:t>reports</a:t>
            </a:r>
          </a:p>
          <a:p>
            <a:pPr eaLnBrk="1" hangingPunct="1"/>
            <a:r>
              <a:rPr lang="en-US" sz="1600" dirty="0">
                <a:latin typeface="Calibri"/>
                <a:cs typeface="Calibri"/>
              </a:rPr>
              <a:t>  1 </a:t>
            </a:r>
            <a:r>
              <a:rPr lang="en-US" sz="1600" i="1" dirty="0">
                <a:latin typeface="Calibri"/>
                <a:cs typeface="Calibri"/>
              </a:rPr>
              <a:t>claims</a:t>
            </a:r>
          </a:p>
          <a:p>
            <a:pPr eaLnBrk="1" hangingPunct="1"/>
            <a:r>
              <a:rPr lang="en-US" sz="1600" dirty="0">
                <a:latin typeface="Calibri"/>
                <a:cs typeface="Calibri"/>
              </a:rPr>
              <a:t>  1 </a:t>
            </a:r>
            <a:r>
              <a:rPr lang="en-US" sz="1600" i="1" dirty="0">
                <a:latin typeface="Calibri"/>
                <a:cs typeface="Calibri"/>
              </a:rPr>
              <a:t>request</a:t>
            </a:r>
          </a:p>
          <a:p>
            <a:pPr eaLnBrk="1" hangingPunct="1"/>
            <a:endParaRPr lang="en-US" sz="400" dirty="0">
              <a:latin typeface="Calibri"/>
              <a:cs typeface="Calibri"/>
            </a:endParaRPr>
          </a:p>
          <a:p>
            <a:pPr eaLnBrk="1" hangingPunct="1"/>
            <a:r>
              <a:rPr lang="en-US" sz="1600" dirty="0">
                <a:latin typeface="Calibri"/>
                <a:cs typeface="Calibri"/>
              </a:rPr>
              <a:t>  7 total</a:t>
            </a:r>
          </a:p>
        </p:txBody>
      </p:sp>
      <p:sp>
        <p:nvSpPr>
          <p:cNvPr id="64541" name="Text Box 30"/>
          <p:cNvSpPr txBox="1">
            <a:spLocks noChangeArrowheads="1"/>
          </p:cNvSpPr>
          <p:nvPr/>
        </p:nvSpPr>
        <p:spPr bwMode="auto">
          <a:xfrm>
            <a:off x="1584960" y="4231641"/>
            <a:ext cx="2438400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600" dirty="0">
                <a:latin typeface="Calibri"/>
                <a:cs typeface="Calibri"/>
              </a:rPr>
              <a:t>P(w | </a:t>
            </a:r>
            <a:r>
              <a:rPr lang="en-US" sz="1600" i="1" dirty="0">
                <a:latin typeface="Calibri"/>
                <a:cs typeface="Calibri"/>
              </a:rPr>
              <a:t>denied the</a:t>
            </a:r>
            <a:r>
              <a:rPr lang="en-US" sz="1600" dirty="0">
                <a:latin typeface="Calibri"/>
                <a:cs typeface="Calibri"/>
              </a:rPr>
              <a:t>)</a:t>
            </a:r>
          </a:p>
          <a:p>
            <a:pPr eaLnBrk="1" hangingPunct="1"/>
            <a:r>
              <a:rPr lang="en-US" sz="1600" dirty="0">
                <a:latin typeface="Calibri"/>
                <a:cs typeface="Calibri"/>
              </a:rPr>
              <a:t>  2.5 </a:t>
            </a:r>
            <a:r>
              <a:rPr lang="en-US" sz="1600" i="1" dirty="0">
                <a:latin typeface="Calibri"/>
                <a:cs typeface="Calibri"/>
              </a:rPr>
              <a:t>allegations</a:t>
            </a:r>
          </a:p>
          <a:p>
            <a:pPr eaLnBrk="1" hangingPunct="1"/>
            <a:r>
              <a:rPr lang="en-US" sz="1600" dirty="0">
                <a:latin typeface="Calibri"/>
                <a:cs typeface="Calibri"/>
              </a:rPr>
              <a:t>  1.5 </a:t>
            </a:r>
            <a:r>
              <a:rPr lang="en-US" sz="1600" i="1" dirty="0">
                <a:latin typeface="Calibri"/>
                <a:cs typeface="Calibri"/>
              </a:rPr>
              <a:t>reports</a:t>
            </a:r>
          </a:p>
          <a:p>
            <a:pPr eaLnBrk="1" hangingPunct="1"/>
            <a:r>
              <a:rPr lang="en-US" sz="1600" dirty="0">
                <a:latin typeface="Calibri"/>
                <a:cs typeface="Calibri"/>
              </a:rPr>
              <a:t>  0.5 </a:t>
            </a:r>
            <a:r>
              <a:rPr lang="en-US" sz="1600" i="1" dirty="0">
                <a:latin typeface="Calibri"/>
                <a:cs typeface="Calibri"/>
              </a:rPr>
              <a:t>claims</a:t>
            </a:r>
          </a:p>
          <a:p>
            <a:pPr eaLnBrk="1" hangingPunct="1"/>
            <a:r>
              <a:rPr lang="en-US" sz="1600" dirty="0">
                <a:latin typeface="Calibri"/>
                <a:cs typeface="Calibri"/>
              </a:rPr>
              <a:t>  0.5 </a:t>
            </a:r>
            <a:r>
              <a:rPr lang="en-US" sz="1600" i="1" dirty="0">
                <a:latin typeface="Calibri"/>
                <a:cs typeface="Calibri"/>
              </a:rPr>
              <a:t>request</a:t>
            </a:r>
          </a:p>
          <a:p>
            <a:pPr eaLnBrk="1" hangingPunct="1"/>
            <a:r>
              <a:rPr lang="en-US" sz="1600" dirty="0">
                <a:latin typeface="Calibri"/>
                <a:cs typeface="Calibri"/>
              </a:rPr>
              <a:t>  </a:t>
            </a:r>
            <a:r>
              <a:rPr lang="en-US" sz="1600" dirty="0">
                <a:solidFill>
                  <a:srgbClr val="CC0000"/>
                </a:solidFill>
                <a:latin typeface="Calibri"/>
                <a:cs typeface="Calibri"/>
              </a:rPr>
              <a:t>2 other</a:t>
            </a:r>
          </a:p>
          <a:p>
            <a:pPr eaLnBrk="1" hangingPunct="1"/>
            <a:endParaRPr lang="en-US" sz="400" dirty="0">
              <a:latin typeface="Calibri"/>
              <a:cs typeface="Calibri"/>
            </a:endParaRPr>
          </a:p>
          <a:p>
            <a:pPr eaLnBrk="1" hangingPunct="1"/>
            <a:r>
              <a:rPr lang="en-US" sz="1600" dirty="0">
                <a:latin typeface="Calibri"/>
                <a:cs typeface="Calibri"/>
              </a:rPr>
              <a:t>  7 total</a:t>
            </a:r>
          </a:p>
        </p:txBody>
      </p:sp>
      <p:sp>
        <p:nvSpPr>
          <p:cNvPr id="41" name="Rectangle 14"/>
          <p:cNvSpPr>
            <a:spLocks noChangeArrowheads="1"/>
          </p:cNvSpPr>
          <p:nvPr/>
        </p:nvSpPr>
        <p:spPr bwMode="auto">
          <a:xfrm>
            <a:off x="4785360" y="1285240"/>
            <a:ext cx="3962400" cy="223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" name="Rectangle 15"/>
          <p:cNvSpPr>
            <a:spLocks noChangeArrowheads="1"/>
          </p:cNvSpPr>
          <p:nvPr/>
        </p:nvSpPr>
        <p:spPr bwMode="auto">
          <a:xfrm rot="16200000">
            <a:off x="4112260" y="2313940"/>
            <a:ext cx="2032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allegations</a:t>
            </a:r>
          </a:p>
        </p:txBody>
      </p:sp>
      <p:sp>
        <p:nvSpPr>
          <p:cNvPr id="43" name="Rectangle 16"/>
          <p:cNvSpPr>
            <a:spLocks noChangeArrowheads="1"/>
          </p:cNvSpPr>
          <p:nvPr/>
        </p:nvSpPr>
        <p:spPr bwMode="auto">
          <a:xfrm rot="16200000">
            <a:off x="4874260" y="2618740"/>
            <a:ext cx="1422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reports</a:t>
            </a:r>
          </a:p>
        </p:txBody>
      </p:sp>
      <p:sp>
        <p:nvSpPr>
          <p:cNvPr id="44" name="Rectangle 17"/>
          <p:cNvSpPr>
            <a:spLocks noChangeArrowheads="1"/>
          </p:cNvSpPr>
          <p:nvPr/>
        </p:nvSpPr>
        <p:spPr bwMode="auto">
          <a:xfrm rot="16200000">
            <a:off x="5636260" y="2923540"/>
            <a:ext cx="812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>
                <a:solidFill>
                  <a:schemeClr val="bg1"/>
                </a:solidFill>
              </a:rPr>
              <a:t>claims</a:t>
            </a:r>
          </a:p>
        </p:txBody>
      </p:sp>
      <p:sp>
        <p:nvSpPr>
          <p:cNvPr id="45" name="Text Box 18"/>
          <p:cNvSpPr txBox="1">
            <a:spLocks noChangeArrowheads="1"/>
          </p:cNvSpPr>
          <p:nvPr/>
        </p:nvSpPr>
        <p:spPr bwMode="auto">
          <a:xfrm rot="16200000">
            <a:off x="6293485" y="2579582"/>
            <a:ext cx="152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/>
              <a:t>attack</a:t>
            </a:r>
          </a:p>
        </p:txBody>
      </p:sp>
      <p:sp>
        <p:nvSpPr>
          <p:cNvPr id="46" name="Rectangle 19"/>
          <p:cNvSpPr>
            <a:spLocks noChangeArrowheads="1"/>
          </p:cNvSpPr>
          <p:nvPr/>
        </p:nvSpPr>
        <p:spPr bwMode="auto">
          <a:xfrm rot="16200000">
            <a:off x="6093460" y="2923540"/>
            <a:ext cx="812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>
                <a:solidFill>
                  <a:schemeClr val="bg1"/>
                </a:solidFill>
              </a:rPr>
              <a:t>request</a:t>
            </a:r>
          </a:p>
        </p:txBody>
      </p:sp>
      <p:sp>
        <p:nvSpPr>
          <p:cNvPr id="47" name="Text Box 20"/>
          <p:cNvSpPr txBox="1">
            <a:spLocks noChangeArrowheads="1"/>
          </p:cNvSpPr>
          <p:nvPr/>
        </p:nvSpPr>
        <p:spPr bwMode="auto">
          <a:xfrm rot="16200000">
            <a:off x="6674485" y="2590165"/>
            <a:ext cx="152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/>
              <a:t>man</a:t>
            </a:r>
          </a:p>
        </p:txBody>
      </p:sp>
      <p:sp>
        <p:nvSpPr>
          <p:cNvPr id="48" name="Text Box 21"/>
          <p:cNvSpPr txBox="1">
            <a:spLocks noChangeArrowheads="1"/>
          </p:cNvSpPr>
          <p:nvPr/>
        </p:nvSpPr>
        <p:spPr bwMode="auto">
          <a:xfrm rot="16200000">
            <a:off x="7055485" y="2590165"/>
            <a:ext cx="152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/>
              <a:t>outcome</a:t>
            </a:r>
          </a:p>
        </p:txBody>
      </p:sp>
      <p:sp>
        <p:nvSpPr>
          <p:cNvPr id="49" name="Text Box 22"/>
          <p:cNvSpPr txBox="1">
            <a:spLocks noChangeArrowheads="1"/>
          </p:cNvSpPr>
          <p:nvPr/>
        </p:nvSpPr>
        <p:spPr bwMode="auto">
          <a:xfrm>
            <a:off x="8061960" y="2606040"/>
            <a:ext cx="533400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/>
              <a:t>…</a:t>
            </a:r>
          </a:p>
        </p:txBody>
      </p:sp>
      <p:sp>
        <p:nvSpPr>
          <p:cNvPr id="50" name="Rectangle 5"/>
          <p:cNvSpPr>
            <a:spLocks noChangeArrowheads="1"/>
          </p:cNvSpPr>
          <p:nvPr/>
        </p:nvSpPr>
        <p:spPr bwMode="auto">
          <a:xfrm>
            <a:off x="4785360" y="4231640"/>
            <a:ext cx="3962400" cy="223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" name="Rectangle 6"/>
          <p:cNvSpPr>
            <a:spLocks noChangeArrowheads="1"/>
          </p:cNvSpPr>
          <p:nvPr/>
        </p:nvSpPr>
        <p:spPr bwMode="auto">
          <a:xfrm rot="16200000">
            <a:off x="4112260" y="5260340"/>
            <a:ext cx="20320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allegations</a:t>
            </a:r>
          </a:p>
        </p:txBody>
      </p:sp>
      <p:sp>
        <p:nvSpPr>
          <p:cNvPr id="52" name="Rectangle 7"/>
          <p:cNvSpPr>
            <a:spLocks noChangeArrowheads="1"/>
          </p:cNvSpPr>
          <p:nvPr/>
        </p:nvSpPr>
        <p:spPr bwMode="auto">
          <a:xfrm rot="16200000">
            <a:off x="4874260" y="5565140"/>
            <a:ext cx="14224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en-US" sz="1400"/>
          </a:p>
        </p:txBody>
      </p:sp>
      <p:sp>
        <p:nvSpPr>
          <p:cNvPr id="53" name="Rectangle 8"/>
          <p:cNvSpPr>
            <a:spLocks noChangeArrowheads="1"/>
          </p:cNvSpPr>
          <p:nvPr/>
        </p:nvSpPr>
        <p:spPr bwMode="auto">
          <a:xfrm rot="16200000">
            <a:off x="5636260" y="5869940"/>
            <a:ext cx="812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en-US" sz="1400"/>
          </a:p>
        </p:txBody>
      </p:sp>
      <p:sp>
        <p:nvSpPr>
          <p:cNvPr id="54" name="Text Box 9"/>
          <p:cNvSpPr txBox="1">
            <a:spLocks noChangeArrowheads="1"/>
          </p:cNvSpPr>
          <p:nvPr/>
        </p:nvSpPr>
        <p:spPr bwMode="auto">
          <a:xfrm rot="16200000">
            <a:off x="6217285" y="5434965"/>
            <a:ext cx="152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/>
              <a:t>attack</a:t>
            </a:r>
          </a:p>
        </p:txBody>
      </p:sp>
      <p:sp>
        <p:nvSpPr>
          <p:cNvPr id="55" name="Rectangle 10"/>
          <p:cNvSpPr>
            <a:spLocks noChangeArrowheads="1"/>
          </p:cNvSpPr>
          <p:nvPr/>
        </p:nvSpPr>
        <p:spPr bwMode="auto">
          <a:xfrm rot="16200000">
            <a:off x="6093460" y="5869940"/>
            <a:ext cx="812800" cy="381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en-US" sz="1200"/>
          </a:p>
        </p:txBody>
      </p:sp>
      <p:sp>
        <p:nvSpPr>
          <p:cNvPr id="56" name="Text Box 11"/>
          <p:cNvSpPr txBox="1">
            <a:spLocks noChangeArrowheads="1"/>
          </p:cNvSpPr>
          <p:nvPr/>
        </p:nvSpPr>
        <p:spPr bwMode="auto">
          <a:xfrm rot="16200000">
            <a:off x="6630035" y="5434965"/>
            <a:ext cx="152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/>
              <a:t>man</a:t>
            </a:r>
          </a:p>
        </p:txBody>
      </p:sp>
      <p:sp>
        <p:nvSpPr>
          <p:cNvPr id="57" name="Text Box 12"/>
          <p:cNvSpPr txBox="1">
            <a:spLocks noChangeArrowheads="1"/>
          </p:cNvSpPr>
          <p:nvPr/>
        </p:nvSpPr>
        <p:spPr bwMode="auto">
          <a:xfrm rot="16200000">
            <a:off x="7087235" y="5434965"/>
            <a:ext cx="152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1600"/>
              <a:t>outcome</a:t>
            </a:r>
          </a:p>
        </p:txBody>
      </p:sp>
      <p:sp>
        <p:nvSpPr>
          <p:cNvPr id="58" name="Text Box 13"/>
          <p:cNvSpPr txBox="1">
            <a:spLocks noChangeArrowheads="1"/>
          </p:cNvSpPr>
          <p:nvPr/>
        </p:nvSpPr>
        <p:spPr bwMode="auto">
          <a:xfrm>
            <a:off x="8061960" y="5552440"/>
            <a:ext cx="533400" cy="584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sz="3200"/>
              <a:t>…</a:t>
            </a:r>
          </a:p>
        </p:txBody>
      </p:sp>
      <p:sp>
        <p:nvSpPr>
          <p:cNvPr id="59" name="Rectangle 23"/>
          <p:cNvSpPr>
            <a:spLocks noChangeArrowheads="1"/>
          </p:cNvSpPr>
          <p:nvPr/>
        </p:nvSpPr>
        <p:spPr bwMode="auto">
          <a:xfrm rot="16200000">
            <a:off x="4264660" y="5412740"/>
            <a:ext cx="1727200" cy="381000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dirty="0"/>
              <a:t>allegations</a:t>
            </a:r>
          </a:p>
        </p:txBody>
      </p:sp>
      <p:sp>
        <p:nvSpPr>
          <p:cNvPr id="60" name="Rectangle 24"/>
          <p:cNvSpPr>
            <a:spLocks noChangeArrowheads="1"/>
          </p:cNvSpPr>
          <p:nvPr/>
        </p:nvSpPr>
        <p:spPr bwMode="auto">
          <a:xfrm rot="16200000">
            <a:off x="5026660" y="5717540"/>
            <a:ext cx="1117600" cy="381000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/>
              <a:t>reports</a:t>
            </a:r>
          </a:p>
        </p:txBody>
      </p:sp>
      <p:sp>
        <p:nvSpPr>
          <p:cNvPr id="61" name="Rectangle 25"/>
          <p:cNvSpPr>
            <a:spLocks noChangeArrowheads="1"/>
          </p:cNvSpPr>
          <p:nvPr/>
        </p:nvSpPr>
        <p:spPr bwMode="auto">
          <a:xfrm rot="16200000">
            <a:off x="5737860" y="5971540"/>
            <a:ext cx="609600" cy="381000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400"/>
              <a:t>claims</a:t>
            </a:r>
          </a:p>
        </p:txBody>
      </p:sp>
      <p:sp>
        <p:nvSpPr>
          <p:cNvPr id="62" name="Rectangle 26"/>
          <p:cNvSpPr>
            <a:spLocks noChangeArrowheads="1"/>
          </p:cNvSpPr>
          <p:nvPr/>
        </p:nvSpPr>
        <p:spPr bwMode="auto">
          <a:xfrm rot="16200000">
            <a:off x="6195060" y="5971540"/>
            <a:ext cx="609600" cy="381000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/>
              <a:t>request</a:t>
            </a:r>
            <a:endParaRPr lang="en-US" sz="1100" dirty="0"/>
          </a:p>
        </p:txBody>
      </p:sp>
      <p:sp>
        <p:nvSpPr>
          <p:cNvPr id="63" name="Rectangle 27"/>
          <p:cNvSpPr>
            <a:spLocks noChangeArrowheads="1"/>
          </p:cNvSpPr>
          <p:nvPr/>
        </p:nvSpPr>
        <p:spPr bwMode="auto">
          <a:xfrm rot="16200000">
            <a:off x="6906260" y="6225540"/>
            <a:ext cx="101600" cy="381000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en-US" sz="1000"/>
          </a:p>
        </p:txBody>
      </p:sp>
      <p:sp>
        <p:nvSpPr>
          <p:cNvPr id="64" name="Rectangle 28"/>
          <p:cNvSpPr>
            <a:spLocks noChangeArrowheads="1"/>
          </p:cNvSpPr>
          <p:nvPr/>
        </p:nvSpPr>
        <p:spPr bwMode="auto">
          <a:xfrm rot="16200000">
            <a:off x="7363460" y="6225540"/>
            <a:ext cx="101600" cy="381000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en-US" sz="1000"/>
          </a:p>
        </p:txBody>
      </p:sp>
      <p:sp>
        <p:nvSpPr>
          <p:cNvPr id="65" name="Rectangle 29"/>
          <p:cNvSpPr>
            <a:spLocks noChangeArrowheads="1"/>
          </p:cNvSpPr>
          <p:nvPr/>
        </p:nvSpPr>
        <p:spPr bwMode="auto">
          <a:xfrm rot="16200000">
            <a:off x="7820660" y="6225540"/>
            <a:ext cx="101600" cy="381000"/>
          </a:xfrm>
          <a:prstGeom prst="rect">
            <a:avLst/>
          </a:prstGeom>
          <a:solidFill>
            <a:srgbClr val="FF99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/>
          <a:p>
            <a:pPr algn="ctr"/>
            <a:endParaRPr lang="en-US" sz="1000"/>
          </a:p>
        </p:txBody>
      </p:sp>
    </p:spTree>
    <p:extLst>
      <p:ext uri="{BB962C8B-B14F-4D97-AF65-F5344CB8AC3E}">
        <p14:creationId xmlns:p14="http://schemas.microsoft.com/office/powerpoint/2010/main" val="2213947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975360" y="-46653"/>
            <a:ext cx="7162800" cy="1291253"/>
          </a:xfrm>
        </p:spPr>
        <p:txBody>
          <a:bodyPr/>
          <a:lstStyle/>
          <a:p>
            <a:pPr eaLnBrk="1" hangingPunct="1"/>
            <a:r>
              <a:rPr lang="en-US" dirty="0" smtClean="0"/>
              <a:t>“Add-1” estimation</a:t>
            </a:r>
            <a:endParaRPr lang="en-US" dirty="0"/>
          </a:p>
        </p:txBody>
      </p:sp>
      <p:sp>
        <p:nvSpPr>
          <p:cNvPr id="11059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a</a:t>
            </a:r>
            <a:r>
              <a:rPr lang="en-US" sz="2800" dirty="0" smtClean="0">
                <a:latin typeface="Calibri" charset="0"/>
              </a:rPr>
              <a:t>lso </a:t>
            </a:r>
            <a:r>
              <a:rPr lang="en-US" sz="2800" dirty="0">
                <a:latin typeface="Calibri" charset="0"/>
              </a:rPr>
              <a:t>called </a:t>
            </a:r>
            <a:r>
              <a:rPr lang="en-US" sz="2800" dirty="0" smtClean="0">
                <a:latin typeface="Calibri" charset="0"/>
              </a:rPr>
              <a:t>Laplace smoothing</a:t>
            </a:r>
          </a:p>
          <a:p>
            <a:pPr eaLnBrk="1" hangingPunct="1"/>
            <a:r>
              <a:rPr lang="en-US" sz="2800" dirty="0" smtClean="0">
                <a:latin typeface="Calibri" charset="0"/>
              </a:rPr>
              <a:t>just </a:t>
            </a:r>
            <a:r>
              <a:rPr lang="en-US" sz="2800" dirty="0">
                <a:latin typeface="Calibri" charset="0"/>
              </a:rPr>
              <a:t>add </a:t>
            </a:r>
            <a:r>
              <a:rPr lang="en-US" sz="2800" dirty="0" smtClean="0">
                <a:latin typeface="Calibri" charset="0"/>
              </a:rPr>
              <a:t>1 </a:t>
            </a:r>
            <a:r>
              <a:rPr lang="en-US" sz="2800" dirty="0">
                <a:latin typeface="Calibri" charset="0"/>
              </a:rPr>
              <a:t>to all </a:t>
            </a:r>
            <a:r>
              <a:rPr lang="en-US" sz="2800" dirty="0" smtClean="0">
                <a:latin typeface="Calibri" charset="0"/>
              </a:rPr>
              <a:t>counts!</a:t>
            </a:r>
            <a:endParaRPr lang="en-US" sz="2800" dirty="0">
              <a:latin typeface="Calibri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1078402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err="1">
                <a:ea typeface="ＭＳ Ｐゴシック" charset="0"/>
                <a:cs typeface="ＭＳ Ｐゴシック" charset="0"/>
              </a:rPr>
              <a:t>Backoff</a:t>
            </a:r>
            <a:r>
              <a:rPr lang="en-US" dirty="0">
                <a:ea typeface="ＭＳ Ｐゴシック" charset="0"/>
                <a:cs typeface="ＭＳ Ｐゴシック" charset="0"/>
              </a:rPr>
              <a:t> and Interpolation</a:t>
            </a:r>
          </a:p>
        </p:txBody>
      </p:sp>
      <p:sp>
        <p:nvSpPr>
          <p:cNvPr id="5734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93800"/>
            <a:ext cx="8534400" cy="48768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dirty="0" smtClean="0">
                <a:ea typeface="ＭＳ Ｐゴシック" charset="0"/>
              </a:rPr>
              <a:t>sometimes it helps to use </a:t>
            </a:r>
            <a:r>
              <a:rPr lang="en-US" b="1" dirty="0" smtClean="0">
                <a:ea typeface="ＭＳ Ｐゴシック" charset="0"/>
              </a:rPr>
              <a:t>less</a:t>
            </a:r>
            <a:r>
              <a:rPr lang="en-US" dirty="0" smtClean="0">
                <a:ea typeface="ＭＳ Ｐゴシック" charset="0"/>
              </a:rPr>
              <a:t> context</a:t>
            </a:r>
            <a:endParaRPr lang="en-US" altLang="ja-JP" dirty="0">
              <a:ea typeface="ＭＳ Ｐゴシック" charset="0"/>
            </a:endParaRPr>
          </a:p>
          <a:p>
            <a:pPr lvl="1" eaLnBrk="1" hangingPunct="1"/>
            <a:r>
              <a:rPr lang="en-US" dirty="0" smtClean="0">
                <a:ea typeface="ＭＳ Ｐゴシック" charset="0"/>
              </a:rPr>
              <a:t>condition </a:t>
            </a:r>
            <a:r>
              <a:rPr lang="en-US" dirty="0">
                <a:ea typeface="ＭＳ Ｐゴシック" charset="0"/>
              </a:rPr>
              <a:t>on </a:t>
            </a:r>
            <a:r>
              <a:rPr lang="en-US" dirty="0" smtClean="0">
                <a:ea typeface="ＭＳ Ｐゴシック" charset="0"/>
              </a:rPr>
              <a:t>less context for contexts you haven’</a:t>
            </a:r>
            <a:r>
              <a:rPr lang="en-US" altLang="ja-JP" dirty="0" smtClean="0">
                <a:ea typeface="ＭＳ Ｐゴシック" charset="0"/>
              </a:rPr>
              <a:t>t </a:t>
            </a:r>
            <a:r>
              <a:rPr lang="en-US" altLang="ja-JP" dirty="0">
                <a:ea typeface="ＭＳ Ｐゴシック" charset="0"/>
              </a:rPr>
              <a:t>learned much about </a:t>
            </a:r>
            <a:endParaRPr lang="en-US" b="1" dirty="0">
              <a:ea typeface="ＭＳ Ｐゴシック" charset="0"/>
            </a:endParaRPr>
          </a:p>
          <a:p>
            <a:pPr eaLnBrk="1" hangingPunct="1"/>
            <a:r>
              <a:rPr lang="en-US" b="1" dirty="0" err="1" smtClean="0">
                <a:solidFill>
                  <a:srgbClr val="288CD2"/>
                </a:solidFill>
                <a:ea typeface="ＭＳ Ｐゴシック" charset="0"/>
              </a:rPr>
              <a:t>backoff</a:t>
            </a:r>
            <a:r>
              <a:rPr lang="en-US" b="1" dirty="0">
                <a:ea typeface="ＭＳ Ｐゴシック" charset="0"/>
              </a:rPr>
              <a:t>: </a:t>
            </a:r>
            <a:endParaRPr lang="en-US" b="1" dirty="0" smtClean="0">
              <a:ea typeface="ＭＳ Ｐゴシック" charset="0"/>
            </a:endParaRPr>
          </a:p>
          <a:p>
            <a:pPr lvl="1"/>
            <a:r>
              <a:rPr lang="en-US" dirty="0" smtClean="0">
                <a:ea typeface="ＭＳ Ｐゴシック" charset="0"/>
              </a:rPr>
              <a:t>use </a:t>
            </a:r>
            <a:r>
              <a:rPr lang="en-US" dirty="0">
                <a:ea typeface="ＭＳ Ｐゴシック" charset="0"/>
              </a:rPr>
              <a:t>trigram if you have </a:t>
            </a:r>
            <a:r>
              <a:rPr lang="en-US" dirty="0" smtClean="0">
                <a:ea typeface="ＭＳ Ｐゴシック" charset="0"/>
              </a:rPr>
              <a:t>good evidence, otherwise </a:t>
            </a:r>
            <a:r>
              <a:rPr lang="en-US" dirty="0">
                <a:ea typeface="ＭＳ Ｐゴシック" charset="0"/>
              </a:rPr>
              <a:t>bigram, otherwise unigram</a:t>
            </a:r>
          </a:p>
          <a:p>
            <a:pPr eaLnBrk="1" hangingPunct="1"/>
            <a:r>
              <a:rPr lang="en-US" b="1" dirty="0" smtClean="0">
                <a:solidFill>
                  <a:srgbClr val="288CD2"/>
                </a:solidFill>
                <a:ea typeface="ＭＳ Ｐゴシック" charset="0"/>
              </a:rPr>
              <a:t>interpolation</a:t>
            </a:r>
            <a:r>
              <a:rPr lang="en-US" b="1" dirty="0">
                <a:ea typeface="ＭＳ Ｐゴシック" charset="0"/>
              </a:rPr>
              <a:t>: </a:t>
            </a:r>
            <a:endParaRPr lang="en-US" b="1" dirty="0" smtClean="0">
              <a:ea typeface="ＭＳ Ｐゴシック" charset="0"/>
            </a:endParaRPr>
          </a:p>
          <a:p>
            <a:pPr lvl="1"/>
            <a:r>
              <a:rPr lang="en-US" dirty="0" smtClean="0">
                <a:ea typeface="ＭＳ Ｐゴシック" charset="0"/>
              </a:rPr>
              <a:t>mixture of unigram, bigram, trigram (etc.) models</a:t>
            </a:r>
          </a:p>
          <a:p>
            <a:pPr lvl="1"/>
            <a:endParaRPr lang="en-US" dirty="0" smtClean="0">
              <a:ea typeface="ＭＳ Ｐゴシック" charset="0"/>
            </a:endParaRPr>
          </a:p>
          <a:p>
            <a:r>
              <a:rPr lang="en-US" dirty="0" smtClean="0">
                <a:ea typeface="ＭＳ Ｐゴシック" charset="0"/>
              </a:rPr>
              <a:t>interpolation works better</a:t>
            </a:r>
            <a:endParaRPr lang="en-US" dirty="0">
              <a:ea typeface="ＭＳ Ｐゴシック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291559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 smtClean="0"/>
              <a:t>Linear Interpolation</a:t>
            </a:r>
            <a:endParaRPr lang="en-US" dirty="0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336040"/>
            <a:ext cx="8534400" cy="4445000"/>
          </a:xfrm>
        </p:spPr>
        <p:txBody>
          <a:bodyPr/>
          <a:lstStyle/>
          <a:p>
            <a:pPr eaLnBrk="1" hangingPunct="1"/>
            <a:r>
              <a:rPr lang="en-US" sz="2800" dirty="0">
                <a:latin typeface="Calibri" charset="0"/>
              </a:rPr>
              <a:t>s</a:t>
            </a:r>
            <a:r>
              <a:rPr lang="en-US" sz="2800" dirty="0" smtClean="0">
                <a:latin typeface="Calibri" charset="0"/>
              </a:rPr>
              <a:t>imple interpolation:</a:t>
            </a:r>
            <a:endParaRPr lang="en-US" sz="2800" dirty="0">
              <a:latin typeface="Calibri" charset="0"/>
            </a:endParaRPr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90320" y="1938015"/>
            <a:ext cx="5019040" cy="1379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84720" y="1938015"/>
            <a:ext cx="1179328" cy="7420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247722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2080" y="1264920"/>
            <a:ext cx="8686800" cy="4445000"/>
          </a:xfrm>
        </p:spPr>
        <p:txBody>
          <a:bodyPr>
            <a:normAutofit fontScale="85000" lnSpcReduction="10000"/>
          </a:bodyPr>
          <a:lstStyle/>
          <a:p>
            <a:pPr eaLnBrk="1" hangingPunct="1"/>
            <a:r>
              <a:rPr lang="en-US" altLang="ja-JP" dirty="0">
                <a:latin typeface="Calibri"/>
                <a:ea typeface="ＭＳ Ｐゴシック" charset="0"/>
                <a:cs typeface="Calibri"/>
              </a:rPr>
              <a:t>b</a:t>
            </a:r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etter estimate for probabilities of lower-order unigrams!</a:t>
            </a:r>
            <a:endParaRPr lang="en-US" altLang="ja-JP" dirty="0">
              <a:latin typeface="Calibri"/>
              <a:ea typeface="ＭＳ Ｐゴシック" charset="0"/>
              <a:cs typeface="Calibri"/>
            </a:endParaRPr>
          </a:p>
          <a:p>
            <a:pPr lvl="1"/>
            <a:r>
              <a:rPr lang="en-US" dirty="0">
                <a:latin typeface="Calibri"/>
                <a:ea typeface="ＭＳ Ｐゴシック" charset="0"/>
                <a:cs typeface="Calibri"/>
              </a:rPr>
              <a:t>Shannon game:  </a:t>
            </a:r>
            <a:r>
              <a:rPr lang="en-US" i="1" dirty="0"/>
              <a:t>I can’t see without my </a:t>
            </a:r>
            <a:r>
              <a:rPr lang="en-US" i="1" dirty="0" smtClean="0"/>
              <a:t>reading</a:t>
            </a:r>
            <a:r>
              <a:rPr lang="en-US" i="1" dirty="0" smtClean="0">
                <a:latin typeface="Calibri"/>
                <a:ea typeface="ＭＳ Ｐゴシック" charset="0"/>
                <a:cs typeface="Calibri"/>
              </a:rPr>
              <a:t>___________</a:t>
            </a:r>
            <a:r>
              <a:rPr lang="en-US" dirty="0">
                <a:latin typeface="Calibri"/>
                <a:ea typeface="ＭＳ Ｐゴシック" charset="0"/>
                <a:cs typeface="Calibri"/>
              </a:rPr>
              <a:t>?</a:t>
            </a:r>
          </a:p>
          <a:p>
            <a:pPr lvl="1" eaLnBrk="1" hangingPunct="1"/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“</a:t>
            </a:r>
            <a:r>
              <a:rPr lang="en-US" altLang="ja-JP" i="1" dirty="0" smtClean="0">
                <a:latin typeface="Calibri"/>
                <a:ea typeface="ＭＳ Ｐゴシック" charset="0"/>
                <a:cs typeface="Calibri"/>
              </a:rPr>
              <a:t>Francisco</a:t>
            </a:r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” </a:t>
            </a:r>
            <a:r>
              <a:rPr lang="en-US" altLang="ja-JP" dirty="0">
                <a:latin typeface="Calibri"/>
                <a:ea typeface="ＭＳ Ｐゴシック" charset="0"/>
                <a:cs typeface="Calibri"/>
              </a:rPr>
              <a:t>is more common than </a:t>
            </a:r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“</a:t>
            </a:r>
            <a:r>
              <a:rPr lang="en-US" altLang="ja-JP" i="1" dirty="0" smtClean="0">
                <a:latin typeface="Calibri"/>
                <a:ea typeface="ＭＳ Ｐゴシック" charset="0"/>
                <a:cs typeface="Calibri"/>
              </a:rPr>
              <a:t>glasses</a:t>
            </a:r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”</a:t>
            </a:r>
            <a:endParaRPr lang="en-US" altLang="ja-JP" dirty="0">
              <a:latin typeface="Calibri"/>
              <a:ea typeface="ＭＳ Ｐゴシック" charset="0"/>
              <a:cs typeface="Calibri"/>
            </a:endParaRPr>
          </a:p>
          <a:p>
            <a:pPr lvl="1" eaLnBrk="1" hangingPunct="1"/>
            <a:r>
              <a:rPr lang="en-US" dirty="0">
                <a:latin typeface="Calibri"/>
                <a:ea typeface="ＭＳ Ｐゴシック" charset="0"/>
                <a:cs typeface="Calibri"/>
              </a:rPr>
              <a:t>… but </a:t>
            </a:r>
            <a:r>
              <a:rPr lang="en-US" dirty="0" smtClean="0">
                <a:latin typeface="Calibri"/>
                <a:ea typeface="ＭＳ Ｐゴシック" charset="0"/>
                <a:cs typeface="Calibri"/>
              </a:rPr>
              <a:t>“</a:t>
            </a:r>
            <a:r>
              <a:rPr lang="en-US" altLang="ja-JP" i="1" dirty="0" smtClean="0">
                <a:latin typeface="Calibri"/>
                <a:ea typeface="ＭＳ Ｐゴシック" charset="0"/>
                <a:cs typeface="Calibri"/>
              </a:rPr>
              <a:t>Francisco</a:t>
            </a:r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” </a:t>
            </a:r>
            <a:r>
              <a:rPr lang="en-US" altLang="ja-JP" dirty="0">
                <a:latin typeface="Calibri"/>
                <a:ea typeface="ＭＳ Ｐゴシック" charset="0"/>
                <a:cs typeface="Calibri"/>
              </a:rPr>
              <a:t>always follows </a:t>
            </a:r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“</a:t>
            </a:r>
            <a:r>
              <a:rPr lang="en-US" altLang="ja-JP" i="1" dirty="0" smtClean="0">
                <a:latin typeface="Calibri"/>
                <a:ea typeface="ＭＳ Ｐゴシック" charset="0"/>
                <a:cs typeface="Calibri"/>
              </a:rPr>
              <a:t>San</a:t>
            </a:r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”</a:t>
            </a:r>
          </a:p>
          <a:p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unigram is most useful when we haven’t seen bigram!</a:t>
            </a:r>
          </a:p>
          <a:p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so instead of unigram </a:t>
            </a:r>
            <a:r>
              <a:rPr lang="en-US" altLang="ja-JP" i="1" dirty="0" smtClean="0">
                <a:latin typeface="Calibri"/>
                <a:ea typeface="ＭＳ Ｐゴシック" charset="0"/>
                <a:cs typeface="Calibri"/>
              </a:rPr>
              <a:t>P</a:t>
            </a:r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(</a:t>
            </a:r>
            <a:r>
              <a:rPr lang="en-US" altLang="ja-JP" i="1" dirty="0" smtClean="0">
                <a:latin typeface="Calibri"/>
                <a:ea typeface="ＭＳ Ｐゴシック" charset="0"/>
                <a:cs typeface="Calibri"/>
              </a:rPr>
              <a:t>w</a:t>
            </a:r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) (“How likely is </a:t>
            </a:r>
            <a:r>
              <a:rPr lang="en-US" altLang="ja-JP" i="1" dirty="0" smtClean="0">
                <a:latin typeface="Calibri"/>
                <a:ea typeface="ＭＳ Ｐゴシック" charset="0"/>
                <a:cs typeface="Calibri"/>
              </a:rPr>
              <a:t>w</a:t>
            </a:r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?”)</a:t>
            </a:r>
          </a:p>
          <a:p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use </a:t>
            </a:r>
            <a:r>
              <a:rPr lang="en-US" altLang="ja-JP" i="1" dirty="0" err="1" smtClean="0">
                <a:latin typeface="Calibri"/>
                <a:ea typeface="ＭＳ Ｐゴシック" charset="0"/>
                <a:cs typeface="Calibri"/>
              </a:rPr>
              <a:t>P</a:t>
            </a:r>
            <a:r>
              <a:rPr lang="en-US" altLang="ja-JP" baseline="-25000" dirty="0" err="1" smtClean="0">
                <a:latin typeface="Calibri"/>
                <a:ea typeface="ＭＳ Ｐゴシック" charset="0"/>
                <a:cs typeface="Calibri"/>
              </a:rPr>
              <a:t>continuation</a:t>
            </a:r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(</a:t>
            </a:r>
            <a:r>
              <a:rPr lang="en-US" altLang="ja-JP" i="1" dirty="0" smtClean="0">
                <a:latin typeface="Calibri"/>
                <a:ea typeface="ＭＳ Ｐゴシック" charset="0"/>
                <a:cs typeface="Calibri"/>
              </a:rPr>
              <a:t>w</a:t>
            </a:r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)</a:t>
            </a:r>
            <a:r>
              <a:rPr lang="en-US" altLang="ja-JP" dirty="0">
                <a:latin typeface="Calibri"/>
                <a:ea typeface="ＭＳ Ｐゴシック" charset="0"/>
                <a:cs typeface="Calibri"/>
              </a:rPr>
              <a:t> </a:t>
            </a:r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(“How likely is </a:t>
            </a:r>
            <a:r>
              <a:rPr lang="en-US" altLang="ja-JP" i="1" dirty="0" smtClean="0">
                <a:latin typeface="Calibri"/>
                <a:ea typeface="ＭＳ Ｐゴシック" charset="0"/>
                <a:cs typeface="Calibri"/>
              </a:rPr>
              <a:t>w</a:t>
            </a:r>
            <a:r>
              <a:rPr lang="en-US" altLang="ja-JP" dirty="0" smtClean="0">
                <a:latin typeface="Calibri"/>
                <a:ea typeface="ＭＳ Ｐゴシック" charset="0"/>
                <a:cs typeface="Calibri"/>
              </a:rPr>
              <a:t> to appear as a novel continuation?”)</a:t>
            </a:r>
          </a:p>
          <a:p>
            <a:pPr lvl="1"/>
            <a:r>
              <a:rPr lang="en-US" dirty="0" smtClean="0">
                <a:latin typeface="Calibri"/>
                <a:ea typeface="ＭＳ Ｐゴシック" charset="0"/>
                <a:cs typeface="Calibri"/>
              </a:rPr>
              <a:t>for each word, count # of bigram types it completes:</a:t>
            </a:r>
            <a:endParaRPr lang="en-US" dirty="0">
              <a:latin typeface="Calibri"/>
              <a:ea typeface="ＭＳ Ｐゴシック" charset="0"/>
              <a:cs typeface="Calibri"/>
            </a:endParaRPr>
          </a:p>
        </p:txBody>
      </p:sp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>
          <a:xfrm>
            <a:off x="853440" y="127000"/>
            <a:ext cx="7467600" cy="990600"/>
          </a:xfrm>
        </p:spPr>
        <p:txBody>
          <a:bodyPr/>
          <a:lstStyle/>
          <a:p>
            <a:pPr eaLnBrk="1" hangingPunct="1"/>
            <a:r>
              <a:rPr lang="en-US" dirty="0" err="1">
                <a:ea typeface="ＭＳ Ｐゴシック" charset="0"/>
                <a:cs typeface="ＭＳ Ｐゴシック" charset="0"/>
              </a:rPr>
              <a:t>Kneser</a:t>
            </a:r>
            <a:r>
              <a:rPr lang="en-US" dirty="0">
                <a:ea typeface="ＭＳ Ｐゴシック" charset="0"/>
                <a:cs typeface="ＭＳ Ｐゴシック" charset="0"/>
              </a:rPr>
              <a:t>-Ney 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Smoothing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523030"/>
              </p:ext>
            </p:extLst>
          </p:nvPr>
        </p:nvGraphicFramePr>
        <p:xfrm>
          <a:off x="1615441" y="5328074"/>
          <a:ext cx="5943600" cy="6053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530" name="Equation" r:id="rId4" imgW="2451100" imgH="241300" progId="Equation.3">
                  <p:embed/>
                </p:oleObj>
              </mc:Choice>
              <mc:Fallback>
                <p:oleObj name="Equation" r:id="rId4" imgW="24511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5441" y="5328074"/>
                        <a:ext cx="5943600" cy="6053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74309312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>
            <a:spLocks noGrp="1" noChangeArrowheads="1"/>
          </p:cNvSpPr>
          <p:nvPr>
            <p:ph type="title"/>
          </p:nvPr>
        </p:nvSpPr>
        <p:spPr>
          <a:xfrm>
            <a:off x="843280" y="208280"/>
            <a:ext cx="7467600" cy="990600"/>
          </a:xfrm>
        </p:spPr>
        <p:txBody>
          <a:bodyPr/>
          <a:lstStyle/>
          <a:p>
            <a:pPr eaLnBrk="1" hangingPunct="1"/>
            <a:r>
              <a:rPr lang="en-US" dirty="0" err="1">
                <a:ea typeface="ＭＳ Ｐゴシック" charset="0"/>
                <a:cs typeface="ＭＳ Ｐゴシック" charset="0"/>
              </a:rPr>
              <a:t>Kneser</a:t>
            </a:r>
            <a:r>
              <a:rPr lang="en-US" dirty="0">
                <a:ea typeface="ＭＳ Ｐゴシック" charset="0"/>
                <a:cs typeface="ＭＳ Ｐゴシック" charset="0"/>
              </a:rPr>
              <a:t>-Ney </a:t>
            </a:r>
            <a:r>
              <a:rPr lang="en-US" dirty="0" smtClean="0">
                <a:ea typeface="ＭＳ Ｐゴシック" charset="0"/>
                <a:cs typeface="ＭＳ Ｐゴシック" charset="0"/>
              </a:rPr>
              <a:t>Smoothing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757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92227"/>
            <a:ext cx="8534400" cy="4445000"/>
          </a:xfrm>
        </p:spPr>
        <p:txBody>
          <a:bodyPr>
            <a:normAutofit/>
          </a:bodyPr>
          <a:lstStyle/>
          <a:p>
            <a:pPr eaLnBrk="1" hangingPunct="1"/>
            <a:r>
              <a:rPr lang="en-US" sz="2400" dirty="0">
                <a:latin typeface="Calibri"/>
                <a:ea typeface="ＭＳ Ｐゴシック" charset="0"/>
                <a:cs typeface="Calibri"/>
              </a:rPr>
              <a:t>h</a:t>
            </a:r>
            <a:r>
              <a:rPr lang="en-US" sz="2400" dirty="0" smtClean="0">
                <a:latin typeface="Calibri"/>
                <a:ea typeface="ＭＳ Ｐゴシック" charset="0"/>
                <a:cs typeface="Calibri"/>
              </a:rPr>
              <a:t>ow many times does </a:t>
            </a:r>
            <a:r>
              <a:rPr lang="en-US" sz="2400" i="1" dirty="0" smtClean="0">
                <a:latin typeface="Calibri"/>
                <a:ea typeface="ＭＳ Ｐゴシック" charset="0"/>
                <a:cs typeface="Calibri"/>
              </a:rPr>
              <a:t>w</a:t>
            </a:r>
            <a:r>
              <a:rPr lang="en-US" sz="2400" dirty="0" smtClean="0">
                <a:latin typeface="Calibri"/>
                <a:ea typeface="ＭＳ Ｐゴシック" charset="0"/>
                <a:cs typeface="Calibri"/>
              </a:rPr>
              <a:t> appear as a novel continuation?</a:t>
            </a:r>
          </a:p>
          <a:p>
            <a:pPr eaLnBrk="1" hangingPunct="1"/>
            <a:endParaRPr lang="en-US" sz="2400" dirty="0">
              <a:latin typeface="Calibri"/>
              <a:ea typeface="ＭＳ Ｐゴシック" charset="0"/>
              <a:cs typeface="Calibri"/>
            </a:endParaRPr>
          </a:p>
          <a:p>
            <a:endParaRPr lang="en-US" sz="2400" dirty="0" smtClean="0">
              <a:ea typeface="ＭＳ Ｐゴシック" charset="0"/>
              <a:cs typeface="Calibri"/>
            </a:endParaRPr>
          </a:p>
          <a:p>
            <a:endParaRPr lang="en-US" sz="2400" dirty="0" smtClean="0">
              <a:ea typeface="ＭＳ Ｐゴシック" charset="0"/>
              <a:cs typeface="Calibri"/>
            </a:endParaRPr>
          </a:p>
          <a:p>
            <a:r>
              <a:rPr lang="en-US" sz="2400" dirty="0" smtClean="0">
                <a:ea typeface="ＭＳ Ｐゴシック" charset="0"/>
                <a:cs typeface="Calibri"/>
              </a:rPr>
              <a:t>normalize </a:t>
            </a:r>
            <a:r>
              <a:rPr lang="en-US" sz="2400" dirty="0">
                <a:ea typeface="ＭＳ Ｐゴシック" charset="0"/>
                <a:cs typeface="Calibri"/>
              </a:rPr>
              <a:t>by </a:t>
            </a:r>
            <a:r>
              <a:rPr lang="en-US" sz="2400" dirty="0" smtClean="0">
                <a:ea typeface="ＭＳ Ｐゴシック" charset="0"/>
                <a:cs typeface="Calibri"/>
              </a:rPr>
              <a:t>total </a:t>
            </a:r>
            <a:r>
              <a:rPr lang="en-US" sz="2400" dirty="0">
                <a:ea typeface="ＭＳ Ｐゴシック" charset="0"/>
                <a:cs typeface="Calibri"/>
              </a:rPr>
              <a:t>number of </a:t>
            </a:r>
            <a:endParaRPr lang="en-US" sz="2400" dirty="0" smtClean="0">
              <a:ea typeface="ＭＳ Ｐゴシック" charset="0"/>
              <a:cs typeface="Calibri"/>
            </a:endParaRPr>
          </a:p>
          <a:p>
            <a:pPr marL="0" indent="0">
              <a:buNone/>
            </a:pPr>
            <a:r>
              <a:rPr lang="en-US" sz="2400" dirty="0">
                <a:ea typeface="ＭＳ Ｐゴシック" charset="0"/>
                <a:cs typeface="Calibri"/>
              </a:rPr>
              <a:t> </a:t>
            </a:r>
            <a:r>
              <a:rPr lang="en-US" sz="2400" dirty="0" smtClean="0">
                <a:ea typeface="ＭＳ Ｐゴシック" charset="0"/>
                <a:cs typeface="Calibri"/>
              </a:rPr>
              <a:t>    word </a:t>
            </a:r>
            <a:r>
              <a:rPr lang="en-US" sz="2400" dirty="0">
                <a:ea typeface="ＭＳ Ｐゴシック" charset="0"/>
                <a:cs typeface="Calibri"/>
              </a:rPr>
              <a:t>bigram </a:t>
            </a:r>
            <a:r>
              <a:rPr lang="en-US" sz="2400" dirty="0" smtClean="0">
                <a:ea typeface="ＭＳ Ｐゴシック" charset="0"/>
                <a:cs typeface="Calibri"/>
              </a:rPr>
              <a:t>types:</a:t>
            </a:r>
            <a:endParaRPr lang="en-US" sz="1800" dirty="0" smtClean="0">
              <a:latin typeface="Calibri"/>
              <a:ea typeface="ＭＳ Ｐゴシック" charset="0"/>
              <a:cs typeface="Calibri"/>
            </a:endParaRPr>
          </a:p>
          <a:p>
            <a:pPr marL="457200" lvl="1" indent="0">
              <a:buNone/>
            </a:pPr>
            <a:endParaRPr lang="en-US" sz="1800" dirty="0">
              <a:latin typeface="Calibri"/>
              <a:ea typeface="ＭＳ Ｐゴシック" charset="0"/>
              <a:cs typeface="Calibri"/>
            </a:endParaRPr>
          </a:p>
        </p:txBody>
      </p:sp>
      <p:graphicFrame>
        <p:nvGraphicFramePr>
          <p:cNvPr id="75779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6795606"/>
              </p:ext>
            </p:extLst>
          </p:nvPr>
        </p:nvGraphicFramePr>
        <p:xfrm>
          <a:off x="944880" y="4673600"/>
          <a:ext cx="7543165" cy="14325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6" name="Equation" r:id="rId4" imgW="2794000" imgH="482600" progId="Equation.3">
                  <p:embed/>
                </p:oleObj>
              </mc:Choice>
              <mc:Fallback>
                <p:oleObj name="Equation" r:id="rId4" imgW="27940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80" y="4673600"/>
                        <a:ext cx="7543165" cy="14325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871338"/>
              </p:ext>
            </p:extLst>
          </p:nvPr>
        </p:nvGraphicFramePr>
        <p:xfrm>
          <a:off x="944880" y="2001851"/>
          <a:ext cx="6929120" cy="6913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7" name="Equation" r:id="rId6" imgW="2451100" imgH="241300" progId="Equation.3">
                  <p:embed/>
                </p:oleObj>
              </mc:Choice>
              <mc:Fallback>
                <p:oleObj name="Equation" r:id="rId6" imgW="2451100" imgH="241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80" y="2001851"/>
                        <a:ext cx="6929120" cy="6913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6412024"/>
              </p:ext>
            </p:extLst>
          </p:nvPr>
        </p:nvGraphicFramePr>
        <p:xfrm>
          <a:off x="3423920" y="3441463"/>
          <a:ext cx="4135120" cy="717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78" name="Equation" r:id="rId8" imgW="1701800" imgH="266700" progId="Equation.3">
                  <p:embed/>
                </p:oleObj>
              </mc:Choice>
              <mc:Fallback>
                <p:oleObj name="Equation" r:id="rId8" imgW="1701800" imgH="26670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423920" y="3441463"/>
                        <a:ext cx="4135120" cy="717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12011029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N-gram Smoothing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add</a:t>
            </a:r>
            <a:r>
              <a:rPr lang="en-US" sz="2800" dirty="0"/>
              <a:t>-1 </a:t>
            </a:r>
            <a:r>
              <a:rPr lang="en-US" sz="2800" dirty="0" smtClean="0"/>
              <a:t>estimation:</a:t>
            </a:r>
            <a:endParaRPr lang="en-US" sz="2800" dirty="0"/>
          </a:p>
          <a:p>
            <a:pPr lvl="1"/>
            <a:r>
              <a:rPr lang="en-US" sz="2400" dirty="0"/>
              <a:t>OK for text categorization, not for language modeling</a:t>
            </a:r>
          </a:p>
          <a:p>
            <a:r>
              <a:rPr lang="en-US" sz="2800" dirty="0"/>
              <a:t>for very large N-gram collections like the Web:</a:t>
            </a:r>
          </a:p>
          <a:p>
            <a:pPr lvl="1"/>
            <a:r>
              <a:rPr lang="en-US" sz="2400" dirty="0"/>
              <a:t>stupid </a:t>
            </a:r>
            <a:r>
              <a:rPr lang="en-US" sz="2400" dirty="0" err="1"/>
              <a:t>backoff</a:t>
            </a:r>
            <a:endParaRPr lang="en-US" sz="2400" dirty="0"/>
          </a:p>
          <a:p>
            <a:r>
              <a:rPr lang="en-US" sz="2800" dirty="0" smtClean="0"/>
              <a:t>most commonly used method:</a:t>
            </a:r>
          </a:p>
          <a:p>
            <a:pPr lvl="1"/>
            <a:r>
              <a:rPr lang="en-US" sz="2400" dirty="0" smtClean="0"/>
              <a:t>modified interpolated </a:t>
            </a:r>
            <a:r>
              <a:rPr lang="en-US" sz="2400" dirty="0" err="1" smtClean="0"/>
              <a:t>Kneser</a:t>
            </a:r>
            <a:r>
              <a:rPr lang="en-US" sz="2400" dirty="0" smtClean="0"/>
              <a:t>-Ney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F35DC5-7E65-8247-99AB-4E984F8A921E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7814471" y="6403973"/>
            <a:ext cx="1329529" cy="454027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dirty="0" smtClean="0">
                <a:solidFill>
                  <a:srgbClr val="288CD2"/>
                </a:solidFill>
              </a:rPr>
              <a:t>J&amp;M/SLP3</a:t>
            </a:r>
          </a:p>
        </p:txBody>
      </p:sp>
    </p:spTree>
    <p:extLst>
      <p:ext uri="{BB962C8B-B14F-4D97-AF65-F5344CB8AC3E}">
        <p14:creationId xmlns:p14="http://schemas.microsoft.com/office/powerpoint/2010/main" val="2769599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Roadmap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1"/>
            <a:ext cx="8229600" cy="5052424"/>
          </a:xfrm>
        </p:spPr>
        <p:txBody>
          <a:bodyPr>
            <a:noAutofit/>
          </a:bodyPr>
          <a:lstStyle/>
          <a:p>
            <a:r>
              <a:rPr lang="en-US" sz="2400" dirty="0" smtClean="0"/>
              <a:t>classification</a:t>
            </a:r>
          </a:p>
          <a:p>
            <a:r>
              <a:rPr lang="en-US" sz="2400" dirty="0" smtClean="0"/>
              <a:t>words</a:t>
            </a:r>
          </a:p>
          <a:p>
            <a:r>
              <a:rPr lang="en-US" sz="2400" dirty="0" smtClean="0"/>
              <a:t>lexical semantics</a:t>
            </a:r>
          </a:p>
          <a:p>
            <a:r>
              <a:rPr lang="en-US" sz="2400" dirty="0" smtClean="0"/>
              <a:t>language modeling</a:t>
            </a:r>
          </a:p>
          <a:p>
            <a:r>
              <a:rPr lang="en-US" sz="2400" dirty="0" smtClean="0">
                <a:solidFill>
                  <a:srgbClr val="288CD2"/>
                </a:solidFill>
              </a:rPr>
              <a:t>sequence labeling</a:t>
            </a:r>
          </a:p>
          <a:p>
            <a:r>
              <a:rPr lang="en-US" sz="2400" dirty="0" smtClean="0"/>
              <a:t>syntax and syntactic parsing</a:t>
            </a:r>
          </a:p>
          <a:p>
            <a:r>
              <a:rPr lang="en-US" sz="2400" dirty="0" smtClean="0"/>
              <a:t>neural network methods in NLP</a:t>
            </a:r>
          </a:p>
          <a:p>
            <a:r>
              <a:rPr lang="en-US" sz="2400" dirty="0" smtClean="0"/>
              <a:t>semantic compositionality</a:t>
            </a:r>
          </a:p>
          <a:p>
            <a:r>
              <a:rPr lang="en-US" sz="2400" dirty="0" smtClean="0"/>
              <a:t>semantic parsing</a:t>
            </a:r>
          </a:p>
          <a:p>
            <a:r>
              <a:rPr lang="en-US" sz="2400" dirty="0" smtClean="0"/>
              <a:t>unsupervised learning</a:t>
            </a:r>
          </a:p>
          <a:p>
            <a:r>
              <a:rPr lang="en-US" sz="2400" dirty="0" smtClean="0"/>
              <a:t>machine translation and other applications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06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Linguistic </a:t>
            </a:r>
            <a:r>
              <a:rPr lang="en-US" sz="3600" dirty="0" smtClean="0"/>
              <a:t>phenomena: summary so far…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words have structure (</a:t>
            </a:r>
            <a:r>
              <a:rPr lang="en-US" dirty="0" smtClean="0">
                <a:solidFill>
                  <a:srgbClr val="288CD2"/>
                </a:solidFill>
              </a:rPr>
              <a:t>stems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288CD2"/>
                </a:solidFill>
              </a:rPr>
              <a:t>affixes</a:t>
            </a:r>
            <a:r>
              <a:rPr lang="en-US" dirty="0" smtClean="0"/>
              <a:t>) </a:t>
            </a:r>
            <a:endParaRPr lang="en-US" dirty="0" smtClean="0"/>
          </a:p>
          <a:p>
            <a:r>
              <a:rPr lang="en-US" dirty="0" smtClean="0"/>
              <a:t>words </a:t>
            </a:r>
            <a:r>
              <a:rPr lang="en-US" dirty="0" smtClean="0"/>
              <a:t>have multiple meanings </a:t>
            </a:r>
            <a:r>
              <a:rPr lang="en-US" dirty="0" smtClean="0"/>
              <a:t>(</a:t>
            </a:r>
            <a:r>
              <a:rPr lang="en-US" dirty="0" smtClean="0">
                <a:solidFill>
                  <a:srgbClr val="288CD2"/>
                </a:solidFill>
              </a:rPr>
              <a:t>senses</a:t>
            </a:r>
            <a:r>
              <a:rPr lang="en-US" dirty="0" smtClean="0"/>
              <a:t>) </a:t>
            </a:r>
            <a:r>
              <a:rPr lang="en-US" sz="2600" dirty="0" smtClean="0">
                <a:sym typeface="Wingdings"/>
              </a:rPr>
              <a:t></a:t>
            </a:r>
            <a:r>
              <a:rPr lang="en-US" dirty="0" smtClean="0">
                <a:sym typeface="Wingdings"/>
              </a:rPr>
              <a:t> </a:t>
            </a:r>
            <a:r>
              <a:rPr lang="en-US" dirty="0" smtClean="0"/>
              <a:t>word sense ambiguity</a:t>
            </a:r>
          </a:p>
          <a:p>
            <a:pPr lvl="1"/>
            <a:r>
              <a:rPr lang="en-US" dirty="0" smtClean="0"/>
              <a:t>senses of a word can be homonymous or </a:t>
            </a:r>
            <a:r>
              <a:rPr lang="en-US" dirty="0" err="1" smtClean="0"/>
              <a:t>polysemous</a:t>
            </a:r>
            <a:endParaRPr lang="en-US" dirty="0" smtClean="0"/>
          </a:p>
          <a:p>
            <a:pPr lvl="1"/>
            <a:r>
              <a:rPr lang="en-US" dirty="0" smtClean="0"/>
              <a:t>senses have relationships:</a:t>
            </a:r>
          </a:p>
          <a:p>
            <a:pPr lvl="2"/>
            <a:r>
              <a:rPr lang="en-US" dirty="0" smtClean="0">
                <a:solidFill>
                  <a:srgbClr val="288CD2"/>
                </a:solidFill>
              </a:rPr>
              <a:t>hyponymy</a:t>
            </a:r>
            <a:r>
              <a:rPr lang="en-US" dirty="0" smtClean="0"/>
              <a:t> (“is a”)</a:t>
            </a:r>
          </a:p>
          <a:p>
            <a:pPr lvl="2"/>
            <a:r>
              <a:rPr lang="en-US" dirty="0" err="1" smtClean="0">
                <a:solidFill>
                  <a:srgbClr val="288CD2"/>
                </a:solidFill>
              </a:rPr>
              <a:t>meronymy</a:t>
            </a:r>
            <a:r>
              <a:rPr lang="en-US" dirty="0" smtClean="0">
                <a:solidFill>
                  <a:srgbClr val="288CD2"/>
                </a:solidFill>
              </a:rPr>
              <a:t> </a:t>
            </a:r>
            <a:r>
              <a:rPr lang="en-US" dirty="0" smtClean="0"/>
              <a:t>(“part of”, “member of”)</a:t>
            </a:r>
          </a:p>
          <a:p>
            <a:r>
              <a:rPr lang="en-US" dirty="0" smtClean="0"/>
              <a:t>variability/flexibility of linguistic expression</a:t>
            </a:r>
          </a:p>
          <a:p>
            <a:pPr lvl="1"/>
            <a:r>
              <a:rPr lang="en-US" dirty="0" smtClean="0"/>
              <a:t>many ways to express the same meaning (as you saw in Assignment 1)</a:t>
            </a:r>
          </a:p>
          <a:p>
            <a:pPr lvl="1"/>
            <a:r>
              <a:rPr lang="en-US" dirty="0" smtClean="0"/>
              <a:t>word vectors tell us when two words are similar</a:t>
            </a:r>
          </a:p>
          <a:p>
            <a:r>
              <a:rPr lang="en-US" dirty="0" smtClean="0"/>
              <a:t>today: </a:t>
            </a:r>
            <a:r>
              <a:rPr lang="en-US" b="1" dirty="0" smtClean="0">
                <a:solidFill>
                  <a:srgbClr val="288CD2"/>
                </a:solidFill>
              </a:rPr>
              <a:t>part-of-speech</a:t>
            </a:r>
            <a:endParaRPr lang="en-US" b="1" dirty="0">
              <a:solidFill>
                <a:srgbClr val="288CD2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37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7948" y="275496"/>
            <a:ext cx="3091870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Part-of-Speech Tagging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1186878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proper     proper   poss.     adj. 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  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modal       verb    det.         adjective         noun    prep.      proper     </a:t>
            </a:r>
            <a:r>
              <a:rPr lang="en-US" sz="2000" i="0" dirty="0" err="1" smtClean="0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</p:spTree>
    <p:extLst>
      <p:ext uri="{BB962C8B-B14F-4D97-AF65-F5344CB8AC3E}">
        <p14:creationId xmlns:p14="http://schemas.microsoft.com/office/powerpoint/2010/main" val="3732028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4915" y="946748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proper  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poss.     adj. 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   modal       verb    det.         adjective         noun    prep.  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</a:t>
            </a:r>
            <a:r>
              <a:rPr lang="en-US" sz="2000" i="0" dirty="0" err="1" smtClean="0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7948" y="275496"/>
            <a:ext cx="3091870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Part-of-Speech Tagging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1186878"/>
            <a:ext cx="843376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determiner     verb (past)      prep.    noun        noun     poss.     adj.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modal       verb    det.         adjective         noun    prep.   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n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oun      </a:t>
            </a:r>
            <a:r>
              <a:rPr lang="en-US" sz="2000" i="0" dirty="0" err="1" smtClean="0">
                <a:solidFill>
                  <a:srgbClr val="C50C0C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</p:spTree>
    <p:extLst>
      <p:ext uri="{BB962C8B-B14F-4D97-AF65-F5344CB8AC3E}">
        <p14:creationId xmlns:p14="http://schemas.microsoft.com/office/powerpoint/2010/main" val="359886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Part-of-Speech (POS)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functional category of a word:</a:t>
            </a:r>
          </a:p>
          <a:p>
            <a:pPr lvl="1"/>
            <a:r>
              <a:rPr lang="en-US" dirty="0" smtClean="0"/>
              <a:t>noun, verb, adjective, etc.</a:t>
            </a:r>
          </a:p>
          <a:p>
            <a:pPr lvl="1"/>
            <a:r>
              <a:rPr lang="en-US" dirty="0" smtClean="0"/>
              <a:t>how </a:t>
            </a:r>
            <a:r>
              <a:rPr lang="en-US" dirty="0" smtClean="0"/>
              <a:t>is the word functioning in its context?</a:t>
            </a:r>
          </a:p>
          <a:p>
            <a:r>
              <a:rPr lang="en-US" dirty="0" smtClean="0"/>
              <a:t>dependent on context like word sense, but different from sense:</a:t>
            </a:r>
          </a:p>
          <a:p>
            <a:pPr lvl="1"/>
            <a:r>
              <a:rPr lang="en-US" dirty="0" smtClean="0"/>
              <a:t>sense represents word </a:t>
            </a:r>
            <a:r>
              <a:rPr lang="en-US" dirty="0" smtClean="0"/>
              <a:t>meaning, POS </a:t>
            </a:r>
            <a:r>
              <a:rPr lang="en-US" dirty="0" smtClean="0"/>
              <a:t>represents </a:t>
            </a:r>
            <a:r>
              <a:rPr lang="en-US" dirty="0" smtClean="0"/>
              <a:t>word function</a:t>
            </a:r>
            <a:endParaRPr lang="en-US" dirty="0" smtClean="0"/>
          </a:p>
          <a:p>
            <a:pPr lvl="1"/>
            <a:r>
              <a:rPr lang="en-US" dirty="0" smtClean="0"/>
              <a:t>sense uses a distinct category of senses per word, POS </a:t>
            </a:r>
            <a:r>
              <a:rPr lang="en-US" dirty="0" smtClean="0"/>
              <a:t>uses same set of categories for all words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408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8998"/>
            <a:ext cx="1584960" cy="1911402"/>
          </a:xfrm>
        </p:spPr>
        <p:txBody>
          <a:bodyPr>
            <a:normAutofit/>
          </a:bodyPr>
          <a:lstStyle/>
          <a:p>
            <a:r>
              <a:rPr lang="en-US" sz="2800" dirty="0" smtClean="0"/>
              <a:t>Penn Treebank tag </a:t>
            </a:r>
            <a:r>
              <a:rPr lang="en-US" sz="2800" dirty="0"/>
              <a:t>s</a:t>
            </a:r>
            <a:r>
              <a:rPr lang="en-US" sz="2800" dirty="0" smtClean="0"/>
              <a:t>et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18</a:t>
            </a:fld>
            <a:endParaRPr lang="en-US"/>
          </a:p>
        </p:txBody>
      </p:sp>
      <p:pic>
        <p:nvPicPr>
          <p:cNvPr id="7" name="Picture 6" descr="Screen Shot 2016-01-23 at 2.26.27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5318" y="130758"/>
            <a:ext cx="7558682" cy="652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176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Universal Tag Set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many </a:t>
            </a:r>
            <a:r>
              <a:rPr lang="en-US" dirty="0" smtClean="0"/>
              <a:t>use </a:t>
            </a:r>
            <a:r>
              <a:rPr lang="en-US" dirty="0" smtClean="0"/>
              <a:t>smaller sets of coarser tags</a:t>
            </a:r>
          </a:p>
          <a:p>
            <a:r>
              <a:rPr lang="en-US" dirty="0" smtClean="0"/>
              <a:t>e.g., “universal tag set” containing 12 tags:</a:t>
            </a:r>
          </a:p>
          <a:p>
            <a:pPr lvl="1"/>
            <a:r>
              <a:rPr lang="en-US" dirty="0" smtClean="0"/>
              <a:t>noun, verb, adjective, adverb, pronoun, determiner/article, </a:t>
            </a:r>
            <a:r>
              <a:rPr lang="en-US" dirty="0" err="1" smtClean="0"/>
              <a:t>adposition</a:t>
            </a:r>
            <a:r>
              <a:rPr lang="en-US" dirty="0" smtClean="0"/>
              <a:t> (preposition or postposition), numeral, conjunction, particle, punctuation, other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19</a:t>
            </a:fld>
            <a:endParaRPr lang="en-US"/>
          </a:p>
        </p:txBody>
      </p:sp>
      <p:pic>
        <p:nvPicPr>
          <p:cNvPr id="5" name="Picture 4" descr="Screen Shot 2016-01-23 at 2.29.59 P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88819"/>
            <a:ext cx="9144000" cy="1332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18480" y="5898519"/>
            <a:ext cx="30415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err="1" smtClean="0">
                <a:solidFill>
                  <a:srgbClr val="288CD2"/>
                </a:solidFill>
              </a:rPr>
              <a:t>Petrov</a:t>
            </a:r>
            <a:r>
              <a:rPr lang="en-US" i="1" dirty="0" smtClean="0">
                <a:solidFill>
                  <a:srgbClr val="288CD2"/>
                </a:solidFill>
              </a:rPr>
              <a:t>, Das, McDonald (2011)</a:t>
            </a:r>
            <a:endParaRPr lang="en-US" i="1" dirty="0">
              <a:solidFill>
                <a:srgbClr val="288CD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9178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080" y="1259840"/>
            <a:ext cx="8229600" cy="3886200"/>
          </a:xfrm>
        </p:spPr>
        <p:txBody>
          <a:bodyPr/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 err="1" smtClean="0"/>
              <a:t>ikr</a:t>
            </a:r>
            <a:r>
              <a:rPr lang="en-US" dirty="0" smtClean="0"/>
              <a:t>  </a:t>
            </a:r>
            <a:r>
              <a:rPr lang="en-US" dirty="0" err="1" smtClean="0"/>
              <a:t>smh</a:t>
            </a:r>
            <a:r>
              <a:rPr lang="en-US" dirty="0" smtClean="0"/>
              <a:t>  he  asked  fir  </a:t>
            </a:r>
            <a:r>
              <a:rPr lang="en-US" dirty="0" err="1" smtClean="0"/>
              <a:t>yo</a:t>
            </a:r>
            <a:r>
              <a:rPr lang="en-US" dirty="0" smtClean="0"/>
              <a:t>  last  name  so  he  can add  u  on  </a:t>
            </a:r>
            <a:r>
              <a:rPr lang="en-US" dirty="0" err="1" smtClean="0"/>
              <a:t>fb</a:t>
            </a:r>
            <a:r>
              <a:rPr lang="en-US" dirty="0" smtClean="0"/>
              <a:t>  </a:t>
            </a:r>
            <a:r>
              <a:rPr lang="en-US" dirty="0" err="1" smtClean="0"/>
              <a:t>lololol</a:t>
            </a:r>
            <a:r>
              <a:rPr lang="en-US" dirty="0" smtClean="0"/>
              <a:t>   =D     #</a:t>
            </a:r>
            <a:r>
              <a:rPr lang="en-US" dirty="0" err="1" smtClean="0"/>
              <a:t>lolz</a:t>
            </a:r>
            <a:endParaRPr lang="en-US" dirty="0"/>
          </a:p>
          <a:p>
            <a:pPr marL="0" indent="0">
              <a:lnSpc>
                <a:spcPct val="110000"/>
              </a:lnSpc>
              <a:buNone/>
            </a:pPr>
            <a:endParaRPr lang="en-US" sz="1800" dirty="0" smtClean="0"/>
          </a:p>
          <a:p>
            <a:pPr marL="0" indent="0">
              <a:lnSpc>
                <a:spcPct val="110000"/>
              </a:lnSpc>
              <a:buNone/>
            </a:pPr>
            <a:endParaRPr lang="en-US" sz="1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 bwMode="auto">
          <a:xfrm>
            <a:off x="589280" y="1107440"/>
            <a:ext cx="82296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err="1" smtClean="0">
                <a:solidFill>
                  <a:srgbClr val="288CD2"/>
                </a:solidFill>
              </a:rPr>
              <a:t>intj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pronoun                      prep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adj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     prep                verb 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 bwMode="auto">
          <a:xfrm>
            <a:off x="1198880" y="726440"/>
            <a:ext cx="7467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110000"/>
              </a:lnSpc>
              <a:buFont typeface="Wingdings" pitchFamily="2" charset="2"/>
              <a:buNone/>
            </a:pPr>
            <a:r>
              <a:rPr lang="en-US" sz="1800" i="0" dirty="0" smtClean="0">
                <a:solidFill>
                  <a:srgbClr val="288CD2"/>
                </a:solidFill>
              </a:rPr>
              <a:t>other                     verb                   article                     noun               pronoun 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 bwMode="auto">
          <a:xfrm>
            <a:off x="1046480" y="2707640"/>
            <a:ext cx="4953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buFont typeface="Wingdings" pitchFamily="2" charset="2"/>
              <a:buNone/>
            </a:pPr>
            <a:r>
              <a:rPr lang="en-US" sz="1800" i="0" dirty="0" smtClean="0">
                <a:solidFill>
                  <a:srgbClr val="288CD2"/>
                </a:solidFill>
              </a:rPr>
              <a:t>pronoun      proper</a:t>
            </a:r>
          </a:p>
          <a:p>
            <a:pPr marL="0" indent="0">
              <a:lnSpc>
                <a:spcPct val="60000"/>
              </a:lnSpc>
              <a:buFont typeface="Wingdings" pitchFamily="2" charset="2"/>
              <a:buNone/>
            </a:pPr>
            <a:r>
              <a:rPr lang="en-US" sz="1800" i="0" dirty="0">
                <a:solidFill>
                  <a:srgbClr val="288CD2"/>
                </a:solidFill>
              </a:rPr>
              <a:t> </a:t>
            </a:r>
            <a:r>
              <a:rPr lang="en-US" sz="1800" i="0" dirty="0" smtClean="0">
                <a:solidFill>
                  <a:srgbClr val="288CD2"/>
                </a:solidFill>
              </a:rPr>
              <a:t>                      noun</a:t>
            </a:r>
            <a:endParaRPr lang="en-US" sz="1100" i="0" dirty="0" smtClean="0">
              <a:solidFill>
                <a:srgbClr val="288CD2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 bwMode="auto">
          <a:xfrm>
            <a:off x="589280" y="2326640"/>
            <a:ext cx="5562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lnSpc>
                <a:spcPct val="80000"/>
              </a:lnSpc>
              <a:spcBef>
                <a:spcPts val="0"/>
              </a:spcBef>
              <a:buFont typeface="Wingdings" pitchFamily="2" charset="2"/>
              <a:buNone/>
            </a:pPr>
            <a:r>
              <a:rPr lang="en-US" sz="1800" i="0" dirty="0" smtClean="0">
                <a:solidFill>
                  <a:srgbClr val="288CD2"/>
                </a:solidFill>
              </a:rPr>
              <a:t>verb              prep                   </a:t>
            </a:r>
            <a:r>
              <a:rPr lang="en-US" sz="1800" i="0" dirty="0" err="1" smtClean="0">
                <a:solidFill>
                  <a:srgbClr val="288CD2"/>
                </a:solidFill>
              </a:rPr>
              <a:t>intj</a:t>
            </a:r>
            <a:r>
              <a:rPr lang="en-US" sz="1800" i="0" dirty="0" smtClean="0">
                <a:solidFill>
                  <a:srgbClr val="288CD2"/>
                </a:solidFill>
              </a:rPr>
              <a:t>          emoticon    </a:t>
            </a:r>
            <a:r>
              <a:rPr lang="en-US" sz="1800" i="0" dirty="0" err="1" smtClean="0">
                <a:solidFill>
                  <a:srgbClr val="288CD2"/>
                </a:solidFill>
              </a:rPr>
              <a:t>hashtag</a:t>
            </a:r>
            <a:endParaRPr lang="en-US" sz="1200" i="0" dirty="0" smtClean="0">
              <a:solidFill>
                <a:srgbClr val="288CD2"/>
              </a:solidFill>
            </a:endParaRPr>
          </a:p>
        </p:txBody>
      </p:sp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534400" cy="685800"/>
          </a:xfrm>
        </p:spPr>
        <p:txBody>
          <a:bodyPr>
            <a:normAutofit/>
          </a:bodyPr>
          <a:lstStyle/>
          <a:p>
            <a:r>
              <a:rPr lang="en-US" sz="3200" dirty="0" smtClean="0"/>
              <a:t>Twitter Part-of-Speech Tagging</a:t>
            </a:r>
            <a:endParaRPr lang="en-US" sz="32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 bwMode="auto">
          <a:xfrm>
            <a:off x="6868160" y="2250440"/>
            <a:ext cx="2133600" cy="1066800"/>
          </a:xfrm>
          <a:prstGeom prst="rect">
            <a:avLst/>
          </a:prstGeom>
          <a:noFill/>
          <a:ln w="28575" cmpd="sng">
            <a:solidFill>
              <a:srgbClr val="288CD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000" i="0" dirty="0" err="1" smtClean="0">
                <a:solidFill>
                  <a:srgbClr val="288CD2"/>
                </a:solidFill>
              </a:rPr>
              <a:t>adj</a:t>
            </a:r>
            <a:r>
              <a:rPr lang="en-US" sz="2000" i="0" dirty="0" smtClean="0">
                <a:solidFill>
                  <a:srgbClr val="288CD2"/>
                </a:solidFill>
              </a:rPr>
              <a:t> = adjective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000" i="0" dirty="0" smtClean="0">
                <a:solidFill>
                  <a:srgbClr val="288CD2"/>
                </a:solidFill>
              </a:rPr>
              <a:t>prep = preposition</a:t>
            </a:r>
          </a:p>
          <a:p>
            <a:pPr marL="0" indent="0">
              <a:spcBef>
                <a:spcPts val="0"/>
              </a:spcBef>
              <a:buFont typeface="Wingdings" pitchFamily="2" charset="2"/>
              <a:buNone/>
            </a:pPr>
            <a:r>
              <a:rPr lang="en-US" sz="2000" i="0" dirty="0" err="1" smtClean="0">
                <a:solidFill>
                  <a:srgbClr val="288CD2"/>
                </a:solidFill>
              </a:rPr>
              <a:t>intj</a:t>
            </a:r>
            <a:r>
              <a:rPr lang="en-US" sz="2000" i="0" dirty="0" smtClean="0">
                <a:solidFill>
                  <a:srgbClr val="288CD2"/>
                </a:solidFill>
              </a:rPr>
              <a:t> = interjection</a:t>
            </a:r>
            <a:endParaRPr lang="en-US" sz="1400" i="0" dirty="0" smtClean="0">
              <a:solidFill>
                <a:srgbClr val="288CD2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 bwMode="auto">
          <a:xfrm flipV="1">
            <a:off x="1503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" name="Straight Connector 18"/>
          <p:cNvCxnSpPr/>
          <p:nvPr/>
        </p:nvCxnSpPr>
        <p:spPr bwMode="auto">
          <a:xfrm flipV="1">
            <a:off x="3103880" y="1107440"/>
            <a:ext cx="0" cy="3048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Connector 19"/>
          <p:cNvCxnSpPr/>
          <p:nvPr/>
        </p:nvCxnSpPr>
        <p:spPr bwMode="auto">
          <a:xfrm flipV="1">
            <a:off x="4551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Connector 20"/>
          <p:cNvCxnSpPr/>
          <p:nvPr/>
        </p:nvCxnSpPr>
        <p:spPr bwMode="auto">
          <a:xfrm flipV="1">
            <a:off x="61518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" name="Straight Connector 21"/>
          <p:cNvCxnSpPr/>
          <p:nvPr/>
        </p:nvCxnSpPr>
        <p:spPr bwMode="auto">
          <a:xfrm flipV="1">
            <a:off x="7599680" y="11074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Straight Connector 25"/>
          <p:cNvCxnSpPr/>
          <p:nvPr/>
        </p:nvCxnSpPr>
        <p:spPr bwMode="auto">
          <a:xfrm flipV="1">
            <a:off x="1503680" y="24028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7" name="Straight Connector 26"/>
          <p:cNvCxnSpPr/>
          <p:nvPr/>
        </p:nvCxnSpPr>
        <p:spPr bwMode="auto">
          <a:xfrm flipV="1">
            <a:off x="2570480" y="2402840"/>
            <a:ext cx="0" cy="3810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288CD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Content Placeholder 2"/>
          <p:cNvSpPr txBox="1">
            <a:spLocks/>
          </p:cNvSpPr>
          <p:nvPr/>
        </p:nvSpPr>
        <p:spPr>
          <a:xfrm>
            <a:off x="325120" y="3434080"/>
            <a:ext cx="8229600" cy="9448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</a:pPr>
            <a:r>
              <a:rPr lang="en-US" sz="2800" dirty="0" smtClean="0"/>
              <a:t>we removed some fine-grained POS tags, then added Twitter-specific tags: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911436"/>
              </p:ext>
            </p:extLst>
          </p:nvPr>
        </p:nvGraphicFramePr>
        <p:xfrm>
          <a:off x="838200" y="4307840"/>
          <a:ext cx="5704840" cy="23774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377017"/>
                <a:gridCol w="3327823"/>
              </a:tblGrid>
              <a:tr h="373557">
                <a:tc>
                  <a:txBody>
                    <a:bodyPr/>
                    <a:lstStyle/>
                    <a:p>
                      <a:r>
                        <a:rPr lang="en-US" sz="2000" b="0" dirty="0" err="1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hashtag</a:t>
                      </a:r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557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Calibri"/>
                          <a:cs typeface="Calibri"/>
                        </a:rPr>
                        <a:t>@-mention</a:t>
                      </a:r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557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dirty="0" smtClean="0">
                          <a:solidFill>
                            <a:schemeClr val="tx1"/>
                          </a:solidFill>
                          <a:latin typeface="Calibri"/>
                          <a:cs typeface="Calibri"/>
                        </a:rPr>
                        <a:t>URL / email address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3557">
                <a:tc grid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latin typeface="Calibri"/>
                          <a:cs typeface="Calibri"/>
                        </a:rPr>
                        <a:t>emoticon</a:t>
                      </a:r>
                      <a:endParaRPr lang="en-US" sz="2000" b="0" dirty="0" smtClean="0">
                        <a:solidFill>
                          <a:schemeClr val="tx1"/>
                        </a:solidFill>
                        <a:latin typeface="Calibri"/>
                        <a:cs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73557">
                <a:tc gridSpan="2">
                  <a:txBody>
                    <a:bodyPr/>
                    <a:lstStyle/>
                    <a:p>
                      <a:r>
                        <a:rPr lang="en-US" sz="2000" dirty="0" smtClean="0">
                          <a:latin typeface="Calibri"/>
                          <a:cs typeface="Calibri"/>
                        </a:rPr>
                        <a:t>Twitter discourse marker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2800" dirty="0">
                        <a:latin typeface="Gill Sans MT" pitchFamily="34" charset="0"/>
                      </a:endParaRPr>
                    </a:p>
                  </a:txBody>
                  <a:tcPr/>
                </a:tc>
              </a:tr>
              <a:tr h="373557">
                <a:tc gridSpan="2">
                  <a:txBody>
                    <a:bodyPr/>
                    <a:lstStyle/>
                    <a:p>
                      <a:r>
                        <a:rPr lang="en-US" sz="2000" dirty="0" smtClean="0">
                          <a:latin typeface="Calibri"/>
                          <a:cs typeface="Calibri"/>
                        </a:rPr>
                        <a:t>other (multi-word abbreviations, symbols, garbage)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59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9" grpId="0" animBg="1"/>
      <p:bldP spid="2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word sense vs. part-of-speech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210709"/>
              </p:ext>
            </p:extLst>
          </p:nvPr>
        </p:nvGraphicFramePr>
        <p:xfrm>
          <a:off x="182880" y="1066799"/>
          <a:ext cx="8839199" cy="51612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3169920"/>
                <a:gridCol w="3200399"/>
              </a:tblGrid>
              <a:tr h="526244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word sense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part-of-speech</a:t>
                      </a:r>
                      <a:endParaRPr lang="en-US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93567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000000"/>
                          </a:solidFill>
                        </a:rPr>
                        <a:t>semantic</a:t>
                      </a:r>
                      <a:r>
                        <a:rPr lang="en-US" b="1" baseline="0" dirty="0" smtClean="0">
                          <a:solidFill>
                            <a:srgbClr val="000000"/>
                          </a:solidFill>
                        </a:rPr>
                        <a:t> or syntactic?</a:t>
                      </a:r>
                      <a:endParaRPr lang="en-US" b="1" dirty="0" smtClean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semantic:</a:t>
                      </a:r>
                    </a:p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indicates meaning of word in its context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syntactic: </a:t>
                      </a:r>
                    </a:p>
                    <a:p>
                      <a:pPr algn="ctr"/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indicates function of word in its context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040922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rgbClr val="000000"/>
                          </a:solidFill>
                        </a:rPr>
                        <a:t>number of categories</a:t>
                      </a:r>
                      <a:endParaRPr lang="en-US" b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 words, ~5 senses each </a:t>
                      </a:r>
                      <a:r>
                        <a:rPr lang="en-US" sz="1400" dirty="0" smtClean="0">
                          <a:solidFill>
                            <a:srgbClr val="000000"/>
                          </a:solidFill>
                          <a:sym typeface="Wingdings"/>
                        </a:rPr>
                        <a:t>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sym typeface="Wingdings"/>
                        </a:rPr>
                        <a:t> </a:t>
                      </a:r>
                    </a:p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  <a:sym typeface="Wingdings"/>
                        </a:rPr>
                        <a:t>5|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  <a:sym typeface="Wingdings"/>
                        </a:rPr>
                        <a:t>V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  <a:sym typeface="Wingdings"/>
                        </a:rPr>
                        <a:t>| categories!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typical POS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tag sets have 12 to 45 tags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5402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000000"/>
                          </a:solidFill>
                        </a:rPr>
                        <a:t>inter-annotator</a:t>
                      </a:r>
                      <a:r>
                        <a:rPr lang="en-US" b="1" baseline="0" dirty="0" smtClean="0">
                          <a:solidFill>
                            <a:srgbClr val="000000"/>
                          </a:solidFill>
                        </a:rPr>
                        <a:t> agreement</a:t>
                      </a:r>
                      <a:endParaRPr lang="en-US" b="1" dirty="0" smtClean="0">
                        <a:solidFill>
                          <a:srgbClr val="000000"/>
                        </a:solidFill>
                      </a:endParaRPr>
                    </a:p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low;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some sense distinctions are highly subjective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high; relatively few POS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tags and function is relatively shallow / surface-level</a:t>
                      </a:r>
                      <a:endParaRPr lang="en-US" baseline="30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935673"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 smtClean="0">
                          <a:solidFill>
                            <a:srgbClr val="000000"/>
                          </a:solidFill>
                        </a:rPr>
                        <a:t>independent or joint classification of nearby words</a:t>
                      </a:r>
                      <a:r>
                        <a:rPr lang="en-US" b="1" baseline="0" dirty="0" smtClean="0">
                          <a:solidFill>
                            <a:srgbClr val="000000"/>
                          </a:solidFill>
                        </a:rPr>
                        <a:t>?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independent: </a:t>
                      </a:r>
                    </a:p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can classify a single word based on context words; structured prediction is rarely used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joint:</a:t>
                      </a:r>
                    </a:p>
                    <a:p>
                      <a:pPr algn="ctr"/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strong relationship between tags of nearby words; structured prediction often used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8676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How might POS tags be useful?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text classification</a:t>
            </a:r>
          </a:p>
          <a:p>
            <a:r>
              <a:rPr lang="en-US" dirty="0" smtClean="0"/>
              <a:t>machine translation</a:t>
            </a:r>
          </a:p>
          <a:p>
            <a:r>
              <a:rPr lang="en-US" dirty="0" smtClean="0"/>
              <a:t>question answering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786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Classification Framework</a:t>
            </a:r>
            <a:endParaRPr lang="en-US" sz="3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5366668" y="3056704"/>
            <a:ext cx="249314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 smtClean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: choose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475" y="3204638"/>
            <a:ext cx="165100" cy="228600"/>
          </a:xfrm>
          <a:prstGeom prst="rect">
            <a:avLst/>
          </a:prstGeom>
        </p:spPr>
      </p:pic>
      <p:cxnSp>
        <p:nvCxnSpPr>
          <p:cNvPr id="16" name="Straight Arrow Connector 15"/>
          <p:cNvCxnSpPr/>
          <p:nvPr/>
        </p:nvCxnSpPr>
        <p:spPr bwMode="auto">
          <a:xfrm flipH="1">
            <a:off x="5151076" y="1253197"/>
            <a:ext cx="304800" cy="91440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/>
          <p:cNvSpPr txBox="1"/>
          <p:nvPr/>
        </p:nvSpPr>
        <p:spPr>
          <a:xfrm>
            <a:off x="4562946" y="1214933"/>
            <a:ext cx="425233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288CD2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i="0" dirty="0" smtClean="0">
                <a:solidFill>
                  <a:srgbClr val="288CD2"/>
                </a:solidFill>
                <a:latin typeface="Calibri"/>
                <a:cs typeface="Calibri"/>
              </a:rPr>
              <a:t>modeling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: define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score </a:t>
            </a:r>
            <a:r>
              <a:rPr lang="en-US" sz="2400" i="0" dirty="0" smtClean="0">
                <a:solidFill>
                  <a:srgbClr val="288CD2"/>
                </a:solidFill>
                <a:latin typeface="Calibri"/>
                <a:cs typeface="Calibri"/>
              </a:rPr>
              <a:t>function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3383" y="1422405"/>
            <a:ext cx="647700" cy="152400"/>
          </a:xfrm>
          <a:prstGeom prst="rect">
            <a:avLst/>
          </a:prstGeom>
        </p:spPr>
      </p:pic>
      <p:cxnSp>
        <p:nvCxnSpPr>
          <p:cNvPr id="21" name="Straight Arrow Connector 20"/>
          <p:cNvCxnSpPr/>
          <p:nvPr/>
        </p:nvCxnSpPr>
        <p:spPr bwMode="auto">
          <a:xfrm>
            <a:off x="3699925" y="167659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1045609" y="121493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008000"/>
                </a:solidFill>
                <a:latin typeface="Calibri"/>
                <a:cs typeface="Calibri"/>
              </a:rPr>
              <a:t> </a:t>
            </a:r>
            <a:endParaRPr lang="en-US" sz="2400" i="0" dirty="0">
              <a:solidFill>
                <a:srgbClr val="008000"/>
              </a:solidFill>
              <a:latin typeface="Calibri"/>
              <a:cs typeface="Calibri"/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625" y="1414131"/>
            <a:ext cx="990600" cy="2159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36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Applications of our Classification Framework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24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288573" y="1189144"/>
            <a:ext cx="6547327" cy="193899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r>
              <a:rPr lang="en-US" sz="2400" i="0" dirty="0" smtClean="0">
                <a:latin typeface="Calibri"/>
                <a:cs typeface="Calibri"/>
              </a:rPr>
              <a:t>text classification:</a:t>
            </a:r>
          </a:p>
          <a:p>
            <a:endParaRPr lang="en-US" sz="2400" i="0" dirty="0" smtClean="0">
              <a:latin typeface="Calibri"/>
              <a:cs typeface="Calibri"/>
            </a:endParaRPr>
          </a:p>
          <a:p>
            <a:endParaRPr lang="en-US" sz="2400" dirty="0">
              <a:latin typeface="Calibri"/>
              <a:cs typeface="Calibri"/>
            </a:endParaRPr>
          </a:p>
          <a:p>
            <a:endParaRPr lang="en-US" sz="2400" i="0" dirty="0" smtClean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 </a:t>
            </a:r>
            <a:endParaRPr lang="en-US" sz="2400" i="0" dirty="0">
              <a:latin typeface="Calibri"/>
              <a:cs typeface="Calibri"/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00" y="2014822"/>
            <a:ext cx="5575300" cy="673100"/>
          </a:xfrm>
          <a:prstGeom prst="rect">
            <a:avLst/>
          </a:prstGeom>
        </p:spPr>
      </p:pic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546496"/>
              </p:ext>
            </p:extLst>
          </p:nvPr>
        </p:nvGraphicFramePr>
        <p:xfrm>
          <a:off x="1841500" y="4074159"/>
          <a:ext cx="5171442" cy="1505034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4064000"/>
                <a:gridCol w="1107442"/>
              </a:tblGrid>
              <a:tr h="243841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x</a:t>
                      </a:r>
                      <a:endParaRPr lang="en-US" sz="1600" i="1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y</a:t>
                      </a:r>
                      <a:endParaRPr lang="en-US" sz="1600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8487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the hulk is an anger fueled monster with incredible strength and resistance to damage .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objective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8487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in trying to be daring and original , it comes off as only occasionally satirical and never fresh .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subjective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pic>
        <p:nvPicPr>
          <p:cNvPr id="25" name="Picture 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720" y="3323319"/>
            <a:ext cx="203200" cy="2413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19600" y="3243309"/>
            <a:ext cx="2416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= {objective, subjective}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36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Applications of our Classification Framework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288573" y="1189144"/>
            <a:ext cx="6547327" cy="193899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r>
              <a:rPr lang="en-US" sz="2400" i="0" dirty="0" smtClean="0">
                <a:latin typeface="Calibri"/>
                <a:cs typeface="Calibri"/>
              </a:rPr>
              <a:t>word sense classifier for </a:t>
            </a:r>
            <a:r>
              <a:rPr lang="en-US" sz="2400" i="1" dirty="0" smtClean="0">
                <a:latin typeface="Calibri"/>
                <a:cs typeface="Calibri"/>
              </a:rPr>
              <a:t>bass</a:t>
            </a:r>
            <a:r>
              <a:rPr lang="en-US" sz="2400" i="0" dirty="0" smtClean="0">
                <a:latin typeface="Calibri"/>
                <a:cs typeface="Calibri"/>
              </a:rPr>
              <a:t>:</a:t>
            </a:r>
          </a:p>
          <a:p>
            <a:endParaRPr lang="en-US" sz="2400" i="0" dirty="0" smtClean="0">
              <a:latin typeface="Calibri"/>
              <a:cs typeface="Calibri"/>
            </a:endParaRPr>
          </a:p>
          <a:p>
            <a:endParaRPr lang="en-US" sz="2400" dirty="0">
              <a:latin typeface="Calibri"/>
              <a:cs typeface="Calibri"/>
            </a:endParaRPr>
          </a:p>
          <a:p>
            <a:endParaRPr lang="en-US" sz="2400" i="0" dirty="0" smtClean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 </a:t>
            </a:r>
            <a:endParaRPr lang="en-US" sz="2400" i="0" dirty="0">
              <a:latin typeface="Calibri"/>
              <a:cs typeface="Calibri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900312"/>
              </p:ext>
            </p:extLst>
          </p:nvPr>
        </p:nvGraphicFramePr>
        <p:xfrm>
          <a:off x="132080" y="4053839"/>
          <a:ext cx="4109720" cy="1505034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3229641"/>
                <a:gridCol w="880079"/>
              </a:tblGrid>
              <a:tr h="243841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x</a:t>
                      </a:r>
                      <a:endParaRPr lang="en-US" sz="1600" i="1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y</a:t>
                      </a:r>
                      <a:endParaRPr lang="en-US" sz="1600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8487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he’s a bass in the choir .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bass</a:t>
                      </a:r>
                      <a:r>
                        <a:rPr lang="en-US" sz="1600" baseline="-25000" dirty="0" smtClean="0"/>
                        <a:t>3</a:t>
                      </a:r>
                      <a:endParaRPr lang="en-US" sz="1600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84877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our</a:t>
                      </a:r>
                      <a:r>
                        <a:rPr lang="en-US" sz="1600" baseline="0" dirty="0" smtClean="0"/>
                        <a:t> bass is line-caught from the Atlantic .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bass</a:t>
                      </a:r>
                      <a:r>
                        <a:rPr lang="en-US" sz="1600" baseline="-25000" dirty="0" smtClean="0"/>
                        <a:t>4</a:t>
                      </a:r>
                      <a:endParaRPr lang="en-US" sz="1600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889500" y="3243309"/>
            <a:ext cx="2467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= {</a:t>
            </a:r>
            <a:r>
              <a:rPr lang="en-US" i="1" dirty="0" smtClean="0"/>
              <a:t>bass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i="1" dirty="0" smtClean="0"/>
              <a:t>bass</a:t>
            </a:r>
            <a:r>
              <a:rPr lang="en-US" baseline="-25000" dirty="0" smtClean="0"/>
              <a:t>2</a:t>
            </a:r>
            <a:r>
              <a:rPr lang="en-US" dirty="0" smtClean="0"/>
              <a:t>, …, </a:t>
            </a:r>
            <a:r>
              <a:rPr lang="en-US" i="1" dirty="0" smtClean="0"/>
              <a:t>bass</a:t>
            </a:r>
            <a:r>
              <a:rPr lang="en-US" baseline="-25000" dirty="0" smtClean="0"/>
              <a:t>8</a:t>
            </a:r>
            <a:r>
              <a:rPr lang="en-US" dirty="0" smtClean="0"/>
              <a:t>}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2035810"/>
            <a:ext cx="5994400" cy="673100"/>
          </a:xfrm>
          <a:prstGeom prst="rect">
            <a:avLst/>
          </a:prstGeom>
        </p:spPr>
      </p:pic>
      <p:pic>
        <p:nvPicPr>
          <p:cNvPr id="10" name="Picture 1027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8" t="10483" r="40030" b="26189"/>
          <a:stretch/>
        </p:blipFill>
        <p:spPr bwMode="auto">
          <a:xfrm>
            <a:off x="4526281" y="3714115"/>
            <a:ext cx="4617719" cy="300736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1800" y="3289300"/>
            <a:ext cx="647700" cy="27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441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Applications of our Classification Framework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26</a:t>
            </a:fld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1288573" y="1189144"/>
            <a:ext cx="6547327" cy="1938992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softEdge rad="50800"/>
          </a:effectLst>
        </p:spPr>
        <p:txBody>
          <a:bodyPr wrap="square" rtlCol="0">
            <a:spAutoFit/>
          </a:bodyPr>
          <a:lstStyle/>
          <a:p>
            <a:r>
              <a:rPr lang="en-US" sz="2400" i="0" dirty="0" smtClean="0">
                <a:latin typeface="Calibri"/>
                <a:cs typeface="Calibri"/>
              </a:rPr>
              <a:t>skip-gram model as a classifier:</a:t>
            </a:r>
          </a:p>
          <a:p>
            <a:endParaRPr lang="en-US" sz="2400" i="0" dirty="0" smtClean="0">
              <a:latin typeface="Calibri"/>
              <a:cs typeface="Calibri"/>
            </a:endParaRPr>
          </a:p>
          <a:p>
            <a:endParaRPr lang="en-US" sz="2400" dirty="0">
              <a:latin typeface="Calibri"/>
              <a:cs typeface="Calibri"/>
            </a:endParaRPr>
          </a:p>
          <a:p>
            <a:endParaRPr lang="en-US" sz="2400" i="0" dirty="0" smtClean="0">
              <a:latin typeface="Calibri"/>
              <a:cs typeface="Calibri"/>
            </a:endParaRPr>
          </a:p>
          <a:p>
            <a:r>
              <a:rPr lang="en-US" sz="2400" dirty="0">
                <a:latin typeface="Calibri"/>
                <a:cs typeface="Calibri"/>
              </a:rPr>
              <a:t> </a:t>
            </a:r>
            <a:endParaRPr lang="en-US" sz="2400" i="0" dirty="0">
              <a:latin typeface="Calibri"/>
              <a:cs typeface="Calibri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791238"/>
              </p:ext>
            </p:extLst>
          </p:nvPr>
        </p:nvGraphicFramePr>
        <p:xfrm>
          <a:off x="894755" y="4004181"/>
          <a:ext cx="2316480" cy="1936368"/>
        </p:xfrm>
        <a:graphic>
          <a:graphicData uri="http://schemas.openxmlformats.org/drawingml/2006/table">
            <a:tbl>
              <a:tblPr>
                <a:effectLst/>
                <a:tableStyleId>{9D7B26C5-4107-4FEC-AEDC-1716B250A1EF}</a:tableStyleId>
              </a:tblPr>
              <a:tblGrid>
                <a:gridCol w="1460500"/>
                <a:gridCol w="855980"/>
              </a:tblGrid>
              <a:tr h="305941"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x</a:t>
                      </a:r>
                      <a:endParaRPr lang="en-US" sz="1600" i="1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1" dirty="0" smtClean="0"/>
                        <a:t>y</a:t>
                      </a:r>
                      <a:endParaRPr lang="en-US" sz="1600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369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agriculture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/>
                        <a:t>&lt;s&gt;</a:t>
                      </a:r>
                      <a:endParaRPr lang="en-US" sz="1600" i="0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369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agriculture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baseline="0" dirty="0" smtClean="0"/>
                        <a:t>is</a:t>
                      </a:r>
                      <a:endParaRPr lang="en-US" sz="1600" i="0" baseline="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53369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agriculture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i="0" dirty="0" smtClean="0"/>
                        <a:t>the</a:t>
                      </a:r>
                      <a:endParaRPr lang="en-US" sz="1600" i="0" baseline="-25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503420" y="3243309"/>
            <a:ext cx="29013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= </a:t>
            </a:r>
            <a:r>
              <a:rPr lang="en-US" sz="2000" i="1" dirty="0" smtClean="0"/>
              <a:t>V</a:t>
            </a:r>
            <a:r>
              <a:rPr lang="en-US" i="1" dirty="0" smtClean="0"/>
              <a:t>     </a:t>
            </a:r>
            <a:r>
              <a:rPr lang="en-US" dirty="0" smtClean="0"/>
              <a:t>(the entire vocabulary)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840" y="3343639"/>
            <a:ext cx="203200" cy="241300"/>
          </a:xfrm>
          <a:prstGeom prst="rect">
            <a:avLst/>
          </a:prstGeom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4020820" y="4419939"/>
            <a:ext cx="5064760" cy="19364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smtClean="0"/>
              <a:t>corpus (English Wikipedia):</a:t>
            </a:r>
          </a:p>
          <a:p>
            <a:pPr marL="0" indent="0">
              <a:buNone/>
            </a:pPr>
            <a:r>
              <a:rPr lang="en-US" sz="1800" i="1" dirty="0" smtClean="0"/>
              <a:t>agriculture </a:t>
            </a:r>
            <a:r>
              <a:rPr lang="en-US" sz="1800" i="1" dirty="0"/>
              <a:t>is the traditional mainstay of the </a:t>
            </a:r>
            <a:r>
              <a:rPr lang="en-US" sz="1800" i="1" dirty="0" err="1"/>
              <a:t>cambodian</a:t>
            </a:r>
            <a:r>
              <a:rPr lang="en-US" sz="1800" i="1" dirty="0"/>
              <a:t> economy </a:t>
            </a:r>
            <a:r>
              <a:rPr lang="en-US" sz="1800" i="1" dirty="0" smtClean="0"/>
              <a:t>.</a:t>
            </a:r>
          </a:p>
          <a:p>
            <a:pPr marL="0" indent="0">
              <a:buNone/>
            </a:pPr>
            <a:r>
              <a:rPr lang="en-US" sz="1800" i="1" dirty="0" smtClean="0"/>
              <a:t>but </a:t>
            </a:r>
            <a:r>
              <a:rPr lang="en-US" sz="1800" i="1" dirty="0" err="1"/>
              <a:t>benares</a:t>
            </a:r>
            <a:r>
              <a:rPr lang="en-US" sz="1800" i="1" dirty="0"/>
              <a:t> has been destroyed by an earthquake </a:t>
            </a:r>
            <a:r>
              <a:rPr lang="en-US" sz="1800" i="1" dirty="0" smtClean="0"/>
              <a:t>.</a:t>
            </a:r>
          </a:p>
          <a:p>
            <a:pPr marL="0" indent="0">
              <a:buNone/>
            </a:pPr>
            <a:r>
              <a:rPr lang="en-US" sz="1800" i="1" dirty="0" smtClean="0"/>
              <a:t>…</a:t>
            </a:r>
          </a:p>
          <a:p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900" y="2016760"/>
            <a:ext cx="61595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035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Applications of our Classifier Framework so far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27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21503"/>
              </p:ext>
            </p:extLst>
          </p:nvPr>
        </p:nvGraphicFramePr>
        <p:xfrm>
          <a:off x="132080" y="1071880"/>
          <a:ext cx="871728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57680"/>
                <a:gridCol w="1635760"/>
                <a:gridCol w="2346960"/>
                <a:gridCol w="133096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task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input (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output (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output space (     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size of</a:t>
                      </a:r>
                      <a:endParaRPr lang="en-US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text classification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sentence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label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for </a:t>
                      </a:r>
                      <a:r>
                        <a:rPr lang="en-US" i="1" baseline="0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pre-defined, small label set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(e.g., {positive, negative})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2-10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word sense disambiguation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instance of a particular word (e.g.,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bass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 with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its context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word sense of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pre-defined sense inventory from 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WordNet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for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bass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2-30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learning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skip-gram word </a:t>
                      </a:r>
                      <a:r>
                        <a:rPr lang="en-US" baseline="0" dirty="0" err="1" smtClean="0">
                          <a:solidFill>
                            <a:srgbClr val="000000"/>
                          </a:solidFill>
                        </a:rPr>
                        <a:t>embeddings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instance of a word in a corpus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word in the context of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in a corpus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vocabulary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part-of-speech tagging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sentence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part-of-speech tags for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all possible part-of-speech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tag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sequences with same length as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P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baseline="30000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baseline="30000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lang="en-US" baseline="30000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endParaRPr lang="en-US" baseline="30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480" y="1215729"/>
            <a:ext cx="203200" cy="241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560" y="1209718"/>
            <a:ext cx="2032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1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Applications of our Classifier Framework so far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262883"/>
              </p:ext>
            </p:extLst>
          </p:nvPr>
        </p:nvGraphicFramePr>
        <p:xfrm>
          <a:off x="132080" y="1071880"/>
          <a:ext cx="8717280" cy="439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757680"/>
                <a:gridCol w="1635760"/>
                <a:gridCol w="2346960"/>
                <a:gridCol w="133096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task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input (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output (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y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output space (     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size of</a:t>
                      </a:r>
                      <a:endParaRPr lang="en-US" dirty="0">
                        <a:solidFill>
                          <a:schemeClr val="tx2">
                            <a:lumMod val="20000"/>
                            <a:lumOff val="8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text classification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sentence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label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for </a:t>
                      </a:r>
                      <a:r>
                        <a:rPr lang="en-US" i="1" baseline="0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pre-defined, small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label set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(e.g., {positive, negative})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2-10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word sense disambiguation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instance of a particular word (e.g.,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bass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) with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its context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word sense of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pre-defined sense inventory from 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WordNet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for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bass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2-30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learning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skip-gram word </a:t>
                      </a:r>
                      <a:r>
                        <a:rPr lang="en-US" baseline="0" dirty="0" err="1" smtClean="0">
                          <a:solidFill>
                            <a:srgbClr val="000000"/>
                          </a:solidFill>
                        </a:rPr>
                        <a:t>embeddings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instance of a word in a corpus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word in the context of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in a corpus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vocabulary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V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part-of-speech tagging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 sentence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gold standard part-of-speech tags for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all possible part-of-speech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tag 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sequences with same length as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P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baseline="30000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r>
                        <a:rPr lang="en-US" i="1" baseline="30000" dirty="0" smtClean="0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lang="en-US" baseline="30000" dirty="0" smtClean="0">
                          <a:solidFill>
                            <a:srgbClr val="000000"/>
                          </a:solidFill>
                        </a:rPr>
                        <a:t>|</a:t>
                      </a:r>
                      <a:endParaRPr lang="en-US" baseline="30000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480" y="1215729"/>
            <a:ext cx="203200" cy="241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4560" y="1209718"/>
            <a:ext cx="203200" cy="241300"/>
          </a:xfrm>
          <a:prstGeom prst="rect">
            <a:avLst/>
          </a:prstGeom>
        </p:spPr>
      </p:pic>
      <p:sp>
        <p:nvSpPr>
          <p:cNvPr id="8" name="Donut 7"/>
          <p:cNvSpPr/>
          <p:nvPr/>
        </p:nvSpPr>
        <p:spPr>
          <a:xfrm>
            <a:off x="7426960" y="4318000"/>
            <a:ext cx="1422400" cy="1354797"/>
          </a:xfrm>
          <a:prstGeom prst="donut">
            <a:avLst>
              <a:gd name="adj" fmla="val 9993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857601" y="3060283"/>
            <a:ext cx="5940959" cy="138499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none" lIns="365760" tIns="137160" rIns="365760" bIns="137160" rtlCol="0">
            <a:spAutoFit/>
          </a:bodyPr>
          <a:lstStyle/>
          <a:p>
            <a:pPr algn="ctr"/>
            <a:r>
              <a:rPr lang="en-US" sz="3600" dirty="0" smtClean="0">
                <a:solidFill>
                  <a:schemeClr val="bg1"/>
                </a:solidFill>
              </a:rPr>
              <a:t>exponential in size of input!</a:t>
            </a:r>
          </a:p>
          <a:p>
            <a:pPr algn="ctr"/>
            <a:r>
              <a:rPr lang="en-US" sz="3600" dirty="0" smtClean="0">
                <a:solidFill>
                  <a:schemeClr val="bg1"/>
                </a:solidFill>
              </a:rPr>
              <a:t>“structured prediction”</a:t>
            </a:r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060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04915" y="1614270"/>
            <a:ext cx="8364189" cy="17235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chemeClr val="bg1"/>
                </a:solidFill>
                <a:latin typeface="Calibri"/>
                <a:cs typeface="Calibri"/>
              </a:rPr>
              <a:t>determiner     verb (past)      prep.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proper  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poss.     adj. 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   modal       verb    det.         adjective         noun    prep.  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proper     </a:t>
            </a:r>
            <a:r>
              <a:rPr lang="en-US" sz="2000" i="0" dirty="0" err="1" smtClean="0">
                <a:solidFill>
                  <a:srgbClr val="FFFFFF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FFFFFF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17948" y="943018"/>
            <a:ext cx="3091870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Part-of-Speech Tagging</a:t>
            </a: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14145" y="1854400"/>
            <a:ext cx="8433769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determiner     verb (past)      prep.    noun        noun     poss.     adj.            noun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Some      questioned      if       Tim      Cook      ’s      first      product </a:t>
            </a:r>
          </a:p>
          <a:p>
            <a:pPr eaLnBrk="1" hangingPunct="1"/>
            <a:endParaRPr lang="en-US" sz="1600" i="0" dirty="0" smtClean="0">
              <a:latin typeface="Calibri"/>
              <a:cs typeface="Calibri"/>
            </a:endParaRPr>
          </a:p>
          <a:p>
            <a:pPr eaLnBrk="1" hangingPunct="1"/>
            <a:r>
              <a:rPr lang="en-US" sz="2000" i="0" dirty="0" smtClean="0">
                <a:latin typeface="Calibri"/>
                <a:cs typeface="Calibri"/>
              </a:rPr>
              <a:t>    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modal       verb    det.         adjective         noun    prep.       </a:t>
            </a:r>
            <a:r>
              <a:rPr lang="en-US" sz="2000" i="0" dirty="0">
                <a:solidFill>
                  <a:srgbClr val="C50C0C"/>
                </a:solidFill>
                <a:latin typeface="Calibri"/>
                <a:cs typeface="Calibri"/>
              </a:rPr>
              <a:t>n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oun      </a:t>
            </a:r>
            <a:r>
              <a:rPr lang="en-US" sz="2000" i="0" dirty="0" err="1" smtClean="0">
                <a:solidFill>
                  <a:srgbClr val="C50C0C"/>
                </a:solidFill>
                <a:latin typeface="Calibri"/>
                <a:cs typeface="Calibri"/>
              </a:rPr>
              <a:t>punc</a:t>
            </a:r>
            <a:r>
              <a:rPr lang="en-US" sz="2000" i="0" dirty="0" smtClean="0">
                <a:solidFill>
                  <a:srgbClr val="C50C0C"/>
                </a:solidFill>
                <a:latin typeface="Calibri"/>
                <a:cs typeface="Calibri"/>
              </a:rPr>
              <a:t>.</a:t>
            </a:r>
          </a:p>
          <a:p>
            <a:pPr eaLnBrk="1" hangingPunct="1"/>
            <a:r>
              <a:rPr lang="en-US" sz="2400" i="0" dirty="0" smtClean="0">
                <a:latin typeface="Calibri"/>
                <a:cs typeface="Calibri"/>
              </a:rPr>
              <a:t>   would      be      a      breakaway      hit      for      Apple        .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172898" y="4934731"/>
            <a:ext cx="856561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i="0" dirty="0" smtClean="0">
                <a:latin typeface="Calibri"/>
                <a:cs typeface="Calibri"/>
              </a:rPr>
              <a:t>Some questioned if Tim Cook’s first product would be a breakaway hit for Apple.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13329" y="4182687"/>
            <a:ext cx="3465944" cy="461665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91440" tIns="91440" rIns="91440" bIns="9144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>
              <a:lnSpc>
                <a:spcPct val="70000"/>
              </a:lnSpc>
            </a:pP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Named Entity Recognition</a:t>
            </a:r>
          </a:p>
        </p:txBody>
      </p:sp>
      <p:sp>
        <p:nvSpPr>
          <p:cNvPr id="8" name="Left Brace 7"/>
          <p:cNvSpPr/>
          <p:nvPr/>
        </p:nvSpPr>
        <p:spPr bwMode="auto">
          <a:xfrm rot="16200000">
            <a:off x="2730498" y="4881629"/>
            <a:ext cx="236682" cy="1021772"/>
          </a:xfrm>
          <a:prstGeom prst="leftBrace">
            <a:avLst>
              <a:gd name="adj1" fmla="val 42948"/>
              <a:gd name="adj2" fmla="val 50000"/>
            </a:avLst>
          </a:prstGeom>
          <a:noFill/>
          <a:ln w="38100" cap="flat" cmpd="sng" algn="ctr">
            <a:solidFill>
              <a:srgbClr val="C50C0C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Left Brace 8"/>
          <p:cNvSpPr/>
          <p:nvPr/>
        </p:nvSpPr>
        <p:spPr bwMode="auto">
          <a:xfrm rot="16200000">
            <a:off x="8128009" y="5089440"/>
            <a:ext cx="219361" cy="611909"/>
          </a:xfrm>
          <a:prstGeom prst="leftBrace">
            <a:avLst>
              <a:gd name="adj1" fmla="val 42948"/>
              <a:gd name="adj2" fmla="val 50000"/>
            </a:avLst>
          </a:prstGeom>
          <a:noFill/>
          <a:ln w="38100" cap="flat" cmpd="sng" algn="ctr">
            <a:solidFill>
              <a:srgbClr val="C50C0C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347647" y="5426569"/>
            <a:ext cx="1054295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b="1" i="0" dirty="0" smtClean="0">
                <a:solidFill>
                  <a:srgbClr val="C50C0C"/>
                </a:solidFill>
                <a:latin typeface="Calibri"/>
                <a:cs typeface="Calibri"/>
              </a:rPr>
              <a:t>PERSON</a:t>
            </a:r>
            <a:endParaRPr lang="en-US" sz="2000" b="1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7250797" y="5428882"/>
            <a:ext cx="187445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000" b="1" i="0" dirty="0" smtClean="0">
                <a:solidFill>
                  <a:srgbClr val="C50C0C"/>
                </a:solidFill>
                <a:latin typeface="Calibri"/>
                <a:cs typeface="Calibri"/>
              </a:rPr>
              <a:t>ORGANIZATION</a:t>
            </a:r>
            <a:endParaRPr lang="en-US" sz="2000" b="1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57200" y="18998"/>
            <a:ext cx="8229600" cy="726831"/>
          </a:xfrm>
        </p:spPr>
        <p:txBody>
          <a:bodyPr>
            <a:noAutofit/>
          </a:bodyPr>
          <a:lstStyle/>
          <a:p>
            <a:r>
              <a:rPr lang="en-US" sz="2400" dirty="0" smtClean="0"/>
              <a:t>Simplest kind of structured prediction: Sequence </a:t>
            </a:r>
            <a:r>
              <a:rPr lang="en-US" sz="2400" dirty="0" smtClean="0"/>
              <a:t>Labeling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282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Learning</a:t>
            </a:r>
            <a:endParaRPr lang="en-US" sz="360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276" y="2207460"/>
            <a:ext cx="4902200" cy="520700"/>
          </a:xfrm>
          <a:prstGeom prst="rect">
            <a:avLst/>
          </a:prstGeom>
        </p:spPr>
      </p:pic>
      <p:cxnSp>
        <p:nvCxnSpPr>
          <p:cNvPr id="8" name="Straight Arrow Connector 7"/>
          <p:cNvCxnSpPr/>
          <p:nvPr/>
        </p:nvCxnSpPr>
        <p:spPr bwMode="auto">
          <a:xfrm flipV="1">
            <a:off x="5907224" y="2527564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/>
          <p:cNvSpPr txBox="1"/>
          <p:nvPr/>
        </p:nvSpPr>
        <p:spPr>
          <a:xfrm>
            <a:off x="5366668" y="3056704"/>
            <a:ext cx="2493140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 smtClean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: choose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 smtClean="0">
                <a:solidFill>
                  <a:srgbClr val="FF0000"/>
                </a:solidFill>
                <a:latin typeface="Calibri"/>
                <a:cs typeface="Calibri"/>
              </a:rPr>
              <a:t>  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7475" y="3204638"/>
            <a:ext cx="165100" cy="2286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838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71398"/>
            <a:ext cx="9144000" cy="726831"/>
          </a:xfrm>
        </p:spPr>
        <p:txBody>
          <a:bodyPr>
            <a:noAutofit/>
          </a:bodyPr>
          <a:lstStyle/>
          <a:p>
            <a:r>
              <a:rPr lang="en-US" sz="2800" dirty="0" smtClean="0"/>
              <a:t>Empirical Risk Minimization with Surrogate Loss Functions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31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870891"/>
            <a:ext cx="8623300" cy="3342969"/>
          </a:xfrm>
        </p:spPr>
        <p:txBody>
          <a:bodyPr>
            <a:normAutofit/>
          </a:bodyPr>
          <a:lstStyle/>
          <a:p>
            <a:r>
              <a:rPr lang="en-US" sz="2800" dirty="0"/>
              <a:t>g</a:t>
            </a:r>
            <a:r>
              <a:rPr lang="en-US" sz="2800" dirty="0" smtClean="0"/>
              <a:t>iven training data:                                </a:t>
            </a:r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where each</a:t>
            </a:r>
            <a:r>
              <a:rPr lang="en-US" sz="2800" dirty="0"/>
              <a:t> </a:t>
            </a:r>
            <a:r>
              <a:rPr lang="en-US" sz="2800" dirty="0" smtClean="0"/>
              <a:t>                is a label</a:t>
            </a:r>
          </a:p>
          <a:p>
            <a:r>
              <a:rPr lang="en-US" sz="2800" dirty="0" smtClean="0"/>
              <a:t>we want to solve the following: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965" y="938948"/>
            <a:ext cx="2641600" cy="406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505059"/>
            <a:ext cx="1028700" cy="3556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2564737"/>
            <a:ext cx="4114800" cy="939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89400" y="3790388"/>
            <a:ext cx="3911600" cy="1384995"/>
          </a:xfrm>
          <a:prstGeom prst="rect">
            <a:avLst/>
          </a:prstGeom>
          <a:solidFill>
            <a:srgbClr val="288CD2"/>
          </a:solidFill>
          <a:ln w="3175" cmpd="sng">
            <a:noFill/>
          </a:ln>
          <a:effectLst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chemeClr val="bg1"/>
                </a:solidFill>
                <a:cs typeface="Calibri"/>
              </a:rPr>
              <a:t>many possible loss functions to consider optimizing</a:t>
            </a:r>
            <a:endParaRPr lang="en-US" sz="280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4292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Loss Functions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32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9502673"/>
              </p:ext>
            </p:extLst>
          </p:nvPr>
        </p:nvGraphicFramePr>
        <p:xfrm>
          <a:off x="-1" y="1071880"/>
          <a:ext cx="9144001" cy="4301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481"/>
                <a:gridCol w="5486400"/>
                <a:gridCol w="2357120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loss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where used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cost (“0-1”)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intractable, but underlies “direct error minimization”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perceptron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perceptron algorithm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(Rosenblatt, 1958)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support vector machines, other large-margin algorithms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logistic regression, conditional random fields, maximum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entropy models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2"/>
          <a:srcRect l="32819"/>
          <a:stretch/>
        </p:blipFill>
        <p:spPr>
          <a:xfrm>
            <a:off x="1509656" y="2692400"/>
            <a:ext cx="4336528" cy="442435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3"/>
          <a:srcRect l="27111"/>
          <a:stretch/>
        </p:blipFill>
        <p:spPr>
          <a:xfrm>
            <a:off x="1402079" y="3618408"/>
            <a:ext cx="5323841" cy="39728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/>
          <a:srcRect l="45252"/>
          <a:stretch/>
        </p:blipFill>
        <p:spPr>
          <a:xfrm>
            <a:off x="2641600" y="1866900"/>
            <a:ext cx="2631440" cy="29965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1096" y="4399458"/>
            <a:ext cx="4870824" cy="974165"/>
          </a:xfrm>
          <a:prstGeom prst="rect">
            <a:avLst/>
          </a:prstGeom>
        </p:spPr>
      </p:pic>
      <p:cxnSp>
        <p:nvCxnSpPr>
          <p:cNvPr id="24" name="Straight Arrow Connector 23"/>
          <p:cNvCxnSpPr/>
          <p:nvPr/>
        </p:nvCxnSpPr>
        <p:spPr bwMode="auto">
          <a:xfrm flipV="1">
            <a:off x="1402079" y="4724400"/>
            <a:ext cx="873761" cy="105664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pic>
        <p:nvPicPr>
          <p:cNvPr id="27" name="Picture 2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884" y="5720080"/>
            <a:ext cx="4890396" cy="75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319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86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(Sub)gradients of Losses for Linear Models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504389"/>
              </p:ext>
            </p:extLst>
          </p:nvPr>
        </p:nvGraphicFramePr>
        <p:xfrm>
          <a:off x="-1" y="1071880"/>
          <a:ext cx="8950961" cy="375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828"/>
                <a:gridCol w="7459133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entry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j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of (sub)gradient of loss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for linear model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cost (“0-1”)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not 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subdifferentiable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in general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perceptron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2637604"/>
            <a:ext cx="5740400" cy="3168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902960"/>
            <a:ext cx="7081520" cy="52279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950" y="5222240"/>
            <a:ext cx="4669526" cy="52279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078" y="3469640"/>
            <a:ext cx="6729202" cy="3228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91480" y="4734900"/>
            <a:ext cx="3459480" cy="941365"/>
          </a:xfrm>
          <a:prstGeom prst="rect">
            <a:avLst/>
          </a:prstGeom>
          <a:solidFill>
            <a:srgbClr val="288CD2"/>
          </a:solidFill>
          <a:ln w="3175" cmpd="sng">
            <a:noFill/>
          </a:ln>
          <a:effectLst/>
        </p:spPr>
        <p:txBody>
          <a:bodyPr wrap="square" lIns="182880" tIns="91440" rIns="182880" bIns="91440" rtlCol="0">
            <a:spAutoFit/>
          </a:bodyPr>
          <a:lstStyle/>
          <a:p>
            <a:pPr algn="ctr"/>
            <a:r>
              <a:rPr lang="en-US" sz="1600" dirty="0" smtClean="0">
                <a:solidFill>
                  <a:schemeClr val="bg1"/>
                </a:solidFill>
                <a:cs typeface="Calibri"/>
              </a:rPr>
              <a:t>whatever loss is used during training, </a:t>
            </a:r>
            <a:r>
              <a:rPr lang="en-US" sz="1600" b="1" dirty="0" smtClean="0">
                <a:solidFill>
                  <a:schemeClr val="bg1"/>
                </a:solidFill>
                <a:cs typeface="Calibri"/>
              </a:rPr>
              <a:t>classify</a:t>
            </a:r>
            <a:r>
              <a:rPr lang="en-US" sz="1600" dirty="0" smtClean="0">
                <a:solidFill>
                  <a:schemeClr val="bg1"/>
                </a:solidFill>
                <a:cs typeface="Calibri"/>
              </a:rPr>
              <a:t> (</a:t>
            </a:r>
            <a:r>
              <a:rPr lang="en-US" sz="1600" b="1" dirty="0" smtClean="0">
                <a:solidFill>
                  <a:schemeClr val="bg1"/>
                </a:solidFill>
                <a:cs typeface="Calibri"/>
              </a:rPr>
              <a:t>NOT</a:t>
            </a:r>
            <a:r>
              <a:rPr lang="en-US" sz="1600" dirty="0" smtClean="0">
                <a:solidFill>
                  <a:schemeClr val="bg1"/>
                </a:solidFill>
                <a:cs typeface="Calibri"/>
              </a:rPr>
              <a:t> </a:t>
            </a:r>
            <a:r>
              <a:rPr lang="en-US" sz="1600" b="1" dirty="0" err="1" smtClean="0">
                <a:solidFill>
                  <a:schemeClr val="bg1"/>
                </a:solidFill>
                <a:cs typeface="Calibri"/>
              </a:rPr>
              <a:t>costClassify</a:t>
            </a:r>
            <a:r>
              <a:rPr lang="en-US" sz="1600" dirty="0" smtClean="0">
                <a:solidFill>
                  <a:schemeClr val="bg1"/>
                </a:solidFill>
                <a:cs typeface="Calibri"/>
              </a:rPr>
              <a:t>) is used to predict labels for </a:t>
            </a:r>
            <a:r>
              <a:rPr lang="en-US" sz="1600" dirty="0" err="1" smtClean="0">
                <a:solidFill>
                  <a:schemeClr val="bg1"/>
                </a:solidFill>
                <a:cs typeface="Calibri"/>
              </a:rPr>
              <a:t>dev</a:t>
            </a:r>
            <a:r>
              <a:rPr lang="en-US" sz="1600" dirty="0" smtClean="0">
                <a:solidFill>
                  <a:schemeClr val="bg1"/>
                </a:solidFill>
                <a:cs typeface="Calibri"/>
              </a:rPr>
              <a:t>/test data!</a:t>
            </a:r>
          </a:p>
        </p:txBody>
      </p:sp>
    </p:spTree>
    <p:extLst>
      <p:ext uri="{BB962C8B-B14F-4D97-AF65-F5344CB8AC3E}">
        <p14:creationId xmlns:p14="http://schemas.microsoft.com/office/powerpoint/2010/main" val="240482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86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 smtClean="0">
                <a:solidFill>
                  <a:srgbClr val="000000"/>
                </a:solidFill>
              </a:rPr>
              <a:t>(Sub)gradients of Losses for Linear Models</a:t>
            </a:r>
            <a:endParaRPr lang="en-US" sz="3600" dirty="0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143753"/>
              </p:ext>
            </p:extLst>
          </p:nvPr>
        </p:nvGraphicFramePr>
        <p:xfrm>
          <a:off x="-1" y="1071880"/>
          <a:ext cx="8950961" cy="375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1828"/>
                <a:gridCol w="7459133"/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name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entry </a:t>
                      </a:r>
                      <a:r>
                        <a:rPr lang="en-US" i="1" dirty="0" smtClean="0">
                          <a:solidFill>
                            <a:srgbClr val="000000"/>
                          </a:solidFill>
                        </a:rPr>
                        <a:t>j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of (sub)gradient of loss</a:t>
                      </a:r>
                      <a:r>
                        <a:rPr lang="en-US" baseline="0" dirty="0" smtClean="0">
                          <a:solidFill>
                            <a:srgbClr val="000000"/>
                          </a:solidFill>
                        </a:rPr>
                        <a:t> for linear model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cost (“0-1”)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not </a:t>
                      </a:r>
                      <a:r>
                        <a:rPr lang="en-US" dirty="0" err="1" smtClean="0">
                          <a:solidFill>
                            <a:srgbClr val="000000"/>
                          </a:solidFill>
                        </a:rPr>
                        <a:t>subdifferentiable</a:t>
                      </a:r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 in general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perceptron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hinge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0000"/>
                          </a:solidFill>
                        </a:rPr>
                        <a:t>log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320" y="2637604"/>
            <a:ext cx="5740400" cy="31688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320" y="4297680"/>
            <a:ext cx="3400796" cy="3199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320" y="5886450"/>
            <a:ext cx="4330700" cy="3683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98320" y="4789779"/>
            <a:ext cx="5831840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expectation of feature value with respect to distribution over </a:t>
            </a:r>
            <a:r>
              <a:rPr lang="en-US" i="1" dirty="0" smtClean="0"/>
              <a:t>y</a:t>
            </a:r>
            <a:r>
              <a:rPr lang="en-US" dirty="0" smtClean="0"/>
              <a:t> (where distribution is defined by theta)</a:t>
            </a:r>
          </a:p>
          <a:p>
            <a:endParaRPr lang="en-US" sz="900" dirty="0" smtClean="0"/>
          </a:p>
          <a:p>
            <a:r>
              <a:rPr lang="en-US" dirty="0" smtClean="0"/>
              <a:t>alternative notation: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078" y="3469640"/>
            <a:ext cx="6729202" cy="32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91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Sequence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models that assign scores (could be probabilities) to sequences</a:t>
            </a:r>
          </a:p>
          <a:p>
            <a:r>
              <a:rPr lang="en-US" dirty="0" smtClean="0"/>
              <a:t>general category that includes many models used widely in practice:</a:t>
            </a:r>
          </a:p>
          <a:p>
            <a:pPr lvl="1"/>
            <a:r>
              <a:rPr lang="en-US" i="1" dirty="0" smtClean="0"/>
              <a:t>n</a:t>
            </a:r>
            <a:r>
              <a:rPr lang="en-US" dirty="0" smtClean="0"/>
              <a:t>-gram language models</a:t>
            </a:r>
          </a:p>
          <a:p>
            <a:pPr lvl="1"/>
            <a:r>
              <a:rPr lang="en-US" dirty="0" smtClean="0"/>
              <a:t>hidden Markov models</a:t>
            </a:r>
          </a:p>
          <a:p>
            <a:pPr lvl="1"/>
            <a:r>
              <a:rPr lang="en-US" dirty="0" smtClean="0"/>
              <a:t>“chain” conditional random fields</a:t>
            </a:r>
          </a:p>
          <a:p>
            <a:pPr lvl="1"/>
            <a:r>
              <a:rPr lang="en-US" dirty="0" smtClean="0"/>
              <a:t>maximum entropy Markov models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18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Hidden Markov Models (HMMs)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HMMs define a joint probability distribution over input sequences </a:t>
            </a:r>
            <a:r>
              <a:rPr lang="en-US" b="1" i="1" dirty="0" smtClean="0"/>
              <a:t>x</a:t>
            </a:r>
            <a:r>
              <a:rPr lang="en-US" dirty="0" smtClean="0"/>
              <a:t> and output sequences </a:t>
            </a:r>
            <a:r>
              <a:rPr lang="en-US" b="1" i="1" dirty="0" smtClean="0"/>
              <a:t>y</a:t>
            </a:r>
            <a:r>
              <a:rPr lang="en-US" dirty="0" smtClean="0"/>
              <a:t>: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conditional independence assumptions (“Markov assumption”) are used to factorize this joint distribution into small terms</a:t>
            </a:r>
          </a:p>
          <a:p>
            <a:r>
              <a:rPr lang="en-US" dirty="0" smtClean="0"/>
              <a:t>widely </a:t>
            </a:r>
            <a:r>
              <a:rPr lang="en-US" dirty="0"/>
              <a:t>used in NLP, speech recognition, bioinformatics, many other </a:t>
            </a:r>
            <a:r>
              <a:rPr lang="en-US" dirty="0" smtClean="0"/>
              <a:t>areas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360" y="2278380"/>
            <a:ext cx="1493520" cy="44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9535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Hidden Markov Models (HMMs)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0"/>
            <a:ext cx="8229600" cy="5418500"/>
          </a:xfrm>
        </p:spPr>
        <p:txBody>
          <a:bodyPr>
            <a:normAutofit/>
          </a:bodyPr>
          <a:lstStyle/>
          <a:p>
            <a:r>
              <a:rPr lang="en-US" sz="2800" dirty="0" smtClean="0"/>
              <a:t>HMMs define a joint probability distribution over input sequences </a:t>
            </a:r>
            <a:r>
              <a:rPr lang="en-US" sz="2800" b="1" i="1" dirty="0" smtClean="0"/>
              <a:t>x</a:t>
            </a:r>
            <a:r>
              <a:rPr lang="en-US" sz="2800" dirty="0" smtClean="0"/>
              <a:t> and output sequences </a:t>
            </a:r>
            <a:r>
              <a:rPr lang="en-US" sz="2800" b="1" i="1" dirty="0" smtClean="0"/>
              <a:t>y</a:t>
            </a:r>
            <a:r>
              <a:rPr lang="en-US" sz="2800" dirty="0" smtClean="0"/>
              <a:t>:</a:t>
            </a:r>
          </a:p>
          <a:p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/>
              <a:t>assumption: output sequence </a:t>
            </a:r>
            <a:r>
              <a:rPr lang="en-US" sz="2800" b="1" i="1" dirty="0" smtClean="0"/>
              <a:t>y</a:t>
            </a:r>
            <a:r>
              <a:rPr lang="en-US" sz="2800" dirty="0" smtClean="0"/>
              <a:t> “generates” input sequence </a:t>
            </a:r>
            <a:r>
              <a:rPr lang="en-US" sz="2800" b="1" i="1" dirty="0" smtClean="0"/>
              <a:t>x</a:t>
            </a:r>
            <a:r>
              <a:rPr lang="en-US" sz="2800" dirty="0" smtClean="0"/>
              <a:t>:</a:t>
            </a:r>
          </a:p>
          <a:p>
            <a:endParaRPr lang="en-US" sz="2800" dirty="0"/>
          </a:p>
          <a:p>
            <a:endParaRPr lang="en-US" sz="2800" dirty="0" smtClean="0"/>
          </a:p>
          <a:p>
            <a:endParaRPr lang="en-US" sz="2800" dirty="0"/>
          </a:p>
          <a:p>
            <a:r>
              <a:rPr lang="en-US" sz="2800" dirty="0" smtClean="0"/>
              <a:t>these are too difficult to estimate, let’s use Markov assumptions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360" y="2278380"/>
            <a:ext cx="1493520" cy="4445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580" y="4156710"/>
            <a:ext cx="81534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075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177801"/>
            <a:ext cx="6014720" cy="1722119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Markov </a:t>
            </a:r>
            <a:r>
              <a:rPr lang="en-US" dirty="0" smtClean="0"/>
              <a:t>Assumption for Language Modeling</a:t>
            </a:r>
            <a:endParaRPr lang="en-US" dirty="0"/>
          </a:p>
        </p:txBody>
      </p:sp>
      <p:pic>
        <p:nvPicPr>
          <p:cNvPr id="2" name="Picture 1" descr="225px-AAMarkov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057" y="20321"/>
            <a:ext cx="1780133" cy="23012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20930" y="2321560"/>
            <a:ext cx="14414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alibri"/>
                <a:cs typeface="Calibri"/>
              </a:rPr>
              <a:t>Andrei Markov</a:t>
            </a:r>
            <a:endParaRPr lang="en-US" sz="1600" dirty="0">
              <a:latin typeface="Calibri"/>
              <a:cs typeface="Calibri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380" y="3611880"/>
            <a:ext cx="6261100" cy="11176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270" y="1986280"/>
            <a:ext cx="5880100" cy="1117600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4683760" y="3017520"/>
            <a:ext cx="497840" cy="84328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5200" y="5191760"/>
            <a:ext cx="5905500" cy="111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6270" y="4902200"/>
            <a:ext cx="1432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alibri"/>
                <a:cs typeface="Calibri"/>
              </a:rPr>
              <a:t>trigram model:</a:t>
            </a:r>
            <a:endParaRPr lang="en-US" sz="16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705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Independence and Conditional Independence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51819"/>
            <a:ext cx="8229600" cy="5769655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solidFill>
                  <a:srgbClr val="288CD2"/>
                </a:solidFill>
              </a:rPr>
              <a:t>Independence</a:t>
            </a:r>
            <a:r>
              <a:rPr lang="en-US" sz="2800" dirty="0" smtClean="0"/>
              <a:t>: two random variables </a:t>
            </a:r>
            <a:r>
              <a:rPr lang="en-US" sz="2800" i="1" dirty="0" smtClean="0"/>
              <a:t>X</a:t>
            </a:r>
            <a:r>
              <a:rPr lang="en-US" sz="2800" dirty="0" smtClean="0"/>
              <a:t> and </a:t>
            </a:r>
            <a:r>
              <a:rPr lang="en-US" sz="2800" i="1" dirty="0" smtClean="0"/>
              <a:t>Y</a:t>
            </a:r>
            <a:r>
              <a:rPr lang="en-US" sz="2800" dirty="0" smtClean="0"/>
              <a:t> are independent if:</a:t>
            </a:r>
          </a:p>
          <a:p>
            <a:endParaRPr lang="en-US" sz="2800" dirty="0" smtClean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                    (or                                  )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</a:t>
            </a:r>
            <a:r>
              <a:rPr lang="en-US" sz="2800" dirty="0" smtClean="0"/>
              <a:t>   for all values </a:t>
            </a:r>
            <a:r>
              <a:rPr lang="en-US" sz="2800" i="1" dirty="0" smtClean="0"/>
              <a:t>x</a:t>
            </a:r>
            <a:r>
              <a:rPr lang="en-US" sz="2800" dirty="0" smtClean="0"/>
              <a:t> and </a:t>
            </a:r>
            <a:r>
              <a:rPr lang="en-US" sz="2800" i="1" dirty="0" smtClean="0"/>
              <a:t>y</a:t>
            </a:r>
          </a:p>
          <a:p>
            <a:r>
              <a:rPr lang="en-US" sz="2800" b="1" dirty="0" smtClean="0">
                <a:solidFill>
                  <a:srgbClr val="288CD2"/>
                </a:solidFill>
              </a:rPr>
              <a:t>Conditional Independence</a:t>
            </a:r>
            <a:r>
              <a:rPr lang="en-US" sz="2800" dirty="0" smtClean="0"/>
              <a:t>: two random variables </a:t>
            </a:r>
            <a:r>
              <a:rPr lang="en-US" sz="2800" i="1" dirty="0" smtClean="0"/>
              <a:t>X</a:t>
            </a:r>
            <a:r>
              <a:rPr lang="en-US" sz="2800" dirty="0" smtClean="0"/>
              <a:t> and </a:t>
            </a:r>
            <a:r>
              <a:rPr lang="en-US" sz="2800" i="1" dirty="0" smtClean="0"/>
              <a:t>Y</a:t>
            </a:r>
            <a:r>
              <a:rPr lang="en-US" sz="2800" dirty="0" smtClean="0"/>
              <a:t> are conditionally independent given a third variable </a:t>
            </a:r>
            <a:r>
              <a:rPr lang="en-US" sz="2800" i="1" dirty="0" smtClean="0"/>
              <a:t>Z</a:t>
            </a:r>
            <a:r>
              <a:rPr lang="en-US" sz="2800" dirty="0" smtClean="0"/>
              <a:t> if 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2800" dirty="0" smtClean="0"/>
              <a:t>   for all values of </a:t>
            </a:r>
            <a:r>
              <a:rPr lang="en-US" sz="2800" i="1" dirty="0" smtClean="0"/>
              <a:t>x</a:t>
            </a:r>
            <a:r>
              <a:rPr lang="en-US" sz="2800" dirty="0" smtClean="0"/>
              <a:t>, </a:t>
            </a:r>
            <a:r>
              <a:rPr lang="en-US" sz="2800" i="1" dirty="0" smtClean="0"/>
              <a:t>y</a:t>
            </a:r>
            <a:r>
              <a:rPr lang="en-US" sz="2800" dirty="0" smtClean="0"/>
              <a:t>, and </a:t>
            </a:r>
            <a:r>
              <a:rPr lang="en-US" sz="2800" i="1" dirty="0" smtClean="0"/>
              <a:t>z</a:t>
            </a:r>
          </a:p>
          <a:p>
            <a:pPr marL="0" indent="0">
              <a:buNone/>
            </a:pPr>
            <a:r>
              <a:rPr lang="en-US" sz="2800" i="1" dirty="0"/>
              <a:t> </a:t>
            </a:r>
            <a:r>
              <a:rPr lang="en-US" sz="2800" i="1" dirty="0" smtClean="0"/>
              <a:t>                       </a:t>
            </a:r>
            <a:r>
              <a:rPr lang="en-US" sz="2800" dirty="0" smtClean="0"/>
              <a:t>(or</a:t>
            </a:r>
            <a:r>
              <a:rPr lang="en-US" sz="2800" i="1" dirty="0" smtClean="0"/>
              <a:t>                                     </a:t>
            </a:r>
            <a:r>
              <a:rPr lang="en-US" sz="2800" dirty="0" smtClean="0"/>
              <a:t>)</a:t>
            </a:r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008209"/>
            <a:ext cx="5257800" cy="3175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4838700"/>
            <a:ext cx="3810000" cy="3175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3880" y="5984240"/>
            <a:ext cx="2781300" cy="317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32760" y="2562860"/>
            <a:ext cx="25908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47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177801"/>
            <a:ext cx="6014720" cy="1722119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Markov </a:t>
            </a:r>
            <a:r>
              <a:rPr lang="en-US" dirty="0" smtClean="0"/>
              <a:t>Assumption for Language Modeling</a:t>
            </a:r>
            <a:endParaRPr lang="en-US" dirty="0"/>
          </a:p>
        </p:txBody>
      </p:sp>
      <p:pic>
        <p:nvPicPr>
          <p:cNvPr id="2" name="Picture 1" descr="225px-AAMarkov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9057" y="20321"/>
            <a:ext cx="1780133" cy="23012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20930" y="2321560"/>
            <a:ext cx="144142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alibri"/>
                <a:cs typeface="Calibri"/>
              </a:rPr>
              <a:t>Andrei Markov</a:t>
            </a:r>
            <a:endParaRPr lang="en-US" sz="1600" dirty="0">
              <a:latin typeface="Calibri"/>
              <a:cs typeface="Calibri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270" y="1986280"/>
            <a:ext cx="5880100" cy="1117600"/>
          </a:xfrm>
          <a:prstGeom prst="rect">
            <a:avLst/>
          </a:prstGeom>
        </p:spPr>
      </p:pic>
      <p:sp>
        <p:nvSpPr>
          <p:cNvPr id="5" name="Down Arrow 4"/>
          <p:cNvSpPr/>
          <p:nvPr/>
        </p:nvSpPr>
        <p:spPr>
          <a:xfrm>
            <a:off x="4683760" y="3017520"/>
            <a:ext cx="497840" cy="843280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5200" y="3774440"/>
            <a:ext cx="5905500" cy="1117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6270" y="3484880"/>
            <a:ext cx="14327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>
                <a:latin typeface="Calibri"/>
                <a:cs typeface="Calibri"/>
              </a:rPr>
              <a:t>trigram model:</a:t>
            </a:r>
            <a:endParaRPr lang="en-US" sz="1600" dirty="0">
              <a:latin typeface="Calibri"/>
              <a:cs typeface="Calibri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55154" y="5415280"/>
            <a:ext cx="4555052" cy="48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49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 smtClean="0"/>
              <a:t>Conditional Independence Assumptions of HMMs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73741"/>
            <a:ext cx="8229600" cy="254322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two </a:t>
            </a:r>
            <a:r>
              <a:rPr lang="en-US" i="1" dirty="0" smtClean="0"/>
              <a:t>y</a:t>
            </a:r>
            <a:r>
              <a:rPr lang="en-US" dirty="0" smtClean="0"/>
              <a:t>’s are conditionally independent given the </a:t>
            </a:r>
            <a:r>
              <a:rPr lang="en-US" i="1" dirty="0" smtClean="0"/>
              <a:t>y</a:t>
            </a:r>
            <a:r>
              <a:rPr lang="en-US" dirty="0" smtClean="0"/>
              <a:t>’s between </a:t>
            </a:r>
            <a:r>
              <a:rPr lang="en-US" dirty="0" smtClean="0"/>
              <a:t>them:</a:t>
            </a: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an </a:t>
            </a:r>
            <a:r>
              <a:rPr lang="en-US" i="1" dirty="0" smtClean="0"/>
              <a:t>x</a:t>
            </a:r>
            <a:r>
              <a:rPr lang="en-US" dirty="0" smtClean="0"/>
              <a:t> </a:t>
            </a:r>
            <a:r>
              <a:rPr lang="en-US" dirty="0" smtClean="0"/>
              <a:t>at position </a:t>
            </a:r>
            <a:r>
              <a:rPr lang="en-US" i="1" dirty="0" err="1" smtClean="0"/>
              <a:t>i</a:t>
            </a:r>
            <a:r>
              <a:rPr lang="en-US" dirty="0" smtClean="0"/>
              <a:t> is </a:t>
            </a:r>
            <a:r>
              <a:rPr lang="en-US" dirty="0" smtClean="0"/>
              <a:t>conditionally independent </a:t>
            </a:r>
            <a:r>
              <a:rPr lang="en-US" dirty="0" smtClean="0"/>
              <a:t>of other </a:t>
            </a:r>
            <a:r>
              <a:rPr lang="en-US" i="1" dirty="0" smtClean="0"/>
              <a:t>y</a:t>
            </a:r>
            <a:r>
              <a:rPr lang="en-US" dirty="0" smtClean="0"/>
              <a:t>’s given the </a:t>
            </a:r>
            <a:r>
              <a:rPr lang="en-US" i="1" dirty="0" smtClean="0"/>
              <a:t>y</a:t>
            </a:r>
            <a:r>
              <a:rPr lang="en-US" dirty="0" smtClean="0"/>
              <a:t> at position </a:t>
            </a:r>
            <a:r>
              <a:rPr lang="en-US" i="1" dirty="0" err="1" smtClean="0"/>
              <a:t>i</a:t>
            </a:r>
            <a:r>
              <a:rPr lang="en-US" dirty="0" smtClean="0"/>
              <a:t>: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335" y="5232400"/>
            <a:ext cx="5849165" cy="11070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3600" y="2076450"/>
            <a:ext cx="2336800" cy="3683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8700" y="3610610"/>
            <a:ext cx="2006600" cy="3683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700" y="4075430"/>
            <a:ext cx="7071360" cy="958268"/>
          </a:xfrm>
          <a:prstGeom prst="rect">
            <a:avLst/>
          </a:prstGeom>
        </p:spPr>
      </p:pic>
      <p:sp>
        <p:nvSpPr>
          <p:cNvPr id="9" name="Down Arrow 8"/>
          <p:cNvSpPr/>
          <p:nvPr/>
        </p:nvSpPr>
        <p:spPr>
          <a:xfrm>
            <a:off x="2285999" y="4956055"/>
            <a:ext cx="264615" cy="462624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257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Graphical Model for an HMM</a:t>
            </a:r>
            <a:br>
              <a:rPr lang="en-US" sz="3200" dirty="0" smtClean="0"/>
            </a:br>
            <a:r>
              <a:rPr lang="en-US" sz="2400" dirty="0" smtClean="0"/>
              <a:t>(for a sequence of length 4)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14053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" name="Oval 7"/>
          <p:cNvSpPr/>
          <p:nvPr/>
        </p:nvSpPr>
        <p:spPr>
          <a:xfrm>
            <a:off x="35744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Oval 8"/>
          <p:cNvSpPr/>
          <p:nvPr/>
        </p:nvSpPr>
        <p:spPr>
          <a:xfrm>
            <a:off x="48698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/>
          <p:cNvCxnSpPr>
            <a:stCxn id="7" idx="6"/>
            <a:endCxn id="8" idx="2"/>
          </p:cNvCxnSpPr>
          <p:nvPr/>
        </p:nvCxnSpPr>
        <p:spPr bwMode="auto">
          <a:xfrm>
            <a:off x="2826334" y="1517783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>
            <a:stCxn id="8" idx="6"/>
            <a:endCxn id="9" idx="2"/>
          </p:cNvCxnSpPr>
          <p:nvPr/>
        </p:nvCxnSpPr>
        <p:spPr bwMode="auto">
          <a:xfrm>
            <a:off x="4260274" y="151778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>
            <a:stCxn id="7" idx="4"/>
          </p:cNvCxnSpPr>
          <p:nvPr/>
        </p:nvCxnSpPr>
        <p:spPr bwMode="auto">
          <a:xfrm>
            <a:off x="2483434" y="1860683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>
            <a:stCxn id="8" idx="4"/>
          </p:cNvCxnSpPr>
          <p:nvPr/>
        </p:nvCxnSpPr>
        <p:spPr bwMode="auto">
          <a:xfrm>
            <a:off x="3917374" y="1860683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>
            <a:stCxn id="9" idx="4"/>
          </p:cNvCxnSpPr>
          <p:nvPr/>
        </p:nvCxnSpPr>
        <p:spPr bwMode="auto">
          <a:xfrm>
            <a:off x="5212774" y="1860683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Oval 17"/>
          <p:cNvSpPr/>
          <p:nvPr/>
        </p:nvSpPr>
        <p:spPr>
          <a:xfrm>
            <a:off x="61652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0" name="Straight Arrow Connector 19"/>
          <p:cNvCxnSpPr>
            <a:stCxn id="18" idx="4"/>
          </p:cNvCxnSpPr>
          <p:nvPr/>
        </p:nvCxnSpPr>
        <p:spPr bwMode="auto">
          <a:xfrm>
            <a:off x="6508174" y="1860683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>
            <a:stCxn id="9" idx="6"/>
            <a:endCxn id="18" idx="2"/>
          </p:cNvCxnSpPr>
          <p:nvPr/>
        </p:nvCxnSpPr>
        <p:spPr bwMode="auto">
          <a:xfrm>
            <a:off x="5555674" y="151778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221673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y</a:t>
            </a:r>
            <a:r>
              <a:rPr lang="en-US" sz="2000" i="1" baseline="-25000" dirty="0" smtClean="0">
                <a:latin typeface="BKM-cmcsc10"/>
                <a:cs typeface="BKM-cmcsc10"/>
              </a:rPr>
              <a:t>1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275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y</a:t>
            </a:r>
            <a:r>
              <a:rPr lang="en-US" sz="2000" i="1" baseline="-25000" dirty="0" smtClean="0">
                <a:latin typeface="BKM-cmcsc10"/>
                <a:cs typeface="BKM-cmcsc10"/>
              </a:rPr>
              <a:t>2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229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y</a:t>
            </a:r>
            <a:r>
              <a:rPr lang="en-US" sz="2000" i="1" baseline="-25000" dirty="0" smtClean="0">
                <a:latin typeface="BKM-cmcsc10"/>
                <a:cs typeface="BKM-cmcsc10"/>
              </a:rPr>
              <a:t>3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83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y</a:t>
            </a:r>
            <a:r>
              <a:rPr lang="en-US" sz="2000" i="1" baseline="-25000" dirty="0" smtClean="0">
                <a:latin typeface="BKM-cmcsc10"/>
                <a:cs typeface="BKM-cmcsc10"/>
              </a:rPr>
              <a:t>4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16734" y="231280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x</a:t>
            </a:r>
            <a:r>
              <a:rPr lang="en-US" sz="2000" i="1" baseline="-25000" dirty="0" smtClean="0">
                <a:latin typeface="BKM-cmcsc10"/>
                <a:cs typeface="BKM-cmcsc10"/>
              </a:rPr>
              <a:t>1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214514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35790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8744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1698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32894" y="231280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x</a:t>
            </a:r>
            <a:r>
              <a:rPr lang="en-US" sz="2000" i="1" baseline="-25000" dirty="0" smtClean="0">
                <a:latin typeface="BKM-cmcsc10"/>
                <a:cs typeface="BKM-cmcsc10"/>
              </a:rPr>
              <a:t>2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20202" y="230264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x</a:t>
            </a:r>
            <a:r>
              <a:rPr lang="en-US" sz="2000" i="1" baseline="-25000" dirty="0" smtClean="0">
                <a:latin typeface="BKM-cmcsc10"/>
                <a:cs typeface="BKM-cmcsc10"/>
              </a:rPr>
              <a:t>3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04528" y="2314031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x</a:t>
            </a:r>
            <a:r>
              <a:rPr lang="en-US" sz="2000" i="1" baseline="-25000" dirty="0" smtClean="0">
                <a:latin typeface="BKM-cmcsc10"/>
                <a:cs typeface="BKM-cmcsc10"/>
              </a:rPr>
              <a:t>4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0240" y="3159903"/>
            <a:ext cx="763016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a </a:t>
            </a:r>
            <a:r>
              <a:rPr lang="en-US" sz="2400" dirty="0" smtClean="0">
                <a:solidFill>
                  <a:srgbClr val="288CD2"/>
                </a:solidFill>
              </a:rPr>
              <a:t>graphical model </a:t>
            </a:r>
            <a:r>
              <a:rPr lang="en-US" sz="2400" dirty="0" smtClean="0"/>
              <a:t>is a graph in which:</a:t>
            </a:r>
          </a:p>
          <a:p>
            <a:endParaRPr lang="en-US" sz="2000" dirty="0" smtClean="0"/>
          </a:p>
          <a:p>
            <a:r>
              <a:rPr lang="en-US" sz="2000" dirty="0" smtClean="0"/>
              <a:t>each node corresponds to a random variable</a:t>
            </a:r>
          </a:p>
          <a:p>
            <a:endParaRPr lang="en-US" sz="2000" dirty="0" smtClean="0"/>
          </a:p>
          <a:p>
            <a:r>
              <a:rPr lang="en-US" sz="2000" dirty="0" smtClean="0"/>
              <a:t>each directed edge corresponds to a conditional probability distribution of the target node given the source node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 smtClean="0"/>
              <a:t>conditional independence statements among random variables are encoded by the edge structure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77095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Graphical Model for an HMM</a:t>
            </a:r>
            <a:br>
              <a:rPr lang="en-US" sz="3200" dirty="0" smtClean="0"/>
            </a:br>
            <a:r>
              <a:rPr lang="en-US" sz="2400" dirty="0" smtClean="0"/>
              <a:t>(for a sequence of length 4)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14053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" name="Oval 7"/>
          <p:cNvSpPr/>
          <p:nvPr/>
        </p:nvSpPr>
        <p:spPr>
          <a:xfrm>
            <a:off x="35744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Oval 8"/>
          <p:cNvSpPr/>
          <p:nvPr/>
        </p:nvSpPr>
        <p:spPr>
          <a:xfrm>
            <a:off x="48698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/>
          <p:cNvCxnSpPr>
            <a:stCxn id="7" idx="6"/>
            <a:endCxn id="8" idx="2"/>
          </p:cNvCxnSpPr>
          <p:nvPr/>
        </p:nvCxnSpPr>
        <p:spPr bwMode="auto">
          <a:xfrm>
            <a:off x="2826334" y="1517783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>
            <a:stCxn id="8" idx="6"/>
            <a:endCxn id="9" idx="2"/>
          </p:cNvCxnSpPr>
          <p:nvPr/>
        </p:nvCxnSpPr>
        <p:spPr bwMode="auto">
          <a:xfrm>
            <a:off x="4260274" y="151778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>
            <a:stCxn id="7" idx="4"/>
          </p:cNvCxnSpPr>
          <p:nvPr/>
        </p:nvCxnSpPr>
        <p:spPr bwMode="auto">
          <a:xfrm>
            <a:off x="2483434" y="1860683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>
            <a:stCxn id="8" idx="4"/>
          </p:cNvCxnSpPr>
          <p:nvPr/>
        </p:nvCxnSpPr>
        <p:spPr bwMode="auto">
          <a:xfrm>
            <a:off x="3917374" y="1860683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>
            <a:stCxn id="9" idx="4"/>
          </p:cNvCxnSpPr>
          <p:nvPr/>
        </p:nvCxnSpPr>
        <p:spPr bwMode="auto">
          <a:xfrm>
            <a:off x="5212774" y="1860683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Oval 17"/>
          <p:cNvSpPr/>
          <p:nvPr/>
        </p:nvSpPr>
        <p:spPr>
          <a:xfrm>
            <a:off x="61652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0" name="Straight Arrow Connector 19"/>
          <p:cNvCxnSpPr>
            <a:stCxn id="18" idx="4"/>
          </p:cNvCxnSpPr>
          <p:nvPr/>
        </p:nvCxnSpPr>
        <p:spPr bwMode="auto">
          <a:xfrm>
            <a:off x="6508174" y="1860683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>
            <a:stCxn id="9" idx="6"/>
            <a:endCxn id="18" idx="2"/>
          </p:cNvCxnSpPr>
          <p:nvPr/>
        </p:nvCxnSpPr>
        <p:spPr bwMode="auto">
          <a:xfrm>
            <a:off x="5555674" y="151778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221673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y</a:t>
            </a:r>
            <a:r>
              <a:rPr lang="en-US" sz="2000" i="1" baseline="-25000" dirty="0" smtClean="0">
                <a:latin typeface="BKM-cmcsc10"/>
                <a:cs typeface="BKM-cmcsc10"/>
              </a:rPr>
              <a:t>1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275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y</a:t>
            </a:r>
            <a:r>
              <a:rPr lang="en-US" sz="2000" i="1" baseline="-25000" dirty="0" smtClean="0">
                <a:latin typeface="BKM-cmcsc10"/>
                <a:cs typeface="BKM-cmcsc10"/>
              </a:rPr>
              <a:t>2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229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y</a:t>
            </a:r>
            <a:r>
              <a:rPr lang="en-US" sz="2000" i="1" baseline="-25000" dirty="0" smtClean="0">
                <a:latin typeface="BKM-cmcsc10"/>
                <a:cs typeface="BKM-cmcsc10"/>
              </a:rPr>
              <a:t>3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83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y</a:t>
            </a:r>
            <a:r>
              <a:rPr lang="en-US" sz="2000" i="1" baseline="-25000" dirty="0" smtClean="0">
                <a:latin typeface="BKM-cmcsc10"/>
                <a:cs typeface="BKM-cmcsc10"/>
              </a:rPr>
              <a:t>4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16734" y="231280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x</a:t>
            </a:r>
            <a:r>
              <a:rPr lang="en-US" sz="2000" i="1" baseline="-25000" dirty="0" smtClean="0">
                <a:latin typeface="BKM-cmcsc10"/>
                <a:cs typeface="BKM-cmcsc10"/>
              </a:rPr>
              <a:t>1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214514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35790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8744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1698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32894" y="231280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x</a:t>
            </a:r>
            <a:r>
              <a:rPr lang="en-US" sz="2000" i="1" baseline="-25000" dirty="0" smtClean="0">
                <a:latin typeface="BKM-cmcsc10"/>
                <a:cs typeface="BKM-cmcsc10"/>
              </a:rPr>
              <a:t>2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20202" y="230264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x</a:t>
            </a:r>
            <a:r>
              <a:rPr lang="en-US" sz="2000" i="1" baseline="-25000" dirty="0" smtClean="0">
                <a:latin typeface="BKM-cmcsc10"/>
                <a:cs typeface="BKM-cmcsc10"/>
              </a:rPr>
              <a:t>3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04528" y="2314031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x</a:t>
            </a:r>
            <a:r>
              <a:rPr lang="en-US" sz="2000" i="1" baseline="-25000" dirty="0" smtClean="0">
                <a:latin typeface="BKM-cmcsc10"/>
                <a:cs typeface="BKM-cmcsc10"/>
              </a:rPr>
              <a:t>4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0240" y="3159903"/>
            <a:ext cx="76301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 smtClean="0"/>
          </a:p>
          <a:p>
            <a:r>
              <a:rPr lang="en-US" sz="2000" dirty="0" smtClean="0"/>
              <a:t>conditional </a:t>
            </a:r>
            <a:r>
              <a:rPr lang="en-US" sz="2000" dirty="0" smtClean="0"/>
              <a:t>independence statements among random variables are encoded by the edge </a:t>
            </a:r>
            <a:r>
              <a:rPr lang="en-US" sz="2000" dirty="0" smtClean="0"/>
              <a:t>structure </a:t>
            </a:r>
            <a:r>
              <a:rPr lang="en-US" sz="1600" dirty="0" smtClean="0">
                <a:sym typeface="Wingdings"/>
              </a:rPr>
              <a:t></a:t>
            </a:r>
            <a:r>
              <a:rPr lang="en-US" sz="2000" dirty="0" smtClean="0">
                <a:sym typeface="Wingdings"/>
              </a:rPr>
              <a:t> we only have to worry about </a:t>
            </a:r>
            <a:r>
              <a:rPr lang="en-US" sz="2000" b="1" dirty="0" smtClean="0">
                <a:sym typeface="Wingdings"/>
              </a:rPr>
              <a:t>local distributions:</a:t>
            </a:r>
          </a:p>
          <a:p>
            <a:endParaRPr lang="en-US" sz="2000" b="1" dirty="0">
              <a:sym typeface="Wingdings"/>
            </a:endParaRPr>
          </a:p>
          <a:p>
            <a:r>
              <a:rPr lang="en-US" sz="2000" b="1" dirty="0" smtClean="0">
                <a:sym typeface="Wingdings"/>
              </a:rPr>
              <a:t>transition parameters:</a:t>
            </a:r>
          </a:p>
          <a:p>
            <a:r>
              <a:rPr lang="en-US" sz="2000" b="1" dirty="0" smtClean="0">
                <a:sym typeface="Wingdings"/>
              </a:rPr>
              <a:t> </a:t>
            </a:r>
          </a:p>
          <a:p>
            <a:r>
              <a:rPr lang="en-US" sz="2000" b="1" dirty="0" smtClean="0">
                <a:sym typeface="Wingdings"/>
              </a:rPr>
              <a:t>emission parameters: </a:t>
            </a:r>
            <a:endParaRPr lang="en-US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062" y="4657682"/>
            <a:ext cx="1892300" cy="368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066" y="5304000"/>
            <a:ext cx="15367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86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Graphical Model for an HMM</a:t>
            </a:r>
            <a:br>
              <a:rPr lang="en-US" sz="3200" dirty="0" smtClean="0"/>
            </a:br>
            <a:r>
              <a:rPr lang="en-US" sz="2400" dirty="0" smtClean="0"/>
              <a:t>(for a sequence of length 4)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14053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8" name="Oval 7"/>
          <p:cNvSpPr/>
          <p:nvPr/>
        </p:nvSpPr>
        <p:spPr>
          <a:xfrm>
            <a:off x="35744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9" name="Oval 8"/>
          <p:cNvSpPr/>
          <p:nvPr/>
        </p:nvSpPr>
        <p:spPr>
          <a:xfrm>
            <a:off x="48698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/>
          <p:cNvCxnSpPr>
            <a:stCxn id="7" idx="6"/>
            <a:endCxn id="8" idx="2"/>
          </p:cNvCxnSpPr>
          <p:nvPr/>
        </p:nvCxnSpPr>
        <p:spPr bwMode="auto">
          <a:xfrm>
            <a:off x="2826334" y="1517783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>
            <a:stCxn id="8" idx="6"/>
            <a:endCxn id="9" idx="2"/>
          </p:cNvCxnSpPr>
          <p:nvPr/>
        </p:nvCxnSpPr>
        <p:spPr bwMode="auto">
          <a:xfrm>
            <a:off x="4260274" y="151778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Straight Arrow Connector 14"/>
          <p:cNvCxnSpPr>
            <a:stCxn id="7" idx="4"/>
          </p:cNvCxnSpPr>
          <p:nvPr/>
        </p:nvCxnSpPr>
        <p:spPr bwMode="auto">
          <a:xfrm>
            <a:off x="2483434" y="1860683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/>
          <p:cNvCxnSpPr>
            <a:stCxn id="8" idx="4"/>
          </p:cNvCxnSpPr>
          <p:nvPr/>
        </p:nvCxnSpPr>
        <p:spPr bwMode="auto">
          <a:xfrm>
            <a:off x="3917374" y="1860683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" name="Straight Arrow Connector 16"/>
          <p:cNvCxnSpPr>
            <a:stCxn id="9" idx="4"/>
          </p:cNvCxnSpPr>
          <p:nvPr/>
        </p:nvCxnSpPr>
        <p:spPr bwMode="auto">
          <a:xfrm>
            <a:off x="5212774" y="1860683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Oval 17"/>
          <p:cNvSpPr/>
          <p:nvPr/>
        </p:nvSpPr>
        <p:spPr>
          <a:xfrm>
            <a:off x="6165274" y="117488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0" name="Straight Arrow Connector 19"/>
          <p:cNvCxnSpPr>
            <a:stCxn id="18" idx="4"/>
          </p:cNvCxnSpPr>
          <p:nvPr/>
        </p:nvCxnSpPr>
        <p:spPr bwMode="auto">
          <a:xfrm>
            <a:off x="6508174" y="1860683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" name="Straight Arrow Connector 20"/>
          <p:cNvCxnSpPr>
            <a:stCxn id="9" idx="6"/>
            <a:endCxn id="18" idx="2"/>
          </p:cNvCxnSpPr>
          <p:nvPr/>
        </p:nvCxnSpPr>
        <p:spPr bwMode="auto">
          <a:xfrm>
            <a:off x="5555674" y="151778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" name="TextBox 22"/>
          <p:cNvSpPr txBox="1"/>
          <p:nvPr/>
        </p:nvSpPr>
        <p:spPr>
          <a:xfrm>
            <a:off x="221673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y</a:t>
            </a:r>
            <a:r>
              <a:rPr lang="en-US" sz="2000" i="1" baseline="-25000" dirty="0" smtClean="0">
                <a:latin typeface="BKM-cmcsc10"/>
                <a:cs typeface="BKM-cmcsc10"/>
              </a:rPr>
              <a:t>1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275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y</a:t>
            </a:r>
            <a:r>
              <a:rPr lang="en-US" sz="2000" i="1" baseline="-25000" dirty="0" smtClean="0">
                <a:latin typeface="BKM-cmcsc10"/>
                <a:cs typeface="BKM-cmcsc10"/>
              </a:rPr>
              <a:t>2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229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y</a:t>
            </a:r>
            <a:r>
              <a:rPr lang="en-US" sz="2000" i="1" baseline="-25000" dirty="0" smtClean="0">
                <a:latin typeface="BKM-cmcsc10"/>
                <a:cs typeface="BKM-cmcsc10"/>
              </a:rPr>
              <a:t>3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8384" y="117488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y</a:t>
            </a:r>
            <a:r>
              <a:rPr lang="en-US" sz="2000" i="1" baseline="-25000" dirty="0" smtClean="0">
                <a:latin typeface="BKM-cmcsc10"/>
                <a:cs typeface="BKM-cmcsc10"/>
              </a:rPr>
              <a:t>4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16734" y="231280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x</a:t>
            </a:r>
            <a:r>
              <a:rPr lang="en-US" sz="2000" i="1" baseline="-25000" dirty="0" smtClean="0">
                <a:latin typeface="BKM-cmcsc10"/>
                <a:cs typeface="BKM-cmcsc10"/>
              </a:rPr>
              <a:t>1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214514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35790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48744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6169882" y="226940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32894" y="231280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x</a:t>
            </a:r>
            <a:r>
              <a:rPr lang="en-US" sz="2000" i="1" baseline="-25000" dirty="0" smtClean="0">
                <a:latin typeface="BKM-cmcsc10"/>
                <a:cs typeface="BKM-cmcsc10"/>
              </a:rPr>
              <a:t>2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20202" y="230264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x</a:t>
            </a:r>
            <a:r>
              <a:rPr lang="en-US" sz="2000" i="1" baseline="-25000" dirty="0" smtClean="0">
                <a:latin typeface="BKM-cmcsc10"/>
                <a:cs typeface="BKM-cmcsc10"/>
              </a:rPr>
              <a:t>3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204528" y="2314031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 smtClean="0">
                <a:latin typeface="BKM-cmmi12"/>
                <a:cs typeface="BKM-cmmi12"/>
              </a:rPr>
              <a:t>x</a:t>
            </a:r>
            <a:r>
              <a:rPr lang="en-US" sz="2000" i="1" baseline="-25000" dirty="0" smtClean="0">
                <a:latin typeface="BKM-cmcsc10"/>
                <a:cs typeface="BKM-cmcsc10"/>
              </a:rPr>
              <a:t>4</a:t>
            </a:r>
            <a:endParaRPr lang="en-US" sz="2400" i="1" baseline="-25000" dirty="0" smtClean="0">
              <a:latin typeface="BKM-cmcsc10"/>
              <a:cs typeface="BKM-cmcsc1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0240" y="4732176"/>
            <a:ext cx="76301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ym typeface="Wingdings"/>
            </a:endParaRPr>
          </a:p>
          <a:p>
            <a:r>
              <a:rPr lang="en-US" sz="2000" b="1" dirty="0" smtClean="0">
                <a:sym typeface="Wingdings"/>
              </a:rPr>
              <a:t>transition parameters:</a:t>
            </a:r>
          </a:p>
          <a:p>
            <a:r>
              <a:rPr lang="en-US" sz="2000" b="1" dirty="0" smtClean="0">
                <a:sym typeface="Wingdings"/>
              </a:rPr>
              <a:t> </a:t>
            </a:r>
          </a:p>
          <a:p>
            <a:r>
              <a:rPr lang="en-US" sz="2000" b="1" dirty="0" smtClean="0">
                <a:sym typeface="Wingdings"/>
              </a:rPr>
              <a:t>emission parameters: </a:t>
            </a:r>
            <a:endParaRPr lang="en-US" sz="20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062" y="5036142"/>
            <a:ext cx="1892300" cy="3683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3066" y="5682460"/>
            <a:ext cx="1536700" cy="381000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8775" y="3431279"/>
            <a:ext cx="5849165" cy="110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20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45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250" y="1343890"/>
            <a:ext cx="4667353" cy="191192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b="22527"/>
          <a:stretch/>
        </p:blipFill>
        <p:spPr>
          <a:xfrm>
            <a:off x="1498577" y="3267364"/>
            <a:ext cx="6517947" cy="1739902"/>
          </a:xfrm>
          <a:prstGeom prst="rect">
            <a:avLst/>
          </a:prstGeom>
        </p:spPr>
      </p:pic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1503249" y="5193141"/>
            <a:ext cx="3276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r>
              <a:rPr lang="en-US" i="1" dirty="0" smtClean="0">
                <a:solidFill>
                  <a:srgbClr val="0062AC"/>
                </a:solidFill>
                <a:latin typeface="Calibri"/>
                <a:cs typeface="Calibri"/>
              </a:rPr>
              <a:t>Computational Linguistics</a:t>
            </a:r>
            <a:r>
              <a:rPr lang="en-US" i="0" dirty="0" smtClean="0">
                <a:solidFill>
                  <a:srgbClr val="0062AC"/>
                </a:solidFill>
                <a:latin typeface="Calibri"/>
                <a:cs typeface="Calibri"/>
              </a:rPr>
              <a:t>, 1992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634676" y="175493"/>
            <a:ext cx="3865417" cy="861774"/>
          </a:xfrm>
          <a:prstGeom prst="rect">
            <a:avLst/>
          </a:prstGeom>
          <a:noFill/>
          <a:ln w="57150" cmpd="sng">
            <a:noFill/>
            <a:miter lim="800000"/>
            <a:headEnd/>
            <a:tailEnd/>
          </a:ln>
          <a:extLst/>
        </p:spPr>
        <p:txBody>
          <a:bodyPr wrap="square" lIns="274320" tIns="182880" rIns="274320" bIns="1828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200" i="0" dirty="0" smtClean="0">
                <a:latin typeface="Calibri"/>
                <a:cs typeface="Calibri"/>
              </a:rPr>
              <a:t>“Brown Clustering”</a:t>
            </a:r>
          </a:p>
        </p:txBody>
      </p:sp>
    </p:spTree>
    <p:extLst>
      <p:ext uri="{BB962C8B-B14F-4D97-AF65-F5344CB8AC3E}">
        <p14:creationId xmlns:p14="http://schemas.microsoft.com/office/powerpoint/2010/main" val="670383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54" y="1219200"/>
            <a:ext cx="7897091" cy="697345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 smtClean="0"/>
              <a:t>hidden Markov model with one-cluster-per-word constraint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140534" y="183572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3574474" y="183572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4869874" y="183572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>
            <a:off x="2826334" y="2178623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>
            <a:stCxn id="6" idx="6"/>
            <a:endCxn id="7" idx="2"/>
          </p:cNvCxnSpPr>
          <p:nvPr/>
        </p:nvCxnSpPr>
        <p:spPr bwMode="auto">
          <a:xfrm>
            <a:off x="4260274" y="217862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Oval 11"/>
          <p:cNvSpPr/>
          <p:nvPr/>
        </p:nvSpPr>
        <p:spPr>
          <a:xfrm>
            <a:off x="2043542" y="2930243"/>
            <a:ext cx="889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429001" y="2930243"/>
            <a:ext cx="1004455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825999" y="2930243"/>
            <a:ext cx="78509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6" name="Straight Arrow Connector 15"/>
          <p:cNvCxnSpPr>
            <a:stCxn id="5" idx="4"/>
            <a:endCxn id="12" idx="0"/>
          </p:cNvCxnSpPr>
          <p:nvPr/>
        </p:nvCxnSpPr>
        <p:spPr bwMode="auto">
          <a:xfrm>
            <a:off x="2483434" y="2521523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/>
          <p:cNvCxnSpPr>
            <a:stCxn id="6" idx="4"/>
            <a:endCxn id="13" idx="0"/>
          </p:cNvCxnSpPr>
          <p:nvPr/>
        </p:nvCxnSpPr>
        <p:spPr bwMode="auto">
          <a:xfrm>
            <a:off x="3917374" y="2521523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>
            <a:stCxn id="7" idx="4"/>
            <a:endCxn id="14" idx="0"/>
          </p:cNvCxnSpPr>
          <p:nvPr/>
        </p:nvCxnSpPr>
        <p:spPr bwMode="auto">
          <a:xfrm>
            <a:off x="5212774" y="2521523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6165274" y="183572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888183" y="2930243"/>
            <a:ext cx="1270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6" name="Straight Arrow Connector 25"/>
          <p:cNvCxnSpPr>
            <a:stCxn id="24" idx="4"/>
            <a:endCxn id="25" idx="0"/>
          </p:cNvCxnSpPr>
          <p:nvPr/>
        </p:nvCxnSpPr>
        <p:spPr bwMode="auto">
          <a:xfrm>
            <a:off x="6508174" y="2521523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/>
          <p:cNvCxnSpPr>
            <a:stCxn id="7" idx="6"/>
            <a:endCxn id="24" idx="2"/>
          </p:cNvCxnSpPr>
          <p:nvPr/>
        </p:nvCxnSpPr>
        <p:spPr bwMode="auto">
          <a:xfrm>
            <a:off x="5555674" y="217862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9"/>
          <p:cNvSpPr txBox="1"/>
          <p:nvPr/>
        </p:nvSpPr>
        <p:spPr>
          <a:xfrm>
            <a:off x="2117447" y="3017354"/>
            <a:ext cx="5560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0" dirty="0" err="1" smtClean="0">
                <a:latin typeface="Calibri"/>
                <a:cs typeface="Calibri"/>
              </a:rPr>
              <a:t>justin</a:t>
            </a:r>
            <a:r>
              <a:rPr lang="en-US" sz="2000" i="0" dirty="0" smtClean="0">
                <a:latin typeface="Calibri"/>
                <a:cs typeface="Calibri"/>
              </a:rPr>
              <a:t>               </a:t>
            </a:r>
            <a:r>
              <a:rPr lang="en-US" sz="2000" i="0" dirty="0" err="1" smtClean="0">
                <a:latin typeface="Calibri"/>
                <a:cs typeface="Calibri"/>
              </a:rPr>
              <a:t>bieber</a:t>
            </a:r>
            <a:r>
              <a:rPr lang="en-US" sz="2000" i="0" dirty="0" smtClean="0">
                <a:latin typeface="Calibri"/>
                <a:cs typeface="Calibri"/>
              </a:rPr>
              <a:t>             for            president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16734" y="183572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1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627584" y="183572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2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22984" y="183572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3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18384" y="183572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4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38" name="TextBox 37"/>
          <p:cNvSpPr txBox="1">
            <a:spLocks noChangeArrowheads="1"/>
          </p:cNvSpPr>
          <p:nvPr/>
        </p:nvSpPr>
        <p:spPr bwMode="auto">
          <a:xfrm>
            <a:off x="1431636" y="175493"/>
            <a:ext cx="6280728" cy="861774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274320" tIns="182880" rIns="274320" bIns="1828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200" i="0" dirty="0" smtClean="0">
                <a:solidFill>
                  <a:schemeClr val="bg1"/>
                </a:solidFill>
                <a:latin typeface="Calibri"/>
                <a:cs typeface="Calibri"/>
              </a:rPr>
              <a:t>Brown Clustering  </a:t>
            </a:r>
            <a:r>
              <a:rPr lang="en-US" sz="2400" i="0" dirty="0" smtClean="0">
                <a:solidFill>
                  <a:schemeClr val="bg1"/>
                </a:solidFill>
                <a:latin typeface="Calibri"/>
                <a:cs typeface="Calibri"/>
              </a:rPr>
              <a:t>(Brown et al., 1992)</a:t>
            </a:r>
            <a:endParaRPr lang="en-US" sz="2800" i="0" dirty="0" smtClean="0">
              <a:solidFill>
                <a:schemeClr val="bg1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558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54" y="1219200"/>
            <a:ext cx="7897091" cy="697345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 smtClean="0"/>
              <a:t>hidden Markov model with one-cluster-per-word constraint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140534" y="183572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3574474" y="183572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4869874" y="183572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>
            <a:off x="2826334" y="2178623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>
            <a:stCxn id="6" idx="6"/>
            <a:endCxn id="7" idx="2"/>
          </p:cNvCxnSpPr>
          <p:nvPr/>
        </p:nvCxnSpPr>
        <p:spPr bwMode="auto">
          <a:xfrm>
            <a:off x="4260274" y="217862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Oval 11"/>
          <p:cNvSpPr/>
          <p:nvPr/>
        </p:nvSpPr>
        <p:spPr>
          <a:xfrm>
            <a:off x="2043542" y="2930243"/>
            <a:ext cx="889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429001" y="2930243"/>
            <a:ext cx="1004455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825999" y="2930243"/>
            <a:ext cx="78509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6" name="Straight Arrow Connector 15"/>
          <p:cNvCxnSpPr>
            <a:stCxn id="5" idx="4"/>
            <a:endCxn id="12" idx="0"/>
          </p:cNvCxnSpPr>
          <p:nvPr/>
        </p:nvCxnSpPr>
        <p:spPr bwMode="auto">
          <a:xfrm>
            <a:off x="2483434" y="2521523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/>
          <p:cNvCxnSpPr>
            <a:stCxn id="6" idx="4"/>
            <a:endCxn id="13" idx="0"/>
          </p:cNvCxnSpPr>
          <p:nvPr/>
        </p:nvCxnSpPr>
        <p:spPr bwMode="auto">
          <a:xfrm>
            <a:off x="3917374" y="2521523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>
            <a:stCxn id="7" idx="4"/>
            <a:endCxn id="14" idx="0"/>
          </p:cNvCxnSpPr>
          <p:nvPr/>
        </p:nvCxnSpPr>
        <p:spPr bwMode="auto">
          <a:xfrm>
            <a:off x="5212774" y="2521523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6165274" y="183572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888183" y="2930243"/>
            <a:ext cx="1270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6" name="Straight Arrow Connector 25"/>
          <p:cNvCxnSpPr>
            <a:stCxn id="24" idx="4"/>
            <a:endCxn id="25" idx="0"/>
          </p:cNvCxnSpPr>
          <p:nvPr/>
        </p:nvCxnSpPr>
        <p:spPr bwMode="auto">
          <a:xfrm>
            <a:off x="6508174" y="2521523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/>
          <p:cNvCxnSpPr>
            <a:stCxn id="7" idx="6"/>
            <a:endCxn id="24" idx="2"/>
          </p:cNvCxnSpPr>
          <p:nvPr/>
        </p:nvCxnSpPr>
        <p:spPr bwMode="auto">
          <a:xfrm>
            <a:off x="5555674" y="217862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9"/>
          <p:cNvSpPr txBox="1"/>
          <p:nvPr/>
        </p:nvSpPr>
        <p:spPr>
          <a:xfrm>
            <a:off x="2117447" y="3017354"/>
            <a:ext cx="5560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0" dirty="0" err="1" smtClean="0">
                <a:latin typeface="Calibri"/>
                <a:cs typeface="Calibri"/>
              </a:rPr>
              <a:t>justin</a:t>
            </a:r>
            <a:r>
              <a:rPr lang="en-US" sz="2000" i="0" dirty="0" smtClean="0">
                <a:latin typeface="Calibri"/>
                <a:cs typeface="Calibri"/>
              </a:rPr>
              <a:t>               </a:t>
            </a:r>
            <a:r>
              <a:rPr lang="en-US" sz="2000" i="0" dirty="0" err="1" smtClean="0">
                <a:latin typeface="Calibri"/>
                <a:cs typeface="Calibri"/>
              </a:rPr>
              <a:t>bieber</a:t>
            </a:r>
            <a:r>
              <a:rPr lang="en-US" sz="2000" i="0" dirty="0" smtClean="0">
                <a:latin typeface="Calibri"/>
                <a:cs typeface="Calibri"/>
              </a:rPr>
              <a:t>             for            president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16734" y="183572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1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627584" y="183572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2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22984" y="183572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3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18384" y="183572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4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42" name="Content Placeholder 2"/>
          <p:cNvSpPr txBox="1">
            <a:spLocks/>
          </p:cNvSpPr>
          <p:nvPr/>
        </p:nvSpPr>
        <p:spPr bwMode="auto">
          <a:xfrm>
            <a:off x="1219200" y="3763823"/>
            <a:ext cx="7128164" cy="2701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400" i="0" dirty="0" smtClean="0"/>
              <a:t>algorithm: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i="0" dirty="0"/>
              <a:t> </a:t>
            </a:r>
            <a:r>
              <a:rPr lang="en-US" sz="2400" i="0" dirty="0" smtClean="0"/>
              <a:t> </a:t>
            </a:r>
            <a:r>
              <a:rPr lang="en-US" sz="2400" i="0" dirty="0" smtClean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sz="2400" i="0" dirty="0" smtClean="0"/>
              <a:t>  initialize each word as its own cluster</a:t>
            </a:r>
          </a:p>
          <a:p>
            <a:pPr marL="0" indent="0">
              <a:buNone/>
            </a:pPr>
            <a:r>
              <a:rPr lang="en-US" sz="2400" i="0" dirty="0"/>
              <a:t> </a:t>
            </a:r>
            <a:r>
              <a:rPr lang="en-US" sz="2400" i="0" dirty="0" smtClean="0"/>
              <a:t> </a:t>
            </a:r>
            <a:r>
              <a:rPr lang="en-US" sz="2400" i="0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sz="2400" i="0" dirty="0" smtClean="0"/>
              <a:t>  greedily merge clusters to improve data likelihood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1431636" y="175493"/>
            <a:ext cx="6280728" cy="861774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274320" tIns="182880" rIns="274320" bIns="1828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200" i="0" dirty="0" smtClean="0">
                <a:solidFill>
                  <a:srgbClr val="FFFFFF"/>
                </a:solidFill>
                <a:latin typeface="Calibri"/>
                <a:cs typeface="Calibri"/>
              </a:rPr>
              <a:t>Brown Clustering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(Brown et al., 1992)</a:t>
            </a:r>
            <a:endParaRPr lang="en-US" sz="2800" i="0" dirty="0" smtClean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7962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454" y="1219200"/>
            <a:ext cx="7897091" cy="697345"/>
          </a:xfrm>
        </p:spPr>
        <p:txBody>
          <a:bodyPr/>
          <a:lstStyle/>
          <a:p>
            <a:pPr marL="0" indent="0" algn="ctr">
              <a:buNone/>
            </a:pPr>
            <a:r>
              <a:rPr lang="en-US" sz="2400" dirty="0" smtClean="0"/>
              <a:t>hidden Markov model with one-cluster-per-word constraint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140534" y="183572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" name="Oval 5"/>
          <p:cNvSpPr/>
          <p:nvPr/>
        </p:nvSpPr>
        <p:spPr>
          <a:xfrm>
            <a:off x="3574474" y="183572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7" name="Oval 6"/>
          <p:cNvSpPr/>
          <p:nvPr/>
        </p:nvSpPr>
        <p:spPr>
          <a:xfrm>
            <a:off x="4869874" y="183572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 bwMode="auto">
          <a:xfrm>
            <a:off x="2826334" y="2178623"/>
            <a:ext cx="74814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1" name="Straight Arrow Connector 10"/>
          <p:cNvCxnSpPr>
            <a:stCxn id="6" idx="6"/>
            <a:endCxn id="7" idx="2"/>
          </p:cNvCxnSpPr>
          <p:nvPr/>
        </p:nvCxnSpPr>
        <p:spPr bwMode="auto">
          <a:xfrm>
            <a:off x="4260274" y="217862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Oval 11"/>
          <p:cNvSpPr/>
          <p:nvPr/>
        </p:nvSpPr>
        <p:spPr>
          <a:xfrm>
            <a:off x="2043542" y="2930243"/>
            <a:ext cx="889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3429001" y="2930243"/>
            <a:ext cx="1004455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4825999" y="2930243"/>
            <a:ext cx="78509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6" name="Straight Arrow Connector 15"/>
          <p:cNvCxnSpPr>
            <a:stCxn id="5" idx="4"/>
            <a:endCxn id="12" idx="0"/>
          </p:cNvCxnSpPr>
          <p:nvPr/>
        </p:nvCxnSpPr>
        <p:spPr bwMode="auto">
          <a:xfrm>
            <a:off x="2483434" y="2521523"/>
            <a:ext cx="4608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" name="Straight Arrow Connector 17"/>
          <p:cNvCxnSpPr>
            <a:stCxn id="6" idx="4"/>
            <a:endCxn id="13" idx="0"/>
          </p:cNvCxnSpPr>
          <p:nvPr/>
        </p:nvCxnSpPr>
        <p:spPr bwMode="auto">
          <a:xfrm>
            <a:off x="3917374" y="2521523"/>
            <a:ext cx="13855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" name="Straight Arrow Connector 19"/>
          <p:cNvCxnSpPr>
            <a:stCxn id="7" idx="4"/>
            <a:endCxn id="14" idx="0"/>
          </p:cNvCxnSpPr>
          <p:nvPr/>
        </p:nvCxnSpPr>
        <p:spPr bwMode="auto">
          <a:xfrm>
            <a:off x="5212774" y="2521523"/>
            <a:ext cx="5770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4" name="Oval 23"/>
          <p:cNvSpPr/>
          <p:nvPr/>
        </p:nvSpPr>
        <p:spPr>
          <a:xfrm>
            <a:off x="6165274" y="1835723"/>
            <a:ext cx="685800" cy="685800"/>
          </a:xfrm>
          <a:prstGeom prst="ellipse">
            <a:avLst/>
          </a:prstGeom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888183" y="2930243"/>
            <a:ext cx="1270000" cy="685800"/>
          </a:xfrm>
          <a:prstGeom prst="ellipse">
            <a:avLst/>
          </a:prstGeom>
          <a:solidFill>
            <a:srgbClr val="BDE0FF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26" name="Straight Arrow Connector 25"/>
          <p:cNvCxnSpPr>
            <a:stCxn id="24" idx="4"/>
            <a:endCxn id="25" idx="0"/>
          </p:cNvCxnSpPr>
          <p:nvPr/>
        </p:nvCxnSpPr>
        <p:spPr bwMode="auto">
          <a:xfrm>
            <a:off x="6508174" y="2521523"/>
            <a:ext cx="15009" cy="40872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Straight Arrow Connector 28"/>
          <p:cNvCxnSpPr>
            <a:stCxn id="7" idx="6"/>
            <a:endCxn id="24" idx="2"/>
          </p:cNvCxnSpPr>
          <p:nvPr/>
        </p:nvCxnSpPr>
        <p:spPr bwMode="auto">
          <a:xfrm>
            <a:off x="5555674" y="2178623"/>
            <a:ext cx="609600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" name="TextBox 29"/>
          <p:cNvSpPr txBox="1"/>
          <p:nvPr/>
        </p:nvSpPr>
        <p:spPr>
          <a:xfrm>
            <a:off x="2117447" y="3017354"/>
            <a:ext cx="55602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0" dirty="0" err="1" smtClean="0">
                <a:latin typeface="Calibri"/>
                <a:cs typeface="Calibri"/>
              </a:rPr>
              <a:t>justin</a:t>
            </a:r>
            <a:r>
              <a:rPr lang="en-US" sz="2000" i="0" dirty="0" smtClean="0">
                <a:latin typeface="Calibri"/>
                <a:cs typeface="Calibri"/>
              </a:rPr>
              <a:t>               </a:t>
            </a:r>
            <a:r>
              <a:rPr lang="en-US" sz="2000" i="0" dirty="0" err="1" smtClean="0">
                <a:latin typeface="Calibri"/>
                <a:cs typeface="Calibri"/>
              </a:rPr>
              <a:t>bieber</a:t>
            </a:r>
            <a:r>
              <a:rPr lang="en-US" sz="2000" i="0" dirty="0" smtClean="0">
                <a:latin typeface="Calibri"/>
                <a:cs typeface="Calibri"/>
              </a:rPr>
              <a:t>             for            president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16734" y="183572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1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627584" y="183572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2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922984" y="183572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3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218384" y="1835723"/>
            <a:ext cx="60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i="0" dirty="0" smtClean="0">
                <a:latin typeface="BKM-cmmi12"/>
                <a:cs typeface="BKM-cmmi12"/>
              </a:rPr>
              <a:t>y</a:t>
            </a:r>
            <a:r>
              <a:rPr lang="en-US" sz="2000" i="0" baseline="-25000" dirty="0" smtClean="0">
                <a:latin typeface="BKM-cmcsc10"/>
                <a:cs typeface="BKM-cmcsc10"/>
              </a:rPr>
              <a:t>4</a:t>
            </a:r>
            <a:endParaRPr lang="en-US" sz="2400" i="0" baseline="-25000" dirty="0" smtClean="0">
              <a:latin typeface="BKM-cmcsc10"/>
              <a:cs typeface="BKM-cmcsc10"/>
            </a:endParaRPr>
          </a:p>
        </p:txBody>
      </p:sp>
      <p:sp>
        <p:nvSpPr>
          <p:cNvPr id="42" name="Content Placeholder 2"/>
          <p:cNvSpPr txBox="1">
            <a:spLocks/>
          </p:cNvSpPr>
          <p:nvPr/>
        </p:nvSpPr>
        <p:spPr bwMode="auto">
          <a:xfrm>
            <a:off x="1219200" y="3763823"/>
            <a:ext cx="7128164" cy="27016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320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800">
                <a:solidFill>
                  <a:schemeClr val="tx1"/>
                </a:solidFill>
                <a:latin typeface="Calibri"/>
                <a:cs typeface="Calibri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n"/>
              <a:defRPr sz="2400">
                <a:solidFill>
                  <a:schemeClr val="tx1"/>
                </a:solidFill>
                <a:latin typeface="Calibri"/>
                <a:cs typeface="Calibri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¨"/>
              <a:defRPr sz="2000">
                <a:solidFill>
                  <a:schemeClr val="tx1"/>
                </a:solidFill>
                <a:latin typeface="Calibri"/>
                <a:cs typeface="Calibri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Calibri"/>
                <a:cs typeface="Calibri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990000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400" i="0" dirty="0" smtClean="0"/>
              <a:t>algorithm:</a:t>
            </a:r>
          </a:p>
          <a:p>
            <a:pPr marL="0" indent="0">
              <a:buFont typeface="Wingdings" pitchFamily="2" charset="2"/>
              <a:buNone/>
            </a:pPr>
            <a:r>
              <a:rPr lang="en-US" sz="2400" i="0" dirty="0"/>
              <a:t> </a:t>
            </a:r>
            <a:r>
              <a:rPr lang="en-US" sz="2400" i="0" dirty="0" smtClean="0"/>
              <a:t> </a:t>
            </a:r>
            <a:r>
              <a:rPr lang="en-US" sz="2400" i="0" dirty="0" smtClean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sz="2400" i="0" dirty="0" smtClean="0"/>
              <a:t>  initialize each word as its own cluster</a:t>
            </a:r>
          </a:p>
          <a:p>
            <a:pPr marL="0" indent="0">
              <a:buNone/>
            </a:pPr>
            <a:r>
              <a:rPr lang="en-US" sz="2400" i="0" dirty="0"/>
              <a:t> </a:t>
            </a:r>
            <a:r>
              <a:rPr lang="en-US" sz="2400" i="0" dirty="0" smtClean="0"/>
              <a:t> </a:t>
            </a:r>
            <a:r>
              <a:rPr lang="en-US" sz="2400" i="0" dirty="0">
                <a:latin typeface="Wingdings"/>
                <a:ea typeface="Wingdings"/>
                <a:cs typeface="Wingdings"/>
                <a:sym typeface="Wingdings"/>
              </a:rPr>
              <a:t></a:t>
            </a:r>
            <a:r>
              <a:rPr lang="en-US" sz="2400" i="0" dirty="0" smtClean="0"/>
              <a:t>  greedily merge clusters to improve data likelihood</a:t>
            </a:r>
          </a:p>
          <a:p>
            <a:pPr marL="0" indent="0">
              <a:buNone/>
            </a:pPr>
            <a:endParaRPr lang="en-US" sz="1400" i="0" dirty="0" smtClean="0"/>
          </a:p>
          <a:p>
            <a:pPr marL="0" indent="0">
              <a:buNone/>
            </a:pPr>
            <a:r>
              <a:rPr lang="en-US" sz="2800" i="0" dirty="0" smtClean="0"/>
              <a:t>outputs </a:t>
            </a:r>
            <a:r>
              <a:rPr lang="en-US" sz="2800" b="1" i="0" dirty="0" smtClean="0"/>
              <a:t>hierarchical </a:t>
            </a:r>
            <a:r>
              <a:rPr lang="en-US" sz="2800" i="0" dirty="0" smtClean="0"/>
              <a:t>clustering</a:t>
            </a:r>
            <a:endParaRPr lang="en-US" sz="2800" i="0" dirty="0"/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1431636" y="175493"/>
            <a:ext cx="6280728" cy="861774"/>
          </a:xfrm>
          <a:prstGeom prst="rect">
            <a:avLst/>
          </a:prstGeom>
          <a:solidFill>
            <a:srgbClr val="0062AC"/>
          </a:solidFill>
          <a:ln w="57150" cmpd="sng">
            <a:solidFill>
              <a:srgbClr val="0062AC"/>
            </a:solidFill>
            <a:miter lim="800000"/>
            <a:headEnd/>
            <a:tailEnd/>
          </a:ln>
          <a:extLst/>
        </p:spPr>
        <p:txBody>
          <a:bodyPr wrap="square" lIns="274320" tIns="182880" rIns="274320" bIns="18288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3200" i="0" dirty="0" smtClean="0">
                <a:solidFill>
                  <a:srgbClr val="FFFFFF"/>
                </a:solidFill>
                <a:latin typeface="Calibri"/>
                <a:cs typeface="Calibri"/>
              </a:rPr>
              <a:t>Brown Clustering  </a:t>
            </a:r>
            <a:r>
              <a:rPr lang="en-US" sz="2400" i="0" dirty="0" smtClean="0">
                <a:solidFill>
                  <a:srgbClr val="FFFFFF"/>
                </a:solidFill>
                <a:latin typeface="Calibri"/>
                <a:cs typeface="Calibri"/>
              </a:rPr>
              <a:t>(Brown et al., 1992)</a:t>
            </a:r>
            <a:endParaRPr lang="en-US" sz="2800" i="0" dirty="0" smtClean="0">
              <a:solidFill>
                <a:srgbClr val="FFFFFF"/>
              </a:solidFill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9191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</a:t>
            </a:r>
            <a:r>
              <a:rPr lang="en-US" dirty="0" smtClean="0"/>
              <a:t>e induced 1000 Brown clusters from 56 million English tweets (1 billion words)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only words that appeared at least 40 times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2400" dirty="0" smtClean="0">
                <a:solidFill>
                  <a:srgbClr val="0062AC"/>
                </a:solidFill>
              </a:rPr>
              <a:t>(</a:t>
            </a:r>
            <a:r>
              <a:rPr lang="en-US" sz="2400" dirty="0" err="1" smtClean="0">
                <a:solidFill>
                  <a:srgbClr val="0062AC"/>
                </a:solidFill>
              </a:rPr>
              <a:t>Owoputi</a:t>
            </a:r>
            <a:r>
              <a:rPr lang="en-US" sz="2400" dirty="0" smtClean="0">
                <a:solidFill>
                  <a:srgbClr val="0062AC"/>
                </a:solidFill>
              </a:rPr>
              <a:t>, O’Connor, Dyer, Gimpel, Schneider, and Smith, 2013)</a:t>
            </a:r>
            <a:endParaRPr lang="en-US" dirty="0">
              <a:solidFill>
                <a:srgbClr val="0062AC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99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 Cluster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missed loved hated misread admired underestimated resisted adored disliked regretted </a:t>
            </a:r>
            <a:r>
              <a:rPr lang="en-US" dirty="0" err="1"/>
              <a:t>missd</a:t>
            </a:r>
            <a:r>
              <a:rPr lang="en-US" dirty="0"/>
              <a:t> fancied </a:t>
            </a:r>
            <a:r>
              <a:rPr lang="en-US" dirty="0" err="1"/>
              <a:t>luved</a:t>
            </a:r>
            <a:r>
              <a:rPr lang="en-US" dirty="0"/>
              <a:t> </a:t>
            </a:r>
            <a:r>
              <a:rPr lang="en-US" dirty="0" err="1"/>
              <a:t>prefered</a:t>
            </a:r>
            <a:r>
              <a:rPr lang="en-US" dirty="0"/>
              <a:t> </a:t>
            </a:r>
            <a:r>
              <a:rPr lang="en-US" dirty="0" err="1"/>
              <a:t>luvd</a:t>
            </a:r>
            <a:r>
              <a:rPr lang="en-US" dirty="0"/>
              <a:t> overdid mistyped </a:t>
            </a:r>
            <a:r>
              <a:rPr lang="en-US" dirty="0" err="1"/>
              <a:t>misd</a:t>
            </a:r>
            <a:r>
              <a:rPr lang="en-US" dirty="0"/>
              <a:t> </a:t>
            </a:r>
            <a:r>
              <a:rPr lang="en-US" dirty="0" err="1"/>
              <a:t>misssed</a:t>
            </a:r>
            <a:r>
              <a:rPr lang="en-US" dirty="0"/>
              <a:t> </a:t>
            </a:r>
            <a:r>
              <a:rPr lang="en-US" dirty="0" err="1"/>
              <a:t>looooved</a:t>
            </a:r>
            <a:r>
              <a:rPr lang="en-US" dirty="0"/>
              <a:t> misjudged </a:t>
            </a:r>
            <a:r>
              <a:rPr lang="en-US" dirty="0" err="1"/>
              <a:t>lovedd</a:t>
            </a:r>
            <a:r>
              <a:rPr lang="en-US" dirty="0"/>
              <a:t> </a:t>
            </a:r>
            <a:r>
              <a:rPr lang="en-US" dirty="0" err="1"/>
              <a:t>loooved</a:t>
            </a:r>
            <a:r>
              <a:rPr lang="en-US" dirty="0"/>
              <a:t> loathed </a:t>
            </a:r>
            <a:r>
              <a:rPr lang="en-US" dirty="0" err="1"/>
              <a:t>lurves</a:t>
            </a:r>
            <a:r>
              <a:rPr lang="en-US" dirty="0"/>
              <a:t> </a:t>
            </a:r>
            <a:r>
              <a:rPr lang="en-US" dirty="0" err="1" smtClean="0"/>
              <a:t>lovd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380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Example Cluster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missed loved hated misread admired underestimated resisted adored disliked regretted </a:t>
            </a:r>
            <a:r>
              <a:rPr lang="en-US" dirty="0" err="1"/>
              <a:t>missd</a:t>
            </a:r>
            <a:r>
              <a:rPr lang="en-US" dirty="0"/>
              <a:t> fancied </a:t>
            </a:r>
            <a:r>
              <a:rPr lang="en-US" dirty="0" err="1"/>
              <a:t>luved</a:t>
            </a:r>
            <a:r>
              <a:rPr lang="en-US" dirty="0"/>
              <a:t> </a:t>
            </a:r>
            <a:r>
              <a:rPr lang="en-US" dirty="0" err="1"/>
              <a:t>prefered</a:t>
            </a:r>
            <a:r>
              <a:rPr lang="en-US" dirty="0"/>
              <a:t> </a:t>
            </a:r>
            <a:r>
              <a:rPr lang="en-US" dirty="0" err="1"/>
              <a:t>luvd</a:t>
            </a:r>
            <a:r>
              <a:rPr lang="en-US" dirty="0"/>
              <a:t> overdid mistyped </a:t>
            </a:r>
            <a:r>
              <a:rPr lang="en-US" dirty="0" err="1"/>
              <a:t>misd</a:t>
            </a:r>
            <a:r>
              <a:rPr lang="en-US" dirty="0"/>
              <a:t> </a:t>
            </a:r>
            <a:r>
              <a:rPr lang="en-US" dirty="0" err="1"/>
              <a:t>misssed</a:t>
            </a:r>
            <a:r>
              <a:rPr lang="en-US" dirty="0"/>
              <a:t> </a:t>
            </a:r>
            <a:r>
              <a:rPr lang="en-US" dirty="0" err="1"/>
              <a:t>looooved</a:t>
            </a:r>
            <a:r>
              <a:rPr lang="en-US" dirty="0"/>
              <a:t> misjudged </a:t>
            </a:r>
            <a:r>
              <a:rPr lang="en-US" dirty="0" err="1"/>
              <a:t>lovedd</a:t>
            </a:r>
            <a:r>
              <a:rPr lang="en-US" dirty="0"/>
              <a:t> </a:t>
            </a:r>
            <a:r>
              <a:rPr lang="en-US" dirty="0" err="1"/>
              <a:t>loooved</a:t>
            </a:r>
            <a:r>
              <a:rPr lang="en-US" dirty="0"/>
              <a:t> loathed </a:t>
            </a:r>
            <a:r>
              <a:rPr lang="en-US" dirty="0" err="1"/>
              <a:t>lurves</a:t>
            </a:r>
            <a:r>
              <a:rPr lang="en-US" dirty="0"/>
              <a:t> </a:t>
            </a:r>
            <a:r>
              <a:rPr lang="en-US" dirty="0" err="1" smtClean="0"/>
              <a:t>lovd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066637" y="1995974"/>
            <a:ext cx="1212274" cy="762000"/>
          </a:xfrm>
          <a:prstGeom prst="ellipse">
            <a:avLst/>
          </a:prstGeom>
          <a:ln w="57150" cmpd="sng">
            <a:solidFill>
              <a:srgbClr val="288CD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" name="Straight Arrow Connector 5"/>
          <p:cNvCxnSpPr/>
          <p:nvPr/>
        </p:nvCxnSpPr>
        <p:spPr bwMode="auto">
          <a:xfrm flipH="1" flipV="1">
            <a:off x="2976863" y="2700248"/>
            <a:ext cx="971682" cy="1496294"/>
          </a:xfrm>
          <a:prstGeom prst="straightConnector1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Title 1"/>
          <p:cNvSpPr txBox="1">
            <a:spLocks/>
          </p:cNvSpPr>
          <p:nvPr/>
        </p:nvSpPr>
        <p:spPr bwMode="auto">
          <a:xfrm>
            <a:off x="3498276" y="4138804"/>
            <a:ext cx="1928091" cy="900559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Gill Sans MT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r>
              <a:rPr lang="en-US" sz="2800" i="0" dirty="0" smtClean="0">
                <a:solidFill>
                  <a:srgbClr val="288CD2"/>
                </a:solidFill>
                <a:latin typeface="Calibri"/>
                <a:cs typeface="Calibri"/>
              </a:rPr>
              <a:t>spelling</a:t>
            </a:r>
          </a:p>
          <a:p>
            <a:r>
              <a:rPr lang="en-US" sz="2800" i="0" dirty="0" smtClean="0">
                <a:solidFill>
                  <a:srgbClr val="288CD2"/>
                </a:solidFill>
                <a:latin typeface="Calibri"/>
                <a:cs typeface="Calibri"/>
              </a:rPr>
              <a:t>variation</a:t>
            </a:r>
            <a:endParaRPr lang="en-US" sz="2400" i="0" dirty="0">
              <a:solidFill>
                <a:srgbClr val="288CD2"/>
              </a:solidFill>
              <a:latin typeface="Calibri"/>
              <a:cs typeface="Calibri"/>
            </a:endParaRPr>
          </a:p>
        </p:txBody>
      </p:sp>
      <p:sp>
        <p:nvSpPr>
          <p:cNvPr id="9" name="Oval 8"/>
          <p:cNvSpPr/>
          <p:nvPr/>
        </p:nvSpPr>
        <p:spPr>
          <a:xfrm>
            <a:off x="4354946" y="2460102"/>
            <a:ext cx="1452418" cy="762000"/>
          </a:xfrm>
          <a:prstGeom prst="ellipse">
            <a:avLst/>
          </a:prstGeom>
          <a:ln w="57150" cmpd="sng">
            <a:solidFill>
              <a:srgbClr val="288CD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4675909" y="3222103"/>
            <a:ext cx="312172" cy="870530"/>
          </a:xfrm>
          <a:prstGeom prst="straightConnector1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Oval 11"/>
          <p:cNvSpPr/>
          <p:nvPr/>
        </p:nvSpPr>
        <p:spPr>
          <a:xfrm>
            <a:off x="3398982" y="2508590"/>
            <a:ext cx="988291" cy="671950"/>
          </a:xfrm>
          <a:prstGeom prst="ellipse">
            <a:avLst/>
          </a:prstGeom>
          <a:ln w="57150" cmpd="sng">
            <a:solidFill>
              <a:srgbClr val="288CD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13" name="Straight Arrow Connector 12"/>
          <p:cNvCxnSpPr>
            <a:endCxn id="12" idx="4"/>
          </p:cNvCxnSpPr>
          <p:nvPr/>
        </p:nvCxnSpPr>
        <p:spPr bwMode="auto">
          <a:xfrm flipH="1" flipV="1">
            <a:off x="3893128" y="3180540"/>
            <a:ext cx="427181" cy="937493"/>
          </a:xfrm>
          <a:prstGeom prst="straightConnector1">
            <a:avLst/>
          </a:prstGeom>
          <a:solidFill>
            <a:schemeClr val="accent1"/>
          </a:solidFill>
          <a:ln w="571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56165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“really”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really rly </a:t>
            </a:r>
            <a:r>
              <a:rPr lang="en-US" dirty="0" err="1" smtClean="0"/>
              <a:t>realy</a:t>
            </a:r>
            <a:r>
              <a:rPr lang="en-US" dirty="0" smtClean="0"/>
              <a:t> genuinely </a:t>
            </a:r>
            <a:r>
              <a:rPr lang="en-US" dirty="0" err="1" smtClean="0"/>
              <a:t>rlly</a:t>
            </a:r>
            <a:r>
              <a:rPr lang="en-US" dirty="0" smtClean="0"/>
              <a:t> </a:t>
            </a:r>
            <a:r>
              <a:rPr lang="en-US" dirty="0" err="1" smtClean="0"/>
              <a:t>reallly</a:t>
            </a:r>
            <a:r>
              <a:rPr lang="en-US" dirty="0" smtClean="0"/>
              <a:t> </a:t>
            </a:r>
            <a:r>
              <a:rPr lang="en-US" dirty="0" err="1" smtClean="0"/>
              <a:t>realllly</a:t>
            </a:r>
            <a:r>
              <a:rPr lang="en-US" dirty="0" smtClean="0"/>
              <a:t> </a:t>
            </a:r>
            <a:r>
              <a:rPr lang="en-US" dirty="0" err="1" smtClean="0"/>
              <a:t>reallyy</a:t>
            </a:r>
            <a:r>
              <a:rPr lang="en-US" dirty="0" smtClean="0"/>
              <a:t> </a:t>
            </a:r>
            <a:r>
              <a:rPr lang="en-US" dirty="0" err="1" smtClean="0"/>
              <a:t>rele</a:t>
            </a:r>
            <a:r>
              <a:rPr lang="en-US" dirty="0" smtClean="0"/>
              <a:t> </a:t>
            </a:r>
            <a:r>
              <a:rPr lang="en-US" dirty="0" err="1" smtClean="0"/>
              <a:t>realli</a:t>
            </a:r>
            <a:r>
              <a:rPr lang="en-US" dirty="0" smtClean="0"/>
              <a:t> </a:t>
            </a:r>
            <a:r>
              <a:rPr lang="en-US" dirty="0" err="1" smtClean="0"/>
              <a:t>relly</a:t>
            </a:r>
            <a:r>
              <a:rPr lang="en-US" dirty="0" smtClean="0"/>
              <a:t> </a:t>
            </a:r>
            <a:r>
              <a:rPr lang="en-US" dirty="0" err="1" smtClean="0"/>
              <a:t>reallllly</a:t>
            </a:r>
            <a:r>
              <a:rPr lang="en-US" dirty="0" smtClean="0"/>
              <a:t> </a:t>
            </a:r>
            <a:r>
              <a:rPr lang="en-US" dirty="0" err="1" smtClean="0"/>
              <a:t>reli</a:t>
            </a:r>
            <a:r>
              <a:rPr lang="en-US" dirty="0" smtClean="0"/>
              <a:t> </a:t>
            </a:r>
            <a:r>
              <a:rPr lang="en-US" dirty="0" err="1" smtClean="0"/>
              <a:t>reali</a:t>
            </a:r>
            <a:r>
              <a:rPr lang="en-US" dirty="0" smtClean="0"/>
              <a:t> </a:t>
            </a:r>
            <a:r>
              <a:rPr lang="en-US" dirty="0" err="1" smtClean="0"/>
              <a:t>sholl</a:t>
            </a:r>
            <a:r>
              <a:rPr lang="en-US" dirty="0" smtClean="0"/>
              <a:t> </a:t>
            </a:r>
            <a:r>
              <a:rPr lang="en-US" dirty="0" err="1" smtClean="0"/>
              <a:t>rily</a:t>
            </a:r>
            <a:r>
              <a:rPr lang="en-US" dirty="0"/>
              <a:t> </a:t>
            </a:r>
            <a:r>
              <a:rPr lang="en-US" dirty="0" err="1" smtClean="0"/>
              <a:t>reallyyy</a:t>
            </a:r>
            <a:r>
              <a:rPr lang="en-US" dirty="0" smtClean="0"/>
              <a:t> </a:t>
            </a:r>
            <a:r>
              <a:rPr lang="en-US" dirty="0" err="1" smtClean="0"/>
              <a:t>reeeeally</a:t>
            </a:r>
            <a:r>
              <a:rPr lang="en-US" dirty="0" smtClean="0"/>
              <a:t> </a:t>
            </a:r>
            <a:r>
              <a:rPr lang="en-US" dirty="0" err="1" smtClean="0"/>
              <a:t>realllllly</a:t>
            </a:r>
            <a:r>
              <a:rPr lang="en-US" dirty="0" smtClean="0"/>
              <a:t> </a:t>
            </a:r>
            <a:r>
              <a:rPr lang="en-US" dirty="0" err="1" smtClean="0"/>
              <a:t>reaally</a:t>
            </a:r>
            <a:r>
              <a:rPr lang="en-US" dirty="0" smtClean="0"/>
              <a:t> </a:t>
            </a:r>
            <a:r>
              <a:rPr lang="en-US" dirty="0" err="1" smtClean="0"/>
              <a:t>reeeally</a:t>
            </a:r>
            <a:r>
              <a:rPr lang="en-US" dirty="0" smtClean="0"/>
              <a:t> </a:t>
            </a:r>
            <a:r>
              <a:rPr lang="en-US" dirty="0" err="1" smtClean="0"/>
              <a:t>rili</a:t>
            </a:r>
            <a:r>
              <a:rPr lang="en-US" dirty="0"/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reaaally</a:t>
            </a:r>
            <a:r>
              <a:rPr lang="en-US" dirty="0" smtClean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reaaaally</a:t>
            </a:r>
            <a:r>
              <a:rPr lang="en-US" dirty="0" smtClean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reallyyyy</a:t>
            </a:r>
            <a:r>
              <a:rPr lang="en-US" dirty="0" smtClean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rilly</a:t>
            </a:r>
            <a:r>
              <a:rPr lang="en-US" dirty="0" smtClean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reallllllly</a:t>
            </a:r>
            <a:r>
              <a:rPr lang="en-US" dirty="0" smtClean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reeeeeally</a:t>
            </a:r>
            <a:r>
              <a:rPr lang="en-US" dirty="0" smtClean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reeally</a:t>
            </a:r>
            <a:r>
              <a:rPr lang="en-US" dirty="0" smtClean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shol</a:t>
            </a:r>
            <a:r>
              <a:rPr lang="en-US" dirty="0" smtClean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realllyyy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reely</a:t>
            </a:r>
            <a:r>
              <a:rPr lang="en-US" dirty="0" smtClean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relle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reaaaaally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shole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smtClean="0">
                <a:solidFill>
                  <a:srgbClr val="FFFFFF"/>
                </a:solidFill>
              </a:rPr>
              <a:t>really2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reallyyyyy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smtClean="0">
                <a:solidFill>
                  <a:srgbClr val="FFFFFF"/>
                </a:solidFill>
              </a:rPr>
              <a:t>_really_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realllllllly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reaaly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realllyy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reallii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reallt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genuinly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relli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realllyyyy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reeeeeeally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weally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reaaallly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reallllyyy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reallllllllly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reaallly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 smtClean="0">
                <a:solidFill>
                  <a:srgbClr val="FFFFFF"/>
                </a:solidFill>
              </a:rPr>
              <a:t>realyy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smtClean="0">
                <a:solidFill>
                  <a:srgbClr val="FFFFFF"/>
                </a:solidFill>
              </a:rPr>
              <a:t>/</a:t>
            </a:r>
            <a:r>
              <a:rPr lang="en-US" dirty="0">
                <a:solidFill>
                  <a:srgbClr val="FFFFFF"/>
                </a:solidFill>
              </a:rPr>
              <a:t>really</a:t>
            </a:r>
            <a:r>
              <a:rPr lang="en-US" dirty="0" smtClean="0">
                <a:solidFill>
                  <a:srgbClr val="FFFFFF"/>
                </a:solidFill>
              </a:rPr>
              <a:t>/ </a:t>
            </a:r>
            <a:r>
              <a:rPr lang="en-US" dirty="0" err="1" smtClean="0">
                <a:solidFill>
                  <a:srgbClr val="FFFFFF"/>
                </a:solidFill>
              </a:rPr>
              <a:t>reaaaaaally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reallu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reaaaallly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reeaally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rreally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reallyreally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eally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reeeaaally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reeeaaally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reaallyy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reallyyyyyy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smtClean="0">
                <a:solidFill>
                  <a:srgbClr val="FFFFFF"/>
                </a:solidFill>
              </a:rPr>
              <a:t>–really- </a:t>
            </a:r>
            <a:r>
              <a:rPr lang="en-US" sz="2400" dirty="0" err="1" smtClean="0">
                <a:solidFill>
                  <a:srgbClr val="FFFFFF"/>
                </a:solidFill>
              </a:rPr>
              <a:t>reallyreallyreally</a:t>
            </a:r>
            <a:r>
              <a:rPr lang="en-US" sz="2400" dirty="0" smtClean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rilli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reallllyyyy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relaly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reallllyy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smtClean="0">
                <a:solidFill>
                  <a:srgbClr val="FFFFFF"/>
                </a:solidFill>
              </a:rPr>
              <a:t>really</a:t>
            </a:r>
            <a:r>
              <a:rPr lang="en-US" sz="2400" dirty="0">
                <a:solidFill>
                  <a:srgbClr val="FFFFFF"/>
                </a:solidFill>
              </a:rPr>
              <a:t>-</a:t>
            </a:r>
            <a:r>
              <a:rPr lang="en-US" sz="2400" dirty="0" smtClean="0">
                <a:solidFill>
                  <a:srgbClr val="FFFFFF"/>
                </a:solidFill>
              </a:rPr>
              <a:t>really r3ally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reeli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reallie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realllllyyy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rli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realllllllllly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reaaaly</a:t>
            </a:r>
            <a:r>
              <a:rPr lang="en-US" sz="2400" dirty="0">
                <a:solidFill>
                  <a:srgbClr val="FFFFFF"/>
                </a:solidFill>
              </a:rPr>
              <a:t> </a:t>
            </a:r>
            <a:r>
              <a:rPr lang="en-US" sz="2400" dirty="0" err="1" smtClean="0">
                <a:solidFill>
                  <a:srgbClr val="FFFFFF"/>
                </a:solidFill>
              </a:rPr>
              <a:t>reeeeeeeally</a:t>
            </a:r>
            <a:endParaRPr lang="en-US" sz="2400" dirty="0">
              <a:solidFill>
                <a:srgbClr val="FFFFFF"/>
              </a:solidFill>
            </a:endParaRP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27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“really”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really rly </a:t>
            </a:r>
            <a:r>
              <a:rPr lang="en-US" dirty="0" err="1" smtClean="0"/>
              <a:t>realy</a:t>
            </a:r>
            <a:r>
              <a:rPr lang="en-US" dirty="0" smtClean="0"/>
              <a:t> genuinely </a:t>
            </a:r>
            <a:r>
              <a:rPr lang="en-US" dirty="0" err="1" smtClean="0"/>
              <a:t>rlly</a:t>
            </a:r>
            <a:r>
              <a:rPr lang="en-US" dirty="0" smtClean="0"/>
              <a:t> </a:t>
            </a:r>
            <a:r>
              <a:rPr lang="en-US" dirty="0" err="1" smtClean="0"/>
              <a:t>reallly</a:t>
            </a:r>
            <a:r>
              <a:rPr lang="en-US" dirty="0" smtClean="0"/>
              <a:t> </a:t>
            </a:r>
            <a:r>
              <a:rPr lang="en-US" dirty="0" err="1" smtClean="0"/>
              <a:t>realllly</a:t>
            </a:r>
            <a:r>
              <a:rPr lang="en-US" dirty="0" smtClean="0"/>
              <a:t> </a:t>
            </a:r>
            <a:r>
              <a:rPr lang="en-US" dirty="0" err="1" smtClean="0"/>
              <a:t>reallyy</a:t>
            </a:r>
            <a:r>
              <a:rPr lang="en-US" dirty="0" smtClean="0"/>
              <a:t> </a:t>
            </a:r>
            <a:r>
              <a:rPr lang="en-US" dirty="0" err="1" smtClean="0"/>
              <a:t>rele</a:t>
            </a:r>
            <a:r>
              <a:rPr lang="en-US" dirty="0" smtClean="0"/>
              <a:t> </a:t>
            </a:r>
            <a:r>
              <a:rPr lang="en-US" dirty="0" err="1" smtClean="0"/>
              <a:t>realli</a:t>
            </a:r>
            <a:r>
              <a:rPr lang="en-US" dirty="0" smtClean="0"/>
              <a:t> </a:t>
            </a:r>
            <a:r>
              <a:rPr lang="en-US" dirty="0" err="1" smtClean="0"/>
              <a:t>relly</a:t>
            </a:r>
            <a:r>
              <a:rPr lang="en-US" dirty="0" smtClean="0"/>
              <a:t> </a:t>
            </a:r>
            <a:r>
              <a:rPr lang="en-US" dirty="0" err="1" smtClean="0"/>
              <a:t>reallllly</a:t>
            </a:r>
            <a:r>
              <a:rPr lang="en-US" dirty="0" smtClean="0"/>
              <a:t> </a:t>
            </a:r>
            <a:r>
              <a:rPr lang="en-US" dirty="0" err="1" smtClean="0"/>
              <a:t>reli</a:t>
            </a:r>
            <a:r>
              <a:rPr lang="en-US" dirty="0" smtClean="0"/>
              <a:t> </a:t>
            </a:r>
            <a:r>
              <a:rPr lang="en-US" dirty="0" err="1" smtClean="0"/>
              <a:t>reali</a:t>
            </a:r>
            <a:r>
              <a:rPr lang="en-US" dirty="0" smtClean="0"/>
              <a:t> </a:t>
            </a:r>
            <a:r>
              <a:rPr lang="en-US" dirty="0" err="1" smtClean="0"/>
              <a:t>sholl</a:t>
            </a:r>
            <a:r>
              <a:rPr lang="en-US" dirty="0" smtClean="0"/>
              <a:t> </a:t>
            </a:r>
            <a:r>
              <a:rPr lang="en-US" dirty="0" err="1" smtClean="0"/>
              <a:t>rily</a:t>
            </a:r>
            <a:r>
              <a:rPr lang="en-US" dirty="0"/>
              <a:t> </a:t>
            </a:r>
            <a:r>
              <a:rPr lang="en-US" dirty="0" err="1" smtClean="0"/>
              <a:t>reallyyy</a:t>
            </a:r>
            <a:r>
              <a:rPr lang="en-US" dirty="0" smtClean="0"/>
              <a:t> </a:t>
            </a:r>
            <a:r>
              <a:rPr lang="en-US" dirty="0" err="1" smtClean="0"/>
              <a:t>reeeeally</a:t>
            </a:r>
            <a:r>
              <a:rPr lang="en-US" dirty="0" smtClean="0"/>
              <a:t> </a:t>
            </a:r>
            <a:r>
              <a:rPr lang="en-US" dirty="0" err="1" smtClean="0"/>
              <a:t>realllllly</a:t>
            </a:r>
            <a:r>
              <a:rPr lang="en-US" dirty="0" smtClean="0"/>
              <a:t> </a:t>
            </a:r>
            <a:r>
              <a:rPr lang="en-US" dirty="0" err="1" smtClean="0"/>
              <a:t>reaally</a:t>
            </a:r>
            <a:r>
              <a:rPr lang="en-US" dirty="0" smtClean="0"/>
              <a:t> </a:t>
            </a:r>
            <a:r>
              <a:rPr lang="en-US" dirty="0" err="1" smtClean="0"/>
              <a:t>reeeally</a:t>
            </a:r>
            <a:r>
              <a:rPr lang="en-US" dirty="0" smtClean="0"/>
              <a:t> </a:t>
            </a:r>
            <a:r>
              <a:rPr lang="en-US" dirty="0" err="1" smtClean="0"/>
              <a:t>rili</a:t>
            </a:r>
            <a:r>
              <a:rPr lang="en-US" dirty="0"/>
              <a:t> </a:t>
            </a:r>
            <a:r>
              <a:rPr lang="en-US" dirty="0" err="1" smtClean="0"/>
              <a:t>reaaally</a:t>
            </a:r>
            <a:r>
              <a:rPr lang="en-US" dirty="0" smtClean="0"/>
              <a:t> </a:t>
            </a:r>
            <a:r>
              <a:rPr lang="en-US" dirty="0" err="1" smtClean="0"/>
              <a:t>reaaaally</a:t>
            </a:r>
            <a:r>
              <a:rPr lang="en-US" dirty="0" smtClean="0"/>
              <a:t> </a:t>
            </a:r>
            <a:r>
              <a:rPr lang="en-US" dirty="0" err="1" smtClean="0"/>
              <a:t>reallyyyy</a:t>
            </a:r>
            <a:r>
              <a:rPr lang="en-US" dirty="0" smtClean="0"/>
              <a:t> </a:t>
            </a:r>
            <a:r>
              <a:rPr lang="en-US" dirty="0" err="1" smtClean="0"/>
              <a:t>rilly</a:t>
            </a:r>
            <a:r>
              <a:rPr lang="en-US" dirty="0" smtClean="0"/>
              <a:t> </a:t>
            </a:r>
            <a:r>
              <a:rPr lang="en-US" dirty="0" err="1" smtClean="0"/>
              <a:t>reallllllly</a:t>
            </a:r>
            <a:r>
              <a:rPr lang="en-US" dirty="0" smtClean="0"/>
              <a:t> </a:t>
            </a:r>
            <a:r>
              <a:rPr lang="en-US" dirty="0" err="1" smtClean="0"/>
              <a:t>reeeeeally</a:t>
            </a:r>
            <a:r>
              <a:rPr lang="en-US" dirty="0" smtClean="0"/>
              <a:t> </a:t>
            </a:r>
            <a:r>
              <a:rPr lang="en-US" dirty="0" err="1" smtClean="0"/>
              <a:t>reeally</a:t>
            </a:r>
            <a:r>
              <a:rPr lang="en-US" dirty="0" smtClean="0"/>
              <a:t> </a:t>
            </a:r>
            <a:r>
              <a:rPr lang="en-US" dirty="0" err="1" smtClean="0"/>
              <a:t>shol</a:t>
            </a:r>
            <a:r>
              <a:rPr lang="en-US" dirty="0" smtClean="0"/>
              <a:t> </a:t>
            </a:r>
            <a:r>
              <a:rPr lang="en-US" dirty="0" err="1" smtClean="0"/>
              <a:t>realllyyy</a:t>
            </a:r>
            <a:r>
              <a:rPr lang="en-US" dirty="0"/>
              <a:t> </a:t>
            </a:r>
            <a:r>
              <a:rPr lang="en-US" dirty="0" err="1" smtClean="0"/>
              <a:t>reely</a:t>
            </a:r>
            <a:r>
              <a:rPr lang="en-US" dirty="0" smtClean="0"/>
              <a:t> </a:t>
            </a:r>
            <a:r>
              <a:rPr lang="en-US" dirty="0" err="1" smtClean="0"/>
              <a:t>relle</a:t>
            </a:r>
            <a:r>
              <a:rPr lang="en-US" dirty="0"/>
              <a:t> </a:t>
            </a:r>
            <a:r>
              <a:rPr lang="en-US" dirty="0" err="1" smtClean="0"/>
              <a:t>reaaaaally</a:t>
            </a:r>
            <a:r>
              <a:rPr lang="en-US" dirty="0"/>
              <a:t> </a:t>
            </a:r>
            <a:r>
              <a:rPr lang="en-US" dirty="0" err="1" smtClean="0"/>
              <a:t>shole</a:t>
            </a:r>
            <a:r>
              <a:rPr lang="en-US" dirty="0"/>
              <a:t> </a:t>
            </a:r>
            <a:r>
              <a:rPr lang="en-US" dirty="0" smtClean="0"/>
              <a:t>really2</a:t>
            </a:r>
            <a:r>
              <a:rPr lang="en-US" dirty="0"/>
              <a:t> </a:t>
            </a:r>
            <a:r>
              <a:rPr lang="en-US" dirty="0" err="1" smtClean="0"/>
              <a:t>reallyyyyy</a:t>
            </a:r>
            <a:r>
              <a:rPr lang="en-US" dirty="0"/>
              <a:t> </a:t>
            </a:r>
            <a:r>
              <a:rPr lang="en-US" dirty="0" smtClean="0"/>
              <a:t>_really_</a:t>
            </a:r>
            <a:r>
              <a:rPr lang="en-US" dirty="0"/>
              <a:t> </a:t>
            </a:r>
            <a:r>
              <a:rPr lang="en-US" dirty="0" err="1" smtClean="0"/>
              <a:t>realllllllly</a:t>
            </a:r>
            <a:r>
              <a:rPr lang="en-US" dirty="0"/>
              <a:t> </a:t>
            </a:r>
            <a:r>
              <a:rPr lang="en-US" dirty="0" err="1" smtClean="0"/>
              <a:t>reaaly</a:t>
            </a:r>
            <a:r>
              <a:rPr lang="en-US" dirty="0"/>
              <a:t> </a:t>
            </a:r>
            <a:r>
              <a:rPr lang="en-US" dirty="0" err="1" smtClean="0"/>
              <a:t>realllyy</a:t>
            </a:r>
            <a:r>
              <a:rPr lang="en-US" dirty="0"/>
              <a:t> </a:t>
            </a:r>
            <a:r>
              <a:rPr lang="en-US" dirty="0" err="1" smtClean="0"/>
              <a:t>reallii</a:t>
            </a:r>
            <a:r>
              <a:rPr lang="en-US" dirty="0"/>
              <a:t> </a:t>
            </a:r>
            <a:r>
              <a:rPr lang="en-US" dirty="0" err="1" smtClean="0"/>
              <a:t>reallt</a:t>
            </a:r>
            <a:r>
              <a:rPr lang="en-US" dirty="0"/>
              <a:t> </a:t>
            </a:r>
            <a:r>
              <a:rPr lang="en-US" dirty="0" err="1" smtClean="0"/>
              <a:t>genuinly</a:t>
            </a:r>
            <a:r>
              <a:rPr lang="en-US" dirty="0"/>
              <a:t> </a:t>
            </a:r>
            <a:r>
              <a:rPr lang="en-US" dirty="0" err="1" smtClean="0"/>
              <a:t>relli</a:t>
            </a:r>
            <a:r>
              <a:rPr lang="en-US" dirty="0"/>
              <a:t> </a:t>
            </a:r>
            <a:r>
              <a:rPr lang="en-US" dirty="0" err="1" smtClean="0"/>
              <a:t>realllyyyy</a:t>
            </a:r>
            <a:r>
              <a:rPr lang="en-US" dirty="0"/>
              <a:t> </a:t>
            </a:r>
            <a:r>
              <a:rPr lang="en-US" dirty="0" err="1" smtClean="0"/>
              <a:t>reeeeeeally</a:t>
            </a:r>
            <a:r>
              <a:rPr lang="en-US" dirty="0"/>
              <a:t> </a:t>
            </a:r>
            <a:r>
              <a:rPr lang="en-US" dirty="0" err="1" smtClean="0"/>
              <a:t>weally</a:t>
            </a:r>
            <a:r>
              <a:rPr lang="en-US" dirty="0"/>
              <a:t> </a:t>
            </a:r>
            <a:r>
              <a:rPr lang="en-US" dirty="0" err="1" smtClean="0"/>
              <a:t>reaaallly</a:t>
            </a:r>
            <a:r>
              <a:rPr lang="en-US" dirty="0"/>
              <a:t> </a:t>
            </a:r>
            <a:r>
              <a:rPr lang="en-US" dirty="0" err="1" smtClean="0"/>
              <a:t>reallllyyy</a:t>
            </a:r>
            <a:r>
              <a:rPr lang="en-US" dirty="0"/>
              <a:t> </a:t>
            </a:r>
            <a:r>
              <a:rPr lang="en-US" dirty="0" err="1" smtClean="0"/>
              <a:t>reallllllllly</a:t>
            </a:r>
            <a:r>
              <a:rPr lang="en-US" dirty="0"/>
              <a:t> </a:t>
            </a:r>
            <a:r>
              <a:rPr lang="en-US" dirty="0" err="1" smtClean="0"/>
              <a:t>reaallly</a:t>
            </a:r>
            <a:r>
              <a:rPr lang="en-US" dirty="0"/>
              <a:t> </a:t>
            </a:r>
            <a:r>
              <a:rPr lang="en-US" dirty="0" err="1" smtClean="0"/>
              <a:t>realyy</a:t>
            </a:r>
            <a:r>
              <a:rPr lang="en-US" dirty="0"/>
              <a:t> </a:t>
            </a:r>
            <a:r>
              <a:rPr lang="en-US" dirty="0" smtClean="0"/>
              <a:t>/</a:t>
            </a:r>
            <a:r>
              <a:rPr lang="en-US" dirty="0"/>
              <a:t>really</a:t>
            </a:r>
            <a:r>
              <a:rPr lang="en-US" dirty="0" smtClean="0"/>
              <a:t>/ </a:t>
            </a:r>
            <a:r>
              <a:rPr lang="en-US" dirty="0" err="1" smtClean="0"/>
              <a:t>reaaaaaally</a:t>
            </a:r>
            <a:r>
              <a:rPr lang="en-US" dirty="0"/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reallu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reaaaallly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reeaally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rreally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reallyreally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eally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reeeaaally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reeeaaally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reaallyy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reallyyyyyy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–really- </a:t>
            </a:r>
            <a:r>
              <a:rPr lang="en-US" sz="2400" dirty="0" err="1" smtClean="0">
                <a:solidFill>
                  <a:schemeClr val="bg1"/>
                </a:solidFill>
              </a:rPr>
              <a:t>reallyreallyreally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rilli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reallllyyyy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relaly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reallllyy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smtClean="0">
                <a:solidFill>
                  <a:schemeClr val="bg1"/>
                </a:solidFill>
              </a:rPr>
              <a:t>really</a:t>
            </a:r>
            <a:r>
              <a:rPr lang="en-US" sz="2400" dirty="0">
                <a:solidFill>
                  <a:schemeClr val="bg1"/>
                </a:solidFill>
              </a:rPr>
              <a:t>-</a:t>
            </a:r>
            <a:r>
              <a:rPr lang="en-US" sz="2400" dirty="0" smtClean="0">
                <a:solidFill>
                  <a:schemeClr val="bg1"/>
                </a:solidFill>
              </a:rPr>
              <a:t>really r3ally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reeli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reallie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realllllyyy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rli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realllllllllly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reaaaly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reeeeeeeally</a:t>
            </a: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855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“really”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715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really rly </a:t>
            </a:r>
            <a:r>
              <a:rPr lang="en-US" dirty="0" err="1" smtClean="0"/>
              <a:t>realy</a:t>
            </a:r>
            <a:r>
              <a:rPr lang="en-US" dirty="0" smtClean="0"/>
              <a:t> genuinely </a:t>
            </a:r>
            <a:r>
              <a:rPr lang="en-US" dirty="0" err="1" smtClean="0"/>
              <a:t>rlly</a:t>
            </a:r>
            <a:r>
              <a:rPr lang="en-US" dirty="0" smtClean="0"/>
              <a:t> </a:t>
            </a:r>
            <a:r>
              <a:rPr lang="en-US" dirty="0" err="1" smtClean="0"/>
              <a:t>reallly</a:t>
            </a:r>
            <a:r>
              <a:rPr lang="en-US" dirty="0" smtClean="0"/>
              <a:t> </a:t>
            </a:r>
            <a:r>
              <a:rPr lang="en-US" dirty="0" err="1" smtClean="0"/>
              <a:t>realllly</a:t>
            </a:r>
            <a:r>
              <a:rPr lang="en-US" dirty="0" smtClean="0"/>
              <a:t> </a:t>
            </a:r>
            <a:r>
              <a:rPr lang="en-US" dirty="0" err="1" smtClean="0"/>
              <a:t>reallyy</a:t>
            </a:r>
            <a:r>
              <a:rPr lang="en-US" dirty="0" smtClean="0"/>
              <a:t> </a:t>
            </a:r>
            <a:r>
              <a:rPr lang="en-US" dirty="0" err="1" smtClean="0"/>
              <a:t>rele</a:t>
            </a:r>
            <a:r>
              <a:rPr lang="en-US" dirty="0" smtClean="0"/>
              <a:t> </a:t>
            </a:r>
            <a:r>
              <a:rPr lang="en-US" dirty="0" err="1" smtClean="0"/>
              <a:t>realli</a:t>
            </a:r>
            <a:r>
              <a:rPr lang="en-US" dirty="0" smtClean="0"/>
              <a:t> </a:t>
            </a:r>
            <a:r>
              <a:rPr lang="en-US" dirty="0" err="1" smtClean="0"/>
              <a:t>relly</a:t>
            </a:r>
            <a:r>
              <a:rPr lang="en-US" dirty="0" smtClean="0"/>
              <a:t> </a:t>
            </a:r>
            <a:r>
              <a:rPr lang="en-US" dirty="0" err="1" smtClean="0"/>
              <a:t>reallllly</a:t>
            </a:r>
            <a:r>
              <a:rPr lang="en-US" dirty="0" smtClean="0"/>
              <a:t> </a:t>
            </a:r>
            <a:r>
              <a:rPr lang="en-US" dirty="0" err="1" smtClean="0"/>
              <a:t>reli</a:t>
            </a:r>
            <a:r>
              <a:rPr lang="en-US" dirty="0" smtClean="0"/>
              <a:t> </a:t>
            </a:r>
            <a:r>
              <a:rPr lang="en-US" dirty="0" err="1" smtClean="0"/>
              <a:t>reali</a:t>
            </a:r>
            <a:r>
              <a:rPr lang="en-US" dirty="0" smtClean="0"/>
              <a:t> </a:t>
            </a:r>
            <a:r>
              <a:rPr lang="en-US" dirty="0" err="1" smtClean="0"/>
              <a:t>sholl</a:t>
            </a:r>
            <a:r>
              <a:rPr lang="en-US" dirty="0" smtClean="0"/>
              <a:t> </a:t>
            </a:r>
            <a:r>
              <a:rPr lang="en-US" dirty="0" err="1" smtClean="0"/>
              <a:t>rily</a:t>
            </a:r>
            <a:r>
              <a:rPr lang="en-US" dirty="0"/>
              <a:t> </a:t>
            </a:r>
            <a:r>
              <a:rPr lang="en-US" dirty="0" err="1" smtClean="0"/>
              <a:t>reallyyy</a:t>
            </a:r>
            <a:r>
              <a:rPr lang="en-US" dirty="0" smtClean="0"/>
              <a:t> </a:t>
            </a:r>
            <a:r>
              <a:rPr lang="en-US" dirty="0" err="1" smtClean="0"/>
              <a:t>reeeeally</a:t>
            </a:r>
            <a:r>
              <a:rPr lang="en-US" dirty="0" smtClean="0"/>
              <a:t> </a:t>
            </a:r>
            <a:r>
              <a:rPr lang="en-US" dirty="0" err="1" smtClean="0"/>
              <a:t>realllllly</a:t>
            </a:r>
            <a:r>
              <a:rPr lang="en-US" dirty="0" smtClean="0"/>
              <a:t> </a:t>
            </a:r>
            <a:r>
              <a:rPr lang="en-US" dirty="0" err="1" smtClean="0"/>
              <a:t>reaally</a:t>
            </a:r>
            <a:r>
              <a:rPr lang="en-US" dirty="0" smtClean="0"/>
              <a:t> </a:t>
            </a:r>
            <a:r>
              <a:rPr lang="en-US" dirty="0" err="1" smtClean="0"/>
              <a:t>reeeally</a:t>
            </a:r>
            <a:r>
              <a:rPr lang="en-US" dirty="0" smtClean="0"/>
              <a:t> </a:t>
            </a:r>
            <a:r>
              <a:rPr lang="en-US" dirty="0" err="1" smtClean="0"/>
              <a:t>rili</a:t>
            </a:r>
            <a:r>
              <a:rPr lang="en-US" dirty="0"/>
              <a:t> </a:t>
            </a:r>
            <a:r>
              <a:rPr lang="en-US" dirty="0" err="1" smtClean="0"/>
              <a:t>reaaally</a:t>
            </a:r>
            <a:r>
              <a:rPr lang="en-US" dirty="0" smtClean="0"/>
              <a:t> </a:t>
            </a:r>
            <a:r>
              <a:rPr lang="en-US" dirty="0" err="1" smtClean="0"/>
              <a:t>reaaaally</a:t>
            </a:r>
            <a:r>
              <a:rPr lang="en-US" dirty="0" smtClean="0"/>
              <a:t> </a:t>
            </a:r>
            <a:r>
              <a:rPr lang="en-US" dirty="0" err="1" smtClean="0"/>
              <a:t>reallyyyy</a:t>
            </a:r>
            <a:r>
              <a:rPr lang="en-US" dirty="0" smtClean="0"/>
              <a:t> </a:t>
            </a:r>
            <a:r>
              <a:rPr lang="en-US" dirty="0" err="1" smtClean="0"/>
              <a:t>rilly</a:t>
            </a:r>
            <a:r>
              <a:rPr lang="en-US" dirty="0" smtClean="0"/>
              <a:t> </a:t>
            </a:r>
            <a:r>
              <a:rPr lang="en-US" dirty="0" err="1" smtClean="0"/>
              <a:t>reallllllly</a:t>
            </a:r>
            <a:r>
              <a:rPr lang="en-US" dirty="0" smtClean="0"/>
              <a:t> </a:t>
            </a:r>
            <a:r>
              <a:rPr lang="en-US" dirty="0" err="1" smtClean="0"/>
              <a:t>reeeeeally</a:t>
            </a:r>
            <a:r>
              <a:rPr lang="en-US" dirty="0" smtClean="0"/>
              <a:t> </a:t>
            </a:r>
            <a:r>
              <a:rPr lang="en-US" dirty="0" err="1" smtClean="0"/>
              <a:t>reeally</a:t>
            </a:r>
            <a:r>
              <a:rPr lang="en-US" dirty="0" smtClean="0"/>
              <a:t> </a:t>
            </a:r>
            <a:r>
              <a:rPr lang="en-US" dirty="0" err="1" smtClean="0"/>
              <a:t>shol</a:t>
            </a:r>
            <a:r>
              <a:rPr lang="en-US" dirty="0" smtClean="0"/>
              <a:t> </a:t>
            </a:r>
            <a:r>
              <a:rPr lang="en-US" dirty="0" err="1" smtClean="0"/>
              <a:t>realllyyy</a:t>
            </a:r>
            <a:r>
              <a:rPr lang="en-US" dirty="0"/>
              <a:t> </a:t>
            </a:r>
            <a:r>
              <a:rPr lang="en-US" dirty="0" err="1" smtClean="0"/>
              <a:t>reely</a:t>
            </a:r>
            <a:r>
              <a:rPr lang="en-US" dirty="0" smtClean="0"/>
              <a:t> </a:t>
            </a:r>
            <a:r>
              <a:rPr lang="en-US" dirty="0" err="1" smtClean="0"/>
              <a:t>relle</a:t>
            </a:r>
            <a:r>
              <a:rPr lang="en-US" dirty="0"/>
              <a:t> </a:t>
            </a:r>
            <a:r>
              <a:rPr lang="en-US" dirty="0" err="1" smtClean="0"/>
              <a:t>reaaaaally</a:t>
            </a:r>
            <a:r>
              <a:rPr lang="en-US" dirty="0"/>
              <a:t> </a:t>
            </a:r>
            <a:r>
              <a:rPr lang="en-US" dirty="0" err="1" smtClean="0"/>
              <a:t>shole</a:t>
            </a:r>
            <a:r>
              <a:rPr lang="en-US" dirty="0"/>
              <a:t> </a:t>
            </a:r>
            <a:r>
              <a:rPr lang="en-US" dirty="0" smtClean="0"/>
              <a:t>really2</a:t>
            </a:r>
            <a:r>
              <a:rPr lang="en-US" dirty="0"/>
              <a:t> </a:t>
            </a:r>
            <a:r>
              <a:rPr lang="en-US" dirty="0" err="1" smtClean="0"/>
              <a:t>reallyyyyy</a:t>
            </a:r>
            <a:r>
              <a:rPr lang="en-US" dirty="0"/>
              <a:t> </a:t>
            </a:r>
            <a:r>
              <a:rPr lang="en-US" dirty="0" smtClean="0"/>
              <a:t>_really_</a:t>
            </a:r>
            <a:r>
              <a:rPr lang="en-US" dirty="0"/>
              <a:t> </a:t>
            </a:r>
            <a:r>
              <a:rPr lang="en-US" dirty="0" err="1" smtClean="0"/>
              <a:t>realllllllly</a:t>
            </a:r>
            <a:r>
              <a:rPr lang="en-US" dirty="0"/>
              <a:t> </a:t>
            </a:r>
            <a:r>
              <a:rPr lang="en-US" dirty="0" err="1" smtClean="0"/>
              <a:t>reaaly</a:t>
            </a:r>
            <a:r>
              <a:rPr lang="en-US" dirty="0"/>
              <a:t> </a:t>
            </a:r>
            <a:r>
              <a:rPr lang="en-US" dirty="0" err="1" smtClean="0"/>
              <a:t>realllyy</a:t>
            </a:r>
            <a:r>
              <a:rPr lang="en-US" dirty="0"/>
              <a:t> </a:t>
            </a:r>
            <a:r>
              <a:rPr lang="en-US" dirty="0" err="1" smtClean="0"/>
              <a:t>reallii</a:t>
            </a:r>
            <a:r>
              <a:rPr lang="en-US" dirty="0"/>
              <a:t> </a:t>
            </a:r>
            <a:r>
              <a:rPr lang="en-US" dirty="0" err="1" smtClean="0"/>
              <a:t>reallt</a:t>
            </a:r>
            <a:r>
              <a:rPr lang="en-US" dirty="0"/>
              <a:t> </a:t>
            </a:r>
            <a:r>
              <a:rPr lang="en-US" dirty="0" err="1" smtClean="0"/>
              <a:t>genuinly</a:t>
            </a:r>
            <a:r>
              <a:rPr lang="en-US" dirty="0"/>
              <a:t> </a:t>
            </a:r>
            <a:r>
              <a:rPr lang="en-US" dirty="0" err="1" smtClean="0"/>
              <a:t>relli</a:t>
            </a:r>
            <a:r>
              <a:rPr lang="en-US" dirty="0"/>
              <a:t> </a:t>
            </a:r>
            <a:r>
              <a:rPr lang="en-US" dirty="0" err="1" smtClean="0"/>
              <a:t>realllyyyy</a:t>
            </a:r>
            <a:r>
              <a:rPr lang="en-US" dirty="0"/>
              <a:t> </a:t>
            </a:r>
            <a:r>
              <a:rPr lang="en-US" dirty="0" err="1" smtClean="0"/>
              <a:t>reeeeeeally</a:t>
            </a:r>
            <a:r>
              <a:rPr lang="en-US" dirty="0"/>
              <a:t> </a:t>
            </a:r>
            <a:r>
              <a:rPr lang="en-US" dirty="0" err="1" smtClean="0"/>
              <a:t>weally</a:t>
            </a:r>
            <a:r>
              <a:rPr lang="en-US" dirty="0"/>
              <a:t> </a:t>
            </a:r>
            <a:r>
              <a:rPr lang="en-US" dirty="0" err="1" smtClean="0"/>
              <a:t>reaaallly</a:t>
            </a:r>
            <a:r>
              <a:rPr lang="en-US" dirty="0"/>
              <a:t> </a:t>
            </a:r>
            <a:r>
              <a:rPr lang="en-US" dirty="0" err="1" smtClean="0"/>
              <a:t>reallllyyy</a:t>
            </a:r>
            <a:r>
              <a:rPr lang="en-US" dirty="0"/>
              <a:t> </a:t>
            </a:r>
            <a:r>
              <a:rPr lang="en-US" dirty="0" err="1" smtClean="0"/>
              <a:t>reallllllllly</a:t>
            </a:r>
            <a:r>
              <a:rPr lang="en-US" dirty="0"/>
              <a:t> </a:t>
            </a:r>
            <a:r>
              <a:rPr lang="en-US" dirty="0" err="1" smtClean="0"/>
              <a:t>reaallly</a:t>
            </a:r>
            <a:r>
              <a:rPr lang="en-US" dirty="0"/>
              <a:t> </a:t>
            </a:r>
            <a:r>
              <a:rPr lang="en-US" dirty="0" err="1" smtClean="0"/>
              <a:t>realyy</a:t>
            </a:r>
            <a:r>
              <a:rPr lang="en-US" dirty="0"/>
              <a:t> </a:t>
            </a:r>
            <a:r>
              <a:rPr lang="en-US" dirty="0" smtClean="0"/>
              <a:t>/</a:t>
            </a:r>
            <a:r>
              <a:rPr lang="en-US" dirty="0"/>
              <a:t>really</a:t>
            </a:r>
            <a:r>
              <a:rPr lang="en-US" dirty="0" smtClean="0"/>
              <a:t>/ </a:t>
            </a:r>
            <a:r>
              <a:rPr lang="en-US" dirty="0" err="1" smtClean="0"/>
              <a:t>reaaaaaally</a:t>
            </a:r>
            <a:r>
              <a:rPr lang="en-US" dirty="0"/>
              <a:t> </a:t>
            </a:r>
            <a:r>
              <a:rPr lang="en-US" sz="2400" dirty="0" err="1" smtClean="0"/>
              <a:t>reallu</a:t>
            </a:r>
            <a:r>
              <a:rPr lang="en-US" sz="2400" dirty="0"/>
              <a:t> </a:t>
            </a:r>
            <a:r>
              <a:rPr lang="en-US" sz="2400" dirty="0" err="1" smtClean="0"/>
              <a:t>reaaaallly</a:t>
            </a:r>
            <a:r>
              <a:rPr lang="en-US" sz="2400" dirty="0"/>
              <a:t> </a:t>
            </a:r>
            <a:r>
              <a:rPr lang="en-US" sz="2400" dirty="0" err="1" smtClean="0"/>
              <a:t>reeaally</a:t>
            </a:r>
            <a:r>
              <a:rPr lang="en-US" sz="2400" dirty="0"/>
              <a:t> </a:t>
            </a:r>
            <a:r>
              <a:rPr lang="en-US" sz="2400" dirty="0" err="1" smtClean="0"/>
              <a:t>rreally</a:t>
            </a:r>
            <a:r>
              <a:rPr lang="en-US" sz="2400" dirty="0"/>
              <a:t> </a:t>
            </a:r>
            <a:r>
              <a:rPr lang="en-US" sz="2400" dirty="0" err="1" smtClean="0"/>
              <a:t>reallyreally</a:t>
            </a:r>
            <a:r>
              <a:rPr lang="en-US" sz="2400" dirty="0"/>
              <a:t> </a:t>
            </a:r>
            <a:r>
              <a:rPr lang="en-US" sz="2400" dirty="0" err="1" smtClean="0"/>
              <a:t>eally</a:t>
            </a:r>
            <a:r>
              <a:rPr lang="en-US" sz="2400" dirty="0"/>
              <a:t> </a:t>
            </a:r>
            <a:r>
              <a:rPr lang="en-US" sz="2400" dirty="0" err="1" smtClean="0"/>
              <a:t>reeeaaally</a:t>
            </a:r>
            <a:r>
              <a:rPr lang="en-US" sz="2400" dirty="0"/>
              <a:t> </a:t>
            </a:r>
            <a:r>
              <a:rPr lang="en-US" sz="2400" dirty="0" err="1" smtClean="0"/>
              <a:t>reeeaaally</a:t>
            </a:r>
            <a:r>
              <a:rPr lang="en-US" sz="2400" dirty="0"/>
              <a:t> </a:t>
            </a:r>
            <a:r>
              <a:rPr lang="en-US" sz="2400" dirty="0" err="1" smtClean="0"/>
              <a:t>reaallyy</a:t>
            </a:r>
            <a:r>
              <a:rPr lang="en-US" sz="2400" dirty="0"/>
              <a:t> </a:t>
            </a:r>
            <a:r>
              <a:rPr lang="en-US" sz="2400" dirty="0" err="1" smtClean="0"/>
              <a:t>reallyyyyyy</a:t>
            </a:r>
            <a:r>
              <a:rPr lang="en-US" sz="2400" dirty="0"/>
              <a:t> </a:t>
            </a:r>
            <a:r>
              <a:rPr lang="en-US" sz="2400" dirty="0" smtClean="0"/>
              <a:t>–really- </a:t>
            </a:r>
            <a:r>
              <a:rPr lang="en-US" sz="2400" dirty="0" err="1" smtClean="0"/>
              <a:t>reallyreallyreally</a:t>
            </a:r>
            <a:r>
              <a:rPr lang="en-US" sz="2400" dirty="0" smtClean="0"/>
              <a:t> </a:t>
            </a:r>
            <a:r>
              <a:rPr lang="en-US" sz="2400" dirty="0" err="1" smtClean="0"/>
              <a:t>rilli</a:t>
            </a:r>
            <a:r>
              <a:rPr lang="en-US" sz="2400" dirty="0"/>
              <a:t> </a:t>
            </a:r>
            <a:r>
              <a:rPr lang="en-US" sz="2400" dirty="0" err="1" smtClean="0"/>
              <a:t>reallllyyyy</a:t>
            </a:r>
            <a:r>
              <a:rPr lang="en-US" sz="2400" dirty="0"/>
              <a:t> </a:t>
            </a:r>
            <a:r>
              <a:rPr lang="en-US" sz="2400" dirty="0" err="1" smtClean="0"/>
              <a:t>relaly</a:t>
            </a:r>
            <a:r>
              <a:rPr lang="en-US" sz="2400" dirty="0"/>
              <a:t> </a:t>
            </a:r>
            <a:r>
              <a:rPr lang="en-US" sz="2400" dirty="0" err="1" smtClean="0"/>
              <a:t>reallllyy</a:t>
            </a:r>
            <a:r>
              <a:rPr lang="en-US" sz="2400" dirty="0"/>
              <a:t> </a:t>
            </a:r>
            <a:r>
              <a:rPr lang="en-US" sz="2400" dirty="0" smtClean="0"/>
              <a:t>really</a:t>
            </a:r>
            <a:r>
              <a:rPr lang="en-US" sz="2400" dirty="0"/>
              <a:t>-</a:t>
            </a:r>
            <a:r>
              <a:rPr lang="en-US" sz="2400" dirty="0" smtClean="0"/>
              <a:t>really r3ally</a:t>
            </a:r>
            <a:r>
              <a:rPr lang="en-US" sz="2400" dirty="0"/>
              <a:t> </a:t>
            </a:r>
            <a:r>
              <a:rPr lang="en-US" sz="2400" dirty="0" err="1" smtClean="0"/>
              <a:t>reeli</a:t>
            </a:r>
            <a:r>
              <a:rPr lang="en-US" sz="2400" dirty="0"/>
              <a:t> </a:t>
            </a:r>
            <a:r>
              <a:rPr lang="en-US" sz="2400" dirty="0" err="1" smtClean="0"/>
              <a:t>reallie</a:t>
            </a:r>
            <a:r>
              <a:rPr lang="en-US" sz="2400" dirty="0"/>
              <a:t> </a:t>
            </a:r>
            <a:r>
              <a:rPr lang="en-US" sz="2400" dirty="0" err="1" smtClean="0"/>
              <a:t>realllllyyy</a:t>
            </a:r>
            <a:r>
              <a:rPr lang="en-US" sz="2400" dirty="0"/>
              <a:t> </a:t>
            </a:r>
            <a:r>
              <a:rPr lang="en-US" sz="2400" dirty="0" err="1" smtClean="0"/>
              <a:t>rli</a:t>
            </a:r>
            <a:r>
              <a:rPr lang="en-US" sz="2400" dirty="0"/>
              <a:t> </a:t>
            </a:r>
            <a:r>
              <a:rPr lang="en-US" sz="2400" dirty="0" err="1" smtClean="0"/>
              <a:t>realllllllllly</a:t>
            </a:r>
            <a:r>
              <a:rPr lang="en-US" sz="2400" dirty="0"/>
              <a:t> </a:t>
            </a:r>
            <a:r>
              <a:rPr lang="en-US" sz="2400" dirty="0" err="1" smtClean="0"/>
              <a:t>reaaaly</a:t>
            </a:r>
            <a:r>
              <a:rPr lang="en-US" sz="2400" dirty="0"/>
              <a:t> </a:t>
            </a:r>
            <a:r>
              <a:rPr lang="en-US" sz="2400" dirty="0" err="1" smtClean="0"/>
              <a:t>reeeeeeeally</a:t>
            </a:r>
            <a:endParaRPr lang="en-US" sz="2400" dirty="0"/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494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“going to”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gonna</a:t>
            </a:r>
            <a:r>
              <a:rPr lang="en-US" dirty="0"/>
              <a:t> </a:t>
            </a:r>
            <a:r>
              <a:rPr lang="en-US" dirty="0" err="1"/>
              <a:t>gunna</a:t>
            </a:r>
            <a:r>
              <a:rPr lang="en-US" dirty="0"/>
              <a:t> </a:t>
            </a:r>
            <a:r>
              <a:rPr lang="en-US" dirty="0" err="1"/>
              <a:t>gona</a:t>
            </a:r>
            <a:r>
              <a:rPr lang="en-US" dirty="0"/>
              <a:t> </a:t>
            </a:r>
            <a:r>
              <a:rPr lang="en-US" dirty="0" err="1"/>
              <a:t>gna</a:t>
            </a:r>
            <a:r>
              <a:rPr lang="en-US" dirty="0"/>
              <a:t> </a:t>
            </a:r>
            <a:r>
              <a:rPr lang="en-US" dirty="0" err="1"/>
              <a:t>guna</a:t>
            </a:r>
            <a:r>
              <a:rPr lang="en-US" dirty="0"/>
              <a:t> </a:t>
            </a:r>
            <a:r>
              <a:rPr lang="en-US" dirty="0" err="1"/>
              <a:t>gnna</a:t>
            </a:r>
            <a:r>
              <a:rPr lang="en-US" dirty="0"/>
              <a:t> </a:t>
            </a:r>
            <a:r>
              <a:rPr lang="en-US" dirty="0" err="1"/>
              <a:t>ganna</a:t>
            </a:r>
            <a:r>
              <a:rPr lang="en-US" dirty="0"/>
              <a:t> </a:t>
            </a:r>
            <a:r>
              <a:rPr lang="en-US" dirty="0" err="1"/>
              <a:t>qonna</a:t>
            </a:r>
            <a:r>
              <a:rPr lang="en-US" dirty="0"/>
              <a:t> </a:t>
            </a:r>
            <a:r>
              <a:rPr lang="en-US" dirty="0" err="1"/>
              <a:t>gonnna</a:t>
            </a:r>
            <a:r>
              <a:rPr lang="en-US" dirty="0"/>
              <a:t> </a:t>
            </a:r>
            <a:r>
              <a:rPr lang="en-US" dirty="0" err="1"/>
              <a:t>gana</a:t>
            </a:r>
            <a:r>
              <a:rPr lang="en-US" dirty="0"/>
              <a:t> </a:t>
            </a:r>
            <a:r>
              <a:rPr lang="en-US" dirty="0" err="1"/>
              <a:t>qunna</a:t>
            </a:r>
            <a:r>
              <a:rPr lang="en-US" dirty="0"/>
              <a:t> </a:t>
            </a:r>
            <a:r>
              <a:rPr lang="en-US" dirty="0" err="1"/>
              <a:t>gonne</a:t>
            </a:r>
            <a:r>
              <a:rPr lang="en-US" dirty="0"/>
              <a:t> </a:t>
            </a:r>
            <a:r>
              <a:rPr lang="en-US" dirty="0" err="1"/>
              <a:t>goona</a:t>
            </a:r>
            <a:r>
              <a:rPr lang="en-US" dirty="0"/>
              <a:t> </a:t>
            </a:r>
            <a:r>
              <a:rPr lang="en-US" dirty="0" err="1"/>
              <a:t>gonnaa</a:t>
            </a:r>
            <a:r>
              <a:rPr lang="en-US" dirty="0"/>
              <a:t> g0nna </a:t>
            </a:r>
            <a:r>
              <a:rPr lang="en-US" dirty="0" err="1"/>
              <a:t>goina</a:t>
            </a:r>
            <a:r>
              <a:rPr lang="en-US" dirty="0"/>
              <a:t> </a:t>
            </a:r>
            <a:r>
              <a:rPr lang="en-US" dirty="0" err="1"/>
              <a:t>gonnah</a:t>
            </a:r>
            <a:r>
              <a:rPr lang="en-US" dirty="0"/>
              <a:t> </a:t>
            </a:r>
            <a:r>
              <a:rPr lang="en-US" dirty="0" err="1"/>
              <a:t>goingto</a:t>
            </a:r>
            <a:r>
              <a:rPr lang="en-US" dirty="0"/>
              <a:t> </a:t>
            </a:r>
            <a:r>
              <a:rPr lang="en-US" dirty="0" err="1"/>
              <a:t>gunnah</a:t>
            </a:r>
            <a:r>
              <a:rPr lang="en-US" dirty="0"/>
              <a:t> </a:t>
            </a:r>
            <a:r>
              <a:rPr lang="en-US" dirty="0" err="1"/>
              <a:t>gonaa</a:t>
            </a:r>
            <a:r>
              <a:rPr lang="en-US" dirty="0"/>
              <a:t> </a:t>
            </a:r>
            <a:r>
              <a:rPr lang="en-US" dirty="0" err="1"/>
              <a:t>gonan</a:t>
            </a:r>
            <a:r>
              <a:rPr lang="en-US" dirty="0"/>
              <a:t> </a:t>
            </a:r>
            <a:r>
              <a:rPr lang="en-US" dirty="0" err="1"/>
              <a:t>gunnna</a:t>
            </a:r>
            <a:r>
              <a:rPr lang="en-US" dirty="0"/>
              <a:t> going2 </a:t>
            </a:r>
            <a:r>
              <a:rPr lang="en-US" dirty="0" err="1"/>
              <a:t>gonnnnagunnaa</a:t>
            </a:r>
            <a:r>
              <a:rPr lang="en-US" dirty="0"/>
              <a:t> </a:t>
            </a:r>
            <a:r>
              <a:rPr lang="en-US" dirty="0" err="1"/>
              <a:t>gonny</a:t>
            </a:r>
            <a:r>
              <a:rPr lang="en-US" dirty="0"/>
              <a:t> </a:t>
            </a:r>
            <a:r>
              <a:rPr lang="en-US" dirty="0" err="1"/>
              <a:t>gunaa</a:t>
            </a:r>
            <a:r>
              <a:rPr lang="en-US" dirty="0"/>
              <a:t> </a:t>
            </a:r>
            <a:r>
              <a:rPr lang="en-US" dirty="0" err="1"/>
              <a:t>quna</a:t>
            </a:r>
            <a:r>
              <a:rPr lang="en-US" dirty="0"/>
              <a:t> </a:t>
            </a:r>
            <a:r>
              <a:rPr lang="en-US" dirty="0" err="1"/>
              <a:t>goonna</a:t>
            </a:r>
            <a:r>
              <a:rPr lang="en-US" dirty="0"/>
              <a:t> </a:t>
            </a:r>
            <a:r>
              <a:rPr lang="en-US" dirty="0" err="1"/>
              <a:t>qona</a:t>
            </a:r>
            <a:r>
              <a:rPr lang="en-US" dirty="0"/>
              <a:t> </a:t>
            </a:r>
            <a:r>
              <a:rPr lang="en-US" dirty="0" err="1"/>
              <a:t>gonns</a:t>
            </a:r>
            <a:r>
              <a:rPr lang="en-US" dirty="0"/>
              <a:t> </a:t>
            </a:r>
            <a:r>
              <a:rPr lang="en-US" dirty="0" err="1"/>
              <a:t>goinna</a:t>
            </a:r>
            <a:r>
              <a:rPr lang="en-US" dirty="0"/>
              <a:t> </a:t>
            </a:r>
            <a:r>
              <a:rPr lang="en-US" dirty="0" err="1"/>
              <a:t>gonnae</a:t>
            </a:r>
            <a:r>
              <a:rPr lang="en-US" dirty="0"/>
              <a:t> </a:t>
            </a:r>
            <a:r>
              <a:rPr lang="en-US" dirty="0" err="1"/>
              <a:t>qnna</a:t>
            </a:r>
            <a:r>
              <a:rPr lang="en-US" dirty="0"/>
              <a:t> </a:t>
            </a:r>
            <a:r>
              <a:rPr lang="en-US" dirty="0" err="1"/>
              <a:t>gonnaaa</a:t>
            </a:r>
            <a:r>
              <a:rPr lang="en-US" dirty="0"/>
              <a:t> </a:t>
            </a:r>
            <a:r>
              <a:rPr lang="en-US" dirty="0" err="1" smtClean="0"/>
              <a:t>gnaa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1410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“so”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/>
              <a:t>soo</a:t>
            </a:r>
            <a:r>
              <a:rPr lang="en-US" dirty="0"/>
              <a:t> </a:t>
            </a:r>
            <a:r>
              <a:rPr lang="en-US" dirty="0" err="1"/>
              <a:t>sooo</a:t>
            </a:r>
            <a:r>
              <a:rPr lang="en-US" dirty="0"/>
              <a:t> </a:t>
            </a:r>
            <a:r>
              <a:rPr lang="en-US" dirty="0" err="1"/>
              <a:t>soooo</a:t>
            </a:r>
            <a:r>
              <a:rPr lang="en-US" dirty="0"/>
              <a:t> </a:t>
            </a:r>
            <a:r>
              <a:rPr lang="en-US" dirty="0" err="1"/>
              <a:t>sooooo</a:t>
            </a:r>
            <a:r>
              <a:rPr lang="en-US" dirty="0"/>
              <a:t> </a:t>
            </a:r>
            <a:r>
              <a:rPr lang="en-US" dirty="0" err="1"/>
              <a:t>soooooo</a:t>
            </a:r>
            <a:r>
              <a:rPr lang="en-US" dirty="0"/>
              <a:t> </a:t>
            </a:r>
            <a:r>
              <a:rPr lang="en-US" dirty="0" err="1"/>
              <a:t>sooooooo</a:t>
            </a:r>
            <a:r>
              <a:rPr lang="en-US" dirty="0"/>
              <a:t> </a:t>
            </a:r>
            <a:r>
              <a:rPr lang="en-US" dirty="0" err="1"/>
              <a:t>soooooooo</a:t>
            </a:r>
            <a:r>
              <a:rPr lang="en-US" dirty="0"/>
              <a:t> </a:t>
            </a:r>
            <a:r>
              <a:rPr lang="en-US" dirty="0" err="1"/>
              <a:t>sooooooooo</a:t>
            </a:r>
            <a:r>
              <a:rPr lang="en-US" dirty="0"/>
              <a:t> </a:t>
            </a:r>
            <a:r>
              <a:rPr lang="en-US" dirty="0" err="1"/>
              <a:t>soooooooooo</a:t>
            </a:r>
            <a:r>
              <a:rPr lang="en-US" dirty="0"/>
              <a:t> </a:t>
            </a:r>
            <a:r>
              <a:rPr lang="en-US" dirty="0" err="1"/>
              <a:t>sooooooooooo</a:t>
            </a:r>
            <a:r>
              <a:rPr lang="en-US" dirty="0"/>
              <a:t> </a:t>
            </a:r>
            <a:r>
              <a:rPr lang="en-US" dirty="0" err="1"/>
              <a:t>soooooooooooo</a:t>
            </a:r>
            <a:r>
              <a:rPr lang="en-US" dirty="0"/>
              <a:t> </a:t>
            </a:r>
            <a:r>
              <a:rPr lang="en-US" dirty="0" err="1"/>
              <a:t>sooooooooooooo</a:t>
            </a:r>
            <a:r>
              <a:rPr lang="en-US" dirty="0"/>
              <a:t> </a:t>
            </a:r>
            <a:r>
              <a:rPr lang="en-US" dirty="0" err="1"/>
              <a:t>soso</a:t>
            </a:r>
            <a:r>
              <a:rPr lang="en-US" dirty="0"/>
              <a:t> </a:t>
            </a:r>
            <a:r>
              <a:rPr lang="en-US" dirty="0" err="1"/>
              <a:t>soooooooooooooo</a:t>
            </a:r>
            <a:r>
              <a:rPr lang="en-US" dirty="0"/>
              <a:t> </a:t>
            </a:r>
            <a:r>
              <a:rPr lang="en-US" dirty="0" err="1"/>
              <a:t>sooooooooooooooo</a:t>
            </a:r>
            <a:r>
              <a:rPr lang="en-US" dirty="0"/>
              <a:t> </a:t>
            </a:r>
            <a:r>
              <a:rPr lang="en-US" dirty="0" err="1"/>
              <a:t>soooooooooooooooo</a:t>
            </a:r>
            <a:r>
              <a:rPr lang="en-US" dirty="0"/>
              <a:t> </a:t>
            </a:r>
            <a:r>
              <a:rPr lang="en-US" dirty="0" err="1"/>
              <a:t>sososo</a:t>
            </a:r>
            <a:r>
              <a:rPr lang="en-US" dirty="0"/>
              <a:t> </a:t>
            </a:r>
            <a:r>
              <a:rPr lang="en-US" dirty="0" err="1"/>
              <a:t>superrr</a:t>
            </a:r>
            <a:r>
              <a:rPr lang="en-US" dirty="0"/>
              <a:t> </a:t>
            </a:r>
            <a:r>
              <a:rPr lang="en-US" dirty="0" err="1"/>
              <a:t>sooooooooooooooooo</a:t>
            </a:r>
            <a:r>
              <a:rPr lang="en-US" dirty="0"/>
              <a:t> </a:t>
            </a:r>
            <a:r>
              <a:rPr lang="en-US" dirty="0" err="1"/>
              <a:t>ssooo</a:t>
            </a:r>
            <a:r>
              <a:rPr lang="en-US" dirty="0"/>
              <a:t> so0o </a:t>
            </a:r>
            <a:r>
              <a:rPr lang="en-US" dirty="0" err="1"/>
              <a:t>superrrr</a:t>
            </a:r>
            <a:r>
              <a:rPr lang="en-US" dirty="0"/>
              <a:t> so0 </a:t>
            </a:r>
            <a:r>
              <a:rPr lang="en-US" dirty="0" err="1"/>
              <a:t>soooooooooooooooooo</a:t>
            </a:r>
            <a:r>
              <a:rPr lang="en-US" dirty="0"/>
              <a:t> </a:t>
            </a:r>
            <a:r>
              <a:rPr lang="en-US" dirty="0" err="1"/>
              <a:t>sosososo</a:t>
            </a:r>
            <a:r>
              <a:rPr lang="en-US" dirty="0"/>
              <a:t> </a:t>
            </a:r>
            <a:r>
              <a:rPr lang="en-US" dirty="0" err="1"/>
              <a:t>sooooooooooooooooooo</a:t>
            </a:r>
            <a:r>
              <a:rPr lang="en-US" dirty="0"/>
              <a:t> </a:t>
            </a:r>
            <a:r>
              <a:rPr lang="en-US" dirty="0" err="1"/>
              <a:t>ssoo</a:t>
            </a:r>
            <a:r>
              <a:rPr lang="en-US" dirty="0"/>
              <a:t> </a:t>
            </a:r>
            <a:r>
              <a:rPr lang="en-US" dirty="0" err="1"/>
              <a:t>sssooo</a:t>
            </a:r>
            <a:r>
              <a:rPr lang="en-US" dirty="0"/>
              <a:t> </a:t>
            </a:r>
            <a:r>
              <a:rPr lang="en-US" dirty="0" err="1"/>
              <a:t>soooooooooooooooooooo</a:t>
            </a:r>
            <a:r>
              <a:rPr lang="en-US" dirty="0"/>
              <a:t> #too s0o </a:t>
            </a:r>
            <a:r>
              <a:rPr lang="en-US" dirty="0" err="1"/>
              <a:t>ssoooo</a:t>
            </a:r>
            <a:r>
              <a:rPr lang="en-US" dirty="0"/>
              <a:t> </a:t>
            </a:r>
            <a:r>
              <a:rPr lang="en-US" dirty="0" smtClean="0"/>
              <a:t>s00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162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/>
              <a:t>hot fried peanut homemade grilled spicy soy cheesy coconut veggie roasted leftover blueberry icy </a:t>
            </a:r>
            <a:r>
              <a:rPr lang="en-US" sz="2400" dirty="0" err="1"/>
              <a:t>dunkin</a:t>
            </a:r>
            <a:r>
              <a:rPr lang="en-US" sz="2400" dirty="0"/>
              <a:t> mashed rotten mellow boiling crispy peppermint fruity toasted </a:t>
            </a:r>
            <a:r>
              <a:rPr lang="en-US" sz="2400" dirty="0" smtClean="0"/>
              <a:t>crunchy </a:t>
            </a:r>
            <a:r>
              <a:rPr lang="en-US" sz="2400" dirty="0"/>
              <a:t>scrambled creamy boiled chunky funnel soggy clam steamed </a:t>
            </a:r>
            <a:r>
              <a:rPr lang="en-US" sz="2400" dirty="0" err="1"/>
              <a:t>cajun</a:t>
            </a:r>
            <a:r>
              <a:rPr lang="en-US" sz="2400" dirty="0"/>
              <a:t> steaming chewy steamy </a:t>
            </a:r>
            <a:r>
              <a:rPr lang="en-US" sz="2400" dirty="0" smtClean="0"/>
              <a:t>nacho </a:t>
            </a:r>
            <a:r>
              <a:rPr lang="en-US" sz="2400" dirty="0"/>
              <a:t>mince </a:t>
            </a:r>
            <a:r>
              <a:rPr lang="en-US" sz="2400" dirty="0" err="1"/>
              <a:t>reese's</a:t>
            </a:r>
            <a:r>
              <a:rPr lang="en-US" sz="2400" dirty="0"/>
              <a:t> shredded salted glazed spiced </a:t>
            </a:r>
            <a:r>
              <a:rPr lang="en-US" sz="2400" dirty="0" err="1"/>
              <a:t>venti</a:t>
            </a:r>
            <a:r>
              <a:rPr lang="en-US" sz="2400" dirty="0"/>
              <a:t> pickled powdered butternut miso beet sizzling</a:t>
            </a:r>
          </a:p>
          <a:p>
            <a:pPr marL="0" indent="0">
              <a:buNone/>
            </a:pPr>
            <a:endParaRPr lang="en-US" sz="2400" dirty="0" smtClean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57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04800" y="76200"/>
            <a:ext cx="8534400" cy="6858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Food-Related Adjectives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1670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Adjective Intensifiers/Qualifiers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 err="1"/>
              <a:t>kinda</a:t>
            </a:r>
            <a:r>
              <a:rPr lang="en-US" sz="2800" dirty="0"/>
              <a:t> </a:t>
            </a:r>
            <a:r>
              <a:rPr lang="en-US" sz="2800" dirty="0" err="1"/>
              <a:t>hella</a:t>
            </a:r>
            <a:r>
              <a:rPr lang="en-US" sz="2800" dirty="0"/>
              <a:t> </a:t>
            </a:r>
            <a:r>
              <a:rPr lang="en-US" sz="2800" dirty="0" err="1"/>
              <a:t>sorta</a:t>
            </a:r>
            <a:r>
              <a:rPr lang="en-US" sz="2800" dirty="0"/>
              <a:t> </a:t>
            </a:r>
            <a:r>
              <a:rPr lang="en-US" sz="2800" dirty="0" err="1"/>
              <a:t>hecka</a:t>
            </a:r>
            <a:r>
              <a:rPr lang="en-US" sz="2800" dirty="0"/>
              <a:t> </a:t>
            </a:r>
            <a:r>
              <a:rPr lang="en-US" sz="2800" dirty="0" err="1"/>
              <a:t>kindof</a:t>
            </a:r>
            <a:r>
              <a:rPr lang="en-US" sz="2800" dirty="0"/>
              <a:t> </a:t>
            </a:r>
            <a:r>
              <a:rPr lang="en-US" sz="2800" dirty="0" err="1"/>
              <a:t>kindaa</a:t>
            </a:r>
            <a:r>
              <a:rPr lang="en-US" sz="2800" dirty="0"/>
              <a:t> </a:t>
            </a:r>
            <a:r>
              <a:rPr lang="en-US" sz="2800" dirty="0" err="1"/>
              <a:t>kinna</a:t>
            </a:r>
            <a:r>
              <a:rPr lang="en-US" sz="2800" dirty="0"/>
              <a:t> </a:t>
            </a:r>
            <a:r>
              <a:rPr lang="en-US" sz="2800" dirty="0" err="1"/>
              <a:t>hellla</a:t>
            </a:r>
            <a:r>
              <a:rPr lang="en-US" sz="2800" dirty="0"/>
              <a:t> </a:t>
            </a:r>
            <a:r>
              <a:rPr lang="en-US" sz="2800" dirty="0" err="1"/>
              <a:t>propa</a:t>
            </a:r>
            <a:r>
              <a:rPr lang="en-US" sz="2800" dirty="0"/>
              <a:t> </a:t>
            </a:r>
            <a:r>
              <a:rPr lang="en-US" sz="2800" dirty="0" err="1"/>
              <a:t>helluh</a:t>
            </a:r>
            <a:r>
              <a:rPr lang="en-US" sz="2800" dirty="0"/>
              <a:t> </a:t>
            </a:r>
            <a:r>
              <a:rPr lang="en-US" sz="2800" dirty="0" err="1"/>
              <a:t>kindda</a:t>
            </a:r>
            <a:r>
              <a:rPr lang="en-US" sz="2800" dirty="0"/>
              <a:t> </a:t>
            </a:r>
            <a:r>
              <a:rPr lang="en-US" sz="2800" dirty="0" err="1"/>
              <a:t>justa</a:t>
            </a:r>
            <a:r>
              <a:rPr lang="en-US" sz="2800" dirty="0"/>
              <a:t> #slick </a:t>
            </a:r>
            <a:r>
              <a:rPr lang="en-US" sz="2800" dirty="0" err="1"/>
              <a:t>helllla</a:t>
            </a:r>
            <a:r>
              <a:rPr lang="en-US" sz="2800" dirty="0"/>
              <a:t> </a:t>
            </a:r>
            <a:r>
              <a:rPr lang="en-US" sz="2800" dirty="0" err="1"/>
              <a:t>hela</a:t>
            </a:r>
            <a:r>
              <a:rPr lang="en-US" sz="2800" dirty="0"/>
              <a:t> </a:t>
            </a:r>
            <a:r>
              <a:rPr lang="en-US" sz="2800" dirty="0" err="1"/>
              <a:t>jii</a:t>
            </a:r>
            <a:r>
              <a:rPr lang="en-US" sz="2800" dirty="0"/>
              <a:t> </a:t>
            </a:r>
            <a:r>
              <a:rPr lang="en-US" sz="2800" dirty="0" err="1"/>
              <a:t>sortof</a:t>
            </a:r>
            <a:r>
              <a:rPr lang="en-US" sz="2800" dirty="0"/>
              <a:t> </a:t>
            </a:r>
            <a:r>
              <a:rPr lang="en-US" sz="2800" dirty="0" err="1"/>
              <a:t>hellaa</a:t>
            </a:r>
            <a:r>
              <a:rPr lang="en-US" sz="2800" dirty="0"/>
              <a:t> </a:t>
            </a:r>
            <a:r>
              <a:rPr lang="en-US" sz="2800" dirty="0" err="1"/>
              <a:t>kida</a:t>
            </a:r>
            <a:r>
              <a:rPr lang="en-US" sz="2800" dirty="0"/>
              <a:t> </a:t>
            </a:r>
            <a:r>
              <a:rPr lang="en-US" sz="2800" dirty="0" err="1"/>
              <a:t>wiggity</a:t>
            </a:r>
            <a:r>
              <a:rPr lang="en-US" sz="2800" dirty="0"/>
              <a:t> </a:t>
            </a:r>
            <a:r>
              <a:rPr lang="en-US" sz="2800" dirty="0" err="1"/>
              <a:t>hellllla</a:t>
            </a:r>
            <a:r>
              <a:rPr lang="en-US" sz="2800" dirty="0"/>
              <a:t> </a:t>
            </a:r>
            <a:r>
              <a:rPr lang="en-US" sz="2800" dirty="0" err="1"/>
              <a:t>hekka</a:t>
            </a:r>
            <a:r>
              <a:rPr lang="en-US" sz="2800" dirty="0"/>
              <a:t> </a:t>
            </a:r>
            <a:r>
              <a:rPr lang="en-US" sz="2800" dirty="0" err="1"/>
              <a:t>hellah</a:t>
            </a:r>
            <a:r>
              <a:rPr lang="en-US" sz="2800" dirty="0"/>
              <a:t> </a:t>
            </a:r>
            <a:r>
              <a:rPr lang="en-US" sz="2800" dirty="0" err="1"/>
              <a:t>kindaaa</a:t>
            </a:r>
            <a:r>
              <a:rPr lang="en-US" sz="2800" dirty="0"/>
              <a:t> </a:t>
            </a:r>
            <a:r>
              <a:rPr lang="en-US" sz="2800" dirty="0" err="1"/>
              <a:t>hellaaa</a:t>
            </a:r>
            <a:r>
              <a:rPr lang="en-US" sz="2800" dirty="0"/>
              <a:t> </a:t>
            </a:r>
            <a:r>
              <a:rPr lang="en-US" sz="2800" dirty="0" err="1"/>
              <a:t>kindah</a:t>
            </a:r>
            <a:r>
              <a:rPr lang="en-US" sz="2800" dirty="0"/>
              <a:t> </a:t>
            </a:r>
            <a:r>
              <a:rPr lang="en-US" sz="2800" dirty="0" err="1"/>
              <a:t>knda</a:t>
            </a:r>
            <a:r>
              <a:rPr lang="en-US" sz="2800" dirty="0"/>
              <a:t> kind-of </a:t>
            </a:r>
            <a:r>
              <a:rPr lang="en-US" sz="2800" dirty="0" err="1"/>
              <a:t>slicc</a:t>
            </a:r>
            <a:r>
              <a:rPr lang="en-US" sz="2800" dirty="0"/>
              <a:t> </a:t>
            </a:r>
            <a:r>
              <a:rPr lang="en-US" sz="2800" dirty="0" err="1"/>
              <a:t>wiggidy</a:t>
            </a:r>
            <a:r>
              <a:rPr lang="en-US" sz="2800" dirty="0"/>
              <a:t> </a:t>
            </a:r>
            <a:r>
              <a:rPr lang="en-US" sz="2800" dirty="0" err="1"/>
              <a:t>helllllla</a:t>
            </a:r>
            <a:r>
              <a:rPr lang="en-US" sz="2800" dirty="0"/>
              <a:t> </a:t>
            </a:r>
            <a:r>
              <a:rPr lang="en-US" sz="2800" dirty="0" err="1"/>
              <a:t>jih</a:t>
            </a:r>
            <a:r>
              <a:rPr lang="en-US" sz="2800" dirty="0"/>
              <a:t> </a:t>
            </a:r>
            <a:r>
              <a:rPr lang="en-US" sz="2800" dirty="0" err="1"/>
              <a:t>jye</a:t>
            </a:r>
            <a:r>
              <a:rPr lang="en-US" sz="2800" dirty="0"/>
              <a:t> </a:t>
            </a:r>
            <a:r>
              <a:rPr lang="en-US" sz="2800" dirty="0" err="1"/>
              <a:t>kinnda</a:t>
            </a:r>
            <a:r>
              <a:rPr lang="en-US" sz="2800" dirty="0"/>
              <a:t> </a:t>
            </a:r>
            <a:r>
              <a:rPr lang="en-US" sz="2800" dirty="0" err="1"/>
              <a:t>odhee</a:t>
            </a:r>
            <a:r>
              <a:rPr lang="en-US" sz="2800" dirty="0"/>
              <a:t> </a:t>
            </a:r>
            <a:r>
              <a:rPr lang="en-US" sz="2800" dirty="0" err="1"/>
              <a:t>kiinda</a:t>
            </a:r>
            <a:r>
              <a:rPr lang="en-US" sz="2800" dirty="0"/>
              <a:t> </a:t>
            </a:r>
            <a:r>
              <a:rPr lang="en-US" sz="2800" dirty="0" err="1"/>
              <a:t>heka</a:t>
            </a:r>
            <a:r>
              <a:rPr lang="en-US" sz="2800" dirty="0"/>
              <a:t> </a:t>
            </a:r>
            <a:r>
              <a:rPr lang="en-US" sz="2800" dirty="0" err="1"/>
              <a:t>sorda</a:t>
            </a:r>
            <a:r>
              <a:rPr lang="en-US" sz="2800" dirty="0"/>
              <a:t> </a:t>
            </a:r>
            <a:r>
              <a:rPr lang="en-US" sz="2800" dirty="0" err="1"/>
              <a:t>ohde</a:t>
            </a:r>
            <a:r>
              <a:rPr lang="en-US" sz="2800" dirty="0"/>
              <a:t> </a:t>
            </a:r>
            <a:r>
              <a:rPr lang="en-US" sz="2800" dirty="0" err="1"/>
              <a:t>kind've</a:t>
            </a:r>
            <a:r>
              <a:rPr lang="en-US" sz="2800" dirty="0"/>
              <a:t> </a:t>
            </a:r>
            <a:r>
              <a:rPr lang="en-US" sz="2800" dirty="0" err="1"/>
              <a:t>kidna</a:t>
            </a:r>
            <a:r>
              <a:rPr lang="en-US" sz="2800" dirty="0"/>
              <a:t> </a:t>
            </a:r>
            <a:r>
              <a:rPr lang="en-US" sz="2800" dirty="0" err="1"/>
              <a:t>baree</a:t>
            </a:r>
            <a:r>
              <a:rPr lang="en-US" sz="2800" dirty="0"/>
              <a:t> </a:t>
            </a:r>
            <a:r>
              <a:rPr lang="en-US" sz="2800" dirty="0" err="1"/>
              <a:t>rle</a:t>
            </a:r>
            <a:r>
              <a:rPr lang="en-US" sz="2800" dirty="0"/>
              <a:t> </a:t>
            </a:r>
            <a:r>
              <a:rPr lang="en-US" sz="2800" dirty="0" err="1"/>
              <a:t>hellaaaa</a:t>
            </a:r>
            <a:r>
              <a:rPr lang="en-US" sz="2800" dirty="0"/>
              <a:t> </a:t>
            </a:r>
            <a:r>
              <a:rPr lang="en-US" sz="2800" dirty="0" err="1"/>
              <a:t>jussa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3F820A7-D46B-46D8-A3CF-66A8CEAA457D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979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50558</TotalTime>
  <Words>2982</Words>
  <Application>Microsoft Macintosh PowerPoint</Application>
  <PresentationFormat>On-screen Show (4:3)</PresentationFormat>
  <Paragraphs>614</Paragraphs>
  <Slides>58</Slides>
  <Notes>19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8" baseType="lpstr">
      <vt:lpstr>BKM-cmcsc10</vt:lpstr>
      <vt:lpstr>BKM-cmmi12</vt:lpstr>
      <vt:lpstr>Calibri</vt:lpstr>
      <vt:lpstr>ＭＳ Ｐゴシック</vt:lpstr>
      <vt:lpstr>Times New Roman</vt:lpstr>
      <vt:lpstr>TIMES-ROMAN</vt:lpstr>
      <vt:lpstr>Wingdings</vt:lpstr>
      <vt:lpstr>Arial</vt:lpstr>
      <vt:lpstr>Office Theme</vt:lpstr>
      <vt:lpstr>Equation</vt:lpstr>
      <vt:lpstr>TTIC 31190: Natural Language Processing</vt:lpstr>
      <vt:lpstr>Announcements</vt:lpstr>
      <vt:lpstr>Roadmap</vt:lpstr>
      <vt:lpstr>Language Modeling</vt:lpstr>
      <vt:lpstr>Markov Assumption for Language Modeling</vt:lpstr>
      <vt:lpstr>Intuition of smoothing (from Dan Klein)</vt:lpstr>
      <vt:lpstr>“Add-1” estimation</vt:lpstr>
      <vt:lpstr>Backoff and Interpolation</vt:lpstr>
      <vt:lpstr>Linear Interpolation</vt:lpstr>
      <vt:lpstr>Kneser-Ney Smoothing</vt:lpstr>
      <vt:lpstr>Kneser-Ney Smoothing</vt:lpstr>
      <vt:lpstr>N-gram Smoothing Summary</vt:lpstr>
      <vt:lpstr>Roadmap</vt:lpstr>
      <vt:lpstr>Linguistic phenomena: summary so far…</vt:lpstr>
      <vt:lpstr>PowerPoint Presentation</vt:lpstr>
      <vt:lpstr>PowerPoint Presentation</vt:lpstr>
      <vt:lpstr>Part-of-Speech (POS)</vt:lpstr>
      <vt:lpstr>Penn Treebank tag set</vt:lpstr>
      <vt:lpstr>Universal Tag Set</vt:lpstr>
      <vt:lpstr>Twitter Part-of-Speech Tagging</vt:lpstr>
      <vt:lpstr>word sense vs. part-of-speech</vt:lpstr>
      <vt:lpstr>How might POS tags be useful?</vt:lpstr>
      <vt:lpstr>Classification Framework</vt:lpstr>
      <vt:lpstr>Applications of our Classification Framework</vt:lpstr>
      <vt:lpstr>Applications of our Classification Framework</vt:lpstr>
      <vt:lpstr>Applications of our Classification Framework</vt:lpstr>
      <vt:lpstr>Applications of our Classifier Framework so far</vt:lpstr>
      <vt:lpstr>Applications of our Classifier Framework so far</vt:lpstr>
      <vt:lpstr>Simplest kind of structured prediction: Sequence Labeling</vt:lpstr>
      <vt:lpstr>Learning</vt:lpstr>
      <vt:lpstr>Empirical Risk Minimization with Surrogate Loss Functions</vt:lpstr>
      <vt:lpstr>Loss Functions</vt:lpstr>
      <vt:lpstr>(Sub)gradients of Losses for Linear Models</vt:lpstr>
      <vt:lpstr>(Sub)gradients of Losses for Linear Models</vt:lpstr>
      <vt:lpstr>Sequence Models</vt:lpstr>
      <vt:lpstr>Hidden Markov Models (HMMs)</vt:lpstr>
      <vt:lpstr>Hidden Markov Models (HMMs)</vt:lpstr>
      <vt:lpstr>Markov Assumption for Language Modeling</vt:lpstr>
      <vt:lpstr>Independence and Conditional Independence</vt:lpstr>
      <vt:lpstr>Markov Assumption for Language Modeling</vt:lpstr>
      <vt:lpstr>Conditional Independence Assumptions of HMMs</vt:lpstr>
      <vt:lpstr>Graphical Model for an HMM (for a sequence of length 4)</vt:lpstr>
      <vt:lpstr>Graphical Model for an HMM (for a sequence of length 4)</vt:lpstr>
      <vt:lpstr>Graphical Model for an HMM (for a sequence of length 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Cluster</vt:lpstr>
      <vt:lpstr>Example Cluster</vt:lpstr>
      <vt:lpstr>“really”</vt:lpstr>
      <vt:lpstr>“really”</vt:lpstr>
      <vt:lpstr>“really”</vt:lpstr>
      <vt:lpstr>“going to”</vt:lpstr>
      <vt:lpstr>“so”</vt:lpstr>
      <vt:lpstr>Food-Related Adjectives</vt:lpstr>
      <vt:lpstr>Adjective Intensifiers/Qualifiers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 Gimpel</cp:lastModifiedBy>
  <cp:revision>1516</cp:revision>
  <cp:lastPrinted>2016-01-26T16:29:07Z</cp:lastPrinted>
  <dcterms:created xsi:type="dcterms:W3CDTF">2015-08-31T18:15:35Z</dcterms:created>
  <dcterms:modified xsi:type="dcterms:W3CDTF">2016-01-26T22:40:49Z</dcterms:modified>
</cp:coreProperties>
</file>