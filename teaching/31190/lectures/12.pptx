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2"/>
    <p:sldId id="1423" r:id="rId3"/>
    <p:sldId id="1421" r:id="rId4"/>
    <p:sldId id="1422" r:id="rId5"/>
    <p:sldId id="1209" r:id="rId6"/>
    <p:sldId id="1370" r:id="rId7"/>
    <p:sldId id="1414" r:id="rId8"/>
    <p:sldId id="1378" r:id="rId9"/>
    <p:sldId id="1375" r:id="rId10"/>
    <p:sldId id="1376" r:id="rId11"/>
    <p:sldId id="1382" r:id="rId12"/>
    <p:sldId id="1383" r:id="rId13"/>
    <p:sldId id="1384" r:id="rId14"/>
    <p:sldId id="1385" r:id="rId15"/>
    <p:sldId id="1386" r:id="rId16"/>
    <p:sldId id="1395" r:id="rId17"/>
    <p:sldId id="1396" r:id="rId18"/>
    <p:sldId id="1417" r:id="rId19"/>
    <p:sldId id="1419" r:id="rId20"/>
    <p:sldId id="1425" r:id="rId21"/>
    <p:sldId id="1416" r:id="rId22"/>
    <p:sldId id="1406" r:id="rId23"/>
    <p:sldId id="1407" r:id="rId24"/>
    <p:sldId id="1404" r:id="rId25"/>
    <p:sldId id="1405" r:id="rId26"/>
    <p:sldId id="1408" r:id="rId27"/>
    <p:sldId id="1379" r:id="rId28"/>
    <p:sldId id="1391" r:id="rId29"/>
    <p:sldId id="1380" r:id="rId30"/>
    <p:sldId id="1381" r:id="rId31"/>
    <p:sldId id="1392" r:id="rId32"/>
    <p:sldId id="1393" r:id="rId33"/>
    <p:sldId id="1394" r:id="rId34"/>
    <p:sldId id="1399" r:id="rId35"/>
    <p:sldId id="1400" r:id="rId36"/>
    <p:sldId id="1402" r:id="rId37"/>
    <p:sldId id="1401" r:id="rId38"/>
    <p:sldId id="1397" r:id="rId39"/>
    <p:sldId id="1398" r:id="rId40"/>
    <p:sldId id="1390" r:id="rId41"/>
    <p:sldId id="1409" r:id="rId42"/>
    <p:sldId id="1410" r:id="rId43"/>
    <p:sldId id="1412" r:id="rId44"/>
    <p:sldId id="1411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8CD2"/>
    <a:srgbClr val="B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2"/>
    <p:restoredTop sz="96422" autoAdjust="0"/>
  </p:normalViewPr>
  <p:slideViewPr>
    <p:cSldViewPr snapToGrid="0" snapToObjects="1">
      <p:cViewPr>
        <p:scale>
          <a:sx n="125" d="100"/>
          <a:sy n="125" d="100"/>
        </p:scale>
        <p:origin x="-267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interSettings" Target="printerSettings/printerSettings1.bin"/><Relationship Id="rId49" Type="http://schemas.openxmlformats.org/officeDocument/2006/relationships/presProps" Target="presProp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2/10/16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2/10/16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2/10/16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2/10/16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2/10/16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4" Type="http://schemas.openxmlformats.org/officeDocument/2006/relationships/image" Target="../media/image14.emf"/><Relationship Id="rId5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/>
          <a:lstStyle/>
          <a:p>
            <a:r>
              <a:rPr lang="en-US" dirty="0" smtClean="0"/>
              <a:t>TTIC 31190:</a:t>
            </a:r>
            <a:br>
              <a:rPr lang="en-US" dirty="0" smtClean="0"/>
            </a:br>
            <a:r>
              <a:rPr lang="en-US" dirty="0" smtClean="0"/>
              <a:t>Natural Language Processing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93900"/>
            <a:ext cx="6400800" cy="3403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Winter 2016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Lecture 12: </a:t>
            </a:r>
          </a:p>
          <a:p>
            <a:r>
              <a:rPr lang="en-US" sz="4000" dirty="0" smtClean="0">
                <a:solidFill>
                  <a:schemeClr val="tx1"/>
                </a:solidFill>
              </a:rPr>
              <a:t>Syntax and Parsing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Announcement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project proposal due Tuesday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2881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Announcement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midterm is one week from today, room #530</a:t>
            </a:r>
          </a:p>
          <a:p>
            <a:r>
              <a:rPr lang="en-US" dirty="0" smtClean="0"/>
              <a:t>it’ll be closed-book</a:t>
            </a:r>
          </a:p>
          <a:p>
            <a:r>
              <a:rPr lang="en-US" dirty="0" smtClean="0"/>
              <a:t>if you want, you can bring an 8.5x11 sheet, but I don’t think you’ll need to</a:t>
            </a:r>
          </a:p>
          <a:p>
            <a:r>
              <a:rPr lang="en-US" dirty="0" smtClean="0"/>
              <a:t>on Tuesday we will review all the course material and go through some example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529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Office Hours Next Week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unfortunately, my office hour on Monday must be canceled (EAC visit)</a:t>
            </a:r>
          </a:p>
          <a:p>
            <a:r>
              <a:rPr lang="en-US" dirty="0" smtClean="0"/>
              <a:t>I will instead have it on Tuesday 9:30-10:30 am (right before class)</a:t>
            </a:r>
          </a:p>
          <a:p>
            <a:r>
              <a:rPr lang="en-US" dirty="0" smtClean="0"/>
              <a:t>feel free to email me and make an appointment if that time does not work for you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08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sz="2400" dirty="0" smtClean="0"/>
              <a:t>classification</a:t>
            </a:r>
          </a:p>
          <a:p>
            <a:r>
              <a:rPr lang="en-US" sz="2400" dirty="0" smtClean="0"/>
              <a:t>words</a:t>
            </a:r>
          </a:p>
          <a:p>
            <a:r>
              <a:rPr lang="en-US" sz="2400" dirty="0" smtClean="0"/>
              <a:t>lexical semantics</a:t>
            </a:r>
          </a:p>
          <a:p>
            <a:r>
              <a:rPr lang="en-US" sz="2400" dirty="0" smtClean="0"/>
              <a:t>language modeling</a:t>
            </a:r>
          </a:p>
          <a:p>
            <a:r>
              <a:rPr lang="en-US" sz="2400" dirty="0" smtClean="0"/>
              <a:t>sequence labeling</a:t>
            </a:r>
          </a:p>
          <a:p>
            <a:r>
              <a:rPr lang="en-US" sz="2400" dirty="0" smtClean="0"/>
              <a:t>neural network methods in NLP</a:t>
            </a:r>
          </a:p>
          <a:p>
            <a:r>
              <a:rPr lang="en-US" sz="2400" dirty="0">
                <a:solidFill>
                  <a:srgbClr val="288CD2"/>
                </a:solidFill>
              </a:rPr>
              <a:t>syntax and syntactic parsing</a:t>
            </a:r>
          </a:p>
          <a:p>
            <a:r>
              <a:rPr lang="en-US" sz="2400" dirty="0" smtClean="0"/>
              <a:t>semantic compositionality</a:t>
            </a:r>
          </a:p>
          <a:p>
            <a:r>
              <a:rPr lang="en-US" sz="2400" dirty="0" smtClean="0"/>
              <a:t>semantic parsing</a:t>
            </a:r>
          </a:p>
          <a:p>
            <a:r>
              <a:rPr lang="en-US" sz="2400" dirty="0" smtClean="0"/>
              <a:t>unsupervised learning</a:t>
            </a:r>
          </a:p>
          <a:p>
            <a:r>
              <a:rPr lang="en-US" sz="2400" dirty="0" smtClean="0"/>
              <a:t>machine translation and other applications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6786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Syntax?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rules, principles, processes that govern sentence structure of a language</a:t>
            </a:r>
          </a:p>
          <a:p>
            <a:r>
              <a:rPr lang="en-US" dirty="0" smtClean="0"/>
              <a:t>can differ widely among languages</a:t>
            </a:r>
          </a:p>
          <a:p>
            <a:r>
              <a:rPr lang="en-US" dirty="0" smtClean="0"/>
              <a:t>but every language has systematic structural principles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881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Subject, Verb,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35649"/>
            <a:ext cx="8229600" cy="5052424"/>
          </a:xfrm>
        </p:spPr>
        <p:txBody>
          <a:bodyPr/>
          <a:lstStyle/>
          <a:p>
            <a:r>
              <a:rPr lang="en-US" dirty="0" smtClean="0"/>
              <a:t>syntax determines the ordering of these three </a:t>
            </a:r>
            <a:r>
              <a:rPr lang="en-US" dirty="0" smtClean="0"/>
              <a:t>objects </a:t>
            </a:r>
            <a:r>
              <a:rPr lang="en-US" dirty="0" smtClean="0"/>
              <a:t>in a sentence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 descr="Screen Shot 2016-02-10 at 1.54.0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" y="2278380"/>
            <a:ext cx="8206740" cy="398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9796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Yodish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1537380"/>
          </a:xfrm>
        </p:spPr>
        <p:txBody>
          <a:bodyPr/>
          <a:lstStyle/>
          <a:p>
            <a:r>
              <a:rPr lang="en-US" dirty="0" smtClean="0"/>
              <a:t>often (though certainly not always) Yoda uses object-subject-verb order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 descr="yod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12" y="2397760"/>
            <a:ext cx="3501294" cy="35991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21200" y="3149600"/>
            <a:ext cx="3860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/>
              <a:t>“Powerful you have become. The dark side I sense in you.” 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8280717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Grammars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will use </a:t>
            </a:r>
            <a:r>
              <a:rPr lang="en-US" b="1" dirty="0" smtClean="0">
                <a:solidFill>
                  <a:srgbClr val="288CD2"/>
                </a:solidFill>
              </a:rPr>
              <a:t>grammar</a:t>
            </a:r>
            <a:r>
              <a:rPr lang="en-US" dirty="0" smtClean="0"/>
              <a:t> </a:t>
            </a:r>
            <a:r>
              <a:rPr lang="en-US" dirty="0" smtClean="0"/>
              <a:t>to denote a formal object that represents the rules/principles/processes that determine sentence structure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014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phrase structure </a:t>
            </a:r>
            <a:r>
              <a:rPr lang="en-US" sz="3600" dirty="0" smtClean="0"/>
              <a:t>/ constituent grammar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680" y="1043260"/>
            <a:ext cx="8757920" cy="5052424"/>
          </a:xfrm>
        </p:spPr>
        <p:txBody>
          <a:bodyPr>
            <a:noAutofit/>
          </a:bodyPr>
          <a:lstStyle/>
          <a:p>
            <a:r>
              <a:rPr lang="en-US" sz="2800" dirty="0" smtClean="0"/>
              <a:t>focuses on the </a:t>
            </a:r>
            <a:r>
              <a:rPr lang="en-US" sz="2800" b="1" dirty="0" smtClean="0">
                <a:solidFill>
                  <a:srgbClr val="288CD2"/>
                </a:solidFill>
              </a:rPr>
              <a:t>constituent </a:t>
            </a:r>
            <a:r>
              <a:rPr lang="en-US" sz="2800" dirty="0" smtClean="0"/>
              <a:t>relation</a:t>
            </a:r>
          </a:p>
          <a:p>
            <a:r>
              <a:rPr lang="en-US" sz="2800" dirty="0" smtClean="0"/>
              <a:t>informally: “sentences have hierarchical structure”</a:t>
            </a:r>
          </a:p>
          <a:p>
            <a:r>
              <a:rPr lang="en-US" sz="2800" dirty="0" smtClean="0"/>
              <a:t>a sentence is made up of two pieces:</a:t>
            </a:r>
          </a:p>
          <a:p>
            <a:pPr lvl="1"/>
            <a:r>
              <a:rPr lang="en-US" sz="2400" dirty="0" smtClean="0"/>
              <a:t>subject, typically a </a:t>
            </a:r>
            <a:r>
              <a:rPr lang="en-US" sz="2400" b="1" dirty="0" smtClean="0">
                <a:solidFill>
                  <a:srgbClr val="288CD2"/>
                </a:solidFill>
              </a:rPr>
              <a:t>noun phrase (NP)</a:t>
            </a:r>
          </a:p>
          <a:p>
            <a:pPr lvl="1"/>
            <a:r>
              <a:rPr lang="en-US" sz="2400" dirty="0" smtClean="0"/>
              <a:t>predicate, typically a </a:t>
            </a:r>
            <a:r>
              <a:rPr lang="en-US" sz="2400" b="1" dirty="0" smtClean="0">
                <a:solidFill>
                  <a:srgbClr val="288CD2"/>
                </a:solidFill>
              </a:rPr>
              <a:t>verb phrase (VP)</a:t>
            </a:r>
          </a:p>
          <a:p>
            <a:r>
              <a:rPr lang="en-US" sz="2800" dirty="0" smtClean="0"/>
              <a:t>NPs and VPs are in turn made of up of </a:t>
            </a:r>
            <a:r>
              <a:rPr lang="en-US" sz="2800" dirty="0" smtClean="0"/>
              <a:t>pieces:</a:t>
            </a:r>
            <a:endParaRPr lang="en-US" sz="2800" dirty="0" smtClean="0"/>
          </a:p>
          <a:p>
            <a:pPr lvl="1"/>
            <a:r>
              <a:rPr lang="en-US" sz="2400" dirty="0" smtClean="0"/>
              <a:t>old books </a:t>
            </a:r>
            <a:r>
              <a:rPr lang="en-US" sz="2400" dirty="0" smtClean="0"/>
              <a:t>= </a:t>
            </a:r>
            <a:r>
              <a:rPr lang="en-US" sz="2400" dirty="0" smtClean="0"/>
              <a:t>(old </a:t>
            </a:r>
            <a:r>
              <a:rPr lang="en-US" sz="2400" dirty="0" smtClean="0"/>
              <a:t>+ </a:t>
            </a:r>
            <a:r>
              <a:rPr lang="en-US" sz="2400" dirty="0" smtClean="0"/>
              <a:t>books)</a:t>
            </a:r>
            <a:endParaRPr lang="en-US" sz="2400" dirty="0" smtClean="0"/>
          </a:p>
          <a:p>
            <a:pPr lvl="1"/>
            <a:r>
              <a:rPr lang="en-US" sz="2400" dirty="0"/>
              <a:t>the old </a:t>
            </a:r>
            <a:r>
              <a:rPr lang="en-US" sz="2400" dirty="0" smtClean="0"/>
              <a:t>books</a:t>
            </a:r>
            <a:r>
              <a:rPr lang="en-US" sz="2400" dirty="0" smtClean="0"/>
              <a:t> </a:t>
            </a:r>
            <a:r>
              <a:rPr lang="en-US" sz="2400" dirty="0"/>
              <a:t>= </a:t>
            </a:r>
            <a:r>
              <a:rPr lang="en-US" sz="2400" dirty="0" smtClean="0"/>
              <a:t>(the </a:t>
            </a:r>
            <a:r>
              <a:rPr lang="en-US" sz="2400" dirty="0"/>
              <a:t>+ (old + </a:t>
            </a:r>
            <a:r>
              <a:rPr lang="en-US" sz="2400" dirty="0" smtClean="0"/>
              <a:t>books)</a:t>
            </a:r>
            <a:r>
              <a:rPr lang="en-US" sz="2400" dirty="0" smtClean="0"/>
              <a:t>)</a:t>
            </a:r>
            <a:endParaRPr lang="en-US" sz="2400" dirty="0"/>
          </a:p>
          <a:p>
            <a:pPr lvl="1"/>
            <a:r>
              <a:rPr lang="en-US" sz="2400" dirty="0" smtClean="0"/>
              <a:t>walked to the park = (walked + (to + (the + park)))</a:t>
            </a:r>
          </a:p>
          <a:p>
            <a:r>
              <a:rPr lang="en-US" sz="2800" dirty="0" smtClean="0"/>
              <a:t>each parenthesized phrase is a </a:t>
            </a:r>
            <a:r>
              <a:rPr lang="en-US" sz="2800" b="1" dirty="0" smtClean="0">
                <a:solidFill>
                  <a:srgbClr val="288CD2"/>
                </a:solidFill>
              </a:rPr>
              <a:t>constituent </a:t>
            </a:r>
            <a:r>
              <a:rPr lang="en-US" sz="2800" dirty="0" smtClean="0"/>
              <a:t>in the </a:t>
            </a:r>
            <a:r>
              <a:rPr lang="en-US" sz="2800" b="1" dirty="0" smtClean="0">
                <a:solidFill>
                  <a:srgbClr val="288CD2"/>
                </a:solidFill>
              </a:rPr>
              <a:t>constituent parse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1844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Bracketing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constituent parse = </a:t>
            </a:r>
            <a:r>
              <a:rPr lang="en-US" b="1" dirty="0" smtClean="0">
                <a:solidFill>
                  <a:srgbClr val="288CD2"/>
                </a:solidFill>
              </a:rPr>
              <a:t>bracketing</a:t>
            </a:r>
            <a:r>
              <a:rPr lang="en-US" dirty="0" smtClean="0"/>
              <a:t> </a:t>
            </a:r>
            <a:r>
              <a:rPr lang="en-US" dirty="0" smtClean="0"/>
              <a:t>(that represents </a:t>
            </a:r>
            <a:r>
              <a:rPr lang="en-US" dirty="0" smtClean="0"/>
              <a:t>the hierarchical structure)</a:t>
            </a:r>
          </a:p>
          <a:p>
            <a:r>
              <a:rPr lang="en-US" dirty="0" smtClean="0"/>
              <a:t>e.g., sentence:</a:t>
            </a:r>
          </a:p>
          <a:p>
            <a:pPr marL="0" indent="0">
              <a:buNone/>
            </a:pPr>
            <a:r>
              <a:rPr lang="en-US" i="1" dirty="0" smtClean="0"/>
              <a:t>the man walked to the park</a:t>
            </a:r>
          </a:p>
          <a:p>
            <a:r>
              <a:rPr lang="en-US" dirty="0" smtClean="0"/>
              <a:t>bracketing:</a:t>
            </a:r>
          </a:p>
          <a:p>
            <a:pPr marL="0" indent="0">
              <a:buNone/>
            </a:pPr>
            <a:r>
              <a:rPr lang="en-US" i="1" dirty="0" smtClean="0"/>
              <a:t>((the man) (walked (to (the park))))</a:t>
            </a:r>
            <a:endParaRPr lang="en-US" i="1" dirty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279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Bracketing </a:t>
            </a:r>
            <a:r>
              <a:rPr lang="en-US" dirty="0" smtClean="0">
                <a:sym typeface="Wingdings"/>
              </a:rPr>
              <a:t>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9785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((the man) (walked (to (the park)))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we often draw the bracketing as a tree: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12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1584960" y="2214880"/>
            <a:ext cx="894080" cy="85344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2479040" y="2214880"/>
            <a:ext cx="1381760" cy="61976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690880" y="3068320"/>
            <a:ext cx="894080" cy="85344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1178560" y="3464560"/>
            <a:ext cx="416560" cy="47752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6240" y="3901440"/>
            <a:ext cx="5365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the man walked to the park</a:t>
            </a:r>
            <a:endParaRPr lang="en-US" sz="3600" dirty="0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2753360" y="2834640"/>
            <a:ext cx="1107440" cy="110744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860800" y="2834640"/>
            <a:ext cx="619760" cy="45720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3779520" y="3302000"/>
            <a:ext cx="701040" cy="64008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 flipV="1">
            <a:off x="4480560" y="3302000"/>
            <a:ext cx="701040" cy="64008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4378960" y="3622040"/>
            <a:ext cx="452120" cy="32004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7283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Labeled </a:t>
            </a:r>
            <a:r>
              <a:rPr lang="en-US" dirty="0" err="1" smtClean="0"/>
              <a:t>Bracketings</a:t>
            </a:r>
            <a:r>
              <a:rPr lang="en-US" dirty="0" smtClean="0"/>
              <a:t>/Trees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7144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/>
              <a:t>(S (NP the </a:t>
            </a:r>
            <a:r>
              <a:rPr lang="en-US" dirty="0"/>
              <a:t>man) </a:t>
            </a:r>
            <a:r>
              <a:rPr lang="en-US" dirty="0" smtClean="0"/>
              <a:t>(VP walked (PP to (NP the </a:t>
            </a:r>
            <a:r>
              <a:rPr lang="en-US" dirty="0"/>
              <a:t>park)))</a:t>
            </a:r>
            <a:r>
              <a:rPr lang="en-US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 flipH="1">
            <a:off x="1402080" y="2061884"/>
            <a:ext cx="1065175" cy="91499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endCxn id="5" idx="2"/>
          </p:cNvCxnSpPr>
          <p:nvPr/>
        </p:nvCxnSpPr>
        <p:spPr>
          <a:xfrm flipH="1" flipV="1">
            <a:off x="2467255" y="2061884"/>
            <a:ext cx="1312265" cy="39683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690880" y="3464560"/>
            <a:ext cx="48768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1178560" y="3464560"/>
            <a:ext cx="41656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6240" y="4631005"/>
            <a:ext cx="5365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the man walked to the park</a:t>
            </a:r>
            <a:endParaRPr lang="en-US" sz="3600" dirty="0"/>
          </a:p>
        </p:txBody>
      </p:sp>
      <p:cxnSp>
        <p:nvCxnSpPr>
          <p:cNvPr id="14" name="Straight Connector 13"/>
          <p:cNvCxnSpPr>
            <a:stCxn id="21" idx="2"/>
          </p:cNvCxnSpPr>
          <p:nvPr/>
        </p:nvCxnSpPr>
        <p:spPr>
          <a:xfrm flipH="1">
            <a:off x="2753360" y="2935068"/>
            <a:ext cx="1115988" cy="169593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21" idx="2"/>
          </p:cNvCxnSpPr>
          <p:nvPr/>
        </p:nvCxnSpPr>
        <p:spPr>
          <a:xfrm>
            <a:off x="3869348" y="2935068"/>
            <a:ext cx="384181" cy="27434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30" idx="2"/>
          </p:cNvCxnSpPr>
          <p:nvPr/>
        </p:nvCxnSpPr>
        <p:spPr>
          <a:xfrm flipH="1">
            <a:off x="3830320" y="3631028"/>
            <a:ext cx="609600" cy="99997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30" idx="2"/>
          </p:cNvCxnSpPr>
          <p:nvPr/>
        </p:nvCxnSpPr>
        <p:spPr>
          <a:xfrm flipH="1" flipV="1">
            <a:off x="4439920" y="3631028"/>
            <a:ext cx="277830" cy="250092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9" idx="2"/>
          </p:cNvCxnSpPr>
          <p:nvPr/>
        </p:nvCxnSpPr>
        <p:spPr>
          <a:xfrm flipH="1">
            <a:off x="4439920" y="4320530"/>
            <a:ext cx="41624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92430" y="1538664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S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913241" y="2920424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NP</a:t>
            </a:r>
            <a:endParaRPr lang="en-US" sz="2800" dirty="0"/>
          </a:p>
        </p:txBody>
      </p:sp>
      <p:sp>
        <p:nvSpPr>
          <p:cNvPr id="19" name="TextBox 18"/>
          <p:cNvSpPr txBox="1"/>
          <p:nvPr/>
        </p:nvSpPr>
        <p:spPr>
          <a:xfrm>
            <a:off x="4555190" y="3797310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NP</a:t>
            </a:r>
            <a:endParaRPr lang="en-US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3582400" y="2411848"/>
            <a:ext cx="573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</a:t>
            </a:r>
            <a:r>
              <a:rPr lang="en-US" sz="2800" dirty="0" smtClean="0"/>
              <a:t>P</a:t>
            </a:r>
            <a:endParaRPr lang="en-US" sz="2800" dirty="0"/>
          </a:p>
        </p:txBody>
      </p:sp>
      <p:sp>
        <p:nvSpPr>
          <p:cNvPr id="30" name="TextBox 29"/>
          <p:cNvSpPr txBox="1"/>
          <p:nvPr/>
        </p:nvSpPr>
        <p:spPr>
          <a:xfrm>
            <a:off x="4162089" y="3107808"/>
            <a:ext cx="555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</a:t>
            </a:r>
            <a:r>
              <a:rPr lang="en-US" sz="2800" dirty="0" smtClean="0"/>
              <a:t>P</a:t>
            </a:r>
            <a:endParaRPr lang="en-US" sz="2800" dirty="0"/>
          </a:p>
        </p:txBody>
      </p:sp>
      <p:cxnSp>
        <p:nvCxnSpPr>
          <p:cNvPr id="43" name="Straight Connector 42"/>
          <p:cNvCxnSpPr>
            <a:endCxn id="19" idx="2"/>
          </p:cNvCxnSpPr>
          <p:nvPr/>
        </p:nvCxnSpPr>
        <p:spPr>
          <a:xfrm flipH="1" flipV="1">
            <a:off x="4856164" y="4320530"/>
            <a:ext cx="30097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997539" y="2420856"/>
            <a:ext cx="283663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Key:</a:t>
            </a:r>
          </a:p>
          <a:p>
            <a:r>
              <a:rPr lang="en-US" sz="2000" dirty="0" smtClean="0"/>
              <a:t>S = sentence</a:t>
            </a:r>
          </a:p>
          <a:p>
            <a:r>
              <a:rPr lang="en-US" sz="2000" dirty="0" smtClean="0"/>
              <a:t>NP = noun phrase</a:t>
            </a:r>
          </a:p>
          <a:p>
            <a:r>
              <a:rPr lang="en-US" sz="2000" dirty="0" smtClean="0"/>
              <a:t>VP = verb phrase</a:t>
            </a:r>
          </a:p>
          <a:p>
            <a:r>
              <a:rPr lang="en-US" sz="2000" dirty="0" smtClean="0"/>
              <a:t>PP = prepositional phrase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705767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Labeled </a:t>
            </a:r>
            <a:r>
              <a:rPr lang="en-US" dirty="0" err="1" smtClean="0"/>
              <a:t>Bracketings</a:t>
            </a:r>
            <a:r>
              <a:rPr lang="en-US" dirty="0" smtClean="0"/>
              <a:t>/Trees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7144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/>
              <a:t>(S (NP the </a:t>
            </a:r>
            <a:r>
              <a:rPr lang="en-US" dirty="0"/>
              <a:t>man) </a:t>
            </a:r>
            <a:r>
              <a:rPr lang="en-US" dirty="0" smtClean="0"/>
              <a:t>(VP walked (PP to (NP the </a:t>
            </a:r>
            <a:r>
              <a:rPr lang="en-US" dirty="0"/>
              <a:t>park)))</a:t>
            </a:r>
            <a:r>
              <a:rPr lang="en-US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 flipH="1">
            <a:off x="1402080" y="2061884"/>
            <a:ext cx="1065175" cy="91499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endCxn id="5" idx="2"/>
          </p:cNvCxnSpPr>
          <p:nvPr/>
        </p:nvCxnSpPr>
        <p:spPr>
          <a:xfrm flipH="1" flipV="1">
            <a:off x="2467255" y="2061884"/>
            <a:ext cx="1312265" cy="39683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690880" y="3464560"/>
            <a:ext cx="48768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1178560" y="3464560"/>
            <a:ext cx="41656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6240" y="4954170"/>
            <a:ext cx="5365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the man walked to the park</a:t>
            </a:r>
            <a:endParaRPr lang="en-US" sz="3600" dirty="0"/>
          </a:p>
        </p:txBody>
      </p:sp>
      <p:cxnSp>
        <p:nvCxnSpPr>
          <p:cNvPr id="14" name="Straight Connector 13"/>
          <p:cNvCxnSpPr>
            <a:stCxn id="21" idx="2"/>
          </p:cNvCxnSpPr>
          <p:nvPr/>
        </p:nvCxnSpPr>
        <p:spPr>
          <a:xfrm flipH="1">
            <a:off x="2753360" y="2935068"/>
            <a:ext cx="1115988" cy="169593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21" idx="2"/>
          </p:cNvCxnSpPr>
          <p:nvPr/>
        </p:nvCxnSpPr>
        <p:spPr>
          <a:xfrm>
            <a:off x="3869348" y="2935068"/>
            <a:ext cx="384181" cy="27434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30" idx="2"/>
          </p:cNvCxnSpPr>
          <p:nvPr/>
        </p:nvCxnSpPr>
        <p:spPr>
          <a:xfrm flipH="1">
            <a:off x="3830320" y="3631028"/>
            <a:ext cx="609600" cy="99997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30" idx="2"/>
          </p:cNvCxnSpPr>
          <p:nvPr/>
        </p:nvCxnSpPr>
        <p:spPr>
          <a:xfrm flipH="1" flipV="1">
            <a:off x="4439920" y="3631028"/>
            <a:ext cx="277830" cy="250092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9" idx="2"/>
          </p:cNvCxnSpPr>
          <p:nvPr/>
        </p:nvCxnSpPr>
        <p:spPr>
          <a:xfrm flipH="1">
            <a:off x="4439920" y="4320530"/>
            <a:ext cx="41624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92430" y="1538664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S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913241" y="2920424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NP</a:t>
            </a:r>
            <a:endParaRPr lang="en-US" sz="2800" dirty="0"/>
          </a:p>
        </p:txBody>
      </p:sp>
      <p:sp>
        <p:nvSpPr>
          <p:cNvPr id="19" name="TextBox 18"/>
          <p:cNvSpPr txBox="1"/>
          <p:nvPr/>
        </p:nvSpPr>
        <p:spPr>
          <a:xfrm>
            <a:off x="4555190" y="3797310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NP</a:t>
            </a:r>
            <a:endParaRPr lang="en-US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3582400" y="2411848"/>
            <a:ext cx="573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</a:t>
            </a:r>
            <a:r>
              <a:rPr lang="en-US" sz="2800" dirty="0" smtClean="0"/>
              <a:t>P</a:t>
            </a:r>
            <a:endParaRPr lang="en-US" sz="2800" dirty="0"/>
          </a:p>
        </p:txBody>
      </p:sp>
      <p:sp>
        <p:nvSpPr>
          <p:cNvPr id="30" name="TextBox 29"/>
          <p:cNvSpPr txBox="1"/>
          <p:nvPr/>
        </p:nvSpPr>
        <p:spPr>
          <a:xfrm>
            <a:off x="4162089" y="3107808"/>
            <a:ext cx="555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</a:t>
            </a:r>
            <a:r>
              <a:rPr lang="en-US" sz="2800" dirty="0" smtClean="0"/>
              <a:t>P</a:t>
            </a:r>
            <a:endParaRPr lang="en-US" sz="2800" dirty="0"/>
          </a:p>
        </p:txBody>
      </p:sp>
      <p:cxnSp>
        <p:nvCxnSpPr>
          <p:cNvPr id="43" name="Straight Connector 42"/>
          <p:cNvCxnSpPr>
            <a:endCxn id="19" idx="2"/>
          </p:cNvCxnSpPr>
          <p:nvPr/>
        </p:nvCxnSpPr>
        <p:spPr>
          <a:xfrm flipH="1" flipV="1">
            <a:off x="4856164" y="4320530"/>
            <a:ext cx="30097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997539" y="2420856"/>
            <a:ext cx="2836634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Key:</a:t>
            </a:r>
          </a:p>
          <a:p>
            <a:r>
              <a:rPr lang="en-US" sz="2000" dirty="0" smtClean="0"/>
              <a:t>S = sentence</a:t>
            </a:r>
          </a:p>
          <a:p>
            <a:r>
              <a:rPr lang="en-US" sz="2000" dirty="0" smtClean="0"/>
              <a:t>NP = noun phrase</a:t>
            </a:r>
          </a:p>
          <a:p>
            <a:r>
              <a:rPr lang="en-US" sz="2000" dirty="0" smtClean="0"/>
              <a:t>VP = verb phrase</a:t>
            </a:r>
          </a:p>
          <a:p>
            <a:r>
              <a:rPr lang="en-US" sz="2000" dirty="0" smtClean="0"/>
              <a:t>PP = prepositional phrase</a:t>
            </a:r>
          </a:p>
          <a:p>
            <a:r>
              <a:rPr lang="en-US" sz="2000" dirty="0" smtClean="0"/>
              <a:t>DT = determiner</a:t>
            </a:r>
          </a:p>
          <a:p>
            <a:r>
              <a:rPr lang="en-US" sz="2000" dirty="0" smtClean="0"/>
              <a:t>NN = noun</a:t>
            </a:r>
          </a:p>
          <a:p>
            <a:r>
              <a:rPr lang="en-US" sz="2000" dirty="0" smtClean="0"/>
              <a:t>VBD = verb (past tense)</a:t>
            </a:r>
          </a:p>
          <a:p>
            <a:r>
              <a:rPr lang="en-US" sz="2000" dirty="0" smtClean="0"/>
              <a:t>IN = preposition</a:t>
            </a:r>
          </a:p>
          <a:p>
            <a:endParaRPr 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440706" y="4589769"/>
            <a:ext cx="580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DT</a:t>
            </a:r>
            <a:endParaRPr lang="en-US" sz="2800" dirty="0"/>
          </a:p>
        </p:txBody>
      </p:sp>
      <p:sp>
        <p:nvSpPr>
          <p:cNvPr id="25" name="TextBox 24"/>
          <p:cNvSpPr txBox="1"/>
          <p:nvPr/>
        </p:nvSpPr>
        <p:spPr>
          <a:xfrm>
            <a:off x="1304841" y="4589769"/>
            <a:ext cx="648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NN</a:t>
            </a:r>
            <a:endParaRPr lang="en-US" sz="2800" dirty="0"/>
          </a:p>
        </p:txBody>
      </p:sp>
      <p:sp>
        <p:nvSpPr>
          <p:cNvPr id="26" name="TextBox 25"/>
          <p:cNvSpPr txBox="1"/>
          <p:nvPr/>
        </p:nvSpPr>
        <p:spPr>
          <a:xfrm>
            <a:off x="2385975" y="4607538"/>
            <a:ext cx="3122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VBD      IN    DT    NN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489265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Labeled </a:t>
            </a:r>
            <a:r>
              <a:rPr lang="en-US" dirty="0" err="1" smtClean="0"/>
              <a:t>Bracketings</a:t>
            </a:r>
            <a:r>
              <a:rPr lang="en-US" dirty="0" smtClean="0"/>
              <a:t>/Trees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7144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/>
              <a:t>(S (NP the </a:t>
            </a:r>
            <a:r>
              <a:rPr lang="en-US" dirty="0"/>
              <a:t>man) </a:t>
            </a:r>
            <a:r>
              <a:rPr lang="en-US" dirty="0" smtClean="0"/>
              <a:t>(VP walked (PP to (NP the </a:t>
            </a:r>
            <a:r>
              <a:rPr lang="en-US" dirty="0"/>
              <a:t>park)))</a:t>
            </a:r>
            <a:r>
              <a:rPr lang="en-US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15</a:t>
            </a:fld>
            <a:endParaRPr lang="en-US"/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 flipH="1">
            <a:off x="1402080" y="2061884"/>
            <a:ext cx="1065175" cy="91499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endCxn id="5" idx="2"/>
          </p:cNvCxnSpPr>
          <p:nvPr/>
        </p:nvCxnSpPr>
        <p:spPr>
          <a:xfrm flipH="1" flipV="1">
            <a:off x="2467255" y="2061884"/>
            <a:ext cx="1312265" cy="39683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690880" y="3464560"/>
            <a:ext cx="48768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1178560" y="3464560"/>
            <a:ext cx="41656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6240" y="4954170"/>
            <a:ext cx="5365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the man walked to the park</a:t>
            </a:r>
            <a:endParaRPr lang="en-US" sz="3600" dirty="0"/>
          </a:p>
        </p:txBody>
      </p:sp>
      <p:cxnSp>
        <p:nvCxnSpPr>
          <p:cNvPr id="14" name="Straight Connector 13"/>
          <p:cNvCxnSpPr>
            <a:stCxn id="21" idx="2"/>
          </p:cNvCxnSpPr>
          <p:nvPr/>
        </p:nvCxnSpPr>
        <p:spPr>
          <a:xfrm flipH="1">
            <a:off x="2753360" y="2935068"/>
            <a:ext cx="1115988" cy="169593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21" idx="2"/>
          </p:cNvCxnSpPr>
          <p:nvPr/>
        </p:nvCxnSpPr>
        <p:spPr>
          <a:xfrm>
            <a:off x="3869348" y="2935068"/>
            <a:ext cx="384181" cy="27434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30" idx="2"/>
          </p:cNvCxnSpPr>
          <p:nvPr/>
        </p:nvCxnSpPr>
        <p:spPr>
          <a:xfrm flipH="1">
            <a:off x="3830320" y="3631028"/>
            <a:ext cx="609600" cy="99997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30" idx="2"/>
          </p:cNvCxnSpPr>
          <p:nvPr/>
        </p:nvCxnSpPr>
        <p:spPr>
          <a:xfrm flipH="1" flipV="1">
            <a:off x="4439920" y="3631028"/>
            <a:ext cx="277830" cy="250092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9" idx="2"/>
          </p:cNvCxnSpPr>
          <p:nvPr/>
        </p:nvCxnSpPr>
        <p:spPr>
          <a:xfrm flipH="1">
            <a:off x="4439920" y="4320530"/>
            <a:ext cx="41624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92430" y="1538664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S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913241" y="2920424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NP</a:t>
            </a:r>
            <a:endParaRPr lang="en-US" sz="2800" dirty="0"/>
          </a:p>
        </p:txBody>
      </p:sp>
      <p:sp>
        <p:nvSpPr>
          <p:cNvPr id="19" name="TextBox 18"/>
          <p:cNvSpPr txBox="1"/>
          <p:nvPr/>
        </p:nvSpPr>
        <p:spPr>
          <a:xfrm>
            <a:off x="4555190" y="3797310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NP</a:t>
            </a:r>
            <a:endParaRPr lang="en-US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3582400" y="2411848"/>
            <a:ext cx="573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</a:t>
            </a:r>
            <a:r>
              <a:rPr lang="en-US" sz="2800" dirty="0" smtClean="0"/>
              <a:t>P</a:t>
            </a:r>
            <a:endParaRPr lang="en-US" sz="2800" dirty="0"/>
          </a:p>
        </p:txBody>
      </p:sp>
      <p:sp>
        <p:nvSpPr>
          <p:cNvPr id="30" name="TextBox 29"/>
          <p:cNvSpPr txBox="1"/>
          <p:nvPr/>
        </p:nvSpPr>
        <p:spPr>
          <a:xfrm>
            <a:off x="4162089" y="3107808"/>
            <a:ext cx="555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</a:t>
            </a:r>
            <a:r>
              <a:rPr lang="en-US" sz="2800" dirty="0" smtClean="0"/>
              <a:t>P</a:t>
            </a:r>
            <a:endParaRPr lang="en-US" sz="2800" dirty="0"/>
          </a:p>
        </p:txBody>
      </p:sp>
      <p:cxnSp>
        <p:nvCxnSpPr>
          <p:cNvPr id="43" name="Straight Connector 42"/>
          <p:cNvCxnSpPr>
            <a:endCxn id="19" idx="2"/>
          </p:cNvCxnSpPr>
          <p:nvPr/>
        </p:nvCxnSpPr>
        <p:spPr>
          <a:xfrm flipH="1" flipV="1">
            <a:off x="4856164" y="4320530"/>
            <a:ext cx="30097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0706" y="4589769"/>
            <a:ext cx="580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DT</a:t>
            </a:r>
            <a:endParaRPr lang="en-US" sz="2800" dirty="0"/>
          </a:p>
        </p:txBody>
      </p:sp>
      <p:sp>
        <p:nvSpPr>
          <p:cNvPr id="25" name="TextBox 24"/>
          <p:cNvSpPr txBox="1"/>
          <p:nvPr/>
        </p:nvSpPr>
        <p:spPr>
          <a:xfrm>
            <a:off x="1304841" y="4589769"/>
            <a:ext cx="648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NN</a:t>
            </a:r>
            <a:endParaRPr lang="en-US" sz="2800" dirty="0"/>
          </a:p>
        </p:txBody>
      </p:sp>
      <p:sp>
        <p:nvSpPr>
          <p:cNvPr id="26" name="TextBox 25"/>
          <p:cNvSpPr txBox="1"/>
          <p:nvPr/>
        </p:nvSpPr>
        <p:spPr>
          <a:xfrm>
            <a:off x="2385975" y="4607538"/>
            <a:ext cx="3122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VBD      IN    DT    NN</a:t>
            </a:r>
            <a:endParaRPr lang="en-US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5801360" y="4443828"/>
            <a:ext cx="2647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>
                <a:solidFill>
                  <a:srgbClr val="FF6600"/>
                </a:solidFill>
              </a:rPr>
              <a:t>p</a:t>
            </a:r>
            <a:r>
              <a:rPr lang="en-US" sz="3600" b="1" dirty="0" err="1" smtClean="0">
                <a:solidFill>
                  <a:srgbClr val="FF6600"/>
                </a:solidFill>
              </a:rPr>
              <a:t>reterminals</a:t>
            </a:r>
            <a:endParaRPr lang="en-US" sz="3600" b="1" dirty="0">
              <a:solidFill>
                <a:srgbClr val="FF6600"/>
              </a:solidFill>
            </a:endParaRPr>
          </a:p>
        </p:txBody>
      </p:sp>
      <p:sp>
        <p:nvSpPr>
          <p:cNvPr id="27" name="Frame 26"/>
          <p:cNvSpPr/>
          <p:nvPr/>
        </p:nvSpPr>
        <p:spPr>
          <a:xfrm>
            <a:off x="396240" y="1538664"/>
            <a:ext cx="5365571" cy="3010464"/>
          </a:xfrm>
          <a:prstGeom prst="frame">
            <a:avLst>
              <a:gd name="adj1" fmla="val 2384"/>
            </a:avLst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53760" y="2886242"/>
            <a:ext cx="2747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 smtClean="0">
                <a:solidFill>
                  <a:srgbClr val="008000"/>
                </a:solidFill>
              </a:rPr>
              <a:t>nonterminals</a:t>
            </a:r>
            <a:endParaRPr lang="en-US" sz="3600" b="1" dirty="0">
              <a:solidFill>
                <a:srgbClr val="008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53760" y="5059678"/>
            <a:ext cx="2003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rgbClr val="BC0000"/>
                </a:solidFill>
              </a:rPr>
              <a:t>terminals</a:t>
            </a:r>
            <a:endParaRPr lang="en-US" sz="3600" b="1" dirty="0">
              <a:solidFill>
                <a:srgbClr val="BC0000"/>
              </a:solidFill>
            </a:endParaRPr>
          </a:p>
        </p:txBody>
      </p:sp>
      <p:sp>
        <p:nvSpPr>
          <p:cNvPr id="8" name="Frame 7"/>
          <p:cNvSpPr/>
          <p:nvPr/>
        </p:nvSpPr>
        <p:spPr>
          <a:xfrm>
            <a:off x="314960" y="4549128"/>
            <a:ext cx="5365571" cy="541031"/>
          </a:xfrm>
          <a:prstGeom prst="frame">
            <a:avLst>
              <a:gd name="adj1" fmla="val 8796"/>
            </a:avLst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Frame 28"/>
          <p:cNvSpPr/>
          <p:nvPr/>
        </p:nvSpPr>
        <p:spPr>
          <a:xfrm>
            <a:off x="396240" y="5090158"/>
            <a:ext cx="5365571" cy="479863"/>
          </a:xfrm>
          <a:prstGeom prst="frame">
            <a:avLst>
              <a:gd name="adj1" fmla="val 8796"/>
            </a:avLst>
          </a:prstGeom>
          <a:solidFill>
            <a:srgbClr val="BC0000"/>
          </a:solidFill>
          <a:ln>
            <a:solidFill>
              <a:srgbClr val="B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11988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7" grpId="0" animBg="1"/>
      <p:bldP spid="28" grpId="0"/>
      <p:bldP spid="31" grpId="0"/>
      <p:bldP spid="8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998"/>
            <a:ext cx="1584960" cy="191140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Penn Treebank tag </a:t>
            </a:r>
            <a:r>
              <a:rPr lang="en-US" sz="2800" dirty="0"/>
              <a:t>s</a:t>
            </a:r>
            <a:r>
              <a:rPr lang="en-US" sz="2800" dirty="0" smtClean="0"/>
              <a:t>et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 descr="Screen Shot 2016-01-23 at 2.26.2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318" y="130758"/>
            <a:ext cx="7558682" cy="652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396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440" y="18998"/>
            <a:ext cx="4815840" cy="458522"/>
          </a:xfrm>
        </p:spPr>
        <p:txBody>
          <a:bodyPr>
            <a:noAutofit/>
          </a:bodyPr>
          <a:lstStyle/>
          <a:p>
            <a:r>
              <a:rPr lang="en-US" sz="2800" dirty="0" smtClean="0"/>
              <a:t>Penn Treebank </a:t>
            </a:r>
            <a:r>
              <a:rPr lang="en-US" sz="2800" dirty="0" err="1"/>
              <a:t>N</a:t>
            </a:r>
            <a:r>
              <a:rPr lang="en-US" sz="2800" dirty="0" err="1" smtClean="0"/>
              <a:t>onterminals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  <p:pic>
        <p:nvPicPr>
          <p:cNvPr id="3" name="Picture 2" descr="Screen Shot 2016-02-10 at 4.33.58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" t="1133" r="1924" b="-1"/>
          <a:stretch/>
        </p:blipFill>
        <p:spPr>
          <a:xfrm>
            <a:off x="132080" y="587190"/>
            <a:ext cx="4165600" cy="6026969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5" name="Picture 4" descr="Screen Shot 2016-02-10 at 4.35.04 P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5" r="1906" b="597"/>
          <a:stretch/>
        </p:blipFill>
        <p:spPr>
          <a:xfrm>
            <a:off x="4531360" y="587191"/>
            <a:ext cx="4521200" cy="60269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463766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Syntactic Ambiguities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smtClean="0"/>
              <a:t>Time flies like an arrow.</a:t>
            </a:r>
          </a:p>
          <a:p>
            <a:pPr marL="0" indent="0">
              <a:buNone/>
            </a:pPr>
            <a:r>
              <a:rPr lang="en-US" i="1" dirty="0" smtClean="0"/>
              <a:t>Fruit flies like a banana.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 descr="constituent-dependency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2" t="10379" r="43175" b="3215"/>
          <a:stretch/>
        </p:blipFill>
        <p:spPr>
          <a:xfrm>
            <a:off x="2123439" y="2444750"/>
            <a:ext cx="4429761" cy="391160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220707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Attachment Ambiguity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 descr="pp-attachment-24-903s0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00" y="1280398"/>
            <a:ext cx="5511800" cy="3393202"/>
          </a:xfrm>
          <a:prstGeom prst="rect">
            <a:avLst/>
          </a:prstGeom>
        </p:spPr>
      </p:pic>
      <p:pic>
        <p:nvPicPr>
          <p:cNvPr id="3" name="Picture 2" descr="groucho-marx-comedian-one-morning-i-shot-an-elephant-in-my-pajamas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64" b="2499"/>
          <a:stretch/>
        </p:blipFill>
        <p:spPr>
          <a:xfrm>
            <a:off x="1610628" y="1051798"/>
            <a:ext cx="6060171" cy="557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5260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Syntactic Ambiguities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PP attachment ambiguity</a:t>
            </a:r>
          </a:p>
          <a:p>
            <a:r>
              <a:rPr lang="en-US" dirty="0" smtClean="0"/>
              <a:t>coordination ambiguity</a:t>
            </a:r>
          </a:p>
          <a:p>
            <a:r>
              <a:rPr lang="en-US" dirty="0" smtClean="0"/>
              <a:t>noun compound ambiguity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13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Attachment Ambiguity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 descr="pp-attachment-24-903s0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1633220"/>
            <a:ext cx="4064000" cy="250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095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coordination ambiguities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often found when modifiers are used with conjunctions:</a:t>
            </a:r>
          </a:p>
          <a:p>
            <a:pPr marL="457200" lvl="1" indent="0">
              <a:buNone/>
            </a:pPr>
            <a:r>
              <a:rPr lang="en-US" dirty="0" smtClean="0"/>
              <a:t>keyboard </a:t>
            </a:r>
            <a:r>
              <a:rPr lang="en-US" dirty="0"/>
              <a:t>and </a:t>
            </a:r>
            <a:r>
              <a:rPr lang="en-US" dirty="0" smtClean="0"/>
              <a:t>monitor </a:t>
            </a:r>
            <a:r>
              <a:rPr lang="en-US" dirty="0"/>
              <a:t>with the Apple logo</a:t>
            </a:r>
          </a:p>
          <a:p>
            <a:pPr marL="457200" lvl="1" indent="0">
              <a:buNone/>
            </a:pPr>
            <a:r>
              <a:rPr lang="en-US" dirty="0" smtClean="0"/>
              <a:t>old men and women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615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coordination ambiguities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often found when modifiers are used with conjunctions:</a:t>
            </a:r>
          </a:p>
          <a:p>
            <a:pPr marL="457200" lvl="1" indent="0">
              <a:buNone/>
            </a:pPr>
            <a:r>
              <a:rPr lang="en-US" dirty="0" smtClean="0"/>
              <a:t>(</a:t>
            </a:r>
            <a:r>
              <a:rPr lang="en-US" dirty="0" smtClean="0">
                <a:solidFill>
                  <a:srgbClr val="288CD2"/>
                </a:solidFill>
              </a:rPr>
              <a:t>keyboard and monitor</a:t>
            </a:r>
            <a:r>
              <a:rPr lang="en-US" dirty="0" smtClean="0"/>
              <a:t>) with the Apple logo</a:t>
            </a:r>
          </a:p>
          <a:p>
            <a:pPr marL="457200" lvl="1" indent="0">
              <a:buNone/>
            </a:pPr>
            <a:r>
              <a:rPr lang="en-US" dirty="0" smtClean="0"/>
              <a:t>keyboard </a:t>
            </a:r>
            <a:r>
              <a:rPr lang="en-US" dirty="0"/>
              <a:t>and 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288CD2"/>
                </a:solidFill>
              </a:rPr>
              <a:t>monitor with </a:t>
            </a:r>
            <a:r>
              <a:rPr lang="en-US" dirty="0">
                <a:solidFill>
                  <a:srgbClr val="288CD2"/>
                </a:solidFill>
              </a:rPr>
              <a:t>the Apple </a:t>
            </a:r>
            <a:r>
              <a:rPr lang="en-US" dirty="0" smtClean="0">
                <a:solidFill>
                  <a:srgbClr val="288CD2"/>
                </a:solidFill>
              </a:rPr>
              <a:t>logo</a:t>
            </a:r>
            <a:r>
              <a:rPr lang="en-US" dirty="0" smtClean="0"/>
              <a:t>)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old (</a:t>
            </a:r>
            <a:r>
              <a:rPr lang="en-US" dirty="0" smtClean="0">
                <a:solidFill>
                  <a:srgbClr val="BC0000"/>
                </a:solidFill>
              </a:rPr>
              <a:t>men and women</a:t>
            </a:r>
            <a:r>
              <a:rPr lang="en-US" dirty="0" smtClean="0"/>
              <a:t>)</a:t>
            </a:r>
          </a:p>
          <a:p>
            <a:pPr marL="457200" lvl="1" indent="0">
              <a:buNone/>
            </a:pPr>
            <a:r>
              <a:rPr lang="en-US" dirty="0" smtClean="0"/>
              <a:t>(</a:t>
            </a:r>
            <a:r>
              <a:rPr lang="en-US" dirty="0" smtClean="0">
                <a:solidFill>
                  <a:srgbClr val="BC0000"/>
                </a:solidFill>
              </a:rPr>
              <a:t>old men</a:t>
            </a:r>
            <a:r>
              <a:rPr lang="en-US" dirty="0" smtClean="0"/>
              <a:t>) </a:t>
            </a:r>
            <a:r>
              <a:rPr lang="en-US" dirty="0"/>
              <a:t>and </a:t>
            </a:r>
            <a:r>
              <a:rPr lang="en-US" dirty="0" smtClean="0"/>
              <a:t>women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507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other attachment ambiguities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Infant pulled from car involved in short police pursuit</a:t>
            </a:r>
          </a:p>
          <a:p>
            <a:endParaRPr lang="en-US" sz="2800" dirty="0" smtClean="0"/>
          </a:p>
          <a:p>
            <a:endParaRPr lang="en-US" sz="2800" dirty="0"/>
          </a:p>
          <a:p>
            <a:pPr marL="0" indent="0">
              <a:buNone/>
            </a:pPr>
            <a:r>
              <a:rPr lang="en-US" sz="2800" dirty="0" smtClean="0"/>
              <a:t>Somali tied to militants held on U.S. ship for months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0368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other attachment ambiguities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(Infant pulled from car) involved in short police pursuit</a:t>
            </a:r>
          </a:p>
          <a:p>
            <a:pPr marL="0" indent="0">
              <a:buNone/>
            </a:pPr>
            <a:r>
              <a:rPr lang="en-US" sz="2800" dirty="0"/>
              <a:t>Infant pulled from </a:t>
            </a:r>
            <a:r>
              <a:rPr lang="en-US" sz="2800" dirty="0" smtClean="0"/>
              <a:t>(car </a:t>
            </a:r>
            <a:r>
              <a:rPr lang="en-US" sz="2800" dirty="0"/>
              <a:t>involved in short police </a:t>
            </a:r>
            <a:r>
              <a:rPr lang="en-US" sz="2800" dirty="0" smtClean="0"/>
              <a:t>pursuit)</a:t>
            </a:r>
            <a:endParaRPr lang="en-US" sz="2800" dirty="0"/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 smtClean="0"/>
              <a:t>(Somali tied to militants) held on U.S. ship for months</a:t>
            </a:r>
          </a:p>
          <a:p>
            <a:pPr marL="0" indent="0">
              <a:buNone/>
            </a:pPr>
            <a:r>
              <a:rPr lang="en-US" sz="2800" dirty="0"/>
              <a:t>Somali tied to </a:t>
            </a:r>
            <a:r>
              <a:rPr lang="en-US" sz="2800" dirty="0" smtClean="0"/>
              <a:t>(militants </a:t>
            </a:r>
            <a:r>
              <a:rPr lang="en-US" sz="2800" dirty="0"/>
              <a:t>held on U.S. ship for </a:t>
            </a:r>
            <a:r>
              <a:rPr lang="en-US" sz="2800" dirty="0" smtClean="0"/>
              <a:t>months)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0087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NLP Task: Constituent Parsing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961980"/>
            <a:ext cx="8778240" cy="5052424"/>
          </a:xfrm>
        </p:spPr>
        <p:txBody>
          <a:bodyPr>
            <a:normAutofit/>
          </a:bodyPr>
          <a:lstStyle/>
          <a:p>
            <a:r>
              <a:rPr lang="en-US" dirty="0" smtClean="0"/>
              <a:t>given a sentence, output its constituent parse</a:t>
            </a:r>
          </a:p>
          <a:p>
            <a:r>
              <a:rPr lang="en-US" dirty="0" smtClean="0"/>
              <a:t>widely-studied task with a rich history</a:t>
            </a:r>
          </a:p>
          <a:p>
            <a:r>
              <a:rPr lang="en-US" dirty="0" smtClean="0"/>
              <a:t>most based on the Penn Treebank (Marcus et al.), developed at Penn in early 1990s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Treebank = “corpus of annotated parse trees”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 descr="mitch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460" y="2786572"/>
            <a:ext cx="1427480" cy="199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548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Context-Free Grammar (CFG)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has </a:t>
            </a:r>
            <a:r>
              <a:rPr lang="en-US" dirty="0" smtClean="0"/>
              <a:t>“rewrite rules” to rewrite </a:t>
            </a:r>
            <a:r>
              <a:rPr lang="en-US" dirty="0" err="1" smtClean="0"/>
              <a:t>nonterminals</a:t>
            </a:r>
            <a:r>
              <a:rPr lang="en-US" dirty="0" smtClean="0"/>
              <a:t> as </a:t>
            </a:r>
            <a:r>
              <a:rPr lang="en-US" dirty="0" smtClean="0"/>
              <a:t>terminals or other </a:t>
            </a:r>
            <a:r>
              <a:rPr lang="en-US" dirty="0" err="1" smtClean="0"/>
              <a:t>nonterminals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S </a:t>
            </a:r>
            <a:r>
              <a:rPr lang="en-US" dirty="0" smtClean="0">
                <a:sym typeface="Wingdings"/>
              </a:rPr>
              <a:t> NP  </a:t>
            </a:r>
            <a:r>
              <a:rPr lang="en-US" dirty="0" smtClean="0">
                <a:sym typeface="Wingdings"/>
              </a:rPr>
              <a:t>VP</a:t>
            </a:r>
          </a:p>
          <a:p>
            <a:pPr marL="457200" lvl="1" indent="0">
              <a:buNone/>
            </a:pPr>
            <a:r>
              <a:rPr lang="en-US" i="1" dirty="0" smtClean="0">
                <a:sym typeface="Wingdings"/>
              </a:rPr>
              <a:t>“S goes to NP  VP”</a:t>
            </a:r>
            <a:endParaRPr lang="en-US" i="1" dirty="0" smtClean="0"/>
          </a:p>
          <a:p>
            <a:pPr marL="457200" lvl="1" indent="0">
              <a:buNone/>
            </a:pPr>
            <a:r>
              <a:rPr lang="en-US" dirty="0" smtClean="0"/>
              <a:t>NP </a:t>
            </a:r>
            <a:r>
              <a:rPr lang="en-US" dirty="0" smtClean="0">
                <a:sym typeface="Wingdings"/>
              </a:rPr>
              <a:t> </a:t>
            </a:r>
            <a:r>
              <a:rPr lang="en-US" dirty="0" smtClean="0">
                <a:sym typeface="Wingdings"/>
              </a:rPr>
              <a:t>DT  NN</a:t>
            </a:r>
            <a:endParaRPr lang="en-US" dirty="0" smtClean="0">
              <a:sym typeface="Wingdings"/>
            </a:endParaRP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VP  </a:t>
            </a:r>
            <a:r>
              <a:rPr lang="en-US" dirty="0" smtClean="0">
                <a:sym typeface="Wingdings"/>
              </a:rPr>
              <a:t>VBD  PP</a:t>
            </a: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PP  IN  NP</a:t>
            </a: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NN  man</a:t>
            </a:r>
            <a:endParaRPr lang="en-US" dirty="0">
              <a:sym typeface="Wingdings"/>
            </a:endParaRP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DT  the</a:t>
            </a:r>
            <a:endParaRPr lang="en-US" dirty="0" smtClean="0">
              <a:sym typeface="Wingding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7217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Context-Free Grammar (CFG)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585200" cy="5052424"/>
          </a:xfrm>
        </p:spPr>
        <p:txBody>
          <a:bodyPr>
            <a:normAutofit/>
          </a:bodyPr>
          <a:lstStyle/>
          <a:p>
            <a:r>
              <a:rPr lang="en-US" dirty="0" smtClean="0"/>
              <a:t>sequence of rewrites corresponds to a bracketing (induces a hierarchical tree structure)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28</a:t>
            </a:fld>
            <a:endParaRPr lang="en-US"/>
          </a:p>
        </p:txBody>
      </p:sp>
      <p:cxnSp>
        <p:nvCxnSpPr>
          <p:cNvPr id="5" name="Straight Connector 4"/>
          <p:cNvCxnSpPr>
            <a:stCxn id="15" idx="2"/>
          </p:cNvCxnSpPr>
          <p:nvPr/>
        </p:nvCxnSpPr>
        <p:spPr>
          <a:xfrm flipH="1">
            <a:off x="4304843" y="2542163"/>
            <a:ext cx="1065175" cy="91499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endCxn id="15" idx="2"/>
          </p:cNvCxnSpPr>
          <p:nvPr/>
        </p:nvCxnSpPr>
        <p:spPr>
          <a:xfrm flipH="1" flipV="1">
            <a:off x="5370018" y="2542163"/>
            <a:ext cx="1312265" cy="39683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3593643" y="3944839"/>
            <a:ext cx="48768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 flipV="1">
            <a:off x="4081323" y="3944839"/>
            <a:ext cx="41656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99003" y="5434449"/>
            <a:ext cx="5365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the man walked to the park</a:t>
            </a:r>
            <a:endParaRPr lang="en-US" sz="3600" dirty="0"/>
          </a:p>
        </p:txBody>
      </p:sp>
      <p:cxnSp>
        <p:nvCxnSpPr>
          <p:cNvPr id="10" name="Straight Connector 9"/>
          <p:cNvCxnSpPr>
            <a:stCxn id="18" idx="2"/>
          </p:cNvCxnSpPr>
          <p:nvPr/>
        </p:nvCxnSpPr>
        <p:spPr>
          <a:xfrm flipH="1">
            <a:off x="5656123" y="3415347"/>
            <a:ext cx="1115988" cy="169593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8" idx="2"/>
          </p:cNvCxnSpPr>
          <p:nvPr/>
        </p:nvCxnSpPr>
        <p:spPr>
          <a:xfrm>
            <a:off x="6772111" y="3415347"/>
            <a:ext cx="384181" cy="27434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19" idx="2"/>
          </p:cNvCxnSpPr>
          <p:nvPr/>
        </p:nvCxnSpPr>
        <p:spPr>
          <a:xfrm flipH="1">
            <a:off x="6733083" y="4111307"/>
            <a:ext cx="609600" cy="99997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endCxn id="19" idx="2"/>
          </p:cNvCxnSpPr>
          <p:nvPr/>
        </p:nvCxnSpPr>
        <p:spPr>
          <a:xfrm flipH="1" flipV="1">
            <a:off x="7342683" y="4111307"/>
            <a:ext cx="277830" cy="250092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17" idx="2"/>
          </p:cNvCxnSpPr>
          <p:nvPr/>
        </p:nvCxnSpPr>
        <p:spPr>
          <a:xfrm flipH="1">
            <a:off x="7342683" y="4800809"/>
            <a:ext cx="41624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95193" y="2018943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S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3816004" y="3400703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NP</a:t>
            </a:r>
            <a:endParaRPr lang="en-US" sz="2800" dirty="0"/>
          </a:p>
        </p:txBody>
      </p:sp>
      <p:sp>
        <p:nvSpPr>
          <p:cNvPr id="17" name="TextBox 16"/>
          <p:cNvSpPr txBox="1"/>
          <p:nvPr/>
        </p:nvSpPr>
        <p:spPr>
          <a:xfrm>
            <a:off x="7457953" y="4277589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NP</a:t>
            </a:r>
            <a:endParaRPr lang="en-US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6485163" y="2892127"/>
            <a:ext cx="573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</a:t>
            </a:r>
            <a:r>
              <a:rPr lang="en-US" sz="2800" dirty="0" smtClean="0"/>
              <a:t>P</a:t>
            </a:r>
            <a:endParaRPr lang="en-US" sz="2800" dirty="0"/>
          </a:p>
        </p:txBody>
      </p:sp>
      <p:sp>
        <p:nvSpPr>
          <p:cNvPr id="19" name="TextBox 18"/>
          <p:cNvSpPr txBox="1"/>
          <p:nvPr/>
        </p:nvSpPr>
        <p:spPr>
          <a:xfrm>
            <a:off x="7064852" y="3588087"/>
            <a:ext cx="555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</a:t>
            </a:r>
            <a:r>
              <a:rPr lang="en-US" sz="2800" dirty="0" smtClean="0"/>
              <a:t>P</a:t>
            </a:r>
            <a:endParaRPr lang="en-US" sz="2800" dirty="0"/>
          </a:p>
        </p:txBody>
      </p:sp>
      <p:cxnSp>
        <p:nvCxnSpPr>
          <p:cNvPr id="20" name="Straight Connector 19"/>
          <p:cNvCxnSpPr>
            <a:endCxn id="17" idx="2"/>
          </p:cNvCxnSpPr>
          <p:nvPr/>
        </p:nvCxnSpPr>
        <p:spPr>
          <a:xfrm flipH="1" flipV="1">
            <a:off x="7758927" y="4800809"/>
            <a:ext cx="30097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43469" y="5070048"/>
            <a:ext cx="580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DT</a:t>
            </a:r>
            <a:endParaRPr lang="en-US" sz="2800" dirty="0"/>
          </a:p>
        </p:txBody>
      </p:sp>
      <p:sp>
        <p:nvSpPr>
          <p:cNvPr id="22" name="TextBox 21"/>
          <p:cNvSpPr txBox="1"/>
          <p:nvPr/>
        </p:nvSpPr>
        <p:spPr>
          <a:xfrm>
            <a:off x="4207604" y="5070048"/>
            <a:ext cx="648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NN</a:t>
            </a:r>
            <a:endParaRPr lang="en-US" sz="2800" dirty="0"/>
          </a:p>
        </p:txBody>
      </p:sp>
      <p:sp>
        <p:nvSpPr>
          <p:cNvPr id="23" name="TextBox 22"/>
          <p:cNvSpPr txBox="1"/>
          <p:nvPr/>
        </p:nvSpPr>
        <p:spPr>
          <a:xfrm>
            <a:off x="5288738" y="5087817"/>
            <a:ext cx="3122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VBD      IN    DT    NN</a:t>
            </a:r>
            <a:endParaRPr lang="en-US" sz="2800" dirty="0"/>
          </a:p>
        </p:txBody>
      </p:sp>
      <p:sp>
        <p:nvSpPr>
          <p:cNvPr id="24" name="TextBox 23"/>
          <p:cNvSpPr txBox="1"/>
          <p:nvPr/>
        </p:nvSpPr>
        <p:spPr>
          <a:xfrm>
            <a:off x="1387174" y="2542163"/>
            <a:ext cx="18618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BC0000"/>
                </a:solidFill>
              </a:rPr>
              <a:t>S </a:t>
            </a:r>
            <a:r>
              <a:rPr lang="en-US" sz="2800" b="1" dirty="0" smtClean="0">
                <a:solidFill>
                  <a:srgbClr val="BC0000"/>
                </a:solidFill>
                <a:sym typeface="Wingdings"/>
              </a:rPr>
              <a:t> NP  VP</a:t>
            </a:r>
            <a:endParaRPr lang="en-US" sz="2800" b="1" dirty="0">
              <a:solidFill>
                <a:srgbClr val="BC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39574" y="3944839"/>
            <a:ext cx="21658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BC0000"/>
                </a:solidFill>
              </a:rPr>
              <a:t>NP </a:t>
            </a:r>
            <a:r>
              <a:rPr lang="en-US" sz="2800" b="1" dirty="0" smtClean="0">
                <a:solidFill>
                  <a:srgbClr val="BC0000"/>
                </a:solidFill>
                <a:sym typeface="Wingdings"/>
              </a:rPr>
              <a:t> DT  NN</a:t>
            </a:r>
            <a:endParaRPr lang="en-US" sz="2800" b="1" dirty="0">
              <a:solidFill>
                <a:srgbClr val="BC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08001" y="3172679"/>
            <a:ext cx="2286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BC0000"/>
                </a:solidFill>
              </a:rPr>
              <a:t>VP </a:t>
            </a:r>
            <a:r>
              <a:rPr lang="en-US" sz="2800" b="1" dirty="0" smtClean="0">
                <a:solidFill>
                  <a:srgbClr val="BC0000"/>
                </a:solidFill>
                <a:sym typeface="Wingdings"/>
              </a:rPr>
              <a:t> VBD PP</a:t>
            </a:r>
            <a:endParaRPr lang="en-US" sz="2800" b="1" dirty="0">
              <a:solidFill>
                <a:srgbClr val="BC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39574" y="5331658"/>
            <a:ext cx="1600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BC0000"/>
                </a:solidFill>
              </a:rPr>
              <a:t>DT </a:t>
            </a:r>
            <a:r>
              <a:rPr lang="en-US" sz="2800" b="1" dirty="0" smtClean="0">
                <a:solidFill>
                  <a:srgbClr val="BC0000"/>
                </a:solidFill>
                <a:sym typeface="Wingdings"/>
              </a:rPr>
              <a:t> the</a:t>
            </a:r>
            <a:endParaRPr lang="en-US" sz="2800" b="1" dirty="0">
              <a:solidFill>
                <a:srgbClr val="B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2545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Why “context-free”?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rule to rewrite NP does not depend on the context of NP</a:t>
            </a:r>
          </a:p>
          <a:p>
            <a:r>
              <a:rPr lang="en-US" dirty="0" smtClean="0"/>
              <a:t>that is, the left</a:t>
            </a:r>
            <a:r>
              <a:rPr lang="en-US" dirty="0" smtClean="0"/>
              <a:t>-hand side of </a:t>
            </a:r>
            <a:r>
              <a:rPr lang="en-US" dirty="0" smtClean="0"/>
              <a:t>a rule </a:t>
            </a:r>
            <a:r>
              <a:rPr lang="en-US" dirty="0" smtClean="0"/>
              <a:t>is only a single non-</a:t>
            </a:r>
            <a:r>
              <a:rPr lang="en-US" dirty="0" smtClean="0"/>
              <a:t>terminal (without any other context)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0216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Probabilistic Context-Free Grammar (PCFG)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assign probabilities to rewrite </a:t>
            </a:r>
            <a:r>
              <a:rPr lang="en-US" dirty="0" smtClean="0"/>
              <a:t>rules:</a:t>
            </a:r>
          </a:p>
          <a:p>
            <a:pPr marL="457200" lvl="1" indent="0">
              <a:buNone/>
            </a:pPr>
            <a:r>
              <a:rPr lang="en-US" dirty="0" smtClean="0"/>
              <a:t>NP </a:t>
            </a:r>
            <a:r>
              <a:rPr lang="en-US" dirty="0" smtClean="0">
                <a:sym typeface="Wingdings"/>
              </a:rPr>
              <a:t> DT  NN	0.5</a:t>
            </a: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NP  NNS		0.3</a:t>
            </a: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NP  NP  PP	0.2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30</a:t>
            </a:fld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1706880" y="3180080"/>
            <a:ext cx="335280" cy="812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 flipV="1">
            <a:off x="1239520" y="3180080"/>
            <a:ext cx="467360" cy="812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39520" y="4003040"/>
            <a:ext cx="56874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288CD2"/>
                </a:solidFill>
              </a:rPr>
              <a:t>same nonterminal can be on both left and right sides</a:t>
            </a:r>
            <a:endParaRPr lang="en-US" sz="2000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1406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Probabilistic Context-Free Grammar (PCFG)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assign probabilities to rewrite </a:t>
            </a:r>
            <a:r>
              <a:rPr lang="en-US" dirty="0" smtClean="0"/>
              <a:t>rules:</a:t>
            </a:r>
          </a:p>
          <a:p>
            <a:pPr marL="457200" lvl="1" indent="0">
              <a:buNone/>
            </a:pPr>
            <a:r>
              <a:rPr lang="en-US" dirty="0" smtClean="0"/>
              <a:t>NP </a:t>
            </a:r>
            <a:r>
              <a:rPr lang="en-US" dirty="0" smtClean="0">
                <a:sym typeface="Wingdings"/>
              </a:rPr>
              <a:t> DT  NN	0.5</a:t>
            </a: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NP  NNS		0.3</a:t>
            </a: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NP  NP  PP	0.2</a:t>
            </a:r>
          </a:p>
          <a:p>
            <a:pPr marL="457200" lvl="1" indent="0">
              <a:buNone/>
            </a:pPr>
            <a:endParaRPr lang="en-US" dirty="0">
              <a:sym typeface="Wingdings"/>
            </a:endParaRP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probabilities must sum to one for each left-hand side nonterminal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9305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Probabilistic Context-Free Grammar (PCFG)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assign probabilities to rewrite </a:t>
            </a:r>
            <a:r>
              <a:rPr lang="en-US" dirty="0" smtClean="0"/>
              <a:t>rules:</a:t>
            </a:r>
          </a:p>
          <a:p>
            <a:pPr marL="457200" lvl="1" indent="0">
              <a:buNone/>
            </a:pPr>
            <a:r>
              <a:rPr lang="en-US" dirty="0" smtClean="0"/>
              <a:t>NP </a:t>
            </a:r>
            <a:r>
              <a:rPr lang="en-US" dirty="0" smtClean="0">
                <a:sym typeface="Wingdings"/>
              </a:rPr>
              <a:t> DT  NN	0.5</a:t>
            </a: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NP  NNS		0.3</a:t>
            </a: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NP  NP  PP	0.2</a:t>
            </a:r>
          </a:p>
          <a:p>
            <a:pPr marL="457200" lvl="1" indent="0">
              <a:buNone/>
            </a:pPr>
            <a:endParaRPr lang="en-US" dirty="0">
              <a:sym typeface="Wingdings"/>
            </a:endParaRP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NN  man		0.01</a:t>
            </a: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NN  park		0.0004</a:t>
            </a: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NN  walk		0.002</a:t>
            </a: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NN  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65041" y="1993483"/>
            <a:ext cx="42062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given a </a:t>
            </a:r>
            <a:r>
              <a:rPr lang="en-US" sz="2400" dirty="0" err="1" smtClean="0"/>
              <a:t>treebank</a:t>
            </a:r>
            <a:r>
              <a:rPr lang="en-US" sz="2400" dirty="0" smtClean="0"/>
              <a:t>, we can estimate these probabilities using maximum likelihood estimation (“relative frequency estimates”; “count and normalize”),</a:t>
            </a:r>
          </a:p>
          <a:p>
            <a:r>
              <a:rPr lang="en-US" sz="2400" dirty="0" smtClean="0"/>
              <a:t>just like we did with n-gram language models and HMMs for POS tagging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295931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Probabilistic Context-Free Grammar (PCFG)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for each nonterminal, a PCFG has a probability distribution over possible right-hand side sequences</a:t>
            </a:r>
          </a:p>
          <a:p>
            <a:r>
              <a:rPr lang="en-US" dirty="0" smtClean="0"/>
              <a:t>so, a PCFG assigns </a:t>
            </a:r>
            <a:r>
              <a:rPr lang="en-US" dirty="0" smtClean="0"/>
              <a:t>probabilities </a:t>
            </a:r>
            <a:r>
              <a:rPr lang="en-US" dirty="0" smtClean="0"/>
              <a:t>to:</a:t>
            </a:r>
          </a:p>
          <a:p>
            <a:pPr lvl="1"/>
            <a:r>
              <a:rPr lang="en-US" dirty="0" err="1" smtClean="0"/>
              <a:t>bracketings</a:t>
            </a:r>
            <a:r>
              <a:rPr lang="en-US" dirty="0" smtClean="0"/>
              <a:t> of sentences</a:t>
            </a:r>
          </a:p>
          <a:p>
            <a:pPr lvl="1"/>
            <a:r>
              <a:rPr lang="en-US" dirty="0" smtClean="0"/>
              <a:t>sequences of rewrite operations (</a:t>
            </a:r>
            <a:r>
              <a:rPr lang="en-US" b="1" dirty="0" smtClean="0">
                <a:solidFill>
                  <a:srgbClr val="288CD2"/>
                </a:solidFill>
              </a:rPr>
              <a:t>derivations</a:t>
            </a:r>
            <a:r>
              <a:rPr lang="en-US" dirty="0" smtClean="0"/>
              <a:t>) that eventually terminate in terminals</a:t>
            </a:r>
          </a:p>
          <a:p>
            <a:pPr lvl="1"/>
            <a:r>
              <a:rPr lang="en-US" dirty="0" smtClean="0"/>
              <a:t>hierarchical tree structures that ground out in sequences of terminals</a:t>
            </a:r>
          </a:p>
          <a:p>
            <a:r>
              <a:rPr lang="en-US" dirty="0" smtClean="0"/>
              <a:t>these are </a:t>
            </a:r>
            <a:r>
              <a:rPr lang="en-US" dirty="0"/>
              <a:t>different ways of saying the same thing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8737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Constituent Parsing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evaluation: </a:t>
            </a:r>
            <a:r>
              <a:rPr lang="en-US" dirty="0" err="1" smtClean="0">
                <a:latin typeface="Courier New"/>
                <a:cs typeface="Courier New"/>
              </a:rPr>
              <a:t>evalb</a:t>
            </a:r>
            <a:r>
              <a:rPr lang="en-US" dirty="0" smtClean="0"/>
              <a:t> score</a:t>
            </a:r>
          </a:p>
          <a:p>
            <a:pPr lvl="1"/>
            <a:r>
              <a:rPr lang="en-US" dirty="0" smtClean="0"/>
              <a:t>first compute precision and recall (at the level of constituents)</a:t>
            </a:r>
          </a:p>
          <a:p>
            <a:pPr lvl="1"/>
            <a:r>
              <a:rPr lang="en-US" dirty="0" smtClean="0"/>
              <a:t>then compute F1 (harmonic mean of precision and recall)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719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well does a PCFG work?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PCFG learned from the Penn Treebank with maximum likelihood estimation (count &amp; normalize) gets about 73% F1 score</a:t>
            </a:r>
          </a:p>
          <a:p>
            <a:r>
              <a:rPr lang="en-US" dirty="0" smtClean="0"/>
              <a:t>state-of-the-art parsers are around 92%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114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well does a PCFG work?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PCFG learned from the Penn Treebank with maximum likelihood estimation (count &amp; normalize) gets about 73% F1 score</a:t>
            </a:r>
          </a:p>
          <a:p>
            <a:r>
              <a:rPr lang="en-US" dirty="0" smtClean="0"/>
              <a:t>state-of-the-art parsers are around 92%</a:t>
            </a:r>
          </a:p>
          <a:p>
            <a:r>
              <a:rPr lang="en-US" dirty="0" smtClean="0"/>
              <a:t>but, simple modifications can improve the PCFG a lot!</a:t>
            </a:r>
          </a:p>
          <a:p>
            <a:pPr lvl="1"/>
            <a:r>
              <a:rPr lang="en-US" dirty="0" smtClean="0"/>
              <a:t>smoothing</a:t>
            </a:r>
          </a:p>
          <a:p>
            <a:pPr lvl="1"/>
            <a:r>
              <a:rPr lang="en-US" dirty="0" smtClean="0"/>
              <a:t>tree transformations (selective flattening)</a:t>
            </a:r>
          </a:p>
          <a:p>
            <a:pPr lvl="1"/>
            <a:r>
              <a:rPr lang="en-US" dirty="0" smtClean="0"/>
              <a:t>“parent annotation”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543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Parent Annotation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ym typeface="Wingdings"/>
              </a:rPr>
              <a:t>VP  V  NP  PP</a:t>
            </a:r>
          </a:p>
          <a:p>
            <a:pPr marL="0" indent="0">
              <a:buNone/>
            </a:pPr>
            <a:endParaRPr lang="en-US" dirty="0" smtClean="0">
              <a:sym typeface="Wingdings"/>
            </a:endParaRPr>
          </a:p>
          <a:p>
            <a:pPr marL="0" indent="0">
              <a:buNone/>
            </a:pPr>
            <a:endParaRPr lang="en-US" dirty="0">
              <a:sym typeface="Wingdings"/>
            </a:endParaRPr>
          </a:p>
          <a:p>
            <a:pPr marL="0" indent="0">
              <a:buNone/>
            </a:pPr>
            <a:r>
              <a:rPr lang="en-US" dirty="0" smtClean="0">
                <a:sym typeface="Wingdings"/>
              </a:rPr>
              <a:t>VP</a:t>
            </a:r>
            <a:r>
              <a:rPr lang="en-US" baseline="30000" dirty="0" smtClean="0">
                <a:sym typeface="Wingdings"/>
              </a:rPr>
              <a:t>S</a:t>
            </a:r>
            <a:r>
              <a:rPr lang="en-US" dirty="0" smtClean="0">
                <a:sym typeface="Wingdings"/>
              </a:rPr>
              <a:t>  V  NP</a:t>
            </a:r>
            <a:r>
              <a:rPr lang="en-US" baseline="30000" dirty="0" smtClean="0">
                <a:sym typeface="Wingdings"/>
              </a:rPr>
              <a:t>VP</a:t>
            </a:r>
            <a:r>
              <a:rPr lang="en-US" dirty="0" smtClean="0">
                <a:sym typeface="Wingdings"/>
              </a:rPr>
              <a:t>  PP</a:t>
            </a:r>
            <a:r>
              <a:rPr lang="en-US" baseline="30000" dirty="0" smtClean="0">
                <a:sym typeface="Wingdings"/>
              </a:rPr>
              <a:t>VP</a:t>
            </a:r>
          </a:p>
          <a:p>
            <a:pPr marL="0" indent="0">
              <a:buNone/>
            </a:pPr>
            <a:endParaRPr lang="en-US" baseline="30000" dirty="0">
              <a:sym typeface="Wingdings"/>
            </a:endParaRPr>
          </a:p>
          <a:p>
            <a:pPr marL="0" indent="0">
              <a:buNone/>
            </a:pPr>
            <a:r>
              <a:rPr lang="en-US" dirty="0" smtClean="0">
                <a:sym typeface="Wingdings"/>
              </a:rPr>
              <a:t>adds more information, but also fragments counts, making parameter estimates noisier (since we’re just using MLE)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37</a:t>
            </a:fld>
            <a:endParaRPr lang="en-US"/>
          </a:p>
        </p:txBody>
      </p:sp>
      <p:sp>
        <p:nvSpPr>
          <p:cNvPr id="5" name="Down Arrow 4"/>
          <p:cNvSpPr/>
          <p:nvPr/>
        </p:nvSpPr>
        <p:spPr>
          <a:xfrm>
            <a:off x="1087120" y="2016760"/>
            <a:ext cx="426720" cy="59944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817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Johnson (1998)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38</a:t>
            </a:fld>
            <a:endParaRPr lang="en-US"/>
          </a:p>
        </p:txBody>
      </p:sp>
      <p:pic>
        <p:nvPicPr>
          <p:cNvPr id="7" name="Picture 6" descr="Screen Shot 2016-02-10 at 10.35.0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020149"/>
            <a:ext cx="8056880" cy="55185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Donut 5"/>
          <p:cNvSpPr/>
          <p:nvPr/>
        </p:nvSpPr>
        <p:spPr>
          <a:xfrm>
            <a:off x="375920" y="4511040"/>
            <a:ext cx="8310880" cy="802640"/>
          </a:xfrm>
          <a:prstGeom prst="donut">
            <a:avLst>
              <a:gd name="adj" fmla="val 6297"/>
            </a:avLst>
          </a:prstGeom>
          <a:solidFill>
            <a:srgbClr val="C0504D"/>
          </a:solidFill>
          <a:ln>
            <a:solidFill>
              <a:srgbClr val="B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5814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Johnson (1998)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39</a:t>
            </a:fld>
            <a:endParaRPr lang="en-US"/>
          </a:p>
        </p:txBody>
      </p:sp>
      <p:pic>
        <p:nvPicPr>
          <p:cNvPr id="5" name="Picture 4" descr="Screen Shot 2016-02-10 at 10.32.59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76"/>
          <a:stretch/>
        </p:blipFill>
        <p:spPr>
          <a:xfrm>
            <a:off x="101600" y="1412240"/>
            <a:ext cx="8900160" cy="2175019"/>
          </a:xfrm>
          <a:prstGeom prst="rect">
            <a:avLst/>
          </a:prstGeom>
        </p:spPr>
      </p:pic>
      <p:sp>
        <p:nvSpPr>
          <p:cNvPr id="6" name="Donut 5"/>
          <p:cNvSpPr/>
          <p:nvPr/>
        </p:nvSpPr>
        <p:spPr>
          <a:xfrm>
            <a:off x="8199120" y="2042160"/>
            <a:ext cx="833120" cy="731520"/>
          </a:xfrm>
          <a:prstGeom prst="donut">
            <a:avLst>
              <a:gd name="adj" fmla="val 6297"/>
            </a:avLst>
          </a:prstGeom>
          <a:solidFill>
            <a:srgbClr val="C0504D"/>
          </a:solidFill>
          <a:ln>
            <a:solidFill>
              <a:srgbClr val="B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2550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Classification </a:t>
            </a:r>
            <a:r>
              <a:rPr lang="en-US" sz="3600" dirty="0" smtClean="0"/>
              <a:t>Framework for Constituent Parsing</a:t>
            </a:r>
            <a:endParaRPr lang="en-US" sz="3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76" y="2207460"/>
            <a:ext cx="4902200" cy="5207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 bwMode="auto">
          <a:xfrm flipV="1">
            <a:off x="5907224" y="2527564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5366668" y="3056704"/>
            <a:ext cx="2493140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lang="en-US" sz="2400" b="1" i="0" dirty="0" smtClean="0">
                <a:solidFill>
                  <a:srgbClr val="FF0000"/>
                </a:solidFill>
                <a:latin typeface="Calibri"/>
                <a:cs typeface="Calibri"/>
              </a:rPr>
              <a:t>earning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: choose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475" y="3204638"/>
            <a:ext cx="165100" cy="228600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 smtClean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 smtClean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endParaRPr lang="en-US" sz="2400" i="0" dirty="0">
              <a:solidFill>
                <a:srgbClr val="008000"/>
              </a:solidFill>
              <a:latin typeface="Calibri"/>
              <a:cs typeface="Calibri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40</a:t>
            </a:fld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57200" y="3677920"/>
            <a:ext cx="8229600" cy="2448244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 smtClean="0"/>
              <a:t>x</a:t>
            </a:r>
            <a:r>
              <a:rPr lang="en-US" dirty="0" smtClean="0"/>
              <a:t> = a sentence</a:t>
            </a:r>
          </a:p>
          <a:p>
            <a:r>
              <a:rPr lang="en-US" i="1" dirty="0" smtClean="0"/>
              <a:t>y</a:t>
            </a:r>
            <a:r>
              <a:rPr lang="en-US" dirty="0" smtClean="0"/>
              <a:t> = a constituent parse</a:t>
            </a:r>
          </a:p>
          <a:p>
            <a:r>
              <a:rPr lang="en-US" dirty="0" smtClean="0"/>
              <a:t>inference requires searching all possible constituent parses!</a:t>
            </a:r>
          </a:p>
          <a:p>
            <a:r>
              <a:rPr lang="en-US" dirty="0" smtClean="0"/>
              <a:t>this is very expensive due to large training sets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0718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are constituent parses used?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language modeling</a:t>
            </a:r>
          </a:p>
          <a:p>
            <a:pPr lvl="1"/>
            <a:r>
              <a:rPr lang="en-US" dirty="0" smtClean="0"/>
              <a:t>predict the next word better by using syntactic structure</a:t>
            </a:r>
          </a:p>
          <a:p>
            <a:r>
              <a:rPr lang="en-US" dirty="0" smtClean="0"/>
              <a:t>machine translation</a:t>
            </a:r>
          </a:p>
          <a:p>
            <a:pPr lvl="1"/>
            <a:r>
              <a:rPr lang="en-US" dirty="0" smtClean="0"/>
              <a:t>there are many syntactic translation models that require parsers for one or both languages</a:t>
            </a:r>
          </a:p>
          <a:p>
            <a:r>
              <a:rPr lang="en-US" dirty="0" smtClean="0"/>
              <a:t>text classification</a:t>
            </a:r>
          </a:p>
          <a:p>
            <a:pPr lvl="1"/>
            <a:r>
              <a:rPr lang="en-US" dirty="0" smtClean="0"/>
              <a:t>for certain kinds of classification, features on syntactic fragments can help</a:t>
            </a:r>
          </a:p>
          <a:p>
            <a:r>
              <a:rPr lang="en-US" dirty="0" smtClean="0"/>
              <a:t>question answering, </a:t>
            </a:r>
            <a:r>
              <a:rPr lang="en-US" dirty="0" err="1" smtClean="0"/>
              <a:t>coreference</a:t>
            </a:r>
            <a:r>
              <a:rPr lang="en-US" dirty="0" smtClean="0"/>
              <a:t> resolution,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182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Recursive Neural Networks for NLP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first, run a constituent parser on the sentence</a:t>
            </a:r>
          </a:p>
          <a:p>
            <a:r>
              <a:rPr lang="en-US" dirty="0" smtClean="0"/>
              <a:t>convert the constituent tree to a binary tree (each rewrite has exactly two children)</a:t>
            </a:r>
          </a:p>
          <a:p>
            <a:r>
              <a:rPr lang="en-US" dirty="0" smtClean="0"/>
              <a:t>construct vector for sentence recursively at each rewrite (“split point”):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42</a:t>
            </a:fld>
            <a:endParaRPr lang="en-US"/>
          </a:p>
        </p:txBody>
      </p:sp>
      <p:pic>
        <p:nvPicPr>
          <p:cNvPr id="5" name="Picture 4" descr="Simple_recursive_neural_network.sv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094" y="3759199"/>
            <a:ext cx="3745405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45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Recursive Neural Networks for NLP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43</a:t>
            </a:fld>
            <a:endParaRPr lang="en-US"/>
          </a:p>
        </p:txBody>
      </p:sp>
      <p:pic>
        <p:nvPicPr>
          <p:cNvPr id="3" name="Picture 2" descr="Screen Shot 2016-02-10 at 11.22.1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960" y="1342112"/>
            <a:ext cx="6644640" cy="353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1997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Recursive Neural Networks for NLP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44</a:t>
            </a:fld>
            <a:endParaRPr lang="en-US"/>
          </a:p>
        </p:txBody>
      </p:sp>
      <p:pic>
        <p:nvPicPr>
          <p:cNvPr id="6" name="Picture 5" descr="image00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" y="1270000"/>
            <a:ext cx="8585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3091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59714</TotalTime>
  <Words>1513</Words>
  <Application>Microsoft Macintosh PowerPoint</Application>
  <PresentationFormat>On-screen Show (4:3)</PresentationFormat>
  <Paragraphs>299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TTIC 31190: Natural Language Processing</vt:lpstr>
      <vt:lpstr>Announcement</vt:lpstr>
      <vt:lpstr>Announcement</vt:lpstr>
      <vt:lpstr>Office Hours Next Week</vt:lpstr>
      <vt:lpstr>Roadmap</vt:lpstr>
      <vt:lpstr>What is Syntax?</vt:lpstr>
      <vt:lpstr>Subject, Verb, Object</vt:lpstr>
      <vt:lpstr>Yodish</vt:lpstr>
      <vt:lpstr>Grammars</vt:lpstr>
      <vt:lpstr>phrase structure / constituent grammar</vt:lpstr>
      <vt:lpstr>Bracketing</vt:lpstr>
      <vt:lpstr>Bracketing  Tree</vt:lpstr>
      <vt:lpstr>Labeled Bracketings/Trees</vt:lpstr>
      <vt:lpstr>Labeled Bracketings/Trees</vt:lpstr>
      <vt:lpstr>Labeled Bracketings/Trees</vt:lpstr>
      <vt:lpstr>Penn Treebank tag set</vt:lpstr>
      <vt:lpstr>Penn Treebank Nonterminals</vt:lpstr>
      <vt:lpstr>Syntactic Ambiguities</vt:lpstr>
      <vt:lpstr>Attachment Ambiguity</vt:lpstr>
      <vt:lpstr>Syntactic Ambiguities</vt:lpstr>
      <vt:lpstr>Attachment Ambiguity</vt:lpstr>
      <vt:lpstr>coordination ambiguities</vt:lpstr>
      <vt:lpstr>coordination ambiguities</vt:lpstr>
      <vt:lpstr>other attachment ambiguities</vt:lpstr>
      <vt:lpstr>other attachment ambiguities</vt:lpstr>
      <vt:lpstr>NLP Task: Constituent Parsing</vt:lpstr>
      <vt:lpstr>Context-Free Grammar (CFG)</vt:lpstr>
      <vt:lpstr>Context-Free Grammar (CFG)</vt:lpstr>
      <vt:lpstr>Why “context-free”?</vt:lpstr>
      <vt:lpstr>Probabilistic Context-Free Grammar (PCFG)</vt:lpstr>
      <vt:lpstr>Probabilistic Context-Free Grammar (PCFG)</vt:lpstr>
      <vt:lpstr>Probabilistic Context-Free Grammar (PCFG)</vt:lpstr>
      <vt:lpstr>Probabilistic Context-Free Grammar (PCFG)</vt:lpstr>
      <vt:lpstr>Constituent Parsing</vt:lpstr>
      <vt:lpstr>How well does a PCFG work?</vt:lpstr>
      <vt:lpstr>How well does a PCFG work?</vt:lpstr>
      <vt:lpstr>Parent Annotation</vt:lpstr>
      <vt:lpstr>Johnson (1998)</vt:lpstr>
      <vt:lpstr>Johnson (1998)</vt:lpstr>
      <vt:lpstr>Classification Framework for Constituent Parsing</vt:lpstr>
      <vt:lpstr>How are constituent parses used?</vt:lpstr>
      <vt:lpstr>Recursive Neural Networks for NLP</vt:lpstr>
      <vt:lpstr>Recursive Neural Networks for NLP</vt:lpstr>
      <vt:lpstr>Recursive Neural Networks for NLP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 Gimpel</cp:lastModifiedBy>
  <cp:revision>1999</cp:revision>
  <dcterms:created xsi:type="dcterms:W3CDTF">2015-08-31T18:15:35Z</dcterms:created>
  <dcterms:modified xsi:type="dcterms:W3CDTF">2016-02-11T14:39:54Z</dcterms:modified>
</cp:coreProperties>
</file>