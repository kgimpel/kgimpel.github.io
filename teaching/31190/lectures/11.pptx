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6" r:id="rId2"/>
    <p:sldId id="1213" r:id="rId3"/>
    <p:sldId id="1209" r:id="rId4"/>
    <p:sldId id="1287" r:id="rId5"/>
    <p:sldId id="1282" r:id="rId6"/>
    <p:sldId id="1288" r:id="rId7"/>
    <p:sldId id="1349" r:id="rId8"/>
    <p:sldId id="1350" r:id="rId9"/>
    <p:sldId id="1351" r:id="rId10"/>
    <p:sldId id="1354" r:id="rId11"/>
    <p:sldId id="1355" r:id="rId12"/>
    <p:sldId id="1356" r:id="rId13"/>
    <p:sldId id="1357" r:id="rId14"/>
    <p:sldId id="1358" r:id="rId15"/>
    <p:sldId id="1362" r:id="rId16"/>
    <p:sldId id="1363" r:id="rId17"/>
    <p:sldId id="1364" r:id="rId18"/>
    <p:sldId id="1365" r:id="rId19"/>
    <p:sldId id="1366" r:id="rId20"/>
    <p:sldId id="1367" r:id="rId21"/>
    <p:sldId id="1368" r:id="rId22"/>
    <p:sldId id="1369" r:id="rId23"/>
    <p:sldId id="1312" r:id="rId24"/>
    <p:sldId id="1313" r:id="rId25"/>
    <p:sldId id="1314" r:id="rId26"/>
    <p:sldId id="1359" r:id="rId27"/>
    <p:sldId id="1315" r:id="rId28"/>
    <p:sldId id="1316" r:id="rId29"/>
    <p:sldId id="1317" r:id="rId30"/>
    <p:sldId id="1318" r:id="rId31"/>
    <p:sldId id="1320" r:id="rId32"/>
    <p:sldId id="1321" r:id="rId33"/>
    <p:sldId id="1322" r:id="rId34"/>
    <p:sldId id="1323" r:id="rId35"/>
    <p:sldId id="1360" r:id="rId36"/>
    <p:sldId id="1324" r:id="rId37"/>
    <p:sldId id="1325" r:id="rId38"/>
    <p:sldId id="1326" r:id="rId39"/>
    <p:sldId id="1327" r:id="rId40"/>
    <p:sldId id="1328" r:id="rId41"/>
    <p:sldId id="1361" r:id="rId42"/>
    <p:sldId id="1329" r:id="rId43"/>
    <p:sldId id="1330" r:id="rId44"/>
    <p:sldId id="1331" r:id="rId45"/>
    <p:sldId id="1332" r:id="rId46"/>
    <p:sldId id="1333" r:id="rId47"/>
    <p:sldId id="1334" r:id="rId48"/>
    <p:sldId id="1335" r:id="rId49"/>
    <p:sldId id="1336" r:id="rId50"/>
    <p:sldId id="1337" r:id="rId51"/>
    <p:sldId id="1338" r:id="rId52"/>
    <p:sldId id="1339" r:id="rId53"/>
    <p:sldId id="1340" r:id="rId54"/>
    <p:sldId id="1341" r:id="rId55"/>
    <p:sldId id="1342" r:id="rId56"/>
    <p:sldId id="1343" r:id="rId57"/>
    <p:sldId id="1344" r:id="rId58"/>
    <p:sldId id="1345" r:id="rId59"/>
    <p:sldId id="1347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/>
    <p:restoredTop sz="96422" autoAdjust="0"/>
  </p:normalViewPr>
  <p:slideViewPr>
    <p:cSldViewPr snapToGrid="0" snapToObjects="1">
      <p:cViewPr>
        <p:scale>
          <a:sx n="125" d="100"/>
          <a:sy n="125" d="100"/>
        </p:scale>
        <p:origin x="-267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interSettings" Target="printerSettings/printerSettings1.bin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2/9/16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2/9/16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2/9/16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2/9/16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2/9/16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2/9/16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2/9/16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2/9/16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2/9/16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2/9/16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2/9/16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2/9/16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2/9/16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2/9/16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6.emf"/><Relationship Id="rId5" Type="http://schemas.openxmlformats.org/officeDocument/2006/relationships/image" Target="../media/image14.emf"/><Relationship Id="rId6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6.emf"/><Relationship Id="rId5" Type="http://schemas.openxmlformats.org/officeDocument/2006/relationships/image" Target="../media/image14.emf"/><Relationship Id="rId6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6.emf"/><Relationship Id="rId5" Type="http://schemas.openxmlformats.org/officeDocument/2006/relationships/image" Target="../media/image14.emf"/><Relationship Id="rId6" Type="http://schemas.openxmlformats.org/officeDocument/2006/relationships/image" Target="../media/image13.emf"/><Relationship Id="rId7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1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8.emf"/><Relationship Id="rId1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8.emf"/><Relationship Id="rId1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3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9.emf"/><Relationship Id="rId1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9.emf"/><Relationship Id="rId12" Type="http://schemas.openxmlformats.org/officeDocument/2006/relationships/image" Target="../media/image27.emf"/><Relationship Id="rId13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9.emf"/><Relationship Id="rId12" Type="http://schemas.openxmlformats.org/officeDocument/2006/relationships/image" Target="../media/image31.emf"/><Relationship Id="rId13" Type="http://schemas.openxmlformats.org/officeDocument/2006/relationships/image" Target="../media/image27.emf"/><Relationship Id="rId14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9.emf"/><Relationship Id="rId12" Type="http://schemas.openxmlformats.org/officeDocument/2006/relationships/image" Target="../media/image31.emf"/><Relationship Id="rId13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9.emf"/><Relationship Id="rId1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9.emf"/><Relationship Id="rId1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2.emf"/><Relationship Id="rId1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1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1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Relationship Id="rId3" Type="http://schemas.openxmlformats.org/officeDocument/2006/relationships/image" Target="../media/image3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1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1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1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6.emf"/><Relationship Id="rId1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3.emf"/><Relationship Id="rId12" Type="http://schemas.openxmlformats.org/officeDocument/2006/relationships/image" Target="../media/image44.emf"/><Relationship Id="rId13" Type="http://schemas.openxmlformats.org/officeDocument/2006/relationships/image" Target="../media/image45.emf"/><Relationship Id="rId14" Type="http://schemas.openxmlformats.org/officeDocument/2006/relationships/image" Target="../media/image46.emf"/><Relationship Id="rId15" Type="http://schemas.openxmlformats.org/officeDocument/2006/relationships/image" Target="../media/image47.emf"/><Relationship Id="rId16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37.emf"/><Relationship Id="rId6" Type="http://schemas.openxmlformats.org/officeDocument/2006/relationships/image" Target="../media/image38.emf"/><Relationship Id="rId7" Type="http://schemas.openxmlformats.org/officeDocument/2006/relationships/image" Target="../media/image39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/Relationships>
</file>

<file path=ppt/slides/_rels/slide5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3.emf"/><Relationship Id="rId12" Type="http://schemas.openxmlformats.org/officeDocument/2006/relationships/image" Target="../media/image44.emf"/><Relationship Id="rId13" Type="http://schemas.openxmlformats.org/officeDocument/2006/relationships/image" Target="../media/image45.emf"/><Relationship Id="rId14" Type="http://schemas.openxmlformats.org/officeDocument/2006/relationships/image" Target="../media/image46.emf"/><Relationship Id="rId15" Type="http://schemas.openxmlformats.org/officeDocument/2006/relationships/image" Target="../media/image47.emf"/><Relationship Id="rId16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37.emf"/><Relationship Id="rId6" Type="http://schemas.openxmlformats.org/officeDocument/2006/relationships/image" Target="../media/image38.emf"/><Relationship Id="rId7" Type="http://schemas.openxmlformats.org/officeDocument/2006/relationships/image" Target="../media/image39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6" Type="http://schemas.openxmlformats.org/officeDocument/2006/relationships/image" Target="../media/image21.emf"/><Relationship Id="rId7" Type="http://schemas.openxmlformats.org/officeDocument/2006/relationships/image" Target="../media/image22.emf"/><Relationship Id="rId8" Type="http://schemas.openxmlformats.org/officeDocument/2006/relationships/image" Target="../media/image24.emf"/><Relationship Id="rId9" Type="http://schemas.openxmlformats.org/officeDocument/2006/relationships/image" Target="../media/image25.emf"/><Relationship Id="rId10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4" Type="http://schemas.openxmlformats.org/officeDocument/2006/relationships/image" Target="../media/image51.png"/><Relationship Id="rId5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11: 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Recurrent and Convolutional Neural Networks in NLP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Assignment 3 assigned yesterday, due Feb. 29</a:t>
            </a:r>
          </a:p>
          <a:p>
            <a:endParaRPr lang="en-US" dirty="0" smtClean="0"/>
          </a:p>
          <a:p>
            <a:r>
              <a:rPr lang="en-US" dirty="0" smtClean="0"/>
              <a:t>project proposal due Tuesday, Feb. 16</a:t>
            </a:r>
          </a:p>
          <a:p>
            <a:endParaRPr lang="en-US" dirty="0" smtClean="0"/>
          </a:p>
          <a:p>
            <a:r>
              <a:rPr lang="en-US" dirty="0"/>
              <a:t>m</a:t>
            </a:r>
            <a:r>
              <a:rPr lang="en-US" dirty="0" smtClean="0"/>
              <a:t>idterm on Thursday, Feb. 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14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neural network methods in NLP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78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5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 smtClean="0"/>
              <a:t>2-transformation (1-layer) network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821"/>
            <a:ext cx="8229600" cy="2907609"/>
          </a:xfrm>
        </p:spPr>
        <p:txBody>
          <a:bodyPr>
            <a:normAutofit/>
          </a:bodyPr>
          <a:lstStyle/>
          <a:p>
            <a:r>
              <a:rPr lang="en-US" dirty="0" smtClean="0"/>
              <a:t>we’ll call this a “2-transformation” neural network, or a “1-layer” neural network</a:t>
            </a:r>
          </a:p>
          <a:p>
            <a:r>
              <a:rPr lang="en-US" dirty="0" smtClean="0"/>
              <a:t>input vector is </a:t>
            </a:r>
          </a:p>
          <a:p>
            <a:r>
              <a:rPr lang="en-US" dirty="0" smtClean="0"/>
              <a:t>score vector is</a:t>
            </a:r>
          </a:p>
          <a:p>
            <a:r>
              <a:rPr lang="en-US" dirty="0" smtClean="0"/>
              <a:t>one hidden vector           (“hidden layer”)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78000" y="2821837"/>
            <a:ext cx="217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vector of label scores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120" y="4631466"/>
            <a:ext cx="273050" cy="22993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653075"/>
            <a:ext cx="4114800" cy="749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610" y="867749"/>
            <a:ext cx="4178300" cy="749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5213028"/>
            <a:ext cx="229870" cy="245195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V="1">
            <a:off x="2225040" y="2213007"/>
            <a:ext cx="339090" cy="60883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640" y="5654040"/>
            <a:ext cx="6096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22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1</a:t>
            </a:r>
            <a:r>
              <a:rPr lang="en-US" sz="2800" dirty="0" smtClean="0"/>
              <a:t>-layer neural network for sentiment classification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" y="3235325"/>
            <a:ext cx="4597400" cy="977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" y="1877865"/>
            <a:ext cx="4114800" cy="749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014265"/>
            <a:ext cx="4178300" cy="7493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1107440" y="2496662"/>
            <a:ext cx="45722" cy="94294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0138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8229"/>
          </a:xfrm>
        </p:spPr>
        <p:txBody>
          <a:bodyPr>
            <a:noAutofit/>
          </a:bodyPr>
          <a:lstStyle/>
          <a:p>
            <a:r>
              <a:rPr lang="en-US" sz="2400" dirty="0"/>
              <a:t>U</a:t>
            </a:r>
            <a:r>
              <a:rPr lang="en-US" sz="2400" dirty="0" smtClean="0"/>
              <a:t>se </a:t>
            </a:r>
            <a:r>
              <a:rPr lang="en-US" sz="2400" dirty="0" err="1" smtClean="0"/>
              <a:t>softmax</a:t>
            </a:r>
            <a:r>
              <a:rPr lang="en-US" sz="2400" dirty="0" smtClean="0"/>
              <a:t> function to convert scores into probabilities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940049"/>
            <a:ext cx="3850640" cy="8190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4327349"/>
            <a:ext cx="8818880" cy="1562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31473"/>
            <a:ext cx="4043680" cy="15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925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 add  u  on  </a:t>
            </a:r>
            <a:r>
              <a:rPr lang="en-US" dirty="0" err="1" smtClean="0"/>
              <a:t>fb</a:t>
            </a:r>
            <a:r>
              <a:rPr lang="en-US" dirty="0" smtClean="0"/>
              <a:t>  </a:t>
            </a:r>
            <a:r>
              <a:rPr lang="en-US" dirty="0" err="1" smtClean="0"/>
              <a:t>lololol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</a:t>
            </a:r>
            <a:r>
              <a:rPr lang="en-US" sz="1800" dirty="0">
                <a:solidFill>
                  <a:srgbClr val="288CD2"/>
                </a:solidFill>
              </a:rPr>
              <a:t> </a:t>
            </a:r>
            <a:r>
              <a:rPr lang="en-US" sz="1800" dirty="0" smtClean="0">
                <a:solidFill>
                  <a:srgbClr val="288CD2"/>
                </a:solidFill>
              </a:rPr>
              <a:t> </a:t>
            </a:r>
            <a:r>
              <a:rPr lang="en-US" sz="1800" dirty="0" err="1" smtClean="0">
                <a:solidFill>
                  <a:srgbClr val="288CD2"/>
                </a:solidFill>
              </a:rPr>
              <a:t>det</a:t>
            </a:r>
            <a:r>
              <a:rPr lang="en-US" sz="1800" dirty="0" smtClean="0">
                <a:solidFill>
                  <a:srgbClr val="288CD2"/>
                </a:solidFill>
              </a:rPr>
              <a:t>   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noun               pronoun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1046480" y="2707640"/>
            <a:ext cx="495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pronoun      proper</a:t>
            </a:r>
          </a:p>
          <a:p>
            <a:pPr marL="0" indent="0">
              <a:lnSpc>
                <a:spcPct val="6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 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noun</a:t>
            </a:r>
            <a:endParaRPr lang="en-US" sz="1100" i="0" dirty="0" smtClean="0">
              <a:solidFill>
                <a:srgbClr val="288CD2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589280" y="2326640"/>
            <a:ext cx="556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verb              prep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endParaRPr lang="en-US" sz="1200" i="0" dirty="0" smtClean="0">
              <a:solidFill>
                <a:srgbClr val="288CD2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68160" y="2250440"/>
            <a:ext cx="2133600" cy="1066800"/>
          </a:xfrm>
          <a:prstGeom prst="rect">
            <a:avLst/>
          </a:prstGeom>
          <a:noFill/>
          <a:ln w="28575" cmpd="sng">
            <a:solidFill>
              <a:srgbClr val="288CD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 smtClean="0">
                <a:solidFill>
                  <a:srgbClr val="288CD2"/>
                </a:solidFill>
              </a:rPr>
              <a:t>adj</a:t>
            </a:r>
            <a:r>
              <a:rPr lang="en-US" sz="2000" i="0" dirty="0" smtClean="0">
                <a:solidFill>
                  <a:srgbClr val="288CD2"/>
                </a:solidFill>
              </a:rPr>
              <a:t> = adjective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smtClean="0">
                <a:solidFill>
                  <a:srgbClr val="288CD2"/>
                </a:solidFill>
              </a:rPr>
              <a:t>prep = preposition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 smtClean="0">
                <a:solidFill>
                  <a:srgbClr val="288CD2"/>
                </a:solidFill>
              </a:rPr>
              <a:t>intj</a:t>
            </a:r>
            <a:r>
              <a:rPr lang="en-US" sz="2000" i="0" dirty="0" smtClean="0">
                <a:solidFill>
                  <a:srgbClr val="288CD2"/>
                </a:solidFill>
              </a:rPr>
              <a:t> = interjection</a:t>
            </a:r>
            <a:endParaRPr lang="en-US" sz="1400" i="0" dirty="0" smtClean="0">
              <a:solidFill>
                <a:srgbClr val="288CD2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 flipV="1">
            <a:off x="15036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25704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325120" y="3667760"/>
            <a:ext cx="8229600" cy="9448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in Assignment 3, you’ll build a neural network classifier to predict a word’s POS tag based on its context</a:t>
            </a:r>
          </a:p>
        </p:txBody>
      </p:sp>
    </p:spTree>
    <p:extLst>
      <p:ext uri="{BB962C8B-B14F-4D97-AF65-F5344CB8AC3E}">
        <p14:creationId xmlns:p14="http://schemas.microsoft.com/office/powerpoint/2010/main" val="966474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det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513080" y="2540000"/>
            <a:ext cx="8229600" cy="225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e.g., predict tag of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 given context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what should the input </a:t>
            </a:r>
            <a:r>
              <a:rPr lang="en-US" sz="2800" b="1" i="1" dirty="0" smtClean="0"/>
              <a:t>x </a:t>
            </a:r>
            <a:r>
              <a:rPr lang="en-US" sz="2800" dirty="0" smtClean="0"/>
              <a:t>be?</a:t>
            </a:r>
          </a:p>
          <a:p>
            <a:pPr lvl="1"/>
            <a:r>
              <a:rPr lang="en-US" dirty="0"/>
              <a:t>it has to be independent of the label</a:t>
            </a:r>
          </a:p>
          <a:p>
            <a:pPr lvl="1"/>
            <a:r>
              <a:rPr lang="en-US" dirty="0"/>
              <a:t>it has to be a </a:t>
            </a:r>
            <a:r>
              <a:rPr lang="en-US" b="1" dirty="0"/>
              <a:t>fixed-length </a:t>
            </a:r>
            <a:r>
              <a:rPr lang="en-US" dirty="0"/>
              <a:t>vector</a:t>
            </a:r>
          </a:p>
          <a:p>
            <a:pPr>
              <a:lnSpc>
                <a:spcPct val="110000"/>
              </a:lnSpc>
            </a:pPr>
            <a:endParaRPr lang="en-US" sz="2800" dirty="0" smtClean="0"/>
          </a:p>
        </p:txBody>
      </p: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98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det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513080" y="2540000"/>
            <a:ext cx="8229600" cy="1341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e.g., predict tag of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 given context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what should the input </a:t>
            </a:r>
            <a:r>
              <a:rPr lang="en-US" sz="2800" b="1" i="1" dirty="0" smtClean="0"/>
              <a:t>x </a:t>
            </a:r>
            <a:r>
              <a:rPr lang="en-US" sz="2800" dirty="0" smtClean="0"/>
              <a:t>be?</a:t>
            </a:r>
          </a:p>
        </p:txBody>
      </p: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340" y="3881120"/>
            <a:ext cx="2819400" cy="368300"/>
          </a:xfrm>
          <a:prstGeom prst="rect">
            <a:avLst/>
          </a:prstGeom>
        </p:spPr>
      </p:pic>
      <p:sp>
        <p:nvSpPr>
          <p:cNvPr id="8" name="Left Brace 7"/>
          <p:cNvSpPr/>
          <p:nvPr/>
        </p:nvSpPr>
        <p:spPr>
          <a:xfrm rot="16200000">
            <a:off x="4475480" y="3614420"/>
            <a:ext cx="518160" cy="17881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789680" y="4786868"/>
            <a:ext cx="196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word 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1856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det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513080" y="2540000"/>
            <a:ext cx="8229600" cy="1341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e.g., predict tag of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 given context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what should the input </a:t>
            </a:r>
            <a:r>
              <a:rPr lang="en-US" sz="2800" b="1" i="1" dirty="0" smtClean="0"/>
              <a:t>x </a:t>
            </a:r>
            <a:r>
              <a:rPr lang="en-US" sz="2800" dirty="0" smtClean="0"/>
              <a:t>be?</a:t>
            </a:r>
          </a:p>
        </p:txBody>
      </p: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475480" y="3614420"/>
            <a:ext cx="518160" cy="17881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789680" y="4786868"/>
            <a:ext cx="196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word 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881120"/>
            <a:ext cx="5080000" cy="368300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2372360" y="3451860"/>
            <a:ext cx="518160" cy="20929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534160" y="4776708"/>
            <a:ext cx="194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word vector for </a:t>
            </a:r>
            <a:r>
              <a:rPr lang="en-US" i="1" dirty="0" smtClean="0">
                <a:solidFill>
                  <a:srgbClr val="288CD2"/>
                </a:solidFill>
              </a:rPr>
              <a:t>fir</a:t>
            </a:r>
            <a:endParaRPr lang="en-US" i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2160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128016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det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475480" y="4272280"/>
            <a:ext cx="518160" cy="17881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789680" y="5444728"/>
            <a:ext cx="1963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word 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4538980"/>
            <a:ext cx="5080000" cy="368300"/>
          </a:xfrm>
          <a:prstGeom prst="rect">
            <a:avLst/>
          </a:prstGeom>
        </p:spPr>
      </p:pic>
      <p:sp>
        <p:nvSpPr>
          <p:cNvPr id="28" name="Left Brace 27"/>
          <p:cNvSpPr/>
          <p:nvPr/>
        </p:nvSpPr>
        <p:spPr>
          <a:xfrm rot="16200000">
            <a:off x="2372360" y="4109720"/>
            <a:ext cx="518160" cy="2092960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534160" y="5434568"/>
            <a:ext cx="194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word vector for </a:t>
            </a:r>
            <a:r>
              <a:rPr lang="en-US" i="1" dirty="0" smtClean="0">
                <a:solidFill>
                  <a:srgbClr val="288CD2"/>
                </a:solidFill>
              </a:rPr>
              <a:t>fir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13080" y="2407920"/>
            <a:ext cx="8229600" cy="20332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when using word vectors as part of input, we can also treat them as more parameters to be learned!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this is called “updating” or “fine-tuning” the vectors (since they are initialized using something like word2vec)</a:t>
            </a:r>
          </a:p>
        </p:txBody>
      </p:sp>
    </p:spTree>
    <p:extLst>
      <p:ext uri="{BB962C8B-B14F-4D97-AF65-F5344CB8AC3E}">
        <p14:creationId xmlns:p14="http://schemas.microsoft.com/office/powerpoint/2010/main" val="24928908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128016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det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noun               pronoun 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Neural Networks for Twitter Part-of-Speech Tagging</a:t>
            </a:r>
            <a:endParaRPr lang="en-US" sz="3200" dirty="0"/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ame 1"/>
          <p:cNvSpPr/>
          <p:nvPr/>
        </p:nvSpPr>
        <p:spPr>
          <a:xfrm>
            <a:off x="4216400" y="685800"/>
            <a:ext cx="721360" cy="1498600"/>
          </a:xfrm>
          <a:prstGeom prst="frame">
            <a:avLst>
              <a:gd name="adj1" fmla="val 404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20" y="59944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5283200" y="685800"/>
            <a:ext cx="3312160" cy="158496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22000"/>
                </a:schemeClr>
              </a:gs>
              <a:gs pos="50000">
                <a:schemeClr val="bg1">
                  <a:alpha val="7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16200000">
            <a:off x="4364917" y="2840917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870960" y="3778488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28" name="Left Brace 27"/>
          <p:cNvSpPr/>
          <p:nvPr/>
        </p:nvSpPr>
        <p:spPr>
          <a:xfrm rot="16200000">
            <a:off x="2922197" y="2830757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392243" y="3768328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513080" y="2223770"/>
            <a:ext cx="8229600" cy="2033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let’s use the center word + two words to the right: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862580"/>
            <a:ext cx="5257800" cy="368300"/>
          </a:xfrm>
          <a:prstGeom prst="rect">
            <a:avLst/>
          </a:prstGeom>
        </p:spPr>
      </p:pic>
      <p:sp>
        <p:nvSpPr>
          <p:cNvPr id="23" name="Left Brace 22"/>
          <p:cNvSpPr/>
          <p:nvPr/>
        </p:nvSpPr>
        <p:spPr>
          <a:xfrm rot="16200000">
            <a:off x="5877504" y="2795197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419107" y="3768328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513080" y="4354194"/>
            <a:ext cx="8229600" cy="183324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if </a:t>
            </a:r>
            <a:r>
              <a:rPr lang="en-US" sz="2800" i="1" dirty="0" smtClean="0"/>
              <a:t>name</a:t>
            </a:r>
            <a:r>
              <a:rPr lang="en-US" sz="2800" dirty="0" smtClean="0"/>
              <a:t> is to the right of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, then </a:t>
            </a:r>
            <a:r>
              <a:rPr lang="en-US" sz="2800" i="1" dirty="0" err="1" smtClean="0"/>
              <a:t>yo</a:t>
            </a:r>
            <a:r>
              <a:rPr lang="en-US" sz="2800" dirty="0" smtClean="0"/>
              <a:t> is probably a form of </a:t>
            </a:r>
            <a:r>
              <a:rPr lang="en-US" sz="2800" i="1" dirty="0" smtClean="0"/>
              <a:t>your</a:t>
            </a:r>
          </a:p>
          <a:p>
            <a:pPr>
              <a:lnSpc>
                <a:spcPct val="110000"/>
              </a:lnSpc>
            </a:pPr>
            <a:r>
              <a:rPr lang="en-US" sz="2800" dirty="0" smtClean="0"/>
              <a:t>but our </a:t>
            </a:r>
            <a:r>
              <a:rPr lang="en-US" sz="2800" b="1" i="1" dirty="0" smtClean="0"/>
              <a:t>x</a:t>
            </a:r>
            <a:r>
              <a:rPr lang="en-US" sz="2800" dirty="0" smtClean="0"/>
              <a:t> above uses separate dimensions for each position!</a:t>
            </a:r>
          </a:p>
          <a:p>
            <a:pPr lvl="1">
              <a:lnSpc>
                <a:spcPct val="110000"/>
              </a:lnSpc>
            </a:pPr>
            <a:r>
              <a:rPr lang="en-US" sz="2400" dirty="0" smtClean="0"/>
              <a:t>i.e., </a:t>
            </a:r>
            <a:r>
              <a:rPr lang="en-US" sz="2400" i="1" dirty="0" smtClean="0"/>
              <a:t>name </a:t>
            </a:r>
            <a:r>
              <a:rPr lang="en-US" sz="2400" dirty="0" smtClean="0"/>
              <a:t>is two words to the right</a:t>
            </a:r>
          </a:p>
          <a:p>
            <a:pPr lvl="1">
              <a:lnSpc>
                <a:spcPct val="110000"/>
              </a:lnSpc>
            </a:pPr>
            <a:r>
              <a:rPr lang="en-US" sz="2400" dirty="0" smtClean="0"/>
              <a:t>what if </a:t>
            </a:r>
            <a:r>
              <a:rPr lang="en-US" sz="2400" i="1" dirty="0" smtClean="0"/>
              <a:t>name </a:t>
            </a:r>
            <a:r>
              <a:rPr lang="en-US" sz="2400" dirty="0" smtClean="0"/>
              <a:t>is one word to the right?  </a:t>
            </a:r>
          </a:p>
        </p:txBody>
      </p:sp>
    </p:spTree>
    <p:extLst>
      <p:ext uri="{BB962C8B-B14F-4D97-AF65-F5344CB8AC3E}">
        <p14:creationId xmlns:p14="http://schemas.microsoft.com/office/powerpoint/2010/main" val="30440834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Features and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could use a feature that returns 1 if </a:t>
            </a:r>
            <a:r>
              <a:rPr lang="en-US" i="1" dirty="0"/>
              <a:t>name</a:t>
            </a:r>
            <a:r>
              <a:rPr lang="en-US" dirty="0"/>
              <a:t> </a:t>
            </a:r>
            <a:r>
              <a:rPr lang="en-US" dirty="0" smtClean="0"/>
              <a:t>is to </a:t>
            </a:r>
            <a:r>
              <a:rPr lang="en-US" dirty="0"/>
              <a:t>the right of the center word, but that does not use the word’s embedding</a:t>
            </a:r>
          </a:p>
          <a:p>
            <a:r>
              <a:rPr lang="en-US" dirty="0" smtClean="0"/>
              <a:t>how do we include a feature like “a word similar to </a:t>
            </a:r>
            <a:r>
              <a:rPr lang="en-US" i="1" dirty="0" smtClean="0"/>
              <a:t>name</a:t>
            </a:r>
            <a:r>
              <a:rPr lang="en-US" dirty="0" smtClean="0"/>
              <a:t> appears somewhere to the right of the center word”?</a:t>
            </a:r>
          </a:p>
          <a:p>
            <a:r>
              <a:rPr lang="en-US" dirty="0" smtClean="0"/>
              <a:t>rather than always specify relative position and embedding, we want to add </a:t>
            </a:r>
            <a:r>
              <a:rPr lang="en-US" b="1" dirty="0" smtClean="0">
                <a:solidFill>
                  <a:srgbClr val="288CD2"/>
                </a:solidFill>
              </a:rPr>
              <a:t>filters</a:t>
            </a:r>
            <a:r>
              <a:rPr lang="en-US" dirty="0" smtClean="0"/>
              <a:t> that look for words like </a:t>
            </a:r>
            <a:r>
              <a:rPr lang="en-US" i="1" dirty="0" smtClean="0"/>
              <a:t>name </a:t>
            </a:r>
            <a:r>
              <a:rPr lang="en-US" b="1" dirty="0" smtClean="0"/>
              <a:t>anywhere in the window (or sentence!)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43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073740"/>
            <a:ext cx="8778240" cy="5052424"/>
          </a:xfrm>
        </p:spPr>
        <p:txBody>
          <a:bodyPr/>
          <a:lstStyle/>
          <a:p>
            <a:r>
              <a:rPr lang="en-US" dirty="0" smtClean="0"/>
              <a:t>for now, think of a filter as a vector in the word vector space</a:t>
            </a:r>
          </a:p>
          <a:p>
            <a:r>
              <a:rPr lang="en-US" dirty="0" smtClean="0"/>
              <a:t>the filter matches a particular region of the space</a:t>
            </a:r>
          </a:p>
          <a:p>
            <a:r>
              <a:rPr lang="en-US" dirty="0" smtClean="0"/>
              <a:t>“match” = “has high dot product with”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23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073740"/>
            <a:ext cx="8778240" cy="5052424"/>
          </a:xfrm>
        </p:spPr>
        <p:txBody>
          <a:bodyPr/>
          <a:lstStyle/>
          <a:p>
            <a:r>
              <a:rPr lang="en-US" dirty="0" smtClean="0"/>
              <a:t>convolutional neural networks use a bunch of such filters</a:t>
            </a:r>
          </a:p>
          <a:p>
            <a:r>
              <a:rPr lang="en-US" dirty="0" smtClean="0"/>
              <a:t>each filter is matched against (dot product computed with) each word in the entire context window or sentence</a:t>
            </a:r>
          </a:p>
          <a:p>
            <a:r>
              <a:rPr lang="en-US" dirty="0" smtClean="0"/>
              <a:t>e.g., a single filter       is a vector of same length as word vectors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990" y="3954646"/>
            <a:ext cx="334010" cy="21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10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1617846"/>
            <a:ext cx="334010" cy="210954"/>
          </a:xfrm>
          <a:prstGeom prst="rect">
            <a:avLst/>
          </a:prstGeom>
        </p:spPr>
      </p:pic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314" y="4353560"/>
            <a:ext cx="16764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41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910" y="1617846"/>
            <a:ext cx="334010" cy="210954"/>
          </a:xfrm>
          <a:prstGeom prst="rect">
            <a:avLst/>
          </a:prstGeom>
        </p:spPr>
      </p:pic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660" y="4300220"/>
            <a:ext cx="20955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58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90" y="1617846"/>
            <a:ext cx="334010" cy="210954"/>
          </a:xfrm>
          <a:prstGeom prst="rect">
            <a:avLst/>
          </a:prstGeom>
        </p:spPr>
      </p:pic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345" y="4442460"/>
            <a:ext cx="22225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29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45" y="4777740"/>
            <a:ext cx="2222500" cy="21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6" y="117602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306" y="1037826"/>
            <a:ext cx="80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= “feature map”, has an entry for each word position in context window / sentence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60" y="4363720"/>
            <a:ext cx="2095500" cy="215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14" y="4046220"/>
            <a:ext cx="16764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674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Pooling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45" y="4777740"/>
            <a:ext cx="2222500" cy="21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6" y="117602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306" y="1037826"/>
            <a:ext cx="80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= “feature map”, has an entry for each word position in context window / sentence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60" y="4363720"/>
            <a:ext cx="2095500" cy="215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14" y="4046220"/>
            <a:ext cx="1676400" cy="2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dirty="0" smtClean="0"/>
              <a:t>ow do we convert this into a fixed-length vector?</a:t>
            </a:r>
          </a:p>
          <a:p>
            <a:r>
              <a:rPr lang="en-US" sz="2800" dirty="0" smtClean="0"/>
              <a:t>use </a:t>
            </a:r>
            <a:r>
              <a:rPr lang="en-US" sz="2800" b="1" dirty="0" smtClean="0">
                <a:solidFill>
                  <a:srgbClr val="288CD2"/>
                </a:solidFill>
              </a:rPr>
              <a:t>pooling</a:t>
            </a:r>
            <a:r>
              <a:rPr lang="en-US" sz="2800" dirty="0" smtClean="0"/>
              <a:t>: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max-pooling: returns maximum value in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average</a:t>
            </a:r>
            <a:r>
              <a:rPr lang="en-US" sz="2800" dirty="0"/>
              <a:t> </a:t>
            </a:r>
            <a:r>
              <a:rPr lang="en-US" sz="2800" dirty="0" smtClean="0"/>
              <a:t>pooling: returns average of values in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71" y="2773676"/>
            <a:ext cx="177800" cy="1778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671" y="3190234"/>
            <a:ext cx="1778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952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Pooling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64917" y="254627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70960" y="3483846"/>
            <a:ext cx="154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last</a:t>
            </a:r>
            <a:endParaRPr lang="en-US" i="1" dirty="0">
              <a:solidFill>
                <a:srgbClr val="288CD2"/>
              </a:solidFill>
            </a:endParaRPr>
          </a:p>
        </p:txBody>
      </p:sp>
      <p:sp>
        <p:nvSpPr>
          <p:cNvPr id="9" name="Left Brace 8"/>
          <p:cNvSpPr/>
          <p:nvPr/>
        </p:nvSpPr>
        <p:spPr>
          <a:xfrm rot="16200000">
            <a:off x="2922197" y="2536115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92243" y="3473686"/>
            <a:ext cx="1423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err="1" smtClean="0">
                <a:solidFill>
                  <a:srgbClr val="288CD2"/>
                </a:solidFill>
              </a:rPr>
              <a:t>yo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2567938"/>
            <a:ext cx="5257800" cy="368300"/>
          </a:xfrm>
          <a:prstGeom prst="rect">
            <a:avLst/>
          </a:prstGeom>
        </p:spPr>
      </p:pic>
      <p:sp>
        <p:nvSpPr>
          <p:cNvPr id="12" name="Left Brace 11"/>
          <p:cNvSpPr/>
          <p:nvPr/>
        </p:nvSpPr>
        <p:spPr>
          <a:xfrm rot="16200000">
            <a:off x="5877504" y="2500555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19107" y="3473686"/>
            <a:ext cx="1784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vector for </a:t>
            </a:r>
            <a:r>
              <a:rPr lang="en-US" i="1" dirty="0" smtClean="0">
                <a:solidFill>
                  <a:srgbClr val="288CD2"/>
                </a:solidFill>
              </a:rPr>
              <a:t>name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345" y="4777740"/>
            <a:ext cx="2222500" cy="215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06" y="117602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306" y="1037826"/>
            <a:ext cx="801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= “feature map”, has an entry for each word position in context window / sentence</a:t>
            </a:r>
            <a:endParaRPr lang="en-US" i="1" dirty="0">
              <a:solidFill>
                <a:srgbClr val="288CD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60" y="4363720"/>
            <a:ext cx="2095500" cy="2159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314" y="4046220"/>
            <a:ext cx="1676400" cy="2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dirty="0" smtClean="0"/>
              <a:t>ow do we convert this into a fixed-length vector?</a:t>
            </a:r>
          </a:p>
          <a:p>
            <a:r>
              <a:rPr lang="en-US" sz="2800" dirty="0" smtClean="0"/>
              <a:t>use </a:t>
            </a:r>
            <a:r>
              <a:rPr lang="en-US" sz="2800" b="1" dirty="0" smtClean="0">
                <a:solidFill>
                  <a:srgbClr val="288CD2"/>
                </a:solidFill>
              </a:rPr>
              <a:t>pooling</a:t>
            </a:r>
            <a:r>
              <a:rPr lang="en-US" sz="2800" dirty="0" smtClean="0"/>
              <a:t>: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max-pooling: returns maximum value in 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average</a:t>
            </a:r>
            <a:r>
              <a:rPr lang="en-US" sz="2800" dirty="0"/>
              <a:t> </a:t>
            </a:r>
            <a:r>
              <a:rPr lang="en-US" sz="2800" dirty="0" smtClean="0"/>
              <a:t>pooling: returns average of values in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71" y="2773676"/>
            <a:ext cx="177800" cy="1778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671" y="3190234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6886" y="4344906"/>
            <a:ext cx="7525142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then, this single filter       produces a single feature </a:t>
            </a:r>
          </a:p>
          <a:p>
            <a:r>
              <a:rPr lang="en-US" sz="2800" dirty="0" smtClean="0"/>
              <a:t>value (the output of some kind of pooling).</a:t>
            </a:r>
          </a:p>
          <a:p>
            <a:r>
              <a:rPr lang="en-US" sz="2800" dirty="0" smtClean="0"/>
              <a:t>in practice, we use many filters of many different </a:t>
            </a:r>
          </a:p>
          <a:p>
            <a:r>
              <a:rPr lang="en-US" sz="2800" dirty="0" smtClean="0"/>
              <a:t>lengths (e.g., </a:t>
            </a:r>
            <a:r>
              <a:rPr lang="en-US" sz="2800" i="1" dirty="0" smtClean="0"/>
              <a:t>n</a:t>
            </a:r>
            <a:r>
              <a:rPr lang="en-US" sz="2800" dirty="0" smtClean="0"/>
              <a:t>-grams rather than words).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2080" y="4566786"/>
            <a:ext cx="334010" cy="21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29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Convolutional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12386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convolutional neural networks (</a:t>
            </a:r>
            <a:r>
              <a:rPr lang="en-US" b="1" dirty="0" err="1" smtClean="0">
                <a:solidFill>
                  <a:srgbClr val="288CD2"/>
                </a:solidFill>
              </a:rPr>
              <a:t>convnets</a:t>
            </a:r>
            <a:r>
              <a:rPr lang="en-US" b="1" dirty="0" smtClean="0">
                <a:solidFill>
                  <a:srgbClr val="288CD2"/>
                </a:solidFill>
              </a:rPr>
              <a:t> </a:t>
            </a:r>
            <a:r>
              <a:rPr lang="en-US" dirty="0" smtClean="0"/>
              <a:t>or </a:t>
            </a:r>
            <a:r>
              <a:rPr lang="en-US" b="1" dirty="0" smtClean="0">
                <a:solidFill>
                  <a:srgbClr val="288CD2"/>
                </a:solidFill>
              </a:rPr>
              <a:t>CNNs</a:t>
            </a:r>
            <a:r>
              <a:rPr lang="en-US" dirty="0" smtClean="0"/>
              <a:t>) use filters that are “convolved with” (matched against all positions of) the input</a:t>
            </a:r>
          </a:p>
          <a:p>
            <a:r>
              <a:rPr lang="en-US" dirty="0" smtClean="0"/>
              <a:t>informally, think of convolution as “perform the same operation everywhere on the input in some systematic order”</a:t>
            </a:r>
          </a:p>
          <a:p>
            <a:r>
              <a:rPr lang="en-US" dirty="0" smtClean="0"/>
              <a:t>“convolutional layer” = set of filters that are convolved with the input vector (whether </a:t>
            </a:r>
            <a:r>
              <a:rPr lang="en-US" b="1" i="1" dirty="0" smtClean="0"/>
              <a:t>x</a:t>
            </a:r>
            <a:r>
              <a:rPr lang="en-US" dirty="0" smtClean="0"/>
              <a:t> or hidden vector)</a:t>
            </a:r>
          </a:p>
          <a:p>
            <a:r>
              <a:rPr lang="en-US" dirty="0" smtClean="0"/>
              <a:t>could be followed by more convolutional layers, or by a type of pooling</a:t>
            </a:r>
          </a:p>
          <a:p>
            <a:r>
              <a:rPr lang="en-US" dirty="0" smtClean="0"/>
              <a:t>often used in NLP to convert a sentence into a feature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696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Recurrent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Input is a sequence: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103578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092031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090877"/>
            <a:ext cx="5588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0105" y="2881868"/>
            <a:ext cx="481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 not                         too                         bad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202825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Recurrent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Input is a sequence: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103578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092031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090877"/>
            <a:ext cx="558800" cy="2159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872" y="3888505"/>
            <a:ext cx="546100" cy="3048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964" y="3889659"/>
            <a:ext cx="546100" cy="2794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3912750"/>
            <a:ext cx="254000" cy="279400"/>
          </a:xfrm>
          <a:prstGeom prst="rect">
            <a:avLst/>
          </a:prstGeom>
        </p:spPr>
      </p:pic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884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Recurrent Neural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103578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092031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090877"/>
            <a:ext cx="558800" cy="2159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872" y="3888505"/>
            <a:ext cx="546100" cy="3048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964" y="3889659"/>
            <a:ext cx="546100" cy="2794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3912750"/>
            <a:ext cx="254000" cy="2794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7324" y="1036781"/>
            <a:ext cx="5372100" cy="558800"/>
          </a:xfrm>
          <a:prstGeom prst="rect">
            <a:avLst/>
          </a:prstGeom>
        </p:spPr>
      </p:pic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2188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Disclaimer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these diagrams are often useful for helping us understand and communicate neural network architectures</a:t>
            </a:r>
          </a:p>
          <a:p>
            <a:r>
              <a:rPr lang="en-US" dirty="0" smtClean="0"/>
              <a:t>but they rarely have any sort of formal semantics (unlike graphical models)</a:t>
            </a:r>
          </a:p>
          <a:p>
            <a:r>
              <a:rPr lang="en-US" dirty="0" smtClean="0"/>
              <a:t>they are more like cartoons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08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Long Short-Term Memory RNNs (gateless)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83128" y="3213551"/>
            <a:ext cx="2075869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“memory cell”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85560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Long Short-Term Memory RNNs (gateless)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10128" y="3893130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665" y="4141358"/>
            <a:ext cx="1790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08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Long Short-Term Memory RNNs (gateless)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39273" y="773545"/>
            <a:ext cx="6453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1693" y="875144"/>
            <a:ext cx="6146800" cy="5588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10128" y="3893130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665" y="4141358"/>
            <a:ext cx="1790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921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Long Short-Term Memory RNNs (gateless)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39273" y="773545"/>
            <a:ext cx="6453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1693" y="875144"/>
            <a:ext cx="6146800" cy="5588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10128" y="3893130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665" y="4141358"/>
            <a:ext cx="1790700" cy="31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819" y="715818"/>
            <a:ext cx="7850908" cy="4999182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404091" y="1465537"/>
            <a:ext cx="6419273" cy="3496342"/>
          </a:xfrm>
          <a:prstGeom prst="rect">
            <a:avLst/>
          </a:prstGeom>
          <a:solidFill>
            <a:schemeClr val="bg1"/>
          </a:solidFill>
          <a:ln w="57150" cmpd="sng">
            <a:solidFill>
              <a:srgbClr val="C50C0C"/>
            </a:solidFill>
            <a:miter lim="800000"/>
            <a:headEnd/>
            <a:tailEnd/>
          </a:ln>
          <a:extLst/>
        </p:spPr>
        <p:txBody>
          <a:bodyPr wrap="square" lIns="274320" tIns="45720" rIns="182880" bIns="13716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i="0" dirty="0" smtClean="0">
                <a:solidFill>
                  <a:srgbClr val="C50C0C"/>
                </a:solidFill>
                <a:latin typeface="Calibri"/>
                <a:cs typeface="Calibri"/>
              </a:rPr>
              <a:t>Experiment: text classification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Stanford Sentiment Treebank</a:t>
            </a:r>
          </a:p>
          <a:p>
            <a:pPr marL="738188" lvl="1" indent="-276225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binary classification (positive/negative)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25-dim word vectors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50-dim cell/hidden vectors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classification layer on </a:t>
            </a:r>
            <a:r>
              <a:rPr lang="en-US" sz="2400" b="1" i="0" dirty="0" smtClean="0">
                <a:solidFill>
                  <a:srgbClr val="C50C0C"/>
                </a:solidFill>
                <a:latin typeface="Calibri"/>
                <a:cs typeface="Calibri"/>
              </a:rPr>
              <a:t>final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 hidden vector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AdaGrad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, 10 epochs, mini-batch size 10</a:t>
            </a:r>
          </a:p>
          <a:p>
            <a:pPr marL="342900" indent="-342900" eaLnBrk="1" hangingPunct="1">
              <a:lnSpc>
                <a:spcPct val="110000"/>
              </a:lnSpc>
              <a:buFont typeface="Arial"/>
              <a:buChar char="•"/>
            </a:pP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early stopping on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dev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 set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700502"/>
              </p:ext>
            </p:extLst>
          </p:nvPr>
        </p:nvGraphicFramePr>
        <p:xfrm>
          <a:off x="7250551" y="2346045"/>
          <a:ext cx="1531803" cy="104141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31803"/>
              </a:tblGrid>
              <a:tr h="52303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1352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846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1258248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80" y="3893130"/>
            <a:ext cx="2262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38" y="4118264"/>
            <a:ext cx="2032000" cy="317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52401" y="2519222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938" y="2767450"/>
            <a:ext cx="1790700" cy="317500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1016000" y="327890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38578622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80" y="3893130"/>
            <a:ext cx="2262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38" y="4118264"/>
            <a:ext cx="2032000" cy="317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52401" y="2519222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938" y="2767450"/>
            <a:ext cx="1790700" cy="317500"/>
          </a:xfrm>
          <a:prstGeom prst="rect">
            <a:avLst/>
          </a:prstGeom>
        </p:spPr>
      </p:pic>
      <p:sp>
        <p:nvSpPr>
          <p:cNvPr id="50" name="Down Arrow 49"/>
          <p:cNvSpPr/>
          <p:nvPr/>
        </p:nvSpPr>
        <p:spPr>
          <a:xfrm>
            <a:off x="1016000" y="327890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1" name="Straight Arrow Connector 50"/>
          <p:cNvCxnSpPr/>
          <p:nvPr/>
        </p:nvCxnSpPr>
        <p:spPr bwMode="auto">
          <a:xfrm flipV="1">
            <a:off x="457200" y="4435764"/>
            <a:ext cx="624497" cy="97211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129198" y="5110469"/>
            <a:ext cx="2616428" cy="129266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this is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pointwise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 multiplication!    </a:t>
            </a:r>
          </a:p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is a vector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6068060"/>
            <a:ext cx="215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54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80" y="3893130"/>
            <a:ext cx="2262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38" y="4118264"/>
            <a:ext cx="2032000" cy="317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2">
            <a:lum contrast="-20000"/>
          </a:blip>
          <a:stretch>
            <a:fillRect/>
          </a:stretch>
        </p:blipFill>
        <p:spPr>
          <a:xfrm>
            <a:off x="1437412" y="863600"/>
            <a:ext cx="6223000" cy="5588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52401" y="2519222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5938" y="2767450"/>
            <a:ext cx="1790700" cy="317500"/>
          </a:xfrm>
          <a:prstGeom prst="rect">
            <a:avLst/>
          </a:prstGeom>
        </p:spPr>
      </p:pic>
      <p:sp>
        <p:nvSpPr>
          <p:cNvPr id="50" name="Down Arrow 49"/>
          <p:cNvSpPr/>
          <p:nvPr/>
        </p:nvSpPr>
        <p:spPr>
          <a:xfrm>
            <a:off x="1016000" y="327890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1" name="Straight Arrow Connector 50"/>
          <p:cNvCxnSpPr/>
          <p:nvPr/>
        </p:nvCxnSpPr>
        <p:spPr bwMode="auto">
          <a:xfrm flipV="1">
            <a:off x="457200" y="4435764"/>
            <a:ext cx="624497" cy="97211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129198" y="5110469"/>
            <a:ext cx="2616428" cy="129266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this is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pointwise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 multiplication!    </a:t>
            </a:r>
          </a:p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is a vector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6068060"/>
            <a:ext cx="2159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53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80" y="3893130"/>
            <a:ext cx="2262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38" y="4118264"/>
            <a:ext cx="2032000" cy="317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2">
            <a:lum contrast="-20000"/>
          </a:blip>
          <a:stretch>
            <a:fillRect/>
          </a:stretch>
        </p:blipFill>
        <p:spPr>
          <a:xfrm>
            <a:off x="1437412" y="863600"/>
            <a:ext cx="6223000" cy="5588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52401" y="2519222"/>
            <a:ext cx="2052781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5938" y="2767450"/>
            <a:ext cx="1790700" cy="317500"/>
          </a:xfrm>
          <a:prstGeom prst="rect">
            <a:avLst/>
          </a:prstGeom>
        </p:spPr>
      </p:pic>
      <p:sp>
        <p:nvSpPr>
          <p:cNvPr id="50" name="Down Arrow 49"/>
          <p:cNvSpPr/>
          <p:nvPr/>
        </p:nvSpPr>
        <p:spPr>
          <a:xfrm>
            <a:off x="1016000" y="3278909"/>
            <a:ext cx="334818" cy="611909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1" name="Straight Arrow Connector 50"/>
          <p:cNvCxnSpPr/>
          <p:nvPr/>
        </p:nvCxnSpPr>
        <p:spPr bwMode="auto">
          <a:xfrm flipH="1" flipV="1">
            <a:off x="5911273" y="1339274"/>
            <a:ext cx="1235363" cy="124690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7019638" y="2463783"/>
            <a:ext cx="1408545" cy="923330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000000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diagonal matrix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cxnSp>
        <p:nvCxnSpPr>
          <p:cNvPr id="53" name="Straight Arrow Connector 52"/>
          <p:cNvCxnSpPr/>
          <p:nvPr/>
        </p:nvCxnSpPr>
        <p:spPr bwMode="auto">
          <a:xfrm flipV="1">
            <a:off x="1437412" y="1339274"/>
            <a:ext cx="756227" cy="56686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110838" y="1872891"/>
            <a:ext cx="2616428" cy="129266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logistic sigmoid, so output ranges from 0 to 1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728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80" y="3893130"/>
            <a:ext cx="2262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38" y="4118264"/>
            <a:ext cx="2032000" cy="317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2">
            <a:lum contrast="-20000"/>
          </a:blip>
          <a:stretch>
            <a:fillRect/>
          </a:stretch>
        </p:blipFill>
        <p:spPr>
          <a:xfrm>
            <a:off x="1437412" y="863600"/>
            <a:ext cx="6223000" cy="5588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11549" y="715818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798884"/>
              </p:ext>
            </p:extLst>
          </p:nvPr>
        </p:nvGraphicFramePr>
        <p:xfrm>
          <a:off x="6038280" y="1711044"/>
          <a:ext cx="2955635" cy="155978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82793"/>
                <a:gridCol w="941571"/>
                <a:gridCol w="831271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608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80" y="3893130"/>
            <a:ext cx="2262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638" y="4118264"/>
            <a:ext cx="2032000" cy="3175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2">
            <a:lum contrast="-20000"/>
          </a:blip>
          <a:stretch>
            <a:fillRect/>
          </a:stretch>
        </p:blipFill>
        <p:spPr>
          <a:xfrm>
            <a:off x="1437412" y="863600"/>
            <a:ext cx="6223000" cy="55880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11549" y="715818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04742"/>
              </p:ext>
            </p:extLst>
          </p:nvPr>
        </p:nvGraphicFramePr>
        <p:xfrm>
          <a:off x="6038280" y="1711044"/>
          <a:ext cx="2955635" cy="155978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82793"/>
                <a:gridCol w="941571"/>
                <a:gridCol w="831271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952500" y="3567652"/>
            <a:ext cx="5240778" cy="1508105"/>
          </a:xfrm>
          <a:prstGeom prst="rect">
            <a:avLst/>
          </a:prstGeom>
          <a:solidFill>
            <a:srgbClr val="C70000"/>
          </a:solidFill>
          <a:ln>
            <a:solidFill>
              <a:schemeClr val="tx1"/>
            </a:solidFill>
          </a:ln>
        </p:spPr>
        <p:txBody>
          <a:bodyPr wrap="none" lIns="274320" tIns="137160" rIns="274320" bIns="137160" rtlCol="0" anchor="ctr">
            <a:spAutoFit/>
          </a:bodyPr>
          <a:lstStyle/>
          <a:p>
            <a:pPr algn="ctr"/>
            <a:r>
              <a:rPr lang="en-US" sz="4000" i="0" dirty="0" smtClean="0">
                <a:solidFill>
                  <a:schemeClr val="bg1"/>
                </a:solidFill>
                <a:latin typeface="Calibri"/>
                <a:cs typeface="Calibri"/>
              </a:rPr>
              <a:t>What’s being learned?</a:t>
            </a:r>
          </a:p>
          <a:p>
            <a:pPr algn="ctr"/>
            <a:r>
              <a:rPr lang="en-US" sz="4000" i="0" dirty="0" smtClean="0">
                <a:solidFill>
                  <a:schemeClr val="bg1"/>
                </a:solidFill>
                <a:latin typeface="Calibri"/>
                <a:cs typeface="Calibri"/>
              </a:rPr>
              <a:t>(demo)</a:t>
            </a:r>
            <a:endParaRPr lang="en-US" sz="4000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3042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945177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8861" y="2818772"/>
            <a:ext cx="665942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999" y="2929613"/>
            <a:ext cx="6413500" cy="5588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8" name="Straight Arrow Connector 47"/>
          <p:cNvCxnSpPr/>
          <p:nvPr/>
        </p:nvCxnSpPr>
        <p:spPr bwMode="auto">
          <a:xfrm flipV="1">
            <a:off x="1249218" y="3432077"/>
            <a:ext cx="624497" cy="97211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724826" y="4106782"/>
            <a:ext cx="2616428" cy="129266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00FF"/>
                </a:solidFill>
                <a:latin typeface="Calibri"/>
                <a:cs typeface="Calibri"/>
              </a:rPr>
              <a:t>again, this is </a:t>
            </a:r>
            <a:r>
              <a:rPr lang="en-US" sz="2400" i="0" dirty="0" err="1" smtClean="0">
                <a:solidFill>
                  <a:srgbClr val="0000FF"/>
                </a:solidFill>
                <a:latin typeface="Calibri"/>
                <a:cs typeface="Calibri"/>
              </a:rPr>
              <a:t>pointwise</a:t>
            </a:r>
            <a:r>
              <a:rPr lang="en-US" sz="2400" i="0" dirty="0" smtClean="0">
                <a:solidFill>
                  <a:srgbClr val="0000FF"/>
                </a:solidFill>
                <a:latin typeface="Calibri"/>
                <a:cs typeface="Calibri"/>
              </a:rPr>
              <a:t> multiplication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56" y="894222"/>
            <a:ext cx="6453909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876" y="995821"/>
            <a:ext cx="6146800" cy="558800"/>
          </a:xfrm>
          <a:prstGeom prst="rect">
            <a:avLst/>
          </a:prstGeom>
        </p:spPr>
      </p:pic>
      <p:sp>
        <p:nvSpPr>
          <p:cNvPr id="53" name="Down Arrow 52"/>
          <p:cNvSpPr/>
          <p:nvPr/>
        </p:nvSpPr>
        <p:spPr>
          <a:xfrm>
            <a:off x="557417" y="1656222"/>
            <a:ext cx="334818" cy="1162550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26937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49" grpId="0" animBg="1"/>
      <p:bldP spid="5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31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257300" y="725509"/>
            <a:ext cx="665942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5438" y="836350"/>
            <a:ext cx="6413500" cy="5588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5502572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5846" y="840508"/>
            <a:ext cx="6362700" cy="558800"/>
          </a:xfrm>
          <a:prstGeom prst="rect">
            <a:avLst/>
          </a:prstGeom>
        </p:spPr>
      </p:pic>
      <p:cxnSp>
        <p:nvCxnSpPr>
          <p:cNvPr id="48" name="Straight Arrow Connector 47"/>
          <p:cNvCxnSpPr/>
          <p:nvPr/>
        </p:nvCxnSpPr>
        <p:spPr bwMode="auto">
          <a:xfrm flipH="1" flipV="1">
            <a:off x="5911273" y="1339274"/>
            <a:ext cx="1235363" cy="124690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7019638" y="2393885"/>
            <a:ext cx="1408545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00FF"/>
                </a:solidFill>
                <a:latin typeface="Calibri"/>
                <a:cs typeface="Calibri"/>
              </a:rPr>
              <a:t>diagonal matrix</a:t>
            </a:r>
            <a:endParaRPr lang="en-US" i="0" dirty="0" smtClean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50" name="Rectangle 49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591739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93277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>
            <a:lum contrast="-20000"/>
          </a:blip>
          <a:stretch>
            <a:fillRect/>
          </a:stretch>
        </p:blipFill>
        <p:spPr>
          <a:xfrm>
            <a:off x="1067972" y="3680677"/>
            <a:ext cx="6223000" cy="558800"/>
          </a:xfrm>
          <a:prstGeom prst="rect">
            <a:avLst/>
          </a:prstGeom>
        </p:spPr>
      </p:pic>
      <p:sp>
        <p:nvSpPr>
          <p:cNvPr id="51" name="Title 1"/>
          <p:cNvSpPr txBox="1">
            <a:spLocks/>
          </p:cNvSpPr>
          <p:nvPr/>
        </p:nvSpPr>
        <p:spPr bwMode="auto">
          <a:xfrm>
            <a:off x="304800" y="422550"/>
            <a:ext cx="8534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i="0" dirty="0" smtClean="0"/>
              <a:t>Input Gates</a:t>
            </a:r>
            <a:endParaRPr lang="en-US" i="0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06" y="1152223"/>
            <a:ext cx="6362700" cy="558800"/>
          </a:xfrm>
          <a:prstGeom prst="rect">
            <a:avLst/>
          </a:prstGeom>
        </p:spPr>
      </p:pic>
      <p:cxnSp>
        <p:nvCxnSpPr>
          <p:cNvPr id="53" name="Straight Arrow Connector 52"/>
          <p:cNvCxnSpPr/>
          <p:nvPr/>
        </p:nvCxnSpPr>
        <p:spPr bwMode="auto">
          <a:xfrm flipH="1" flipV="1">
            <a:off x="6246107" y="1639442"/>
            <a:ext cx="1200726" cy="92363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/>
          <p:cNvCxnSpPr/>
          <p:nvPr/>
        </p:nvCxnSpPr>
        <p:spPr bwMode="auto">
          <a:xfrm flipH="1">
            <a:off x="6303834" y="2759350"/>
            <a:ext cx="1142999" cy="95827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7331375" y="2347630"/>
            <a:ext cx="1650998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latin typeface="Calibri"/>
                <a:cs typeface="Calibri"/>
              </a:rPr>
              <a:t>difference</a:t>
            </a:r>
            <a:endParaRPr lang="en-US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8656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549" y="750453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686030"/>
              </p:ext>
            </p:extLst>
          </p:nvPr>
        </p:nvGraphicFramePr>
        <p:xfrm>
          <a:off x="5992091" y="833587"/>
          <a:ext cx="2955634" cy="20781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82792"/>
                <a:gridCol w="867085"/>
                <a:gridCol w="905757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6863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Input and Output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549" y="750453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78478"/>
              </p:ext>
            </p:extLst>
          </p:nvPr>
        </p:nvGraphicFramePr>
        <p:xfrm>
          <a:off x="5091544" y="833587"/>
          <a:ext cx="3856181" cy="25965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43175"/>
                <a:gridCol w="1366281"/>
                <a:gridCol w="946725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&amp; output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088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Forget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Rectangle 47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552008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Forget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272307" y="752770"/>
            <a:ext cx="665942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6235" y="886691"/>
            <a:ext cx="6400800" cy="5588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12162021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Forget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Rectangle 47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4600" y="863600"/>
            <a:ext cx="66421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377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Forget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Rectangle 47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4600" y="863600"/>
            <a:ext cx="6642100" cy="5588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1549" y="750453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936848"/>
              </p:ext>
            </p:extLst>
          </p:nvPr>
        </p:nvGraphicFramePr>
        <p:xfrm>
          <a:off x="5807364" y="833587"/>
          <a:ext cx="3117271" cy="25965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47476"/>
                <a:gridCol w="876887"/>
                <a:gridCol w="992908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905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All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1900" y="934712"/>
            <a:ext cx="6667500" cy="5588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638" y="4004536"/>
            <a:ext cx="2032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35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0687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05953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07339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351096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351096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57016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47301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5609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46378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57247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47532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191883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190729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190613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57200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56276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5766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00403" y="3830175"/>
            <a:ext cx="1065088" cy="11932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38438" y="3844030"/>
            <a:ext cx="1053542" cy="117016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397163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396239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397625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486064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486180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488489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43130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44170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41976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63698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62774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64160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11480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10556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1078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385128" y="434802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53892" y="433878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43362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43593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549" y="750453"/>
            <a:ext cx="7850908" cy="4999182"/>
          </a:xfrm>
          <a:prstGeom prst="rect">
            <a:avLst/>
          </a:prstGeom>
          <a:solidFill>
            <a:schemeClr val="bg1">
              <a:alpha val="51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712169"/>
              </p:ext>
            </p:extLst>
          </p:nvPr>
        </p:nvGraphicFramePr>
        <p:xfrm>
          <a:off x="3913910" y="833587"/>
          <a:ext cx="5010726" cy="46700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05203"/>
                <a:gridCol w="1884556"/>
                <a:gridCol w="1120967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&amp; output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 &amp; forget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&amp;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169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Backward &amp; Bidirectional LSTMs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26518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25364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25248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520699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520815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523124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77765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78805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76611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696734"/>
            <a:ext cx="8555182" cy="1107996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bidirectional: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if shallow, just use forward and backward LSTMs in parallel, concatenate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final two hidden vectors, feed to </a:t>
            </a:r>
            <a:r>
              <a:rPr lang="en-US" sz="2000" i="0" dirty="0" err="1" smtClean="0">
                <a:latin typeface="Calibri"/>
                <a:cs typeface="Calibri"/>
              </a:rPr>
              <a:t>softmax</a:t>
            </a:r>
            <a:endParaRPr lang="en-US" sz="1600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4986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Backward &amp; Bidirectional LSTMs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26518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25364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25248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520699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520815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523124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77765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78805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76611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696734"/>
            <a:ext cx="8555182" cy="1107996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bidirectional: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if shallow, just use forward and backward LSTMs in parallel, concatenate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final two hidden vectors, feed to </a:t>
            </a:r>
            <a:r>
              <a:rPr lang="en-US" sz="2000" i="0" dirty="0" err="1" smtClean="0">
                <a:latin typeface="Calibri"/>
                <a:cs typeface="Calibri"/>
              </a:rPr>
              <a:t>softmax</a:t>
            </a:r>
            <a:endParaRPr lang="en-US" sz="1600" i="0" dirty="0" smtClean="0">
              <a:latin typeface="Calibri"/>
              <a:cs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548" y="750453"/>
            <a:ext cx="8462815" cy="53224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766010"/>
              </p:ext>
            </p:extLst>
          </p:nvPr>
        </p:nvGraphicFramePr>
        <p:xfrm>
          <a:off x="438731" y="1664860"/>
          <a:ext cx="6574586" cy="311491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87635"/>
                <a:gridCol w="1584059"/>
                <a:gridCol w="1454484"/>
                <a:gridCol w="1448408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backward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006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Backward &amp; Bidirectional LSTMs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26518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25364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25248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520699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520815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523124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77765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78805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76611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696734"/>
            <a:ext cx="8555182" cy="1107996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bidirectional: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if shallow, just use forward and backward LSTMs in parallel, concatenate </a:t>
            </a:r>
          </a:p>
          <a:p>
            <a:pPr lvl="1" eaLnBrk="1" hangingPunct="1"/>
            <a:r>
              <a:rPr lang="en-US" sz="2000" i="0" dirty="0" smtClean="0">
                <a:latin typeface="Calibri"/>
                <a:cs typeface="Calibri"/>
              </a:rPr>
              <a:t>final two hidden vectors, feed to </a:t>
            </a:r>
            <a:r>
              <a:rPr lang="en-US" sz="2000" i="0" dirty="0" err="1" smtClean="0">
                <a:latin typeface="Calibri"/>
                <a:cs typeface="Calibri"/>
              </a:rPr>
              <a:t>softmax</a:t>
            </a:r>
            <a:endParaRPr lang="en-US" sz="1600" i="0" dirty="0" smtClean="0">
              <a:latin typeface="Calibri"/>
              <a:cs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548" y="750453"/>
            <a:ext cx="8462815" cy="53224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8534"/>
              </p:ext>
            </p:extLst>
          </p:nvPr>
        </p:nvGraphicFramePr>
        <p:xfrm>
          <a:off x="438731" y="1664860"/>
          <a:ext cx="8324273" cy="311491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87635"/>
                <a:gridCol w="1584059"/>
                <a:gridCol w="1454484"/>
                <a:gridCol w="1448408"/>
                <a:gridCol w="1749687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backward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bidirectional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81.9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83.7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input gates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84.4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forget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82.1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 gates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6363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4"/>
            <a:ext cx="2193635" cy="1343891"/>
          </a:xfrm>
        </p:spPr>
        <p:txBody>
          <a:bodyPr/>
          <a:lstStyle/>
          <a:p>
            <a:r>
              <a:rPr lang="en-US" sz="3200" dirty="0" smtClean="0"/>
              <a:t>LSTM</a:t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93" y="568021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21" y="556474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430" y="555320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284" y="3278930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376" y="3280084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412" y="3303175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5767" y="1965043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830" y="1975434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3503" y="1953497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435319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5"/>
            <a:ext cx="2193635" cy="1182256"/>
          </a:xfrm>
        </p:spPr>
        <p:txBody>
          <a:bodyPr/>
          <a:lstStyle/>
          <a:p>
            <a:r>
              <a:rPr lang="en-US" sz="3200" dirty="0" smtClean="0"/>
              <a:t>Deep LSTM</a:t>
            </a:r>
            <a:br>
              <a:rPr lang="en-US" sz="3200" dirty="0" smtClean="0"/>
            </a:br>
            <a:r>
              <a:rPr lang="en-US" sz="3200" dirty="0" smtClean="0"/>
              <a:t>(2-layer)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93" y="568021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21" y="556474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430" y="555320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320648" y="43757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4158683" y="43664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985172" y="43803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2" name="Straight Arrow Connector 61"/>
          <p:cNvCxnSpPr>
            <a:stCxn id="59" idx="6"/>
            <a:endCxn id="60" idx="2"/>
          </p:cNvCxnSpPr>
          <p:nvPr/>
        </p:nvCxnSpPr>
        <p:spPr bwMode="auto">
          <a:xfrm flipV="1">
            <a:off x="3223506" y="4817918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Arrow Connector 62"/>
          <p:cNvCxnSpPr>
            <a:stCxn id="60" idx="6"/>
            <a:endCxn id="61" idx="2"/>
          </p:cNvCxnSpPr>
          <p:nvPr/>
        </p:nvCxnSpPr>
        <p:spPr bwMode="auto">
          <a:xfrm>
            <a:off x="5061541" y="4817918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>
            <a:endCxn id="59" idx="0"/>
          </p:cNvCxnSpPr>
          <p:nvPr/>
        </p:nvCxnSpPr>
        <p:spPr bwMode="auto">
          <a:xfrm flipH="1">
            <a:off x="2772077" y="3895421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/>
          <p:cNvCxnSpPr>
            <a:endCxn id="60" idx="0"/>
          </p:cNvCxnSpPr>
          <p:nvPr/>
        </p:nvCxnSpPr>
        <p:spPr bwMode="auto">
          <a:xfrm flipH="1">
            <a:off x="4610112" y="3886185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>
            <a:endCxn id="61" idx="0"/>
          </p:cNvCxnSpPr>
          <p:nvPr/>
        </p:nvCxnSpPr>
        <p:spPr bwMode="auto">
          <a:xfrm flipH="1">
            <a:off x="6436601" y="3897730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Oval 66"/>
          <p:cNvSpPr/>
          <p:nvPr/>
        </p:nvSpPr>
        <p:spPr>
          <a:xfrm>
            <a:off x="2322957" y="5763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4160992" y="5754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987481" y="5768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0" name="Straight Arrow Connector 69"/>
          <p:cNvCxnSpPr>
            <a:stCxn id="67" idx="6"/>
            <a:endCxn id="60" idx="3"/>
          </p:cNvCxnSpPr>
          <p:nvPr/>
        </p:nvCxnSpPr>
        <p:spPr bwMode="auto">
          <a:xfrm flipV="1">
            <a:off x="3225815" y="5137127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Arrow Connector 70"/>
          <p:cNvCxnSpPr>
            <a:stCxn id="68" idx="6"/>
            <a:endCxn id="61" idx="3"/>
          </p:cNvCxnSpPr>
          <p:nvPr/>
        </p:nvCxnSpPr>
        <p:spPr bwMode="auto">
          <a:xfrm flipV="1">
            <a:off x="5063850" y="5150982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stCxn id="59" idx="4"/>
            <a:endCxn id="67" idx="0"/>
          </p:cNvCxnSpPr>
          <p:nvPr/>
        </p:nvCxnSpPr>
        <p:spPr bwMode="auto">
          <a:xfrm>
            <a:off x="2772077" y="52785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/>
          <p:cNvCxnSpPr>
            <a:stCxn id="60" idx="4"/>
            <a:endCxn id="68" idx="0"/>
          </p:cNvCxnSpPr>
          <p:nvPr/>
        </p:nvCxnSpPr>
        <p:spPr bwMode="auto">
          <a:xfrm>
            <a:off x="4610112" y="5269347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/>
          <p:cNvCxnSpPr>
            <a:stCxn id="61" idx="4"/>
            <a:endCxn id="69" idx="0"/>
          </p:cNvCxnSpPr>
          <p:nvPr/>
        </p:nvCxnSpPr>
        <p:spPr bwMode="auto">
          <a:xfrm>
            <a:off x="6436601" y="5283202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Rectangle 80"/>
          <p:cNvSpPr/>
          <p:nvPr/>
        </p:nvSpPr>
        <p:spPr>
          <a:xfrm>
            <a:off x="2415323" y="40016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230268" y="399242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68304" y="400628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415323" y="5364031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230268" y="535479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068304" y="535710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/>
          <p:cNvSpPr/>
          <p:nvPr/>
        </p:nvSpPr>
        <p:spPr>
          <a:xfrm rot="2575300">
            <a:off x="3410540" y="565497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8" name="Rectangle 87"/>
          <p:cNvSpPr/>
          <p:nvPr/>
        </p:nvSpPr>
        <p:spPr>
          <a:xfrm rot="2575300">
            <a:off x="5179304" y="564573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9" name="Rectangle 88"/>
          <p:cNvSpPr/>
          <p:nvPr/>
        </p:nvSpPr>
        <p:spPr>
          <a:xfrm rot="5400000">
            <a:off x="3258140" y="4740574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0" name="Rectangle 89"/>
          <p:cNvSpPr/>
          <p:nvPr/>
        </p:nvSpPr>
        <p:spPr>
          <a:xfrm rot="5400000">
            <a:off x="5096177" y="4742885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209" y="1854197"/>
            <a:ext cx="520700" cy="35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818" y="1841500"/>
            <a:ext cx="5080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6817" y="4577773"/>
            <a:ext cx="508000" cy="381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209" y="4625109"/>
            <a:ext cx="5207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9636" y="4636654"/>
            <a:ext cx="241300" cy="355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9246" y="1865744"/>
            <a:ext cx="228600" cy="355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482" y="3274291"/>
            <a:ext cx="266700" cy="355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6936" y="6045200"/>
            <a:ext cx="279400" cy="3556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4600" y="6033655"/>
            <a:ext cx="546100" cy="355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6056" y="6032500"/>
            <a:ext cx="546100" cy="3810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0691" y="3238500"/>
            <a:ext cx="546100" cy="3810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4600" y="3262745"/>
            <a:ext cx="546100" cy="355600"/>
          </a:xfrm>
          <a:prstGeom prst="rect">
            <a:avLst/>
          </a:prstGeom>
        </p:spPr>
      </p:pic>
      <p:sp>
        <p:nvSpPr>
          <p:cNvPr id="37" name="Left Brace 36"/>
          <p:cNvSpPr/>
          <p:nvPr/>
        </p:nvSpPr>
        <p:spPr bwMode="auto">
          <a:xfrm>
            <a:off x="1720273" y="1524000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1" name="Title 1"/>
          <p:cNvSpPr txBox="1">
            <a:spLocks/>
          </p:cNvSpPr>
          <p:nvPr/>
        </p:nvSpPr>
        <p:spPr bwMode="auto">
          <a:xfrm>
            <a:off x="221672" y="2389905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 smtClean="0"/>
              <a:t>layer 1</a:t>
            </a:r>
            <a:endParaRPr lang="en-US" sz="3200" i="0" dirty="0"/>
          </a:p>
        </p:txBody>
      </p:sp>
      <p:sp>
        <p:nvSpPr>
          <p:cNvPr id="92" name="Title 1"/>
          <p:cNvSpPr txBox="1">
            <a:spLocks/>
          </p:cNvSpPr>
          <p:nvPr/>
        </p:nvSpPr>
        <p:spPr bwMode="auto">
          <a:xfrm>
            <a:off x="177800" y="5128484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 smtClean="0"/>
              <a:t>layer 2</a:t>
            </a:r>
            <a:endParaRPr lang="en-US" sz="3200" i="0" dirty="0"/>
          </a:p>
        </p:txBody>
      </p:sp>
      <p:sp>
        <p:nvSpPr>
          <p:cNvPr id="93" name="Left Brace 92"/>
          <p:cNvSpPr/>
          <p:nvPr/>
        </p:nvSpPr>
        <p:spPr bwMode="auto">
          <a:xfrm>
            <a:off x="1711036" y="4285671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13919983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87745"/>
            <a:ext cx="2193635" cy="1182256"/>
          </a:xfrm>
        </p:spPr>
        <p:txBody>
          <a:bodyPr/>
          <a:lstStyle/>
          <a:p>
            <a:r>
              <a:rPr lang="en-US" sz="3200" dirty="0" smtClean="0"/>
              <a:t>Deep LSTM</a:t>
            </a:r>
            <a:br>
              <a:rPr lang="en-US" sz="3200" dirty="0" smtClean="0"/>
            </a:br>
            <a:r>
              <a:rPr lang="en-US" sz="3200" dirty="0" smtClean="0"/>
              <a:t>(2-layer)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18339" y="1602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56374" y="1593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82863" y="1607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221197" y="2044700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59232" y="2044700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320648" y="21934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69768" y="1122203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58684" y="21010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607803" y="1112967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82866" y="2216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34292" y="1124512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93" y="568021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521" y="556474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430" y="555320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320648" y="29902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58683" y="298105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85172" y="29949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28" idx="6"/>
            <a:endCxn id="6" idx="3"/>
          </p:cNvCxnSpPr>
          <p:nvPr/>
        </p:nvCxnSpPr>
        <p:spPr bwMode="auto">
          <a:xfrm flipV="1">
            <a:off x="3223506" y="2363909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3" idx="6"/>
            <a:endCxn id="7" idx="3"/>
          </p:cNvCxnSpPr>
          <p:nvPr/>
        </p:nvCxnSpPr>
        <p:spPr bwMode="auto">
          <a:xfrm flipV="1">
            <a:off x="5061541" y="2377764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69768" y="2505366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607803" y="2496129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34292" y="25099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Rectangle 35"/>
          <p:cNvSpPr/>
          <p:nvPr/>
        </p:nvSpPr>
        <p:spPr>
          <a:xfrm>
            <a:off x="2413014" y="122844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27959" y="121920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65995" y="12330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413014" y="259081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27959" y="258157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65995" y="2583885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2575300">
            <a:off x="3408231" y="2881754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2575300">
            <a:off x="5176995" y="2872518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55831" y="1967356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93868" y="1969667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2320648" y="43757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4158683" y="436648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985172" y="438034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2" name="Straight Arrow Connector 61"/>
          <p:cNvCxnSpPr>
            <a:stCxn id="59" idx="6"/>
            <a:endCxn id="60" idx="2"/>
          </p:cNvCxnSpPr>
          <p:nvPr/>
        </p:nvCxnSpPr>
        <p:spPr bwMode="auto">
          <a:xfrm flipV="1">
            <a:off x="3223506" y="4817918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Straight Arrow Connector 62"/>
          <p:cNvCxnSpPr>
            <a:stCxn id="60" idx="6"/>
            <a:endCxn id="61" idx="2"/>
          </p:cNvCxnSpPr>
          <p:nvPr/>
        </p:nvCxnSpPr>
        <p:spPr bwMode="auto">
          <a:xfrm>
            <a:off x="5061541" y="4817918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Straight Arrow Connector 63"/>
          <p:cNvCxnSpPr>
            <a:endCxn id="59" idx="0"/>
          </p:cNvCxnSpPr>
          <p:nvPr/>
        </p:nvCxnSpPr>
        <p:spPr bwMode="auto">
          <a:xfrm flipH="1">
            <a:off x="2772077" y="3895421"/>
            <a:ext cx="2309" cy="4803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Arrow Connector 64"/>
          <p:cNvCxnSpPr>
            <a:endCxn id="60" idx="0"/>
          </p:cNvCxnSpPr>
          <p:nvPr/>
        </p:nvCxnSpPr>
        <p:spPr bwMode="auto">
          <a:xfrm flipH="1">
            <a:off x="4610112" y="3886185"/>
            <a:ext cx="2310" cy="4803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>
            <a:endCxn id="61" idx="0"/>
          </p:cNvCxnSpPr>
          <p:nvPr/>
        </p:nvCxnSpPr>
        <p:spPr bwMode="auto">
          <a:xfrm flipH="1">
            <a:off x="6436601" y="3897730"/>
            <a:ext cx="3" cy="4826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Oval 66"/>
          <p:cNvSpPr/>
          <p:nvPr/>
        </p:nvSpPr>
        <p:spPr>
          <a:xfrm>
            <a:off x="2322957" y="576350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4160992" y="575427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5987481" y="576812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0" name="Straight Arrow Connector 69"/>
          <p:cNvCxnSpPr>
            <a:stCxn id="67" idx="6"/>
            <a:endCxn id="60" idx="3"/>
          </p:cNvCxnSpPr>
          <p:nvPr/>
        </p:nvCxnSpPr>
        <p:spPr bwMode="auto">
          <a:xfrm flipV="1">
            <a:off x="3225815" y="5137127"/>
            <a:ext cx="1065088" cy="107781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Arrow Connector 70"/>
          <p:cNvCxnSpPr>
            <a:stCxn id="68" idx="6"/>
            <a:endCxn id="61" idx="3"/>
          </p:cNvCxnSpPr>
          <p:nvPr/>
        </p:nvCxnSpPr>
        <p:spPr bwMode="auto">
          <a:xfrm flipV="1">
            <a:off x="5063850" y="5150982"/>
            <a:ext cx="1053542" cy="105471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>
            <a:stCxn id="59" idx="4"/>
            <a:endCxn id="67" idx="0"/>
          </p:cNvCxnSpPr>
          <p:nvPr/>
        </p:nvCxnSpPr>
        <p:spPr bwMode="auto">
          <a:xfrm>
            <a:off x="2772077" y="5278584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/>
          <p:cNvCxnSpPr>
            <a:stCxn id="60" idx="4"/>
            <a:endCxn id="68" idx="0"/>
          </p:cNvCxnSpPr>
          <p:nvPr/>
        </p:nvCxnSpPr>
        <p:spPr bwMode="auto">
          <a:xfrm>
            <a:off x="4610112" y="5269347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Arrow Connector 73"/>
          <p:cNvCxnSpPr>
            <a:stCxn id="61" idx="4"/>
            <a:endCxn id="69" idx="0"/>
          </p:cNvCxnSpPr>
          <p:nvPr/>
        </p:nvCxnSpPr>
        <p:spPr bwMode="auto">
          <a:xfrm>
            <a:off x="6436601" y="5283202"/>
            <a:ext cx="2309" cy="4849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Rectangle 80"/>
          <p:cNvSpPr/>
          <p:nvPr/>
        </p:nvSpPr>
        <p:spPr>
          <a:xfrm>
            <a:off x="2415323" y="400166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230268" y="399242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068304" y="4006280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415323" y="5364031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230268" y="535479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068304" y="5357103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7" name="Rectangle 86"/>
          <p:cNvSpPr/>
          <p:nvPr/>
        </p:nvSpPr>
        <p:spPr>
          <a:xfrm rot="2575300">
            <a:off x="3410540" y="5654972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8" name="Rectangle 87"/>
          <p:cNvSpPr/>
          <p:nvPr/>
        </p:nvSpPr>
        <p:spPr>
          <a:xfrm rot="2575300">
            <a:off x="5179304" y="5645736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9" name="Rectangle 88"/>
          <p:cNvSpPr/>
          <p:nvPr/>
        </p:nvSpPr>
        <p:spPr>
          <a:xfrm rot="5400000">
            <a:off x="3258140" y="4740574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0" name="Rectangle 89"/>
          <p:cNvSpPr/>
          <p:nvPr/>
        </p:nvSpPr>
        <p:spPr>
          <a:xfrm rot="5400000">
            <a:off x="5096177" y="4742885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209" y="1854197"/>
            <a:ext cx="520700" cy="35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818" y="1841500"/>
            <a:ext cx="5080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6817" y="4577773"/>
            <a:ext cx="508000" cy="381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209" y="4625109"/>
            <a:ext cx="5207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9636" y="4636654"/>
            <a:ext cx="241300" cy="355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9246" y="1865744"/>
            <a:ext cx="228600" cy="355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482" y="3274291"/>
            <a:ext cx="266700" cy="355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6936" y="6045200"/>
            <a:ext cx="279400" cy="3556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4600" y="6033655"/>
            <a:ext cx="546100" cy="355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6056" y="6032500"/>
            <a:ext cx="546100" cy="3810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0691" y="3238500"/>
            <a:ext cx="546100" cy="3810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4600" y="3262745"/>
            <a:ext cx="546100" cy="355600"/>
          </a:xfrm>
          <a:prstGeom prst="rect">
            <a:avLst/>
          </a:prstGeom>
        </p:spPr>
      </p:pic>
      <p:sp>
        <p:nvSpPr>
          <p:cNvPr id="37" name="Left Brace 36"/>
          <p:cNvSpPr/>
          <p:nvPr/>
        </p:nvSpPr>
        <p:spPr bwMode="auto">
          <a:xfrm>
            <a:off x="1720273" y="1524000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1" name="Title 1"/>
          <p:cNvSpPr txBox="1">
            <a:spLocks/>
          </p:cNvSpPr>
          <p:nvPr/>
        </p:nvSpPr>
        <p:spPr bwMode="auto">
          <a:xfrm>
            <a:off x="221672" y="2389905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 smtClean="0"/>
              <a:t>layer 1</a:t>
            </a:r>
            <a:endParaRPr lang="en-US" sz="3200" i="0" dirty="0"/>
          </a:p>
        </p:txBody>
      </p:sp>
      <p:sp>
        <p:nvSpPr>
          <p:cNvPr id="92" name="Title 1"/>
          <p:cNvSpPr txBox="1">
            <a:spLocks/>
          </p:cNvSpPr>
          <p:nvPr/>
        </p:nvSpPr>
        <p:spPr bwMode="auto">
          <a:xfrm>
            <a:off x="177800" y="5128484"/>
            <a:ext cx="1521690" cy="6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3200" i="0" dirty="0" smtClean="0"/>
              <a:t>layer 2</a:t>
            </a:r>
            <a:endParaRPr lang="en-US" sz="3200" i="0" dirty="0"/>
          </a:p>
        </p:txBody>
      </p:sp>
      <p:sp>
        <p:nvSpPr>
          <p:cNvPr id="93" name="Left Brace 92"/>
          <p:cNvSpPr/>
          <p:nvPr/>
        </p:nvSpPr>
        <p:spPr bwMode="auto">
          <a:xfrm>
            <a:off x="1711036" y="4285671"/>
            <a:ext cx="484909" cy="2401454"/>
          </a:xfrm>
          <a:prstGeom prst="leftBrace">
            <a:avLst>
              <a:gd name="adj1" fmla="val 41666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1549" y="127000"/>
            <a:ext cx="7042724" cy="6730999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124682"/>
              </p:ext>
            </p:extLst>
          </p:nvPr>
        </p:nvGraphicFramePr>
        <p:xfrm>
          <a:off x="2112819" y="833587"/>
          <a:ext cx="6603998" cy="259653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167681"/>
                <a:gridCol w="2254417"/>
                <a:gridCol w="1181900"/>
              </a:tblGrid>
              <a:tr h="523035"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0"/>
                    </a:solidFill>
                  </a:tcPr>
                </a:tc>
              </a:tr>
              <a:tr h="518375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gateless</a:t>
                      </a:r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shallow (50)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vMerge="1"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 (30, 30)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80.8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input, forget, output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shallow (50)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85.3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375">
                <a:tc vMerge="1">
                  <a:txBody>
                    <a:bodyPr/>
                    <a:lstStyle/>
                    <a:p>
                      <a:pPr algn="ctr"/>
                      <a:endParaRPr lang="en-US" sz="24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 (30, 30)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~85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570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Deep Bidirectional LSTMs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5236" y="341512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40588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4197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6" idx="2"/>
            <a:endCxn id="5" idx="6"/>
          </p:cNvCxnSpPr>
          <p:nvPr/>
        </p:nvCxnSpPr>
        <p:spPr bwMode="auto">
          <a:xfrm flipH="1">
            <a:off x="3198094" y="385731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7" idx="2"/>
            <a:endCxn id="6" idx="6"/>
          </p:cNvCxnSpPr>
          <p:nvPr/>
        </p:nvCxnSpPr>
        <p:spPr bwMode="auto">
          <a:xfrm flipH="1" flipV="1">
            <a:off x="5036129" y="385731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9165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819369"/>
            <a:ext cx="2309" cy="5957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90727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810133"/>
            <a:ext cx="2310" cy="59575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91882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821678"/>
            <a:ext cx="3" cy="59806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390" y="2265187"/>
            <a:ext cx="266700" cy="2032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8" y="2253640"/>
            <a:ext cx="558800" cy="2032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27" y="2252486"/>
            <a:ext cx="558800" cy="21590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2297545" y="49183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135580" y="49091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962069" y="49229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8" name="Straight Arrow Connector 37"/>
          <p:cNvCxnSpPr>
            <a:stCxn id="33" idx="2"/>
            <a:endCxn id="5" idx="5"/>
          </p:cNvCxnSpPr>
          <p:nvPr/>
        </p:nvCxnSpPr>
        <p:spPr bwMode="auto">
          <a:xfrm flipH="1" flipV="1">
            <a:off x="3065874" y="4185762"/>
            <a:ext cx="1069706" cy="117478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>
            <a:stCxn id="34" idx="2"/>
            <a:endCxn id="6" idx="5"/>
          </p:cNvCxnSpPr>
          <p:nvPr/>
        </p:nvCxnSpPr>
        <p:spPr bwMode="auto">
          <a:xfrm flipH="1" flipV="1">
            <a:off x="4903909" y="4176525"/>
            <a:ext cx="1058160" cy="1197878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5" idx="4"/>
            <a:endCxn id="28" idx="0"/>
          </p:cNvCxnSpPr>
          <p:nvPr/>
        </p:nvCxnSpPr>
        <p:spPr bwMode="auto">
          <a:xfrm>
            <a:off x="2746665" y="4317982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6" idx="4"/>
            <a:endCxn id="33" idx="0"/>
          </p:cNvCxnSpPr>
          <p:nvPr/>
        </p:nvCxnSpPr>
        <p:spPr bwMode="auto">
          <a:xfrm>
            <a:off x="4584700" y="4308745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Arrow Connector 41"/>
          <p:cNvCxnSpPr>
            <a:stCxn id="7" idx="4"/>
            <a:endCxn id="34" idx="0"/>
          </p:cNvCxnSpPr>
          <p:nvPr/>
        </p:nvCxnSpPr>
        <p:spPr bwMode="auto">
          <a:xfrm>
            <a:off x="6411189" y="4322600"/>
            <a:ext cx="2309" cy="60037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181" y="5206996"/>
            <a:ext cx="546100" cy="30480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273" y="5208150"/>
            <a:ext cx="546100" cy="2794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309" y="5231241"/>
            <a:ext cx="2540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64" y="3777659"/>
            <a:ext cx="520700" cy="20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727" y="3788050"/>
            <a:ext cx="508000" cy="215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400" y="3766113"/>
            <a:ext cx="203200" cy="2032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2389911" y="2983335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04856" y="2974099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042892" y="2987953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89911" y="4461154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04856" y="4451917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042892" y="4454226"/>
            <a:ext cx="738910" cy="14546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Rectangle 53"/>
          <p:cNvSpPr/>
          <p:nvPr/>
        </p:nvSpPr>
        <p:spPr>
          <a:xfrm rot="8134411">
            <a:off x="3258127" y="472900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Rectangle 54"/>
          <p:cNvSpPr/>
          <p:nvPr/>
        </p:nvSpPr>
        <p:spPr>
          <a:xfrm rot="8239212">
            <a:off x="5130802" y="4777497"/>
            <a:ext cx="738910" cy="145469"/>
          </a:xfrm>
          <a:prstGeom prst="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Rectangle 55"/>
          <p:cNvSpPr/>
          <p:nvPr/>
        </p:nvSpPr>
        <p:spPr>
          <a:xfrm rot="5400000">
            <a:off x="3232728" y="3779972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Rectangle 56"/>
          <p:cNvSpPr/>
          <p:nvPr/>
        </p:nvSpPr>
        <p:spPr>
          <a:xfrm rot="5400000">
            <a:off x="5070765" y="3782283"/>
            <a:ext cx="738910" cy="145469"/>
          </a:xfrm>
          <a:prstGeom prst="rect">
            <a:avLst/>
          </a:prstGeom>
          <a:solidFill>
            <a:srgbClr val="19C819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34818" y="850622"/>
            <a:ext cx="8555182" cy="800219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concatenate hidden vectors of forward &amp; backward LSTMs, connect each entry to forward and backward hidden vectors in next layer</a:t>
            </a:r>
          </a:p>
        </p:txBody>
      </p:sp>
    </p:spTree>
    <p:extLst>
      <p:ext uri="{BB962C8B-B14F-4D97-AF65-F5344CB8AC3E}">
        <p14:creationId xmlns:p14="http://schemas.microsoft.com/office/powerpoint/2010/main" val="2963529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" y="5207000"/>
            <a:ext cx="215900" cy="19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60" y="1431290"/>
            <a:ext cx="203200" cy="266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1744980"/>
            <a:ext cx="8178800" cy="414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1360" y="1940560"/>
            <a:ext cx="1016000" cy="1290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289" y="146050"/>
            <a:ext cx="3073400" cy="939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1360" y="311170"/>
            <a:ext cx="2827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(logistic</a:t>
            </a:r>
            <a:r>
              <a:rPr lang="en-US" sz="2800" smtClean="0"/>
              <a:t>) sigmoid: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0040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58386</TotalTime>
  <Words>1617</Words>
  <Application>Microsoft Macintosh PowerPoint</Application>
  <PresentationFormat>On-screen Show (4:3)</PresentationFormat>
  <Paragraphs>388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TTIC 31190: Natural Language Processing</vt:lpstr>
      <vt:lpstr>Announcements</vt:lpstr>
      <vt:lpstr>Roadmap</vt:lpstr>
      <vt:lpstr>2-transformation (1-layer) network</vt:lpstr>
      <vt:lpstr>1-layer neural network for sentiment classification</vt:lpstr>
      <vt:lpstr>Use softmax function to convert scores into probabilities</vt:lpstr>
      <vt:lpstr>Neural Networks for Twitter Part-of-Speech Tagging</vt:lpstr>
      <vt:lpstr>Neural Networks for Twitter Part-of-Speech Tagging</vt:lpstr>
      <vt:lpstr>Neural Networks for Twitter Part-of-Speech Tagging</vt:lpstr>
      <vt:lpstr>Neural Networks for Twitter Part-of-Speech Tagging</vt:lpstr>
      <vt:lpstr>Neural Networks for Twitter Part-of-Speech Tagging</vt:lpstr>
      <vt:lpstr>Neural Networks for Twitter Part-of-Speech Tagging</vt:lpstr>
      <vt:lpstr>Features and Filters</vt:lpstr>
      <vt:lpstr>Filters</vt:lpstr>
      <vt:lpstr>Convolution</vt:lpstr>
      <vt:lpstr>Convolution</vt:lpstr>
      <vt:lpstr>Convolution</vt:lpstr>
      <vt:lpstr>Convolution</vt:lpstr>
      <vt:lpstr>Convolution</vt:lpstr>
      <vt:lpstr>Pooling</vt:lpstr>
      <vt:lpstr>Pooling</vt:lpstr>
      <vt:lpstr>Convolutional Neural Networks</vt:lpstr>
      <vt:lpstr>Recurrent Neural Networks</vt:lpstr>
      <vt:lpstr>Recurrent Neural Networks</vt:lpstr>
      <vt:lpstr>Recurrent Neural Networks</vt:lpstr>
      <vt:lpstr>Disclaimer</vt:lpstr>
      <vt:lpstr>Long Short-Term Memory RNNs (gateless)</vt:lpstr>
      <vt:lpstr>Long Short-Term Memory RNNs (gateless)</vt:lpstr>
      <vt:lpstr>Long Short-Term Memory RNNs (gateless)</vt:lpstr>
      <vt:lpstr>Long Short-Term Memory RNNs (gateless)</vt:lpstr>
      <vt:lpstr>Output Gates</vt:lpstr>
      <vt:lpstr>Output Gates</vt:lpstr>
      <vt:lpstr>Output Gates</vt:lpstr>
      <vt:lpstr>Output Gates</vt:lpstr>
      <vt:lpstr>Output Gates</vt:lpstr>
      <vt:lpstr>Output Gates</vt:lpstr>
      <vt:lpstr>Output Gates</vt:lpstr>
      <vt:lpstr>Output Gates</vt:lpstr>
      <vt:lpstr>Input Gates</vt:lpstr>
      <vt:lpstr>Input Gates</vt:lpstr>
      <vt:lpstr>Input Gates</vt:lpstr>
      <vt:lpstr>Input Gates</vt:lpstr>
      <vt:lpstr>Output Gates</vt:lpstr>
      <vt:lpstr>Input Gates</vt:lpstr>
      <vt:lpstr>Input and Output Gates</vt:lpstr>
      <vt:lpstr>Forget Gates</vt:lpstr>
      <vt:lpstr>Forget Gates</vt:lpstr>
      <vt:lpstr>Forget Gates</vt:lpstr>
      <vt:lpstr>Forget Gates</vt:lpstr>
      <vt:lpstr>All Gates</vt:lpstr>
      <vt:lpstr>All Gates</vt:lpstr>
      <vt:lpstr>Backward &amp; Bidirectional LSTMs</vt:lpstr>
      <vt:lpstr>Backward &amp; Bidirectional LSTMs</vt:lpstr>
      <vt:lpstr>Backward &amp; Bidirectional LSTMs</vt:lpstr>
      <vt:lpstr>LSTM </vt:lpstr>
      <vt:lpstr>Deep LSTM (2-layer)</vt:lpstr>
      <vt:lpstr>Deep LSTM (2-layer)</vt:lpstr>
      <vt:lpstr>Deep Bidirectional LSTMs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1865</cp:revision>
  <dcterms:created xsi:type="dcterms:W3CDTF">2015-08-31T18:15:35Z</dcterms:created>
  <dcterms:modified xsi:type="dcterms:W3CDTF">2016-02-09T15:45:07Z</dcterms:modified>
</cp:coreProperties>
</file>