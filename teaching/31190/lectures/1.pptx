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handoutMasterIdLst>
    <p:handoutMasterId r:id="rId88"/>
  </p:handoutMasterIdLst>
  <p:sldIdLst>
    <p:sldId id="256" r:id="rId2"/>
    <p:sldId id="287" r:id="rId3"/>
    <p:sldId id="288" r:id="rId4"/>
    <p:sldId id="305" r:id="rId5"/>
    <p:sldId id="323" r:id="rId6"/>
    <p:sldId id="310" r:id="rId7"/>
    <p:sldId id="366" r:id="rId8"/>
    <p:sldId id="367" r:id="rId9"/>
    <p:sldId id="405" r:id="rId10"/>
    <p:sldId id="368" r:id="rId11"/>
    <p:sldId id="369" r:id="rId12"/>
    <p:sldId id="370" r:id="rId13"/>
    <p:sldId id="308" r:id="rId14"/>
    <p:sldId id="306" r:id="rId15"/>
    <p:sldId id="307" r:id="rId16"/>
    <p:sldId id="408" r:id="rId17"/>
    <p:sldId id="312" r:id="rId18"/>
    <p:sldId id="406" r:id="rId19"/>
    <p:sldId id="407" r:id="rId20"/>
    <p:sldId id="315" r:id="rId21"/>
    <p:sldId id="274" r:id="rId22"/>
    <p:sldId id="392" r:id="rId23"/>
    <p:sldId id="393" r:id="rId24"/>
    <p:sldId id="394" r:id="rId25"/>
    <p:sldId id="397" r:id="rId26"/>
    <p:sldId id="327" r:id="rId27"/>
    <p:sldId id="258" r:id="rId28"/>
    <p:sldId id="354" r:id="rId29"/>
    <p:sldId id="352" r:id="rId30"/>
    <p:sldId id="326" r:id="rId31"/>
    <p:sldId id="353" r:id="rId32"/>
    <p:sldId id="343" r:id="rId33"/>
    <p:sldId id="259" r:id="rId34"/>
    <p:sldId id="399" r:id="rId35"/>
    <p:sldId id="400" r:id="rId36"/>
    <p:sldId id="401" r:id="rId37"/>
    <p:sldId id="402" r:id="rId38"/>
    <p:sldId id="403" r:id="rId39"/>
    <p:sldId id="404" r:id="rId40"/>
    <p:sldId id="260" r:id="rId41"/>
    <p:sldId id="299" r:id="rId42"/>
    <p:sldId id="301" r:id="rId43"/>
    <p:sldId id="300" r:id="rId44"/>
    <p:sldId id="261" r:id="rId45"/>
    <p:sldId id="348" r:id="rId46"/>
    <p:sldId id="349" r:id="rId47"/>
    <p:sldId id="296" r:id="rId48"/>
    <p:sldId id="297" r:id="rId49"/>
    <p:sldId id="302" r:id="rId50"/>
    <p:sldId id="298" r:id="rId51"/>
    <p:sldId id="355" r:id="rId52"/>
    <p:sldId id="347" r:id="rId53"/>
    <p:sldId id="345" r:id="rId54"/>
    <p:sldId id="358" r:id="rId55"/>
    <p:sldId id="263" r:id="rId56"/>
    <p:sldId id="357" r:id="rId57"/>
    <p:sldId id="267" r:id="rId58"/>
    <p:sldId id="268" r:id="rId59"/>
    <p:sldId id="361" r:id="rId60"/>
    <p:sldId id="360" r:id="rId61"/>
    <p:sldId id="365" r:id="rId62"/>
    <p:sldId id="356" r:id="rId63"/>
    <p:sldId id="362" r:id="rId64"/>
    <p:sldId id="270" r:id="rId65"/>
    <p:sldId id="396" r:id="rId66"/>
    <p:sldId id="271" r:id="rId67"/>
    <p:sldId id="363" r:id="rId68"/>
    <p:sldId id="269" r:id="rId69"/>
    <p:sldId id="364" r:id="rId70"/>
    <p:sldId id="384" r:id="rId71"/>
    <p:sldId id="388" r:id="rId72"/>
    <p:sldId id="390" r:id="rId73"/>
    <p:sldId id="386" r:id="rId74"/>
    <p:sldId id="389" r:id="rId75"/>
    <p:sldId id="391" r:id="rId76"/>
    <p:sldId id="373" r:id="rId77"/>
    <p:sldId id="376" r:id="rId78"/>
    <p:sldId id="375" r:id="rId79"/>
    <p:sldId id="374" r:id="rId80"/>
    <p:sldId id="277" r:id="rId81"/>
    <p:sldId id="382" r:id="rId82"/>
    <p:sldId id="381" r:id="rId83"/>
    <p:sldId id="380" r:id="rId84"/>
    <p:sldId id="278" r:id="rId85"/>
    <p:sldId id="344" r:id="rId8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405" autoAdjust="0"/>
  </p:normalViewPr>
  <p:slideViewPr>
    <p:cSldViewPr snapToGrid="0" snapToObjects="1">
      <p:cViewPr>
        <p:scale>
          <a:sx n="130" d="100"/>
          <a:sy n="130" d="100"/>
        </p:scale>
        <p:origin x="166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handoutMaster" Target="handoutMasters/handoutMaster1.xml"/><Relationship Id="rId8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1/5/16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1/5/16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52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52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1/5/16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1/5/16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1/5/16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1/5/16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1/5/16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1/5/16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1/5/16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1/5/16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1/5/16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1/5/16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1/5/16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1/5/16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gi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3" Type="http://schemas.openxmlformats.org/officeDocument/2006/relationships/image" Target="../media/image19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image" Target="../media/image21.emf"/><Relationship Id="rId5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4" Type="http://schemas.openxmlformats.org/officeDocument/2006/relationships/image" Target="../media/image21.emf"/><Relationship Id="rId5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3" Type="http://schemas.openxmlformats.org/officeDocument/2006/relationships/image" Target="../media/image24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3" Type="http://schemas.openxmlformats.org/officeDocument/2006/relationships/image" Target="../media/image19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3" Type="http://schemas.openxmlformats.org/officeDocument/2006/relationships/image" Target="../media/image19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Relationship Id="rId3" Type="http://schemas.openxmlformats.org/officeDocument/2006/relationships/image" Target="../media/image27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4" Type="http://schemas.openxmlformats.org/officeDocument/2006/relationships/image" Target="../media/image29.emf"/><Relationship Id="rId5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4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5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Relationship Id="rId3" Type="http://schemas.openxmlformats.org/officeDocument/2006/relationships/image" Target="../media/image33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Relationship Id="rId3" Type="http://schemas.openxmlformats.org/officeDocument/2006/relationships/image" Target="../media/image33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emf"/><Relationship Id="rId3" Type="http://schemas.openxmlformats.org/officeDocument/2006/relationships/image" Target="../media/image26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4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e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Relationship Id="rId3" Type="http://schemas.openxmlformats.org/officeDocument/2006/relationships/image" Target="../media/image22.e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Relationship Id="rId3" Type="http://schemas.openxmlformats.org/officeDocument/2006/relationships/image" Target="../media/image22.e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3" Type="http://schemas.openxmlformats.org/officeDocument/2006/relationships/image" Target="../media/image29.emf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emf"/><Relationship Id="rId3" Type="http://schemas.openxmlformats.org/officeDocument/2006/relationships/image" Target="../media/image29.e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1: Introduction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4800" y="2246745"/>
            <a:ext cx="85344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natural language processing?</a:t>
            </a:r>
            <a:endParaRPr lang="en-US" sz="28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68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87220" y="3198097"/>
            <a:ext cx="7528999" cy="1384995"/>
          </a:xfrm>
          <a:prstGeom prst="rect">
            <a:avLst/>
          </a:prstGeom>
          <a:noFill/>
          <a:ln w="38100" cmpd="sng"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dirty="0" smtClean="0">
                <a:latin typeface="Calibri"/>
                <a:cs typeface="Calibri"/>
              </a:rPr>
              <a:t>an experimental </a:t>
            </a:r>
            <a:r>
              <a:rPr lang="en-US" sz="2800" dirty="0">
                <a:latin typeface="Calibri"/>
                <a:cs typeface="Calibri"/>
              </a:rPr>
              <a:t>computer science </a:t>
            </a:r>
            <a:r>
              <a:rPr lang="en-US" sz="2800" dirty="0" smtClean="0">
                <a:latin typeface="Calibri"/>
                <a:cs typeface="Calibri"/>
              </a:rPr>
              <a:t>research area</a:t>
            </a:r>
          </a:p>
          <a:p>
            <a:pPr algn="ctr" eaLnBrk="1" hangingPunct="1"/>
            <a:r>
              <a:rPr lang="en-US" sz="2800" dirty="0" smtClean="0">
                <a:latin typeface="Calibri"/>
                <a:cs typeface="Calibri"/>
              </a:rPr>
              <a:t>that includes problems and solutions pertaining to</a:t>
            </a:r>
          </a:p>
          <a:p>
            <a:pPr algn="ctr" eaLnBrk="1" hangingPunct="1"/>
            <a:r>
              <a:rPr lang="en-US" sz="2800" dirty="0" smtClean="0">
                <a:latin typeface="Calibri"/>
                <a:cs typeface="Calibri"/>
              </a:rPr>
              <a:t>the </a:t>
            </a:r>
            <a:r>
              <a:rPr lang="en-US" sz="2800" dirty="0">
                <a:latin typeface="Calibri"/>
                <a:cs typeface="Calibri"/>
              </a:rPr>
              <a:t>understanding of human </a:t>
            </a:r>
            <a:r>
              <a:rPr lang="en-US" sz="2800" dirty="0" smtClean="0">
                <a:latin typeface="Calibri"/>
                <a:cs typeface="Calibri"/>
              </a:rPr>
              <a:t>language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2246745"/>
            <a:ext cx="85344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</a:t>
            </a:r>
            <a:r>
              <a:rPr lang="en-US" dirty="0"/>
              <a:t>natural language processing?</a:t>
            </a:r>
            <a:endParaRPr lang="en-US" sz="28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88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27930" y="252413"/>
            <a:ext cx="3091870" cy="5078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Text Classification</a:t>
            </a:r>
          </a:p>
        </p:txBody>
      </p:sp>
      <p:pic>
        <p:nvPicPr>
          <p:cNvPr id="5" name="Picture 4" descr="Gmail_inbox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32" b="4186"/>
          <a:stretch/>
        </p:blipFill>
        <p:spPr>
          <a:xfrm>
            <a:off x="227585" y="1079500"/>
            <a:ext cx="8661263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7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27930" y="252413"/>
            <a:ext cx="3091870" cy="5078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Text Classification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23900" y="4940018"/>
            <a:ext cx="5892800" cy="1149632"/>
          </a:xfr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rgbClr val="0062AC"/>
                </a:solidFill>
              </a:rPr>
              <a:t>spam / not spam</a:t>
            </a:r>
          </a:p>
          <a:p>
            <a:r>
              <a:rPr lang="en-US" sz="2000" dirty="0" smtClean="0">
                <a:solidFill>
                  <a:srgbClr val="0062AC"/>
                </a:solidFill>
              </a:rPr>
              <a:t>priority level</a:t>
            </a:r>
          </a:p>
          <a:p>
            <a:r>
              <a:rPr lang="en-US" sz="2000" dirty="0" smtClean="0">
                <a:solidFill>
                  <a:srgbClr val="0062AC"/>
                </a:solidFill>
              </a:rPr>
              <a:t>category (primary / social / promotions / updates)</a:t>
            </a:r>
          </a:p>
        </p:txBody>
      </p:sp>
      <p:pic>
        <p:nvPicPr>
          <p:cNvPr id="7" name="Picture 6" descr="Gmail_inbox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32" b="4186"/>
          <a:stretch/>
        </p:blipFill>
        <p:spPr>
          <a:xfrm>
            <a:off x="227585" y="1079500"/>
            <a:ext cx="8661263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9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27930" y="252413"/>
            <a:ext cx="3091870" cy="5078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Sentiment Analysis</a:t>
            </a:r>
          </a:p>
        </p:txBody>
      </p:sp>
      <p:pic>
        <p:nvPicPr>
          <p:cNvPr id="2" name="Picture 1" descr="twitrratr1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7" b="30185"/>
          <a:stretch/>
        </p:blipFill>
        <p:spPr>
          <a:xfrm>
            <a:off x="368300" y="1092200"/>
            <a:ext cx="8392657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8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Screen Shot 2015-03-12 at 11.42.1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98" y="1401617"/>
            <a:ext cx="8650957" cy="349365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655453" y="388684"/>
            <a:ext cx="3879273" cy="6463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137160" rIns="91440" bIns="13716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Machine Translation</a:t>
            </a:r>
          </a:p>
        </p:txBody>
      </p:sp>
    </p:spTree>
    <p:extLst>
      <p:ext uri="{BB962C8B-B14F-4D97-AF65-F5344CB8AC3E}">
        <p14:creationId xmlns:p14="http://schemas.microsoft.com/office/powerpoint/2010/main" val="402628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Screen Shot 2015-03-12 at 11.42.1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98" y="1401617"/>
            <a:ext cx="8650957" cy="349365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73364" y="2216727"/>
            <a:ext cx="8289636" cy="2770909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655453" y="388684"/>
            <a:ext cx="3879273" cy="6463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137160" rIns="91440" bIns="13716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Machine Translation</a:t>
            </a:r>
          </a:p>
        </p:txBody>
      </p:sp>
      <p:sp>
        <p:nvSpPr>
          <p:cNvPr id="3" name="Down Arrow 2"/>
          <p:cNvSpPr/>
          <p:nvPr/>
        </p:nvSpPr>
        <p:spPr>
          <a:xfrm>
            <a:off x="2828626" y="2274458"/>
            <a:ext cx="415636" cy="715816"/>
          </a:xfrm>
          <a:prstGeom prst="downArrow">
            <a:avLst>
              <a:gd name="adj1" fmla="val 50000"/>
              <a:gd name="adj2" fmla="val 67593"/>
            </a:avLst>
          </a:prstGeom>
          <a:solidFill>
            <a:srgbClr val="0062A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rgbClr val="0062AC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54090" y="3001825"/>
            <a:ext cx="5193399" cy="461665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62AC"/>
            </a:solidFill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New Poll: Will you buy an Apple </a:t>
            </a:r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Watch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?</a:t>
            </a:r>
            <a:endParaRPr lang="en-US" sz="24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3218" y="1662545"/>
            <a:ext cx="2491509" cy="196273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1092" y="1858818"/>
            <a:ext cx="5056908" cy="427181"/>
          </a:xfrm>
          <a:prstGeom prst="rect">
            <a:avLst/>
          </a:prstGeom>
          <a:ln w="38100" cmpd="sng">
            <a:solidFill>
              <a:srgbClr val="0062AC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278712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655453" y="388684"/>
            <a:ext cx="3879273" cy="6463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137160" rIns="91440" bIns="13716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Question Answering</a:t>
            </a:r>
          </a:p>
        </p:txBody>
      </p:sp>
      <p:pic>
        <p:nvPicPr>
          <p:cNvPr id="2" name="Picture 1" descr="watson-smartphone-app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66" y="1758453"/>
            <a:ext cx="7674651" cy="420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9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701637" y="113888"/>
            <a:ext cx="3740728" cy="600164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Summarization</a:t>
            </a:r>
          </a:p>
        </p:txBody>
      </p:sp>
      <p:pic>
        <p:nvPicPr>
          <p:cNvPr id="2" name="Picture 1" descr="Screen Shot 2015-03-12 at 11.29.07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32" b="16395"/>
          <a:stretch/>
        </p:blipFill>
        <p:spPr>
          <a:xfrm>
            <a:off x="5853546" y="819735"/>
            <a:ext cx="3174999" cy="3509210"/>
          </a:xfrm>
          <a:prstGeom prst="rect">
            <a:avLst/>
          </a:prstGeom>
          <a:ln w="38100" cmpd="sng">
            <a:solidFill>
              <a:srgbClr val="0062AC"/>
            </a:solidFill>
          </a:ln>
        </p:spPr>
      </p:pic>
      <p:pic>
        <p:nvPicPr>
          <p:cNvPr id="5" name="Picture 4" descr="Screen Shot 2015-03-12 at 11.29.45 A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7408"/>
          <a:stretch/>
        </p:blipFill>
        <p:spPr>
          <a:xfrm>
            <a:off x="150094" y="883062"/>
            <a:ext cx="3359728" cy="3155349"/>
          </a:xfrm>
          <a:prstGeom prst="rect">
            <a:avLst/>
          </a:prstGeom>
          <a:ln w="38100" cmpd="sng">
            <a:solidFill>
              <a:srgbClr val="0062AC"/>
            </a:solidFill>
          </a:ln>
        </p:spPr>
      </p:pic>
      <p:pic>
        <p:nvPicPr>
          <p:cNvPr id="17" name="Picture 16" descr="Screen Shot 2015-03-12 at 11.26.47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227" y="1325764"/>
            <a:ext cx="3400138" cy="3341608"/>
          </a:xfrm>
          <a:prstGeom prst="rect">
            <a:avLst/>
          </a:prstGeom>
          <a:ln w="38100" cmpd="sng">
            <a:solidFill>
              <a:srgbClr val="0062AC"/>
            </a:solidFill>
          </a:ln>
        </p:spPr>
      </p:pic>
    </p:spTree>
    <p:extLst>
      <p:ext uri="{BB962C8B-B14F-4D97-AF65-F5344CB8AC3E}">
        <p14:creationId xmlns:p14="http://schemas.microsoft.com/office/powerpoint/2010/main" val="24880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701637" y="113888"/>
            <a:ext cx="3740728" cy="600164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Summarization</a:t>
            </a:r>
          </a:p>
        </p:txBody>
      </p:sp>
      <p:pic>
        <p:nvPicPr>
          <p:cNvPr id="2" name="Picture 1" descr="Screen Shot 2015-03-12 at 11.29.07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32" b="16395"/>
          <a:stretch/>
        </p:blipFill>
        <p:spPr>
          <a:xfrm>
            <a:off x="5853546" y="819735"/>
            <a:ext cx="3174999" cy="3509210"/>
          </a:xfrm>
          <a:prstGeom prst="rect">
            <a:avLst/>
          </a:prstGeom>
          <a:ln w="38100" cmpd="sng">
            <a:solidFill>
              <a:srgbClr val="0062AC"/>
            </a:solidFill>
          </a:ln>
        </p:spPr>
      </p:pic>
      <p:pic>
        <p:nvPicPr>
          <p:cNvPr id="5" name="Picture 4" descr="Screen Shot 2015-03-12 at 11.29.45 A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7408"/>
          <a:stretch/>
        </p:blipFill>
        <p:spPr>
          <a:xfrm>
            <a:off x="150094" y="883062"/>
            <a:ext cx="3359728" cy="3155349"/>
          </a:xfrm>
          <a:prstGeom prst="rect">
            <a:avLst/>
          </a:prstGeom>
          <a:ln w="38100" cmpd="sng">
            <a:solidFill>
              <a:srgbClr val="0062AC"/>
            </a:solidFill>
          </a:ln>
        </p:spPr>
      </p:pic>
      <p:pic>
        <p:nvPicPr>
          <p:cNvPr id="17" name="Picture 16" descr="Screen Shot 2015-03-12 at 11.26.47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227" y="1325764"/>
            <a:ext cx="3400138" cy="3341608"/>
          </a:xfrm>
          <a:prstGeom prst="rect">
            <a:avLst/>
          </a:prstGeom>
          <a:ln w="38100" cmpd="sng">
            <a:solidFill>
              <a:srgbClr val="0062AC"/>
            </a:solidFill>
          </a:ln>
        </p:spPr>
      </p:pic>
      <p:cxnSp>
        <p:nvCxnSpPr>
          <p:cNvPr id="6" name="Curved Connector 5"/>
          <p:cNvCxnSpPr>
            <a:stCxn id="5" idx="2"/>
          </p:cNvCxnSpPr>
          <p:nvPr/>
        </p:nvCxnSpPr>
        <p:spPr bwMode="auto">
          <a:xfrm rot="16200000" flipH="1">
            <a:off x="1727684" y="4140684"/>
            <a:ext cx="1157044" cy="952497"/>
          </a:xfrm>
          <a:prstGeom prst="curvedConnector3">
            <a:avLst>
              <a:gd name="adj1" fmla="val 35032"/>
            </a:avLst>
          </a:prstGeom>
          <a:solidFill>
            <a:schemeClr val="accent1"/>
          </a:solidFill>
          <a:ln w="38100" cap="flat" cmpd="sng" algn="ctr">
            <a:solidFill>
              <a:srgbClr val="0062A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Curved Connector 11"/>
          <p:cNvCxnSpPr>
            <a:stCxn id="2" idx="2"/>
          </p:cNvCxnSpPr>
          <p:nvPr/>
        </p:nvCxnSpPr>
        <p:spPr bwMode="auto">
          <a:xfrm rot="5400000">
            <a:off x="6635449" y="4389860"/>
            <a:ext cx="866513" cy="744682"/>
          </a:xfrm>
          <a:prstGeom prst="curvedConnector3">
            <a:avLst>
              <a:gd name="adj1" fmla="val 24684"/>
            </a:avLst>
          </a:prstGeom>
          <a:solidFill>
            <a:schemeClr val="accent1"/>
          </a:solidFill>
          <a:ln w="38100" cap="flat" cmpd="sng" algn="ctr">
            <a:solidFill>
              <a:srgbClr val="0062A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/>
          <p:cNvCxnSpPr>
            <a:stCxn id="17" idx="2"/>
          </p:cNvCxnSpPr>
          <p:nvPr/>
        </p:nvCxnSpPr>
        <p:spPr bwMode="auto">
          <a:xfrm>
            <a:off x="4869296" y="4667372"/>
            <a:ext cx="14431" cy="52808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62A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708720" y="5195462"/>
            <a:ext cx="6350001" cy="830997"/>
          </a:xfrm>
          <a:prstGeom prst="rect">
            <a:avLst/>
          </a:prstGeom>
          <a:solidFill>
            <a:srgbClr val="FFFFFF"/>
          </a:solidFill>
          <a:ln w="38100" cmpd="sng">
            <a:solidFill>
              <a:srgbClr val="0062AC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The Apple Watch has drawbacks. There are other </a:t>
            </a:r>
            <a:r>
              <a:rPr lang="en-US" sz="2400" i="0" dirty="0" err="1" smtClean="0">
                <a:solidFill>
                  <a:srgbClr val="0062AC"/>
                </a:solidFill>
                <a:latin typeface="Calibri"/>
                <a:cs typeface="Calibri"/>
              </a:rPr>
              <a:t>smartwatches</a:t>
            </a:r>
            <a:r>
              <a:rPr lang="en-US" sz="2400" i="0" dirty="0" smtClean="0">
                <a:solidFill>
                  <a:srgbClr val="0062AC"/>
                </a:solidFill>
                <a:latin typeface="Calibri"/>
                <a:cs typeface="Calibri"/>
              </a:rPr>
              <a:t> that offer more capabilities. </a:t>
            </a:r>
            <a:endParaRPr lang="en-US" sz="24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0163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984500" y="309434"/>
            <a:ext cx="3149600" cy="553998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Dialog Systems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97359" y="1731119"/>
            <a:ext cx="8432116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b="1" i="0" dirty="0" smtClean="0">
                <a:latin typeface="Calibri"/>
                <a:cs typeface="Calibri"/>
              </a:rPr>
              <a:t>user</a:t>
            </a:r>
            <a:r>
              <a:rPr lang="en-US" sz="2400" i="0" dirty="0" smtClean="0">
                <a:latin typeface="Calibri"/>
                <a:cs typeface="Calibri"/>
              </a:rPr>
              <a:t>: Schedule a meeting with Matt and David on Thursday.</a:t>
            </a:r>
          </a:p>
          <a:p>
            <a:pPr eaLnBrk="1" hangingPunct="1"/>
            <a:r>
              <a:rPr lang="en-US" sz="2400" b="1" i="0" dirty="0" smtClean="0">
                <a:latin typeface="Calibri"/>
                <a:cs typeface="Calibri"/>
              </a:rPr>
              <a:t>computer</a:t>
            </a:r>
            <a:r>
              <a:rPr lang="en-US" sz="2400" i="0" dirty="0" smtClean="0">
                <a:latin typeface="Calibri"/>
                <a:cs typeface="Calibri"/>
              </a:rPr>
              <a:t>: Thursday won’t work for David. How about Friday?</a:t>
            </a:r>
          </a:p>
          <a:p>
            <a:pPr eaLnBrk="1" hangingPunct="1"/>
            <a:r>
              <a:rPr lang="en-US" sz="2400" b="1" i="0" dirty="0" smtClean="0">
                <a:latin typeface="Calibri"/>
                <a:cs typeface="Calibri"/>
              </a:rPr>
              <a:t>user</a:t>
            </a:r>
            <a:r>
              <a:rPr lang="en-US" sz="2400" i="0" dirty="0" smtClean="0">
                <a:latin typeface="Calibri"/>
                <a:cs typeface="Calibri"/>
              </a:rPr>
              <a:t>: I’d prefer Monday then, but Friday would be ok if necessary.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824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275496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186878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proper     proper   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modal       verb    det.         adjective         noun    prep.      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</p:spTree>
    <p:extLst>
      <p:ext uri="{BB962C8B-B14F-4D97-AF65-F5344CB8AC3E}">
        <p14:creationId xmlns:p14="http://schemas.microsoft.com/office/powerpoint/2010/main" val="286850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946748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275496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186878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n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oun      </a:t>
            </a:r>
            <a:r>
              <a:rPr lang="en-US" sz="2000" i="0" dirty="0" err="1" smtClean="0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</p:spTree>
    <p:extLst>
      <p:ext uri="{BB962C8B-B14F-4D97-AF65-F5344CB8AC3E}">
        <p14:creationId xmlns:p14="http://schemas.microsoft.com/office/powerpoint/2010/main" val="156214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946748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275496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186878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n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oun      </a:t>
            </a:r>
            <a:r>
              <a:rPr lang="en-US" sz="2000" i="0" dirty="0" err="1" smtClean="0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72898" y="4267209"/>
            <a:ext cx="85656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smtClean="0">
                <a:latin typeface="Calibri"/>
                <a:cs typeface="Calibri"/>
              </a:rPr>
              <a:t>Some questioned if Tim Cook’s first product would be a breakaway hit for Apple.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13329" y="3515165"/>
            <a:ext cx="3465944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Named Entity Recognition</a:t>
            </a:r>
          </a:p>
        </p:txBody>
      </p:sp>
      <p:sp>
        <p:nvSpPr>
          <p:cNvPr id="8" name="Left Brace 7"/>
          <p:cNvSpPr/>
          <p:nvPr/>
        </p:nvSpPr>
        <p:spPr bwMode="auto">
          <a:xfrm rot="16200000">
            <a:off x="2730498" y="4214107"/>
            <a:ext cx="236682" cy="1021772"/>
          </a:xfrm>
          <a:prstGeom prst="leftBrace">
            <a:avLst>
              <a:gd name="adj1" fmla="val 42948"/>
              <a:gd name="adj2" fmla="val 50000"/>
            </a:avLst>
          </a:prstGeom>
          <a:noFill/>
          <a:ln w="38100" cap="flat" cmpd="sng" algn="ctr">
            <a:solidFill>
              <a:srgbClr val="C50C0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Left Brace 8"/>
          <p:cNvSpPr/>
          <p:nvPr/>
        </p:nvSpPr>
        <p:spPr bwMode="auto">
          <a:xfrm rot="16200000">
            <a:off x="8128009" y="4421918"/>
            <a:ext cx="219361" cy="611909"/>
          </a:xfrm>
          <a:prstGeom prst="leftBrace">
            <a:avLst>
              <a:gd name="adj1" fmla="val 42948"/>
              <a:gd name="adj2" fmla="val 50000"/>
            </a:avLst>
          </a:prstGeom>
          <a:noFill/>
          <a:ln w="38100" cap="flat" cmpd="sng" algn="ctr">
            <a:solidFill>
              <a:srgbClr val="C50C0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347647" y="4759047"/>
            <a:ext cx="10542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 smtClean="0">
                <a:solidFill>
                  <a:srgbClr val="C50C0C"/>
                </a:solidFill>
                <a:latin typeface="Calibri"/>
                <a:cs typeface="Calibri"/>
              </a:rPr>
              <a:t>PERSON</a:t>
            </a:r>
            <a:endParaRPr lang="en-US" sz="2000" b="1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250797" y="4761360"/>
            <a:ext cx="18744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 smtClean="0">
                <a:solidFill>
                  <a:srgbClr val="C50C0C"/>
                </a:solidFill>
                <a:latin typeface="Calibri"/>
                <a:cs typeface="Calibri"/>
              </a:rPr>
              <a:t>ORGANIZATION</a:t>
            </a:r>
            <a:endParaRPr lang="en-US" sz="2000" b="1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442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026333" y="229330"/>
            <a:ext cx="3091870" cy="553998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Syntactic Parsing</a:t>
            </a:r>
          </a:p>
        </p:txBody>
      </p:sp>
      <p:pic>
        <p:nvPicPr>
          <p:cNvPr id="2" name="Picture 1" descr="constituent-dependenc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155700"/>
            <a:ext cx="8139659" cy="452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8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4101" y="6260818"/>
            <a:ext cx="2797468" cy="3815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0062AC"/>
                </a:solidFill>
              </a:rPr>
              <a:t>figure credit: </a:t>
            </a:r>
            <a:r>
              <a:rPr lang="en-US" sz="2000" dirty="0" err="1" smtClean="0">
                <a:solidFill>
                  <a:srgbClr val="0062AC"/>
                </a:solidFill>
              </a:rPr>
              <a:t>Durrett</a:t>
            </a:r>
            <a:r>
              <a:rPr lang="en-US" sz="2000" dirty="0" smtClean="0">
                <a:solidFill>
                  <a:srgbClr val="0062AC"/>
                </a:solidFill>
              </a:rPr>
              <a:t> &amp; Klein (2014)</a:t>
            </a:r>
            <a:endParaRPr lang="en-US" sz="2000" dirty="0" smtClean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369" y="1213847"/>
            <a:ext cx="5779646" cy="3051058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968500" y="4533488"/>
            <a:ext cx="5207000" cy="600164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600" i="0" dirty="0" err="1" smtClean="0">
                <a:solidFill>
                  <a:schemeClr val="bg1"/>
                </a:solidFill>
                <a:latin typeface="Calibri"/>
                <a:cs typeface="Calibri"/>
              </a:rPr>
              <a:t>Coreference</a:t>
            </a: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 Resolution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997201" y="291688"/>
            <a:ext cx="3149600" cy="600164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Entity Linking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4165600" y="2832100"/>
            <a:ext cx="2235200" cy="82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3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968500" y="304897"/>
            <a:ext cx="5207000" cy="987963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“</a:t>
            </a:r>
            <a:r>
              <a:rPr lang="en-US" sz="3600" i="0" dirty="0" err="1" smtClean="0">
                <a:solidFill>
                  <a:schemeClr val="bg1"/>
                </a:solidFill>
                <a:latin typeface="Calibri"/>
                <a:cs typeface="Calibri"/>
              </a:rPr>
              <a:t>Winograd</a:t>
            </a: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 Schema” </a:t>
            </a:r>
            <a:r>
              <a:rPr lang="en-US" sz="3600" i="0" dirty="0" err="1" smtClean="0">
                <a:solidFill>
                  <a:schemeClr val="bg1"/>
                </a:solidFill>
                <a:latin typeface="Calibri"/>
                <a:cs typeface="Calibri"/>
              </a:rPr>
              <a:t>Coreference</a:t>
            </a: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 Resolution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97359" y="1779965"/>
            <a:ext cx="7584103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dirty="0" smtClean="0">
                <a:latin typeface="Calibri"/>
                <a:cs typeface="Calibri"/>
              </a:rPr>
              <a:t>The </a:t>
            </a:r>
            <a:r>
              <a:rPr lang="en-US" sz="2400" dirty="0">
                <a:latin typeface="Calibri"/>
                <a:cs typeface="Calibri"/>
              </a:rPr>
              <a:t>man couldn't lift his son because </a:t>
            </a:r>
            <a:r>
              <a:rPr lang="en-US" sz="2400" b="1" dirty="0">
                <a:solidFill>
                  <a:srgbClr val="288CD2"/>
                </a:solidFill>
                <a:latin typeface="Calibri"/>
                <a:cs typeface="Calibri"/>
              </a:rPr>
              <a:t>he</a:t>
            </a:r>
            <a:r>
              <a:rPr lang="en-US" sz="2400" dirty="0">
                <a:latin typeface="Calibri"/>
                <a:cs typeface="Calibri"/>
              </a:rPr>
              <a:t> was so </a:t>
            </a:r>
            <a:r>
              <a:rPr lang="en-US" sz="2400" dirty="0" smtClean="0">
                <a:latin typeface="Calibri"/>
                <a:cs typeface="Calibri"/>
              </a:rPr>
              <a:t>weak.</a:t>
            </a:r>
          </a:p>
          <a:p>
            <a:pPr eaLnBrk="1" hangingPunct="1"/>
            <a:endParaRPr lang="en-US" sz="2400" i="0" dirty="0" smtClean="0">
              <a:latin typeface="Calibri"/>
              <a:cs typeface="Calibri"/>
            </a:endParaRPr>
          </a:p>
          <a:p>
            <a:pPr eaLnBrk="1" hangingPunct="1"/>
            <a:endParaRPr lang="en-US" sz="2400" dirty="0">
              <a:latin typeface="Calibri"/>
              <a:cs typeface="Calibri"/>
            </a:endParaRPr>
          </a:p>
          <a:p>
            <a:pPr eaLnBrk="1" hangingPunct="1"/>
            <a:endParaRPr lang="en-US" sz="2400" i="0" dirty="0" smtClean="0">
              <a:latin typeface="Calibri"/>
              <a:cs typeface="Calibri"/>
            </a:endParaRPr>
          </a:p>
          <a:p>
            <a:pPr eaLnBrk="1" hangingPunct="1"/>
            <a:endParaRPr lang="en-US" sz="24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The man couldn't lift his son because </a:t>
            </a:r>
            <a:r>
              <a:rPr lang="en-US" sz="2400" b="1" dirty="0">
                <a:solidFill>
                  <a:srgbClr val="288CD2"/>
                </a:solidFill>
                <a:latin typeface="Calibri"/>
                <a:cs typeface="Calibri"/>
              </a:rPr>
              <a:t>he</a:t>
            </a:r>
            <a:r>
              <a:rPr lang="en-US" sz="2400" dirty="0">
                <a:latin typeface="Calibri"/>
                <a:cs typeface="Calibri"/>
              </a:rPr>
              <a:t> was so </a:t>
            </a:r>
            <a:r>
              <a:rPr lang="en-US" sz="2400" dirty="0" smtClean="0">
                <a:latin typeface="Calibri"/>
                <a:cs typeface="Calibri"/>
              </a:rPr>
              <a:t>heavy.</a:t>
            </a:r>
            <a:endParaRPr lang="en-US" sz="2400" dirty="0">
              <a:latin typeface="Calibri"/>
              <a:cs typeface="Calibri"/>
            </a:endParaRPr>
          </a:p>
          <a:p>
            <a:pPr eaLnBrk="1" hangingPunct="1"/>
            <a:endParaRPr lang="en-US" sz="2400" i="0" dirty="0" smtClean="0">
              <a:latin typeface="Calibri"/>
              <a:cs typeface="Calibri"/>
            </a:endParaRP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765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968500" y="304897"/>
            <a:ext cx="5207000" cy="987963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“</a:t>
            </a:r>
            <a:r>
              <a:rPr lang="en-US" sz="3600" i="0" dirty="0" err="1" smtClean="0">
                <a:solidFill>
                  <a:schemeClr val="bg1"/>
                </a:solidFill>
                <a:latin typeface="Calibri"/>
                <a:cs typeface="Calibri"/>
              </a:rPr>
              <a:t>Winograd</a:t>
            </a: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 Schema” </a:t>
            </a:r>
            <a:r>
              <a:rPr lang="en-US" sz="3600" i="0" dirty="0" err="1" smtClean="0">
                <a:solidFill>
                  <a:schemeClr val="bg1"/>
                </a:solidFill>
                <a:latin typeface="Calibri"/>
                <a:cs typeface="Calibri"/>
              </a:rPr>
              <a:t>Coreference</a:t>
            </a:r>
            <a:r>
              <a:rPr lang="en-US" sz="3600" i="0" dirty="0" smtClean="0">
                <a:solidFill>
                  <a:schemeClr val="bg1"/>
                </a:solidFill>
                <a:latin typeface="Calibri"/>
                <a:cs typeface="Calibri"/>
              </a:rPr>
              <a:t> Resolution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97359" y="1779965"/>
            <a:ext cx="7584103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400" dirty="0" smtClean="0">
                <a:latin typeface="Calibri"/>
                <a:cs typeface="Calibri"/>
              </a:rPr>
              <a:t>The </a:t>
            </a:r>
            <a:r>
              <a:rPr lang="en-US" sz="2400" dirty="0">
                <a:latin typeface="Calibri"/>
                <a:cs typeface="Calibri"/>
              </a:rPr>
              <a:t>man couldn't lift his son because </a:t>
            </a:r>
            <a:r>
              <a:rPr lang="en-US" sz="2400" b="1" dirty="0">
                <a:solidFill>
                  <a:srgbClr val="288CD2"/>
                </a:solidFill>
                <a:latin typeface="Calibri"/>
                <a:cs typeface="Calibri"/>
              </a:rPr>
              <a:t>he</a:t>
            </a:r>
            <a:r>
              <a:rPr lang="en-US" sz="2400" dirty="0">
                <a:solidFill>
                  <a:srgbClr val="288CD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was so </a:t>
            </a:r>
            <a:r>
              <a:rPr lang="en-US" sz="2400" dirty="0" smtClean="0">
                <a:latin typeface="Calibri"/>
                <a:cs typeface="Calibri"/>
              </a:rPr>
              <a:t>weak.</a:t>
            </a:r>
          </a:p>
          <a:p>
            <a:pPr eaLnBrk="1" hangingPunct="1"/>
            <a:endParaRPr lang="en-US" sz="2400" i="0" dirty="0" smtClean="0">
              <a:latin typeface="Calibri"/>
              <a:cs typeface="Calibri"/>
            </a:endParaRPr>
          </a:p>
          <a:p>
            <a:pPr eaLnBrk="1" hangingPunct="1"/>
            <a:endParaRPr lang="en-US" sz="2400" dirty="0">
              <a:latin typeface="Calibri"/>
              <a:cs typeface="Calibri"/>
            </a:endParaRPr>
          </a:p>
          <a:p>
            <a:pPr eaLnBrk="1" hangingPunct="1"/>
            <a:endParaRPr lang="en-US" sz="2400" i="0" dirty="0" smtClean="0">
              <a:latin typeface="Calibri"/>
              <a:cs typeface="Calibri"/>
            </a:endParaRPr>
          </a:p>
          <a:p>
            <a:pPr eaLnBrk="1" hangingPunct="1"/>
            <a:endParaRPr lang="en-US" sz="24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400" dirty="0">
                <a:latin typeface="Calibri"/>
                <a:cs typeface="Calibri"/>
              </a:rPr>
              <a:t>The man couldn't lift his son because </a:t>
            </a:r>
            <a:r>
              <a:rPr lang="en-US" sz="2400" b="1" dirty="0">
                <a:solidFill>
                  <a:srgbClr val="288CD2"/>
                </a:solidFill>
                <a:latin typeface="Calibri"/>
                <a:cs typeface="Calibri"/>
              </a:rPr>
              <a:t>he</a:t>
            </a:r>
            <a:r>
              <a:rPr lang="en-US" sz="2400" dirty="0">
                <a:solidFill>
                  <a:srgbClr val="288CD2"/>
                </a:solidFill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was so </a:t>
            </a:r>
            <a:r>
              <a:rPr lang="en-US" sz="2400" dirty="0" smtClean="0">
                <a:latin typeface="Calibri"/>
                <a:cs typeface="Calibri"/>
              </a:rPr>
              <a:t>heavy.</a:t>
            </a:r>
            <a:endParaRPr lang="en-US" sz="2400" dirty="0">
              <a:latin typeface="Calibri"/>
              <a:cs typeface="Calibri"/>
            </a:endParaRPr>
          </a:p>
          <a:p>
            <a:pPr eaLnBrk="1" hangingPunct="1"/>
            <a:endParaRPr lang="en-US" sz="2400" i="0" dirty="0" smtClean="0">
              <a:latin typeface="Calibri"/>
              <a:cs typeface="Calibri"/>
            </a:endParaRP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5027499" y="2276231"/>
            <a:ext cx="247762" cy="46074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4523132" y="2736979"/>
            <a:ext cx="752129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 anchor="ctr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man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V="1">
            <a:off x="5017730" y="4070875"/>
            <a:ext cx="247762" cy="46074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4513363" y="4531623"/>
            <a:ext cx="638065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 anchor="ctr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son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569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7900"/>
            <a:ext cx="8229600" cy="51816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Once there was a boy named </a:t>
            </a:r>
            <a:r>
              <a:rPr lang="en-US" sz="2400" dirty="0">
                <a:solidFill>
                  <a:srgbClr val="00B900"/>
                </a:solidFill>
              </a:rPr>
              <a:t>Fritz </a:t>
            </a:r>
            <a:r>
              <a:rPr lang="en-US" sz="2400" dirty="0"/>
              <a:t>who loved to draw. He drew everything. In the morning, </a:t>
            </a:r>
            <a:r>
              <a:rPr lang="en-US" sz="2400" dirty="0">
                <a:solidFill>
                  <a:srgbClr val="00B900"/>
                </a:solidFill>
              </a:rPr>
              <a:t>he drew a picture of his cereal with milk</a:t>
            </a:r>
            <a:r>
              <a:rPr lang="en-US" sz="2400" dirty="0"/>
              <a:t>. His papa said, </a:t>
            </a:r>
            <a:r>
              <a:rPr lang="en-US" sz="2400" dirty="0" smtClean="0"/>
              <a:t>“Don’t </a:t>
            </a:r>
            <a:r>
              <a:rPr lang="en-US" sz="2400" dirty="0"/>
              <a:t>draw your cereal. Eat it</a:t>
            </a:r>
            <a:r>
              <a:rPr lang="en-US" sz="2400" dirty="0" smtClean="0"/>
              <a:t>!” </a:t>
            </a:r>
          </a:p>
          <a:p>
            <a:pPr marL="0" indent="0">
              <a:buNone/>
            </a:pPr>
            <a:r>
              <a:rPr lang="en-US" sz="2400" dirty="0" smtClean="0"/>
              <a:t>After school, Fritz drew a picture of his bicycle. His uncle said, “Don't draw your bicycle. Ride it!”</a:t>
            </a:r>
          </a:p>
          <a:p>
            <a:pPr marL="0" indent="0">
              <a:buNone/>
            </a:pPr>
            <a:r>
              <a:rPr lang="en-US" sz="2400" dirty="0" smtClean="0"/>
              <a:t>…</a:t>
            </a:r>
          </a:p>
          <a:p>
            <a:pPr marL="0" indent="0">
              <a:buNone/>
            </a:pPr>
            <a:endParaRPr lang="en-US" sz="1050" dirty="0" smtClean="0"/>
          </a:p>
          <a:p>
            <a:pPr marL="0" indent="0">
              <a:buNone/>
            </a:pPr>
            <a:r>
              <a:rPr lang="en-US" sz="2400" dirty="0" smtClean="0"/>
              <a:t>What </a:t>
            </a:r>
            <a:r>
              <a:rPr lang="en-US" sz="2400" dirty="0"/>
              <a:t>did Fritz draw first?</a:t>
            </a:r>
          </a:p>
          <a:p>
            <a:pPr marL="0" indent="0">
              <a:buNone/>
            </a:pPr>
            <a:r>
              <a:rPr lang="en-US" sz="2400" dirty="0" smtClean="0"/>
              <a:t>    A) the </a:t>
            </a:r>
            <a:r>
              <a:rPr lang="en-US" sz="2400" dirty="0"/>
              <a:t>toothpaste</a:t>
            </a:r>
          </a:p>
          <a:p>
            <a:pPr marL="0" indent="0">
              <a:buNone/>
            </a:pPr>
            <a:r>
              <a:rPr lang="en-US" sz="2400" dirty="0" smtClean="0"/>
              <a:t>    B</a:t>
            </a:r>
            <a:r>
              <a:rPr lang="en-US" sz="2400" dirty="0"/>
              <a:t>) his mama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41AFFD"/>
                </a:solidFill>
              </a:rPr>
              <a:t>    </a:t>
            </a:r>
            <a:r>
              <a:rPr lang="en-US" sz="2400" b="1" dirty="0" smtClean="0">
                <a:solidFill>
                  <a:srgbClr val="00B900"/>
                </a:solidFill>
              </a:rPr>
              <a:t>C</a:t>
            </a:r>
            <a:r>
              <a:rPr lang="en-US" sz="2400" b="1" dirty="0">
                <a:solidFill>
                  <a:srgbClr val="00B900"/>
                </a:solidFill>
              </a:rPr>
              <a:t>) cereal and milk</a:t>
            </a:r>
          </a:p>
          <a:p>
            <a:pPr marL="0" indent="0">
              <a:buNone/>
            </a:pPr>
            <a:r>
              <a:rPr lang="en-US" sz="2400" dirty="0" smtClean="0"/>
              <a:t>    D</a:t>
            </a:r>
            <a:r>
              <a:rPr lang="en-US" sz="2400" dirty="0"/>
              <a:t>) his </a:t>
            </a:r>
            <a:r>
              <a:rPr lang="en-US" sz="2400" dirty="0" smtClean="0"/>
              <a:t>bicycle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47900" y="314771"/>
            <a:ext cx="4648200" cy="553998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Reading Comprehension</a:t>
            </a:r>
          </a:p>
        </p:txBody>
      </p:sp>
    </p:spTree>
    <p:extLst>
      <p:ext uri="{BB962C8B-B14F-4D97-AF65-F5344CB8AC3E}">
        <p14:creationId xmlns:p14="http://schemas.microsoft.com/office/powerpoint/2010/main" val="234322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399"/>
            <a:ext cx="8229600" cy="56520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Conspicuous by their absence…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1340"/>
            <a:ext cx="8229600" cy="194886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speech recognition (see TTIC 31110)</a:t>
            </a:r>
          </a:p>
          <a:p>
            <a:r>
              <a:rPr lang="en-US" dirty="0" smtClean="0"/>
              <a:t>information retrieval and web search</a:t>
            </a:r>
          </a:p>
          <a:p>
            <a:r>
              <a:rPr lang="en-US" dirty="0" smtClean="0"/>
              <a:t>knowledge representation</a:t>
            </a:r>
          </a:p>
          <a:p>
            <a:r>
              <a:rPr lang="en-US" dirty="0" smtClean="0"/>
              <a:t>recommender systems</a:t>
            </a:r>
          </a:p>
        </p:txBody>
      </p:sp>
      <p:pic>
        <p:nvPicPr>
          <p:cNvPr id="4" name="Picture 3" descr="recommender-system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51" y="2868243"/>
            <a:ext cx="3360852" cy="279790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4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91" y="171399"/>
            <a:ext cx="8958385" cy="565202"/>
          </a:xfrm>
        </p:spPr>
        <p:txBody>
          <a:bodyPr>
            <a:noAutofit/>
          </a:bodyPr>
          <a:lstStyle/>
          <a:p>
            <a:r>
              <a:rPr lang="en-US" sz="2800" dirty="0" smtClean="0"/>
              <a:t>Computational Linguistics vs. Natural Language Processing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1340"/>
            <a:ext cx="8229600" cy="1948860"/>
          </a:xfrm>
        </p:spPr>
        <p:txBody>
          <a:bodyPr>
            <a:normAutofit/>
          </a:bodyPr>
          <a:lstStyle/>
          <a:p>
            <a:r>
              <a:rPr lang="en-US" sz="2800" dirty="0"/>
              <a:t>h</a:t>
            </a:r>
            <a:r>
              <a:rPr lang="en-US" sz="2800" dirty="0" smtClean="0"/>
              <a:t>ow do they differ?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 descr="Screen Shot 2016-01-04 at 9.01.4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2" y="2186354"/>
            <a:ext cx="5082722" cy="32453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82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91" y="171399"/>
            <a:ext cx="8958385" cy="565202"/>
          </a:xfrm>
        </p:spPr>
        <p:txBody>
          <a:bodyPr>
            <a:noAutofit/>
          </a:bodyPr>
          <a:lstStyle/>
          <a:p>
            <a:r>
              <a:rPr lang="en-US" sz="2800" dirty="0" smtClean="0"/>
              <a:t>Computational Biology vs. Bioinformatics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1340"/>
            <a:ext cx="8229600" cy="35725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i="1" dirty="0" smtClean="0"/>
              <a:t>“</a:t>
            </a:r>
            <a:r>
              <a:rPr lang="en-US" sz="2400" b="1" i="1" dirty="0" smtClean="0"/>
              <a:t>Computational biology </a:t>
            </a:r>
            <a:r>
              <a:rPr lang="en-US" sz="2400" i="1" dirty="0" smtClean="0"/>
              <a:t>= the study of biology using computational techniques.  The goal is to learn new biology, knowledge about living systems.  It is about science.</a:t>
            </a:r>
          </a:p>
          <a:p>
            <a:pPr marL="0" indent="0">
              <a:buNone/>
            </a:pPr>
            <a:endParaRPr lang="en-US" sz="1200" i="1" dirty="0" smtClean="0"/>
          </a:p>
          <a:p>
            <a:pPr marL="0" indent="0">
              <a:buNone/>
            </a:pPr>
            <a:r>
              <a:rPr lang="en-US" sz="2400" b="1" i="1" dirty="0" smtClean="0"/>
              <a:t>Bioinformatics </a:t>
            </a:r>
            <a:r>
              <a:rPr lang="en-US" sz="2400" i="1" dirty="0"/>
              <a:t>= the creation of tools (algorithms, databases) that solve problems.  The goal is to build useful tools that work on biological data.  It is about engineering</a:t>
            </a:r>
            <a:r>
              <a:rPr lang="en-US" sz="2400" i="1" dirty="0" smtClean="0"/>
              <a:t>.”</a:t>
            </a:r>
          </a:p>
          <a:p>
            <a:pPr marL="0" indent="0">
              <a:buNone/>
            </a:pPr>
            <a:r>
              <a:rPr lang="en-US" sz="2400" dirty="0" smtClean="0"/>
              <a:t>													--Russ Altman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91" y="171399"/>
            <a:ext cx="8958385" cy="565202"/>
          </a:xfrm>
        </p:spPr>
        <p:txBody>
          <a:bodyPr>
            <a:noAutofit/>
          </a:bodyPr>
          <a:lstStyle/>
          <a:p>
            <a:r>
              <a:rPr lang="en-US" sz="2800" dirty="0" smtClean="0"/>
              <a:t>Computational Linguistics vs. Natural Language Processing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615" y="1019029"/>
            <a:ext cx="8606693" cy="3689739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many people think of the two terms as </a:t>
            </a:r>
            <a:r>
              <a:rPr lang="en-US" sz="2800" dirty="0" smtClean="0"/>
              <a:t>synonyms</a:t>
            </a:r>
          </a:p>
          <a:p>
            <a:endParaRPr lang="en-US" sz="2800" dirty="0"/>
          </a:p>
          <a:p>
            <a:r>
              <a:rPr lang="en-US" sz="2800" dirty="0" smtClean="0"/>
              <a:t>computational linguistics is more inclusive; more likely to include sociolinguistics, cognitive linguistics, and computational social science</a:t>
            </a:r>
          </a:p>
          <a:p>
            <a:endParaRPr lang="en-US" sz="2800" dirty="0" smtClean="0"/>
          </a:p>
          <a:p>
            <a:r>
              <a:rPr lang="en-US" sz="2800" dirty="0" smtClean="0"/>
              <a:t>NLP is more likely to use machine learning and involve engineering / system-building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5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 NLP Science or Engineering?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goal of NLP is to develop technology, which takes the form of engineering</a:t>
            </a:r>
          </a:p>
          <a:p>
            <a:r>
              <a:rPr lang="en-US" sz="2800" dirty="0" smtClean="0"/>
              <a:t>though we try to solve today’s problems, we seek principles that will be useful for the future</a:t>
            </a:r>
          </a:p>
          <a:p>
            <a:r>
              <a:rPr lang="en-US" sz="2800" dirty="0" smtClean="0"/>
              <a:t>if science</a:t>
            </a:r>
            <a:r>
              <a:rPr lang="en-US" sz="2800" dirty="0"/>
              <a:t>, it’s not </a:t>
            </a:r>
            <a:r>
              <a:rPr lang="en-US" sz="2800" dirty="0" smtClean="0"/>
              <a:t>linguistics </a:t>
            </a:r>
            <a:r>
              <a:rPr lang="en-US" sz="2800" dirty="0"/>
              <a:t>or cognitive </a:t>
            </a:r>
            <a:r>
              <a:rPr lang="en-US" sz="2800" dirty="0" smtClean="0"/>
              <a:t>science; it’s the science of computational </a:t>
            </a:r>
            <a:r>
              <a:rPr lang="en-US" sz="2800" dirty="0"/>
              <a:t>processing of </a:t>
            </a:r>
            <a:r>
              <a:rPr lang="en-US" sz="2800" dirty="0" smtClean="0"/>
              <a:t>language</a:t>
            </a:r>
          </a:p>
          <a:p>
            <a:r>
              <a:rPr lang="en-US" sz="2800" dirty="0"/>
              <a:t>so I like to think that we’re doing the science of engineering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Course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073740"/>
            <a:ext cx="8547100" cy="5052424"/>
          </a:xfrm>
        </p:spPr>
        <p:txBody>
          <a:bodyPr>
            <a:normAutofit/>
          </a:bodyPr>
          <a:lstStyle/>
          <a:p>
            <a:r>
              <a:rPr lang="en-US" sz="3000" dirty="0" smtClean="0"/>
              <a:t>New course, first time being offered</a:t>
            </a:r>
          </a:p>
          <a:p>
            <a:endParaRPr lang="en-US" sz="3000" dirty="0" smtClean="0"/>
          </a:p>
          <a:p>
            <a:r>
              <a:rPr lang="en-US" sz="3000" dirty="0" smtClean="0"/>
              <a:t>Aimed at first-year PhD students</a:t>
            </a:r>
          </a:p>
          <a:p>
            <a:endParaRPr lang="en-US" sz="3000" dirty="0" smtClean="0"/>
          </a:p>
          <a:p>
            <a:r>
              <a:rPr lang="en-US" sz="3000" dirty="0" smtClean="0"/>
              <a:t>Instructor office hours: Mondays 3-4 pm, TTIC 531</a:t>
            </a:r>
          </a:p>
          <a:p>
            <a:endParaRPr lang="en-US" sz="3000" dirty="0" smtClean="0"/>
          </a:p>
          <a:p>
            <a:r>
              <a:rPr lang="en-US" sz="3000" dirty="0" smtClean="0"/>
              <a:t>Teaching assistant: </a:t>
            </a:r>
            <a:r>
              <a:rPr lang="en-US" sz="3000" dirty="0" err="1" smtClean="0"/>
              <a:t>Lifu</a:t>
            </a:r>
            <a:r>
              <a:rPr lang="en-US" sz="3000" dirty="0" smtClean="0"/>
              <a:t> </a:t>
            </a:r>
            <a:r>
              <a:rPr lang="en-US" sz="3000" dirty="0" err="1" smtClean="0"/>
              <a:t>Tu</a:t>
            </a:r>
            <a:r>
              <a:rPr lang="en-US" sz="3000" dirty="0" smtClean="0"/>
              <a:t>, TTIC PhD student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5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 course </a:t>
            </a:r>
            <a:r>
              <a:rPr lang="en-US" dirty="0"/>
              <a:t>prerequisites, but I will </a:t>
            </a:r>
            <a:r>
              <a:rPr lang="en-US" dirty="0" smtClean="0"/>
              <a:t>assume:</a:t>
            </a:r>
          </a:p>
          <a:p>
            <a:pPr lvl="1"/>
            <a:r>
              <a:rPr lang="en-US" dirty="0" smtClean="0"/>
              <a:t>some </a:t>
            </a:r>
            <a:r>
              <a:rPr lang="en-US" dirty="0"/>
              <a:t>programming </a:t>
            </a:r>
            <a:r>
              <a:rPr lang="en-US" dirty="0" smtClean="0"/>
              <a:t>experience (no specific language required)</a:t>
            </a:r>
          </a:p>
          <a:p>
            <a:pPr lvl="1"/>
            <a:r>
              <a:rPr lang="en-US" dirty="0" smtClean="0"/>
              <a:t>familiarity with basics of probability, calculus, and linear algebra</a:t>
            </a:r>
            <a:endParaRPr lang="en-US" dirty="0"/>
          </a:p>
          <a:p>
            <a:r>
              <a:rPr lang="en-US" dirty="0"/>
              <a:t>Undergraduates </a:t>
            </a:r>
            <a:r>
              <a:rPr lang="en-US" dirty="0" smtClean="0"/>
              <a:t>with </a:t>
            </a:r>
            <a:r>
              <a:rPr lang="en-US" dirty="0"/>
              <a:t>relevant </a:t>
            </a:r>
            <a:r>
              <a:rPr lang="en-US" dirty="0" smtClean="0"/>
              <a:t>background are </a:t>
            </a:r>
            <a:r>
              <a:rPr lang="en-US" dirty="0"/>
              <a:t>welcome to take the </a:t>
            </a:r>
            <a:r>
              <a:rPr lang="en-US" dirty="0" smtClean="0"/>
              <a:t>course. </a:t>
            </a:r>
            <a:r>
              <a:rPr lang="en-US" dirty="0"/>
              <a:t>Please bring an enrollment approval form to </a:t>
            </a:r>
            <a:r>
              <a:rPr lang="en-US" dirty="0" smtClean="0"/>
              <a:t>me if you can’t </a:t>
            </a:r>
            <a:r>
              <a:rPr lang="en-US" dirty="0"/>
              <a:t>enroll online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539" y="1073740"/>
            <a:ext cx="8606692" cy="5052424"/>
          </a:xfrm>
        </p:spPr>
        <p:txBody>
          <a:bodyPr>
            <a:normAutofit/>
          </a:bodyPr>
          <a:lstStyle/>
          <a:p>
            <a:r>
              <a:rPr lang="en-US" dirty="0"/>
              <a:t>3 assignments (15% each)</a:t>
            </a:r>
          </a:p>
          <a:p>
            <a:r>
              <a:rPr lang="en-US" dirty="0"/>
              <a:t>midterm exam (15%)</a:t>
            </a:r>
          </a:p>
          <a:p>
            <a:r>
              <a:rPr lang="en-US" dirty="0"/>
              <a:t>course project (35%)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preliminary </a:t>
            </a:r>
            <a:r>
              <a:rPr lang="en-US" dirty="0"/>
              <a:t>report and meeting with instructor (10%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class </a:t>
            </a:r>
            <a:r>
              <a:rPr lang="en-US" dirty="0"/>
              <a:t>presentation (5%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final </a:t>
            </a:r>
            <a:r>
              <a:rPr lang="en-US" dirty="0"/>
              <a:t>report (20%)</a:t>
            </a:r>
          </a:p>
          <a:p>
            <a:r>
              <a:rPr lang="en-US" dirty="0"/>
              <a:t>class participation (5%</a:t>
            </a:r>
            <a:r>
              <a:rPr lang="en-US" dirty="0" smtClean="0"/>
              <a:t>)</a:t>
            </a:r>
          </a:p>
          <a:p>
            <a:r>
              <a:rPr lang="en-US" dirty="0" smtClean="0"/>
              <a:t>no final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5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Assignments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Mixture of formal exercises, implementation, experimentation, analysis</a:t>
            </a:r>
          </a:p>
          <a:p>
            <a:r>
              <a:rPr lang="en-US" dirty="0" smtClean="0"/>
              <a:t>“Choose your own adventure” component based on your interests, e.g.:</a:t>
            </a:r>
          </a:p>
          <a:p>
            <a:pPr lvl="1"/>
            <a:r>
              <a:rPr lang="en-US" dirty="0" smtClean="0"/>
              <a:t>exploratory data analysis</a:t>
            </a:r>
          </a:p>
          <a:p>
            <a:pPr lvl="1"/>
            <a:r>
              <a:rPr lang="en-US" dirty="0" smtClean="0"/>
              <a:t>machine learning</a:t>
            </a:r>
          </a:p>
          <a:p>
            <a:pPr lvl="1"/>
            <a:r>
              <a:rPr lang="en-US" dirty="0" smtClean="0"/>
              <a:t>implementation/scalability</a:t>
            </a:r>
          </a:p>
          <a:p>
            <a:pPr lvl="1"/>
            <a:r>
              <a:rPr lang="en-US" dirty="0" smtClean="0"/>
              <a:t>model and error analysis</a:t>
            </a:r>
          </a:p>
          <a:p>
            <a:pPr lvl="1"/>
            <a:r>
              <a:rPr lang="en-US" dirty="0" smtClean="0"/>
              <a:t>visualization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00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Replicate [part of] a published NLP paper, or define your own project.</a:t>
            </a:r>
          </a:p>
          <a:p>
            <a:r>
              <a:rPr lang="en-US" dirty="0" smtClean="0"/>
              <a:t>The </a:t>
            </a:r>
            <a:r>
              <a:rPr lang="en-US" dirty="0"/>
              <a:t>project may be done individually or in a group of two. Each </a:t>
            </a:r>
            <a:r>
              <a:rPr lang="en-US" dirty="0" smtClean="0"/>
              <a:t>group member will </a:t>
            </a:r>
            <a:r>
              <a:rPr lang="en-US" dirty="0"/>
              <a:t>receive the same </a:t>
            </a:r>
            <a:r>
              <a:rPr lang="en-US" dirty="0" smtClean="0"/>
              <a:t>grade.</a:t>
            </a:r>
          </a:p>
          <a:p>
            <a:r>
              <a:rPr lang="en-US" dirty="0" smtClean="0"/>
              <a:t>More details to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Collaboration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welcome to discuss assignments with others in the course, but solutions and code must be written </a:t>
            </a:r>
            <a:r>
              <a:rPr lang="en-US" dirty="0" smtClean="0"/>
              <a:t>individually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2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Textbooks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351" y="1200737"/>
            <a:ext cx="5912340" cy="297072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All are optional</a:t>
            </a:r>
          </a:p>
          <a:p>
            <a:r>
              <a:rPr lang="en-US" sz="2400" dirty="0" smtClean="0"/>
              <a:t>Speech and Language Processing, 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Ed. </a:t>
            </a:r>
          </a:p>
          <a:p>
            <a:pPr lvl="1"/>
            <a:r>
              <a:rPr lang="en-US" sz="2000" dirty="0" smtClean="0"/>
              <a:t>some chapters of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 are online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Analysis of Data, Volume 1: </a:t>
            </a:r>
            <a:r>
              <a:rPr lang="en-US" sz="2400" dirty="0" smtClean="0"/>
              <a:t>Probability</a:t>
            </a:r>
          </a:p>
          <a:p>
            <a:pPr lvl="1"/>
            <a:r>
              <a:rPr lang="en-US" sz="2000" dirty="0" smtClean="0"/>
              <a:t>freely available online</a:t>
            </a:r>
          </a:p>
          <a:p>
            <a:r>
              <a:rPr lang="en-US" sz="2400" dirty="0"/>
              <a:t>Introduction to Information </a:t>
            </a:r>
            <a:r>
              <a:rPr lang="en-US" sz="2400" dirty="0" smtClean="0"/>
              <a:t>Retrieval</a:t>
            </a:r>
          </a:p>
          <a:p>
            <a:pPr lvl="1"/>
            <a:r>
              <a:rPr lang="en-US" sz="2000" dirty="0" smtClean="0"/>
              <a:t>freely available online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 descr="slp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339" y="1073740"/>
            <a:ext cx="2577690" cy="340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9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/>
              <a:t>sequence labeling</a:t>
            </a:r>
          </a:p>
          <a:p>
            <a:r>
              <a:rPr lang="en-US" sz="2400" dirty="0" smtClean="0"/>
              <a:t>syntax and syntactic parsing</a:t>
            </a:r>
          </a:p>
          <a:p>
            <a:r>
              <a:rPr lang="en-US" sz="2400" dirty="0" smtClean="0"/>
              <a:t>neural network methods in NLP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0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is NLP hard?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ambiguity and variability of linguistic expression:</a:t>
            </a:r>
          </a:p>
          <a:p>
            <a:pPr lvl="1"/>
            <a:r>
              <a:rPr lang="en-US" sz="2400" b="1" u="sng" dirty="0" smtClean="0">
                <a:uFill>
                  <a:solidFill>
                    <a:srgbClr val="FF0000"/>
                  </a:solidFill>
                </a:uFill>
              </a:rPr>
              <a:t>variability</a:t>
            </a:r>
            <a:r>
              <a:rPr lang="en-US" sz="2400" dirty="0" smtClean="0"/>
              <a:t>: many forms can mean the same thing</a:t>
            </a:r>
          </a:p>
          <a:p>
            <a:pPr lvl="1"/>
            <a:r>
              <a:rPr lang="en-US" sz="2400" b="1" u="sng" dirty="0" smtClean="0">
                <a:uFill>
                  <a:solidFill>
                    <a:srgbClr val="288CD2"/>
                  </a:solidFill>
                </a:uFill>
              </a:rPr>
              <a:t>ambiguity</a:t>
            </a:r>
            <a:r>
              <a:rPr lang="en-US" sz="2400" dirty="0" smtClean="0"/>
              <a:t>: one form can mean many things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there are many different kinds of ambiguity</a:t>
            </a:r>
          </a:p>
          <a:p>
            <a:r>
              <a:rPr lang="en-US" sz="2800" dirty="0" smtClean="0"/>
              <a:t>each NLP task has to address a distinct set of kinds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Word Sense Ambiguity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9500"/>
            <a:ext cx="8229600" cy="2036764"/>
          </a:xfrm>
        </p:spPr>
        <p:txBody>
          <a:bodyPr>
            <a:normAutofit/>
          </a:bodyPr>
          <a:lstStyle/>
          <a:p>
            <a:r>
              <a:rPr lang="en-US" dirty="0"/>
              <a:t>m</a:t>
            </a:r>
            <a:r>
              <a:rPr lang="en-US" dirty="0" smtClean="0"/>
              <a:t>any words have multiple meanings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7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Word Sense Ambiguity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108700" y="3492500"/>
            <a:ext cx="2260600" cy="381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/>
              <a:buNone/>
            </a:pPr>
            <a:r>
              <a:rPr lang="en-US" sz="1400" dirty="0" smtClean="0">
                <a:solidFill>
                  <a:srgbClr val="0062AC"/>
                </a:solidFill>
              </a:rPr>
              <a:t>credit: A. </a:t>
            </a:r>
            <a:r>
              <a:rPr lang="en-US" sz="1400" dirty="0" err="1" smtClean="0">
                <a:solidFill>
                  <a:srgbClr val="0062AC"/>
                </a:solidFill>
              </a:rPr>
              <a:t>Zwicky</a:t>
            </a:r>
            <a:endParaRPr lang="en-US" sz="1400" dirty="0" smtClean="0"/>
          </a:p>
        </p:txBody>
      </p:sp>
      <p:pic>
        <p:nvPicPr>
          <p:cNvPr id="6" name="Picture 5" descr="PearlsLostPenguin-az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1054100"/>
            <a:ext cx="7620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5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Word Sense Ambiguity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 descr="PearlsLostPenguin-az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1054100"/>
            <a:ext cx="7620000" cy="2438400"/>
          </a:xfrm>
          <a:prstGeom prst="rect">
            <a:avLst/>
          </a:prstGeom>
        </p:spPr>
      </p:pic>
      <p:pic>
        <p:nvPicPr>
          <p:cNvPr id="8" name="Picture 7" descr="convert-to-pdf-religion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00" y="4178300"/>
            <a:ext cx="6210300" cy="2070100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6108700" y="3492500"/>
            <a:ext cx="2260600" cy="381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/>
              <a:buNone/>
            </a:pPr>
            <a:r>
              <a:rPr lang="en-US" sz="1400" dirty="0" smtClean="0">
                <a:solidFill>
                  <a:srgbClr val="0062AC"/>
                </a:solidFill>
              </a:rPr>
              <a:t>credit: A. </a:t>
            </a:r>
            <a:r>
              <a:rPr lang="en-US" sz="1400" dirty="0" err="1" smtClean="0">
                <a:solidFill>
                  <a:srgbClr val="0062AC"/>
                </a:solidFill>
              </a:rPr>
              <a:t>Zwicky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64220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Attachment Ambiguity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 descr="pp-attachment-24-903s0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1280398"/>
            <a:ext cx="5511800" cy="3393202"/>
          </a:xfrm>
          <a:prstGeom prst="rect">
            <a:avLst/>
          </a:prstGeom>
        </p:spPr>
      </p:pic>
      <p:pic>
        <p:nvPicPr>
          <p:cNvPr id="3" name="Picture 2" descr="groucho-marx-comedian-one-morning-i-shot-an-elephant-in-my-pajamas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4" b="2499"/>
          <a:stretch/>
        </p:blipFill>
        <p:spPr>
          <a:xfrm>
            <a:off x="1610628" y="1051798"/>
            <a:ext cx="6060171" cy="557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5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Meaning Ambiguity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pic>
        <p:nvPicPr>
          <p:cNvPr id="3" name="Picture 2" descr="semantics-RhymesLinguify-az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524000"/>
            <a:ext cx="8710343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3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746"/>
            <a:ext cx="8229600" cy="5536604"/>
          </a:xfrm>
        </p:spPr>
        <p:txBody>
          <a:bodyPr/>
          <a:lstStyle/>
          <a:p>
            <a:r>
              <a:rPr lang="en-US" dirty="0" smtClean="0"/>
              <a:t>simplest user-facing NLP application</a:t>
            </a:r>
          </a:p>
          <a:p>
            <a:r>
              <a:rPr lang="en-US" dirty="0" smtClean="0"/>
              <a:t>email (spam, priority, categories):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sentiment: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topic classification</a:t>
            </a:r>
          </a:p>
          <a:p>
            <a:r>
              <a:rPr lang="en-US" dirty="0" smtClean="0"/>
              <a:t>others?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 descr="Gmail_inbox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5" t="32371" b="49018"/>
          <a:stretch/>
        </p:blipFill>
        <p:spPr>
          <a:xfrm>
            <a:off x="1953843" y="2041772"/>
            <a:ext cx="7062002" cy="1074615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twitrratr1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02" b="39886"/>
          <a:stretch/>
        </p:blipFill>
        <p:spPr>
          <a:xfrm>
            <a:off x="2749106" y="3386849"/>
            <a:ext cx="6045112" cy="1526950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927930" y="252413"/>
            <a:ext cx="3091870" cy="507831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800" i="0" dirty="0" smtClean="0">
                <a:solidFill>
                  <a:schemeClr val="bg1"/>
                </a:solidFill>
                <a:latin typeface="Calibri"/>
                <a:cs typeface="Calibri"/>
              </a:rPr>
              <a:t>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9812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a classifier?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5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a classifier?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073740"/>
            <a:ext cx="8585200" cy="4145960"/>
          </a:xfrm>
        </p:spPr>
        <p:txBody>
          <a:bodyPr>
            <a:normAutofit/>
          </a:bodyPr>
          <a:lstStyle/>
          <a:p>
            <a:r>
              <a:rPr lang="en-US" dirty="0" smtClean="0"/>
              <a:t>a function from inputs </a:t>
            </a:r>
            <a:r>
              <a:rPr lang="en-US" i="1" dirty="0" smtClean="0"/>
              <a:t>x</a:t>
            </a:r>
            <a:r>
              <a:rPr lang="en-US" dirty="0" smtClean="0"/>
              <a:t> to classification labels </a:t>
            </a:r>
            <a:r>
              <a:rPr lang="en-US" i="1" dirty="0" smtClean="0"/>
              <a:t>y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a classifier?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073740"/>
            <a:ext cx="8585200" cy="4145960"/>
          </a:xfrm>
        </p:spPr>
        <p:txBody>
          <a:bodyPr>
            <a:normAutofit/>
          </a:bodyPr>
          <a:lstStyle/>
          <a:p>
            <a:r>
              <a:rPr lang="en-US" dirty="0" smtClean="0"/>
              <a:t>a function from inputs </a:t>
            </a:r>
            <a:r>
              <a:rPr lang="en-US" i="1" dirty="0" smtClean="0"/>
              <a:t>x</a:t>
            </a:r>
            <a:r>
              <a:rPr lang="en-US" dirty="0" smtClean="0"/>
              <a:t> to classification labels </a:t>
            </a:r>
            <a:r>
              <a:rPr lang="en-US" i="1" dirty="0" smtClean="0"/>
              <a:t>y</a:t>
            </a:r>
          </a:p>
          <a:p>
            <a:r>
              <a:rPr lang="en-US" dirty="0" smtClean="0"/>
              <a:t>one simple type of classifier:</a:t>
            </a:r>
          </a:p>
          <a:p>
            <a:pPr lvl="1"/>
            <a:r>
              <a:rPr lang="en-US" dirty="0" smtClean="0"/>
              <a:t>for any input </a:t>
            </a:r>
            <a:r>
              <a:rPr lang="en-US" i="1" dirty="0" smtClean="0">
                <a:cs typeface="Monotype Corsiva"/>
              </a:rPr>
              <a:t>x</a:t>
            </a:r>
            <a:r>
              <a:rPr lang="en-US" dirty="0" smtClean="0"/>
              <a:t>, assign a score to each label </a:t>
            </a:r>
            <a:r>
              <a:rPr lang="en-US" i="1" dirty="0" smtClean="0">
                <a:cs typeface="Century Schoolbook"/>
              </a:rPr>
              <a:t>y, </a:t>
            </a:r>
            <a:r>
              <a:rPr lang="en-US" dirty="0"/>
              <a:t>parameterized by vector </a:t>
            </a:r>
            <a:r>
              <a:rPr lang="en-US" dirty="0" smtClean="0"/>
              <a:t>   </a:t>
            </a:r>
            <a:r>
              <a:rPr lang="en-US" dirty="0" smtClean="0">
                <a:cs typeface="Century Schoolbook"/>
              </a:rPr>
              <a:t>: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00" y="3302000"/>
            <a:ext cx="16637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353" y="2849038"/>
            <a:ext cx="165100" cy="228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a classifier?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073740"/>
            <a:ext cx="8585200" cy="4145960"/>
          </a:xfrm>
        </p:spPr>
        <p:txBody>
          <a:bodyPr>
            <a:normAutofit/>
          </a:bodyPr>
          <a:lstStyle/>
          <a:p>
            <a:r>
              <a:rPr lang="en-US" dirty="0" smtClean="0"/>
              <a:t>a function from inputs </a:t>
            </a:r>
            <a:r>
              <a:rPr lang="en-US" i="1" dirty="0" smtClean="0"/>
              <a:t>x</a:t>
            </a:r>
            <a:r>
              <a:rPr lang="en-US" dirty="0" smtClean="0"/>
              <a:t> to classification labels </a:t>
            </a:r>
            <a:r>
              <a:rPr lang="en-US" i="1" dirty="0" smtClean="0"/>
              <a:t>y</a:t>
            </a:r>
          </a:p>
          <a:p>
            <a:r>
              <a:rPr lang="en-US" dirty="0" smtClean="0"/>
              <a:t>one simple type of classifier:</a:t>
            </a:r>
          </a:p>
          <a:p>
            <a:pPr lvl="1"/>
            <a:r>
              <a:rPr lang="en-US" dirty="0" smtClean="0"/>
              <a:t>for any input </a:t>
            </a:r>
            <a:r>
              <a:rPr lang="en-US" i="1" dirty="0" smtClean="0">
                <a:cs typeface="Monotype Corsiva"/>
              </a:rPr>
              <a:t>x</a:t>
            </a:r>
            <a:r>
              <a:rPr lang="en-US" dirty="0" smtClean="0"/>
              <a:t>, assign a score to each label </a:t>
            </a:r>
            <a:r>
              <a:rPr lang="en-US" i="1" dirty="0" smtClean="0">
                <a:cs typeface="Century Schoolbook"/>
              </a:rPr>
              <a:t>y, </a:t>
            </a:r>
            <a:r>
              <a:rPr lang="en-US" dirty="0"/>
              <a:t>parameterized by vector </a:t>
            </a:r>
            <a:r>
              <a:rPr lang="en-US" dirty="0" smtClean="0"/>
              <a:t>   </a:t>
            </a:r>
            <a:r>
              <a:rPr lang="en-US" dirty="0" smtClean="0">
                <a:cs typeface="Century Schoolbook"/>
              </a:rPr>
              <a:t>: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classify by choosing highest-scoring label: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576" y="4341060"/>
            <a:ext cx="4902200" cy="520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00" y="3302000"/>
            <a:ext cx="16637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353" y="2849038"/>
            <a:ext cx="165100" cy="2286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2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Course Philosophy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47" y="1034664"/>
            <a:ext cx="8579336" cy="505242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From reading papers, one gets the idea that machine learning concepts are monolithic, opaque objects</a:t>
            </a:r>
          </a:p>
          <a:p>
            <a:pPr lvl="1"/>
            <a:r>
              <a:rPr lang="en-US" sz="2400" dirty="0" smtClean="0"/>
              <a:t>e.g., naïve Bayes, logistic regression, SVMs, CRFs, neural networks, LSTMs, etc. </a:t>
            </a:r>
          </a:p>
          <a:p>
            <a:r>
              <a:rPr lang="en-US" sz="2800" dirty="0" smtClean="0"/>
              <a:t>Nothing is opaque</a:t>
            </a:r>
          </a:p>
          <a:p>
            <a:r>
              <a:rPr lang="en-US" sz="2800" dirty="0" smtClean="0"/>
              <a:t>Everything can be dissected, which reveals connections</a:t>
            </a:r>
          </a:p>
          <a:p>
            <a:r>
              <a:rPr lang="en-US" sz="2800" dirty="0" smtClean="0"/>
              <a:t>The names above are useful shorthand, but not useful for gaining understanding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9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Course Philosophy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279" y="1073740"/>
            <a:ext cx="8413262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We will draw from machine learning, linguistics, and algorithms, but technical </a:t>
            </a:r>
            <a:r>
              <a:rPr lang="en-US" sz="2400" dirty="0"/>
              <a:t>material will be </a:t>
            </a:r>
            <a:r>
              <a:rPr lang="en-US" sz="2400" dirty="0" smtClean="0"/>
              <a:t>(mostly) </a:t>
            </a:r>
            <a:r>
              <a:rPr lang="en-US" sz="2400" dirty="0"/>
              <a:t>self-contained; we won’t use many black </a:t>
            </a:r>
            <a:r>
              <a:rPr lang="en-US" sz="2400" dirty="0" smtClean="0"/>
              <a:t>boxes</a:t>
            </a:r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We will focus on declarative (rather than procedural) specifications, because they highlight connections and differences</a:t>
            </a:r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1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6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288CD2"/>
                </a:solidFill>
              </a:rPr>
              <a:t>Modeling</a:t>
            </a:r>
            <a:r>
              <a:rPr lang="en-US" dirty="0" smtClean="0"/>
              <a:t>: How do we assign a score to an (</a:t>
            </a:r>
            <a:r>
              <a:rPr lang="en-US" i="1" dirty="0" err="1" smtClean="0"/>
              <a:t>x</a:t>
            </a:r>
            <a:r>
              <a:rPr lang="en-US" dirty="0" err="1" smtClean="0"/>
              <a:t>,</a:t>
            </a:r>
            <a:r>
              <a:rPr lang="en-US" i="1" dirty="0" err="1" smtClean="0"/>
              <a:t>y</a:t>
            </a:r>
            <a:r>
              <a:rPr lang="en-US" dirty="0" smtClean="0"/>
              <a:t>) pair using parameters    ?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876" y="4461932"/>
            <a:ext cx="204851" cy="28363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1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000"/>
                </a:solidFill>
              </a:rPr>
              <a:t>Inference</a:t>
            </a:r>
            <a:r>
              <a:rPr lang="en-US" dirty="0" smtClean="0"/>
              <a:t>: How do we efficiently search over the space of all labels?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0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Learning</a:t>
            </a:r>
            <a:r>
              <a:rPr lang="en-US" dirty="0" smtClean="0"/>
              <a:t>: How do we choose    ?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098" y="3966632"/>
            <a:ext cx="204851" cy="283639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2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Modeling, Inference, Learning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We will use this same paradigm throughout the course, even when the output space size is exponential in the size of the input or is unbounded (e.g., machine translation)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9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We’ll use boldface for vectors: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400" dirty="0" smtClean="0"/>
              <a:t>Individual entries will use subscripts and no boldface, e.g., for entry </a:t>
            </a:r>
            <a:r>
              <a:rPr lang="en-US" sz="2400" dirty="0" err="1" smtClean="0"/>
              <a:t>i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00" y="3397738"/>
            <a:ext cx="279400" cy="355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830754"/>
            <a:ext cx="215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7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Modeling</a:t>
            </a:r>
            <a:r>
              <a:rPr lang="en-US" dirty="0" smtClean="0"/>
              <a:t>: Linear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Score function is linear in    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i="1" dirty="0" smtClean="0"/>
              <a:t>f </a:t>
            </a:r>
            <a:r>
              <a:rPr lang="en-US" dirty="0" smtClean="0"/>
              <a:t>: feature function vector</a:t>
            </a:r>
          </a:p>
          <a:p>
            <a:r>
              <a:rPr lang="en-US" dirty="0"/>
              <a:t> </a:t>
            </a:r>
            <a:r>
              <a:rPr lang="en-US" dirty="0" smtClean="0"/>
              <a:t>  : weight vector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871047"/>
            <a:ext cx="7150100" cy="67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37" y="3590523"/>
            <a:ext cx="217075" cy="30056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132" y="1261534"/>
            <a:ext cx="217075" cy="30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0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288CD2"/>
                </a:solidFill>
              </a:rPr>
              <a:t>Modeling</a:t>
            </a:r>
            <a:r>
              <a:rPr lang="en-US" dirty="0" smtClean="0"/>
              <a:t>: Linear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Score function is linear in    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i="1" dirty="0" smtClean="0"/>
              <a:t>f </a:t>
            </a:r>
            <a:r>
              <a:rPr lang="en-US" dirty="0" smtClean="0"/>
              <a:t>: feature function vector</a:t>
            </a:r>
          </a:p>
          <a:p>
            <a:r>
              <a:rPr lang="en-US" dirty="0"/>
              <a:t> </a:t>
            </a:r>
            <a:r>
              <a:rPr lang="en-US" dirty="0" smtClean="0"/>
              <a:t>  : weight vector</a:t>
            </a:r>
          </a:p>
          <a:p>
            <a:r>
              <a:rPr lang="en-US" dirty="0" smtClean="0"/>
              <a:t>How do we define  </a:t>
            </a:r>
            <a:r>
              <a:rPr lang="en-US" b="1" i="1" dirty="0" smtClean="0"/>
              <a:t>f 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871047"/>
            <a:ext cx="7150100" cy="67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37" y="3590523"/>
            <a:ext cx="217075" cy="300566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132" y="1261534"/>
            <a:ext cx="217075" cy="30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4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Defining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This is a large part of NLP</a:t>
            </a:r>
          </a:p>
          <a:p>
            <a:r>
              <a:rPr lang="en-US" dirty="0"/>
              <a:t>L</a:t>
            </a:r>
            <a:r>
              <a:rPr lang="en-US" dirty="0" smtClean="0"/>
              <a:t>ast 20 years: </a:t>
            </a:r>
            <a:r>
              <a:rPr lang="en-US" b="1" dirty="0" smtClean="0"/>
              <a:t>feature engineering</a:t>
            </a:r>
          </a:p>
          <a:p>
            <a:r>
              <a:rPr lang="en-US" dirty="0" smtClean="0"/>
              <a:t>Last 2 years: </a:t>
            </a:r>
            <a:r>
              <a:rPr lang="en-US" b="1" dirty="0" smtClean="0"/>
              <a:t>representation learning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FFFF"/>
                </a:solidFill>
              </a:rPr>
              <a:t>In this course, we will do both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Learning representations doesn’t mean that we don’t have to look at the data or the output!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There’s still plenty of engineering required in representation 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7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Defining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This is a large part of NLP</a:t>
            </a:r>
          </a:p>
          <a:p>
            <a:r>
              <a:rPr lang="en-US" dirty="0"/>
              <a:t>L</a:t>
            </a:r>
            <a:r>
              <a:rPr lang="en-US" dirty="0" smtClean="0"/>
              <a:t>ast 20 years: </a:t>
            </a:r>
            <a:r>
              <a:rPr lang="en-US" b="1" dirty="0" smtClean="0"/>
              <a:t>feature engineering</a:t>
            </a:r>
          </a:p>
          <a:p>
            <a:r>
              <a:rPr lang="en-US" dirty="0" smtClean="0"/>
              <a:t>Last 2 years: </a:t>
            </a:r>
            <a:r>
              <a:rPr lang="en-US" b="1" dirty="0" smtClean="0"/>
              <a:t>representation learning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In this course, we’ll do both</a:t>
            </a:r>
          </a:p>
          <a:p>
            <a:r>
              <a:rPr lang="en-US" dirty="0" smtClean="0"/>
              <a:t>Learning representations doesn’t mean that we don’t have to look at the data or the output!</a:t>
            </a:r>
          </a:p>
          <a:p>
            <a:r>
              <a:rPr lang="en-US" dirty="0" smtClean="0"/>
              <a:t>There’s still plenty of engineering required in </a:t>
            </a:r>
            <a:r>
              <a:rPr lang="en-US" dirty="0"/>
              <a:t>representation </a:t>
            </a:r>
            <a:r>
              <a:rPr lang="en-US" dirty="0" smtClean="0"/>
              <a:t>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6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Feature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ften decried as “costly, hand-crafted, expensive, domain-specific”, etc.</a:t>
            </a:r>
          </a:p>
          <a:p>
            <a:r>
              <a:rPr lang="en-US" dirty="0" smtClean="0"/>
              <a:t>But in practice, simple features typically give the bulk of the performance</a:t>
            </a:r>
          </a:p>
          <a:p>
            <a:endParaRPr lang="en-US" dirty="0" smtClean="0"/>
          </a:p>
          <a:p>
            <a:r>
              <a:rPr lang="en-US" dirty="0" smtClean="0"/>
              <a:t>Let’s get concrete: how should we define features for text classification?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3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Feature Engineering for 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108724"/>
            <a:ext cx="37973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6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Feature Engineering for 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108724"/>
            <a:ext cx="3797300" cy="67310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 bwMode="auto">
          <a:xfrm flipH="1" flipV="1">
            <a:off x="3580183" y="1602154"/>
            <a:ext cx="698740" cy="73269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/>
          <p:nvPr/>
        </p:nvCxnSpPr>
        <p:spPr bwMode="auto">
          <a:xfrm flipV="1">
            <a:off x="5339862" y="1514231"/>
            <a:ext cx="609600" cy="8206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3116135" y="2276232"/>
            <a:ext cx="3507403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     is now a vector because it is a sequence of words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777" y="2470638"/>
            <a:ext cx="2159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3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Feature Engineering for 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108724"/>
            <a:ext cx="3797300" cy="67310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 bwMode="auto">
          <a:xfrm flipH="1" flipV="1">
            <a:off x="3580183" y="1602154"/>
            <a:ext cx="698740" cy="73269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/>
          <p:nvPr/>
        </p:nvCxnSpPr>
        <p:spPr bwMode="auto">
          <a:xfrm flipV="1">
            <a:off x="5339862" y="1514231"/>
            <a:ext cx="609600" cy="8206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3116135" y="2276232"/>
            <a:ext cx="3507403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     is now a vector because it is a sequence of words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777" y="2470638"/>
            <a:ext cx="215900" cy="177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9778" y="3331315"/>
            <a:ext cx="4337537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let’s consider sentiment analysis:                  </a:t>
            </a:r>
          </a:p>
          <a:p>
            <a:r>
              <a:rPr lang="en-US" sz="2400" dirty="0">
                <a:solidFill>
                  <a:srgbClr val="288CD2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656" y="3783267"/>
            <a:ext cx="31623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Feature Engineering for 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108724"/>
            <a:ext cx="3797300" cy="67310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 bwMode="auto">
          <a:xfrm flipH="1" flipV="1">
            <a:off x="3580183" y="1602154"/>
            <a:ext cx="698740" cy="73269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/>
          <p:nvPr/>
        </p:nvCxnSpPr>
        <p:spPr bwMode="auto">
          <a:xfrm flipV="1">
            <a:off x="5339862" y="1514231"/>
            <a:ext cx="609600" cy="8206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3116135" y="2276232"/>
            <a:ext cx="3507403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     is now a vector because it is a sequence of words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777" y="2470638"/>
            <a:ext cx="2159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872" y="4412404"/>
            <a:ext cx="7899393" cy="1200328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so, here is our sentiment classifier that uses a linear model:</a:t>
            </a:r>
          </a:p>
          <a:p>
            <a:endParaRPr lang="en-US" sz="2400" i="0" dirty="0" smtClean="0">
              <a:solidFill>
                <a:srgbClr val="288CD2"/>
              </a:solidFill>
              <a:latin typeface="Calibri"/>
              <a:cs typeface="Calibri"/>
            </a:endParaRPr>
          </a:p>
          <a:p>
            <a:r>
              <a:rPr lang="en-US" sz="2400" dirty="0">
                <a:solidFill>
                  <a:srgbClr val="288CD2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834" y="4883638"/>
            <a:ext cx="6908800" cy="673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549778" y="3331315"/>
            <a:ext cx="4337537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let’s consider sentiment analysis:                  </a:t>
            </a:r>
          </a:p>
          <a:p>
            <a:r>
              <a:rPr lang="en-US" sz="2400" dirty="0">
                <a:solidFill>
                  <a:srgbClr val="288CD2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656" y="3783267"/>
            <a:ext cx="31623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5731"/>
            <a:ext cx="8229600" cy="5052424"/>
          </a:xfrm>
        </p:spPr>
        <p:txBody>
          <a:bodyPr/>
          <a:lstStyle/>
          <a:p>
            <a:r>
              <a:rPr lang="en-US" dirty="0" smtClean="0"/>
              <a:t>Two features: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where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chemeClr val="bg1"/>
                </a:solidFill>
              </a:rPr>
              <a:t>What should the weights be?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417498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80" y="3555637"/>
            <a:ext cx="4216400" cy="3175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108724"/>
            <a:ext cx="37973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2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5731"/>
            <a:ext cx="8229600" cy="5052424"/>
          </a:xfrm>
        </p:spPr>
        <p:txBody>
          <a:bodyPr/>
          <a:lstStyle/>
          <a:p>
            <a:r>
              <a:rPr lang="en-US" dirty="0" smtClean="0"/>
              <a:t>Two features: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where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What should the weights be?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417498"/>
            <a:ext cx="6172200" cy="787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80" y="3555637"/>
            <a:ext cx="4216400" cy="31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5400110"/>
            <a:ext cx="4521200" cy="279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1108724"/>
            <a:ext cx="37973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7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features: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Let’s say we set</a:t>
            </a:r>
            <a:endParaRPr lang="en-US" dirty="0"/>
          </a:p>
          <a:p>
            <a:r>
              <a:rPr lang="en-US" dirty="0" smtClean="0"/>
              <a:t>On sentences containing “</a:t>
            </a:r>
            <a:r>
              <a:rPr lang="en-US" b="1" i="1" dirty="0" smtClean="0"/>
              <a:t>great</a:t>
            </a:r>
            <a:r>
              <a:rPr lang="en-US" i="1" dirty="0" smtClean="0"/>
              <a:t>” </a:t>
            </a:r>
            <a:r>
              <a:rPr lang="en-US" dirty="0" smtClean="0"/>
              <a:t>in the Stanford Sentiment Treebank training data, this would get us an accuracy of 69%</a:t>
            </a:r>
          </a:p>
          <a:p>
            <a:r>
              <a:rPr lang="en-US" dirty="0" smtClean="0"/>
              <a:t>But “</a:t>
            </a:r>
            <a:r>
              <a:rPr lang="en-US" b="1" i="1" dirty="0" smtClean="0"/>
              <a:t>great</a:t>
            </a:r>
            <a:r>
              <a:rPr lang="en-US" dirty="0" smtClean="0"/>
              <a:t>’’ only appears in 83/6911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851185"/>
            <a:ext cx="6172200" cy="787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592" y="3019670"/>
            <a:ext cx="10922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0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features: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Let’s say we set</a:t>
            </a:r>
            <a:endParaRPr lang="en-US" dirty="0"/>
          </a:p>
          <a:p>
            <a:r>
              <a:rPr lang="en-US" dirty="0" smtClean="0"/>
              <a:t>On sentences containing “</a:t>
            </a:r>
            <a:r>
              <a:rPr lang="en-US" b="1" i="1" dirty="0" smtClean="0"/>
              <a:t>great</a:t>
            </a:r>
            <a:r>
              <a:rPr lang="en-US" i="1" dirty="0" smtClean="0"/>
              <a:t>” </a:t>
            </a:r>
            <a:r>
              <a:rPr lang="en-US" dirty="0" smtClean="0"/>
              <a:t>in the Stanford Sentiment Treebank training data, this would get us an accuracy of 69%</a:t>
            </a:r>
          </a:p>
          <a:p>
            <a:r>
              <a:rPr lang="en-US" dirty="0" smtClean="0"/>
              <a:t>But “</a:t>
            </a:r>
            <a:r>
              <a:rPr lang="en-US" b="1" i="1" dirty="0" smtClean="0"/>
              <a:t>great</a:t>
            </a:r>
            <a:r>
              <a:rPr lang="en-US" dirty="0" smtClean="0"/>
              <a:t>’’ only appears in 83/6911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851185"/>
            <a:ext cx="6172200" cy="787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592" y="3019670"/>
            <a:ext cx="1092200" cy="317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2739" y="5627320"/>
            <a:ext cx="8129954" cy="729030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91440" bIns="91440" rtlCol="0" anchor="ctr"/>
          <a:lstStyle/>
          <a:p>
            <a:pPr marL="0" lvl="1"/>
            <a:r>
              <a:rPr lang="en-US" sz="2400" b="1" u="sng" dirty="0" smtClean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</a:rPr>
              <a:t>variability</a:t>
            </a:r>
            <a:r>
              <a:rPr lang="en-US" sz="2400" dirty="0">
                <a:solidFill>
                  <a:srgbClr val="000000"/>
                </a:solidFill>
              </a:rPr>
              <a:t>: many </a:t>
            </a:r>
            <a:r>
              <a:rPr lang="en-US" sz="2400" dirty="0" smtClean="0">
                <a:solidFill>
                  <a:srgbClr val="000000"/>
                </a:solidFill>
              </a:rPr>
              <a:t>other words can indicate positive sentiment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6538" y="232153"/>
            <a:ext cx="8811847" cy="3238064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2740" y="2638585"/>
            <a:ext cx="8550030" cy="698585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91440" bIns="91440" rtlCol="0" anchor="ctr"/>
          <a:lstStyle/>
          <a:p>
            <a:pPr marL="0" lvl="1"/>
            <a:r>
              <a:rPr lang="en-US" sz="2400" b="1" u="sng" dirty="0" smtClean="0">
                <a:solidFill>
                  <a:srgbClr val="000000"/>
                </a:solidFill>
                <a:uFill>
                  <a:solidFill>
                    <a:srgbClr val="288CD2"/>
                  </a:solidFill>
                </a:uFill>
              </a:rPr>
              <a:t>ambiguity</a:t>
            </a:r>
            <a:r>
              <a:rPr lang="en-US" sz="2400" dirty="0">
                <a:solidFill>
                  <a:srgbClr val="000000"/>
                </a:solidFill>
              </a:rPr>
              <a:t>: </a:t>
            </a:r>
            <a:r>
              <a:rPr lang="en-US" sz="2400" dirty="0" smtClean="0">
                <a:solidFill>
                  <a:srgbClr val="000000"/>
                </a:solidFill>
              </a:rPr>
              <a:t>“</a:t>
            </a:r>
            <a:r>
              <a:rPr lang="en-US" sz="2400" b="1" i="1" dirty="0" smtClean="0">
                <a:solidFill>
                  <a:srgbClr val="000000"/>
                </a:solidFill>
              </a:rPr>
              <a:t>great</a:t>
            </a:r>
            <a:r>
              <a:rPr lang="en-US" sz="2400" dirty="0" smtClean="0">
                <a:solidFill>
                  <a:srgbClr val="000000"/>
                </a:solidFill>
              </a:rPr>
              <a:t>” can </a:t>
            </a:r>
            <a:r>
              <a:rPr lang="en-US" sz="2400" dirty="0">
                <a:solidFill>
                  <a:srgbClr val="000000"/>
                </a:solidFill>
              </a:rPr>
              <a:t>mean </a:t>
            </a:r>
            <a:r>
              <a:rPr lang="en-US" sz="2400" dirty="0" smtClean="0">
                <a:solidFill>
                  <a:srgbClr val="000000"/>
                </a:solidFill>
              </a:rPr>
              <a:t>different things in different contexts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81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462"/>
            <a:ext cx="8229600" cy="5994888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Usually, </a:t>
            </a:r>
            <a:r>
              <a:rPr lang="en-US" sz="2800" b="1" i="1" dirty="0" smtClean="0"/>
              <a:t>great </a:t>
            </a:r>
            <a:r>
              <a:rPr lang="en-US" sz="2800" dirty="0" smtClean="0"/>
              <a:t>indicates positive sentiment:</a:t>
            </a:r>
          </a:p>
          <a:p>
            <a:pPr marL="457200" lvl="1" indent="0">
              <a:buNone/>
            </a:pPr>
            <a:r>
              <a:rPr lang="en-US" sz="2400" i="1" dirty="0" smtClean="0"/>
              <a:t>The </a:t>
            </a:r>
            <a:r>
              <a:rPr lang="en-US" sz="2400" i="1" dirty="0"/>
              <a:t>most wondrous love story in </a:t>
            </a:r>
            <a:r>
              <a:rPr lang="en-US" sz="2400" i="1" dirty="0" smtClean="0"/>
              <a:t>years, </a:t>
            </a:r>
            <a:r>
              <a:rPr lang="en-US" sz="2400" i="1" dirty="0"/>
              <a:t>it is a </a:t>
            </a:r>
            <a:r>
              <a:rPr lang="en-US" sz="2400" b="1" i="1" dirty="0"/>
              <a:t>great</a:t>
            </a:r>
            <a:r>
              <a:rPr lang="en-US" sz="2400" i="1" dirty="0"/>
              <a:t> </a:t>
            </a:r>
            <a:r>
              <a:rPr lang="en-US" sz="2400" i="1" dirty="0" smtClean="0"/>
              <a:t>film.</a:t>
            </a:r>
          </a:p>
          <a:p>
            <a:pPr marL="457200" lvl="1" indent="0">
              <a:buNone/>
            </a:pPr>
            <a:r>
              <a:rPr lang="en-US" sz="2400" i="1" dirty="0"/>
              <a:t>A </a:t>
            </a:r>
            <a:r>
              <a:rPr lang="en-US" sz="2400" b="1" i="1" dirty="0"/>
              <a:t>great</a:t>
            </a:r>
            <a:r>
              <a:rPr lang="en-US" sz="2400" i="1" dirty="0"/>
              <a:t> companion piece to other Napoleon films .</a:t>
            </a:r>
            <a:endParaRPr lang="en-US" sz="2400" i="1" dirty="0" smtClean="0"/>
          </a:p>
          <a:p>
            <a:endParaRPr lang="en-US" sz="2800" dirty="0" smtClean="0"/>
          </a:p>
          <a:p>
            <a:r>
              <a:rPr lang="en-US" sz="2800" dirty="0" smtClean="0"/>
              <a:t>Sometimes not. Why?</a:t>
            </a:r>
          </a:p>
          <a:p>
            <a:pPr marL="457200" lvl="1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Negation: </a:t>
            </a:r>
            <a:r>
              <a:rPr lang="en-US" sz="2400" i="1" dirty="0">
                <a:solidFill>
                  <a:srgbClr val="FFFFFF"/>
                </a:solidFill>
              </a:rPr>
              <a:t>It's not a </a:t>
            </a:r>
            <a:r>
              <a:rPr lang="en-US" sz="2400" b="1" i="1" dirty="0">
                <a:solidFill>
                  <a:srgbClr val="FFFFFF"/>
                </a:solidFill>
              </a:rPr>
              <a:t>great</a:t>
            </a:r>
            <a:r>
              <a:rPr lang="en-US" sz="2400" i="1" dirty="0">
                <a:solidFill>
                  <a:srgbClr val="FFFFFF"/>
                </a:solidFill>
              </a:rPr>
              <a:t> monster movie .</a:t>
            </a:r>
          </a:p>
          <a:p>
            <a:pPr marL="457200" lvl="1" indent="0">
              <a:buNone/>
            </a:pPr>
            <a:r>
              <a:rPr lang="en-US" sz="2400" b="1" dirty="0" smtClean="0">
                <a:solidFill>
                  <a:srgbClr val="FFFFFF"/>
                </a:solidFill>
              </a:rPr>
              <a:t>Different sense: </a:t>
            </a:r>
            <a:r>
              <a:rPr lang="en-US" sz="2400" i="1" dirty="0" smtClean="0">
                <a:solidFill>
                  <a:srgbClr val="FFFFFF"/>
                </a:solidFill>
              </a:rPr>
              <a:t>There's </a:t>
            </a:r>
            <a:r>
              <a:rPr lang="en-US" sz="2400" i="1" dirty="0">
                <a:solidFill>
                  <a:srgbClr val="FFFFFF"/>
                </a:solidFill>
              </a:rPr>
              <a:t>a </a:t>
            </a:r>
            <a:r>
              <a:rPr lang="en-US" sz="2400" b="1" i="1" dirty="0">
                <a:solidFill>
                  <a:srgbClr val="FFFFFF"/>
                </a:solidFill>
              </a:rPr>
              <a:t>great </a:t>
            </a:r>
            <a:r>
              <a:rPr lang="en-US" sz="2400" i="1" dirty="0">
                <a:solidFill>
                  <a:srgbClr val="FFFFFF"/>
                </a:solidFill>
              </a:rPr>
              <a:t>deal of corny dialogue and preposterous moments </a:t>
            </a:r>
            <a:r>
              <a:rPr lang="en-US" sz="2400" i="1" dirty="0" smtClean="0">
                <a:solidFill>
                  <a:srgbClr val="FFFFFF"/>
                </a:solidFill>
              </a:rPr>
              <a:t>.</a:t>
            </a:r>
          </a:p>
          <a:p>
            <a:pPr marL="457200" lvl="1" indent="0">
              <a:buNone/>
            </a:pPr>
            <a:r>
              <a:rPr lang="en-US" sz="2400" b="1" dirty="0" smtClean="0">
                <a:solidFill>
                  <a:srgbClr val="FFFFFF"/>
                </a:solidFill>
              </a:rPr>
              <a:t>Multiple sentiments:</a:t>
            </a:r>
            <a:r>
              <a:rPr lang="en-US" sz="2400" i="1" dirty="0" smtClean="0">
                <a:solidFill>
                  <a:srgbClr val="FFFFFF"/>
                </a:solidFill>
              </a:rPr>
              <a:t> A </a:t>
            </a:r>
            <a:r>
              <a:rPr lang="en-US" sz="2400" b="1" i="1" dirty="0">
                <a:solidFill>
                  <a:srgbClr val="FFFFFF"/>
                </a:solidFill>
              </a:rPr>
              <a:t>great</a:t>
            </a:r>
            <a:r>
              <a:rPr lang="en-US" sz="2400" i="1" dirty="0">
                <a:solidFill>
                  <a:srgbClr val="FFFFFF"/>
                </a:solidFill>
              </a:rPr>
              <a:t> ensemble cast </a:t>
            </a:r>
            <a:r>
              <a:rPr lang="en-US" sz="2400" i="1" dirty="0" smtClean="0">
                <a:solidFill>
                  <a:srgbClr val="FFFFFF"/>
                </a:solidFill>
              </a:rPr>
              <a:t>can't </a:t>
            </a:r>
            <a:r>
              <a:rPr lang="en-US" sz="2400" i="1" dirty="0">
                <a:solidFill>
                  <a:srgbClr val="FFFFFF"/>
                </a:solidFill>
              </a:rPr>
              <a:t>lift this heartfelt enterprise out of the </a:t>
            </a:r>
            <a:r>
              <a:rPr lang="en-US" sz="2400" i="1" dirty="0" smtClean="0">
                <a:solidFill>
                  <a:srgbClr val="FFFFFF"/>
                </a:solidFill>
              </a:rPr>
              <a:t>familiar.</a:t>
            </a:r>
          </a:p>
          <a:p>
            <a:endParaRPr lang="en-US" sz="2800" dirty="0" smtClean="0">
              <a:solidFill>
                <a:srgbClr val="FFFFFF"/>
              </a:solidFill>
            </a:endParaRPr>
          </a:p>
          <a:p>
            <a:r>
              <a:rPr lang="en-US" sz="2800" dirty="0" smtClean="0">
                <a:solidFill>
                  <a:srgbClr val="FFFFFF"/>
                </a:solidFill>
              </a:rPr>
              <a:t>And there are many other words that indicate positive sentiment</a:t>
            </a:r>
          </a:p>
          <a:p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9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1462"/>
            <a:ext cx="8229600" cy="5994888"/>
          </a:xfrm>
        </p:spPr>
        <p:txBody>
          <a:bodyPr>
            <a:normAutofit/>
          </a:bodyPr>
          <a:lstStyle/>
          <a:p>
            <a:r>
              <a:rPr lang="en-US" sz="2800" dirty="0" smtClean="0"/>
              <a:t>Usually, </a:t>
            </a:r>
            <a:r>
              <a:rPr lang="en-US" sz="2800" b="1" i="1" dirty="0" smtClean="0"/>
              <a:t>great </a:t>
            </a:r>
            <a:r>
              <a:rPr lang="en-US" sz="2800" dirty="0" smtClean="0"/>
              <a:t>indicates positive sentiment:</a:t>
            </a:r>
          </a:p>
          <a:p>
            <a:pPr marL="457200" lvl="1" indent="0">
              <a:buNone/>
            </a:pPr>
            <a:r>
              <a:rPr lang="en-US" sz="2400" i="1" dirty="0" smtClean="0"/>
              <a:t>The </a:t>
            </a:r>
            <a:r>
              <a:rPr lang="en-US" sz="2400" i="1" dirty="0"/>
              <a:t>most wondrous love story in </a:t>
            </a:r>
            <a:r>
              <a:rPr lang="en-US" sz="2400" i="1" dirty="0" smtClean="0"/>
              <a:t>years, </a:t>
            </a:r>
            <a:r>
              <a:rPr lang="en-US" sz="2400" i="1" dirty="0"/>
              <a:t>it is a </a:t>
            </a:r>
            <a:r>
              <a:rPr lang="en-US" sz="2400" b="1" i="1" dirty="0"/>
              <a:t>great</a:t>
            </a:r>
            <a:r>
              <a:rPr lang="en-US" sz="2400" i="1" dirty="0"/>
              <a:t> </a:t>
            </a:r>
            <a:r>
              <a:rPr lang="en-US" sz="2400" i="1" dirty="0" smtClean="0"/>
              <a:t>film.</a:t>
            </a:r>
          </a:p>
          <a:p>
            <a:pPr marL="457200" lvl="1" indent="0">
              <a:buNone/>
            </a:pPr>
            <a:r>
              <a:rPr lang="en-US" sz="2400" i="1" dirty="0"/>
              <a:t>A </a:t>
            </a:r>
            <a:r>
              <a:rPr lang="en-US" sz="2400" b="1" i="1" dirty="0"/>
              <a:t>great</a:t>
            </a:r>
            <a:r>
              <a:rPr lang="en-US" sz="2400" i="1" dirty="0"/>
              <a:t> companion piece to other Napoleon films .</a:t>
            </a:r>
            <a:endParaRPr lang="en-US" sz="2400" i="1" dirty="0" smtClean="0"/>
          </a:p>
          <a:p>
            <a:endParaRPr lang="en-US" sz="2800" dirty="0" smtClean="0"/>
          </a:p>
          <a:p>
            <a:r>
              <a:rPr lang="en-US" sz="2800" dirty="0" smtClean="0"/>
              <a:t>Sometimes not. Why?</a:t>
            </a:r>
          </a:p>
          <a:p>
            <a:pPr marL="457200" lvl="1" indent="0">
              <a:buNone/>
            </a:pPr>
            <a:r>
              <a:rPr lang="en-US" sz="2400" b="1" dirty="0" smtClean="0">
                <a:solidFill>
                  <a:srgbClr val="288CD2"/>
                </a:solidFill>
              </a:rPr>
              <a:t>Negation</a:t>
            </a:r>
            <a:r>
              <a:rPr lang="en-US" sz="2400" b="1" dirty="0"/>
              <a:t>: </a:t>
            </a:r>
            <a:r>
              <a:rPr lang="en-US" sz="2400" i="1" dirty="0"/>
              <a:t>It's not a </a:t>
            </a:r>
            <a:r>
              <a:rPr lang="en-US" sz="2400" b="1" i="1" dirty="0"/>
              <a:t>great</a:t>
            </a:r>
            <a:r>
              <a:rPr lang="en-US" sz="2400" i="1" dirty="0"/>
              <a:t> monster movie .</a:t>
            </a:r>
          </a:p>
          <a:p>
            <a:pPr marL="457200" lvl="1" indent="0">
              <a:buNone/>
            </a:pPr>
            <a:r>
              <a:rPr lang="en-US" sz="2400" b="1" dirty="0" smtClean="0">
                <a:solidFill>
                  <a:srgbClr val="288CD2"/>
                </a:solidFill>
              </a:rPr>
              <a:t>Different sense</a:t>
            </a:r>
            <a:r>
              <a:rPr lang="en-US" sz="2400" b="1" dirty="0" smtClean="0"/>
              <a:t>: </a:t>
            </a:r>
            <a:r>
              <a:rPr lang="en-US" sz="2400" i="1" dirty="0" smtClean="0"/>
              <a:t>There's </a:t>
            </a:r>
            <a:r>
              <a:rPr lang="en-US" sz="2400" i="1" dirty="0"/>
              <a:t>a </a:t>
            </a:r>
            <a:r>
              <a:rPr lang="en-US" sz="2400" b="1" i="1" dirty="0"/>
              <a:t>great </a:t>
            </a:r>
            <a:r>
              <a:rPr lang="en-US" sz="2400" i="1" dirty="0"/>
              <a:t>deal of corny dialogue and preposterous moments </a:t>
            </a:r>
            <a:r>
              <a:rPr lang="en-US" sz="2400" i="1" dirty="0" smtClean="0"/>
              <a:t>.</a:t>
            </a:r>
          </a:p>
          <a:p>
            <a:pPr marL="457200" lvl="1" indent="0">
              <a:buNone/>
            </a:pPr>
            <a:r>
              <a:rPr lang="en-US" sz="2400" b="1" dirty="0" smtClean="0">
                <a:solidFill>
                  <a:srgbClr val="288CD2"/>
                </a:solidFill>
              </a:rPr>
              <a:t>Multiple sentiments</a:t>
            </a:r>
            <a:r>
              <a:rPr lang="en-US" sz="2400" b="1" dirty="0" smtClean="0"/>
              <a:t>:</a:t>
            </a:r>
            <a:r>
              <a:rPr lang="en-US" sz="2400" i="1" dirty="0" smtClean="0"/>
              <a:t> A </a:t>
            </a:r>
            <a:r>
              <a:rPr lang="en-US" sz="2400" b="1" i="1" dirty="0"/>
              <a:t>great</a:t>
            </a:r>
            <a:r>
              <a:rPr lang="en-US" sz="2400" i="1" dirty="0"/>
              <a:t> ensemble cast </a:t>
            </a:r>
            <a:r>
              <a:rPr lang="en-US" sz="2400" i="1" dirty="0" smtClean="0"/>
              <a:t>can't </a:t>
            </a:r>
            <a:r>
              <a:rPr lang="en-US" sz="2400" i="1" dirty="0"/>
              <a:t>lift this heartfelt enterprise out of the </a:t>
            </a:r>
            <a:r>
              <a:rPr lang="en-US" sz="2400" i="1" dirty="0" smtClean="0"/>
              <a:t>familiar.</a:t>
            </a:r>
          </a:p>
          <a:p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9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3154"/>
            <a:ext cx="8229600" cy="4143010"/>
          </a:xfrm>
        </p:spPr>
        <p:txBody>
          <a:bodyPr>
            <a:normAutofit/>
          </a:bodyPr>
          <a:lstStyle/>
          <a:p>
            <a:r>
              <a:rPr lang="en-US" dirty="0" smtClean="0"/>
              <a:t>What about a feature like the following?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What should its weight be?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0" y="2812942"/>
            <a:ext cx="3771900" cy="330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073740"/>
            <a:ext cx="37973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34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Feature Engineering for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3154"/>
            <a:ext cx="8229600" cy="4143010"/>
          </a:xfrm>
        </p:spPr>
        <p:txBody>
          <a:bodyPr>
            <a:normAutofit/>
          </a:bodyPr>
          <a:lstStyle/>
          <a:p>
            <a:r>
              <a:rPr lang="en-US" dirty="0" smtClean="0"/>
              <a:t>What about a feature like the following?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What should its weight be?</a:t>
            </a:r>
          </a:p>
          <a:p>
            <a:r>
              <a:rPr lang="en-US" dirty="0" smtClean="0"/>
              <a:t>Doesn’t matter.</a:t>
            </a:r>
          </a:p>
          <a:p>
            <a:r>
              <a:rPr lang="en-US" dirty="0" smtClean="0"/>
              <a:t>Why?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0" y="2812942"/>
            <a:ext cx="3771900" cy="3302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073740"/>
            <a:ext cx="3797300" cy="67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141" y="5069255"/>
            <a:ext cx="69088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9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70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0872" y="1100634"/>
            <a:ext cx="7899393" cy="1200328"/>
          </a:xfrm>
          <a:prstGeom prst="rect">
            <a:avLst/>
          </a:prstGeom>
          <a:solidFill>
            <a:schemeClr val="bg1"/>
          </a:solidFill>
          <a:ln w="57150">
            <a:noFill/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solidFill>
                  <a:srgbClr val="000000"/>
                </a:solidFill>
                <a:latin typeface="Calibri"/>
                <a:cs typeface="Calibri"/>
              </a:rPr>
              <a:t>our linear sentiment classifier:</a:t>
            </a:r>
          </a:p>
          <a:p>
            <a:endParaRPr lang="en-US" sz="2400" i="0" dirty="0" smtClean="0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34" y="1796555"/>
            <a:ext cx="69088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1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8000"/>
                </a:solidFill>
              </a:rPr>
              <a:t>Inference</a:t>
            </a:r>
            <a:r>
              <a:rPr lang="en-US" sz="3600" dirty="0" smtClean="0"/>
              <a:t> for 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71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34" y="1796555"/>
            <a:ext cx="6908800" cy="67310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 bwMode="auto">
          <a:xfrm flipV="1">
            <a:off x="2872471" y="2168765"/>
            <a:ext cx="1562760" cy="79130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1045609" y="2875697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3074895"/>
            <a:ext cx="9906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4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8000"/>
                </a:solidFill>
              </a:rPr>
              <a:t>Inference</a:t>
            </a:r>
            <a:r>
              <a:rPr lang="en-US" sz="3600" dirty="0" smtClean="0"/>
              <a:t> for 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72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34" y="1796555"/>
            <a:ext cx="6908800" cy="67310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 bwMode="auto">
          <a:xfrm flipV="1">
            <a:off x="2872471" y="2168765"/>
            <a:ext cx="1562760" cy="79130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1045609" y="2875697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3074895"/>
            <a:ext cx="990600" cy="21590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dirty="0" smtClean="0"/>
              <a:t>trivial (loop over labels)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39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73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34" y="1796555"/>
            <a:ext cx="69088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8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Learning </a:t>
            </a:r>
            <a:r>
              <a:rPr lang="en-US" sz="3600" dirty="0" smtClean="0"/>
              <a:t>for 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74</a:t>
            </a:fld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 flipV="1">
            <a:off x="2888532" y="2195663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2347976" y="2724803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783" y="2872737"/>
            <a:ext cx="165100" cy="22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34" y="1796555"/>
            <a:ext cx="69088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5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Learning </a:t>
            </a:r>
            <a:r>
              <a:rPr lang="en-US" sz="3600" dirty="0" smtClean="0"/>
              <a:t>for Text Classification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75</a:t>
            </a:fld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 flipV="1">
            <a:off x="2888532" y="2195663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2347976" y="2724803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783" y="2872737"/>
            <a:ext cx="165100" cy="22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34" y="1796555"/>
            <a:ext cx="6908800" cy="67310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3781344"/>
            <a:ext cx="8229600" cy="1938419"/>
          </a:xfrm>
        </p:spPr>
        <p:txBody>
          <a:bodyPr>
            <a:normAutofit/>
          </a:bodyPr>
          <a:lstStyle/>
          <a:p>
            <a:r>
              <a:rPr lang="en-US" dirty="0" smtClean="0"/>
              <a:t>There are many ways to choose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901" y="3976401"/>
            <a:ext cx="204851" cy="28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3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Experimental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the beginning, we just had </a:t>
            </a:r>
            <a:r>
              <a:rPr lang="en-US" dirty="0" smtClean="0">
                <a:solidFill>
                  <a:srgbClr val="288CD2"/>
                </a:solidFill>
              </a:rPr>
              <a:t>data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first innovation: split into train and test</a:t>
            </a:r>
          </a:p>
          <a:p>
            <a:pPr lvl="1"/>
            <a:r>
              <a:rPr lang="en-US" dirty="0" smtClean="0">
                <a:solidFill>
                  <a:srgbClr val="FFFFFF"/>
                </a:solidFill>
              </a:rPr>
              <a:t>motivation: simulate conditions of applying system in practice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but, there’s a problem with this…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 need to explore </a:t>
            </a:r>
            <a:r>
              <a:rPr lang="en-US" dirty="0" smtClean="0">
                <a:solidFill>
                  <a:schemeClr val="bg1"/>
                </a:solidFill>
              </a:rPr>
              <a:t>and evaluate methodological choices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after multiple evaluations on test, it is no longer a simulation of real-world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0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Experimental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the beginning, we just had </a:t>
            </a:r>
            <a:r>
              <a:rPr lang="en-US" dirty="0" smtClean="0">
                <a:solidFill>
                  <a:srgbClr val="288CD2"/>
                </a:solidFill>
              </a:rPr>
              <a:t>data</a:t>
            </a:r>
          </a:p>
          <a:p>
            <a:r>
              <a:rPr lang="en-US" dirty="0" smtClean="0">
                <a:solidFill>
                  <a:srgbClr val="BC0000"/>
                </a:solidFill>
              </a:rPr>
              <a:t>first innovation</a:t>
            </a:r>
            <a:r>
              <a:rPr lang="en-US" dirty="0" smtClean="0"/>
              <a:t>: split into </a:t>
            </a:r>
            <a:r>
              <a:rPr lang="en-US" dirty="0" smtClean="0">
                <a:solidFill>
                  <a:srgbClr val="288CD2"/>
                </a:solidFill>
              </a:rPr>
              <a:t>train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288CD2"/>
                </a:solidFill>
              </a:rPr>
              <a:t>test</a:t>
            </a:r>
          </a:p>
          <a:p>
            <a:pPr lvl="1"/>
            <a:r>
              <a:rPr lang="en-US" dirty="0" smtClean="0"/>
              <a:t>motivation: simulate conditions of applying system in practice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but, there’s a problem with this…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 need to explore </a:t>
            </a:r>
            <a:r>
              <a:rPr lang="en-US" dirty="0" smtClean="0">
                <a:solidFill>
                  <a:schemeClr val="bg1"/>
                </a:solidFill>
              </a:rPr>
              <a:t>and evaluate methodological choices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after multiple evaluations on test, it is no longer a simulation of real-world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1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Experimental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the beginning, we just had </a:t>
            </a:r>
            <a:r>
              <a:rPr lang="en-US" dirty="0" smtClean="0">
                <a:solidFill>
                  <a:srgbClr val="288CD2"/>
                </a:solidFill>
              </a:rPr>
              <a:t>data</a:t>
            </a:r>
          </a:p>
          <a:p>
            <a:r>
              <a:rPr lang="en-US" dirty="0" smtClean="0">
                <a:solidFill>
                  <a:srgbClr val="BC0000"/>
                </a:solidFill>
              </a:rPr>
              <a:t>first innovation</a:t>
            </a:r>
            <a:r>
              <a:rPr lang="en-US" dirty="0" smtClean="0"/>
              <a:t>: split into </a:t>
            </a:r>
            <a:r>
              <a:rPr lang="en-US" dirty="0" smtClean="0">
                <a:solidFill>
                  <a:srgbClr val="288CD2"/>
                </a:solidFill>
              </a:rPr>
              <a:t>train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288CD2"/>
                </a:solidFill>
              </a:rPr>
              <a:t>test</a:t>
            </a:r>
          </a:p>
          <a:p>
            <a:pPr lvl="1"/>
            <a:r>
              <a:rPr lang="en-US" dirty="0" smtClean="0"/>
              <a:t>motivation: simulate conditions of applying system in practice</a:t>
            </a:r>
          </a:p>
          <a:p>
            <a:r>
              <a:rPr lang="en-US" dirty="0" smtClean="0"/>
              <a:t>but, there’s a problem with this…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 need to explore </a:t>
            </a:r>
            <a:r>
              <a:rPr lang="en-US" dirty="0" smtClean="0">
                <a:solidFill>
                  <a:schemeClr val="bg1"/>
                </a:solidFill>
              </a:rPr>
              <a:t>and evaluate methodological choices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after multiple evaluations on test, it is no longer a simulation of real-world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Experimental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the beginning, we just had </a:t>
            </a:r>
            <a:r>
              <a:rPr lang="en-US" dirty="0" smtClean="0">
                <a:solidFill>
                  <a:srgbClr val="288CD2"/>
                </a:solidFill>
              </a:rPr>
              <a:t>data</a:t>
            </a:r>
          </a:p>
          <a:p>
            <a:r>
              <a:rPr lang="en-US" dirty="0" smtClean="0">
                <a:solidFill>
                  <a:srgbClr val="BC0000"/>
                </a:solidFill>
              </a:rPr>
              <a:t>first innovation</a:t>
            </a:r>
            <a:r>
              <a:rPr lang="en-US" dirty="0" smtClean="0"/>
              <a:t>: split into </a:t>
            </a:r>
            <a:r>
              <a:rPr lang="en-US" dirty="0" smtClean="0">
                <a:solidFill>
                  <a:srgbClr val="288CD2"/>
                </a:solidFill>
              </a:rPr>
              <a:t>train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288CD2"/>
                </a:solidFill>
              </a:rPr>
              <a:t>test</a:t>
            </a:r>
          </a:p>
          <a:p>
            <a:pPr lvl="1"/>
            <a:r>
              <a:rPr lang="en-US" dirty="0" smtClean="0"/>
              <a:t>motivation: simulate conditions of applying system in practice</a:t>
            </a:r>
          </a:p>
          <a:p>
            <a:r>
              <a:rPr lang="en-US" dirty="0" smtClean="0"/>
              <a:t>but, there’s a problem with this…</a:t>
            </a:r>
          </a:p>
          <a:p>
            <a:pPr lvl="1"/>
            <a:r>
              <a:rPr lang="en-US" dirty="0"/>
              <a:t>we need to </a:t>
            </a:r>
            <a:r>
              <a:rPr lang="en-US" dirty="0" smtClean="0"/>
              <a:t>explore and evaluate methodological choices</a:t>
            </a:r>
            <a:endParaRPr lang="en-US" dirty="0"/>
          </a:p>
          <a:p>
            <a:pPr lvl="1"/>
            <a:r>
              <a:rPr lang="en-US" dirty="0" smtClean="0"/>
              <a:t>after multiple evaluations on </a:t>
            </a:r>
            <a:r>
              <a:rPr lang="en-US" dirty="0" smtClean="0">
                <a:solidFill>
                  <a:srgbClr val="288CD2"/>
                </a:solidFill>
              </a:rPr>
              <a:t>test</a:t>
            </a:r>
            <a:r>
              <a:rPr lang="en-US" dirty="0" smtClean="0"/>
              <a:t>, it is no longer a simulation of real-world conditions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9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Experimental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3740"/>
            <a:ext cx="8520723" cy="472918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we </a:t>
            </a:r>
            <a:r>
              <a:rPr lang="en-US" sz="2800" dirty="0"/>
              <a:t>need to </a:t>
            </a:r>
            <a:r>
              <a:rPr lang="en-US" sz="2800" dirty="0" smtClean="0"/>
              <a:t>explore/evaluate methodological choices</a:t>
            </a:r>
            <a:endParaRPr lang="en-US" sz="2800" dirty="0"/>
          </a:p>
          <a:p>
            <a:r>
              <a:rPr lang="en-US" sz="2800" dirty="0" smtClean="0"/>
              <a:t>what should we do?</a:t>
            </a:r>
          </a:p>
          <a:p>
            <a:pPr lvl="1"/>
            <a:r>
              <a:rPr lang="en-US" sz="2400" dirty="0" smtClean="0"/>
              <a:t>some use cross validation on </a:t>
            </a:r>
            <a:r>
              <a:rPr lang="en-US" sz="2400" dirty="0" smtClean="0">
                <a:solidFill>
                  <a:srgbClr val="288CD2"/>
                </a:solidFill>
              </a:rPr>
              <a:t>train</a:t>
            </a:r>
            <a:r>
              <a:rPr lang="en-US" sz="2400" dirty="0" smtClean="0"/>
              <a:t>, but this is slow and doesn’t quite simulate real-world settings (why?)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second innovation: divide data into train, test, and a third set called development or validation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u</a:t>
            </a:r>
            <a:r>
              <a:rPr lang="en-US" sz="2400" dirty="0" smtClean="0">
                <a:solidFill>
                  <a:schemeClr val="bg1"/>
                </a:solidFill>
              </a:rPr>
              <a:t>se development/validation to evaluate choices</a:t>
            </a:r>
          </a:p>
          <a:p>
            <a:pPr lvl="1"/>
            <a:r>
              <a:rPr lang="en-US" sz="2400" dirty="0" smtClean="0">
                <a:solidFill>
                  <a:schemeClr val="bg1"/>
                </a:solidFill>
              </a:rPr>
              <a:t>then, when ready to write the paper, evaluate the best model on test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are we done yet?  no!  there’s still a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8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Experimental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3740"/>
            <a:ext cx="8520723" cy="5149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we </a:t>
            </a:r>
            <a:r>
              <a:rPr lang="en-US" sz="2800" dirty="0"/>
              <a:t>need to </a:t>
            </a:r>
            <a:r>
              <a:rPr lang="en-US" sz="2800" dirty="0" smtClean="0"/>
              <a:t>explore/evaluate methodological choices</a:t>
            </a:r>
            <a:endParaRPr lang="en-US" sz="2800" dirty="0"/>
          </a:p>
          <a:p>
            <a:r>
              <a:rPr lang="en-US" sz="2800" dirty="0" smtClean="0"/>
              <a:t>what should we do?</a:t>
            </a:r>
          </a:p>
          <a:p>
            <a:pPr lvl="1"/>
            <a:r>
              <a:rPr lang="en-US" sz="2400" dirty="0" smtClean="0"/>
              <a:t>some use cross validation on </a:t>
            </a:r>
            <a:r>
              <a:rPr lang="en-US" sz="2400" dirty="0" smtClean="0">
                <a:solidFill>
                  <a:srgbClr val="288CD2"/>
                </a:solidFill>
              </a:rPr>
              <a:t>train</a:t>
            </a:r>
            <a:r>
              <a:rPr lang="en-US" sz="2400" dirty="0" smtClean="0"/>
              <a:t>, but this is slow and doesn’t quite simulate real-world settings (why?)</a:t>
            </a:r>
          </a:p>
          <a:p>
            <a:r>
              <a:rPr lang="en-US" sz="2800" dirty="0" smtClean="0">
                <a:solidFill>
                  <a:srgbClr val="BC0000"/>
                </a:solidFill>
              </a:rPr>
              <a:t>second innovation</a:t>
            </a:r>
            <a:r>
              <a:rPr lang="en-US" sz="2800" dirty="0" smtClean="0"/>
              <a:t>: divide data into </a:t>
            </a:r>
            <a:r>
              <a:rPr lang="en-US" sz="2800" dirty="0" smtClean="0">
                <a:solidFill>
                  <a:srgbClr val="288CD2"/>
                </a:solidFill>
              </a:rPr>
              <a:t>train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288CD2"/>
                </a:solidFill>
              </a:rPr>
              <a:t>test</a:t>
            </a:r>
            <a:r>
              <a:rPr lang="en-US" sz="2800" dirty="0" smtClean="0"/>
              <a:t>, and a third set called development</a:t>
            </a:r>
            <a:r>
              <a:rPr lang="en-US" sz="2800" dirty="0" smtClean="0">
                <a:solidFill>
                  <a:srgbClr val="288CD2"/>
                </a:solidFill>
              </a:rPr>
              <a:t> </a:t>
            </a:r>
            <a:r>
              <a:rPr lang="en-US" sz="2800" dirty="0" smtClean="0"/>
              <a:t>(</a:t>
            </a:r>
            <a:r>
              <a:rPr lang="en-US" sz="2800" dirty="0" err="1" smtClean="0">
                <a:solidFill>
                  <a:srgbClr val="288CD2"/>
                </a:solidFill>
              </a:rPr>
              <a:t>dev</a:t>
            </a:r>
            <a:r>
              <a:rPr lang="en-US" sz="2800" dirty="0" smtClean="0"/>
              <a:t>) or </a:t>
            </a:r>
            <a:r>
              <a:rPr lang="en-US" sz="2800" dirty="0" smtClean="0">
                <a:solidFill>
                  <a:srgbClr val="000000"/>
                </a:solidFill>
              </a:rPr>
              <a:t>validation (</a:t>
            </a:r>
            <a:r>
              <a:rPr lang="en-US" sz="2800" dirty="0" err="1" smtClean="0">
                <a:solidFill>
                  <a:srgbClr val="288CD2"/>
                </a:solidFill>
              </a:rPr>
              <a:t>val</a:t>
            </a:r>
            <a:r>
              <a:rPr lang="en-US" sz="2800" dirty="0"/>
              <a:t>)</a:t>
            </a:r>
            <a:endParaRPr lang="en-US" sz="2800" dirty="0" smtClean="0"/>
          </a:p>
          <a:p>
            <a:pPr lvl="1"/>
            <a:r>
              <a:rPr lang="en-US" sz="2400" dirty="0"/>
              <a:t>u</a:t>
            </a:r>
            <a:r>
              <a:rPr lang="en-US" sz="2400" dirty="0" smtClean="0"/>
              <a:t>se </a:t>
            </a:r>
            <a:r>
              <a:rPr lang="en-US" sz="2400" dirty="0" err="1" smtClean="0">
                <a:solidFill>
                  <a:srgbClr val="288CD2"/>
                </a:solidFill>
              </a:rPr>
              <a:t>dev</a:t>
            </a:r>
            <a:r>
              <a:rPr lang="en-US" sz="2400" dirty="0" smtClean="0"/>
              <a:t>/</a:t>
            </a:r>
            <a:r>
              <a:rPr lang="en-US" sz="2400" dirty="0" err="1" smtClean="0">
                <a:solidFill>
                  <a:srgbClr val="288CD2"/>
                </a:solidFill>
              </a:rPr>
              <a:t>val</a:t>
            </a:r>
            <a:r>
              <a:rPr lang="en-US" sz="2400" dirty="0" smtClean="0">
                <a:solidFill>
                  <a:srgbClr val="288CD2"/>
                </a:solidFill>
              </a:rPr>
              <a:t> </a:t>
            </a:r>
            <a:r>
              <a:rPr lang="en-US" sz="2400" dirty="0" smtClean="0"/>
              <a:t>to evaluate choices</a:t>
            </a:r>
          </a:p>
          <a:p>
            <a:pPr lvl="1"/>
            <a:r>
              <a:rPr lang="en-US" sz="2400" dirty="0" smtClean="0"/>
              <a:t>then, when ready to write the paper, evaluate the best model on </a:t>
            </a:r>
            <a:r>
              <a:rPr lang="en-US" sz="2400" dirty="0" smtClean="0">
                <a:solidFill>
                  <a:srgbClr val="288CD2"/>
                </a:solidFill>
              </a:rPr>
              <a:t>test</a:t>
            </a:r>
            <a:endParaRPr lang="en-US" sz="2400" dirty="0" smtClean="0"/>
          </a:p>
          <a:p>
            <a:r>
              <a:rPr lang="en-US" sz="2800" dirty="0" smtClean="0">
                <a:solidFill>
                  <a:srgbClr val="FFFFFF"/>
                </a:solidFill>
              </a:rPr>
              <a:t>are we done yet?  no!  there’s still a problem:</a:t>
            </a:r>
          </a:p>
          <a:p>
            <a:pPr lvl="1"/>
            <a:r>
              <a:rPr lang="en-US" sz="2400" dirty="0" err="1" smtClean="0">
                <a:solidFill>
                  <a:schemeClr val="bg1"/>
                </a:solidFill>
              </a:rPr>
              <a:t>overfitting</a:t>
            </a:r>
            <a:r>
              <a:rPr lang="en-US" sz="2400" dirty="0" smtClean="0">
                <a:solidFill>
                  <a:schemeClr val="bg1"/>
                </a:solidFill>
              </a:rPr>
              <a:t> to </a:t>
            </a:r>
            <a:r>
              <a:rPr lang="en-US" sz="2400" dirty="0" err="1" smtClean="0">
                <a:solidFill>
                  <a:schemeClr val="bg1"/>
                </a:solidFill>
              </a:rPr>
              <a:t>dev</a:t>
            </a:r>
            <a:r>
              <a:rPr lang="en-US" sz="2400" dirty="0" smtClean="0">
                <a:solidFill>
                  <a:schemeClr val="bg1"/>
                </a:solidFill>
              </a:rPr>
              <a:t>/</a:t>
            </a:r>
            <a:r>
              <a:rPr lang="en-US" sz="2400" dirty="0" err="1" smtClean="0">
                <a:solidFill>
                  <a:schemeClr val="bg1"/>
                </a:solidFill>
              </a:rPr>
              <a:t>val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1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Experimental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3740"/>
            <a:ext cx="8520723" cy="5149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we </a:t>
            </a:r>
            <a:r>
              <a:rPr lang="en-US" sz="2800" dirty="0"/>
              <a:t>need to </a:t>
            </a:r>
            <a:r>
              <a:rPr lang="en-US" sz="2800" dirty="0" smtClean="0"/>
              <a:t>explore/evaluate methodological choices</a:t>
            </a:r>
            <a:endParaRPr lang="en-US" sz="2800" dirty="0"/>
          </a:p>
          <a:p>
            <a:r>
              <a:rPr lang="en-US" sz="2800" dirty="0" smtClean="0"/>
              <a:t>what should we do?</a:t>
            </a:r>
          </a:p>
          <a:p>
            <a:pPr lvl="1"/>
            <a:r>
              <a:rPr lang="en-US" sz="2400" dirty="0" smtClean="0"/>
              <a:t>some use cross validation on </a:t>
            </a:r>
            <a:r>
              <a:rPr lang="en-US" sz="2400" dirty="0" smtClean="0">
                <a:solidFill>
                  <a:srgbClr val="288CD2"/>
                </a:solidFill>
              </a:rPr>
              <a:t>train</a:t>
            </a:r>
            <a:r>
              <a:rPr lang="en-US" sz="2400" dirty="0" smtClean="0"/>
              <a:t>, but this is slow and doesn’t quite simulate real-world settings (why?)</a:t>
            </a:r>
          </a:p>
          <a:p>
            <a:r>
              <a:rPr lang="en-US" sz="2800" dirty="0" smtClean="0">
                <a:solidFill>
                  <a:srgbClr val="BC0000"/>
                </a:solidFill>
              </a:rPr>
              <a:t>second innovation</a:t>
            </a:r>
            <a:r>
              <a:rPr lang="en-US" sz="2800" dirty="0" smtClean="0"/>
              <a:t>: divide data into </a:t>
            </a:r>
            <a:r>
              <a:rPr lang="en-US" sz="2800" dirty="0" smtClean="0">
                <a:solidFill>
                  <a:srgbClr val="288CD2"/>
                </a:solidFill>
              </a:rPr>
              <a:t>train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288CD2"/>
                </a:solidFill>
              </a:rPr>
              <a:t>test</a:t>
            </a:r>
            <a:r>
              <a:rPr lang="en-US" sz="2800" dirty="0" smtClean="0"/>
              <a:t>, and a third set called development</a:t>
            </a:r>
            <a:r>
              <a:rPr lang="en-US" sz="2800" dirty="0" smtClean="0">
                <a:solidFill>
                  <a:srgbClr val="288CD2"/>
                </a:solidFill>
              </a:rPr>
              <a:t> </a:t>
            </a:r>
            <a:r>
              <a:rPr lang="en-US" sz="2800" dirty="0" smtClean="0"/>
              <a:t>(</a:t>
            </a:r>
            <a:r>
              <a:rPr lang="en-US" sz="2800" dirty="0" err="1" smtClean="0">
                <a:solidFill>
                  <a:srgbClr val="288CD2"/>
                </a:solidFill>
              </a:rPr>
              <a:t>dev</a:t>
            </a:r>
            <a:r>
              <a:rPr lang="en-US" sz="2800" dirty="0" smtClean="0"/>
              <a:t>) or </a:t>
            </a:r>
            <a:r>
              <a:rPr lang="en-US" sz="2800" dirty="0" smtClean="0">
                <a:solidFill>
                  <a:srgbClr val="000000"/>
                </a:solidFill>
              </a:rPr>
              <a:t>validation (</a:t>
            </a:r>
            <a:r>
              <a:rPr lang="en-US" sz="2800" dirty="0" err="1" smtClean="0">
                <a:solidFill>
                  <a:srgbClr val="288CD2"/>
                </a:solidFill>
              </a:rPr>
              <a:t>val</a:t>
            </a:r>
            <a:r>
              <a:rPr lang="en-US" sz="2800" dirty="0"/>
              <a:t>)</a:t>
            </a:r>
            <a:endParaRPr lang="en-US" sz="2800" dirty="0" smtClean="0"/>
          </a:p>
          <a:p>
            <a:pPr lvl="1"/>
            <a:r>
              <a:rPr lang="en-US" sz="2400" dirty="0"/>
              <a:t>u</a:t>
            </a:r>
            <a:r>
              <a:rPr lang="en-US" sz="2400" dirty="0" smtClean="0"/>
              <a:t>se </a:t>
            </a:r>
            <a:r>
              <a:rPr lang="en-US" sz="2400" dirty="0" err="1" smtClean="0">
                <a:solidFill>
                  <a:srgbClr val="288CD2"/>
                </a:solidFill>
              </a:rPr>
              <a:t>dev</a:t>
            </a:r>
            <a:r>
              <a:rPr lang="en-US" sz="2400" dirty="0" smtClean="0"/>
              <a:t>/</a:t>
            </a:r>
            <a:r>
              <a:rPr lang="en-US" sz="2400" dirty="0" err="1" smtClean="0">
                <a:solidFill>
                  <a:srgbClr val="288CD2"/>
                </a:solidFill>
              </a:rPr>
              <a:t>val</a:t>
            </a:r>
            <a:r>
              <a:rPr lang="en-US" sz="2400" dirty="0" smtClean="0">
                <a:solidFill>
                  <a:srgbClr val="288CD2"/>
                </a:solidFill>
              </a:rPr>
              <a:t> </a:t>
            </a:r>
            <a:r>
              <a:rPr lang="en-US" sz="2400" dirty="0" smtClean="0"/>
              <a:t>to evaluate choices</a:t>
            </a:r>
          </a:p>
          <a:p>
            <a:pPr lvl="1"/>
            <a:r>
              <a:rPr lang="en-US" sz="2400" dirty="0" smtClean="0"/>
              <a:t>then, when ready to write the paper, evaluate the best model on </a:t>
            </a:r>
            <a:r>
              <a:rPr lang="en-US" sz="2400" dirty="0" smtClean="0">
                <a:solidFill>
                  <a:srgbClr val="288CD2"/>
                </a:solidFill>
              </a:rPr>
              <a:t>test</a:t>
            </a:r>
            <a:endParaRPr lang="en-US" sz="2400" dirty="0" smtClean="0"/>
          </a:p>
          <a:p>
            <a:r>
              <a:rPr lang="en-US" sz="2800" dirty="0" smtClean="0"/>
              <a:t>are we done yet?  no!  there’s still a problem:</a:t>
            </a:r>
          </a:p>
          <a:p>
            <a:pPr lvl="1"/>
            <a:r>
              <a:rPr lang="en-US" sz="2400" dirty="0" err="1" smtClean="0">
                <a:solidFill>
                  <a:schemeClr val="bg1"/>
                </a:solidFill>
              </a:rPr>
              <a:t>overfitting</a:t>
            </a:r>
            <a:r>
              <a:rPr lang="en-US" sz="2400" dirty="0" smtClean="0">
                <a:solidFill>
                  <a:schemeClr val="bg1"/>
                </a:solidFill>
              </a:rPr>
              <a:t> to </a:t>
            </a:r>
            <a:r>
              <a:rPr lang="en-US" sz="2400" dirty="0" err="1" smtClean="0">
                <a:solidFill>
                  <a:schemeClr val="bg1"/>
                </a:solidFill>
              </a:rPr>
              <a:t>dev</a:t>
            </a:r>
            <a:r>
              <a:rPr lang="en-US" sz="2400" dirty="0" smtClean="0">
                <a:solidFill>
                  <a:schemeClr val="bg1"/>
                </a:solidFill>
              </a:rPr>
              <a:t>/</a:t>
            </a:r>
            <a:r>
              <a:rPr lang="en-US" sz="2400" dirty="0" err="1" smtClean="0">
                <a:solidFill>
                  <a:schemeClr val="bg1"/>
                </a:solidFill>
              </a:rPr>
              <a:t>val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9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Experimental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73740"/>
            <a:ext cx="8520723" cy="51492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we </a:t>
            </a:r>
            <a:r>
              <a:rPr lang="en-US" sz="2800" dirty="0"/>
              <a:t>need to </a:t>
            </a:r>
            <a:r>
              <a:rPr lang="en-US" sz="2800" dirty="0" smtClean="0"/>
              <a:t>explore/evaluate methodological choices</a:t>
            </a:r>
            <a:endParaRPr lang="en-US" sz="2800" dirty="0"/>
          </a:p>
          <a:p>
            <a:r>
              <a:rPr lang="en-US" sz="2800" dirty="0" smtClean="0"/>
              <a:t>what should we do?</a:t>
            </a:r>
          </a:p>
          <a:p>
            <a:pPr lvl="1"/>
            <a:r>
              <a:rPr lang="en-US" sz="2400" dirty="0" smtClean="0"/>
              <a:t>some use cross validation on </a:t>
            </a:r>
            <a:r>
              <a:rPr lang="en-US" sz="2400" dirty="0" smtClean="0">
                <a:solidFill>
                  <a:srgbClr val="288CD2"/>
                </a:solidFill>
              </a:rPr>
              <a:t>train</a:t>
            </a:r>
            <a:r>
              <a:rPr lang="en-US" sz="2400" dirty="0" smtClean="0"/>
              <a:t>, but this is slow and doesn’t quite simulate real-world settings (why?)</a:t>
            </a:r>
          </a:p>
          <a:p>
            <a:r>
              <a:rPr lang="en-US" sz="2800" dirty="0" smtClean="0">
                <a:solidFill>
                  <a:srgbClr val="BC0000"/>
                </a:solidFill>
              </a:rPr>
              <a:t>second innovation</a:t>
            </a:r>
            <a:r>
              <a:rPr lang="en-US" sz="2800" dirty="0" smtClean="0"/>
              <a:t>: divide data into </a:t>
            </a:r>
            <a:r>
              <a:rPr lang="en-US" sz="2800" dirty="0" smtClean="0">
                <a:solidFill>
                  <a:srgbClr val="288CD2"/>
                </a:solidFill>
              </a:rPr>
              <a:t>train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rgbClr val="288CD2"/>
                </a:solidFill>
              </a:rPr>
              <a:t>test</a:t>
            </a:r>
            <a:r>
              <a:rPr lang="en-US" sz="2800" dirty="0" smtClean="0"/>
              <a:t>, and a third set called development</a:t>
            </a:r>
            <a:r>
              <a:rPr lang="en-US" sz="2800" dirty="0" smtClean="0">
                <a:solidFill>
                  <a:srgbClr val="288CD2"/>
                </a:solidFill>
              </a:rPr>
              <a:t> </a:t>
            </a:r>
            <a:r>
              <a:rPr lang="en-US" sz="2800" dirty="0" smtClean="0"/>
              <a:t>(</a:t>
            </a:r>
            <a:r>
              <a:rPr lang="en-US" sz="2800" dirty="0" err="1" smtClean="0">
                <a:solidFill>
                  <a:srgbClr val="288CD2"/>
                </a:solidFill>
              </a:rPr>
              <a:t>dev</a:t>
            </a:r>
            <a:r>
              <a:rPr lang="en-US" sz="2800" dirty="0" smtClean="0"/>
              <a:t>) or </a:t>
            </a:r>
            <a:r>
              <a:rPr lang="en-US" sz="2800" dirty="0" smtClean="0">
                <a:solidFill>
                  <a:srgbClr val="000000"/>
                </a:solidFill>
              </a:rPr>
              <a:t>validation (</a:t>
            </a:r>
            <a:r>
              <a:rPr lang="en-US" sz="2800" dirty="0" err="1" smtClean="0">
                <a:solidFill>
                  <a:srgbClr val="288CD2"/>
                </a:solidFill>
              </a:rPr>
              <a:t>val</a:t>
            </a:r>
            <a:r>
              <a:rPr lang="en-US" sz="2800" dirty="0"/>
              <a:t>)</a:t>
            </a:r>
            <a:endParaRPr lang="en-US" sz="2800" dirty="0" smtClean="0"/>
          </a:p>
          <a:p>
            <a:pPr lvl="1"/>
            <a:r>
              <a:rPr lang="en-US" sz="2400" dirty="0"/>
              <a:t>u</a:t>
            </a:r>
            <a:r>
              <a:rPr lang="en-US" sz="2400" dirty="0" smtClean="0"/>
              <a:t>se </a:t>
            </a:r>
            <a:r>
              <a:rPr lang="en-US" sz="2400" dirty="0" err="1" smtClean="0">
                <a:solidFill>
                  <a:srgbClr val="288CD2"/>
                </a:solidFill>
              </a:rPr>
              <a:t>dev</a:t>
            </a:r>
            <a:r>
              <a:rPr lang="en-US" sz="2400" dirty="0" smtClean="0"/>
              <a:t>/</a:t>
            </a:r>
            <a:r>
              <a:rPr lang="en-US" sz="2400" dirty="0" err="1" smtClean="0">
                <a:solidFill>
                  <a:srgbClr val="288CD2"/>
                </a:solidFill>
              </a:rPr>
              <a:t>val</a:t>
            </a:r>
            <a:r>
              <a:rPr lang="en-US" sz="2400" dirty="0" smtClean="0">
                <a:solidFill>
                  <a:srgbClr val="288CD2"/>
                </a:solidFill>
              </a:rPr>
              <a:t> </a:t>
            </a:r>
            <a:r>
              <a:rPr lang="en-US" sz="2400" dirty="0" smtClean="0"/>
              <a:t>to evaluate choices</a:t>
            </a:r>
          </a:p>
          <a:p>
            <a:pPr lvl="1"/>
            <a:r>
              <a:rPr lang="en-US" sz="2400" dirty="0" smtClean="0"/>
              <a:t>then, when ready to write the paper, evaluate the best model on </a:t>
            </a:r>
            <a:r>
              <a:rPr lang="en-US" sz="2400" dirty="0" smtClean="0">
                <a:solidFill>
                  <a:srgbClr val="288CD2"/>
                </a:solidFill>
              </a:rPr>
              <a:t>test</a:t>
            </a:r>
            <a:endParaRPr lang="en-US" sz="2400" dirty="0" smtClean="0"/>
          </a:p>
          <a:p>
            <a:r>
              <a:rPr lang="en-US" sz="2800" dirty="0" smtClean="0"/>
              <a:t>are we done yet?  no!  there’s still a problem:</a:t>
            </a:r>
          </a:p>
          <a:p>
            <a:pPr lvl="1"/>
            <a:r>
              <a:rPr lang="en-US" sz="2400" dirty="0" err="1" smtClean="0"/>
              <a:t>overfitting</a:t>
            </a:r>
            <a:r>
              <a:rPr lang="en-US" sz="2400" dirty="0" smtClean="0"/>
              <a:t> to </a:t>
            </a:r>
            <a:r>
              <a:rPr lang="en-US" sz="2400" dirty="0" err="1" smtClean="0">
                <a:solidFill>
                  <a:srgbClr val="288CD2"/>
                </a:solidFill>
              </a:rPr>
              <a:t>dev</a:t>
            </a:r>
            <a:r>
              <a:rPr lang="en-US" sz="2400" dirty="0" smtClean="0"/>
              <a:t>/</a:t>
            </a:r>
            <a:r>
              <a:rPr lang="en-US" sz="2400" dirty="0" err="1" smtClean="0">
                <a:solidFill>
                  <a:srgbClr val="288CD2"/>
                </a:solidFill>
              </a:rPr>
              <a:t>val</a:t>
            </a:r>
            <a:endParaRPr lang="en-US" sz="2400" dirty="0" smtClean="0">
              <a:solidFill>
                <a:srgbClr val="288CD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7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Experimental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4504491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rgbClr val="BC0000"/>
                </a:solidFill>
              </a:rPr>
              <a:t>best practice</a:t>
            </a:r>
            <a:r>
              <a:rPr lang="en-US" dirty="0" smtClean="0"/>
              <a:t>: split data into </a:t>
            </a:r>
            <a:r>
              <a:rPr lang="en-US" dirty="0" smtClean="0">
                <a:solidFill>
                  <a:srgbClr val="288CD2"/>
                </a:solidFill>
              </a:rPr>
              <a:t>train</a:t>
            </a:r>
            <a:r>
              <a:rPr lang="en-US" dirty="0" smtClean="0"/>
              <a:t>, development (</a:t>
            </a:r>
            <a:r>
              <a:rPr lang="en-US" dirty="0" err="1" smtClean="0">
                <a:solidFill>
                  <a:srgbClr val="288CD2"/>
                </a:solidFill>
              </a:rPr>
              <a:t>dev</a:t>
            </a:r>
            <a:r>
              <a:rPr lang="en-US" dirty="0" smtClean="0"/>
              <a:t>), development test (</a:t>
            </a:r>
            <a:r>
              <a:rPr lang="en-US" dirty="0" err="1" smtClean="0">
                <a:solidFill>
                  <a:srgbClr val="288CD2"/>
                </a:solidFill>
              </a:rPr>
              <a:t>devtest</a:t>
            </a:r>
            <a:r>
              <a:rPr lang="en-US" dirty="0" smtClean="0"/>
              <a:t>), and </a:t>
            </a:r>
            <a:r>
              <a:rPr lang="en-US" dirty="0" smtClean="0">
                <a:solidFill>
                  <a:srgbClr val="288CD2"/>
                </a:solidFill>
              </a:rPr>
              <a:t>test</a:t>
            </a:r>
          </a:p>
          <a:p>
            <a:pPr lvl="1"/>
            <a:r>
              <a:rPr lang="en-US" dirty="0" smtClean="0"/>
              <a:t>train model on </a:t>
            </a:r>
            <a:r>
              <a:rPr lang="en-US" dirty="0" smtClean="0">
                <a:solidFill>
                  <a:srgbClr val="288CD2"/>
                </a:solidFill>
              </a:rPr>
              <a:t>train</a:t>
            </a:r>
            <a:r>
              <a:rPr lang="en-US" dirty="0" smtClean="0"/>
              <a:t>, tune </a:t>
            </a:r>
            <a:r>
              <a:rPr lang="en-US" dirty="0" err="1" smtClean="0"/>
              <a:t>hyperparameter</a:t>
            </a:r>
            <a:r>
              <a:rPr lang="en-US" dirty="0" smtClean="0"/>
              <a:t> values on </a:t>
            </a:r>
            <a:r>
              <a:rPr lang="en-US" dirty="0" err="1" smtClean="0">
                <a:solidFill>
                  <a:srgbClr val="288CD2"/>
                </a:solidFill>
              </a:rPr>
              <a:t>dev</a:t>
            </a:r>
            <a:r>
              <a:rPr lang="en-US" dirty="0" smtClean="0"/>
              <a:t>, do preliminary testing on </a:t>
            </a:r>
            <a:r>
              <a:rPr lang="en-US" dirty="0" err="1" smtClean="0">
                <a:solidFill>
                  <a:srgbClr val="288CD2"/>
                </a:solidFill>
              </a:rPr>
              <a:t>devtest</a:t>
            </a:r>
            <a:r>
              <a:rPr lang="en-US" dirty="0" smtClean="0"/>
              <a:t>, do final testing on </a:t>
            </a:r>
            <a:r>
              <a:rPr lang="en-US" dirty="0" smtClean="0">
                <a:solidFill>
                  <a:srgbClr val="288CD2"/>
                </a:solidFill>
              </a:rPr>
              <a:t>test </a:t>
            </a:r>
            <a:r>
              <a:rPr lang="en-US" dirty="0" smtClean="0"/>
              <a:t>a single time when writing the paper</a:t>
            </a:r>
          </a:p>
          <a:p>
            <a:pPr lvl="1"/>
            <a:r>
              <a:rPr lang="en-US" dirty="0" smtClean="0"/>
              <a:t>Even better to have even more test sets! </a:t>
            </a:r>
            <a:r>
              <a:rPr lang="en-US" dirty="0" smtClean="0">
                <a:solidFill>
                  <a:srgbClr val="288CD2"/>
                </a:solidFill>
              </a:rPr>
              <a:t>test1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288CD2"/>
                </a:solidFill>
              </a:rPr>
              <a:t>test2</a:t>
            </a:r>
            <a:r>
              <a:rPr lang="en-US" dirty="0" smtClean="0"/>
              <a:t>, etc.</a:t>
            </a:r>
          </a:p>
          <a:p>
            <a:pPr lvl="1"/>
            <a:endParaRPr lang="en-US" dirty="0" smtClean="0"/>
          </a:p>
          <a:p>
            <a:r>
              <a:rPr lang="en-US" dirty="0"/>
              <a:t>e</a:t>
            </a:r>
            <a:r>
              <a:rPr lang="en-US" dirty="0" smtClean="0"/>
              <a:t>xperimental credibility is a huge component of doing useful research</a:t>
            </a:r>
          </a:p>
          <a:p>
            <a:r>
              <a:rPr lang="en-US" dirty="0"/>
              <a:t>w</a:t>
            </a:r>
            <a:r>
              <a:rPr lang="en-US" dirty="0" smtClean="0"/>
              <a:t>hen you publish a result, it had better be replicable without tuning anything on </a:t>
            </a:r>
            <a:r>
              <a:rPr lang="en-US" dirty="0" smtClean="0">
                <a:solidFill>
                  <a:srgbClr val="288CD2"/>
                </a:solidFill>
              </a:rPr>
              <a:t>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8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Don’t Cheat!</a:t>
            </a:r>
            <a:endParaRPr lang="en-US" dirty="0"/>
          </a:p>
        </p:txBody>
      </p:sp>
      <p:pic>
        <p:nvPicPr>
          <p:cNvPr id="5" name="Content Placeholder 4" descr="Screen Shot 2016-01-02 at 2.22.01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" r="2144"/>
          <a:stretch>
            <a:fillRect/>
          </a:stretch>
        </p:blipFill>
        <p:spPr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68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39885</TotalTime>
  <Words>3265</Words>
  <Application>Microsoft Macintosh PowerPoint</Application>
  <PresentationFormat>On-screen Show (4:3)</PresentationFormat>
  <Paragraphs>618</Paragraphs>
  <Slides>85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2" baseType="lpstr">
      <vt:lpstr>Calibri</vt:lpstr>
      <vt:lpstr>Century Schoolbook</vt:lpstr>
      <vt:lpstr>Monotype Corsiva</vt:lpstr>
      <vt:lpstr>Times New Roman</vt:lpstr>
      <vt:lpstr>TIMES-ROMAN</vt:lpstr>
      <vt:lpstr>Arial</vt:lpstr>
      <vt:lpstr>Office Theme</vt:lpstr>
      <vt:lpstr>TTIC 31190: Natural Language Processing</vt:lpstr>
      <vt:lpstr>What is natural language processing?</vt:lpstr>
      <vt:lpstr>What is natural language processing?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Conspicuous by their absence…</vt:lpstr>
      <vt:lpstr>Computational Linguistics vs. Natural Language Processing</vt:lpstr>
      <vt:lpstr>Computational Biology vs. Bioinformatics</vt:lpstr>
      <vt:lpstr>Computational Linguistics vs. Natural Language Processing</vt:lpstr>
      <vt:lpstr>Is NLP Science or Engineering?</vt:lpstr>
      <vt:lpstr>Course Overview</vt:lpstr>
      <vt:lpstr>Prerequisites</vt:lpstr>
      <vt:lpstr>Grading</vt:lpstr>
      <vt:lpstr>Assignments</vt:lpstr>
      <vt:lpstr>Project</vt:lpstr>
      <vt:lpstr>Collaboration Policy</vt:lpstr>
      <vt:lpstr>Textbooks</vt:lpstr>
      <vt:lpstr>Roadmap</vt:lpstr>
      <vt:lpstr>Why is NLP hard?</vt:lpstr>
      <vt:lpstr>Word Sense Ambiguity</vt:lpstr>
      <vt:lpstr>Word Sense Ambiguity</vt:lpstr>
      <vt:lpstr>Word Sense Ambiguity</vt:lpstr>
      <vt:lpstr>Attachment Ambiguity</vt:lpstr>
      <vt:lpstr>Meaning Ambiguity</vt:lpstr>
      <vt:lpstr>PowerPoint Presentation</vt:lpstr>
      <vt:lpstr>What is a classifier?</vt:lpstr>
      <vt:lpstr>What is a classifier?</vt:lpstr>
      <vt:lpstr>What is a classifier?</vt:lpstr>
      <vt:lpstr>What is a classifier?</vt:lpstr>
      <vt:lpstr>Course Philosophy</vt:lpstr>
      <vt:lpstr>Course Philosophy</vt:lpstr>
      <vt:lpstr>Modeling, Inference, Learning</vt:lpstr>
      <vt:lpstr>Modeling, Inference, Learning</vt:lpstr>
      <vt:lpstr>Modeling, Inference, Learning</vt:lpstr>
      <vt:lpstr>Modeling, Inference, Learning</vt:lpstr>
      <vt:lpstr>Modeling, Inference, Learning</vt:lpstr>
      <vt:lpstr>Notation</vt:lpstr>
      <vt:lpstr>Modeling: Linear Models</vt:lpstr>
      <vt:lpstr>Modeling: Linear Models</vt:lpstr>
      <vt:lpstr>Defining Features</vt:lpstr>
      <vt:lpstr>Defining Features</vt:lpstr>
      <vt:lpstr>Feature Engineering</vt:lpstr>
      <vt:lpstr>Feature Engineering for Text Classification</vt:lpstr>
      <vt:lpstr>Feature Engineering for Text Classification</vt:lpstr>
      <vt:lpstr>Feature Engineering for Text Classification</vt:lpstr>
      <vt:lpstr>Feature Engineering for Text Classification</vt:lpstr>
      <vt:lpstr>Feature Engineering for Text Classification</vt:lpstr>
      <vt:lpstr>Feature Engineering for Text Classification</vt:lpstr>
      <vt:lpstr>Feature Engineering for Text Classification</vt:lpstr>
      <vt:lpstr>Feature Engineering for Text Classification</vt:lpstr>
      <vt:lpstr>PowerPoint Presentation</vt:lpstr>
      <vt:lpstr>PowerPoint Presentation</vt:lpstr>
      <vt:lpstr>Feature Engineering for Text Classification</vt:lpstr>
      <vt:lpstr>Feature Engineering for Text Classification</vt:lpstr>
      <vt:lpstr>Text Classification</vt:lpstr>
      <vt:lpstr>Inference for Text Classification</vt:lpstr>
      <vt:lpstr>Inference for Text Classification</vt:lpstr>
      <vt:lpstr>Text Classification</vt:lpstr>
      <vt:lpstr>Learning for Text Classification</vt:lpstr>
      <vt:lpstr>Learning for Text Classification</vt:lpstr>
      <vt:lpstr>Experimental Practice</vt:lpstr>
      <vt:lpstr>Experimental Practice</vt:lpstr>
      <vt:lpstr>Experimental Practice</vt:lpstr>
      <vt:lpstr>Experimental Practice</vt:lpstr>
      <vt:lpstr>Experimental Practice</vt:lpstr>
      <vt:lpstr>Experimental Practice</vt:lpstr>
      <vt:lpstr>Experimental Practice</vt:lpstr>
      <vt:lpstr>Experimental Practice</vt:lpstr>
      <vt:lpstr>Experimental Practice</vt:lpstr>
      <vt:lpstr>Don’t Cheat!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356</cp:revision>
  <dcterms:created xsi:type="dcterms:W3CDTF">2015-08-31T18:15:35Z</dcterms:created>
  <dcterms:modified xsi:type="dcterms:W3CDTF">2016-01-05T17:55:26Z</dcterms:modified>
</cp:coreProperties>
</file>