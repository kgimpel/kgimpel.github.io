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1231" r:id="rId3"/>
    <p:sldId id="1213" r:id="rId4"/>
    <p:sldId id="1216" r:id="rId5"/>
    <p:sldId id="1217" r:id="rId6"/>
    <p:sldId id="1218" r:id="rId7"/>
    <p:sldId id="1219" r:id="rId8"/>
    <p:sldId id="1221" r:id="rId9"/>
    <p:sldId id="1222" r:id="rId10"/>
    <p:sldId id="1223" r:id="rId11"/>
    <p:sldId id="1224" r:id="rId12"/>
    <p:sldId id="1225" r:id="rId13"/>
    <p:sldId id="1209" r:id="rId14"/>
    <p:sldId id="1151" r:id="rId15"/>
    <p:sldId id="1257" r:id="rId16"/>
    <p:sldId id="1258" r:id="rId17"/>
    <p:sldId id="1259" r:id="rId18"/>
    <p:sldId id="1161" r:id="rId19"/>
    <p:sldId id="1189" r:id="rId20"/>
    <p:sldId id="1230" r:id="rId21"/>
    <p:sldId id="1261" r:id="rId22"/>
    <p:sldId id="1232" r:id="rId23"/>
    <p:sldId id="1237" r:id="rId24"/>
    <p:sldId id="1238" r:id="rId25"/>
    <p:sldId id="1236" r:id="rId26"/>
    <p:sldId id="1262" r:id="rId27"/>
    <p:sldId id="1235" r:id="rId28"/>
    <p:sldId id="1239" r:id="rId29"/>
    <p:sldId id="1240" r:id="rId30"/>
    <p:sldId id="1263" r:id="rId31"/>
    <p:sldId id="1264" r:id="rId32"/>
    <p:sldId id="1227" r:id="rId33"/>
    <p:sldId id="1228" r:id="rId34"/>
    <p:sldId id="1229" r:id="rId35"/>
    <p:sldId id="1266" r:id="rId36"/>
    <p:sldId id="1267" r:id="rId37"/>
    <p:sldId id="1269" r:id="rId38"/>
    <p:sldId id="1271" r:id="rId39"/>
    <p:sldId id="1270" r:id="rId40"/>
    <p:sldId id="1268" r:id="rId41"/>
    <p:sldId id="1273" r:id="rId42"/>
    <p:sldId id="1274" r:id="rId43"/>
    <p:sldId id="1210" r:id="rId44"/>
    <p:sldId id="1173" r:id="rId45"/>
    <p:sldId id="1241" r:id="rId46"/>
    <p:sldId id="1275" r:id="rId47"/>
    <p:sldId id="1276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6413" autoAdjust="0"/>
  </p:normalViewPr>
  <p:slideViewPr>
    <p:cSldViewPr snapToGrid="0" snapToObjects="1">
      <p:cViewPr>
        <p:scale>
          <a:sx n="125" d="100"/>
          <a:sy n="125" d="100"/>
        </p:scale>
        <p:origin x="4920" y="1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2/2/16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2/2/16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2/2/16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clweb.org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7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9.emf"/><Relationship Id="rId5" Type="http://schemas.openxmlformats.org/officeDocument/2006/relationships/image" Target="../media/image30.emf"/><Relationship Id="rId6" Type="http://schemas.openxmlformats.org/officeDocument/2006/relationships/image" Target="../media/image31.emf"/><Relationship Id="rId7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3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3" Type="http://schemas.openxmlformats.org/officeDocument/2006/relationships/image" Target="../media/image25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7.emf"/><Relationship Id="rId12" Type="http://schemas.openxmlformats.org/officeDocument/2006/relationships/image" Target="../media/image48.emf"/><Relationship Id="rId13" Type="http://schemas.openxmlformats.org/officeDocument/2006/relationships/image" Target="../media/image49.emf"/><Relationship Id="rId14" Type="http://schemas.openxmlformats.org/officeDocument/2006/relationships/image" Target="../media/image50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emf"/><Relationship Id="rId3" Type="http://schemas.openxmlformats.org/officeDocument/2006/relationships/image" Target="../media/image39.emf"/><Relationship Id="rId4" Type="http://schemas.openxmlformats.org/officeDocument/2006/relationships/image" Target="../media/image40.emf"/><Relationship Id="rId5" Type="http://schemas.openxmlformats.org/officeDocument/2006/relationships/image" Target="../media/image41.emf"/><Relationship Id="rId6" Type="http://schemas.openxmlformats.org/officeDocument/2006/relationships/image" Target="../media/image42.emf"/><Relationship Id="rId7" Type="http://schemas.openxmlformats.org/officeDocument/2006/relationships/image" Target="../media/image43.emf"/><Relationship Id="rId8" Type="http://schemas.openxmlformats.org/officeDocument/2006/relationships/image" Target="../media/image44.emf"/><Relationship Id="rId9" Type="http://schemas.openxmlformats.org/officeDocument/2006/relationships/image" Target="../media/image45.emf"/><Relationship Id="rId10" Type="http://schemas.openxmlformats.org/officeDocument/2006/relationships/image" Target="../media/image4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9: Sequence Models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Thursday, class will be in Room 530 (the room directly behind you)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2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will go over part of Assignment 1 today (grades coming soon)</a:t>
            </a:r>
          </a:p>
          <a:p>
            <a:r>
              <a:rPr lang="en-US" dirty="0" smtClean="0"/>
              <a:t>Assignment 2 was due Wed. Feb. 3, now due Fri., Feb. 5</a:t>
            </a:r>
          </a:p>
          <a:p>
            <a:endParaRPr lang="en-US" dirty="0" smtClean="0"/>
          </a:p>
          <a:p>
            <a:r>
              <a:rPr lang="en-US" dirty="0" smtClean="0"/>
              <a:t>project proposal due Tuesday, Feb. 16</a:t>
            </a:r>
          </a:p>
          <a:p>
            <a:r>
              <a:rPr lang="en-US" dirty="0"/>
              <a:t>m</a:t>
            </a:r>
            <a:r>
              <a:rPr lang="en-US" dirty="0" smtClean="0"/>
              <a:t>idterm on Thursday, Feb. 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1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3889"/>
            <a:ext cx="8229600" cy="73059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quality of scientific journalism: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Screen Shot 2016-01-30 at 3.27.43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9" t="2500" r="5156" b="22814"/>
          <a:stretch/>
        </p:blipFill>
        <p:spPr>
          <a:xfrm>
            <a:off x="731520" y="1593798"/>
            <a:ext cx="7569200" cy="512196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Other Naturally-Occurring Data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108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Other Naturally-Occurring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4049"/>
            <a:ext cx="8229600" cy="73059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memorability of quotations: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Screen Shot 2016-01-30 at 3.32.3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" y="1526266"/>
            <a:ext cx="7457440" cy="531141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819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Other Naturally-Occurring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4049"/>
            <a:ext cx="8229600" cy="73059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sarcasm (remove #sarcasm hash tag from tweets):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 descr="Screen Shot 2016-01-30 at 3.35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1564640"/>
            <a:ext cx="8686800" cy="517481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651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Other Naturally-Occurring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834049"/>
            <a:ext cx="8686800" cy="73059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opening weekend movie revenue prediction from critic reviews: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Screen Shot 2016-01-30 at 3.36.52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/>
          <a:stretch/>
        </p:blipFill>
        <p:spPr>
          <a:xfrm>
            <a:off x="264160" y="1445192"/>
            <a:ext cx="8686800" cy="527628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233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Other Naturally-Occurring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834049"/>
            <a:ext cx="8686800" cy="73059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predicting novel success from text of novels: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Screen Shot 2016-01-30 at 4.47.4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35"/>
          <a:stretch/>
        </p:blipFill>
        <p:spPr>
          <a:xfrm>
            <a:off x="844478" y="1371600"/>
            <a:ext cx="7443301" cy="52324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67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Project Proposal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6758"/>
            <a:ext cx="8514080" cy="53677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due Feb. 16 (in two weeks)</a:t>
            </a:r>
          </a:p>
          <a:p>
            <a:r>
              <a:rPr lang="en-US" dirty="0" smtClean="0"/>
              <a:t>1-2 pages</a:t>
            </a:r>
          </a:p>
          <a:p>
            <a:r>
              <a:rPr lang="en-US" dirty="0" smtClean="0"/>
              <a:t>one per group</a:t>
            </a:r>
          </a:p>
          <a:p>
            <a:r>
              <a:rPr lang="en-US" dirty="0" smtClean="0"/>
              <a:t>include the following:</a:t>
            </a:r>
          </a:p>
          <a:p>
            <a:pPr lvl="1"/>
            <a:r>
              <a:rPr lang="en-US" dirty="0" smtClean="0"/>
              <a:t>members of your group</a:t>
            </a:r>
          </a:p>
          <a:p>
            <a:pPr lvl="1"/>
            <a:r>
              <a:rPr lang="en-US" dirty="0" smtClean="0"/>
              <a:t>describe the task you are going to work on (could be a new task you create or an existing task)</a:t>
            </a:r>
          </a:p>
          <a:p>
            <a:pPr lvl="1"/>
            <a:r>
              <a:rPr lang="en-US" dirty="0" smtClean="0"/>
              <a:t>describe the methods you will use/develop for the task</a:t>
            </a:r>
          </a:p>
          <a:p>
            <a:pPr lvl="1"/>
            <a:r>
              <a:rPr lang="en-US" dirty="0" smtClean="0"/>
              <a:t>give a brief review of related work; i.e., situate your project with respect to the literature (</a:t>
            </a:r>
            <a:r>
              <a:rPr lang="en-US" dirty="0" smtClean="0">
                <a:hlinkClick r:id="rId2"/>
              </a:rPr>
              <a:t>www.aclweb.org</a:t>
            </a:r>
            <a:r>
              <a:rPr lang="en-US" dirty="0" smtClean="0"/>
              <a:t> and Google Scholar are useful for this!)</a:t>
            </a:r>
          </a:p>
          <a:p>
            <a:pPr lvl="1"/>
            <a:r>
              <a:rPr lang="en-US" dirty="0" smtClean="0"/>
              <a:t>a proposed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2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629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Project Proposal (cont’d)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3120"/>
            <a:ext cx="7955280" cy="5293044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your results do not have to beat the state-of-the-art!</a:t>
            </a:r>
          </a:p>
          <a:p>
            <a:r>
              <a:rPr lang="en-US" dirty="0" smtClean="0"/>
              <a:t>but your project does have to be carefully done, so that you can draw conclusions</a:t>
            </a:r>
          </a:p>
          <a:p>
            <a:r>
              <a:rPr lang="en-US" dirty="0" smtClean="0"/>
              <a:t>you are welcome to start by replicating an NLP paper (I can give suggestions if you need some)</a:t>
            </a:r>
          </a:p>
          <a:p>
            <a:endParaRPr lang="en-US" dirty="0"/>
          </a:p>
          <a:p>
            <a:r>
              <a:rPr lang="en-US" dirty="0" smtClean="0"/>
              <a:t>during the week of Feb. 22, please schedule a meeting with me to discuss your project </a:t>
            </a:r>
          </a:p>
          <a:p>
            <a:pPr lvl="1"/>
            <a:r>
              <a:rPr lang="en-US" dirty="0" smtClean="0"/>
              <a:t>details to follow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5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Presentations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final two class meetings (March 3</a:t>
            </a:r>
            <a:r>
              <a:rPr lang="en-US" baseline="30000" dirty="0" smtClean="0"/>
              <a:t>rd</a:t>
            </a:r>
            <a:r>
              <a:rPr lang="en-US" dirty="0" smtClean="0"/>
              <a:t> and March 8</a:t>
            </a:r>
            <a:r>
              <a:rPr lang="en-US" baseline="30000" dirty="0" smtClean="0"/>
              <a:t>th</a:t>
            </a:r>
            <a:r>
              <a:rPr lang="en-US" dirty="0" smtClean="0"/>
              <a:t>) will be mostly used for in-class presentations</a:t>
            </a:r>
          </a:p>
          <a:p>
            <a:r>
              <a:rPr lang="en-US" dirty="0" smtClean="0"/>
              <a:t>one presentation per group</a:t>
            </a:r>
          </a:p>
          <a:p>
            <a:r>
              <a:rPr lang="en-US" dirty="0" smtClean="0"/>
              <a:t>10-15 minutes per presentation (will be determined once I know how many groups there are)</a:t>
            </a:r>
          </a:p>
          <a:p>
            <a:r>
              <a:rPr lang="en-US" dirty="0" smtClean="0"/>
              <a:t>you will each take notes and email me questions/feedback for the presenter, which I will </a:t>
            </a:r>
            <a:r>
              <a:rPr lang="en-US" dirty="0" err="1" smtClean="0"/>
              <a:t>anonymize</a:t>
            </a:r>
            <a:r>
              <a:rPr lang="en-US" dirty="0" smtClean="0"/>
              <a:t> and send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3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 report due Thursday, March 17 (original date of the final exam)</a:t>
            </a:r>
          </a:p>
          <a:p>
            <a:r>
              <a:rPr lang="en-US" dirty="0" smtClean="0"/>
              <a:t>so the presentation will be more like an “interim progress report”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1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sequence labeling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1614270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943018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854400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Simplest kind of structured prediction: Sequence Labeling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82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25855"/>
            <a:ext cx="85033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        O                    O              O     B-PERSON   I-PERSON      O          O           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questioned   if         Tim          Cook 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              O         O                 O                 O        O     B-ORGANIZATION      O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hit    for            Apple              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1564254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55374" y="4789138"/>
            <a:ext cx="190884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 smtClean="0">
                <a:solidFill>
                  <a:srgbClr val="C50C0C"/>
                </a:solidFill>
                <a:latin typeface="Calibri"/>
                <a:cs typeface="Calibri"/>
              </a:rPr>
              <a:t>B = “begin”</a:t>
            </a:r>
          </a:p>
          <a:p>
            <a:pPr eaLnBrk="1" hangingPunct="1"/>
            <a:r>
              <a:rPr lang="en-US" sz="2400" b="1" dirty="0" smtClean="0">
                <a:solidFill>
                  <a:srgbClr val="C50C0C"/>
                </a:solidFill>
                <a:latin typeface="Calibri"/>
                <a:cs typeface="Calibri"/>
              </a:rPr>
              <a:t> I = “inside”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O = “outside”</a:t>
            </a:r>
          </a:p>
          <a:p>
            <a:pPr eaLnBrk="1" hangingPunct="1"/>
            <a:endParaRPr lang="en-US" sz="2400" b="1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1210362"/>
          </a:xfrm>
        </p:spPr>
        <p:txBody>
          <a:bodyPr>
            <a:noAutofit/>
          </a:bodyPr>
          <a:lstStyle/>
          <a:p>
            <a:r>
              <a:rPr lang="en-US" sz="2800" dirty="0" smtClean="0"/>
              <a:t>Formulating segmentation tasks as sequence labeling via B-I-O labeling: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0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many downloadable part-of-speech taggers and named entity recognizers:</a:t>
            </a:r>
          </a:p>
          <a:p>
            <a:pPr lvl="1"/>
            <a:r>
              <a:rPr lang="en-US" dirty="0" smtClean="0"/>
              <a:t>Stanford POS tagger, NER labeler</a:t>
            </a:r>
          </a:p>
          <a:p>
            <a:pPr lvl="1"/>
            <a:r>
              <a:rPr lang="en-US" dirty="0" err="1" smtClean="0"/>
              <a:t>TurboTagger</a:t>
            </a:r>
            <a:r>
              <a:rPr lang="en-US" dirty="0" smtClean="0"/>
              <a:t>, </a:t>
            </a:r>
            <a:r>
              <a:rPr lang="en-US" dirty="0" err="1" smtClean="0"/>
              <a:t>TurboEntityRecognizer</a:t>
            </a:r>
            <a:endParaRPr lang="en-US" dirty="0" smtClean="0"/>
          </a:p>
          <a:p>
            <a:pPr lvl="1"/>
            <a:r>
              <a:rPr lang="en-US" dirty="0" smtClean="0"/>
              <a:t>Illinois Entity Tagger</a:t>
            </a:r>
          </a:p>
          <a:p>
            <a:pPr lvl="1"/>
            <a:r>
              <a:rPr lang="en-US" dirty="0" smtClean="0"/>
              <a:t>CMU Twitter POS tagger</a:t>
            </a:r>
          </a:p>
          <a:p>
            <a:pPr lvl="1"/>
            <a:r>
              <a:rPr lang="en-US" dirty="0" smtClean="0"/>
              <a:t>Alan Ritter’s Twitter POS/NER labeler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6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Screen Shot 2016-02-01 at 11.08.0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0"/>
            <a:ext cx="902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4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Hidden Markov Model</a:t>
            </a:r>
            <a:r>
              <a:rPr lang="en-US" sz="3200" dirty="0"/>
              <a:t>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>
            <a:stCxn id="7" idx="6"/>
            <a:endCxn id="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8" idx="6"/>
            <a:endCxn id="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0" name="Straight Arrow Connector 19"/>
          <p:cNvCxnSpPr>
            <a:stCxn id="18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9" idx="6"/>
            <a:endCxn id="18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21673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1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75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2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29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3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83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4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673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1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289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2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20202" y="23026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3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4528" y="231403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4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240" y="4407056"/>
            <a:ext cx="7630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66" y="5357340"/>
            <a:ext cx="1536700" cy="3810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775" y="3107603"/>
            <a:ext cx="5849165" cy="11070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066" y="4708665"/>
            <a:ext cx="18923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2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HMMs for Word Clustering</a:t>
            </a:r>
            <a:br>
              <a:rPr lang="en-US" sz="3200" dirty="0" smtClean="0"/>
            </a:br>
            <a:r>
              <a:rPr lang="en-US" sz="2400" dirty="0" smtClean="0"/>
              <a:t>(Brown et al., 1992)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3280519"/>
            <a:ext cx="7630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Wingdings"/>
              </a:rPr>
              <a:t>each                  is a cluster ID</a:t>
            </a:r>
          </a:p>
          <a:p>
            <a:r>
              <a:rPr lang="en-US" sz="2800" dirty="0" smtClean="0">
                <a:sym typeface="Wingdings"/>
              </a:rPr>
              <a:t>so, label space is</a:t>
            </a:r>
          </a:p>
        </p:txBody>
      </p:sp>
      <p:sp>
        <p:nvSpPr>
          <p:cNvPr id="37" name="Oval 36"/>
          <p:cNvSpPr/>
          <p:nvPr/>
        </p:nvSpPr>
        <p:spPr>
          <a:xfrm>
            <a:off x="214053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5744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8698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0" name="Straight Arrow Connector 39"/>
          <p:cNvCxnSpPr>
            <a:stCxn id="37" idx="6"/>
            <a:endCxn id="38" idx="2"/>
          </p:cNvCxnSpPr>
          <p:nvPr/>
        </p:nvCxnSpPr>
        <p:spPr bwMode="auto">
          <a:xfrm>
            <a:off x="2826334" y="1607177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38" idx="6"/>
            <a:endCxn id="39" idx="2"/>
          </p:cNvCxnSpPr>
          <p:nvPr/>
        </p:nvCxnSpPr>
        <p:spPr bwMode="auto">
          <a:xfrm>
            <a:off x="42602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41"/>
          <p:cNvSpPr/>
          <p:nvPr/>
        </p:nvSpPr>
        <p:spPr>
          <a:xfrm>
            <a:off x="2043542" y="2358797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429001" y="2358797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825999" y="2358797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5" name="Straight Arrow Connector 44"/>
          <p:cNvCxnSpPr>
            <a:stCxn id="37" idx="4"/>
            <a:endCxn id="42" idx="0"/>
          </p:cNvCxnSpPr>
          <p:nvPr/>
        </p:nvCxnSpPr>
        <p:spPr bwMode="auto">
          <a:xfrm>
            <a:off x="2483434" y="1950077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stCxn id="38" idx="4"/>
            <a:endCxn id="43" idx="0"/>
          </p:cNvCxnSpPr>
          <p:nvPr/>
        </p:nvCxnSpPr>
        <p:spPr bwMode="auto">
          <a:xfrm>
            <a:off x="3917374" y="1950077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stCxn id="39" idx="4"/>
            <a:endCxn id="44" idx="0"/>
          </p:cNvCxnSpPr>
          <p:nvPr/>
        </p:nvCxnSpPr>
        <p:spPr bwMode="auto">
          <a:xfrm>
            <a:off x="5212774" y="1950077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/>
          <p:cNvSpPr/>
          <p:nvPr/>
        </p:nvSpPr>
        <p:spPr>
          <a:xfrm>
            <a:off x="61652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888183" y="2358797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0" name="Straight Arrow Connector 49"/>
          <p:cNvCxnSpPr>
            <a:stCxn id="48" idx="4"/>
            <a:endCxn id="49" idx="0"/>
          </p:cNvCxnSpPr>
          <p:nvPr/>
        </p:nvCxnSpPr>
        <p:spPr bwMode="auto">
          <a:xfrm>
            <a:off x="6508174" y="1950077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Arrow Connector 50"/>
          <p:cNvCxnSpPr>
            <a:stCxn id="39" idx="6"/>
            <a:endCxn id="48" idx="2"/>
          </p:cNvCxnSpPr>
          <p:nvPr/>
        </p:nvCxnSpPr>
        <p:spPr bwMode="auto">
          <a:xfrm>
            <a:off x="55556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2117447" y="2445908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1673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275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9229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183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84" y="3398734"/>
            <a:ext cx="11049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514" y="3800054"/>
            <a:ext cx="3086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HMMs for Part-of-Speech Tagging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2813159"/>
            <a:ext cx="7630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Wingdings"/>
              </a:rPr>
              <a:t>each                  is a part-of-speech tag</a:t>
            </a:r>
          </a:p>
          <a:p>
            <a:r>
              <a:rPr lang="en-US" sz="2800" dirty="0" smtClean="0">
                <a:sym typeface="Wingdings"/>
              </a:rPr>
              <a:t>so, label space is</a:t>
            </a:r>
          </a:p>
          <a:p>
            <a:endParaRPr lang="en-US" sz="2800" dirty="0">
              <a:sym typeface="Wingdings"/>
            </a:endParaRPr>
          </a:p>
          <a:p>
            <a:r>
              <a:rPr lang="en-US" sz="2800" dirty="0" smtClean="0">
                <a:sym typeface="Wingdings"/>
              </a:rPr>
              <a:t>what parameters need to be learned?</a:t>
            </a:r>
            <a:endParaRPr lang="en-US" sz="2800" dirty="0">
              <a:sym typeface="Wingding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84" y="2931374"/>
            <a:ext cx="1104900" cy="381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3357299"/>
            <a:ext cx="3086100" cy="368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6640" y="4511461"/>
            <a:ext cx="7630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66" y="5461745"/>
            <a:ext cx="1536700" cy="381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466" y="4813070"/>
            <a:ext cx="1892300" cy="36830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214053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5744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8698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>
            <a:off x="2826334" y="1220814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4260274" y="1220814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Oval 56"/>
          <p:cNvSpPr/>
          <p:nvPr/>
        </p:nvSpPr>
        <p:spPr>
          <a:xfrm>
            <a:off x="2043542" y="1972434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3429001" y="1972434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825999" y="1972434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/>
          <p:cNvCxnSpPr/>
          <p:nvPr/>
        </p:nvCxnSpPr>
        <p:spPr bwMode="auto">
          <a:xfrm>
            <a:off x="2483434" y="1563714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/>
          <p:cNvCxnSpPr/>
          <p:nvPr/>
        </p:nvCxnSpPr>
        <p:spPr bwMode="auto">
          <a:xfrm>
            <a:off x="3917374" y="1563714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/>
          <p:cNvCxnSpPr/>
          <p:nvPr/>
        </p:nvCxnSpPr>
        <p:spPr bwMode="auto">
          <a:xfrm>
            <a:off x="5212774" y="1563714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Oval 62"/>
          <p:cNvSpPr/>
          <p:nvPr/>
        </p:nvSpPr>
        <p:spPr>
          <a:xfrm>
            <a:off x="61652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8183" y="1972434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/>
          <p:nvPr/>
        </p:nvCxnSpPr>
        <p:spPr bwMode="auto">
          <a:xfrm>
            <a:off x="6508174" y="1563714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>
            <a:off x="5555674" y="1220814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Box 66"/>
          <p:cNvSpPr txBox="1"/>
          <p:nvPr/>
        </p:nvSpPr>
        <p:spPr>
          <a:xfrm>
            <a:off x="2117447" y="2100185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 for            president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94342" y="877914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 smtClean="0">
                <a:cs typeface="BKM-cmcsc10"/>
              </a:rPr>
              <a:t>proper noun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29672" y="872282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 smtClean="0">
                <a:cs typeface="BKM-cmcsc10"/>
              </a:rPr>
              <a:t>proper noun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3682" y="872282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smtClean="0">
                <a:cs typeface="BKM-cmcsc10"/>
              </a:rPr>
              <a:t>prepo-sition</a:t>
            </a:r>
            <a:endParaRPr lang="en-US" sz="2400" i="0" baseline="-25000" dirty="0" smtClean="0">
              <a:cs typeface="BKM-cmcsc1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130168" y="960733"/>
            <a:ext cx="782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smtClean="0">
                <a:cs typeface="BKM-cmcsc10"/>
              </a:rPr>
              <a:t>noun</a:t>
            </a:r>
            <a:endParaRPr lang="en-US" sz="2400" i="0" baseline="-25000" dirty="0" smtClean="0">
              <a:cs typeface="BKM-cmcsc10"/>
            </a:endParaRPr>
          </a:p>
        </p:txBody>
      </p:sp>
    </p:spTree>
    <p:extLst>
      <p:ext uri="{BB962C8B-B14F-4D97-AF65-F5344CB8AC3E}">
        <p14:creationId xmlns:p14="http://schemas.microsoft.com/office/powerpoint/2010/main" val="108844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How should we learn the HMM parameters?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2640" y="1422267"/>
            <a:ext cx="7630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endParaRPr lang="en-US" sz="2000" b="1" dirty="0">
              <a:sym typeface="Wingdings"/>
            </a:endParaRPr>
          </a:p>
          <a:p>
            <a:endParaRPr lang="en-US" sz="2000" b="1" dirty="0" smtClean="0">
              <a:sym typeface="Wingdings"/>
            </a:endParaRPr>
          </a:p>
          <a:p>
            <a:endParaRPr lang="en-US" sz="2000" b="1" dirty="0" smtClean="0">
              <a:sym typeface="Wingdings"/>
            </a:endParaRPr>
          </a:p>
          <a:p>
            <a:endParaRPr lang="en-US" sz="2000" b="1" dirty="0" smtClean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66" y="3569976"/>
            <a:ext cx="1536700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466" y="1723876"/>
            <a:ext cx="18923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474" y="1723876"/>
            <a:ext cx="2430206" cy="10858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474" y="3569976"/>
            <a:ext cx="19812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6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Supervised HMMs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5029"/>
            <a:ext cx="8463280" cy="522793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given a dataset of input sequences and annotated outputs: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800" dirty="0" smtClean="0"/>
              <a:t>to estimate transition/emission distributions, use maximum likelihood estimation (count and normalize):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50134" y="127774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84074" y="127774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79474" y="127774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435934" y="1620641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>
            <a:off x="4869874" y="1620641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Oval 9"/>
          <p:cNvSpPr/>
          <p:nvPr/>
        </p:nvSpPr>
        <p:spPr>
          <a:xfrm>
            <a:off x="2653142" y="2230021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1" y="2230021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35599" y="2230021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3093034" y="1821301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4526974" y="1821301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5822374" y="1821301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/>
          <p:cNvSpPr/>
          <p:nvPr/>
        </p:nvSpPr>
        <p:spPr>
          <a:xfrm>
            <a:off x="6774874" y="127774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97783" y="2230021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7117774" y="1821301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6165274" y="1620641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2727047" y="2357772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 for            president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3942" y="1277741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 smtClean="0">
                <a:cs typeface="BKM-cmcsc10"/>
              </a:rPr>
              <a:t>proper noun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9272" y="1272109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 smtClean="0">
                <a:cs typeface="BKM-cmcsc10"/>
              </a:rPr>
              <a:t>proper noun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3282" y="1272109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smtClean="0">
                <a:cs typeface="BKM-cmcsc10"/>
              </a:rPr>
              <a:t>prepo-sition</a:t>
            </a:r>
            <a:endParaRPr lang="en-US" sz="2400" i="0" baseline="-25000" dirty="0" smtClean="0"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39768" y="1360560"/>
            <a:ext cx="782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smtClean="0">
                <a:cs typeface="BKM-cmcsc10"/>
              </a:rPr>
              <a:t>noun</a:t>
            </a:r>
            <a:endParaRPr lang="en-US" sz="2400" i="0" baseline="-25000" dirty="0" smtClean="0">
              <a:cs typeface="BKM-cmcsc1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4" y="5385160"/>
            <a:ext cx="4174376" cy="61088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42" y="4247929"/>
            <a:ext cx="3733800" cy="8509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483" y="4281929"/>
            <a:ext cx="3632200" cy="8382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659" y="5389098"/>
            <a:ext cx="4335542" cy="6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1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Estimates of Tag Transition Probabilities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2900"/>
            <a:ext cx="9144000" cy="3628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4640" y="1056640"/>
            <a:ext cx="7026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proper         modal       infinitive   adjective    noun       adverb   determiner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 noun            verb             verb       </a:t>
            </a:r>
            <a:endParaRPr lang="en-US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Estimates of Emission Probabilities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380"/>
            <a:ext cx="9144000" cy="301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7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 in HMMs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040469"/>
            <a:ext cx="8310880" cy="864889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110907"/>
            <a:ext cx="8229600" cy="377173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since the output is a sequence, </a:t>
            </a:r>
            <a:r>
              <a:rPr lang="en-US" dirty="0"/>
              <a:t>this </a:t>
            </a:r>
            <a:r>
              <a:rPr lang="en-US" dirty="0" err="1"/>
              <a:t>argmax</a:t>
            </a:r>
            <a:r>
              <a:rPr lang="en-US" dirty="0"/>
              <a:t> requires iterating over an exponentially-large </a:t>
            </a:r>
            <a:r>
              <a:rPr lang="en-US" dirty="0" smtClean="0"/>
              <a:t>set</a:t>
            </a:r>
          </a:p>
          <a:p>
            <a:endParaRPr lang="en-US" dirty="0" smtClean="0"/>
          </a:p>
          <a:p>
            <a:r>
              <a:rPr lang="en-US" dirty="0" smtClean="0"/>
              <a:t>last week we talked about using dynamic programming (DP) to solve these problems</a:t>
            </a:r>
          </a:p>
          <a:p>
            <a:endParaRPr lang="en-US" dirty="0" smtClean="0"/>
          </a:p>
          <a:p>
            <a:r>
              <a:rPr lang="en-US" dirty="0" smtClean="0"/>
              <a:t>for HMMs (and other sequence models), the for solving this is called the </a:t>
            </a:r>
            <a:r>
              <a:rPr lang="en-US" b="1" dirty="0" smtClean="0">
                <a:solidFill>
                  <a:srgbClr val="288CD2"/>
                </a:solidFill>
              </a:rPr>
              <a:t>Viterbi algorithm</a:t>
            </a:r>
            <a:endParaRPr lang="en-US" b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15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 smtClean="0"/>
              <a:t>recursive equations + </a:t>
            </a:r>
            <a:r>
              <a:rPr lang="en-US" dirty="0" err="1" smtClean="0"/>
              <a:t>memoization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8649"/>
          <a:stretch/>
        </p:blipFill>
        <p:spPr>
          <a:xfrm>
            <a:off x="1206500" y="2994660"/>
            <a:ext cx="6731000" cy="3886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942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returns probability of sequence starting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for first word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computes probability of max-probability label sequence that ends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at position </a:t>
            </a:r>
            <a:r>
              <a:rPr lang="en-US" sz="2000" i="1" dirty="0" smtClean="0">
                <a:solidFill>
                  <a:srgbClr val="288CD2"/>
                </a:solidFill>
              </a:rPr>
              <a:t>m</a:t>
            </a:r>
            <a:endParaRPr lang="en-US" sz="2000" i="1" dirty="0">
              <a:solidFill>
                <a:srgbClr val="288CD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3556000"/>
            <a:ext cx="6731000" cy="528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340" y="5829988"/>
            <a:ext cx="2197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i="1" dirty="0" smtClean="0"/>
              <a:t>Janet   will   back    the    bill </a:t>
            </a:r>
            <a:endParaRPr lang="en-US" sz="3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2650" y="1676400"/>
            <a:ext cx="5103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proper         modal       infinitive     determiner    noun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 noun            verb             verb       </a:t>
            </a:r>
            <a:endParaRPr lang="en-US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45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320" y="47580"/>
            <a:ext cx="5176883" cy="826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 smtClean="0"/>
              <a:t>Janet     will      back        the       bill </a:t>
            </a:r>
            <a:endParaRPr lang="en-US" sz="2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125690" y="538480"/>
            <a:ext cx="5103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proper         modal       infinitive     determiner    noun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 noun            verb             verb       </a:t>
            </a:r>
            <a:endParaRPr lang="en-US" dirty="0">
              <a:solidFill>
                <a:srgbClr val="288CD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64"/>
          <a:stretch/>
        </p:blipFill>
        <p:spPr>
          <a:xfrm>
            <a:off x="640080" y="1266091"/>
            <a:ext cx="7863840" cy="25972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0"/>
          <a:stretch/>
        </p:blipFill>
        <p:spPr>
          <a:xfrm>
            <a:off x="0" y="3965575"/>
            <a:ext cx="9144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Viterbi Algorithm (on board)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" y="0"/>
            <a:ext cx="8559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4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time 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space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table, which is # of unique indices of recursive equations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520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space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87901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</a:t>
            </a:r>
            <a:r>
              <a:rPr lang="en-US" b="1" dirty="0" smtClean="0"/>
              <a:t>time </a:t>
            </a:r>
            <a:r>
              <a:rPr lang="en-US" dirty="0" smtClean="0"/>
              <a:t>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time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 * complexity of computing each entry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691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time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dirty="0" smtClean="0">
                <a:solidFill>
                  <a:srgbClr val="288CD2"/>
                </a:solidFill>
              </a:rPr>
              <a:t>) = O(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</a:t>
            </a:r>
            <a:r>
              <a:rPr lang="en-US" sz="2400" b="1" baseline="30000" dirty="0" smtClean="0">
                <a:solidFill>
                  <a:srgbClr val="288CD2"/>
                </a:solidFill>
              </a:rPr>
              <a:t>2</a:t>
            </a:r>
            <a:r>
              <a:rPr lang="en-US" sz="2400" b="1" dirty="0" smtClean="0">
                <a:solidFill>
                  <a:srgbClr val="288CD2"/>
                </a:solidFill>
              </a:rPr>
              <a:t>)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4304268"/>
            <a:ext cx="6731000" cy="528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3074664" y="3708836"/>
            <a:ext cx="1324616" cy="63858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3796024" y="2972434"/>
            <a:ext cx="3061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each entry requires iterating through the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707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9088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1" grpId="0"/>
      <p:bldP spid="19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Sequence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241"/>
            <a:ext cx="8229600" cy="4541520"/>
          </a:xfrm>
        </p:spPr>
        <p:txBody>
          <a:bodyPr>
            <a:normAutofit/>
          </a:bodyPr>
          <a:lstStyle/>
          <a:p>
            <a:r>
              <a:rPr lang="en-US" dirty="0" smtClean="0"/>
              <a:t>let’s generalize HMMs and talk about linear models for scoring label sequences in our classifier framework: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but first, how do we know that this scoring function generalizes HMMs?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959" y="3779520"/>
            <a:ext cx="4319725" cy="7531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180" y="2877820"/>
            <a:ext cx="5753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2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HMM as a Linear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60240"/>
            <a:ext cx="8229600" cy="150336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what are the feature templates and weights?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55" y="975798"/>
            <a:ext cx="5049065" cy="9555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199640"/>
            <a:ext cx="3700611" cy="672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655" y="3042920"/>
            <a:ext cx="3964940" cy="961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9203" y="1266428"/>
            <a:ext cx="79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HMM: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199640"/>
            <a:ext cx="145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linear model: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309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120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HMM as a Linear Model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5732"/>
            <a:ext cx="8229600" cy="88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feature templates and weights: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55" y="701478"/>
            <a:ext cx="5049065" cy="9555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925320"/>
            <a:ext cx="3700611" cy="6728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9203" y="992108"/>
            <a:ext cx="79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HMM: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925320"/>
            <a:ext cx="145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linear model:</a:t>
            </a:r>
            <a:endParaRPr lang="en-US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100" y="3870644"/>
            <a:ext cx="3050540" cy="3442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1" y="3594100"/>
            <a:ext cx="5069840" cy="7982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90" y="4747260"/>
            <a:ext cx="5074752" cy="8573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100" y="5008564"/>
            <a:ext cx="3050540" cy="35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7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Sequence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241"/>
            <a:ext cx="8229600" cy="454152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so, an HMM is:</a:t>
            </a:r>
          </a:p>
          <a:p>
            <a:pPr lvl="1"/>
            <a:r>
              <a:rPr lang="en-US" sz="2400" dirty="0" smtClean="0"/>
              <a:t>a linear sequence model</a:t>
            </a:r>
          </a:p>
          <a:p>
            <a:pPr lvl="1"/>
            <a:r>
              <a:rPr lang="en-US" sz="2400" dirty="0" smtClean="0"/>
              <a:t>with particular features on label transitions and label-observation emissions</a:t>
            </a:r>
          </a:p>
          <a:p>
            <a:pPr lvl="1"/>
            <a:r>
              <a:rPr lang="en-US" sz="2400" dirty="0" smtClean="0"/>
              <a:t>and uses maximum likelihood estimation (count &amp; normalize) for learning</a:t>
            </a:r>
          </a:p>
          <a:p>
            <a:r>
              <a:rPr lang="en-US" sz="2800" dirty="0" smtClean="0"/>
              <a:t>but we could use any feature functions we like, and use any of our loss functions for learning!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6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(Chain) Conditional Random Fields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Screen Shot 2016-02-02 at 12.18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1" y="1097280"/>
            <a:ext cx="8408939" cy="5354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3848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(Chain) Conditional Random Fields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69920"/>
            <a:ext cx="8229600" cy="2956244"/>
          </a:xfrm>
        </p:spPr>
        <p:txBody>
          <a:bodyPr/>
          <a:lstStyle/>
          <a:p>
            <a:r>
              <a:rPr lang="en-US" dirty="0" smtClean="0"/>
              <a:t>linear sequence model </a:t>
            </a:r>
          </a:p>
          <a:p>
            <a:r>
              <a:rPr lang="en-US" dirty="0" smtClean="0"/>
              <a:t>arbitrary features of input are permitted</a:t>
            </a:r>
          </a:p>
          <a:p>
            <a:r>
              <a:rPr lang="en-US" dirty="0" smtClean="0"/>
              <a:t>test-time inference uses Viterbi Algorithm</a:t>
            </a:r>
          </a:p>
          <a:p>
            <a:r>
              <a:rPr lang="en-US" dirty="0" smtClean="0"/>
              <a:t>learning done by minimizing log loss (DP algorithms used to compute gradients)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40" y="1339850"/>
            <a:ext cx="5753100" cy="62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839" y="2275840"/>
            <a:ext cx="4319725" cy="75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4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Max-Margin Markov Networks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 descr="Screen Shot 2016-02-02 at 12.23.1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81" y="1034552"/>
            <a:ext cx="6604000" cy="569136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400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Maximum-Margin Markov Networks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69920"/>
            <a:ext cx="8229600" cy="2956244"/>
          </a:xfrm>
        </p:spPr>
        <p:txBody>
          <a:bodyPr/>
          <a:lstStyle/>
          <a:p>
            <a:r>
              <a:rPr lang="en-US" dirty="0" smtClean="0"/>
              <a:t>linear sequence model </a:t>
            </a:r>
          </a:p>
          <a:p>
            <a:r>
              <a:rPr lang="en-US" dirty="0" smtClean="0"/>
              <a:t>arbitrary features of input are permitted</a:t>
            </a:r>
          </a:p>
          <a:p>
            <a:r>
              <a:rPr lang="en-US" dirty="0" smtClean="0"/>
              <a:t>test-time inference uses Viterbi Algorithm</a:t>
            </a:r>
          </a:p>
          <a:p>
            <a:r>
              <a:rPr lang="en-US" dirty="0" smtClean="0"/>
              <a:t>learning done by minimizing hinge loss (DP algorithm used to compute </a:t>
            </a:r>
            <a:r>
              <a:rPr lang="en-US" dirty="0" err="1" smtClean="0"/>
              <a:t>subgradients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40" y="1339850"/>
            <a:ext cx="5753100" cy="62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839" y="2275840"/>
            <a:ext cx="4319725" cy="75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6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Feature Locality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feature locality</a:t>
            </a:r>
            <a:r>
              <a:rPr lang="en-US" dirty="0"/>
              <a:t>: roughly, how “big” are your features?</a:t>
            </a:r>
          </a:p>
          <a:p>
            <a:r>
              <a:rPr lang="en-US" dirty="0" smtClean="0"/>
              <a:t>when designing efficient inference algorithms (whether w/ DP or other methods), we need to be mindful of this</a:t>
            </a:r>
            <a:endParaRPr lang="en-US" b="1" dirty="0" smtClean="0">
              <a:solidFill>
                <a:srgbClr val="288CD2"/>
              </a:solidFill>
            </a:endParaRPr>
          </a:p>
          <a:p>
            <a:r>
              <a:rPr lang="en-US" dirty="0" smtClean="0"/>
              <a:t>features can be arbitrarily big in terms of the input sequence</a:t>
            </a:r>
          </a:p>
          <a:p>
            <a:r>
              <a:rPr lang="en-US" dirty="0" smtClean="0"/>
              <a:t>but features </a:t>
            </a:r>
            <a:r>
              <a:rPr lang="en-US" b="1" dirty="0" smtClean="0"/>
              <a:t>cannot</a:t>
            </a:r>
            <a:r>
              <a:rPr lang="en-US" dirty="0" smtClean="0"/>
              <a:t> be arbitrarily big in terms of the </a:t>
            </a:r>
            <a:r>
              <a:rPr lang="en-US" i="1" dirty="0" smtClean="0"/>
              <a:t>output</a:t>
            </a:r>
            <a:r>
              <a:rPr lang="en-US" dirty="0" smtClean="0"/>
              <a:t> sequence!</a:t>
            </a:r>
          </a:p>
          <a:p>
            <a:r>
              <a:rPr lang="en-US" dirty="0" smtClean="0"/>
              <a:t>the features in HMMs are small in both the input and output sequences (only two pieces at a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3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Are these features big or small?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774457"/>
              </p:ext>
            </p:extLst>
          </p:nvPr>
        </p:nvGraphicFramePr>
        <p:xfrm>
          <a:off x="232199" y="985290"/>
          <a:ext cx="8627321" cy="5432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8441"/>
                <a:gridCol w="2468880"/>
              </a:tblGrid>
              <a:tr h="441033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feature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big or small?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23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 that counts instances of “</a:t>
                      </a:r>
                      <a:r>
                        <a:rPr lang="en-US" sz="2400" i="1" dirty="0" smtClean="0"/>
                        <a:t>the</a:t>
                      </a:r>
                      <a:r>
                        <a:rPr lang="en-US" sz="2400" dirty="0" smtClean="0"/>
                        <a:t>” in the input sentence</a:t>
                      </a:r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small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123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 that returns</a:t>
                      </a:r>
                      <a:r>
                        <a:rPr lang="en-US" sz="2400" baseline="0" dirty="0" smtClean="0"/>
                        <a:t> square root of sum of counts of </a:t>
                      </a:r>
                      <a:r>
                        <a:rPr lang="en-US" sz="2400" i="1" baseline="0" dirty="0" smtClean="0"/>
                        <a:t>am/is/was/were</a:t>
                      </a:r>
                      <a:endParaRPr lang="en-US" sz="2400" i="1" dirty="0" smtClean="0"/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small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123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 that counts “</a:t>
                      </a:r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verb verb</a:t>
                      </a:r>
                      <a:r>
                        <a:rPr lang="en-US" sz="2400" dirty="0" smtClean="0"/>
                        <a:t>” sequences</a:t>
                      </a:r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small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123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 that counts “</a:t>
                      </a:r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determiner noun verb verb</a:t>
                      </a:r>
                      <a:r>
                        <a:rPr lang="en-US" sz="2400" dirty="0" smtClean="0"/>
                        <a:t>” sequences</a:t>
                      </a:r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pretty big!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103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 that counts the number of nouns in a sentence</a:t>
                      </a:r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big, but we can design specialized algorithms to handle them if they’re the</a:t>
                      </a:r>
                      <a:r>
                        <a:rPr lang="en-US" sz="2100" baseline="0" dirty="0" smtClean="0"/>
                        <a:t> only big features</a:t>
                      </a:r>
                      <a:endParaRPr lang="en-US" sz="2100" dirty="0"/>
                    </a:p>
                  </a:txBody>
                  <a:tcPr marL="108748" marR="108748" marT="54374" marB="54374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44103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feature</a:t>
                      </a:r>
                      <a:r>
                        <a:rPr lang="en-US" sz="2400" baseline="0" dirty="0" smtClean="0"/>
                        <a:t> that returns the ratio of nouns to verbs</a:t>
                      </a:r>
                      <a:endParaRPr lang="en-US" sz="2400" dirty="0"/>
                    </a:p>
                  </a:txBody>
                  <a:tcPr marL="108748" marR="108748" marT="54374" marB="54374"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08748" marR="108748" marT="54374" marB="5437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13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with linear sequence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a linear sequence model with “small” features, how should we do learning?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6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Loss functions for learning linear sequence models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530626"/>
              </p:ext>
            </p:extLst>
          </p:nvPr>
        </p:nvGraphicFramePr>
        <p:xfrm>
          <a:off x="71119" y="1505775"/>
          <a:ext cx="8950961" cy="292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2246327"/>
            <a:ext cx="5740400" cy="316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40" y="3906403"/>
            <a:ext cx="3400796" cy="31993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198" y="3078363"/>
            <a:ext cx="6729202" cy="322804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 bwMode="auto">
          <a:xfrm flipV="1">
            <a:off x="4986623" y="2563207"/>
            <a:ext cx="1099217" cy="253065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5270236" y="3401168"/>
            <a:ext cx="1211844" cy="169269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 flipH="1" flipV="1">
            <a:off x="3677920" y="4266980"/>
            <a:ext cx="1097280" cy="82687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056223" y="5154819"/>
            <a:ext cx="386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same gradients/</a:t>
            </a:r>
            <a:r>
              <a:rPr lang="en-US" sz="2000" dirty="0" err="1" smtClean="0"/>
              <a:t>subgradients</a:t>
            </a:r>
            <a:r>
              <a:rPr lang="en-US" sz="2000" dirty="0" smtClean="0"/>
              <a:t> as before, though computing these terms (inference) requires DP algorithms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950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Implementing DP algorithms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with counting mode, but keep in mind how the model’s score function decomposes across parts of the outputs</a:t>
            </a:r>
          </a:p>
          <a:p>
            <a:pPr lvl="1"/>
            <a:r>
              <a:rPr lang="en-US" dirty="0" smtClean="0"/>
              <a:t>i.e., how “large” are the features?  how many items in the output sequence are needed to compute each feature?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define a function called </a:t>
            </a:r>
            <a:r>
              <a:rPr lang="en-US" dirty="0" err="1" smtClean="0">
                <a:solidFill>
                  <a:schemeClr val="bg1"/>
                </a:solidFill>
                <a:latin typeface="Courier New"/>
                <a:cs typeface="Courier New"/>
              </a:rPr>
              <a:t>partScore</a:t>
            </a:r>
            <a:r>
              <a:rPr lang="en-US" dirty="0" smtClean="0">
                <a:solidFill>
                  <a:schemeClr val="bg1"/>
                </a:solidFill>
              </a:rPr>
              <a:t> that computes all the features (for counting mode, this function will return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8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Neural Networks in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neural networks</a:t>
            </a:r>
          </a:p>
          <a:p>
            <a:r>
              <a:rPr lang="en-US" dirty="0" smtClean="0"/>
              <a:t>deep neural networks</a:t>
            </a:r>
          </a:p>
          <a:p>
            <a:r>
              <a:rPr lang="en-US" dirty="0" smtClean="0"/>
              <a:t>neural language models</a:t>
            </a:r>
          </a:p>
          <a:p>
            <a:r>
              <a:rPr lang="en-US" dirty="0" smtClean="0"/>
              <a:t>recurrent neural networks and LSTMs</a:t>
            </a:r>
          </a:p>
          <a:p>
            <a:r>
              <a:rPr lang="en-US" dirty="0" smtClean="0"/>
              <a:t>convolutional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91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neural network?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think of a neural network as a function</a:t>
            </a:r>
          </a:p>
          <a:p>
            <a:r>
              <a:rPr lang="en-US" dirty="0" smtClean="0"/>
              <a:t>it has inputs and outputs</a:t>
            </a:r>
          </a:p>
          <a:p>
            <a:r>
              <a:rPr lang="en-US" dirty="0" smtClean="0"/>
              <a:t>the term “neural” typically means a particular type of functional building block (“neural layers”), but the term has expanded to mean many things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43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56"/>
          <p:cNvSpPr/>
          <p:nvPr/>
        </p:nvSpPr>
        <p:spPr>
          <a:xfrm>
            <a:off x="3887524" y="3622680"/>
            <a:ext cx="448623" cy="44862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770" y="3782703"/>
            <a:ext cx="241300" cy="165100"/>
          </a:xfrm>
          <a:prstGeom prst="rect">
            <a:avLst/>
          </a:prstGeom>
        </p:spPr>
      </p:pic>
      <p:sp>
        <p:nvSpPr>
          <p:cNvPr id="59" name="Oval 58"/>
          <p:cNvSpPr/>
          <p:nvPr/>
        </p:nvSpPr>
        <p:spPr>
          <a:xfrm>
            <a:off x="5154800" y="3626754"/>
            <a:ext cx="444549" cy="444549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45" y="3782703"/>
            <a:ext cx="241300" cy="16510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928" y="3099718"/>
            <a:ext cx="520700" cy="254000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4481552" y="2434690"/>
            <a:ext cx="451497" cy="451497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5747167" y="2393988"/>
            <a:ext cx="462382" cy="46238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07167" y="2434690"/>
            <a:ext cx="451497" cy="451497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>
            <a:stCxn id="68" idx="4"/>
            <a:endCxn id="57" idx="1"/>
          </p:cNvCxnSpPr>
          <p:nvPr/>
        </p:nvCxnSpPr>
        <p:spPr>
          <a:xfrm>
            <a:off x="3432916" y="2886187"/>
            <a:ext cx="520307" cy="802192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5" idx="4"/>
            <a:endCxn id="57" idx="0"/>
          </p:cNvCxnSpPr>
          <p:nvPr/>
        </p:nvCxnSpPr>
        <p:spPr>
          <a:xfrm flipH="1">
            <a:off x="4111836" y="2886187"/>
            <a:ext cx="595465" cy="736493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68" idx="5"/>
            <a:endCxn id="59" idx="1"/>
          </p:cNvCxnSpPr>
          <p:nvPr/>
        </p:nvCxnSpPr>
        <p:spPr>
          <a:xfrm>
            <a:off x="3592544" y="2820067"/>
            <a:ext cx="1627359" cy="87179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5" idx="4"/>
            <a:endCxn id="59" idx="0"/>
          </p:cNvCxnSpPr>
          <p:nvPr/>
        </p:nvCxnSpPr>
        <p:spPr>
          <a:xfrm>
            <a:off x="4707301" y="2886187"/>
            <a:ext cx="669774" cy="740567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7" idx="3"/>
            <a:endCxn id="57" idx="7"/>
          </p:cNvCxnSpPr>
          <p:nvPr/>
        </p:nvCxnSpPr>
        <p:spPr>
          <a:xfrm flipH="1">
            <a:off x="4270448" y="2788656"/>
            <a:ext cx="1544433" cy="899723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7" idx="4"/>
            <a:endCxn id="59" idx="7"/>
          </p:cNvCxnSpPr>
          <p:nvPr/>
        </p:nvCxnSpPr>
        <p:spPr>
          <a:xfrm flipH="1">
            <a:off x="5534246" y="2856370"/>
            <a:ext cx="444112" cy="835487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Picture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478" y="3388926"/>
            <a:ext cx="368300" cy="266700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057" y="2524357"/>
            <a:ext cx="330200" cy="304800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2201" y="2524357"/>
            <a:ext cx="330200" cy="304800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8983" y="2495378"/>
            <a:ext cx="330200" cy="317500"/>
          </a:xfrm>
          <a:prstGeom prst="rect">
            <a:avLst/>
          </a:prstGeom>
        </p:spPr>
      </p:pic>
      <p:sp>
        <p:nvSpPr>
          <p:cNvPr id="131" name="Oval 130"/>
          <p:cNvSpPr/>
          <p:nvPr/>
        </p:nvSpPr>
        <p:spPr>
          <a:xfrm>
            <a:off x="5079185" y="1072390"/>
            <a:ext cx="451497" cy="451497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3806607" y="1074859"/>
            <a:ext cx="451497" cy="451497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Connector 139"/>
          <p:cNvCxnSpPr>
            <a:stCxn id="135" idx="4"/>
            <a:endCxn id="68" idx="0"/>
          </p:cNvCxnSpPr>
          <p:nvPr/>
        </p:nvCxnSpPr>
        <p:spPr>
          <a:xfrm flipH="1">
            <a:off x="3432916" y="1526356"/>
            <a:ext cx="599440" cy="908334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35" idx="4"/>
            <a:endCxn id="65" idx="0"/>
          </p:cNvCxnSpPr>
          <p:nvPr/>
        </p:nvCxnSpPr>
        <p:spPr>
          <a:xfrm>
            <a:off x="4032356" y="1526356"/>
            <a:ext cx="674945" cy="908334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35" idx="4"/>
            <a:endCxn id="67" idx="0"/>
          </p:cNvCxnSpPr>
          <p:nvPr/>
        </p:nvCxnSpPr>
        <p:spPr>
          <a:xfrm>
            <a:off x="4032356" y="1526356"/>
            <a:ext cx="1946002" cy="867632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>
            <a:stCxn id="131" idx="4"/>
            <a:endCxn id="68" idx="0"/>
          </p:cNvCxnSpPr>
          <p:nvPr/>
        </p:nvCxnSpPr>
        <p:spPr>
          <a:xfrm flipH="1">
            <a:off x="3432916" y="1523887"/>
            <a:ext cx="1872018" cy="910803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31" idx="4"/>
            <a:endCxn id="65" idx="0"/>
          </p:cNvCxnSpPr>
          <p:nvPr/>
        </p:nvCxnSpPr>
        <p:spPr>
          <a:xfrm flipH="1">
            <a:off x="4707301" y="1523887"/>
            <a:ext cx="597633" cy="910803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31" idx="4"/>
            <a:endCxn id="67" idx="0"/>
          </p:cNvCxnSpPr>
          <p:nvPr/>
        </p:nvCxnSpPr>
        <p:spPr>
          <a:xfrm>
            <a:off x="5304934" y="1523887"/>
            <a:ext cx="673424" cy="870101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306" y="1197893"/>
            <a:ext cx="292100" cy="2667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0691" y="1171474"/>
            <a:ext cx="292100" cy="266700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7088" y="1623300"/>
            <a:ext cx="469900" cy="228600"/>
          </a:xfrm>
          <a:prstGeom prst="rect">
            <a:avLst/>
          </a:prstGeom>
        </p:spPr>
      </p:pic>
      <p:pic>
        <p:nvPicPr>
          <p:cNvPr id="166" name="Picture 1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4228" y="2003073"/>
            <a:ext cx="330200" cy="241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1000" y="5107940"/>
            <a:ext cx="5829300" cy="1282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1000" y="4625340"/>
            <a:ext cx="13208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94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54671</TotalTime>
  <Words>1641</Words>
  <Application>Microsoft Macintosh PowerPoint</Application>
  <PresentationFormat>On-screen Show (4:3)</PresentationFormat>
  <Paragraphs>326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BKM-cmcsc10</vt:lpstr>
      <vt:lpstr>BKM-cmmi12</vt:lpstr>
      <vt:lpstr>Calibri</vt:lpstr>
      <vt:lpstr>Courier New</vt:lpstr>
      <vt:lpstr>Times New Roman</vt:lpstr>
      <vt:lpstr>TIMES-ROMAN</vt:lpstr>
      <vt:lpstr>Wingdings</vt:lpstr>
      <vt:lpstr>Arial</vt:lpstr>
      <vt:lpstr>Office Theme</vt:lpstr>
      <vt:lpstr>TTIC 31190: Natural Language Processing</vt:lpstr>
      <vt:lpstr>Announcements</vt:lpstr>
      <vt:lpstr>Announcements</vt:lpstr>
      <vt:lpstr>Other Naturally-Occurring Data</vt:lpstr>
      <vt:lpstr>Other Naturally-Occurring Data</vt:lpstr>
      <vt:lpstr>Other Naturally-Occurring Data</vt:lpstr>
      <vt:lpstr>Other Naturally-Occurring Data</vt:lpstr>
      <vt:lpstr>Other Naturally-Occurring Data</vt:lpstr>
      <vt:lpstr>Project Proposal</vt:lpstr>
      <vt:lpstr>Project Proposal (cont’d)</vt:lpstr>
      <vt:lpstr>Class Presentations</vt:lpstr>
      <vt:lpstr>Project</vt:lpstr>
      <vt:lpstr>Roadmap</vt:lpstr>
      <vt:lpstr>Simplest kind of structured prediction: Sequence Labeling</vt:lpstr>
      <vt:lpstr>Formulating segmentation tasks as sequence labeling via B-I-O labeling:</vt:lpstr>
      <vt:lpstr>PowerPoint Presentation</vt:lpstr>
      <vt:lpstr>PowerPoint Presentation</vt:lpstr>
      <vt:lpstr>Hidden Markov Models</vt:lpstr>
      <vt:lpstr>HMMs for Word Clustering (Brown et al., 1992)</vt:lpstr>
      <vt:lpstr>HMMs for Part-of-Speech Tagging</vt:lpstr>
      <vt:lpstr>How should we learn the HMM parameters?</vt:lpstr>
      <vt:lpstr>Supervised HMMs</vt:lpstr>
      <vt:lpstr>Estimates of Tag Transition Probabilities</vt:lpstr>
      <vt:lpstr>Estimates of Emission Probabilities</vt:lpstr>
      <vt:lpstr>Inference in HMMs</vt:lpstr>
      <vt:lpstr>Viterbi Algorithm</vt:lpstr>
      <vt:lpstr>Example:</vt:lpstr>
      <vt:lpstr>PowerPoint Presentation</vt:lpstr>
      <vt:lpstr>Viterbi Algorithm (on board)</vt:lpstr>
      <vt:lpstr>Viterbi Algorithm</vt:lpstr>
      <vt:lpstr>Viterbi Algorithm</vt:lpstr>
      <vt:lpstr>Linear Sequence Models</vt:lpstr>
      <vt:lpstr>HMM as a Linear Model</vt:lpstr>
      <vt:lpstr>HMM as a Linear Model</vt:lpstr>
      <vt:lpstr>Linear Sequence Models</vt:lpstr>
      <vt:lpstr>(Chain) Conditional Random Fields</vt:lpstr>
      <vt:lpstr>(Chain) Conditional Random Fields</vt:lpstr>
      <vt:lpstr>Max-Margin Markov Networks</vt:lpstr>
      <vt:lpstr>Maximum-Margin Markov Networks</vt:lpstr>
      <vt:lpstr>Feature Locality</vt:lpstr>
      <vt:lpstr>Are these features big or small?</vt:lpstr>
      <vt:lpstr>Learning with linear sequence models</vt:lpstr>
      <vt:lpstr>Loss functions for learning linear sequence models</vt:lpstr>
      <vt:lpstr>Implementing DP algorithms</vt:lpstr>
      <vt:lpstr>Neural Networks in NLP</vt:lpstr>
      <vt:lpstr>What is a neural network?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1745</cp:revision>
  <dcterms:created xsi:type="dcterms:W3CDTF">2015-08-31T18:15:35Z</dcterms:created>
  <dcterms:modified xsi:type="dcterms:W3CDTF">2016-02-02T17:58:33Z</dcterms:modified>
</cp:coreProperties>
</file>