
<file path=[Content_Types].xml><?xml version="1.0" encoding="utf-8"?>
<Types xmlns="http://schemas.openxmlformats.org/package/2006/content-types">
  <Default Extension="xml" ContentType="application/xml"/>
  <Default Extension="bin" ContentType="application/vnd.openxmlformats-officedocument.oleObject"/>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png" ContentType="image/png"/>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tags/tag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5"/>
  </p:notesMasterIdLst>
  <p:handoutMasterIdLst>
    <p:handoutMasterId r:id="rId106"/>
  </p:handoutMasterIdLst>
  <p:sldIdLst>
    <p:sldId id="256" r:id="rId2"/>
    <p:sldId id="1423" r:id="rId3"/>
    <p:sldId id="1424" r:id="rId4"/>
    <p:sldId id="1556" r:id="rId5"/>
    <p:sldId id="1805" r:id="rId6"/>
    <p:sldId id="1858" r:id="rId7"/>
    <p:sldId id="1859" r:id="rId8"/>
    <p:sldId id="1678" r:id="rId9"/>
    <p:sldId id="1687" r:id="rId10"/>
    <p:sldId id="1802" r:id="rId11"/>
    <p:sldId id="1803" r:id="rId12"/>
    <p:sldId id="1801" r:id="rId13"/>
    <p:sldId id="1797" r:id="rId14"/>
    <p:sldId id="1688" r:id="rId15"/>
    <p:sldId id="1689" r:id="rId16"/>
    <p:sldId id="1804" r:id="rId17"/>
    <p:sldId id="1737" r:id="rId18"/>
    <p:sldId id="1814" r:id="rId19"/>
    <p:sldId id="1857" r:id="rId20"/>
    <p:sldId id="1720" r:id="rId21"/>
    <p:sldId id="1721" r:id="rId22"/>
    <p:sldId id="1693" r:id="rId23"/>
    <p:sldId id="1694" r:id="rId24"/>
    <p:sldId id="1696" r:id="rId25"/>
    <p:sldId id="1697" r:id="rId26"/>
    <p:sldId id="1701" r:id="rId27"/>
    <p:sldId id="1809" r:id="rId28"/>
    <p:sldId id="1808" r:id="rId29"/>
    <p:sldId id="1702" r:id="rId30"/>
    <p:sldId id="1703" r:id="rId31"/>
    <p:sldId id="1709" r:id="rId32"/>
    <p:sldId id="1716" r:id="rId33"/>
    <p:sldId id="1717" r:id="rId34"/>
    <p:sldId id="1876" r:id="rId35"/>
    <p:sldId id="1877" r:id="rId36"/>
    <p:sldId id="1878" r:id="rId37"/>
    <p:sldId id="1879" r:id="rId38"/>
    <p:sldId id="1880" r:id="rId39"/>
    <p:sldId id="1881" r:id="rId40"/>
    <p:sldId id="1882" r:id="rId41"/>
    <p:sldId id="1884" r:id="rId42"/>
    <p:sldId id="1885" r:id="rId43"/>
    <p:sldId id="1860" r:id="rId44"/>
    <p:sldId id="1861" r:id="rId45"/>
    <p:sldId id="1862" r:id="rId46"/>
    <p:sldId id="1863" r:id="rId47"/>
    <p:sldId id="1864" r:id="rId48"/>
    <p:sldId id="1865" r:id="rId49"/>
    <p:sldId id="1866" r:id="rId50"/>
    <p:sldId id="1867" r:id="rId51"/>
    <p:sldId id="1868" r:id="rId52"/>
    <p:sldId id="1870" r:id="rId53"/>
    <p:sldId id="1764" r:id="rId54"/>
    <p:sldId id="1765" r:id="rId55"/>
    <p:sldId id="1532" r:id="rId56"/>
    <p:sldId id="1766" r:id="rId57"/>
    <p:sldId id="1767" r:id="rId58"/>
    <p:sldId id="1773" r:id="rId59"/>
    <p:sldId id="1534" r:id="rId60"/>
    <p:sldId id="1535" r:id="rId61"/>
    <p:sldId id="1771" r:id="rId62"/>
    <p:sldId id="1769" r:id="rId63"/>
    <p:sldId id="1772" r:id="rId64"/>
    <p:sldId id="1897" r:id="rId65"/>
    <p:sldId id="1774" r:id="rId66"/>
    <p:sldId id="1898" r:id="rId67"/>
    <p:sldId id="1831" r:id="rId68"/>
    <p:sldId id="1828" r:id="rId69"/>
    <p:sldId id="1775" r:id="rId70"/>
    <p:sldId id="1776" r:id="rId71"/>
    <p:sldId id="1777" r:id="rId72"/>
    <p:sldId id="1778" r:id="rId73"/>
    <p:sldId id="1779" r:id="rId74"/>
    <p:sldId id="1780" r:id="rId75"/>
    <p:sldId id="1781" r:id="rId76"/>
    <p:sldId id="1782" r:id="rId77"/>
    <p:sldId id="1783" r:id="rId78"/>
    <p:sldId id="1784" r:id="rId79"/>
    <p:sldId id="1785" r:id="rId80"/>
    <p:sldId id="1786" r:id="rId81"/>
    <p:sldId id="1787" r:id="rId82"/>
    <p:sldId id="1788" r:id="rId83"/>
    <p:sldId id="1789" r:id="rId84"/>
    <p:sldId id="1790" r:id="rId85"/>
    <p:sldId id="1791" r:id="rId86"/>
    <p:sldId id="1792" r:id="rId87"/>
    <p:sldId id="1847" r:id="rId88"/>
    <p:sldId id="1848" r:id="rId89"/>
    <p:sldId id="1545" r:id="rId90"/>
    <p:sldId id="1546" r:id="rId91"/>
    <p:sldId id="1547" r:id="rId92"/>
    <p:sldId id="1548" r:id="rId93"/>
    <p:sldId id="1849" r:id="rId94"/>
    <p:sldId id="1850" r:id="rId95"/>
    <p:sldId id="1851" r:id="rId96"/>
    <p:sldId id="1852" r:id="rId97"/>
    <p:sldId id="1853" r:id="rId98"/>
    <p:sldId id="1854" r:id="rId99"/>
    <p:sldId id="1855" r:id="rId100"/>
    <p:sldId id="1549" r:id="rId101"/>
    <p:sldId id="1550" r:id="rId102"/>
    <p:sldId id="1555" r:id="rId103"/>
    <p:sldId id="1856" r:id="rId10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E130E9-054C-B14F-AB12-808D5BC42886}">
          <p14:sldIdLst>
            <p14:sldId id="256"/>
            <p14:sldId id="1423"/>
            <p14:sldId id="1424"/>
          </p14:sldIdLst>
        </p14:section>
        <p14:section name="Overview" id="{3CB13A77-7AF0-8F40-B522-C9D217195B41}">
          <p14:sldIdLst>
            <p14:sldId id="1556"/>
            <p14:sldId id="1805"/>
            <p14:sldId id="1858"/>
            <p14:sldId id="1859"/>
            <p14:sldId id="1678"/>
            <p14:sldId id="1687"/>
            <p14:sldId id="1802"/>
            <p14:sldId id="1803"/>
            <p14:sldId id="1801"/>
            <p14:sldId id="1797"/>
            <p14:sldId id="1688"/>
            <p14:sldId id="1689"/>
            <p14:sldId id="1804"/>
          </p14:sldIdLst>
        </p14:section>
        <p14:section name="Modeling" id="{988AE3AC-2AAF-F044-AFB7-EEBBA3238214}">
          <p14:sldIdLst>
            <p14:sldId id="1737"/>
            <p14:sldId id="1814"/>
            <p14:sldId id="1857"/>
            <p14:sldId id="1720"/>
            <p14:sldId id="1721"/>
          </p14:sldIdLst>
        </p14:section>
        <p14:section name="Alignment" id="{76FB3D57-8FBD-014D-BE5D-86BD285810FC}">
          <p14:sldIdLst>
            <p14:sldId id="1693"/>
            <p14:sldId id="1694"/>
            <p14:sldId id="1696"/>
            <p14:sldId id="1697"/>
            <p14:sldId id="1701"/>
            <p14:sldId id="1809"/>
            <p14:sldId id="1808"/>
            <p14:sldId id="1702"/>
            <p14:sldId id="1703"/>
            <p14:sldId id="1709"/>
            <p14:sldId id="1716"/>
            <p14:sldId id="1717"/>
            <p14:sldId id="1876"/>
            <p14:sldId id="1877"/>
            <p14:sldId id="1878"/>
            <p14:sldId id="1879"/>
            <p14:sldId id="1880"/>
            <p14:sldId id="1881"/>
            <p14:sldId id="1882"/>
            <p14:sldId id="1884"/>
            <p14:sldId id="1885"/>
          </p14:sldIdLst>
        </p14:section>
        <p14:section name="Learning" id="{875135E7-56DF-394E-A474-E0FAF6340C4F}">
          <p14:sldIdLst>
            <p14:sldId id="1860"/>
            <p14:sldId id="1861"/>
            <p14:sldId id="1862"/>
            <p14:sldId id="1863"/>
            <p14:sldId id="1864"/>
            <p14:sldId id="1865"/>
            <p14:sldId id="1866"/>
            <p14:sldId id="1867"/>
            <p14:sldId id="1868"/>
            <p14:sldId id="1870"/>
            <p14:sldId id="1764"/>
            <p14:sldId id="1765"/>
            <p14:sldId id="1532"/>
            <p14:sldId id="1766"/>
            <p14:sldId id="1767"/>
            <p14:sldId id="1773"/>
            <p14:sldId id="1534"/>
            <p14:sldId id="1535"/>
            <p14:sldId id="1771"/>
            <p14:sldId id="1769"/>
            <p14:sldId id="1772"/>
            <p14:sldId id="1897"/>
            <p14:sldId id="1774"/>
            <p14:sldId id="1898"/>
            <p14:sldId id="1831"/>
            <p14:sldId id="1828"/>
            <p14:sldId id="1775"/>
            <p14:sldId id="1776"/>
            <p14:sldId id="1777"/>
            <p14:sldId id="1778"/>
            <p14:sldId id="1779"/>
            <p14:sldId id="1780"/>
            <p14:sldId id="1781"/>
            <p14:sldId id="1782"/>
            <p14:sldId id="1783"/>
            <p14:sldId id="1784"/>
            <p14:sldId id="1785"/>
            <p14:sldId id="1786"/>
            <p14:sldId id="1787"/>
            <p14:sldId id="1788"/>
            <p14:sldId id="1789"/>
            <p14:sldId id="1790"/>
            <p14:sldId id="1791"/>
            <p14:sldId id="1792"/>
            <p14:sldId id="1847"/>
            <p14:sldId id="1848"/>
            <p14:sldId id="1545"/>
            <p14:sldId id="1546"/>
            <p14:sldId id="1547"/>
            <p14:sldId id="1548"/>
            <p14:sldId id="1849"/>
            <p14:sldId id="1850"/>
            <p14:sldId id="1851"/>
            <p14:sldId id="1852"/>
            <p14:sldId id="1853"/>
            <p14:sldId id="1854"/>
            <p14:sldId id="1855"/>
            <p14:sldId id="1549"/>
            <p14:sldId id="1550"/>
            <p14:sldId id="1555"/>
            <p14:sldId id="18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288CD2"/>
    <a:srgbClr val="B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405" autoAdjust="0"/>
  </p:normalViewPr>
  <p:slideViewPr>
    <p:cSldViewPr snapToGrid="0" snapToObjects="1">
      <p:cViewPr>
        <p:scale>
          <a:sx n="125" d="100"/>
          <a:sy n="125" d="100"/>
        </p:scale>
        <p:origin x="17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notesMaster" Target="notesMasters/notesMaster1.xml"/><Relationship Id="rId106" Type="http://schemas.openxmlformats.org/officeDocument/2006/relationships/handoutMaster" Target="handoutMasters/handoutMaster1.xml"/><Relationship Id="rId107"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viewProps" Target="viewProps.xml"/><Relationship Id="rId109"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tableStyles" Target="tableStyles.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4.wmf"/><Relationship Id="rId4" Type="http://schemas.openxmlformats.org/officeDocument/2006/relationships/image" Target="../media/image25.wmf"/><Relationship Id="rId5" Type="http://schemas.openxmlformats.org/officeDocument/2006/relationships/image" Target="../media/image26.wmf"/><Relationship Id="rId1" Type="http://schemas.openxmlformats.org/officeDocument/2006/relationships/image" Target="../media/image22.wmf"/><Relationship Id="rId2"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664593-8E4E-8747-9BDB-DA84BDED518C}" type="datetime1">
              <a:rPr lang="en-US" smtClean="0"/>
              <a:t>2/25/16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02E5790-10E5-C04B-864A-21F4E57B9FCF}" type="slidenum">
              <a:rPr lang="en-US" smtClean="0"/>
              <a:t>‹#›</a:t>
            </a:fld>
            <a:endParaRPr lang="en-US"/>
          </a:p>
        </p:txBody>
      </p:sp>
    </p:spTree>
    <p:extLst>
      <p:ext uri="{BB962C8B-B14F-4D97-AF65-F5344CB8AC3E}">
        <p14:creationId xmlns:p14="http://schemas.microsoft.com/office/powerpoint/2010/main" val="1321040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A541DB-7577-ED4C-AF0A-388D8C680A39}" type="datetime1">
              <a:rPr lang="en-US" smtClean="0"/>
              <a:t>2/25/16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1B48C7-8E5C-9640-8445-8A9544EEA549}" type="slidenum">
              <a:rPr lang="en-US" smtClean="0"/>
              <a:t>‹#›</a:t>
            </a:fld>
            <a:endParaRPr lang="en-US"/>
          </a:p>
        </p:txBody>
      </p:sp>
    </p:spTree>
    <p:extLst>
      <p:ext uri="{BB962C8B-B14F-4D97-AF65-F5344CB8AC3E}">
        <p14:creationId xmlns:p14="http://schemas.microsoft.com/office/powerpoint/2010/main" val="3819633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3D2D9265-95D9-F445-B034-27E653688552}" type="slidenum">
              <a:rPr lang="en-US" altLang="en-US"/>
              <a:pPr eaLnBrk="1" hangingPunct="1"/>
              <a:t>4</a:t>
            </a:fld>
            <a:endParaRPr lang="en-US" altLang="en-US"/>
          </a:p>
        </p:txBody>
      </p:sp>
      <p:sp>
        <p:nvSpPr>
          <p:cNvPr id="111619" name="Rectangle 2"/>
          <p:cNvSpPr>
            <a:spLocks noGrp="1" noRot="1" noChangeAspect="1" noChangeArrowheads="1" noTextEdit="1"/>
          </p:cNvSpPr>
          <p:nvPr>
            <p:ph type="sldImg"/>
          </p:nvPr>
        </p:nvSpPr>
        <p:spPr>
          <a:xfrm>
            <a:off x="1257300" y="719138"/>
            <a:ext cx="4800600" cy="3600450"/>
          </a:xfrm>
          <a:ln/>
        </p:spPr>
      </p:sp>
      <p:sp>
        <p:nvSpPr>
          <p:cNvPr id="11162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04621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3D2D9265-95D9-F445-B034-27E653688552}" type="slidenum">
              <a:rPr lang="en-US" altLang="en-US"/>
              <a:pPr eaLnBrk="1" hangingPunct="1"/>
              <a:t>5</a:t>
            </a:fld>
            <a:endParaRPr lang="en-US" altLang="en-US"/>
          </a:p>
        </p:txBody>
      </p:sp>
      <p:sp>
        <p:nvSpPr>
          <p:cNvPr id="111619" name="Rectangle 2"/>
          <p:cNvSpPr>
            <a:spLocks noGrp="1" noRot="1" noChangeAspect="1" noChangeArrowheads="1" noTextEdit="1"/>
          </p:cNvSpPr>
          <p:nvPr>
            <p:ph type="sldImg"/>
          </p:nvPr>
        </p:nvSpPr>
        <p:spPr>
          <a:xfrm>
            <a:off x="1257300" y="719138"/>
            <a:ext cx="4800600" cy="3600450"/>
          </a:xfrm>
          <a:ln/>
        </p:spPr>
      </p:sp>
      <p:sp>
        <p:nvSpPr>
          <p:cNvPr id="11162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04621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FDD87064-FA43-0C43-9C82-42C2A6C02D7F}" type="slidenum">
              <a:rPr lang="en-US" altLang="en-US"/>
              <a:pPr eaLnBrk="1" hangingPunct="1"/>
              <a:t>6</a:t>
            </a:fld>
            <a:endParaRPr lang="en-US"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760500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87560B88-F203-3E44-8AFA-F7F0D08EC97A}" type="slidenum">
              <a:rPr lang="en-US" altLang="en-US"/>
              <a:pPr eaLnBrk="1" hangingPunct="1"/>
              <a:t>7</a:t>
            </a:fld>
            <a:endParaRPr lang="en-US"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Tree>
    <p:extLst>
      <p:ext uri="{BB962C8B-B14F-4D97-AF65-F5344CB8AC3E}">
        <p14:creationId xmlns:p14="http://schemas.microsoft.com/office/powerpoint/2010/main" val="1667970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
        <p:nvSpPr>
          <p:cNvPr id="78852" name="Slide Number Placeholder 3"/>
          <p:cNvSpPr>
            <a:spLocks noGrp="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93E1B94-6CDC-E548-AB99-120D2932E7EC}" type="slidenum">
              <a:rPr lang="en-US" altLang="en-US"/>
              <a:pPr eaLnBrk="1" hangingPunct="1"/>
              <a:t>9</a:t>
            </a:fld>
            <a:endParaRPr lang="en-US" altLang="en-US"/>
          </a:p>
        </p:txBody>
      </p:sp>
    </p:spTree>
    <p:extLst>
      <p:ext uri="{BB962C8B-B14F-4D97-AF65-F5344CB8AC3E}">
        <p14:creationId xmlns:p14="http://schemas.microsoft.com/office/powerpoint/2010/main" val="764560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
        <p:nvSpPr>
          <p:cNvPr id="78852" name="Slide Number Placeholder 3"/>
          <p:cNvSpPr>
            <a:spLocks noGrp="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93E1B94-6CDC-E548-AB99-120D2932E7EC}" type="slidenum">
              <a:rPr lang="en-US" altLang="en-US"/>
              <a:pPr eaLnBrk="1" hangingPunct="1"/>
              <a:t>10</a:t>
            </a:fld>
            <a:endParaRPr lang="en-US" altLang="en-US"/>
          </a:p>
        </p:txBody>
      </p:sp>
    </p:spTree>
    <p:extLst>
      <p:ext uri="{BB962C8B-B14F-4D97-AF65-F5344CB8AC3E}">
        <p14:creationId xmlns:p14="http://schemas.microsoft.com/office/powerpoint/2010/main" val="764560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407D8D79-B7A6-2248-9189-96373A2BE0AD}" type="slidenum">
              <a:rPr lang="en-US" altLang="en-US"/>
              <a:pPr eaLnBrk="1" hangingPunct="1"/>
              <a:t>11</a:t>
            </a:fld>
            <a:endParaRPr lang="en-US" altLang="en-US"/>
          </a:p>
        </p:txBody>
      </p:sp>
      <p:sp>
        <p:nvSpPr>
          <p:cNvPr id="112643" name="Rectangle 2"/>
          <p:cNvSpPr>
            <a:spLocks noGrp="1" noRot="1" noChangeAspect="1" noChangeArrowheads="1" noTextEdit="1"/>
          </p:cNvSpPr>
          <p:nvPr>
            <p:ph type="sldImg"/>
          </p:nvPr>
        </p:nvSpPr>
        <p:spPr>
          <a:xfrm>
            <a:off x="1257300" y="719138"/>
            <a:ext cx="4800600" cy="3600450"/>
          </a:xfrm>
          <a:ln/>
        </p:spPr>
      </p:sp>
      <p:sp>
        <p:nvSpPr>
          <p:cNvPr id="112644"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88721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
        <p:nvSpPr>
          <p:cNvPr id="78852" name="Slide Number Placeholder 3"/>
          <p:cNvSpPr>
            <a:spLocks noGrp="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93E1B94-6CDC-E548-AB99-120D2932E7EC}" type="slidenum">
              <a:rPr lang="en-US" altLang="en-US"/>
              <a:pPr eaLnBrk="1" hangingPunct="1"/>
              <a:t>12</a:t>
            </a:fld>
            <a:endParaRPr lang="en-US" altLang="en-US"/>
          </a:p>
        </p:txBody>
      </p:sp>
    </p:spTree>
    <p:extLst>
      <p:ext uri="{BB962C8B-B14F-4D97-AF65-F5344CB8AC3E}">
        <p14:creationId xmlns:p14="http://schemas.microsoft.com/office/powerpoint/2010/main" val="764560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548BF198-AC9D-314B-AA58-11FB84DA8B7F}" type="slidenum">
              <a:rPr lang="en-US" altLang="en-US"/>
              <a:pPr eaLnBrk="1" hangingPunct="1"/>
              <a:t>14</a:t>
            </a:fld>
            <a:endParaRPr lang="en-US"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327396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A95454B4-2C3E-494E-B05E-90142A3BF737}" type="slidenum">
              <a:rPr lang="en-US" altLang="en-US"/>
              <a:pPr eaLnBrk="1" hangingPunct="1"/>
              <a:t>15</a:t>
            </a:fld>
            <a:endParaRPr lang="en-US" alt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966139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4AFF36CE-3838-D64E-A583-184C1718211F}" type="slidenum">
              <a:rPr lang="en-US" altLang="en-US"/>
              <a:pPr eaLnBrk="1" hangingPunct="1"/>
              <a:t>16</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03986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C9E791F2-5882-2D49-8022-E3DAF4ED64C0}" type="slidenum">
              <a:rPr lang="en-US" altLang="en-US"/>
              <a:pPr eaLnBrk="1" hangingPunct="1"/>
              <a:t>17</a:t>
            </a:fld>
            <a:endParaRPr lang="en-US"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501706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ea typeface="ＭＳ Ｐゴシック" charset="0"/>
              </a:defRPr>
            </a:lvl1pPr>
            <a:lvl2pPr marL="742950" indent="-285750" defTabSz="966788" eaLnBrk="0" hangingPunct="0">
              <a:defRPr>
                <a:solidFill>
                  <a:schemeClr val="tx1"/>
                </a:solidFill>
                <a:latin typeface="Arial" charset="0"/>
                <a:ea typeface="ＭＳ Ｐゴシック" charset="0"/>
              </a:defRPr>
            </a:lvl2pPr>
            <a:lvl3pPr marL="1143000" indent="-228600" defTabSz="966788" eaLnBrk="0" hangingPunct="0">
              <a:defRPr>
                <a:solidFill>
                  <a:schemeClr val="tx1"/>
                </a:solidFill>
                <a:latin typeface="Arial" charset="0"/>
                <a:ea typeface="ＭＳ Ｐゴシック" charset="0"/>
              </a:defRPr>
            </a:lvl3pPr>
            <a:lvl4pPr marL="1600200" indent="-228600" defTabSz="966788" eaLnBrk="0" hangingPunct="0">
              <a:defRPr>
                <a:solidFill>
                  <a:schemeClr val="tx1"/>
                </a:solidFill>
                <a:latin typeface="Arial" charset="0"/>
                <a:ea typeface="ＭＳ Ｐゴシック" charset="0"/>
              </a:defRPr>
            </a:lvl4pPr>
            <a:lvl5pPr marL="2057400" indent="-228600" defTabSz="966788" eaLnBrk="0" hangingPunct="0">
              <a:defRPr>
                <a:solidFill>
                  <a:schemeClr val="tx1"/>
                </a:solidFill>
                <a:latin typeface="Arial" charset="0"/>
                <a:ea typeface="ＭＳ Ｐゴシック" charset="0"/>
              </a:defRPr>
            </a:lvl5pPr>
            <a:lvl6pPr marL="2514600" indent="-228600" defTabSz="966788" eaLnBrk="0" fontAlgn="base" hangingPunct="0">
              <a:spcBef>
                <a:spcPct val="0"/>
              </a:spcBef>
              <a:spcAft>
                <a:spcPct val="0"/>
              </a:spcAft>
              <a:defRPr>
                <a:solidFill>
                  <a:schemeClr val="tx1"/>
                </a:solidFill>
                <a:latin typeface="Arial" charset="0"/>
                <a:ea typeface="ＭＳ Ｐゴシック" charset="0"/>
              </a:defRPr>
            </a:lvl6pPr>
            <a:lvl7pPr marL="2971800" indent="-228600" defTabSz="966788" eaLnBrk="0" fontAlgn="base" hangingPunct="0">
              <a:spcBef>
                <a:spcPct val="0"/>
              </a:spcBef>
              <a:spcAft>
                <a:spcPct val="0"/>
              </a:spcAft>
              <a:defRPr>
                <a:solidFill>
                  <a:schemeClr val="tx1"/>
                </a:solidFill>
                <a:latin typeface="Arial" charset="0"/>
                <a:ea typeface="ＭＳ Ｐゴシック" charset="0"/>
              </a:defRPr>
            </a:lvl7pPr>
            <a:lvl8pPr marL="3429000" indent="-228600" defTabSz="966788" eaLnBrk="0" fontAlgn="base" hangingPunct="0">
              <a:spcBef>
                <a:spcPct val="0"/>
              </a:spcBef>
              <a:spcAft>
                <a:spcPct val="0"/>
              </a:spcAft>
              <a:defRPr>
                <a:solidFill>
                  <a:schemeClr val="tx1"/>
                </a:solidFill>
                <a:latin typeface="Arial" charset="0"/>
                <a:ea typeface="ＭＳ Ｐゴシック" charset="0"/>
              </a:defRPr>
            </a:lvl8pPr>
            <a:lvl9pPr marL="3886200" indent="-228600" defTabSz="9667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3B1042D-CD38-D443-ADD8-A87B93CB76EE}" type="slidenum">
              <a:rPr lang="en-US"/>
              <a:pPr eaLnBrk="1" hangingPunct="1"/>
              <a:t>18</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p>
        </p:txBody>
      </p:sp>
    </p:spTree>
    <p:extLst>
      <p:ext uri="{BB962C8B-B14F-4D97-AF65-F5344CB8AC3E}">
        <p14:creationId xmlns:p14="http://schemas.microsoft.com/office/powerpoint/2010/main" val="1679229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0162C478-CBED-6642-B86D-D1A06473D583}" type="slidenum">
              <a:rPr lang="en-US" altLang="en-US"/>
              <a:pPr eaLnBrk="1" hangingPunct="1"/>
              <a:t>19</a:t>
            </a:fld>
            <a:endParaRPr lang="en-US"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322477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0A5281DA-42D9-A849-A9C0-9F716A375F64}" type="slidenum">
              <a:rPr lang="en-US" altLang="en-US"/>
              <a:pPr eaLnBrk="1" hangingPunct="1"/>
              <a:t>20</a:t>
            </a:fld>
            <a:endParaRPr lang="en-US"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654853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70FB7BB-13F6-1145-A06A-9B9C5BC6BCBD}" type="slidenum">
              <a:rPr lang="en-US" altLang="en-US"/>
              <a:pPr eaLnBrk="1" hangingPunct="1"/>
              <a:t>21</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695045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4862159C-99C6-AE48-8DB9-6067B0269041}" type="slidenum">
              <a:rPr lang="en-US" altLang="en-US"/>
              <a:pPr eaLnBrk="1" hangingPunct="1"/>
              <a:t>22</a:t>
            </a:fld>
            <a:endParaRPr lang="en-US" altLang="en-US"/>
          </a:p>
        </p:txBody>
      </p:sp>
      <p:sp>
        <p:nvSpPr>
          <p:cNvPr id="84995" name="Rectangle 2"/>
          <p:cNvSpPr>
            <a:spLocks noGrp="1" noRot="1" noChangeAspect="1" noChangeArrowheads="1" noTextEdit="1"/>
          </p:cNvSpPr>
          <p:nvPr>
            <p:ph type="sldImg"/>
          </p:nvPr>
        </p:nvSpPr>
        <p:spPr>
          <a:xfrm>
            <a:off x="1257300" y="720725"/>
            <a:ext cx="4800600" cy="3600450"/>
          </a:xfrm>
          <a:ln/>
        </p:spPr>
      </p:sp>
      <p:sp>
        <p:nvSpPr>
          <p:cNvPr id="84996" name="Rectangle 3"/>
          <p:cNvSpPr>
            <a:spLocks noGrp="1" noChangeArrowheads="1"/>
          </p:cNvSpPr>
          <p:nvPr>
            <p:ph type="body" idx="1"/>
          </p:nvPr>
        </p:nvSpPr>
        <p:spPr>
          <a:xfrm>
            <a:off x="731838" y="4560888"/>
            <a:ext cx="5851525" cy="4319587"/>
          </a:xfrm>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336677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F5EC23DE-034C-3D41-8DE8-A20A8F1ED52F}" type="slidenum">
              <a:rPr lang="en-US" altLang="en-US"/>
              <a:pPr eaLnBrk="1" hangingPunct="1"/>
              <a:t>23</a:t>
            </a:fld>
            <a:endParaRPr lang="en-US" altLang="en-US"/>
          </a:p>
        </p:txBody>
      </p:sp>
      <p:sp>
        <p:nvSpPr>
          <p:cNvPr id="86019" name="Rectangle 2"/>
          <p:cNvSpPr>
            <a:spLocks noGrp="1" noRot="1" noChangeAspect="1" noChangeArrowheads="1" noTextEdit="1"/>
          </p:cNvSpPr>
          <p:nvPr>
            <p:ph type="sldImg"/>
          </p:nvPr>
        </p:nvSpPr>
        <p:spPr>
          <a:xfrm>
            <a:off x="1257300" y="720725"/>
            <a:ext cx="4800600" cy="3600450"/>
          </a:xfrm>
          <a:ln/>
        </p:spPr>
      </p:sp>
      <p:sp>
        <p:nvSpPr>
          <p:cNvPr id="86020"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Not symmetric</a:t>
            </a:r>
          </a:p>
          <a:p>
            <a:pPr eaLnBrk="1" hangingPunct="1"/>
            <a:r>
              <a:rPr lang="en-US" altLang="en-US"/>
              <a:t>We can have multiple French words aligned to the same English word</a:t>
            </a:r>
          </a:p>
          <a:p>
            <a:pPr eaLnBrk="1" hangingPunct="1"/>
            <a:r>
              <a:rPr lang="en-US" altLang="en-US"/>
              <a:t>Can we have multiple English words aligned to the same French word?</a:t>
            </a:r>
          </a:p>
        </p:txBody>
      </p:sp>
    </p:spTree>
    <p:extLst>
      <p:ext uri="{BB962C8B-B14F-4D97-AF65-F5344CB8AC3E}">
        <p14:creationId xmlns:p14="http://schemas.microsoft.com/office/powerpoint/2010/main" val="366354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
        <p:nvSpPr>
          <p:cNvPr id="88068" name="Slide Number Placeholder 3"/>
          <p:cNvSpPr>
            <a:spLocks noGrp="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CC093A6D-8B18-9249-B3C0-796314C508F2}" type="slidenum">
              <a:rPr lang="en-US" altLang="en-US"/>
              <a:pPr eaLnBrk="1" hangingPunct="1"/>
              <a:t>24</a:t>
            </a:fld>
            <a:endParaRPr lang="en-US" altLang="en-US"/>
          </a:p>
        </p:txBody>
      </p:sp>
    </p:spTree>
    <p:extLst>
      <p:ext uri="{BB962C8B-B14F-4D97-AF65-F5344CB8AC3E}">
        <p14:creationId xmlns:p14="http://schemas.microsoft.com/office/powerpoint/2010/main" val="701318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41B5C538-8EE3-B040-B7E9-7FDFB53893C8}" type="slidenum">
              <a:rPr lang="en-US" altLang="en-US"/>
              <a:pPr eaLnBrk="1" hangingPunct="1"/>
              <a:t>25</a:t>
            </a:fld>
            <a:endParaRPr lang="en-US" altLang="en-US"/>
          </a:p>
        </p:txBody>
      </p:sp>
      <p:sp>
        <p:nvSpPr>
          <p:cNvPr id="89091" name="Rectangle 2"/>
          <p:cNvSpPr>
            <a:spLocks noGrp="1" noRot="1" noChangeAspect="1" noChangeArrowheads="1" noTextEdit="1"/>
          </p:cNvSpPr>
          <p:nvPr>
            <p:ph type="sldImg"/>
          </p:nvPr>
        </p:nvSpPr>
        <p:spPr>
          <a:xfrm>
            <a:off x="1257300" y="719138"/>
            <a:ext cx="4802188" cy="3602037"/>
          </a:xfrm>
          <a:ln/>
        </p:spPr>
      </p:sp>
      <p:sp>
        <p:nvSpPr>
          <p:cNvPr id="8909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ltLang="en-US"/>
          </a:p>
        </p:txBody>
      </p:sp>
    </p:spTree>
    <p:extLst>
      <p:ext uri="{BB962C8B-B14F-4D97-AF65-F5344CB8AC3E}">
        <p14:creationId xmlns:p14="http://schemas.microsoft.com/office/powerpoint/2010/main" val="1687092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2125A16F-CA33-8E4E-8597-5C02EC696642}" type="slidenum">
              <a:rPr lang="en-US" altLang="en-US"/>
              <a:pPr eaLnBrk="1" hangingPunct="1"/>
              <a:t>26</a:t>
            </a:fld>
            <a:endParaRPr lang="en-US" altLang="en-US"/>
          </a:p>
        </p:txBody>
      </p:sp>
      <p:sp>
        <p:nvSpPr>
          <p:cNvPr id="93187" name="Rectangle 2"/>
          <p:cNvSpPr>
            <a:spLocks noGrp="1" noRot="1" noChangeAspect="1" noChangeArrowheads="1" noTextEdit="1"/>
          </p:cNvSpPr>
          <p:nvPr>
            <p:ph type="sldImg"/>
          </p:nvPr>
        </p:nvSpPr>
        <p:spPr>
          <a:xfrm>
            <a:off x="1257300" y="720725"/>
            <a:ext cx="4800600" cy="3600450"/>
          </a:xfrm>
          <a:ln/>
        </p:spPr>
      </p:sp>
      <p:sp>
        <p:nvSpPr>
          <p:cNvPr id="93188"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The score of a word link will only depend on lexical translation parameters, not on the positions of the words</a:t>
            </a:r>
          </a:p>
        </p:txBody>
      </p:sp>
    </p:spTree>
    <p:extLst>
      <p:ext uri="{BB962C8B-B14F-4D97-AF65-F5344CB8AC3E}">
        <p14:creationId xmlns:p14="http://schemas.microsoft.com/office/powerpoint/2010/main" val="761072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2125A16F-CA33-8E4E-8597-5C02EC696642}" type="slidenum">
              <a:rPr lang="en-US" altLang="en-US"/>
              <a:pPr eaLnBrk="1" hangingPunct="1"/>
              <a:t>27</a:t>
            </a:fld>
            <a:endParaRPr lang="en-US" altLang="en-US"/>
          </a:p>
        </p:txBody>
      </p:sp>
      <p:sp>
        <p:nvSpPr>
          <p:cNvPr id="93187" name="Rectangle 2"/>
          <p:cNvSpPr>
            <a:spLocks noGrp="1" noRot="1" noChangeAspect="1" noChangeArrowheads="1" noTextEdit="1"/>
          </p:cNvSpPr>
          <p:nvPr>
            <p:ph type="sldImg"/>
          </p:nvPr>
        </p:nvSpPr>
        <p:spPr>
          <a:xfrm>
            <a:off x="1257300" y="720725"/>
            <a:ext cx="4800600" cy="3600450"/>
          </a:xfrm>
          <a:ln/>
        </p:spPr>
      </p:sp>
      <p:sp>
        <p:nvSpPr>
          <p:cNvPr id="93188"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The score of a word link will only depend on lexical translation parameters, not on the positions of the words</a:t>
            </a:r>
          </a:p>
        </p:txBody>
      </p:sp>
    </p:spTree>
    <p:extLst>
      <p:ext uri="{BB962C8B-B14F-4D97-AF65-F5344CB8AC3E}">
        <p14:creationId xmlns:p14="http://schemas.microsoft.com/office/powerpoint/2010/main" val="761072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2125A16F-CA33-8E4E-8597-5C02EC696642}" type="slidenum">
              <a:rPr lang="en-US" altLang="en-US"/>
              <a:pPr eaLnBrk="1" hangingPunct="1"/>
              <a:t>28</a:t>
            </a:fld>
            <a:endParaRPr lang="en-US" altLang="en-US"/>
          </a:p>
        </p:txBody>
      </p:sp>
      <p:sp>
        <p:nvSpPr>
          <p:cNvPr id="93187" name="Rectangle 2"/>
          <p:cNvSpPr>
            <a:spLocks noGrp="1" noRot="1" noChangeAspect="1" noChangeArrowheads="1" noTextEdit="1"/>
          </p:cNvSpPr>
          <p:nvPr>
            <p:ph type="sldImg"/>
          </p:nvPr>
        </p:nvSpPr>
        <p:spPr>
          <a:xfrm>
            <a:off x="1257300" y="720725"/>
            <a:ext cx="4800600" cy="3600450"/>
          </a:xfrm>
          <a:ln/>
        </p:spPr>
      </p:sp>
      <p:sp>
        <p:nvSpPr>
          <p:cNvPr id="93188"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The score of a word link will only depend on lexical translation parameters, not on the positions of the words</a:t>
            </a:r>
          </a:p>
        </p:txBody>
      </p:sp>
    </p:spTree>
    <p:extLst>
      <p:ext uri="{BB962C8B-B14F-4D97-AF65-F5344CB8AC3E}">
        <p14:creationId xmlns:p14="http://schemas.microsoft.com/office/powerpoint/2010/main" val="761072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1BDCA075-B1F5-A147-B28A-2F6BC614EA0B}" type="slidenum">
              <a:rPr lang="en-US" altLang="en-US"/>
              <a:pPr eaLnBrk="1" hangingPunct="1"/>
              <a:t>29</a:t>
            </a:fld>
            <a:endParaRPr lang="en-US" altLang="en-US"/>
          </a:p>
        </p:txBody>
      </p:sp>
      <p:sp>
        <p:nvSpPr>
          <p:cNvPr id="94211" name="Rectangle 2"/>
          <p:cNvSpPr>
            <a:spLocks noGrp="1" noRot="1" noChangeAspect="1" noChangeArrowheads="1" noTextEdit="1"/>
          </p:cNvSpPr>
          <p:nvPr>
            <p:ph type="sldImg"/>
          </p:nvPr>
        </p:nvSpPr>
        <p:spPr>
          <a:xfrm>
            <a:off x="1257300" y="720725"/>
            <a:ext cx="4800600" cy="3600450"/>
          </a:xfrm>
          <a:ln/>
        </p:spPr>
      </p:sp>
      <p:sp>
        <p:nvSpPr>
          <p:cNvPr id="94212"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The score of a word link will only depend on lexical translation parameters, not on the positions of the words</a:t>
            </a:r>
          </a:p>
        </p:txBody>
      </p:sp>
    </p:spTree>
    <p:extLst>
      <p:ext uri="{BB962C8B-B14F-4D97-AF65-F5344CB8AC3E}">
        <p14:creationId xmlns:p14="http://schemas.microsoft.com/office/powerpoint/2010/main" val="19337526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18D1D1E6-2135-C94D-9D10-33A6099E4465}" type="slidenum">
              <a:rPr lang="en-US" altLang="en-US"/>
              <a:pPr eaLnBrk="1" hangingPunct="1"/>
              <a:t>30</a:t>
            </a:fld>
            <a:endParaRPr lang="en-US" altLang="en-US"/>
          </a:p>
        </p:txBody>
      </p:sp>
      <p:sp>
        <p:nvSpPr>
          <p:cNvPr id="95235" name="Rectangle 2"/>
          <p:cNvSpPr>
            <a:spLocks noGrp="1" noRot="1" noChangeAspect="1" noChangeArrowheads="1" noTextEdit="1"/>
          </p:cNvSpPr>
          <p:nvPr>
            <p:ph type="sldImg"/>
          </p:nvPr>
        </p:nvSpPr>
        <p:spPr>
          <a:xfrm>
            <a:off x="1257300" y="720725"/>
            <a:ext cx="4800600" cy="3600450"/>
          </a:xfrm>
          <a:ln/>
        </p:spPr>
      </p:sp>
      <p:sp>
        <p:nvSpPr>
          <p:cNvPr id="95236" name="Rectangle 3"/>
          <p:cNvSpPr>
            <a:spLocks noGrp="1" noChangeArrowheads="1"/>
          </p:cNvSpPr>
          <p:nvPr>
            <p:ph type="body" idx="1"/>
          </p:nvPr>
        </p:nvSpPr>
        <p:spPr>
          <a:xfrm>
            <a:off x="731838" y="4560888"/>
            <a:ext cx="5851525" cy="4319587"/>
          </a:xfrm>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8122656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817C64A9-301F-D142-9E71-CFF03FBBDC0F}" type="slidenum">
              <a:rPr lang="en-US" altLang="en-US"/>
              <a:pPr eaLnBrk="1" hangingPunct="1"/>
              <a:t>31</a:t>
            </a:fld>
            <a:endParaRPr lang="en-US" altLang="en-US"/>
          </a:p>
        </p:txBody>
      </p:sp>
      <p:sp>
        <p:nvSpPr>
          <p:cNvPr id="101379" name="Rectangle 2"/>
          <p:cNvSpPr>
            <a:spLocks noGrp="1" noRot="1" noChangeAspect="1" noChangeArrowheads="1" noTextEdit="1"/>
          </p:cNvSpPr>
          <p:nvPr>
            <p:ph type="sldImg"/>
          </p:nvPr>
        </p:nvSpPr>
        <p:spPr>
          <a:xfrm>
            <a:off x="1257300" y="719138"/>
            <a:ext cx="4802188" cy="3602037"/>
          </a:xfrm>
          <a:ln/>
        </p:spPr>
      </p:sp>
      <p:sp>
        <p:nvSpPr>
          <p:cNvPr id="10138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565224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BFDC1E48-2CBD-FE4D-82CD-431AC2450D5D}" type="slidenum">
              <a:rPr lang="en-US" altLang="en-US"/>
              <a:pPr eaLnBrk="1" hangingPunct="1"/>
              <a:t>32</a:t>
            </a:fld>
            <a:endParaRPr lang="en-US" altLang="en-US"/>
          </a:p>
        </p:txBody>
      </p:sp>
      <p:sp>
        <p:nvSpPr>
          <p:cNvPr id="108547" name="Rectangle 2"/>
          <p:cNvSpPr>
            <a:spLocks noGrp="1" noRot="1" noChangeAspect="1" noChangeArrowheads="1" noTextEdit="1"/>
          </p:cNvSpPr>
          <p:nvPr>
            <p:ph type="sldImg"/>
          </p:nvPr>
        </p:nvSpPr>
        <p:spPr>
          <a:xfrm>
            <a:off x="1257300" y="720725"/>
            <a:ext cx="4800600" cy="3600450"/>
          </a:xfrm>
          <a:ln/>
        </p:spPr>
      </p:sp>
      <p:sp>
        <p:nvSpPr>
          <p:cNvPr id="108548" name="Rectangle 3"/>
          <p:cNvSpPr>
            <a:spLocks noGrp="1" noChangeArrowheads="1"/>
          </p:cNvSpPr>
          <p:nvPr>
            <p:ph type="body" idx="1"/>
          </p:nvPr>
        </p:nvSpPr>
        <p:spPr>
          <a:xfrm>
            <a:off x="731838" y="4560888"/>
            <a:ext cx="5851525" cy="4319587"/>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en-US" altLang="en-US"/>
              <a:t>The score of a word link will only depend on lexical translation parameters, not on the positions of the words</a:t>
            </a:r>
          </a:p>
        </p:txBody>
      </p:sp>
    </p:spTree>
    <p:extLst>
      <p:ext uri="{BB962C8B-B14F-4D97-AF65-F5344CB8AC3E}">
        <p14:creationId xmlns:p14="http://schemas.microsoft.com/office/powerpoint/2010/main" val="9100369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60135686-E5E0-4742-A0EF-A8D20278D459}" type="slidenum">
              <a:rPr lang="en-US" altLang="en-US"/>
              <a:pPr eaLnBrk="1" hangingPunct="1"/>
              <a:t>33</a:t>
            </a:fld>
            <a:endParaRPr lang="en-US" altLang="en-US"/>
          </a:p>
        </p:txBody>
      </p:sp>
      <p:sp>
        <p:nvSpPr>
          <p:cNvPr id="109571" name="Rectangle 2"/>
          <p:cNvSpPr>
            <a:spLocks noGrp="1" noRot="1" noChangeAspect="1" noChangeArrowheads="1" noTextEdit="1"/>
          </p:cNvSpPr>
          <p:nvPr>
            <p:ph type="sldImg"/>
          </p:nvPr>
        </p:nvSpPr>
        <p:spPr>
          <a:xfrm>
            <a:off x="1257300" y="719138"/>
            <a:ext cx="4802188" cy="3602037"/>
          </a:xfrm>
          <a:ln/>
        </p:spPr>
      </p:sp>
      <p:sp>
        <p:nvSpPr>
          <p:cNvPr id="10957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879967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274A24E8-F3A6-084E-A105-E7D954F9145D}" type="slidenum">
              <a:rPr lang="en-US" altLang="en-US"/>
              <a:pPr eaLnBrk="1" hangingPunct="1"/>
              <a:t>34</a:t>
            </a:fld>
            <a:endParaRPr lang="en-US" altLang="en-US"/>
          </a:p>
        </p:txBody>
      </p:sp>
      <p:sp>
        <p:nvSpPr>
          <p:cNvPr id="113667" name="Rectangle 2"/>
          <p:cNvSpPr>
            <a:spLocks noGrp="1" noRot="1" noChangeAspect="1" noChangeArrowheads="1" noTextEdit="1"/>
          </p:cNvSpPr>
          <p:nvPr>
            <p:ph type="sldImg"/>
          </p:nvPr>
        </p:nvSpPr>
        <p:spPr>
          <a:xfrm>
            <a:off x="1257300" y="719138"/>
            <a:ext cx="4802188" cy="3602037"/>
          </a:xfrm>
          <a:ln/>
        </p:spPr>
      </p:sp>
      <p:sp>
        <p:nvSpPr>
          <p:cNvPr id="113668"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940750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87AADB71-E2C1-BF44-B21E-48EDF527A43B}" type="slidenum">
              <a:rPr lang="en-US" altLang="en-US"/>
              <a:pPr eaLnBrk="1" hangingPunct="1"/>
              <a:t>35</a:t>
            </a:fld>
            <a:endParaRPr lang="en-US" altLang="en-US"/>
          </a:p>
        </p:txBody>
      </p:sp>
      <p:sp>
        <p:nvSpPr>
          <p:cNvPr id="114691" name="Rectangle 2"/>
          <p:cNvSpPr>
            <a:spLocks noGrp="1" noRot="1" noChangeAspect="1" noChangeArrowheads="1" noTextEdit="1"/>
          </p:cNvSpPr>
          <p:nvPr>
            <p:ph type="sldImg"/>
          </p:nvPr>
        </p:nvSpPr>
        <p:spPr>
          <a:xfrm>
            <a:off x="1257300" y="719138"/>
            <a:ext cx="4802188" cy="3602037"/>
          </a:xfrm>
          <a:ln/>
        </p:spPr>
      </p:sp>
      <p:sp>
        <p:nvSpPr>
          <p:cNvPr id="11469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7303122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ACA6A0DF-89FF-5F43-8D49-A0B6199C8E9F}" type="slidenum">
              <a:rPr lang="en-US" altLang="en-US"/>
              <a:pPr eaLnBrk="1" hangingPunct="1"/>
              <a:t>36</a:t>
            </a:fld>
            <a:endParaRPr lang="en-US" altLang="en-US"/>
          </a:p>
        </p:txBody>
      </p:sp>
      <p:sp>
        <p:nvSpPr>
          <p:cNvPr id="115715" name="Rectangle 2"/>
          <p:cNvSpPr>
            <a:spLocks noGrp="1" noRot="1" noChangeAspect="1" noChangeArrowheads="1" noTextEdit="1"/>
          </p:cNvSpPr>
          <p:nvPr>
            <p:ph type="sldImg"/>
          </p:nvPr>
        </p:nvSpPr>
        <p:spPr>
          <a:xfrm>
            <a:off x="1257300" y="719138"/>
            <a:ext cx="4802188" cy="3602037"/>
          </a:xfrm>
          <a:ln/>
        </p:spPr>
      </p:sp>
      <p:sp>
        <p:nvSpPr>
          <p:cNvPr id="115716"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949793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2A578CFE-1EE2-1246-AAD7-4A2956F5CEEF}" type="slidenum">
              <a:rPr lang="en-US" altLang="en-US"/>
              <a:pPr eaLnBrk="1" hangingPunct="1"/>
              <a:t>37</a:t>
            </a:fld>
            <a:endParaRPr lang="en-US" altLang="en-US"/>
          </a:p>
        </p:txBody>
      </p:sp>
      <p:sp>
        <p:nvSpPr>
          <p:cNvPr id="116739" name="Rectangle 2"/>
          <p:cNvSpPr>
            <a:spLocks noGrp="1" noRot="1" noChangeAspect="1" noChangeArrowheads="1" noTextEdit="1"/>
          </p:cNvSpPr>
          <p:nvPr>
            <p:ph type="sldImg"/>
          </p:nvPr>
        </p:nvSpPr>
        <p:spPr>
          <a:xfrm>
            <a:off x="1257300" y="719138"/>
            <a:ext cx="4802188" cy="3602037"/>
          </a:xfrm>
          <a:ln/>
        </p:spPr>
      </p:sp>
      <p:sp>
        <p:nvSpPr>
          <p:cNvPr id="11674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766145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73838CF9-F33E-0041-9866-DD11B93BA242}" type="slidenum">
              <a:rPr lang="en-US" altLang="en-US"/>
              <a:pPr eaLnBrk="1" hangingPunct="1"/>
              <a:t>38</a:t>
            </a:fld>
            <a:endParaRPr lang="en-US" altLang="en-US"/>
          </a:p>
        </p:txBody>
      </p:sp>
      <p:sp>
        <p:nvSpPr>
          <p:cNvPr id="117763" name="Rectangle 2"/>
          <p:cNvSpPr>
            <a:spLocks noGrp="1" noRot="1" noChangeAspect="1" noChangeArrowheads="1" noTextEdit="1"/>
          </p:cNvSpPr>
          <p:nvPr>
            <p:ph type="sldImg"/>
          </p:nvPr>
        </p:nvSpPr>
        <p:spPr>
          <a:xfrm>
            <a:off x="1257300" y="719138"/>
            <a:ext cx="4802188" cy="3602037"/>
          </a:xfrm>
          <a:ln/>
        </p:spPr>
      </p:sp>
      <p:sp>
        <p:nvSpPr>
          <p:cNvPr id="117764"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320663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85702169-591D-A94B-A6DD-19748FC3E749}" type="slidenum">
              <a:rPr lang="en-US" altLang="en-US"/>
              <a:pPr eaLnBrk="1" hangingPunct="1"/>
              <a:t>39</a:t>
            </a:fld>
            <a:endParaRPr lang="en-US" altLang="en-US"/>
          </a:p>
        </p:txBody>
      </p:sp>
      <p:sp>
        <p:nvSpPr>
          <p:cNvPr id="118787" name="Rectangle 2"/>
          <p:cNvSpPr>
            <a:spLocks noGrp="1" noRot="1" noChangeAspect="1" noChangeArrowheads="1" noTextEdit="1"/>
          </p:cNvSpPr>
          <p:nvPr>
            <p:ph type="sldImg"/>
          </p:nvPr>
        </p:nvSpPr>
        <p:spPr>
          <a:xfrm>
            <a:off x="1257300" y="719138"/>
            <a:ext cx="4802188" cy="3602037"/>
          </a:xfrm>
          <a:ln/>
        </p:spPr>
      </p:sp>
      <p:sp>
        <p:nvSpPr>
          <p:cNvPr id="118788"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935451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BA7B4A9C-BD03-3D4D-BF18-D052E682B286}" type="slidenum">
              <a:rPr lang="en-US" altLang="en-US"/>
              <a:pPr eaLnBrk="1" hangingPunct="1"/>
              <a:t>40</a:t>
            </a:fld>
            <a:endParaRPr lang="en-US" altLang="en-US"/>
          </a:p>
        </p:txBody>
      </p:sp>
      <p:sp>
        <p:nvSpPr>
          <p:cNvPr id="119811" name="Rectangle 2"/>
          <p:cNvSpPr>
            <a:spLocks noGrp="1" noRot="1" noChangeAspect="1" noChangeArrowheads="1" noTextEdit="1"/>
          </p:cNvSpPr>
          <p:nvPr>
            <p:ph type="sldImg"/>
          </p:nvPr>
        </p:nvSpPr>
        <p:spPr>
          <a:xfrm>
            <a:off x="1257300" y="719138"/>
            <a:ext cx="4802188" cy="3602037"/>
          </a:xfrm>
          <a:ln/>
        </p:spPr>
      </p:sp>
      <p:sp>
        <p:nvSpPr>
          <p:cNvPr id="119812"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8407361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BD68C84E-A6E2-D446-A717-4309971F5506}" type="slidenum">
              <a:rPr lang="en-US" altLang="en-US"/>
              <a:pPr eaLnBrk="1" hangingPunct="1"/>
              <a:t>41</a:t>
            </a:fld>
            <a:endParaRPr lang="en-US" altLang="en-U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3351283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79F0C94A-3AB5-A84E-B302-7C947AB2FF42}" type="slidenum">
              <a:rPr lang="en-US" altLang="en-US"/>
              <a:pPr eaLnBrk="1" hangingPunct="1"/>
              <a:t>42</a:t>
            </a:fld>
            <a:endParaRPr lang="en-US" alt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extLst>
            <a:ext uri="{FAA26D3D-D897-4be2-8F04-BA451C77F1D7}">
              <ma14:placeholderFlag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4362441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52</a:t>
            </a:fld>
            <a:endParaRPr lang="en-US"/>
          </a:p>
        </p:txBody>
      </p:sp>
    </p:spTree>
    <p:extLst>
      <p:ext uri="{BB962C8B-B14F-4D97-AF65-F5344CB8AC3E}">
        <p14:creationId xmlns:p14="http://schemas.microsoft.com/office/powerpoint/2010/main" val="12523126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53</a:t>
            </a:fld>
            <a:endParaRPr lang="en-US"/>
          </a:p>
        </p:txBody>
      </p:sp>
    </p:spTree>
    <p:extLst>
      <p:ext uri="{BB962C8B-B14F-4D97-AF65-F5344CB8AC3E}">
        <p14:creationId xmlns:p14="http://schemas.microsoft.com/office/powerpoint/2010/main" val="13945759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54</a:t>
            </a:fld>
            <a:endParaRPr lang="en-US"/>
          </a:p>
        </p:txBody>
      </p:sp>
    </p:spTree>
    <p:extLst>
      <p:ext uri="{BB962C8B-B14F-4D97-AF65-F5344CB8AC3E}">
        <p14:creationId xmlns:p14="http://schemas.microsoft.com/office/powerpoint/2010/main" val="1533906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55</a:t>
            </a:fld>
            <a:endParaRPr lang="en-US"/>
          </a:p>
        </p:txBody>
      </p:sp>
    </p:spTree>
    <p:extLst>
      <p:ext uri="{BB962C8B-B14F-4D97-AF65-F5344CB8AC3E}">
        <p14:creationId xmlns:p14="http://schemas.microsoft.com/office/powerpoint/2010/main" val="5867805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56</a:t>
            </a:fld>
            <a:endParaRPr lang="en-US"/>
          </a:p>
        </p:txBody>
      </p:sp>
    </p:spTree>
    <p:extLst>
      <p:ext uri="{BB962C8B-B14F-4D97-AF65-F5344CB8AC3E}">
        <p14:creationId xmlns:p14="http://schemas.microsoft.com/office/powerpoint/2010/main" val="20851389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57</a:t>
            </a:fld>
            <a:endParaRPr lang="en-US"/>
          </a:p>
        </p:txBody>
      </p:sp>
    </p:spTree>
    <p:extLst>
      <p:ext uri="{BB962C8B-B14F-4D97-AF65-F5344CB8AC3E}">
        <p14:creationId xmlns:p14="http://schemas.microsoft.com/office/powerpoint/2010/main" val="805153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58</a:t>
            </a:fld>
            <a:endParaRPr lang="en-US"/>
          </a:p>
        </p:txBody>
      </p:sp>
    </p:spTree>
    <p:extLst>
      <p:ext uri="{BB962C8B-B14F-4D97-AF65-F5344CB8AC3E}">
        <p14:creationId xmlns:p14="http://schemas.microsoft.com/office/powerpoint/2010/main" val="13693837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59</a:t>
            </a:fld>
            <a:endParaRPr lang="en-US"/>
          </a:p>
        </p:txBody>
      </p:sp>
    </p:spTree>
    <p:extLst>
      <p:ext uri="{BB962C8B-B14F-4D97-AF65-F5344CB8AC3E}">
        <p14:creationId xmlns:p14="http://schemas.microsoft.com/office/powerpoint/2010/main" val="13693837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60</a:t>
            </a:fld>
            <a:endParaRPr lang="en-US"/>
          </a:p>
        </p:txBody>
      </p:sp>
    </p:spTree>
    <p:extLst>
      <p:ext uri="{BB962C8B-B14F-4D97-AF65-F5344CB8AC3E}">
        <p14:creationId xmlns:p14="http://schemas.microsoft.com/office/powerpoint/2010/main" val="18954533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61</a:t>
            </a:fld>
            <a:endParaRPr lang="en-US"/>
          </a:p>
        </p:txBody>
      </p:sp>
    </p:spTree>
    <p:extLst>
      <p:ext uri="{BB962C8B-B14F-4D97-AF65-F5344CB8AC3E}">
        <p14:creationId xmlns:p14="http://schemas.microsoft.com/office/powerpoint/2010/main" val="15177844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62</a:t>
            </a:fld>
            <a:endParaRPr lang="en-US"/>
          </a:p>
        </p:txBody>
      </p:sp>
    </p:spTree>
    <p:extLst>
      <p:ext uri="{BB962C8B-B14F-4D97-AF65-F5344CB8AC3E}">
        <p14:creationId xmlns:p14="http://schemas.microsoft.com/office/powerpoint/2010/main" val="8712834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Sharon's office said that, </a:t>
            </a:r>
            <a:r>
              <a:rPr lang="en-US" dirty="0" err="1" smtClean="0"/>
              <a:t>Mitzna</a:t>
            </a:r>
            <a:r>
              <a:rPr lang="en-US" dirty="0" smtClean="0"/>
              <a:t>, leader of the main opposition Labor Party, has conceded the election and telephoned Sharon for congratulation.	</a:t>
            </a:r>
          </a:p>
          <a:p>
            <a:r>
              <a:rPr lang="en-US" dirty="0" smtClean="0"/>
              <a:t>Sharon's office said, leader of the main opposition Labor Party recognized, and called the failure of Sharon's congratulations.</a:t>
            </a:r>
          </a:p>
          <a:p>
            <a:r>
              <a:rPr lang="en-US" dirty="0" smtClean="0"/>
              <a:t>Sharon's office said, leader of the main opposition Labor Party has admitted defeat and congratulatory call to Sharon.</a:t>
            </a:r>
          </a:p>
          <a:p>
            <a:r>
              <a:rPr lang="en-US" dirty="0" smtClean="0"/>
              <a:t>Sharon's office said, leader of the main opposition Labor Party has admitted defeat and congratulatory telephone calls to Sharon.</a:t>
            </a:r>
          </a:p>
          <a:p>
            <a:r>
              <a:rPr lang="en-US" dirty="0" smtClean="0"/>
              <a:t>According to a representative of Sharon's office, the leader of the main opposition Labor Party has admitted defeat and made the obligatory congratulating telephone call to Sharon.</a:t>
            </a:r>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63</a:t>
            </a:fld>
            <a:endParaRPr lang="en-US"/>
          </a:p>
        </p:txBody>
      </p:sp>
    </p:spTree>
    <p:extLst>
      <p:ext uri="{BB962C8B-B14F-4D97-AF65-F5344CB8AC3E}">
        <p14:creationId xmlns:p14="http://schemas.microsoft.com/office/powerpoint/2010/main" val="337942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Sharon's office said that, </a:t>
            </a:r>
            <a:r>
              <a:rPr lang="en-US" dirty="0" err="1" smtClean="0"/>
              <a:t>Mitzna</a:t>
            </a:r>
            <a:r>
              <a:rPr lang="en-US" dirty="0" smtClean="0"/>
              <a:t>, leader of the main opposition Labor Party, has conceded the election and telephoned Sharon for congratulation.	</a:t>
            </a:r>
          </a:p>
          <a:p>
            <a:r>
              <a:rPr lang="en-US" dirty="0" smtClean="0"/>
              <a:t>Sharon's office said, leader of the main opposition Labor Party recognized, and called the failure of Sharon's congratulations.</a:t>
            </a:r>
          </a:p>
          <a:p>
            <a:r>
              <a:rPr lang="en-US" dirty="0" smtClean="0"/>
              <a:t>Sharon's office said, leader of the main opposition Labor Party has admitted defeat and congratulatory call to Sharon.</a:t>
            </a:r>
          </a:p>
          <a:p>
            <a:r>
              <a:rPr lang="en-US" dirty="0" smtClean="0"/>
              <a:t>Sharon's office said, leader of the main opposition Labor Party has admitted defeat and congratulatory telephone calls to Sharon.</a:t>
            </a:r>
          </a:p>
          <a:p>
            <a:r>
              <a:rPr lang="en-US" dirty="0" smtClean="0"/>
              <a:t>According to a representative of Sharon's office, the leader of the main opposition Labor Party has admitted defeat and made the obligatory congratulating telephone call to Sharon.</a:t>
            </a:r>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64</a:t>
            </a:fld>
            <a:endParaRPr lang="en-US"/>
          </a:p>
        </p:txBody>
      </p:sp>
    </p:spTree>
    <p:extLst>
      <p:ext uri="{BB962C8B-B14F-4D97-AF65-F5344CB8AC3E}">
        <p14:creationId xmlns:p14="http://schemas.microsoft.com/office/powerpoint/2010/main" val="19164337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70</a:t>
            </a:fld>
            <a:endParaRPr lang="en-US" smtClean="0"/>
          </a:p>
        </p:txBody>
      </p:sp>
    </p:spTree>
    <p:extLst>
      <p:ext uri="{BB962C8B-B14F-4D97-AF65-F5344CB8AC3E}">
        <p14:creationId xmlns:p14="http://schemas.microsoft.com/office/powerpoint/2010/main" val="19596682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71</a:t>
            </a:fld>
            <a:endParaRPr lang="en-US" smtClean="0"/>
          </a:p>
        </p:txBody>
      </p:sp>
    </p:spTree>
    <p:extLst>
      <p:ext uri="{BB962C8B-B14F-4D97-AF65-F5344CB8AC3E}">
        <p14:creationId xmlns:p14="http://schemas.microsoft.com/office/powerpoint/2010/main" val="15168536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72</a:t>
            </a:fld>
            <a:endParaRPr lang="en-US" smtClean="0"/>
          </a:p>
        </p:txBody>
      </p:sp>
    </p:spTree>
    <p:extLst>
      <p:ext uri="{BB962C8B-B14F-4D97-AF65-F5344CB8AC3E}">
        <p14:creationId xmlns:p14="http://schemas.microsoft.com/office/powerpoint/2010/main" val="1254215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73</a:t>
            </a:fld>
            <a:endParaRPr lang="en-US" smtClean="0"/>
          </a:p>
        </p:txBody>
      </p:sp>
    </p:spTree>
    <p:extLst>
      <p:ext uri="{BB962C8B-B14F-4D97-AF65-F5344CB8AC3E}">
        <p14:creationId xmlns:p14="http://schemas.microsoft.com/office/powerpoint/2010/main" val="11073845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74</a:t>
            </a:fld>
            <a:endParaRPr lang="en-US" smtClean="0"/>
          </a:p>
        </p:txBody>
      </p:sp>
    </p:spTree>
    <p:extLst>
      <p:ext uri="{BB962C8B-B14F-4D97-AF65-F5344CB8AC3E}">
        <p14:creationId xmlns:p14="http://schemas.microsoft.com/office/powerpoint/2010/main" val="18438953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p:spPr>
        <p:txBody>
          <a:bodyPr/>
          <a:lstStyle/>
          <a:p>
            <a:r>
              <a:rPr lang="en-US" dirty="0" err="1" smtClean="0"/>
              <a:t>Overfits</a:t>
            </a:r>
            <a:r>
              <a:rPr lang="en-US" dirty="0" smtClean="0"/>
              <a:t> to training data</a:t>
            </a:r>
          </a:p>
          <a:p>
            <a:r>
              <a:rPr lang="en-US" dirty="0" smtClean="0"/>
              <a:t>Shows high variance across runs</a:t>
            </a:r>
          </a:p>
          <a:p>
            <a:r>
              <a:rPr lang="en-US" dirty="0" smtClean="0"/>
              <a:t>Works well for small feature sets (&lt;40 features), but fails for large feature sets</a:t>
            </a:r>
          </a:p>
          <a:p>
            <a:r>
              <a:rPr lang="en-US" dirty="0" smtClean="0"/>
              <a:t>Despite its shortcomings, minimum error rate training is the predominant approach to training MT models</a:t>
            </a:r>
          </a:p>
          <a:p>
            <a:endParaRPr lang="en-US" dirty="0" smtClean="0">
              <a:latin typeface="Arial" pitchFamily="34" charset="0"/>
            </a:endParaRPr>
          </a:p>
        </p:txBody>
      </p:sp>
      <p:sp>
        <p:nvSpPr>
          <p:cNvPr id="143364"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4916D174-7F62-4538-A4D3-72E684C21548}" type="slidenum">
              <a:rPr lang="en-US" smtClean="0"/>
              <a:pPr eaLnBrk="1" hangingPunct="1"/>
              <a:t>83</a:t>
            </a:fld>
            <a:endParaRPr lang="en-US" smtClean="0"/>
          </a:p>
        </p:txBody>
      </p:sp>
    </p:spTree>
    <p:extLst>
      <p:ext uri="{BB962C8B-B14F-4D97-AF65-F5344CB8AC3E}">
        <p14:creationId xmlns:p14="http://schemas.microsoft.com/office/powerpoint/2010/main" val="12569535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p:spPr>
        <p:txBody>
          <a:bodyPr/>
          <a:lstStyle/>
          <a:p>
            <a:endParaRPr lang="en-US" smtClean="0">
              <a:latin typeface="Arial" pitchFamily="34" charset="0"/>
            </a:endParaRPr>
          </a:p>
        </p:txBody>
      </p:sp>
      <p:sp>
        <p:nvSpPr>
          <p:cNvPr id="14438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BCC714DC-674E-441F-AC23-35FCBE6BDD24}" type="slidenum">
              <a:rPr lang="en-US" smtClean="0"/>
              <a:pPr eaLnBrk="1" hangingPunct="1"/>
              <a:t>84</a:t>
            </a:fld>
            <a:endParaRPr lang="en-US" smtClean="0"/>
          </a:p>
        </p:txBody>
      </p:sp>
    </p:spTree>
    <p:extLst>
      <p:ext uri="{BB962C8B-B14F-4D97-AF65-F5344CB8AC3E}">
        <p14:creationId xmlns:p14="http://schemas.microsoft.com/office/powerpoint/2010/main" val="10760204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87</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88</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89</a:t>
            </a:fld>
            <a:endParaRPr lang="en-US"/>
          </a:p>
        </p:txBody>
      </p:sp>
    </p:spTree>
    <p:extLst>
      <p:ext uri="{BB962C8B-B14F-4D97-AF65-F5344CB8AC3E}">
        <p14:creationId xmlns:p14="http://schemas.microsoft.com/office/powerpoint/2010/main" val="11652545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90</a:t>
            </a:fld>
            <a:endParaRPr lang="en-US"/>
          </a:p>
        </p:txBody>
      </p:sp>
    </p:spTree>
    <p:extLst>
      <p:ext uri="{BB962C8B-B14F-4D97-AF65-F5344CB8AC3E}">
        <p14:creationId xmlns:p14="http://schemas.microsoft.com/office/powerpoint/2010/main" val="9002363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91</a:t>
            </a:fld>
            <a:endParaRPr lang="en-US"/>
          </a:p>
        </p:txBody>
      </p:sp>
    </p:spTree>
    <p:extLst>
      <p:ext uri="{BB962C8B-B14F-4D97-AF65-F5344CB8AC3E}">
        <p14:creationId xmlns:p14="http://schemas.microsoft.com/office/powerpoint/2010/main" val="11771492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92</a:t>
            </a:fld>
            <a:endParaRPr lang="en-US"/>
          </a:p>
        </p:txBody>
      </p:sp>
    </p:spTree>
    <p:extLst>
      <p:ext uri="{BB962C8B-B14F-4D97-AF65-F5344CB8AC3E}">
        <p14:creationId xmlns:p14="http://schemas.microsoft.com/office/powerpoint/2010/main" val="13037045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93</a:t>
            </a:fld>
            <a:endParaRPr lang="en-US"/>
          </a:p>
        </p:txBody>
      </p:sp>
    </p:spTree>
    <p:extLst>
      <p:ext uri="{BB962C8B-B14F-4D97-AF65-F5344CB8AC3E}">
        <p14:creationId xmlns:p14="http://schemas.microsoft.com/office/powerpoint/2010/main" val="20768394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94</a:t>
            </a:fld>
            <a:endParaRPr lang="en-US"/>
          </a:p>
        </p:txBody>
      </p:sp>
    </p:spTree>
    <p:extLst>
      <p:ext uri="{BB962C8B-B14F-4D97-AF65-F5344CB8AC3E}">
        <p14:creationId xmlns:p14="http://schemas.microsoft.com/office/powerpoint/2010/main" val="9083832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95</a:t>
            </a:fld>
            <a:endParaRPr lang="en-US"/>
          </a:p>
        </p:txBody>
      </p:sp>
    </p:spTree>
    <p:extLst>
      <p:ext uri="{BB962C8B-B14F-4D97-AF65-F5344CB8AC3E}">
        <p14:creationId xmlns:p14="http://schemas.microsoft.com/office/powerpoint/2010/main" val="3165942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96</a:t>
            </a:fld>
            <a:endParaRPr lang="en-US"/>
          </a:p>
        </p:txBody>
      </p:sp>
    </p:spTree>
    <p:extLst>
      <p:ext uri="{BB962C8B-B14F-4D97-AF65-F5344CB8AC3E}">
        <p14:creationId xmlns:p14="http://schemas.microsoft.com/office/powerpoint/2010/main" val="3683090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97</a:t>
            </a:fld>
            <a:endParaRPr lang="en-US"/>
          </a:p>
        </p:txBody>
      </p:sp>
    </p:spTree>
    <p:extLst>
      <p:ext uri="{BB962C8B-B14F-4D97-AF65-F5344CB8AC3E}">
        <p14:creationId xmlns:p14="http://schemas.microsoft.com/office/powerpoint/2010/main" val="15232343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98</a:t>
            </a:fld>
            <a:endParaRPr lang="en-US"/>
          </a:p>
        </p:txBody>
      </p:sp>
    </p:spTree>
    <p:extLst>
      <p:ext uri="{BB962C8B-B14F-4D97-AF65-F5344CB8AC3E}">
        <p14:creationId xmlns:p14="http://schemas.microsoft.com/office/powerpoint/2010/main" val="2223980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99</a:t>
            </a:fld>
            <a:endParaRPr lang="en-US"/>
          </a:p>
        </p:txBody>
      </p:sp>
    </p:spTree>
    <p:extLst>
      <p:ext uri="{BB962C8B-B14F-4D97-AF65-F5344CB8AC3E}">
        <p14:creationId xmlns:p14="http://schemas.microsoft.com/office/powerpoint/2010/main" val="16287274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100</a:t>
            </a:fld>
            <a:endParaRPr lang="en-US"/>
          </a:p>
        </p:txBody>
      </p:sp>
    </p:spTree>
    <p:extLst>
      <p:ext uri="{BB962C8B-B14F-4D97-AF65-F5344CB8AC3E}">
        <p14:creationId xmlns:p14="http://schemas.microsoft.com/office/powerpoint/2010/main" val="2939654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101</a:t>
            </a:fld>
            <a:endParaRPr lang="en-US"/>
          </a:p>
        </p:txBody>
      </p:sp>
    </p:spTree>
    <p:extLst>
      <p:ext uri="{BB962C8B-B14F-4D97-AF65-F5344CB8AC3E}">
        <p14:creationId xmlns:p14="http://schemas.microsoft.com/office/powerpoint/2010/main" val="4618127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103</a:t>
            </a:fld>
            <a:endParaRPr lang="en-US"/>
          </a:p>
        </p:txBody>
      </p:sp>
    </p:spTree>
    <p:extLst>
      <p:ext uri="{BB962C8B-B14F-4D97-AF65-F5344CB8AC3E}">
        <p14:creationId xmlns:p14="http://schemas.microsoft.com/office/powerpoint/2010/main" val="1894265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96D5C3-7D28-8B4C-9264-68691EEF0446}" type="datetime1">
              <a:rPr lang="en-US" smtClean="0"/>
              <a:t>2/25/16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198139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EF8674-EF43-EF4E-B196-97E64CD8A873}" type="datetime1">
              <a:rPr lang="en-US" smtClean="0"/>
              <a:t>2/25/16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26294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EB10F8-365D-DA4F-9CC3-8BF83F864CD7}" type="datetime1">
              <a:rPr lang="en-US" smtClean="0"/>
              <a:t>2/25/16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72745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1F2CEC-7836-034E-9982-68EEC9C6C07D}" type="datetime1">
              <a:rPr lang="en-US" smtClean="0"/>
              <a:t>2/25/16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72530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FA52535-47EE-BA42-9368-3583D260CCA9}" type="datetime1">
              <a:rPr lang="en-US" smtClean="0"/>
              <a:t>2/25/16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01431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B66D0EF-A42B-3B4C-BF43-19180771438A}" type="datetime1">
              <a:rPr lang="en-US" smtClean="0"/>
              <a:t>2/25/16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67937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EDEDFD-806A-324D-BA25-19B9BB3EAF59}" type="datetime1">
              <a:rPr lang="en-US" smtClean="0"/>
              <a:t>2/25/16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35168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88B80F-673A-DE44-8997-82BE2F9ABEB7}" type="datetime1">
              <a:rPr lang="en-US" smtClean="0"/>
              <a:t>2/25/16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270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9E87C8-4A84-CC43-B803-6509AAEBAC24}" type="datetime1">
              <a:rPr lang="en-US" smtClean="0"/>
              <a:t>2/25/16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86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E0628F-30F9-7E4B-918F-FF9DE48E2A87}" type="datetime1">
              <a:rPr lang="en-US" smtClean="0"/>
              <a:t>2/25/16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47859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C1C0B9-1F63-D240-952C-F59B377EB39E}" type="datetime1">
              <a:rPr lang="en-US" smtClean="0"/>
              <a:t>2/25/16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45985559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1398"/>
            <a:ext cx="8229600" cy="726831"/>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073740"/>
            <a:ext cx="8229600" cy="505242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CC3C6-DE2B-244E-A6B9-AC546925F7E9}" type="datetime1">
              <a:rPr lang="en-US" smtClean="0"/>
              <a:t>2/25/16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F3AF9-2D61-8E40-AE3D-8390D801ED2C}" type="slidenum">
              <a:rPr lang="en-US" smtClean="0"/>
              <a:t>‹#›</a:t>
            </a:fld>
            <a:endParaRPr lang="en-US" dirty="0"/>
          </a:p>
        </p:txBody>
      </p:sp>
    </p:spTree>
    <p:extLst>
      <p:ext uri="{BB962C8B-B14F-4D97-AF65-F5344CB8AC3E}">
        <p14:creationId xmlns:p14="http://schemas.microsoft.com/office/powerpoint/2010/main" val="1996157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4" Type="http://schemas.openxmlformats.org/officeDocument/2006/relationships/image" Target="../media/image2.jpg"/><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wm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4" Type="http://schemas.openxmlformats.org/officeDocument/2006/relationships/image" Target="../media/image9.emf"/><Relationship Id="rId5" Type="http://schemas.openxmlformats.org/officeDocument/2006/relationships/image" Target="../media/image10.emf"/><Relationship Id="rId1" Type="http://schemas.openxmlformats.org/officeDocument/2006/relationships/slideLayout" Target="../slideLayouts/slideLayout2.xml"/><Relationship Id="rId2" Type="http://schemas.openxmlformats.org/officeDocument/2006/relationships/image" Target="../media/image7.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4" Type="http://schemas.openxmlformats.org/officeDocument/2006/relationships/image" Target="../media/image14.jpeg"/><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jpeg"/><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1" Type="http://schemas.openxmlformats.org/officeDocument/2006/relationships/oleObject" Target="../embeddings/oleObject4.bin"/><Relationship Id="rId12" Type="http://schemas.openxmlformats.org/officeDocument/2006/relationships/image" Target="../media/image25.wmf"/><Relationship Id="rId13" Type="http://schemas.openxmlformats.org/officeDocument/2006/relationships/oleObject" Target="../embeddings/oleObject5.bin"/><Relationship Id="rId14" Type="http://schemas.openxmlformats.org/officeDocument/2006/relationships/image" Target="../media/image26.wmf"/><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21.png"/><Relationship Id="rId5" Type="http://schemas.openxmlformats.org/officeDocument/2006/relationships/oleObject" Target="../embeddings/oleObject1.bin"/><Relationship Id="rId6" Type="http://schemas.openxmlformats.org/officeDocument/2006/relationships/image" Target="../media/image22.wmf"/><Relationship Id="rId7" Type="http://schemas.openxmlformats.org/officeDocument/2006/relationships/oleObject" Target="../embeddings/oleObject2.bin"/><Relationship Id="rId8" Type="http://schemas.openxmlformats.org/officeDocument/2006/relationships/image" Target="../media/image23.wmf"/><Relationship Id="rId9" Type="http://schemas.openxmlformats.org/officeDocument/2006/relationships/oleObject" Target="../embeddings/oleObject3.bin"/><Relationship Id="rId10" Type="http://schemas.openxmlformats.org/officeDocument/2006/relationships/image" Target="../media/image24.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1" Type="http://schemas.openxmlformats.org/officeDocument/2006/relationships/tags" Target="../tags/tag1.xml"/><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4" Type="http://schemas.openxmlformats.org/officeDocument/2006/relationships/image" Target="../media/image30.png"/><Relationship Id="rId1" Type="http://schemas.openxmlformats.org/officeDocument/2006/relationships/tags" Target="../tags/tag2.x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4" Type="http://schemas.openxmlformats.org/officeDocument/2006/relationships/image" Target="../media/image31.wmf"/><Relationship Id="rId5" Type="http://schemas.openxmlformats.org/officeDocument/2006/relationships/image" Target="../media/image32.png"/><Relationship Id="rId1" Type="http://schemas.openxmlformats.org/officeDocument/2006/relationships/tags" Target="../tags/tag3.xml"/><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22.xml"/><Relationship Id="rId5" Type="http://schemas.openxmlformats.org/officeDocument/2006/relationships/image" Target="../media/image31.wmf"/><Relationship Id="rId6" Type="http://schemas.openxmlformats.org/officeDocument/2006/relationships/image" Target="../media/image30.png"/><Relationship Id="rId7" Type="http://schemas.openxmlformats.org/officeDocument/2006/relationships/image" Target="../media/image32.png"/><Relationship Id="rId1" Type="http://schemas.openxmlformats.org/officeDocument/2006/relationships/tags" Target="../tags/tag4.xml"/><Relationship Id="rId2" Type="http://schemas.openxmlformats.org/officeDocument/2006/relationships/tags" Target="../tags/tag5.xml"/></Relationships>
</file>

<file path=ppt/slides/_rels/slide28.xml.rels><?xml version="1.0" encoding="UTF-8" standalone="yes"?>
<Relationships xmlns="http://schemas.openxmlformats.org/package/2006/relationships"><Relationship Id="rId3" Type="http://schemas.openxmlformats.org/officeDocument/2006/relationships/tags" Target="../tags/tag8.xml"/><Relationship Id="rId4" Type="http://schemas.openxmlformats.org/officeDocument/2006/relationships/slideLayout" Target="../slideLayouts/slideLayout2.xml"/><Relationship Id="rId5" Type="http://schemas.openxmlformats.org/officeDocument/2006/relationships/notesSlide" Target="../notesSlides/notesSlide23.xml"/><Relationship Id="rId6" Type="http://schemas.openxmlformats.org/officeDocument/2006/relationships/image" Target="../media/image31.wmf"/><Relationship Id="rId7" Type="http://schemas.openxmlformats.org/officeDocument/2006/relationships/image" Target="../media/image30.png"/><Relationship Id="rId8" Type="http://schemas.openxmlformats.org/officeDocument/2006/relationships/image" Target="../media/image33.png"/><Relationship Id="rId9" Type="http://schemas.openxmlformats.org/officeDocument/2006/relationships/image" Target="../media/image32.png"/><Relationship Id="rId1" Type="http://schemas.openxmlformats.org/officeDocument/2006/relationships/tags" Target="../tags/tag6.xml"/><Relationship Id="rId2" Type="http://schemas.openxmlformats.org/officeDocument/2006/relationships/tags" Target="../tags/tag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4" Type="http://schemas.openxmlformats.org/officeDocument/2006/relationships/image" Target="../media/image31.wmf"/><Relationship Id="rId5" Type="http://schemas.openxmlformats.org/officeDocument/2006/relationships/image" Target="../media/image32.png"/><Relationship Id="rId1" Type="http://schemas.openxmlformats.org/officeDocument/2006/relationships/tags" Target="../tags/tag9.xml"/><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1" Type="http://schemas.openxmlformats.org/officeDocument/2006/relationships/tags" Target="../tags/tag10.x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27.xml"/><Relationship Id="rId5" Type="http://schemas.openxmlformats.org/officeDocument/2006/relationships/image" Target="../media/image37.png"/><Relationship Id="rId6" Type="http://schemas.openxmlformats.org/officeDocument/2006/relationships/image" Target="../media/image38.png"/><Relationship Id="rId1" Type="http://schemas.openxmlformats.org/officeDocument/2006/relationships/tags" Target="../tags/tag11.xml"/><Relationship Id="rId2" Type="http://schemas.openxmlformats.org/officeDocument/2006/relationships/tags" Target="../tags/tag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0.wmf"/></Relationships>
</file>

<file path=ppt/slides/_rels/slide41.xml.rels><?xml version="1.0" encoding="UTF-8" standalone="yes"?>
<Relationships xmlns="http://schemas.openxmlformats.org/package/2006/relationships"><Relationship Id="rId3" Type="http://schemas.openxmlformats.org/officeDocument/2006/relationships/image" Target="../media/image41.wmf"/><Relationship Id="rId4" Type="http://schemas.openxmlformats.org/officeDocument/2006/relationships/image" Target="../media/image42.wmf"/><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3" Type="http://schemas.openxmlformats.org/officeDocument/2006/relationships/image" Target="../media/image41.wmf"/><Relationship Id="rId4" Type="http://schemas.openxmlformats.org/officeDocument/2006/relationships/image" Target="../media/image42.wmf"/><Relationship Id="rId5" Type="http://schemas.openxmlformats.org/officeDocument/2006/relationships/image" Target="../media/image43.wmf"/><Relationship Id="rId6" Type="http://schemas.openxmlformats.org/officeDocument/2006/relationships/image" Target="../media/image44.png"/><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emf"/><Relationship Id="rId3" Type="http://schemas.openxmlformats.org/officeDocument/2006/relationships/image" Target="../media/image46.emf"/></Relationships>
</file>

<file path=ppt/slides/_rels/slide47.xml.rels><?xml version="1.0" encoding="UTF-8" standalone="yes"?>
<Relationships xmlns="http://schemas.openxmlformats.org/package/2006/relationships"><Relationship Id="rId3" Type="http://schemas.openxmlformats.org/officeDocument/2006/relationships/image" Target="../media/image46.emf"/><Relationship Id="rId4" Type="http://schemas.openxmlformats.org/officeDocument/2006/relationships/image" Target="../media/image47.emf"/><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48.xml.rels><?xml version="1.0" encoding="UTF-8" standalone="yes"?>
<Relationships xmlns="http://schemas.openxmlformats.org/package/2006/relationships"><Relationship Id="rId3" Type="http://schemas.openxmlformats.org/officeDocument/2006/relationships/image" Target="../media/image46.emf"/><Relationship Id="rId4" Type="http://schemas.openxmlformats.org/officeDocument/2006/relationships/image" Target="../media/image47.emf"/><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emf"/><Relationship Id="rId3" Type="http://schemas.openxmlformats.org/officeDocument/2006/relationships/image" Target="../media/image48.emf"/></Relationships>
</file>

<file path=ppt/slides/_rels/slide51.xml.rels><?xml version="1.0" encoding="UTF-8" standalone="yes"?>
<Relationships xmlns="http://schemas.openxmlformats.org/package/2006/relationships"><Relationship Id="rId3" Type="http://schemas.openxmlformats.org/officeDocument/2006/relationships/image" Target="../media/image48.emf"/><Relationship Id="rId4" Type="http://schemas.openxmlformats.org/officeDocument/2006/relationships/image" Target="../media/image49.emf"/><Relationship Id="rId1" Type="http://schemas.openxmlformats.org/officeDocument/2006/relationships/slideLayout" Target="../slideLayouts/slideLayout2.xml"/><Relationship Id="rId2" Type="http://schemas.openxmlformats.org/officeDocument/2006/relationships/image" Target="../media/image47.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50.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50.emf"/></Relationships>
</file>

<file path=ppt/slides/_rels/slide54.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55.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56.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7.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8.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9.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60.xml.rels><?xml version="1.0" encoding="UTF-8" standalone="yes"?>
<Relationships xmlns="http://schemas.openxmlformats.org/package/2006/relationships"><Relationship Id="rId3" Type="http://schemas.openxmlformats.org/officeDocument/2006/relationships/image" Target="../media/image50.emf"/><Relationship Id="rId4" Type="http://schemas.openxmlformats.org/officeDocument/2006/relationships/image" Target="../media/image52.emf"/><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61.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0.emf"/><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3" Type="http://schemas.openxmlformats.org/officeDocument/2006/relationships/image" Target="../media/image54.emf"/><Relationship Id="rId4" Type="http://schemas.openxmlformats.org/officeDocument/2006/relationships/image" Target="../media/image55.emf"/><Relationship Id="rId5" Type="http://schemas.openxmlformats.org/officeDocument/2006/relationships/image" Target="../media/image56.emf"/><Relationship Id="rId1" Type="http://schemas.openxmlformats.org/officeDocument/2006/relationships/slideLayout" Target="../slideLayouts/slideLayout2.xml"/><Relationship Id="rId2" Type="http://schemas.openxmlformats.org/officeDocument/2006/relationships/image" Target="../media/image53.emf"/></Relationships>
</file>

<file path=ppt/slides/_rels/slide66.xml.rels><?xml version="1.0" encoding="UTF-8" standalone="yes"?>
<Relationships xmlns="http://schemas.openxmlformats.org/package/2006/relationships"><Relationship Id="rId3" Type="http://schemas.openxmlformats.org/officeDocument/2006/relationships/image" Target="../media/image54.emf"/><Relationship Id="rId4" Type="http://schemas.openxmlformats.org/officeDocument/2006/relationships/image" Target="../media/image55.emf"/><Relationship Id="rId5" Type="http://schemas.openxmlformats.org/officeDocument/2006/relationships/image" Target="../media/image56.emf"/><Relationship Id="rId1" Type="http://schemas.openxmlformats.org/officeDocument/2006/relationships/slideLayout" Target="../slideLayouts/slideLayout2.xml"/><Relationship Id="rId2" Type="http://schemas.openxmlformats.org/officeDocument/2006/relationships/image" Target="../media/image53.emf"/></Relationships>
</file>

<file path=ppt/slides/_rels/slide67.xml.rels><?xml version="1.0" encoding="UTF-8" standalone="yes"?>
<Relationships xmlns="http://schemas.openxmlformats.org/package/2006/relationships"><Relationship Id="rId3" Type="http://schemas.openxmlformats.org/officeDocument/2006/relationships/image" Target="../media/image54.emf"/><Relationship Id="rId4" Type="http://schemas.openxmlformats.org/officeDocument/2006/relationships/image" Target="../media/image55.emf"/><Relationship Id="rId5" Type="http://schemas.openxmlformats.org/officeDocument/2006/relationships/image" Target="../media/image56.emf"/><Relationship Id="rId1" Type="http://schemas.openxmlformats.org/officeDocument/2006/relationships/slideLayout" Target="../slideLayouts/slideLayout2.xml"/><Relationship Id="rId2" Type="http://schemas.openxmlformats.org/officeDocument/2006/relationships/image" Target="../media/image53.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9.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9.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9.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9.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9.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9.e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51.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51.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51.e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51.e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51.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51.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51.e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51.e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51.emf"/></Relationships>
</file>

<file path=ppt/slides/_rels/slide96.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66.emf"/><Relationship Id="rId5" Type="http://schemas.openxmlformats.org/officeDocument/2006/relationships/image" Target="../media/image67.emf"/><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97.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66.emf"/><Relationship Id="rId5" Type="http://schemas.openxmlformats.org/officeDocument/2006/relationships/image" Target="../media/image67.emf"/><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51.emf"/></Relationships>
</file>

<file path=ppt/slides/_rels/slide99.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68.emf"/><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51.emf"/></Relationships>
</file>

<file path=ppt/slides/_rels/slide101.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69.emf"/><Relationship Id="rId5" Type="http://schemas.openxmlformats.org/officeDocument/2006/relationships/image" Target="../media/image70.emf"/><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5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90525"/>
            <a:ext cx="7772400" cy="1470025"/>
          </a:xfrm>
        </p:spPr>
        <p:txBody>
          <a:bodyPr/>
          <a:lstStyle/>
          <a:p>
            <a:r>
              <a:rPr lang="en-US" dirty="0" smtClean="0"/>
              <a:t>TTIC 31190:</a:t>
            </a:r>
            <a:br>
              <a:rPr lang="en-US" dirty="0" smtClean="0"/>
            </a:br>
            <a:r>
              <a:rPr lang="en-US" dirty="0" smtClean="0"/>
              <a:t>Natural Language Processing</a:t>
            </a:r>
            <a:endParaRPr lang="en-US" dirty="0"/>
          </a:p>
        </p:txBody>
      </p:sp>
      <p:sp>
        <p:nvSpPr>
          <p:cNvPr id="3" name="Subtitle 2"/>
          <p:cNvSpPr>
            <a:spLocks noGrp="1"/>
          </p:cNvSpPr>
          <p:nvPr>
            <p:ph type="subTitle" idx="1"/>
          </p:nvPr>
        </p:nvSpPr>
        <p:spPr>
          <a:xfrm>
            <a:off x="1371600" y="1993900"/>
            <a:ext cx="6400800" cy="3403600"/>
          </a:xfrm>
        </p:spPr>
        <p:txBody>
          <a:bodyPr>
            <a:normAutofit fontScale="85000" lnSpcReduction="20000"/>
          </a:bodyPr>
          <a:lstStyle/>
          <a:p>
            <a:r>
              <a:rPr lang="en-US" dirty="0" smtClean="0">
                <a:solidFill>
                  <a:schemeClr val="tx1"/>
                </a:solidFill>
              </a:rPr>
              <a:t>Kevin Gimpel</a:t>
            </a:r>
          </a:p>
          <a:p>
            <a:r>
              <a:rPr lang="en-US" dirty="0" smtClean="0">
                <a:solidFill>
                  <a:schemeClr val="tx1"/>
                </a:solidFill>
              </a:rPr>
              <a:t>Winter 2016</a:t>
            </a:r>
          </a:p>
          <a:p>
            <a:endParaRPr lang="en-US" dirty="0" smtClean="0">
              <a:solidFill>
                <a:schemeClr val="tx1"/>
              </a:solidFill>
            </a:endParaRPr>
          </a:p>
          <a:p>
            <a:endParaRPr lang="en-US" dirty="0">
              <a:solidFill>
                <a:schemeClr val="tx1"/>
              </a:solidFill>
            </a:endParaRPr>
          </a:p>
          <a:p>
            <a:r>
              <a:rPr lang="en-US" sz="4000" dirty="0" smtClean="0">
                <a:solidFill>
                  <a:schemeClr val="tx1"/>
                </a:solidFill>
              </a:rPr>
              <a:t>Lecture 15: </a:t>
            </a:r>
          </a:p>
          <a:p>
            <a:r>
              <a:rPr lang="en-US" sz="4000" dirty="0" smtClean="0">
                <a:solidFill>
                  <a:schemeClr val="tx1"/>
                </a:solidFill>
              </a:rPr>
              <a:t>Introduction</a:t>
            </a:r>
          </a:p>
          <a:p>
            <a:r>
              <a:rPr lang="en-US" sz="4000" dirty="0" smtClean="0">
                <a:solidFill>
                  <a:schemeClr val="tx1"/>
                </a:solidFill>
              </a:rPr>
              <a:t>to Machine Translation</a:t>
            </a:r>
            <a:endParaRPr lang="en-US" sz="4000" dirty="0">
              <a:solidFill>
                <a:schemeClr val="tx1"/>
              </a:solidFill>
            </a:endParaRPr>
          </a:p>
        </p:txBody>
      </p:sp>
    </p:spTree>
    <p:extLst>
      <p:ext uri="{BB962C8B-B14F-4D97-AF65-F5344CB8AC3E}">
        <p14:creationId xmlns:p14="http://schemas.microsoft.com/office/powerpoint/2010/main" val="33768203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Announcements</a:t>
            </a:r>
            <a:endParaRPr lang="en-US" dirty="0"/>
          </a:p>
        </p:txBody>
      </p:sp>
      <p:sp>
        <p:nvSpPr>
          <p:cNvPr id="3" name="Content Placeholder 2"/>
          <p:cNvSpPr>
            <a:spLocks noGrp="1"/>
          </p:cNvSpPr>
          <p:nvPr>
            <p:ph idx="1"/>
          </p:nvPr>
        </p:nvSpPr>
        <p:spPr/>
        <p:txBody>
          <a:bodyPr/>
          <a:lstStyle/>
          <a:p>
            <a:r>
              <a:rPr lang="en-US" dirty="0" smtClean="0"/>
              <a:t>Assignment 3 due Monday</a:t>
            </a:r>
          </a:p>
          <a:p>
            <a:r>
              <a:rPr lang="en-US" dirty="0" smtClean="0"/>
              <a:t>email me to sign up for your (10-minute) class presentation on 3/3 or 3/8</a:t>
            </a:r>
          </a:p>
        </p:txBody>
      </p:sp>
    </p:spTree>
    <p:extLst>
      <p:ext uri="{BB962C8B-B14F-4D97-AF65-F5344CB8AC3E}">
        <p14:creationId xmlns:p14="http://schemas.microsoft.com/office/powerpoint/2010/main" val="10032881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Roadmap</a:t>
            </a:r>
            <a:endParaRPr lang="en-US" dirty="0"/>
          </a:p>
        </p:txBody>
      </p:sp>
      <p:sp>
        <p:nvSpPr>
          <p:cNvPr id="3" name="Content Placeholder 2"/>
          <p:cNvSpPr>
            <a:spLocks noGrp="1"/>
          </p:cNvSpPr>
          <p:nvPr>
            <p:ph idx="1"/>
          </p:nvPr>
        </p:nvSpPr>
        <p:spPr>
          <a:xfrm>
            <a:off x="457200" y="926661"/>
            <a:ext cx="8229600" cy="5052424"/>
          </a:xfrm>
        </p:spPr>
        <p:txBody>
          <a:bodyPr>
            <a:noAutofit/>
          </a:bodyPr>
          <a:lstStyle/>
          <a:p>
            <a:r>
              <a:rPr lang="en-US" sz="2400" dirty="0" smtClean="0"/>
              <a:t>classification</a:t>
            </a:r>
          </a:p>
          <a:p>
            <a:r>
              <a:rPr lang="en-US" sz="2400" dirty="0" smtClean="0"/>
              <a:t>words</a:t>
            </a:r>
          </a:p>
          <a:p>
            <a:r>
              <a:rPr lang="en-US" sz="2400" dirty="0" smtClean="0"/>
              <a:t>lexical semantics</a:t>
            </a:r>
          </a:p>
          <a:p>
            <a:r>
              <a:rPr lang="en-US" sz="2400" dirty="0" smtClean="0"/>
              <a:t>language modeling</a:t>
            </a:r>
          </a:p>
          <a:p>
            <a:r>
              <a:rPr lang="en-US" sz="2400" dirty="0" smtClean="0"/>
              <a:t>sequence labeling</a:t>
            </a:r>
          </a:p>
          <a:p>
            <a:r>
              <a:rPr lang="en-US" sz="2400" dirty="0" smtClean="0"/>
              <a:t>neural network methods in NLP</a:t>
            </a:r>
          </a:p>
          <a:p>
            <a:r>
              <a:rPr lang="en-US" sz="2400" dirty="0"/>
              <a:t>syntax and syntactic parsing</a:t>
            </a:r>
          </a:p>
          <a:p>
            <a:r>
              <a:rPr lang="en-US" sz="2400" dirty="0" smtClean="0"/>
              <a:t>computational semantics</a:t>
            </a:r>
          </a:p>
          <a:p>
            <a:r>
              <a:rPr lang="en-US" sz="2400" dirty="0" smtClean="0">
                <a:solidFill>
                  <a:srgbClr val="288CD2"/>
                </a:solidFill>
              </a:rPr>
              <a:t>machine translation</a:t>
            </a:r>
          </a:p>
          <a:p>
            <a:r>
              <a:rPr lang="en-US" sz="2400" dirty="0" smtClean="0"/>
              <a:t>other NLP applications</a:t>
            </a:r>
          </a:p>
          <a:p>
            <a:endParaRPr lang="en-US" sz="2400" dirty="0"/>
          </a:p>
        </p:txBody>
      </p:sp>
    </p:spTree>
    <p:extLst>
      <p:ext uri="{BB962C8B-B14F-4D97-AF65-F5344CB8AC3E}">
        <p14:creationId xmlns:p14="http://schemas.microsoft.com/office/powerpoint/2010/main" val="5899327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0"/>
            <a:ext cx="9144000" cy="1295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pic>
        <p:nvPicPr>
          <p:cNvPr id="46083" name="Picture 3" descr="TranslateServerErr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120640" cy="3840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6084" name="Rectangle 4"/>
          <p:cNvSpPr>
            <a:spLocks noChangeArrowheads="1"/>
          </p:cNvSpPr>
          <p:nvPr/>
        </p:nvSpPr>
        <p:spPr bwMode="auto">
          <a:xfrm>
            <a:off x="0" y="0"/>
            <a:ext cx="9144000" cy="82296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46085" name="Text Box 5"/>
          <p:cNvSpPr txBox="1">
            <a:spLocks noChangeArrowheads="1"/>
          </p:cNvSpPr>
          <p:nvPr/>
        </p:nvSpPr>
        <p:spPr bwMode="auto">
          <a:xfrm>
            <a:off x="228600" y="57834"/>
            <a:ext cx="86106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3600" dirty="0" smtClean="0">
                <a:latin typeface="+mj-lt"/>
                <a:ea typeface="ＭＳ Ｐゴシック" charset="-128"/>
              </a:rPr>
              <a:t>People rely on machine translation!</a:t>
            </a:r>
            <a:endParaRPr lang="en-US" altLang="en-US" sz="3600" dirty="0">
              <a:latin typeface="+mj-lt"/>
              <a:ea typeface="ＭＳ Ｐゴシック" charset="-128"/>
            </a:endParaRPr>
          </a:p>
        </p:txBody>
      </p:sp>
      <p:pic>
        <p:nvPicPr>
          <p:cNvPr id="2" name="Picture 1" descr="servererro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3600450"/>
            <a:ext cx="6096000" cy="3257550"/>
          </a:xfrm>
          <a:prstGeom prst="rect">
            <a:avLst/>
          </a:prstGeom>
        </p:spPr>
      </p:pic>
    </p:spTree>
    <p:extLst>
      <p:ext uri="{BB962C8B-B14F-4D97-AF65-F5344CB8AC3E}">
        <p14:creationId xmlns:p14="http://schemas.microsoft.com/office/powerpoint/2010/main" val="8020236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0"/>
            <a:ext cx="9144000" cy="1295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46084" name="Rectangle 4"/>
          <p:cNvSpPr>
            <a:spLocks noChangeArrowheads="1"/>
          </p:cNvSpPr>
          <p:nvPr/>
        </p:nvSpPr>
        <p:spPr bwMode="auto">
          <a:xfrm>
            <a:off x="0" y="0"/>
            <a:ext cx="9144000" cy="1295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pic>
        <p:nvPicPr>
          <p:cNvPr id="2" name="Picture 1" descr="could-not-connec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120" y="1295400"/>
            <a:ext cx="8387080" cy="4708746"/>
          </a:xfrm>
          <a:prstGeom prst="rect">
            <a:avLst/>
          </a:prstGeom>
        </p:spPr>
      </p:pic>
      <p:sp>
        <p:nvSpPr>
          <p:cNvPr id="7" name="Text Box 5"/>
          <p:cNvSpPr txBox="1">
            <a:spLocks noChangeArrowheads="1"/>
          </p:cNvSpPr>
          <p:nvPr/>
        </p:nvSpPr>
        <p:spPr bwMode="auto">
          <a:xfrm>
            <a:off x="228600" y="57834"/>
            <a:ext cx="86106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3600" dirty="0" smtClean="0">
                <a:latin typeface="+mj-lt"/>
                <a:ea typeface="ＭＳ Ｐゴシック" charset="-128"/>
              </a:rPr>
              <a:t>People rely on machine translation!</a:t>
            </a:r>
            <a:endParaRPr lang="en-US" altLang="en-US" sz="3600" dirty="0">
              <a:latin typeface="+mj-lt"/>
              <a:ea typeface="ＭＳ Ｐゴシック" charset="-128"/>
            </a:endParaRPr>
          </a:p>
        </p:txBody>
      </p:sp>
    </p:spTree>
    <p:extLst>
      <p:ext uri="{BB962C8B-B14F-4D97-AF65-F5344CB8AC3E}">
        <p14:creationId xmlns:p14="http://schemas.microsoft.com/office/powerpoint/2010/main" val="2373614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altLang="en-US" sz="3600" dirty="0" smtClean="0"/>
              <a:t>Approaches to Machine Translation:</a:t>
            </a:r>
            <a:br>
              <a:rPr lang="en-US" altLang="en-US" sz="3600" dirty="0" smtClean="0"/>
            </a:br>
            <a:r>
              <a:rPr lang="en-US" altLang="en-US" sz="3600" dirty="0" smtClean="0"/>
              <a:t>The </a:t>
            </a:r>
            <a:r>
              <a:rPr lang="en-US" altLang="en-US" sz="3600" dirty="0" err="1"/>
              <a:t>Vauquois</a:t>
            </a:r>
            <a:r>
              <a:rPr lang="en-US" altLang="en-US" sz="3600" dirty="0"/>
              <a:t> Triangle</a:t>
            </a:r>
          </a:p>
        </p:txBody>
      </p:sp>
      <p:pic>
        <p:nvPicPr>
          <p:cNvPr id="409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361441"/>
            <a:ext cx="8991600" cy="40487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6848622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sz="3600" dirty="0"/>
              <a:t>Interlingua Example</a:t>
            </a:r>
          </a:p>
        </p:txBody>
      </p:sp>
      <p:pic>
        <p:nvPicPr>
          <p:cNvPr id="51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2088" y="4476750"/>
            <a:ext cx="6218237" cy="3238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512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6550" y="1450975"/>
            <a:ext cx="5930900" cy="2663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0486864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Classification Framework for Machine Translation</a:t>
            </a:r>
            <a:endParaRPr lang="en-US" sz="2800" dirty="0"/>
          </a:p>
        </p:txBody>
      </p:sp>
      <p:sp>
        <p:nvSpPr>
          <p:cNvPr id="3" name="Content Placeholder 2"/>
          <p:cNvSpPr>
            <a:spLocks noGrp="1"/>
          </p:cNvSpPr>
          <p:nvPr>
            <p:ph idx="1"/>
          </p:nvPr>
        </p:nvSpPr>
        <p:spPr>
          <a:xfrm>
            <a:off x="457200" y="3781344"/>
            <a:ext cx="8229600" cy="1938419"/>
          </a:xfrm>
        </p:spPr>
        <p:txBody>
          <a:bodyPr>
            <a:normAutofit/>
          </a:bodyPr>
          <a:lstStyle/>
          <a:p>
            <a:r>
              <a:rPr lang="en-US" dirty="0" smtClean="0"/>
              <a:t>modern systems are </a:t>
            </a:r>
            <a:r>
              <a:rPr lang="en-US" b="1" dirty="0" smtClean="0"/>
              <a:t>data-driven</a:t>
            </a:r>
          </a:p>
          <a:p>
            <a:r>
              <a:rPr lang="en-US" dirty="0" smtClean="0"/>
              <a:t>first we need data!</a:t>
            </a:r>
          </a:p>
        </p:txBody>
      </p:sp>
      <p:cxnSp>
        <p:nvCxnSpPr>
          <p:cNvPr id="8" name="Straight Arrow Connector 7"/>
          <p:cNvCxnSpPr/>
          <p:nvPr/>
        </p:nvCxnSpPr>
        <p:spPr bwMode="auto">
          <a:xfrm flipV="1">
            <a:off x="5907224" y="2527564"/>
            <a:ext cx="283613" cy="659972"/>
          </a:xfrm>
          <a:prstGeom prst="straightConnector1">
            <a:avLst/>
          </a:prstGeom>
          <a:solidFill>
            <a:schemeClr val="accent1"/>
          </a:solidFill>
          <a:ln w="44450" cap="rnd" cmpd="sng" algn="ctr">
            <a:solidFill>
              <a:srgbClr val="FF0000"/>
            </a:solidFill>
            <a:prstDash val="solid"/>
            <a:round/>
            <a:headEnd type="none" w="med" len="med"/>
            <a:tailEnd type="triangle" w="lg"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5366668" y="3056704"/>
            <a:ext cx="2493140" cy="461665"/>
          </a:xfrm>
          <a:prstGeom prst="rect">
            <a:avLst/>
          </a:prstGeom>
          <a:solidFill>
            <a:schemeClr val="bg1"/>
          </a:solidFill>
          <a:ln w="57150">
            <a:solidFill>
              <a:srgbClr val="FF0000"/>
            </a:solidFill>
          </a:ln>
          <a:effectLst>
            <a:softEdge rad="50800"/>
          </a:effectLst>
        </p:spPr>
        <p:txBody>
          <a:bodyPr wrap="none" rtlCol="0">
            <a:spAutoFit/>
          </a:bodyPr>
          <a:lstStyle/>
          <a:p>
            <a:r>
              <a:rPr lang="en-US" sz="2400" b="1" dirty="0" smtClean="0">
                <a:solidFill>
                  <a:srgbClr val="FF0000"/>
                </a:solidFill>
                <a:latin typeface="Calibri"/>
                <a:cs typeface="Calibri"/>
              </a:rPr>
              <a:t>l</a:t>
            </a:r>
            <a:r>
              <a:rPr lang="en-US" sz="2400" b="1" i="0" dirty="0" smtClean="0">
                <a:solidFill>
                  <a:srgbClr val="FF0000"/>
                </a:solidFill>
                <a:latin typeface="Calibri"/>
                <a:cs typeface="Calibri"/>
              </a:rPr>
              <a:t>earning</a:t>
            </a:r>
            <a:r>
              <a:rPr lang="en-US" sz="2400" i="0" dirty="0" smtClean="0">
                <a:solidFill>
                  <a:srgbClr val="FF0000"/>
                </a:solidFill>
                <a:latin typeface="Calibri"/>
                <a:cs typeface="Calibri"/>
              </a:rPr>
              <a:t>: choose </a:t>
            </a:r>
            <a:r>
              <a:rPr lang="en-US" sz="2400" i="0" dirty="0" smtClean="0">
                <a:solidFill>
                  <a:schemeClr val="bg1"/>
                </a:solidFill>
                <a:latin typeface="Calibri"/>
                <a:cs typeface="Calibri"/>
              </a:rPr>
              <a:t>_</a:t>
            </a:r>
            <a:r>
              <a:rPr lang="en-US" sz="2400" i="0" dirty="0" smtClean="0">
                <a:solidFill>
                  <a:srgbClr val="FF0000"/>
                </a:solidFill>
                <a:latin typeface="Calibri"/>
                <a:cs typeface="Calibri"/>
              </a:rPr>
              <a:t>  </a:t>
            </a:r>
            <a:endParaRPr lang="en-US" sz="2400" i="0" dirty="0">
              <a:solidFill>
                <a:srgbClr val="FF0000"/>
              </a:solidFill>
              <a:latin typeface="Calibri"/>
              <a:cs typeface="Calibri"/>
            </a:endParaRPr>
          </a:p>
        </p:txBody>
      </p:sp>
      <p:pic>
        <p:nvPicPr>
          <p:cNvPr id="12" name="Picture 11"/>
          <p:cNvPicPr>
            <a:picLocks noChangeAspect="1"/>
          </p:cNvPicPr>
          <p:nvPr/>
        </p:nvPicPr>
        <p:blipFill>
          <a:blip r:embed="rId2"/>
          <a:stretch>
            <a:fillRect/>
          </a:stretch>
        </p:blipFill>
        <p:spPr>
          <a:xfrm>
            <a:off x="7597475" y="3204638"/>
            <a:ext cx="165100" cy="228600"/>
          </a:xfrm>
          <a:prstGeom prst="rect">
            <a:avLst/>
          </a:prstGeom>
        </p:spPr>
      </p:pic>
      <p:cxnSp>
        <p:nvCxnSpPr>
          <p:cNvPr id="16" name="Straight Arrow Connector 15"/>
          <p:cNvCxnSpPr/>
          <p:nvPr/>
        </p:nvCxnSpPr>
        <p:spPr bwMode="auto">
          <a:xfrm flipH="1">
            <a:off x="5151076" y="1253197"/>
            <a:ext cx="304800" cy="914400"/>
          </a:xfrm>
          <a:prstGeom prst="straightConnector1">
            <a:avLst/>
          </a:prstGeom>
          <a:solidFill>
            <a:schemeClr val="accent1"/>
          </a:solidFill>
          <a:ln w="44450" cap="rnd" cmpd="sng" algn="ctr">
            <a:solidFill>
              <a:srgbClr val="288CD2"/>
            </a:solidFill>
            <a:prstDash val="solid"/>
            <a:round/>
            <a:headEnd type="none" w="med" len="med"/>
            <a:tailEnd type="triangle" w="lg"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7" name="TextBox 16"/>
          <p:cNvSpPr txBox="1"/>
          <p:nvPr/>
        </p:nvSpPr>
        <p:spPr>
          <a:xfrm>
            <a:off x="4562946" y="1214933"/>
            <a:ext cx="4252336" cy="461665"/>
          </a:xfrm>
          <a:prstGeom prst="rect">
            <a:avLst/>
          </a:prstGeom>
          <a:solidFill>
            <a:schemeClr val="bg1"/>
          </a:solidFill>
          <a:ln w="57150">
            <a:solidFill>
              <a:srgbClr val="288CD2"/>
            </a:solidFill>
          </a:ln>
          <a:effectLst>
            <a:softEdge rad="50800"/>
          </a:effectLst>
        </p:spPr>
        <p:txBody>
          <a:bodyPr wrap="none" rtlCol="0">
            <a:spAutoFit/>
          </a:bodyPr>
          <a:lstStyle/>
          <a:p>
            <a:r>
              <a:rPr lang="en-US" sz="2400" b="1" i="0" dirty="0" smtClean="0">
                <a:solidFill>
                  <a:srgbClr val="288CD2"/>
                </a:solidFill>
                <a:latin typeface="Calibri"/>
                <a:cs typeface="Calibri"/>
              </a:rPr>
              <a:t>modeling</a:t>
            </a:r>
            <a:r>
              <a:rPr lang="en-US" sz="2400" i="0" dirty="0" smtClean="0">
                <a:solidFill>
                  <a:srgbClr val="288CD2"/>
                </a:solidFill>
                <a:latin typeface="Calibri"/>
                <a:cs typeface="Calibri"/>
              </a:rPr>
              <a:t>: define  </a:t>
            </a:r>
            <a:r>
              <a:rPr lang="en-US" sz="2400" i="0" dirty="0" smtClean="0">
                <a:solidFill>
                  <a:srgbClr val="FFFFFF"/>
                </a:solidFill>
                <a:latin typeface="Calibri"/>
                <a:cs typeface="Calibri"/>
              </a:rPr>
              <a:t>score </a:t>
            </a:r>
            <a:r>
              <a:rPr lang="en-US" sz="2400" i="0" dirty="0" smtClean="0">
                <a:solidFill>
                  <a:srgbClr val="288CD2"/>
                </a:solidFill>
                <a:latin typeface="Calibri"/>
                <a:cs typeface="Calibri"/>
              </a:rPr>
              <a:t>function</a:t>
            </a:r>
            <a:endParaRPr lang="en-US" sz="2400" i="0" dirty="0">
              <a:solidFill>
                <a:srgbClr val="288CD2"/>
              </a:solidFill>
              <a:latin typeface="Calibri"/>
              <a:cs typeface="Calibri"/>
            </a:endParaRPr>
          </a:p>
        </p:txBody>
      </p:sp>
      <p:pic>
        <p:nvPicPr>
          <p:cNvPr id="18" name="Picture 17"/>
          <p:cNvPicPr>
            <a:picLocks noChangeAspect="1"/>
          </p:cNvPicPr>
          <p:nvPr/>
        </p:nvPicPr>
        <p:blipFill>
          <a:blip r:embed="rId3"/>
          <a:stretch>
            <a:fillRect/>
          </a:stretch>
        </p:blipFill>
        <p:spPr>
          <a:xfrm>
            <a:off x="6883383" y="1422405"/>
            <a:ext cx="647700" cy="152400"/>
          </a:xfrm>
          <a:prstGeom prst="rect">
            <a:avLst/>
          </a:prstGeom>
        </p:spPr>
      </p:pic>
      <p:cxnSp>
        <p:nvCxnSpPr>
          <p:cNvPr id="21" name="Straight Arrow Connector 20"/>
          <p:cNvCxnSpPr/>
          <p:nvPr/>
        </p:nvCxnSpPr>
        <p:spPr bwMode="auto">
          <a:xfrm>
            <a:off x="3699925" y="1676598"/>
            <a:ext cx="338667" cy="490999"/>
          </a:xfrm>
          <a:prstGeom prst="straightConnector1">
            <a:avLst/>
          </a:prstGeom>
          <a:solidFill>
            <a:schemeClr val="accent1"/>
          </a:solidFill>
          <a:ln w="44450" cap="rnd" cmpd="sng" algn="ctr">
            <a:solidFill>
              <a:srgbClr val="008000"/>
            </a:solidFill>
            <a:prstDash val="solid"/>
            <a:round/>
            <a:headEnd type="none" w="med" len="med"/>
            <a:tailEnd type="triangle" w="lg"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2" name="TextBox 21"/>
          <p:cNvSpPr txBox="1"/>
          <p:nvPr/>
        </p:nvSpPr>
        <p:spPr>
          <a:xfrm>
            <a:off x="1045609" y="1214933"/>
            <a:ext cx="3315782" cy="461665"/>
          </a:xfrm>
          <a:prstGeom prst="rect">
            <a:avLst/>
          </a:prstGeom>
          <a:solidFill>
            <a:schemeClr val="bg1"/>
          </a:solidFill>
          <a:ln w="57150">
            <a:solidFill>
              <a:srgbClr val="008000"/>
            </a:solidFill>
          </a:ln>
          <a:effectLst>
            <a:softEdge rad="50800"/>
          </a:effectLst>
        </p:spPr>
        <p:txBody>
          <a:bodyPr wrap="none" rtlCol="0">
            <a:spAutoFit/>
          </a:bodyPr>
          <a:lstStyle/>
          <a:p>
            <a:r>
              <a:rPr lang="en-US" sz="2400" b="1" dirty="0" smtClean="0">
                <a:solidFill>
                  <a:srgbClr val="008000"/>
                </a:solidFill>
                <a:latin typeface="Calibri"/>
                <a:cs typeface="Calibri"/>
              </a:rPr>
              <a:t>inference</a:t>
            </a:r>
            <a:r>
              <a:rPr lang="en-US" sz="2400" i="0" dirty="0" smtClean="0">
                <a:solidFill>
                  <a:srgbClr val="008000"/>
                </a:solidFill>
                <a:latin typeface="Calibri"/>
                <a:cs typeface="Calibri"/>
              </a:rPr>
              <a:t>: solve              </a:t>
            </a:r>
            <a:r>
              <a:rPr lang="en-US" sz="2400" i="0" dirty="0" smtClean="0">
                <a:solidFill>
                  <a:schemeClr val="bg1"/>
                </a:solidFill>
                <a:latin typeface="Calibri"/>
                <a:cs typeface="Calibri"/>
              </a:rPr>
              <a:t>_</a:t>
            </a:r>
            <a:r>
              <a:rPr lang="en-US" sz="2400" i="0" dirty="0" smtClean="0">
                <a:solidFill>
                  <a:srgbClr val="008000"/>
                </a:solidFill>
                <a:latin typeface="Calibri"/>
                <a:cs typeface="Calibri"/>
              </a:rPr>
              <a:t> </a:t>
            </a:r>
            <a:endParaRPr lang="en-US" sz="2400" i="0" dirty="0">
              <a:solidFill>
                <a:srgbClr val="008000"/>
              </a:solidFill>
              <a:latin typeface="Calibri"/>
              <a:cs typeface="Calibri"/>
            </a:endParaRPr>
          </a:p>
        </p:txBody>
      </p:sp>
      <p:pic>
        <p:nvPicPr>
          <p:cNvPr id="23" name="Picture 22"/>
          <p:cNvPicPr>
            <a:picLocks noChangeAspect="1"/>
          </p:cNvPicPr>
          <p:nvPr/>
        </p:nvPicPr>
        <p:blipFill>
          <a:blip r:embed="rId4"/>
          <a:stretch>
            <a:fillRect/>
          </a:stretch>
        </p:blipFill>
        <p:spPr>
          <a:xfrm>
            <a:off x="3204625" y="1414131"/>
            <a:ext cx="990600" cy="215900"/>
          </a:xfrm>
          <a:prstGeom prst="rect">
            <a:avLst/>
          </a:prstGeom>
        </p:spPr>
      </p:pic>
      <p:pic>
        <p:nvPicPr>
          <p:cNvPr id="5" name="Picture 4"/>
          <p:cNvPicPr>
            <a:picLocks noChangeAspect="1"/>
          </p:cNvPicPr>
          <p:nvPr/>
        </p:nvPicPr>
        <p:blipFill>
          <a:blip r:embed="rId5"/>
          <a:stretch>
            <a:fillRect/>
          </a:stretch>
        </p:blipFill>
        <p:spPr>
          <a:xfrm>
            <a:off x="1477002" y="2207395"/>
            <a:ext cx="4940300" cy="533400"/>
          </a:xfrm>
          <a:prstGeom prst="rect">
            <a:avLst/>
          </a:prstGeom>
        </p:spPr>
      </p:pic>
    </p:spTree>
    <p:extLst>
      <p:ext uri="{BB962C8B-B14F-4D97-AF65-F5344CB8AC3E}">
        <p14:creationId xmlns:p14="http://schemas.microsoft.com/office/powerpoint/2010/main" val="34154349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itle 1"/>
          <p:cNvSpPr>
            <a:spLocks noGrp="1"/>
          </p:cNvSpPr>
          <p:nvPr>
            <p:ph type="title"/>
          </p:nvPr>
        </p:nvSpPr>
        <p:spPr>
          <a:xfrm>
            <a:off x="457200" y="90118"/>
            <a:ext cx="8229600" cy="726831"/>
          </a:xfrm>
        </p:spPr>
        <p:txBody>
          <a:bodyPr>
            <a:normAutofit fontScale="90000"/>
          </a:bodyPr>
          <a:lstStyle/>
          <a:p>
            <a:r>
              <a:rPr lang="en-US" altLang="en-US" dirty="0" smtClean="0"/>
              <a:t>Data</a:t>
            </a:r>
            <a:r>
              <a:rPr lang="en-US" altLang="en-US" dirty="0"/>
              <a:t>?</a:t>
            </a:r>
          </a:p>
        </p:txBody>
      </p:sp>
      <p:pic>
        <p:nvPicPr>
          <p:cNvPr id="2" name="Picture 1" descr="rosetta_stone0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339" y="894080"/>
            <a:ext cx="6388900" cy="5699760"/>
          </a:xfrm>
          <a:prstGeom prst="rect">
            <a:avLst/>
          </a:prstGeom>
        </p:spPr>
      </p:pic>
    </p:spTree>
    <p:extLst>
      <p:ext uri="{BB962C8B-B14F-4D97-AF65-F5344CB8AC3E}">
        <p14:creationId xmlns:p14="http://schemas.microsoft.com/office/powerpoint/2010/main" val="32758499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itle 1"/>
          <p:cNvSpPr>
            <a:spLocks noGrp="1"/>
          </p:cNvSpPr>
          <p:nvPr>
            <p:ph type="title"/>
          </p:nvPr>
        </p:nvSpPr>
        <p:spPr>
          <a:xfrm>
            <a:off x="457200" y="90118"/>
            <a:ext cx="8229600" cy="726831"/>
          </a:xfrm>
        </p:spPr>
        <p:txBody>
          <a:bodyPr>
            <a:normAutofit fontScale="90000"/>
          </a:bodyPr>
          <a:lstStyle/>
          <a:p>
            <a:r>
              <a:rPr lang="en-US" altLang="en-US" dirty="0" smtClean="0"/>
              <a:t>Data</a:t>
            </a:r>
            <a:r>
              <a:rPr lang="en-US" altLang="en-US" dirty="0"/>
              <a:t>?</a:t>
            </a:r>
          </a:p>
        </p:txBody>
      </p:sp>
      <p:pic>
        <p:nvPicPr>
          <p:cNvPr id="3" name="Picture 2" descr="kingsgardenmenu1.jpg"/>
          <p:cNvPicPr>
            <a:picLocks noChangeAspect="1"/>
          </p:cNvPicPr>
          <p:nvPr/>
        </p:nvPicPr>
        <p:blipFill rotWithShape="1">
          <a:blip r:embed="rId3">
            <a:extLst>
              <a:ext uri="{28A0092B-C50C-407E-A947-70E740481C1C}">
                <a14:useLocalDpi xmlns:a14="http://schemas.microsoft.com/office/drawing/2010/main" val="0"/>
              </a:ext>
            </a:extLst>
          </a:blip>
          <a:srcRect b="24055"/>
          <a:stretch/>
        </p:blipFill>
        <p:spPr>
          <a:xfrm>
            <a:off x="581660" y="1094591"/>
            <a:ext cx="8105140" cy="4747409"/>
          </a:xfrm>
          <a:prstGeom prst="rect">
            <a:avLst/>
          </a:prstGeom>
          <a:ln>
            <a:solidFill>
              <a:schemeClr val="tx1"/>
            </a:solidFill>
          </a:ln>
        </p:spPr>
      </p:pic>
    </p:spTree>
    <p:extLst>
      <p:ext uri="{BB962C8B-B14F-4D97-AF65-F5344CB8AC3E}">
        <p14:creationId xmlns:p14="http://schemas.microsoft.com/office/powerpoint/2010/main" val="26756364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CIMG0912-781329"/>
          <p:cNvPicPr>
            <a:picLocks noChangeAspect="1" noChangeArrowheads="1"/>
          </p:cNvPicPr>
          <p:nvPr/>
        </p:nvPicPr>
        <p:blipFill>
          <a:blip r:embed="rId3">
            <a:extLst>
              <a:ext uri="{28A0092B-C50C-407E-A947-70E740481C1C}">
                <a14:useLocalDpi xmlns:a14="http://schemas.microsoft.com/office/drawing/2010/main" val="0"/>
              </a:ext>
            </a:extLst>
          </a:blip>
          <a:srcRect l="9924" t="27734" r="20610" b="19669"/>
          <a:stretch>
            <a:fillRect/>
          </a:stretch>
        </p:blipFill>
        <p:spPr bwMode="auto">
          <a:xfrm>
            <a:off x="2844800" y="2910840"/>
            <a:ext cx="6172200" cy="3505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7107" name="Rectangle 3"/>
          <p:cNvSpPr>
            <a:spLocks noChangeArrowheads="1"/>
          </p:cNvSpPr>
          <p:nvPr/>
        </p:nvSpPr>
        <p:spPr bwMode="auto">
          <a:xfrm>
            <a:off x="0" y="152400"/>
            <a:ext cx="9144000" cy="1295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pic>
        <p:nvPicPr>
          <p:cNvPr id="47108" name="Picture 4" descr="menu"/>
          <p:cNvPicPr>
            <a:picLocks noChangeAspect="1" noChangeArrowheads="1"/>
          </p:cNvPicPr>
          <p:nvPr/>
        </p:nvPicPr>
        <p:blipFill>
          <a:blip r:embed="rId4">
            <a:extLst>
              <a:ext uri="{28A0092B-C50C-407E-A947-70E740481C1C}">
                <a14:useLocalDpi xmlns:a14="http://schemas.microsoft.com/office/drawing/2010/main" val="0"/>
              </a:ext>
            </a:extLst>
          </a:blip>
          <a:srcRect l="9599" b="8267"/>
          <a:stretch>
            <a:fillRect/>
          </a:stretch>
        </p:blipFill>
        <p:spPr bwMode="auto">
          <a:xfrm>
            <a:off x="88900" y="268309"/>
            <a:ext cx="4305300" cy="3276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itle 1"/>
          <p:cNvSpPr txBox="1">
            <a:spLocks/>
          </p:cNvSpPr>
          <p:nvPr/>
        </p:nvSpPr>
        <p:spPr>
          <a:xfrm>
            <a:off x="1767840" y="90118"/>
            <a:ext cx="7376160" cy="726831"/>
          </a:xfrm>
          <a:prstGeom prst="rect">
            <a:avLst/>
          </a:prstGeom>
        </p:spPr>
        <p:txBody>
          <a:bodyPr>
            <a:normAutofit fontScale="975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smtClean="0"/>
              <a:t>Data?</a:t>
            </a:r>
            <a:endParaRPr lang="en-US" altLang="en-US" dirty="0"/>
          </a:p>
        </p:txBody>
      </p:sp>
    </p:spTree>
    <p:extLst>
      <p:ext uri="{BB962C8B-B14F-4D97-AF65-F5344CB8AC3E}">
        <p14:creationId xmlns:p14="http://schemas.microsoft.com/office/powerpoint/2010/main" val="4008723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p:cNvPicPr>
            <a:picLocks noChangeAspect="1"/>
          </p:cNvPicPr>
          <p:nvPr/>
        </p:nvPicPr>
        <p:blipFill>
          <a:blip r:embed="rId3">
            <a:extLst>
              <a:ext uri="{28A0092B-C50C-407E-A947-70E740481C1C}">
                <a14:useLocalDpi xmlns:a14="http://schemas.microsoft.com/office/drawing/2010/main" val="0"/>
              </a:ext>
            </a:extLst>
          </a:blip>
          <a:srcRect l="7407" t="10526" r="14024" b="11424"/>
          <a:stretch>
            <a:fillRect/>
          </a:stretch>
        </p:blipFill>
        <p:spPr bwMode="auto">
          <a:xfrm>
            <a:off x="2451100" y="914400"/>
            <a:ext cx="3409950" cy="226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31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130300"/>
            <a:ext cx="1917700" cy="1917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317" name="Picture 8"/>
          <p:cNvPicPr>
            <a:picLocks noChangeAspect="1"/>
          </p:cNvPicPr>
          <p:nvPr/>
        </p:nvPicPr>
        <p:blipFill>
          <a:blip r:embed="rId5">
            <a:extLst>
              <a:ext uri="{28A0092B-C50C-407E-A947-70E740481C1C}">
                <a14:useLocalDpi xmlns:a14="http://schemas.microsoft.com/office/drawing/2010/main" val="0"/>
              </a:ext>
            </a:extLst>
          </a:blip>
          <a:srcRect t="11757" b="4373"/>
          <a:stretch>
            <a:fillRect/>
          </a:stretch>
        </p:blipFill>
        <p:spPr bwMode="auto">
          <a:xfrm>
            <a:off x="6107113" y="1117600"/>
            <a:ext cx="2668587" cy="163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318" name="Picture 2"/>
          <p:cNvPicPr>
            <a:picLocks noChangeAspect="1" noChangeArrowheads="1"/>
          </p:cNvPicPr>
          <p:nvPr/>
        </p:nvPicPr>
        <p:blipFill>
          <a:blip r:embed="rId6">
            <a:extLst>
              <a:ext uri="{28A0092B-C50C-407E-A947-70E740481C1C}">
                <a14:useLocalDpi xmlns:a14="http://schemas.microsoft.com/office/drawing/2010/main" val="0"/>
              </a:ext>
            </a:extLst>
          </a:blip>
          <a:srcRect l="20723" t="10033" r="57320" b="86578"/>
          <a:stretch>
            <a:fillRect/>
          </a:stretch>
        </p:blipFill>
        <p:spPr bwMode="auto">
          <a:xfrm>
            <a:off x="6099175" y="2743200"/>
            <a:ext cx="2676525" cy="330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8" name="Text Box 10"/>
          <p:cNvSpPr txBox="1">
            <a:spLocks noChangeArrowheads="1"/>
          </p:cNvSpPr>
          <p:nvPr/>
        </p:nvSpPr>
        <p:spPr bwMode="auto">
          <a:xfrm>
            <a:off x="714375" y="3505200"/>
            <a:ext cx="360868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defRPr/>
            </a:pPr>
            <a:r>
              <a:rPr lang="en-US" sz="3200" dirty="0" smtClean="0">
                <a:latin typeface="+mn-lt"/>
              </a:rPr>
              <a:t>Also: </a:t>
            </a:r>
          </a:p>
          <a:p>
            <a:pPr marL="342900" indent="-342900">
              <a:buFont typeface="Arial" pitchFamily="34" charset="0"/>
              <a:buChar char="•"/>
              <a:defRPr/>
            </a:pPr>
            <a:r>
              <a:rPr lang="en-US" sz="3200" dirty="0" smtClean="0">
                <a:latin typeface="+mn-lt"/>
              </a:rPr>
              <a:t>news articles</a:t>
            </a:r>
          </a:p>
          <a:p>
            <a:pPr marL="342900" indent="-342900">
              <a:buFont typeface="Arial" pitchFamily="34" charset="0"/>
              <a:buChar char="•"/>
              <a:defRPr/>
            </a:pPr>
            <a:r>
              <a:rPr lang="en-US" sz="3200" dirty="0" smtClean="0">
                <a:latin typeface="+mn-lt"/>
              </a:rPr>
              <a:t>company websites</a:t>
            </a:r>
          </a:p>
          <a:p>
            <a:pPr marL="342900" indent="-342900">
              <a:buFont typeface="Arial" pitchFamily="34" charset="0"/>
              <a:buChar char="•"/>
              <a:defRPr/>
            </a:pPr>
            <a:r>
              <a:rPr lang="en-US" sz="3200" dirty="0" smtClean="0">
                <a:latin typeface="+mn-lt"/>
              </a:rPr>
              <a:t>laws &amp; patents</a:t>
            </a:r>
          </a:p>
          <a:p>
            <a:pPr marL="342900" indent="-342900">
              <a:buFont typeface="Arial" pitchFamily="34" charset="0"/>
              <a:buChar char="•"/>
              <a:defRPr/>
            </a:pPr>
            <a:r>
              <a:rPr lang="en-US" sz="3200" dirty="0" smtClean="0">
                <a:latin typeface="+mn-lt"/>
              </a:rPr>
              <a:t>subtitles</a:t>
            </a:r>
            <a:endParaRPr lang="en-US" sz="3200" dirty="0">
              <a:latin typeface="+mn-lt"/>
            </a:endParaRPr>
          </a:p>
        </p:txBody>
      </p:sp>
      <p:pic>
        <p:nvPicPr>
          <p:cNvPr id="13320" name="Picture 9"/>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3429000"/>
            <a:ext cx="3810000" cy="2857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457200" y="90118"/>
            <a:ext cx="8229600" cy="726831"/>
          </a:xfrm>
        </p:spPr>
        <p:txBody>
          <a:bodyPr>
            <a:normAutofit fontScale="90000"/>
          </a:bodyPr>
          <a:lstStyle/>
          <a:p>
            <a:r>
              <a:rPr lang="en-US" altLang="en-US" dirty="0" smtClean="0"/>
              <a:t>Data</a:t>
            </a:r>
            <a:r>
              <a:rPr lang="en-US" altLang="en-US" dirty="0"/>
              <a:t>?</a:t>
            </a:r>
          </a:p>
        </p:txBody>
      </p:sp>
    </p:spTree>
    <p:extLst>
      <p:ext uri="{BB962C8B-B14F-4D97-AF65-F5344CB8AC3E}">
        <p14:creationId xmlns:p14="http://schemas.microsoft.com/office/powerpoint/2010/main" val="222734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Parallel Data</a:t>
            </a:r>
            <a:endParaRPr lang="en-US" dirty="0"/>
          </a:p>
        </p:txBody>
      </p:sp>
      <p:sp>
        <p:nvSpPr>
          <p:cNvPr id="3" name="Content Placeholder 2"/>
          <p:cNvSpPr txBox="1">
            <a:spLocks/>
          </p:cNvSpPr>
          <p:nvPr/>
        </p:nvSpPr>
        <p:spPr>
          <a:xfrm>
            <a:off x="457200" y="1148080"/>
            <a:ext cx="8229600" cy="508000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smtClean="0">
                <a:solidFill>
                  <a:srgbClr val="288CD2"/>
                </a:solidFill>
              </a:rPr>
              <a:t>parallel data</a:t>
            </a:r>
            <a:r>
              <a:rPr lang="en-US" dirty="0" smtClean="0"/>
              <a:t>: bilingual data that is naturally aligned at some level</a:t>
            </a:r>
          </a:p>
          <a:p>
            <a:r>
              <a:rPr lang="en-US" dirty="0" smtClean="0"/>
              <a:t>usually aligned at the document level</a:t>
            </a:r>
          </a:p>
          <a:p>
            <a:r>
              <a:rPr lang="en-US" dirty="0" smtClean="0"/>
              <a:t>sentence-level alignments are generated automatically</a:t>
            </a:r>
          </a:p>
          <a:p>
            <a:pPr lvl="1"/>
            <a:r>
              <a:rPr lang="en-US" dirty="0" smtClean="0"/>
              <a:t>how might you design an algorithm for this?</a:t>
            </a:r>
          </a:p>
          <a:p>
            <a:pPr lvl="1"/>
            <a:r>
              <a:rPr lang="en-US" dirty="0" smtClean="0"/>
              <a:t>it can be done well without dictionaries!</a:t>
            </a:r>
          </a:p>
          <a:p>
            <a:pPr lvl="1"/>
            <a:r>
              <a:rPr lang="en-US" dirty="0" smtClean="0"/>
              <a:t>can throw out sentences that don’t align with anything</a:t>
            </a:r>
          </a:p>
        </p:txBody>
      </p:sp>
    </p:spTree>
    <p:extLst>
      <p:ext uri="{BB962C8B-B14F-4D97-AF65-F5344CB8AC3E}">
        <p14:creationId xmlns:p14="http://schemas.microsoft.com/office/powerpoint/2010/main" val="21032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z="3600" dirty="0">
                <a:latin typeface="+mn-lt"/>
              </a:rPr>
              <a:t>Learning from Parallel </a:t>
            </a:r>
            <a:r>
              <a:rPr lang="en-US" altLang="en-US" sz="3600" dirty="0" smtClean="0">
                <a:latin typeface="+mn-lt"/>
              </a:rPr>
              <a:t>Sentences</a:t>
            </a:r>
            <a:endParaRPr lang="en-US" altLang="en-US" sz="3600" dirty="0">
              <a:latin typeface="+mn-lt"/>
            </a:endParaRPr>
          </a:p>
        </p:txBody>
      </p:sp>
      <p:sp>
        <p:nvSpPr>
          <p:cNvPr id="14339" name="Rectangle 3"/>
          <p:cNvSpPr>
            <a:spLocks noGrp="1" noChangeArrowheads="1"/>
          </p:cNvSpPr>
          <p:nvPr>
            <p:ph type="body" sz="half" idx="1"/>
          </p:nvPr>
        </p:nvSpPr>
        <p:spPr>
          <a:xfrm>
            <a:off x="596900" y="1808163"/>
            <a:ext cx="3670300" cy="3602037"/>
          </a:xfrm>
          <a:noFill/>
        </p:spPr>
        <p:txBody>
          <a:bodyPr/>
          <a:lstStyle/>
          <a:p>
            <a:pPr marL="398463" indent="-398463" eaLnBrk="1" hangingPunct="1">
              <a:buFontTx/>
              <a:buAutoNum type="arabicPeriod"/>
            </a:pPr>
            <a:r>
              <a:rPr lang="en-US" altLang="en-US" sz="2400"/>
              <a:t> Ofi 'at kowi 'ã lhiyohli </a:t>
            </a:r>
          </a:p>
          <a:p>
            <a:pPr marL="398463" indent="-398463" eaLnBrk="1" hangingPunct="1">
              <a:buFontTx/>
              <a:buAutoNum type="arabicPeriod"/>
            </a:pPr>
            <a:r>
              <a:rPr lang="en-US" altLang="en-US" sz="2400"/>
              <a:t> Kowi 'at ofi 'ã lhiyohli </a:t>
            </a:r>
          </a:p>
          <a:p>
            <a:pPr marL="398463" indent="-398463" eaLnBrk="1" hangingPunct="1">
              <a:buFontTx/>
              <a:buAutoNum type="arabicPeriod"/>
            </a:pPr>
            <a:r>
              <a:rPr lang="en-US" altLang="en-US" sz="2400"/>
              <a:t> Ofi 'at shoha</a:t>
            </a:r>
          </a:p>
        </p:txBody>
      </p:sp>
      <p:sp>
        <p:nvSpPr>
          <p:cNvPr id="14340" name="Rectangle 4"/>
          <p:cNvSpPr>
            <a:spLocks noChangeArrowheads="1"/>
          </p:cNvSpPr>
          <p:nvPr/>
        </p:nvSpPr>
        <p:spPr bwMode="auto">
          <a:xfrm>
            <a:off x="4495800" y="1828800"/>
            <a:ext cx="4343400" cy="3276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81000" indent="-3810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AutoNum type="arabicPeriod"/>
            </a:pPr>
            <a:r>
              <a:rPr lang="en-US" altLang="en-US" sz="2400">
                <a:latin typeface="+mn-lt"/>
                <a:ea typeface="Arial Unicode MS" charset="0"/>
              </a:rPr>
              <a:t> The dog chases the cat</a:t>
            </a:r>
          </a:p>
          <a:p>
            <a:pPr eaLnBrk="1" hangingPunct="1">
              <a:spcBef>
                <a:spcPct val="20000"/>
              </a:spcBef>
              <a:buFontTx/>
              <a:buAutoNum type="arabicPeriod"/>
            </a:pPr>
            <a:r>
              <a:rPr lang="en-US" altLang="en-US" sz="2400">
                <a:latin typeface="+mn-lt"/>
                <a:ea typeface="Arial Unicode MS" charset="0"/>
              </a:rPr>
              <a:t> The cat chases the dog</a:t>
            </a:r>
          </a:p>
          <a:p>
            <a:pPr eaLnBrk="1" hangingPunct="1">
              <a:spcBef>
                <a:spcPct val="20000"/>
              </a:spcBef>
              <a:buFontTx/>
              <a:buAutoNum type="arabicPeriod"/>
            </a:pPr>
            <a:r>
              <a:rPr lang="en-US" altLang="en-US" sz="2400">
                <a:latin typeface="+mn-lt"/>
                <a:ea typeface="Arial Unicode MS" charset="0"/>
              </a:rPr>
              <a:t> The dog stinks</a:t>
            </a:r>
          </a:p>
        </p:txBody>
      </p:sp>
      <p:sp>
        <p:nvSpPr>
          <p:cNvPr id="14341" name="Text Box 6"/>
          <p:cNvSpPr txBox="1">
            <a:spLocks noChangeArrowheads="1"/>
          </p:cNvSpPr>
          <p:nvPr/>
        </p:nvSpPr>
        <p:spPr bwMode="auto">
          <a:xfrm>
            <a:off x="5429250" y="1157288"/>
            <a:ext cx="1211565"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a:latin typeface="+mn-lt"/>
              </a:rPr>
              <a:t>English</a:t>
            </a:r>
          </a:p>
        </p:txBody>
      </p:sp>
      <p:sp>
        <p:nvSpPr>
          <p:cNvPr id="14342" name="Text Box 5"/>
          <p:cNvSpPr txBox="1">
            <a:spLocks noChangeArrowheads="1"/>
          </p:cNvSpPr>
          <p:nvPr/>
        </p:nvSpPr>
        <p:spPr bwMode="auto">
          <a:xfrm>
            <a:off x="1357313" y="1157288"/>
            <a:ext cx="1717675" cy="523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a:latin typeface="+mn-lt"/>
              </a:rPr>
              <a:t>Chickasaw</a:t>
            </a:r>
          </a:p>
        </p:txBody>
      </p:sp>
    </p:spTree>
    <p:extLst>
      <p:ext uri="{BB962C8B-B14F-4D97-AF65-F5344CB8AC3E}">
        <p14:creationId xmlns:p14="http://schemas.microsoft.com/office/powerpoint/2010/main" val="6086815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z="3600" dirty="0">
                <a:latin typeface="+mn-lt"/>
              </a:rPr>
              <a:t>Learning from Parallel </a:t>
            </a:r>
            <a:r>
              <a:rPr lang="en-US" altLang="en-US" sz="3600" dirty="0" smtClean="0">
                <a:latin typeface="+mn-lt"/>
              </a:rPr>
              <a:t>Sentences</a:t>
            </a:r>
            <a:endParaRPr lang="en-US" altLang="en-US" sz="3600" dirty="0">
              <a:latin typeface="+mn-lt"/>
            </a:endParaRPr>
          </a:p>
        </p:txBody>
      </p:sp>
      <p:sp>
        <p:nvSpPr>
          <p:cNvPr id="15363" name="Rectangle 3"/>
          <p:cNvSpPr>
            <a:spLocks noGrp="1" noChangeArrowheads="1"/>
          </p:cNvSpPr>
          <p:nvPr>
            <p:ph type="body" sz="half" idx="1"/>
          </p:nvPr>
        </p:nvSpPr>
        <p:spPr>
          <a:xfrm>
            <a:off x="596900" y="1808163"/>
            <a:ext cx="3670300" cy="3602037"/>
          </a:xfrm>
          <a:noFill/>
        </p:spPr>
        <p:txBody>
          <a:bodyPr/>
          <a:lstStyle/>
          <a:p>
            <a:pPr marL="398463" indent="-398463" eaLnBrk="1" hangingPunct="1">
              <a:buFontTx/>
              <a:buAutoNum type="arabicPeriod"/>
            </a:pPr>
            <a:r>
              <a:rPr lang="en-US" altLang="en-US" sz="2400"/>
              <a:t> </a:t>
            </a:r>
            <a:r>
              <a:rPr lang="en-US" altLang="en-US" sz="2400">
                <a:solidFill>
                  <a:srgbClr val="33CC33"/>
                </a:solidFill>
              </a:rPr>
              <a:t>Ofi</a:t>
            </a:r>
            <a:r>
              <a:rPr lang="en-US" altLang="en-US" sz="2400">
                <a:solidFill>
                  <a:srgbClr val="CC00CC"/>
                </a:solidFill>
              </a:rPr>
              <a:t> </a:t>
            </a:r>
            <a:r>
              <a:rPr lang="en-US" altLang="en-US" sz="2400"/>
              <a:t>'at </a:t>
            </a:r>
            <a:r>
              <a:rPr lang="en-US" altLang="en-US" sz="2400">
                <a:solidFill>
                  <a:srgbClr val="FF0000"/>
                </a:solidFill>
              </a:rPr>
              <a:t>kowi </a:t>
            </a:r>
            <a:r>
              <a:rPr lang="en-US" altLang="en-US" sz="2400"/>
              <a:t>'ã </a:t>
            </a:r>
            <a:r>
              <a:rPr lang="en-US" altLang="en-US" sz="2400">
                <a:solidFill>
                  <a:srgbClr val="0000FF"/>
                </a:solidFill>
              </a:rPr>
              <a:t>lhiyohli</a:t>
            </a:r>
            <a:r>
              <a:rPr lang="en-US" altLang="en-US" sz="2400"/>
              <a:t> </a:t>
            </a:r>
          </a:p>
          <a:p>
            <a:pPr marL="398463" indent="-398463" eaLnBrk="1" hangingPunct="1">
              <a:buFontTx/>
              <a:buAutoNum type="arabicPeriod"/>
            </a:pPr>
            <a:r>
              <a:rPr lang="en-US" altLang="en-US" sz="2400"/>
              <a:t> </a:t>
            </a:r>
            <a:r>
              <a:rPr lang="en-US" altLang="en-US" sz="2400">
                <a:solidFill>
                  <a:srgbClr val="FF0000"/>
                </a:solidFill>
              </a:rPr>
              <a:t>Kowi </a:t>
            </a:r>
            <a:r>
              <a:rPr lang="en-US" altLang="en-US" sz="2400"/>
              <a:t>'at </a:t>
            </a:r>
            <a:r>
              <a:rPr lang="en-US" altLang="en-US" sz="2400">
                <a:solidFill>
                  <a:srgbClr val="33CC33"/>
                </a:solidFill>
              </a:rPr>
              <a:t>ofi</a:t>
            </a:r>
            <a:r>
              <a:rPr lang="en-US" altLang="en-US" sz="2400">
                <a:solidFill>
                  <a:srgbClr val="CC00CC"/>
                </a:solidFill>
              </a:rPr>
              <a:t> </a:t>
            </a:r>
            <a:r>
              <a:rPr lang="en-US" altLang="en-US" sz="2400"/>
              <a:t>'ã </a:t>
            </a:r>
            <a:r>
              <a:rPr lang="en-US" altLang="en-US" sz="2400">
                <a:solidFill>
                  <a:srgbClr val="0000FF"/>
                </a:solidFill>
              </a:rPr>
              <a:t>lhiyohli</a:t>
            </a:r>
            <a:r>
              <a:rPr lang="en-US" altLang="en-US" sz="2400"/>
              <a:t> </a:t>
            </a:r>
          </a:p>
          <a:p>
            <a:pPr marL="398463" indent="-398463" eaLnBrk="1" hangingPunct="1">
              <a:buFontTx/>
              <a:buAutoNum type="arabicPeriod"/>
            </a:pPr>
            <a:r>
              <a:rPr lang="en-US" altLang="en-US" sz="2400"/>
              <a:t> </a:t>
            </a:r>
            <a:r>
              <a:rPr lang="en-US" altLang="en-US" sz="2400">
                <a:solidFill>
                  <a:srgbClr val="33CC33"/>
                </a:solidFill>
              </a:rPr>
              <a:t>Ofi</a:t>
            </a:r>
            <a:r>
              <a:rPr lang="en-US" altLang="en-US" sz="2400">
                <a:solidFill>
                  <a:srgbClr val="CC00CC"/>
                </a:solidFill>
              </a:rPr>
              <a:t> </a:t>
            </a:r>
            <a:r>
              <a:rPr lang="en-US" altLang="en-US" sz="2400"/>
              <a:t>'at </a:t>
            </a:r>
            <a:r>
              <a:rPr lang="en-US" altLang="en-US" sz="2400">
                <a:solidFill>
                  <a:srgbClr val="00B0F0"/>
                </a:solidFill>
              </a:rPr>
              <a:t>shoha</a:t>
            </a:r>
          </a:p>
        </p:txBody>
      </p:sp>
      <p:sp>
        <p:nvSpPr>
          <p:cNvPr id="15364" name="Rectangle 4"/>
          <p:cNvSpPr>
            <a:spLocks noChangeArrowheads="1"/>
          </p:cNvSpPr>
          <p:nvPr/>
        </p:nvSpPr>
        <p:spPr bwMode="auto">
          <a:xfrm>
            <a:off x="4495800" y="1828800"/>
            <a:ext cx="4343400" cy="3276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81000" indent="-3810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AutoNum type="arabicPeriod"/>
            </a:pPr>
            <a:r>
              <a:rPr lang="en-US" altLang="en-US" sz="2400">
                <a:latin typeface="+mn-lt"/>
                <a:ea typeface="Arial Unicode MS" charset="0"/>
              </a:rPr>
              <a:t> The </a:t>
            </a:r>
            <a:r>
              <a:rPr lang="en-US" altLang="en-US" sz="2400">
                <a:solidFill>
                  <a:srgbClr val="33CC33"/>
                </a:solidFill>
                <a:latin typeface="+mn-lt"/>
                <a:ea typeface="Arial Unicode MS" charset="0"/>
              </a:rPr>
              <a:t>dog</a:t>
            </a:r>
            <a:r>
              <a:rPr lang="en-US" altLang="en-US" sz="2400">
                <a:latin typeface="+mn-lt"/>
                <a:ea typeface="Arial Unicode MS" charset="0"/>
              </a:rPr>
              <a:t> </a:t>
            </a:r>
            <a:r>
              <a:rPr lang="en-US" altLang="en-US" sz="2400">
                <a:solidFill>
                  <a:srgbClr val="0000FF"/>
                </a:solidFill>
                <a:latin typeface="+mn-lt"/>
                <a:ea typeface="Arial Unicode MS" charset="0"/>
              </a:rPr>
              <a:t>chases</a:t>
            </a:r>
            <a:r>
              <a:rPr lang="en-US" altLang="en-US" sz="2400">
                <a:latin typeface="+mn-lt"/>
                <a:ea typeface="Arial Unicode MS" charset="0"/>
              </a:rPr>
              <a:t> the </a:t>
            </a:r>
            <a:r>
              <a:rPr lang="en-US" altLang="en-US" sz="2400">
                <a:solidFill>
                  <a:srgbClr val="FF0000"/>
                </a:solidFill>
                <a:latin typeface="+mn-lt"/>
                <a:ea typeface="Arial Unicode MS" charset="0"/>
              </a:rPr>
              <a:t>cat</a:t>
            </a:r>
          </a:p>
          <a:p>
            <a:pPr eaLnBrk="1" hangingPunct="1">
              <a:spcBef>
                <a:spcPct val="20000"/>
              </a:spcBef>
              <a:buFontTx/>
              <a:buAutoNum type="arabicPeriod"/>
            </a:pPr>
            <a:r>
              <a:rPr lang="en-US" altLang="en-US" sz="2400">
                <a:latin typeface="+mn-lt"/>
                <a:ea typeface="Arial Unicode MS" charset="0"/>
              </a:rPr>
              <a:t> The </a:t>
            </a:r>
            <a:r>
              <a:rPr lang="en-US" altLang="en-US" sz="2400">
                <a:solidFill>
                  <a:srgbClr val="FF0000"/>
                </a:solidFill>
                <a:latin typeface="+mn-lt"/>
                <a:ea typeface="Arial Unicode MS" charset="0"/>
              </a:rPr>
              <a:t>cat</a:t>
            </a:r>
            <a:r>
              <a:rPr lang="en-US" altLang="en-US" sz="2400">
                <a:latin typeface="+mn-lt"/>
                <a:ea typeface="Arial Unicode MS" charset="0"/>
              </a:rPr>
              <a:t> </a:t>
            </a:r>
            <a:r>
              <a:rPr lang="en-US" altLang="en-US" sz="2400">
                <a:solidFill>
                  <a:srgbClr val="0000FF"/>
                </a:solidFill>
                <a:latin typeface="+mn-lt"/>
                <a:ea typeface="Arial Unicode MS" charset="0"/>
              </a:rPr>
              <a:t>chases</a:t>
            </a:r>
            <a:r>
              <a:rPr lang="en-US" altLang="en-US" sz="2400">
                <a:latin typeface="+mn-lt"/>
                <a:ea typeface="Arial Unicode MS" charset="0"/>
              </a:rPr>
              <a:t> the </a:t>
            </a:r>
            <a:r>
              <a:rPr lang="en-US" altLang="en-US" sz="2400">
                <a:solidFill>
                  <a:srgbClr val="33CC33"/>
                </a:solidFill>
                <a:latin typeface="+mn-lt"/>
                <a:ea typeface="Arial Unicode MS" charset="0"/>
              </a:rPr>
              <a:t>dog</a:t>
            </a:r>
          </a:p>
          <a:p>
            <a:pPr eaLnBrk="1" hangingPunct="1">
              <a:spcBef>
                <a:spcPct val="20000"/>
              </a:spcBef>
              <a:buFontTx/>
              <a:buAutoNum type="arabicPeriod"/>
            </a:pPr>
            <a:r>
              <a:rPr lang="en-US" altLang="en-US" sz="2400">
                <a:latin typeface="+mn-lt"/>
                <a:ea typeface="Arial Unicode MS" charset="0"/>
              </a:rPr>
              <a:t> The </a:t>
            </a:r>
            <a:r>
              <a:rPr lang="en-US" altLang="en-US" sz="2400">
                <a:solidFill>
                  <a:srgbClr val="33CC33"/>
                </a:solidFill>
                <a:latin typeface="+mn-lt"/>
                <a:ea typeface="Arial Unicode MS" charset="0"/>
              </a:rPr>
              <a:t>dog</a:t>
            </a:r>
            <a:r>
              <a:rPr lang="en-US" altLang="en-US" sz="2400">
                <a:latin typeface="+mn-lt"/>
                <a:ea typeface="Arial Unicode MS" charset="0"/>
              </a:rPr>
              <a:t> </a:t>
            </a:r>
            <a:r>
              <a:rPr lang="en-US" altLang="en-US" sz="2400">
                <a:solidFill>
                  <a:srgbClr val="00B0F0"/>
                </a:solidFill>
                <a:latin typeface="+mn-lt"/>
                <a:ea typeface="Arial Unicode MS" charset="0"/>
              </a:rPr>
              <a:t>stinks</a:t>
            </a:r>
          </a:p>
        </p:txBody>
      </p:sp>
      <p:sp>
        <p:nvSpPr>
          <p:cNvPr id="15365" name="Text Box 5"/>
          <p:cNvSpPr txBox="1">
            <a:spLocks noChangeArrowheads="1"/>
          </p:cNvSpPr>
          <p:nvPr/>
        </p:nvSpPr>
        <p:spPr bwMode="auto">
          <a:xfrm>
            <a:off x="1357313" y="1157288"/>
            <a:ext cx="1717675" cy="523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a:latin typeface="+mn-lt"/>
              </a:rPr>
              <a:t>Chickasaw</a:t>
            </a:r>
          </a:p>
        </p:txBody>
      </p:sp>
      <p:sp>
        <p:nvSpPr>
          <p:cNvPr id="15366" name="Text Box 6"/>
          <p:cNvSpPr txBox="1">
            <a:spLocks noChangeArrowheads="1"/>
          </p:cNvSpPr>
          <p:nvPr/>
        </p:nvSpPr>
        <p:spPr bwMode="auto">
          <a:xfrm>
            <a:off x="5429250" y="1157288"/>
            <a:ext cx="1211565"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a:latin typeface="+mn-lt"/>
              </a:rPr>
              <a:t>English</a:t>
            </a:r>
          </a:p>
        </p:txBody>
      </p:sp>
    </p:spTree>
    <p:extLst>
      <p:ext uri="{BB962C8B-B14F-4D97-AF65-F5344CB8AC3E}">
        <p14:creationId xmlns:p14="http://schemas.microsoft.com/office/powerpoint/2010/main" val="24804416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sz="3600" dirty="0">
                <a:latin typeface="+mn-lt"/>
              </a:rPr>
              <a:t>Machine Translation Evaluation</a:t>
            </a:r>
          </a:p>
        </p:txBody>
      </p:sp>
      <p:sp>
        <p:nvSpPr>
          <p:cNvPr id="64515" name="Rectangle 3"/>
          <p:cNvSpPr>
            <a:spLocks noGrp="1" noChangeArrowheads="1"/>
          </p:cNvSpPr>
          <p:nvPr>
            <p:ph type="body" idx="1"/>
          </p:nvPr>
        </p:nvSpPr>
        <p:spPr>
          <a:xfrm>
            <a:off x="142240" y="1073740"/>
            <a:ext cx="8930640" cy="5052424"/>
          </a:xfrm>
        </p:spPr>
        <p:txBody>
          <a:bodyPr>
            <a:normAutofit/>
          </a:bodyPr>
          <a:lstStyle/>
          <a:p>
            <a:pPr eaLnBrk="1" hangingPunct="1">
              <a:lnSpc>
                <a:spcPct val="90000"/>
              </a:lnSpc>
            </a:pPr>
            <a:r>
              <a:rPr lang="en-US" altLang="en-US" dirty="0"/>
              <a:t>h</a:t>
            </a:r>
            <a:r>
              <a:rPr lang="en-US" altLang="en-US" dirty="0" smtClean="0"/>
              <a:t>uman </a:t>
            </a:r>
            <a:r>
              <a:rPr lang="en-US" altLang="en-US" dirty="0"/>
              <a:t>judgments are ideal, but expensive</a:t>
            </a:r>
          </a:p>
          <a:p>
            <a:pPr lvl="1" eaLnBrk="1" hangingPunct="1">
              <a:lnSpc>
                <a:spcPct val="90000"/>
              </a:lnSpc>
            </a:pPr>
            <a:r>
              <a:rPr lang="en-US" altLang="en-US" sz="2400" dirty="0" smtClean="0"/>
              <a:t>what </a:t>
            </a:r>
            <a:r>
              <a:rPr lang="en-US" altLang="en-US" sz="2400" dirty="0"/>
              <a:t>other problems are there with human judgments?</a:t>
            </a:r>
          </a:p>
          <a:p>
            <a:pPr lvl="1" eaLnBrk="1" hangingPunct="1">
              <a:lnSpc>
                <a:spcPct val="90000"/>
              </a:lnSpc>
            </a:pPr>
            <a:endParaRPr lang="en-US" altLang="en-US" sz="2400" dirty="0"/>
          </a:p>
          <a:p>
            <a:pPr eaLnBrk="1" hangingPunct="1">
              <a:lnSpc>
                <a:spcPct val="90000"/>
              </a:lnSpc>
            </a:pPr>
            <a:r>
              <a:rPr lang="en-US" altLang="en-US" dirty="0" smtClean="0"/>
              <a:t>we need automatic </a:t>
            </a:r>
            <a:r>
              <a:rPr lang="en-US" altLang="en-US" dirty="0"/>
              <a:t>evaluation metrics</a:t>
            </a:r>
          </a:p>
          <a:p>
            <a:pPr lvl="1" eaLnBrk="1" hangingPunct="1">
              <a:lnSpc>
                <a:spcPct val="90000"/>
              </a:lnSpc>
            </a:pPr>
            <a:r>
              <a:rPr lang="en-US" altLang="en-US" sz="2400" dirty="0"/>
              <a:t>BLEU (</a:t>
            </a:r>
            <a:r>
              <a:rPr lang="en-US" altLang="en-US" sz="2400" dirty="0" err="1"/>
              <a:t>BiLingual</a:t>
            </a:r>
            <a:r>
              <a:rPr lang="en-US" altLang="en-US" sz="2400" dirty="0"/>
              <a:t> Evaluation Understudy</a:t>
            </a:r>
            <a:r>
              <a:rPr lang="en-US" altLang="en-US" sz="2400" dirty="0" smtClean="0"/>
              <a:t>), </a:t>
            </a:r>
            <a:r>
              <a:rPr lang="en-US" altLang="en-US" sz="2400" dirty="0" err="1" smtClean="0"/>
              <a:t>Papineni</a:t>
            </a:r>
            <a:r>
              <a:rPr lang="en-US" altLang="en-US" sz="2400" dirty="0" smtClean="0"/>
              <a:t> et al. (2002)</a:t>
            </a:r>
            <a:endParaRPr lang="en-US" altLang="en-US" sz="2400" dirty="0"/>
          </a:p>
          <a:p>
            <a:pPr lvl="2" eaLnBrk="1" hangingPunct="1">
              <a:lnSpc>
                <a:spcPct val="90000"/>
              </a:lnSpc>
            </a:pPr>
            <a:r>
              <a:rPr lang="en-US" altLang="en-US" sz="2000" dirty="0" smtClean="0"/>
              <a:t>compare </a:t>
            </a:r>
            <a:r>
              <a:rPr lang="en-US" altLang="en-US" sz="2000" i="1" dirty="0"/>
              <a:t>n</a:t>
            </a:r>
            <a:r>
              <a:rPr lang="en-US" altLang="en-US" sz="2000" dirty="0"/>
              <a:t>-gram overlap between system output and human-produced translation</a:t>
            </a:r>
          </a:p>
          <a:p>
            <a:pPr lvl="2" eaLnBrk="1" hangingPunct="1">
              <a:lnSpc>
                <a:spcPct val="90000"/>
              </a:lnSpc>
            </a:pPr>
            <a:r>
              <a:rPr lang="en-US" altLang="en-US" sz="2000" dirty="0"/>
              <a:t>c</a:t>
            </a:r>
            <a:r>
              <a:rPr lang="en-US" altLang="en-US" sz="2000" dirty="0" smtClean="0"/>
              <a:t>orrelates </a:t>
            </a:r>
            <a:r>
              <a:rPr lang="en-US" altLang="en-US" sz="2000" dirty="0"/>
              <a:t>with human judgments surprisingly </a:t>
            </a:r>
            <a:r>
              <a:rPr lang="en-US" altLang="en-US" sz="2000" dirty="0" smtClean="0"/>
              <a:t>well, but only at the document level (not sentence level!)</a:t>
            </a:r>
            <a:endParaRPr lang="en-US" altLang="en-US" dirty="0"/>
          </a:p>
          <a:p>
            <a:pPr lvl="1" eaLnBrk="1" hangingPunct="1">
              <a:lnSpc>
                <a:spcPct val="90000"/>
              </a:lnSpc>
            </a:pPr>
            <a:r>
              <a:rPr lang="en-US" altLang="en-US" sz="2400" dirty="0" smtClean="0"/>
              <a:t>other </a:t>
            </a:r>
            <a:r>
              <a:rPr lang="en-US" altLang="en-US" sz="2400" dirty="0"/>
              <a:t>metrics do soft matching based on stemming and synonyms from </a:t>
            </a:r>
            <a:r>
              <a:rPr lang="en-US" altLang="en-US" sz="2400" dirty="0" err="1" smtClean="0"/>
              <a:t>WordNet</a:t>
            </a:r>
            <a:endParaRPr lang="en-US" altLang="en-US" sz="2400" dirty="0"/>
          </a:p>
          <a:p>
            <a:pPr lvl="1" eaLnBrk="1" hangingPunct="1">
              <a:lnSpc>
                <a:spcPct val="90000"/>
              </a:lnSpc>
            </a:pPr>
            <a:r>
              <a:rPr lang="en-US" altLang="en-US" sz="2400" dirty="0"/>
              <a:t>t</a:t>
            </a:r>
            <a:r>
              <a:rPr lang="en-US" altLang="en-US" sz="2400" dirty="0" smtClean="0"/>
              <a:t>his </a:t>
            </a:r>
            <a:r>
              <a:rPr lang="en-US" altLang="en-US" sz="2400" dirty="0"/>
              <a:t>is </a:t>
            </a:r>
            <a:r>
              <a:rPr lang="en-US" altLang="en-US" sz="2400" dirty="0" smtClean="0"/>
              <a:t>not a solved problem!</a:t>
            </a:r>
            <a:endParaRPr lang="en-US" altLang="en-US" sz="2400" dirty="0"/>
          </a:p>
        </p:txBody>
      </p:sp>
    </p:spTree>
    <p:extLst>
      <p:ext uri="{BB962C8B-B14F-4D97-AF65-F5344CB8AC3E}">
        <p14:creationId xmlns:p14="http://schemas.microsoft.com/office/powerpoint/2010/main" val="264086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5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5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51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5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5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5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normAutofit fontScale="90000"/>
          </a:bodyPr>
          <a:lstStyle/>
          <a:p>
            <a:pPr eaLnBrk="1" hangingPunct="1"/>
            <a:r>
              <a:rPr lang="en-US" altLang="en-US" b="1" dirty="0"/>
              <a:t>Statistical</a:t>
            </a:r>
            <a:r>
              <a:rPr lang="en-US" altLang="en-US" dirty="0"/>
              <a:t> Machine Translation</a:t>
            </a:r>
          </a:p>
        </p:txBody>
      </p:sp>
      <p:pic>
        <p:nvPicPr>
          <p:cNvPr id="6152" name="Picture 32" descr="wea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5720" y="2047240"/>
            <a:ext cx="1600200" cy="2057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153" name="Text Box 34"/>
          <p:cNvSpPr txBox="1">
            <a:spLocks noChangeArrowheads="1"/>
          </p:cNvSpPr>
          <p:nvPr/>
        </p:nvSpPr>
        <p:spPr bwMode="auto">
          <a:xfrm>
            <a:off x="736600" y="1776591"/>
            <a:ext cx="4607560" cy="3170099"/>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000" i="1" dirty="0" smtClean="0">
                <a:latin typeface="+mn-lt"/>
              </a:rPr>
              <a:t>One </a:t>
            </a:r>
            <a:r>
              <a:rPr lang="en-US" altLang="en-US" sz="2000" i="1" dirty="0">
                <a:latin typeface="+mn-lt"/>
              </a:rPr>
              <a:t>naturally wonders if the problem of translation could conceivably be treated as a problem in </a:t>
            </a:r>
            <a:r>
              <a:rPr lang="en-US" altLang="en-US" sz="2000" b="1" i="1" dirty="0">
                <a:latin typeface="+mn-lt"/>
              </a:rPr>
              <a:t>cryptography</a:t>
            </a:r>
            <a:r>
              <a:rPr lang="en-US" altLang="en-US" sz="2000" i="1" dirty="0">
                <a:latin typeface="+mn-lt"/>
              </a:rPr>
              <a:t>. </a:t>
            </a:r>
            <a:endParaRPr lang="en-US" altLang="en-US" sz="2000" i="1" dirty="0" smtClean="0">
              <a:latin typeface="+mn-lt"/>
            </a:endParaRPr>
          </a:p>
          <a:p>
            <a:pPr eaLnBrk="1" hangingPunct="1"/>
            <a:endParaRPr lang="en-US" altLang="en-US" sz="2000" i="1" dirty="0">
              <a:latin typeface="+mn-lt"/>
            </a:endParaRPr>
          </a:p>
          <a:p>
            <a:pPr eaLnBrk="1" hangingPunct="1"/>
            <a:r>
              <a:rPr lang="en-US" altLang="en-US" sz="2000" i="1" dirty="0" smtClean="0">
                <a:latin typeface="+mn-lt"/>
              </a:rPr>
              <a:t>When </a:t>
            </a:r>
            <a:r>
              <a:rPr lang="en-US" altLang="en-US" sz="2000" i="1" dirty="0">
                <a:latin typeface="+mn-lt"/>
              </a:rPr>
              <a:t>I look at an article in Arabic, I say: </a:t>
            </a:r>
            <a:r>
              <a:rPr lang="en-US" altLang="en-US" sz="2000" i="1" dirty="0" smtClean="0">
                <a:latin typeface="+mn-lt"/>
              </a:rPr>
              <a:t>“This </a:t>
            </a:r>
            <a:r>
              <a:rPr lang="en-US" altLang="en-US" sz="2000" i="1" dirty="0">
                <a:latin typeface="+mn-lt"/>
              </a:rPr>
              <a:t>is really written in English, but it has been coded in some strange symbols. I will now proceed to decode</a:t>
            </a:r>
            <a:r>
              <a:rPr lang="en-US" altLang="en-US" sz="2000" i="1" dirty="0" smtClean="0">
                <a:latin typeface="+mn-lt"/>
              </a:rPr>
              <a:t>.”</a:t>
            </a:r>
          </a:p>
          <a:p>
            <a:pPr eaLnBrk="1" hangingPunct="1"/>
            <a:endParaRPr lang="en-US" altLang="en-US" sz="2000" i="1" dirty="0">
              <a:latin typeface="+mn-lt"/>
            </a:endParaRPr>
          </a:p>
          <a:p>
            <a:pPr algn="r" eaLnBrk="1" hangingPunct="1"/>
            <a:r>
              <a:rPr lang="en-US" altLang="en-US" sz="2000" dirty="0" smtClean="0">
                <a:latin typeface="+mn-lt"/>
              </a:rPr>
              <a:t>Warren </a:t>
            </a:r>
            <a:r>
              <a:rPr lang="en-US" altLang="en-US" sz="2000" dirty="0">
                <a:latin typeface="+mn-lt"/>
              </a:rPr>
              <a:t>Weaver, 1947</a:t>
            </a:r>
          </a:p>
        </p:txBody>
      </p:sp>
    </p:spTree>
    <p:extLst>
      <p:ext uri="{BB962C8B-B14F-4D97-AF65-F5344CB8AC3E}">
        <p14:creationId xmlns:p14="http://schemas.microsoft.com/office/powerpoint/2010/main" val="33234011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dirty="0"/>
              <a:t>Noisy Channel </a:t>
            </a:r>
            <a:r>
              <a:rPr lang="en-US" dirty="0" smtClean="0"/>
              <a:t>Model</a:t>
            </a:r>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 y="1370013"/>
            <a:ext cx="8235950" cy="5030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6148" name="Rectangle 5"/>
          <p:cNvSpPr>
            <a:spLocks noChangeArrowheads="1"/>
          </p:cNvSpPr>
          <p:nvPr/>
        </p:nvSpPr>
        <p:spPr bwMode="auto">
          <a:xfrm>
            <a:off x="381000" y="1600200"/>
            <a:ext cx="685800" cy="381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50" name="Rectangle 6"/>
          <p:cNvSpPr>
            <a:spLocks noChangeArrowheads="1"/>
          </p:cNvSpPr>
          <p:nvPr/>
        </p:nvSpPr>
        <p:spPr bwMode="auto">
          <a:xfrm>
            <a:off x="4191000" y="1371600"/>
            <a:ext cx="1066800" cy="381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51" name="Rectangle 7"/>
          <p:cNvSpPr>
            <a:spLocks noChangeArrowheads="1"/>
          </p:cNvSpPr>
          <p:nvPr/>
        </p:nvSpPr>
        <p:spPr bwMode="auto">
          <a:xfrm>
            <a:off x="3429000" y="4953000"/>
            <a:ext cx="3124200" cy="1524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887326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71398"/>
            <a:ext cx="8229600" cy="936042"/>
          </a:xfrm>
        </p:spPr>
        <p:txBody>
          <a:bodyPr>
            <a:noAutofit/>
          </a:bodyPr>
          <a:lstStyle/>
          <a:p>
            <a:pPr eaLnBrk="1" hangingPunct="1"/>
            <a:r>
              <a:rPr lang="en-US" altLang="en-US" sz="2800" dirty="0"/>
              <a:t>Noisy Channel Model for Translating </a:t>
            </a:r>
            <a:br>
              <a:rPr lang="en-US" altLang="en-US" sz="2800" dirty="0"/>
            </a:br>
            <a:r>
              <a:rPr lang="en-US" altLang="en-US" sz="2800" dirty="0"/>
              <a:t>French ( </a:t>
            </a:r>
            <a:r>
              <a:rPr lang="en-US" altLang="en-US" sz="2800" i="1" dirty="0"/>
              <a:t>f </a:t>
            </a:r>
            <a:r>
              <a:rPr lang="en-US" altLang="en-US" sz="2800" dirty="0"/>
              <a:t>) to English (</a:t>
            </a:r>
            <a:r>
              <a:rPr lang="en-US" altLang="en-US" sz="2800" i="1" dirty="0"/>
              <a:t>e</a:t>
            </a:r>
            <a:r>
              <a:rPr lang="en-US" altLang="en-US" sz="2800" dirty="0"/>
              <a:t>)</a:t>
            </a: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50" y="1370013"/>
            <a:ext cx="8235950" cy="5030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7172" name="Rectangle 5"/>
          <p:cNvSpPr>
            <a:spLocks noChangeArrowheads="1"/>
          </p:cNvSpPr>
          <p:nvPr/>
        </p:nvSpPr>
        <p:spPr bwMode="auto">
          <a:xfrm>
            <a:off x="381000" y="1600200"/>
            <a:ext cx="685800" cy="381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graphicFrame>
        <p:nvGraphicFramePr>
          <p:cNvPr id="7173" name="Object 4"/>
          <p:cNvGraphicFramePr>
            <a:graphicFrameLocks noChangeAspect="1"/>
          </p:cNvGraphicFramePr>
          <p:nvPr/>
        </p:nvGraphicFramePr>
        <p:xfrm>
          <a:off x="457200" y="1600200"/>
          <a:ext cx="609600" cy="390525"/>
        </p:xfrm>
        <a:graphic>
          <a:graphicData uri="http://schemas.openxmlformats.org/presentationml/2006/ole">
            <mc:AlternateContent xmlns:mc="http://schemas.openxmlformats.org/markup-compatibility/2006">
              <mc:Choice xmlns:v="urn:schemas-microsoft-com:vml" Requires="v">
                <p:oleObj spid="_x0000_s62492" name="Equation" r:id="rId5" imgW="317225" imgH="203024" progId="Equation.3">
                  <p:embed/>
                </p:oleObj>
              </mc:Choice>
              <mc:Fallback>
                <p:oleObj name="Equation" r:id="rId5" imgW="317225" imgH="2030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600200"/>
                        <a:ext cx="609600" cy="390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174" name="Rectangle 6"/>
          <p:cNvSpPr>
            <a:spLocks noChangeArrowheads="1"/>
          </p:cNvSpPr>
          <p:nvPr/>
        </p:nvSpPr>
        <p:spPr bwMode="auto">
          <a:xfrm>
            <a:off x="4191000" y="1371600"/>
            <a:ext cx="1066800" cy="381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7175" name="Rectangle 7"/>
          <p:cNvSpPr>
            <a:spLocks noChangeArrowheads="1"/>
          </p:cNvSpPr>
          <p:nvPr/>
        </p:nvSpPr>
        <p:spPr bwMode="auto">
          <a:xfrm>
            <a:off x="3429000" y="4953000"/>
            <a:ext cx="3124200" cy="15240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graphicFrame>
        <p:nvGraphicFramePr>
          <p:cNvPr id="7176" name="Object 8"/>
          <p:cNvGraphicFramePr>
            <a:graphicFrameLocks noChangeAspect="1"/>
          </p:cNvGraphicFramePr>
          <p:nvPr>
            <p:extLst>
              <p:ext uri="{D42A27DB-BD31-4B8C-83A1-F6EECF244321}">
                <p14:modId xmlns:p14="http://schemas.microsoft.com/office/powerpoint/2010/main" val="2125722230"/>
              </p:ext>
            </p:extLst>
          </p:nvPr>
        </p:nvGraphicFramePr>
        <p:xfrm>
          <a:off x="4170680" y="1325245"/>
          <a:ext cx="990600" cy="396875"/>
        </p:xfrm>
        <a:graphic>
          <a:graphicData uri="http://schemas.openxmlformats.org/presentationml/2006/ole">
            <mc:AlternateContent xmlns:mc="http://schemas.openxmlformats.org/markup-compatibility/2006">
              <mc:Choice xmlns:v="urn:schemas-microsoft-com:vml" Requires="v">
                <p:oleObj spid="_x0000_s62493" name="Equation" r:id="rId7" imgW="507780" imgH="203112" progId="Equation.3">
                  <p:embed/>
                </p:oleObj>
              </mc:Choice>
              <mc:Fallback>
                <p:oleObj name="Equation" r:id="rId7" imgW="507780" imgH="20311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0680" y="1325245"/>
                        <a:ext cx="9906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7" name="Object 9"/>
          <p:cNvGraphicFramePr>
            <a:graphicFrameLocks noChangeAspect="1"/>
          </p:cNvGraphicFramePr>
          <p:nvPr/>
        </p:nvGraphicFramePr>
        <p:xfrm>
          <a:off x="3975100" y="4937125"/>
          <a:ext cx="1911350" cy="473075"/>
        </p:xfrm>
        <a:graphic>
          <a:graphicData uri="http://schemas.openxmlformats.org/presentationml/2006/ole">
            <mc:AlternateContent xmlns:mc="http://schemas.openxmlformats.org/markup-compatibility/2006">
              <mc:Choice xmlns:v="urn:schemas-microsoft-com:vml" Requires="v">
                <p:oleObj spid="_x0000_s62494" name="Equation" r:id="rId9" imgW="1231366" imgH="304668" progId="Equation.3">
                  <p:embed/>
                </p:oleObj>
              </mc:Choice>
              <mc:Fallback>
                <p:oleObj name="Equation" r:id="rId9" imgW="1231366" imgH="30466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5100" y="4937125"/>
                        <a:ext cx="1911350" cy="4730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8" name="Object 11"/>
          <p:cNvGraphicFramePr>
            <a:graphicFrameLocks noChangeAspect="1"/>
          </p:cNvGraphicFramePr>
          <p:nvPr/>
        </p:nvGraphicFramePr>
        <p:xfrm>
          <a:off x="4173538" y="5368925"/>
          <a:ext cx="2227262" cy="650875"/>
        </p:xfrm>
        <a:graphic>
          <a:graphicData uri="http://schemas.openxmlformats.org/presentationml/2006/ole">
            <mc:AlternateContent xmlns:mc="http://schemas.openxmlformats.org/markup-compatibility/2006">
              <mc:Choice xmlns:v="urn:schemas-microsoft-com:vml" Requires="v">
                <p:oleObj spid="_x0000_s62495" name="Equation" r:id="rId11" imgW="1435100" imgH="419100" progId="Equation.3">
                  <p:embed/>
                </p:oleObj>
              </mc:Choice>
              <mc:Fallback>
                <p:oleObj name="Equation" r:id="rId11" imgW="1435100" imgH="419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3538" y="5368925"/>
                        <a:ext cx="2227262" cy="650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9" name="Object 12"/>
          <p:cNvGraphicFramePr>
            <a:graphicFrameLocks noChangeAspect="1"/>
          </p:cNvGraphicFramePr>
          <p:nvPr/>
        </p:nvGraphicFramePr>
        <p:xfrm>
          <a:off x="4137025" y="6080125"/>
          <a:ext cx="2187575" cy="473075"/>
        </p:xfrm>
        <a:graphic>
          <a:graphicData uri="http://schemas.openxmlformats.org/presentationml/2006/ole">
            <mc:AlternateContent xmlns:mc="http://schemas.openxmlformats.org/markup-compatibility/2006">
              <mc:Choice xmlns:v="urn:schemas-microsoft-com:vml" Requires="v">
                <p:oleObj spid="_x0000_s62496" name="Equation" r:id="rId13" imgW="1409088" imgH="304668" progId="Equation.3">
                  <p:embed/>
                </p:oleObj>
              </mc:Choice>
              <mc:Fallback>
                <p:oleObj name="Equation" r:id="rId13" imgW="1409088" imgH="30466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37025" y="6080125"/>
                        <a:ext cx="2187575" cy="4730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 name="TextBox 1"/>
          <p:cNvSpPr txBox="1"/>
          <p:nvPr/>
        </p:nvSpPr>
        <p:spPr>
          <a:xfrm>
            <a:off x="2307978" y="1092497"/>
            <a:ext cx="320922" cy="461665"/>
          </a:xfrm>
          <a:prstGeom prst="rect">
            <a:avLst/>
          </a:prstGeom>
          <a:noFill/>
        </p:spPr>
        <p:txBody>
          <a:bodyPr wrap="none" rtlCol="0">
            <a:spAutoFit/>
          </a:bodyPr>
          <a:lstStyle/>
          <a:p>
            <a:r>
              <a:rPr lang="en-US" sz="2400" i="1" dirty="0" smtClean="0">
                <a:latin typeface="Times New Roman" charset="0"/>
                <a:ea typeface="Times New Roman" charset="0"/>
                <a:cs typeface="Times New Roman" charset="0"/>
              </a:rPr>
              <a:t>e</a:t>
            </a:r>
            <a:endParaRPr lang="en-US" sz="2400" i="1" dirty="0">
              <a:latin typeface="Times New Roman" charset="0"/>
              <a:ea typeface="Times New Roman" charset="0"/>
              <a:cs typeface="Times New Roman" charset="0"/>
            </a:endParaRPr>
          </a:p>
        </p:txBody>
      </p:sp>
      <p:sp>
        <p:nvSpPr>
          <p:cNvPr id="14" name="TextBox 13"/>
          <p:cNvSpPr txBox="1"/>
          <p:nvPr/>
        </p:nvSpPr>
        <p:spPr>
          <a:xfrm>
            <a:off x="7448938" y="1139180"/>
            <a:ext cx="269626" cy="461665"/>
          </a:xfrm>
          <a:prstGeom prst="rect">
            <a:avLst/>
          </a:prstGeom>
          <a:noFill/>
        </p:spPr>
        <p:txBody>
          <a:bodyPr wrap="none" rtlCol="0">
            <a:spAutoFit/>
          </a:bodyPr>
          <a:lstStyle/>
          <a:p>
            <a:r>
              <a:rPr lang="en-US" sz="2400" i="1" smtClean="0">
                <a:latin typeface="Times New Roman" charset="0"/>
                <a:ea typeface="Times New Roman" charset="0"/>
                <a:cs typeface="Times New Roman" charset="0"/>
              </a:rPr>
              <a:t>f</a:t>
            </a:r>
            <a:endParaRPr lang="en-US" sz="2400" i="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4765640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z="3600">
                <a:latin typeface="+mn-lt"/>
              </a:rPr>
              <a:t>Modeling for the Noisy Channel</a:t>
            </a:r>
          </a:p>
        </p:txBody>
      </p:sp>
      <p:sp>
        <p:nvSpPr>
          <p:cNvPr id="6147" name="Rectangle 3"/>
          <p:cNvSpPr>
            <a:spLocks noGrp="1" noChangeArrowheads="1"/>
          </p:cNvSpPr>
          <p:nvPr>
            <p:ph type="body" idx="1"/>
          </p:nvPr>
        </p:nvSpPr>
        <p:spPr/>
        <p:txBody>
          <a:bodyPr/>
          <a:lstStyle/>
          <a:p>
            <a:pPr eaLnBrk="1" hangingPunct="1">
              <a:defRPr/>
            </a:pPr>
            <a:r>
              <a:rPr lang="en-US" sz="2800" dirty="0" smtClean="0"/>
              <a:t>We need to model two probability distributions: </a:t>
            </a:r>
            <a:r>
              <a:rPr lang="en-US" sz="2800" i="1" dirty="0" smtClean="0"/>
              <a:t>P</a:t>
            </a:r>
            <a:r>
              <a:rPr lang="en-US" sz="2800" dirty="0" smtClean="0"/>
              <a:t>(</a:t>
            </a:r>
            <a:r>
              <a:rPr lang="en-US" sz="2800" i="1" dirty="0" smtClean="0"/>
              <a:t>e</a:t>
            </a:r>
            <a:r>
              <a:rPr lang="en-US" sz="2800" dirty="0" smtClean="0"/>
              <a:t>) and </a:t>
            </a:r>
            <a:r>
              <a:rPr lang="en-US" sz="2800" i="1" dirty="0" smtClean="0"/>
              <a:t>P</a:t>
            </a:r>
            <a:r>
              <a:rPr lang="en-US" sz="2800" dirty="0" smtClean="0"/>
              <a:t>(</a:t>
            </a:r>
            <a:r>
              <a:rPr lang="en-US" sz="2800" i="1" dirty="0" smtClean="0"/>
              <a:t>f </a:t>
            </a:r>
            <a:r>
              <a:rPr lang="en-US" sz="2800" dirty="0" smtClean="0"/>
              <a:t>|</a:t>
            </a:r>
            <a:r>
              <a:rPr lang="en-US" sz="2800" i="1" dirty="0" smtClean="0"/>
              <a:t> e</a:t>
            </a:r>
            <a:r>
              <a:rPr lang="en-US" sz="2800" dirty="0" smtClean="0"/>
              <a:t>)</a:t>
            </a:r>
          </a:p>
          <a:p>
            <a:pPr lvl="1" eaLnBrk="1" hangingPunct="1">
              <a:defRPr/>
            </a:pPr>
            <a:r>
              <a:rPr lang="en-US" sz="2400" i="1" dirty="0" smtClean="0"/>
              <a:t>P</a:t>
            </a:r>
            <a:r>
              <a:rPr lang="en-US" sz="2400" dirty="0" smtClean="0"/>
              <a:t>(</a:t>
            </a:r>
            <a:r>
              <a:rPr lang="en-US" sz="2400" i="1" dirty="0" smtClean="0"/>
              <a:t>e</a:t>
            </a:r>
            <a:r>
              <a:rPr lang="en-US" sz="2400" dirty="0" smtClean="0"/>
              <a:t>) should favor fluent translations</a:t>
            </a:r>
          </a:p>
          <a:p>
            <a:pPr lvl="1" eaLnBrk="1" hangingPunct="1">
              <a:defRPr/>
            </a:pPr>
            <a:r>
              <a:rPr lang="en-US" sz="2400" i="1" dirty="0" smtClean="0"/>
              <a:t>P</a:t>
            </a:r>
            <a:r>
              <a:rPr lang="en-US" sz="2400" dirty="0" smtClean="0"/>
              <a:t>(</a:t>
            </a:r>
            <a:r>
              <a:rPr lang="en-US" sz="2400" i="1" dirty="0" smtClean="0"/>
              <a:t>f </a:t>
            </a:r>
            <a:r>
              <a:rPr lang="en-US" sz="2400" dirty="0" smtClean="0"/>
              <a:t>|</a:t>
            </a:r>
            <a:r>
              <a:rPr lang="en-US" sz="2400" i="1" dirty="0" smtClean="0"/>
              <a:t> e</a:t>
            </a:r>
            <a:r>
              <a:rPr lang="en-US" sz="2400" dirty="0" smtClean="0"/>
              <a:t>) should favor accurate/faithful translations</a:t>
            </a:r>
          </a:p>
          <a:p>
            <a:pPr marL="457200" lvl="1" indent="0" eaLnBrk="1" hangingPunct="1">
              <a:buFontTx/>
              <a:buNone/>
              <a:defRPr/>
            </a:pPr>
            <a:endParaRPr lang="en-US" sz="2400" dirty="0" smtClean="0"/>
          </a:p>
          <a:p>
            <a:pPr lvl="1" eaLnBrk="1" hangingPunct="1">
              <a:buFontTx/>
              <a:buNone/>
              <a:defRPr/>
            </a:pPr>
            <a:r>
              <a:rPr lang="en-US" sz="2400" dirty="0" smtClean="0"/>
              <a:t> </a:t>
            </a:r>
          </a:p>
        </p:txBody>
      </p:sp>
    </p:spTree>
    <p:extLst>
      <p:ext uri="{BB962C8B-B14F-4D97-AF65-F5344CB8AC3E}">
        <p14:creationId xmlns:p14="http://schemas.microsoft.com/office/powerpoint/2010/main" val="5246645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600">
                <a:latin typeface="+mn-lt"/>
              </a:rPr>
              <a:t>Modeling for the Noisy Channel</a:t>
            </a:r>
          </a:p>
        </p:txBody>
      </p:sp>
      <p:sp>
        <p:nvSpPr>
          <p:cNvPr id="9219" name="Rectangle 3"/>
          <p:cNvSpPr>
            <a:spLocks noGrp="1" noChangeArrowheads="1"/>
          </p:cNvSpPr>
          <p:nvPr>
            <p:ph type="body" idx="1"/>
          </p:nvPr>
        </p:nvSpPr>
        <p:spPr/>
        <p:txBody>
          <a:bodyPr/>
          <a:lstStyle/>
          <a:p>
            <a:pPr eaLnBrk="1" hangingPunct="1"/>
            <a:r>
              <a:rPr lang="en-US" altLang="en-US" sz="2800" dirty="0"/>
              <a:t>We need to model two probability distributions: </a:t>
            </a:r>
            <a:r>
              <a:rPr lang="en-US" altLang="en-US" sz="2800" i="1" dirty="0"/>
              <a:t>P</a:t>
            </a:r>
            <a:r>
              <a:rPr lang="en-US" altLang="en-US" sz="2800" dirty="0"/>
              <a:t>(</a:t>
            </a:r>
            <a:r>
              <a:rPr lang="en-US" altLang="en-US" sz="2800" i="1" dirty="0"/>
              <a:t>e</a:t>
            </a:r>
            <a:r>
              <a:rPr lang="en-US" altLang="en-US" sz="2800" dirty="0"/>
              <a:t>) and </a:t>
            </a:r>
            <a:r>
              <a:rPr lang="en-US" altLang="en-US" sz="2800" i="1" dirty="0"/>
              <a:t>P</a:t>
            </a:r>
            <a:r>
              <a:rPr lang="en-US" altLang="en-US" sz="2800" dirty="0"/>
              <a:t>(</a:t>
            </a:r>
            <a:r>
              <a:rPr lang="en-US" altLang="en-US" sz="2800" i="1" dirty="0"/>
              <a:t>f </a:t>
            </a:r>
            <a:r>
              <a:rPr lang="en-US" altLang="en-US" sz="2800" dirty="0"/>
              <a:t>|</a:t>
            </a:r>
            <a:r>
              <a:rPr lang="en-US" altLang="en-US" sz="2800" i="1" dirty="0"/>
              <a:t> e</a:t>
            </a:r>
            <a:r>
              <a:rPr lang="en-US" altLang="en-US" sz="2800" dirty="0"/>
              <a:t>)</a:t>
            </a:r>
          </a:p>
          <a:p>
            <a:pPr lvl="1" eaLnBrk="1" hangingPunct="1"/>
            <a:r>
              <a:rPr lang="en-US" altLang="en-US" sz="2400" i="1" dirty="0"/>
              <a:t>P</a:t>
            </a:r>
            <a:r>
              <a:rPr lang="en-US" altLang="en-US" sz="2400" dirty="0"/>
              <a:t>(</a:t>
            </a:r>
            <a:r>
              <a:rPr lang="en-US" altLang="en-US" sz="2400" i="1" dirty="0"/>
              <a:t>e</a:t>
            </a:r>
            <a:r>
              <a:rPr lang="en-US" altLang="en-US" sz="2400" dirty="0"/>
              <a:t>) should favor fluent translations</a:t>
            </a:r>
          </a:p>
          <a:p>
            <a:pPr lvl="1" eaLnBrk="1" hangingPunct="1"/>
            <a:r>
              <a:rPr lang="en-US" altLang="en-US" sz="2400" i="1" dirty="0"/>
              <a:t>P</a:t>
            </a:r>
            <a:r>
              <a:rPr lang="en-US" altLang="en-US" sz="2400" dirty="0"/>
              <a:t>(</a:t>
            </a:r>
            <a:r>
              <a:rPr lang="en-US" altLang="en-US" sz="2400" i="1" dirty="0"/>
              <a:t>f </a:t>
            </a:r>
            <a:r>
              <a:rPr lang="en-US" altLang="en-US" sz="2400" dirty="0"/>
              <a:t>|</a:t>
            </a:r>
            <a:r>
              <a:rPr lang="en-US" altLang="en-US" sz="2400" i="1" dirty="0"/>
              <a:t> e</a:t>
            </a:r>
            <a:r>
              <a:rPr lang="en-US" altLang="en-US" sz="2400" dirty="0"/>
              <a:t>) should favor accurate/faithful translations</a:t>
            </a:r>
          </a:p>
          <a:p>
            <a:pPr eaLnBrk="1" hangingPunct="1"/>
            <a:endParaRPr lang="en-US" altLang="en-US" sz="2800" dirty="0"/>
          </a:p>
          <a:p>
            <a:pPr eaLnBrk="1" hangingPunct="1"/>
            <a:r>
              <a:rPr lang="en-US" altLang="en-US" sz="2800" dirty="0"/>
              <a:t>Let’s start with </a:t>
            </a:r>
            <a:r>
              <a:rPr lang="en-US" altLang="en-US" sz="2800" i="1" dirty="0"/>
              <a:t>P</a:t>
            </a:r>
            <a:r>
              <a:rPr lang="en-US" altLang="en-US" sz="2800" dirty="0"/>
              <a:t>(</a:t>
            </a:r>
            <a:r>
              <a:rPr lang="en-US" altLang="en-US" sz="2800" i="1" dirty="0"/>
              <a:t>e</a:t>
            </a:r>
            <a:r>
              <a:rPr lang="en-US" altLang="en-US" sz="2800" dirty="0"/>
              <a:t>)</a:t>
            </a:r>
          </a:p>
          <a:p>
            <a:pPr lvl="1" eaLnBrk="1" hangingPunct="1"/>
            <a:r>
              <a:rPr lang="en-US" altLang="en-US" sz="2400" dirty="0"/>
              <a:t>How do we compute the probability of an English sentence?</a:t>
            </a:r>
          </a:p>
          <a:p>
            <a:pPr lvl="1" eaLnBrk="1" hangingPunct="1"/>
            <a:r>
              <a:rPr lang="en-US" altLang="en-US" sz="2400" dirty="0"/>
              <a:t>This is an important part of MT (e.g., Google)</a:t>
            </a:r>
          </a:p>
          <a:p>
            <a:pPr lvl="1" eaLnBrk="1" hangingPunct="1"/>
            <a:endParaRPr lang="en-US" altLang="en-US" sz="2400" dirty="0"/>
          </a:p>
          <a:p>
            <a:pPr lvl="1" eaLnBrk="1" hangingPunct="1">
              <a:buFontTx/>
              <a:buNone/>
            </a:pPr>
            <a:r>
              <a:rPr lang="en-US" altLang="en-US" sz="2400" dirty="0"/>
              <a:t> </a:t>
            </a:r>
          </a:p>
        </p:txBody>
      </p:sp>
    </p:spTree>
    <p:extLst>
      <p:ext uri="{BB962C8B-B14F-4D97-AF65-F5344CB8AC3E}">
        <p14:creationId xmlns:p14="http://schemas.microsoft.com/office/powerpoint/2010/main" val="12758067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en-US" altLang="en-US" dirty="0">
                <a:latin typeface="+mn-lt"/>
              </a:rPr>
              <a:t>Word Alignments</a:t>
            </a:r>
          </a:p>
        </p:txBody>
      </p:sp>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57400"/>
            <a:ext cx="8689975" cy="2647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19460" name="Rectangle 4"/>
          <p:cNvSpPr>
            <a:spLocks noChangeArrowheads="1"/>
          </p:cNvSpPr>
          <p:nvPr/>
        </p:nvSpPr>
        <p:spPr bwMode="auto">
          <a:xfrm>
            <a:off x="228600" y="2514600"/>
            <a:ext cx="8458200" cy="1828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24249874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r>
              <a:rPr lang="en-US" altLang="en-US">
                <a:latin typeface="+mn-lt"/>
              </a:rPr>
              <a:t>Word Alignments</a:t>
            </a:r>
          </a:p>
        </p:txBody>
      </p:sp>
      <p:pic>
        <p:nvPicPr>
          <p:cNvPr id="204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057400"/>
            <a:ext cx="8689975" cy="2647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0484" name="Text Box 5"/>
          <p:cNvSpPr txBox="1">
            <a:spLocks noChangeArrowheads="1"/>
          </p:cNvSpPr>
          <p:nvPr/>
        </p:nvSpPr>
        <p:spPr bwMode="auto">
          <a:xfrm>
            <a:off x="457199" y="5105400"/>
            <a:ext cx="8461375" cy="1200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altLang="en-US" sz="2400" dirty="0">
                <a:latin typeface="+mn-lt"/>
              </a:rPr>
              <a:t>     </a:t>
            </a:r>
            <a:r>
              <a:rPr lang="en-US" altLang="en-US" sz="2400" dirty="0" smtClean="0">
                <a:latin typeface="+mn-lt"/>
              </a:rPr>
              <a:t>  is </a:t>
            </a:r>
            <a:r>
              <a:rPr lang="en-US" altLang="en-US" sz="2400" dirty="0">
                <a:latin typeface="+mn-lt"/>
              </a:rPr>
              <a:t>a “hidden” variable (not part of training data)</a:t>
            </a:r>
          </a:p>
          <a:p>
            <a:pPr eaLnBrk="1" hangingPunct="1">
              <a:buFontTx/>
              <a:buChar char="•"/>
            </a:pPr>
            <a:r>
              <a:rPr lang="en-US" altLang="en-US" sz="2400" dirty="0">
                <a:latin typeface="+mn-lt"/>
              </a:rPr>
              <a:t> </a:t>
            </a:r>
            <a:r>
              <a:rPr lang="en-US" altLang="en-US" sz="2400" dirty="0" smtClean="0">
                <a:latin typeface="+mn-lt"/>
              </a:rPr>
              <a:t>for </a:t>
            </a:r>
            <a:r>
              <a:rPr lang="en-US" altLang="en-US" sz="2400" dirty="0">
                <a:latin typeface="+mn-lt"/>
              </a:rPr>
              <a:t>each French word, it holds the index of the aligned </a:t>
            </a:r>
          </a:p>
          <a:p>
            <a:pPr eaLnBrk="1" hangingPunct="1"/>
            <a:r>
              <a:rPr lang="en-US" altLang="en-US" sz="2400" dirty="0">
                <a:latin typeface="+mn-lt"/>
              </a:rPr>
              <a:t>  </a:t>
            </a:r>
            <a:r>
              <a:rPr lang="en-US" altLang="en-US" sz="2400" dirty="0" smtClean="0">
                <a:latin typeface="+mn-lt"/>
              </a:rPr>
              <a:t> English </a:t>
            </a:r>
            <a:r>
              <a:rPr lang="en-US" altLang="en-US" sz="2400" dirty="0">
                <a:latin typeface="+mn-lt"/>
              </a:rPr>
              <a:t>word (or NULL)</a:t>
            </a:r>
          </a:p>
        </p:txBody>
      </p:sp>
      <p:pic>
        <p:nvPicPr>
          <p:cNvPr id="20485" name="Picture 6"/>
          <p:cNvPicPr>
            <a:picLocks noChangeAspect="1" noChangeArrowheads="1"/>
          </p:cNvPicPr>
          <p:nvPr/>
        </p:nvPicPr>
        <p:blipFill>
          <a:blip r:embed="rId5">
            <a:extLst>
              <a:ext uri="{28A0092B-C50C-407E-A947-70E740481C1C}">
                <a14:useLocalDpi xmlns:a14="http://schemas.microsoft.com/office/drawing/2010/main" val="0"/>
              </a:ext>
            </a:extLst>
          </a:blip>
          <a:srcRect r="82643" b="15686"/>
          <a:stretch>
            <a:fillRect/>
          </a:stretch>
        </p:blipFill>
        <p:spPr bwMode="auto">
          <a:xfrm>
            <a:off x="685800" y="5149850"/>
            <a:ext cx="485775" cy="409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0486" name="Picture 3"/>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3429000" y="1295400"/>
            <a:ext cx="2279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00185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lstStyle/>
          <a:p>
            <a:r>
              <a:rPr lang="en-US" altLang="en-US" dirty="0"/>
              <a:t>r</a:t>
            </a:r>
            <a:r>
              <a:rPr lang="en-US" altLang="en-US" dirty="0" smtClean="0"/>
              <a:t>emember</a:t>
            </a:r>
            <a:r>
              <a:rPr lang="en-US" altLang="en-US" dirty="0"/>
              <a:t>: our goal was to model </a:t>
            </a:r>
          </a:p>
          <a:p>
            <a:r>
              <a:rPr lang="en-US" altLang="en-US" dirty="0" smtClean="0"/>
              <a:t>why </a:t>
            </a:r>
            <a:r>
              <a:rPr lang="en-US" altLang="en-US" dirty="0"/>
              <a:t>would we introduce a hidden variable?</a:t>
            </a:r>
          </a:p>
          <a:p>
            <a:pPr lvl="1"/>
            <a:r>
              <a:rPr lang="en-US" altLang="en-US" dirty="0" smtClean="0"/>
              <a:t>to </a:t>
            </a:r>
            <a:r>
              <a:rPr lang="en-US" altLang="en-US" dirty="0"/>
              <a:t>make it “easier” to define the model</a:t>
            </a:r>
          </a:p>
          <a:p>
            <a:pPr lvl="1"/>
            <a:r>
              <a:rPr lang="en-US" altLang="en-US" dirty="0" smtClean="0"/>
              <a:t>we </a:t>
            </a:r>
            <a:r>
              <a:rPr lang="en-US" altLang="en-US" dirty="0"/>
              <a:t>often want to share certain types of information across multiple instances in our data</a:t>
            </a:r>
          </a:p>
          <a:p>
            <a:pPr lvl="2"/>
            <a:r>
              <a:rPr lang="en-US" altLang="en-US" dirty="0" smtClean="0"/>
              <a:t>latent </a:t>
            </a:r>
            <a:r>
              <a:rPr lang="en-US" altLang="en-US" dirty="0"/>
              <a:t>variables are a natural way to capture this</a:t>
            </a:r>
          </a:p>
          <a:p>
            <a:pPr lvl="2"/>
            <a:r>
              <a:rPr lang="en-US" altLang="en-US" dirty="0"/>
              <a:t>t</a:t>
            </a:r>
            <a:r>
              <a:rPr lang="en-US" altLang="en-US" dirty="0" smtClean="0"/>
              <a:t>hink </a:t>
            </a:r>
            <a:r>
              <a:rPr lang="en-US" altLang="en-US" dirty="0"/>
              <a:t>of clustering (some of the points come from the same cluster)</a:t>
            </a:r>
          </a:p>
        </p:txBody>
      </p:sp>
      <p:pic>
        <p:nvPicPr>
          <p:cNvPr id="22531" name="Picture 4"/>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6781800" y="1227773"/>
            <a:ext cx="1347788" cy="407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808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600" dirty="0">
                <a:latin typeface="+mn-lt"/>
              </a:rPr>
              <a:t>Alignments as Hidden Variables</a:t>
            </a:r>
          </a:p>
        </p:txBody>
      </p:sp>
      <p:sp>
        <p:nvSpPr>
          <p:cNvPr id="23555" name="Rectangle 3"/>
          <p:cNvSpPr>
            <a:spLocks noGrp="1" noChangeArrowheads="1"/>
          </p:cNvSpPr>
          <p:nvPr>
            <p:ph type="body" idx="1"/>
          </p:nvPr>
        </p:nvSpPr>
        <p:spPr/>
        <p:txBody>
          <a:bodyPr/>
          <a:lstStyle/>
          <a:p>
            <a:r>
              <a:rPr lang="en-US" altLang="en-US" sz="2800" dirty="0"/>
              <a:t>f</a:t>
            </a:r>
            <a:r>
              <a:rPr lang="en-US" altLang="en-US" sz="2800" dirty="0" smtClean="0"/>
              <a:t>or </a:t>
            </a:r>
            <a:r>
              <a:rPr lang="en-US" altLang="en-US" sz="2800" dirty="0"/>
              <a:t>simplicity, assume that each French word aligns to 1 English word (or to NULL)</a:t>
            </a:r>
          </a:p>
          <a:p>
            <a:endParaRPr lang="en-US" altLang="en-US" sz="2800" dirty="0"/>
          </a:p>
          <a:p>
            <a:r>
              <a:rPr lang="en-US" altLang="en-US" sz="2800" dirty="0"/>
              <a:t>a</a:t>
            </a:r>
            <a:r>
              <a:rPr lang="en-US" altLang="en-US" sz="2800" dirty="0" smtClean="0"/>
              <a:t>nalogy </a:t>
            </a:r>
            <a:r>
              <a:rPr lang="en-US" altLang="en-US" sz="2800" dirty="0"/>
              <a:t>to </a:t>
            </a:r>
            <a:r>
              <a:rPr lang="en-US" altLang="en-US" sz="2800" dirty="0" smtClean="0"/>
              <a:t>clustering:</a:t>
            </a:r>
            <a:endParaRPr lang="en-US" altLang="en-US" sz="2800" dirty="0"/>
          </a:p>
          <a:p>
            <a:pPr lvl="1"/>
            <a:r>
              <a:rPr lang="en-US" altLang="en-US" sz="2400" dirty="0" smtClean="0"/>
              <a:t>each </a:t>
            </a:r>
            <a:r>
              <a:rPr lang="en-US" altLang="en-US" sz="2400" dirty="0"/>
              <a:t>data point has 1 vote which it can distribute among all the clusters</a:t>
            </a:r>
          </a:p>
          <a:p>
            <a:pPr lvl="1"/>
            <a:r>
              <a:rPr lang="en-US" altLang="en-US" sz="2400" dirty="0"/>
              <a:t>h</a:t>
            </a:r>
            <a:r>
              <a:rPr lang="en-US" altLang="en-US" sz="2400" dirty="0" smtClean="0"/>
              <a:t>ere</a:t>
            </a:r>
            <a:r>
              <a:rPr lang="en-US" altLang="en-US" sz="2400" dirty="0"/>
              <a:t>, each French word has 1 vote which it can distribute among all the English words or NULL</a:t>
            </a:r>
          </a:p>
          <a:p>
            <a:pPr lvl="1"/>
            <a:endParaRPr lang="en-US" altLang="en-US" sz="2400" dirty="0"/>
          </a:p>
          <a:p>
            <a:pPr lvl="1"/>
            <a:endParaRPr lang="en-US" altLang="en-US" sz="2400" dirty="0"/>
          </a:p>
          <a:p>
            <a:pPr lvl="1">
              <a:buFontTx/>
              <a:buNone/>
            </a:pPr>
            <a:r>
              <a:rPr lang="en-US" altLang="en-US" sz="2400" dirty="0"/>
              <a:t> </a:t>
            </a:r>
          </a:p>
        </p:txBody>
      </p:sp>
    </p:spTree>
    <p:extLst>
      <p:ext uri="{BB962C8B-B14F-4D97-AF65-F5344CB8AC3E}">
        <p14:creationId xmlns:p14="http://schemas.microsoft.com/office/powerpoint/2010/main" val="42362993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715963"/>
          </a:xfrm>
        </p:spPr>
        <p:txBody>
          <a:bodyPr>
            <a:normAutofit fontScale="90000"/>
          </a:bodyPr>
          <a:lstStyle/>
          <a:p>
            <a:pPr eaLnBrk="1" hangingPunct="1"/>
            <a:r>
              <a:rPr lang="en-US" altLang="en-US">
                <a:latin typeface="+mn-lt"/>
              </a:rPr>
              <a:t>Modeling Alignments: IBM Model 1</a:t>
            </a:r>
          </a:p>
        </p:txBody>
      </p:sp>
      <p:pic>
        <p:nvPicPr>
          <p:cNvPr id="2765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685800"/>
            <a:ext cx="6248400" cy="19097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7656" name="Picture 9"/>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2652713" y="2667000"/>
            <a:ext cx="4306887" cy="2116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0590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715963"/>
          </a:xfrm>
        </p:spPr>
        <p:txBody>
          <a:bodyPr>
            <a:normAutofit fontScale="90000"/>
          </a:bodyPr>
          <a:lstStyle/>
          <a:p>
            <a:pPr eaLnBrk="1" hangingPunct="1"/>
            <a:r>
              <a:rPr lang="en-US" altLang="en-US">
                <a:latin typeface="+mn-lt"/>
              </a:rPr>
              <a:t>Modeling Alignments: IBM Model 1</a:t>
            </a:r>
          </a:p>
        </p:txBody>
      </p:sp>
      <p:pic>
        <p:nvPicPr>
          <p:cNvPr id="2765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685800"/>
            <a:ext cx="6248400" cy="19097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7653" name="Text Box 3"/>
          <p:cNvSpPr txBox="1">
            <a:spLocks noChangeArrowheads="1"/>
          </p:cNvSpPr>
          <p:nvPr/>
        </p:nvSpPr>
        <p:spPr bwMode="auto">
          <a:xfrm>
            <a:off x="457200" y="4800600"/>
            <a:ext cx="407034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altLang="en-US" sz="2400" dirty="0">
                <a:latin typeface="+mn-lt"/>
              </a:rPr>
              <a:t> How do we obtain </a:t>
            </a:r>
            <a:r>
              <a:rPr lang="en-US" altLang="en-US" sz="2400" dirty="0" smtClean="0">
                <a:latin typeface="+mn-lt"/>
              </a:rPr>
              <a:t>                 </a:t>
            </a:r>
            <a:r>
              <a:rPr lang="en-US" altLang="en-US" sz="2400" dirty="0">
                <a:latin typeface="+mn-lt"/>
              </a:rPr>
              <a:t>?</a:t>
            </a:r>
            <a:endParaRPr lang="en-US" altLang="en-US" sz="2400" dirty="0">
              <a:solidFill>
                <a:schemeClr val="bg1"/>
              </a:solidFill>
              <a:latin typeface="+mn-lt"/>
            </a:endParaRPr>
          </a:p>
        </p:txBody>
      </p:sp>
      <p:pic>
        <p:nvPicPr>
          <p:cNvPr id="27654" name="Picture 14"/>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3200400" y="4929188"/>
            <a:ext cx="1009650" cy="306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7656" name="Picture 9"/>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2652713" y="2667000"/>
            <a:ext cx="4306887" cy="2116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91443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715963"/>
          </a:xfrm>
        </p:spPr>
        <p:txBody>
          <a:bodyPr>
            <a:normAutofit fontScale="90000"/>
          </a:bodyPr>
          <a:lstStyle/>
          <a:p>
            <a:pPr eaLnBrk="1" hangingPunct="1"/>
            <a:r>
              <a:rPr lang="en-US" altLang="en-US">
                <a:latin typeface="+mn-lt"/>
              </a:rPr>
              <a:t>Modeling Alignments: IBM Model 1</a:t>
            </a:r>
          </a:p>
        </p:txBody>
      </p:sp>
      <p:sp>
        <p:nvSpPr>
          <p:cNvPr id="27651" name="Text Box 3"/>
          <p:cNvSpPr txBox="1">
            <a:spLocks noChangeArrowheads="1"/>
          </p:cNvSpPr>
          <p:nvPr/>
        </p:nvSpPr>
        <p:spPr bwMode="auto">
          <a:xfrm>
            <a:off x="457200" y="5253038"/>
            <a:ext cx="345479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altLang="en-US" sz="2400">
                <a:latin typeface="+mn-lt"/>
              </a:rPr>
              <a:t> Sum over all alignments:</a:t>
            </a:r>
          </a:p>
        </p:txBody>
      </p:sp>
      <p:pic>
        <p:nvPicPr>
          <p:cNvPr id="2765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6248400" cy="19097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7653" name="Text Box 3"/>
          <p:cNvSpPr txBox="1">
            <a:spLocks noChangeArrowheads="1"/>
          </p:cNvSpPr>
          <p:nvPr/>
        </p:nvSpPr>
        <p:spPr bwMode="auto">
          <a:xfrm>
            <a:off x="457200" y="4800600"/>
            <a:ext cx="407034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altLang="en-US" sz="2400" dirty="0">
                <a:latin typeface="+mn-lt"/>
              </a:rPr>
              <a:t> How do we obtain </a:t>
            </a:r>
            <a:r>
              <a:rPr lang="en-US" altLang="en-US" sz="2400" dirty="0" smtClean="0">
                <a:latin typeface="+mn-lt"/>
              </a:rPr>
              <a:t>                 </a:t>
            </a:r>
            <a:r>
              <a:rPr lang="en-US" altLang="en-US" sz="2400" dirty="0">
                <a:latin typeface="+mn-lt"/>
              </a:rPr>
              <a:t>?</a:t>
            </a:r>
            <a:endParaRPr lang="en-US" altLang="en-US" sz="2400" dirty="0">
              <a:solidFill>
                <a:schemeClr val="bg1"/>
              </a:solidFill>
              <a:latin typeface="+mn-lt"/>
            </a:endParaRPr>
          </a:p>
        </p:txBody>
      </p:sp>
      <p:pic>
        <p:nvPicPr>
          <p:cNvPr id="27654" name="Picture 14"/>
          <p:cNvPicPr>
            <a:picLocks noChangeAspect="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3200400" y="4929188"/>
            <a:ext cx="1009650" cy="306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7655" name="Picture 1"/>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3854450" y="5334000"/>
            <a:ext cx="3232150" cy="642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7656" name="Picture 9"/>
          <p:cNvPicPr>
            <a:picLocks noChangeAspect="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2652713" y="2667000"/>
            <a:ext cx="4306887" cy="2116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94340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715963"/>
          </a:xfrm>
        </p:spPr>
        <p:txBody>
          <a:bodyPr>
            <a:normAutofit fontScale="90000"/>
          </a:bodyPr>
          <a:lstStyle/>
          <a:p>
            <a:pPr eaLnBrk="1" hangingPunct="1"/>
            <a:r>
              <a:rPr lang="en-US" altLang="en-US">
                <a:latin typeface="+mn-lt"/>
              </a:rPr>
              <a:t>Modeling Alignments: IBM Model 1</a:t>
            </a:r>
          </a:p>
        </p:txBody>
      </p:sp>
      <p:pic>
        <p:nvPicPr>
          <p:cNvPr id="2867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685800"/>
            <a:ext cx="6248400" cy="19097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8676" name="Picture 9"/>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2652713" y="2667000"/>
            <a:ext cx="4306887" cy="2116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8677" name="Line 6"/>
          <p:cNvSpPr>
            <a:spLocks noChangeShapeType="1"/>
          </p:cNvSpPr>
          <p:nvPr/>
        </p:nvSpPr>
        <p:spPr bwMode="auto">
          <a:xfrm flipH="1" flipV="1">
            <a:off x="6400800" y="4572000"/>
            <a:ext cx="271463" cy="696913"/>
          </a:xfrm>
          <a:prstGeom prst="line">
            <a:avLst/>
          </a:prstGeom>
          <a:noFill/>
          <a:ln w="19050">
            <a:solidFill>
              <a:schemeClr val="tx1"/>
            </a:solidFill>
            <a:round/>
            <a:headEnd/>
            <a:tailEnd type="triangle" w="lg"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8678" name="Text Box 21"/>
          <p:cNvSpPr txBox="1">
            <a:spLocks noChangeArrowheads="1"/>
          </p:cNvSpPr>
          <p:nvPr/>
        </p:nvSpPr>
        <p:spPr bwMode="auto">
          <a:xfrm>
            <a:off x="4696261" y="5268913"/>
            <a:ext cx="3918673" cy="646331"/>
          </a:xfrm>
          <a:prstGeom prst="rect">
            <a:avLst/>
          </a:prstGeom>
          <a:noFill/>
          <a:ln w="1905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dirty="0">
                <a:latin typeface="+mn-lt"/>
              </a:rPr>
              <a:t>Parameters in the model,</a:t>
            </a:r>
          </a:p>
          <a:p>
            <a:pPr algn="dist" eaLnBrk="1" hangingPunct="1"/>
            <a:r>
              <a:rPr lang="en-US" altLang="en-US" dirty="0">
                <a:latin typeface="+mn-lt"/>
                <a:ea typeface="Times New Roman" charset="0"/>
                <a:cs typeface="Times New Roman" charset="0"/>
              </a:rPr>
              <a:t>learned using </a:t>
            </a:r>
            <a:r>
              <a:rPr lang="en-US" altLang="en-US" dirty="0" smtClean="0">
                <a:latin typeface="+mn-lt"/>
                <a:ea typeface="Times New Roman" charset="0"/>
                <a:cs typeface="Times New Roman" charset="0"/>
              </a:rPr>
              <a:t>expectation maximization</a:t>
            </a:r>
            <a:endParaRPr lang="en-US" altLang="en-US" dirty="0">
              <a:latin typeface="+mn-lt"/>
              <a:ea typeface="Times New Roman" charset="0"/>
              <a:cs typeface="Times New Roman" charset="0"/>
            </a:endParaRPr>
          </a:p>
        </p:txBody>
      </p:sp>
    </p:spTree>
    <p:extLst>
      <p:ext uri="{BB962C8B-B14F-4D97-AF65-F5344CB8AC3E}">
        <p14:creationId xmlns:p14="http://schemas.microsoft.com/office/powerpoint/2010/main" val="839126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r>
              <a:rPr lang="en-US" altLang="en-US" sz="3200" dirty="0" smtClean="0">
                <a:latin typeface="+mn-lt"/>
              </a:rPr>
              <a:t>Aside: </a:t>
            </a:r>
            <a:r>
              <a:rPr lang="en-US" altLang="en-US" sz="3200" dirty="0" smtClean="0"/>
              <a:t>are alignments </a:t>
            </a:r>
            <a:r>
              <a:rPr lang="en-US" altLang="en-US" sz="3200" dirty="0"/>
              <a:t>always hidden</a:t>
            </a:r>
            <a:r>
              <a:rPr lang="en-US" altLang="en-US" sz="3200" dirty="0" smtClean="0"/>
              <a:t>?</a:t>
            </a:r>
            <a:endParaRPr lang="en-US" altLang="en-US" sz="3200" dirty="0">
              <a:latin typeface="+mn-lt"/>
            </a:endParaRPr>
          </a:p>
        </p:txBody>
      </p:sp>
      <p:sp>
        <p:nvSpPr>
          <p:cNvPr id="136195" name="Rectangle 3"/>
          <p:cNvSpPr>
            <a:spLocks noGrp="1" noChangeArrowheads="1"/>
          </p:cNvSpPr>
          <p:nvPr>
            <p:ph type="body" idx="1"/>
          </p:nvPr>
        </p:nvSpPr>
        <p:spPr/>
        <p:txBody>
          <a:bodyPr/>
          <a:lstStyle/>
          <a:p>
            <a:pPr eaLnBrk="1" hangingPunct="1"/>
            <a:r>
              <a:rPr lang="en-US" altLang="en-US" sz="2400" dirty="0"/>
              <a:t>c</a:t>
            </a:r>
            <a:r>
              <a:rPr lang="en-US" altLang="en-US" sz="2400" dirty="0" smtClean="0"/>
              <a:t>ertain </a:t>
            </a:r>
            <a:r>
              <a:rPr lang="en-US" altLang="en-US" sz="2400" dirty="0"/>
              <a:t>small parallel corpora have been hand-aligned</a:t>
            </a:r>
          </a:p>
          <a:p>
            <a:pPr eaLnBrk="1" hangingPunct="1"/>
            <a:r>
              <a:rPr lang="en-US" altLang="en-US" sz="2400" dirty="0" smtClean="0"/>
              <a:t>issues with this?</a:t>
            </a:r>
            <a:endParaRPr lang="en-US" altLang="en-US" sz="2400" dirty="0"/>
          </a:p>
          <a:p>
            <a:pPr lvl="1" eaLnBrk="1" hangingPunct="1"/>
            <a:r>
              <a:rPr lang="en-US" altLang="en-US" sz="2400" dirty="0" smtClean="0"/>
              <a:t>annotators </a:t>
            </a:r>
            <a:r>
              <a:rPr lang="en-US" altLang="en-US" sz="2400" dirty="0"/>
              <a:t>don’t agree</a:t>
            </a:r>
          </a:p>
          <a:p>
            <a:pPr lvl="1" eaLnBrk="1" hangingPunct="1"/>
            <a:r>
              <a:rPr lang="en-US" altLang="en-US" sz="2400" dirty="0"/>
              <a:t>w</a:t>
            </a:r>
            <a:r>
              <a:rPr lang="en-US" altLang="en-US" sz="2400" dirty="0" smtClean="0"/>
              <a:t>e </a:t>
            </a:r>
            <a:r>
              <a:rPr lang="en-US" altLang="en-US" sz="2400" dirty="0"/>
              <a:t>have lots of parallel text, very little is hand-aligned</a:t>
            </a:r>
          </a:p>
          <a:p>
            <a:pPr lvl="1" eaLnBrk="1" hangingPunct="1"/>
            <a:r>
              <a:rPr lang="en-US" altLang="en-US" sz="2400" dirty="0"/>
              <a:t>f</a:t>
            </a:r>
            <a:r>
              <a:rPr lang="en-US" altLang="en-US" sz="2400" dirty="0" smtClean="0"/>
              <a:t>or </a:t>
            </a:r>
            <a:r>
              <a:rPr lang="en-US" altLang="en-US" sz="2400" dirty="0"/>
              <a:t>some language pairs, we will never have manual alignments</a:t>
            </a:r>
          </a:p>
          <a:p>
            <a:pPr lvl="1" eaLnBrk="1" hangingPunct="1"/>
            <a:endParaRPr lang="en-US" altLang="en-US" sz="2400" dirty="0"/>
          </a:p>
          <a:p>
            <a:pPr eaLnBrk="1" hangingPunct="1"/>
            <a:r>
              <a:rPr lang="en-US" altLang="en-US" sz="2400" dirty="0"/>
              <a:t>w</a:t>
            </a:r>
            <a:r>
              <a:rPr lang="en-US" altLang="en-US" sz="2400" dirty="0" smtClean="0"/>
              <a:t>ord </a:t>
            </a:r>
            <a:r>
              <a:rPr lang="en-US" altLang="en-US" sz="2400" dirty="0"/>
              <a:t>alignment has become a fundamental part of MT, and we need unsupervised learning to solve it!</a:t>
            </a:r>
            <a:endParaRPr lang="en-US" altLang="en-US" sz="2800" dirty="0"/>
          </a:p>
        </p:txBody>
      </p:sp>
    </p:spTree>
    <p:extLst>
      <p:ext uri="{BB962C8B-B14F-4D97-AF65-F5344CB8AC3E}">
        <p14:creationId xmlns:p14="http://schemas.microsoft.com/office/powerpoint/2010/main" val="164316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19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19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19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6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sz="3600" dirty="0">
                <a:latin typeface="+mn-lt"/>
              </a:rPr>
              <a:t>IBM Model 1 Example</a:t>
            </a:r>
          </a:p>
        </p:txBody>
      </p:sp>
      <p:sp>
        <p:nvSpPr>
          <p:cNvPr id="35843" name="Rectangle 3"/>
          <p:cNvSpPr>
            <a:spLocks noGrp="1" noChangeArrowheads="1"/>
          </p:cNvSpPr>
          <p:nvPr>
            <p:ph type="body" idx="1"/>
          </p:nvPr>
        </p:nvSpPr>
        <p:spPr>
          <a:xfrm>
            <a:off x="457200" y="990600"/>
            <a:ext cx="8229600" cy="2362200"/>
          </a:xfrm>
        </p:spPr>
        <p:txBody>
          <a:bodyPr/>
          <a:lstStyle/>
          <a:p>
            <a:pPr eaLnBrk="1" hangingPunct="1"/>
            <a:r>
              <a:rPr lang="en-US" altLang="en-US" sz="2800"/>
              <a:t>Consider a training set of two sentence pairs:</a:t>
            </a:r>
            <a:endParaRPr lang="en-US" altLang="en-US"/>
          </a:p>
        </p:txBody>
      </p:sp>
      <p:sp>
        <p:nvSpPr>
          <p:cNvPr id="35844" name="Text Box 4"/>
          <p:cNvSpPr txBox="1">
            <a:spLocks noChangeArrowheads="1"/>
          </p:cNvSpPr>
          <p:nvPr/>
        </p:nvSpPr>
        <p:spPr bwMode="auto">
          <a:xfrm>
            <a:off x="1489291" y="1600200"/>
            <a:ext cx="72346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green</a:t>
            </a:r>
          </a:p>
        </p:txBody>
      </p:sp>
      <p:sp>
        <p:nvSpPr>
          <p:cNvPr id="35845" name="Text Box 5"/>
          <p:cNvSpPr txBox="1">
            <a:spLocks noChangeArrowheads="1"/>
          </p:cNvSpPr>
          <p:nvPr/>
        </p:nvSpPr>
        <p:spPr bwMode="auto">
          <a:xfrm>
            <a:off x="3997325" y="1600200"/>
            <a:ext cx="501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the</a:t>
            </a:r>
          </a:p>
        </p:txBody>
      </p:sp>
      <p:sp>
        <p:nvSpPr>
          <p:cNvPr id="35846" name="Text Box 6"/>
          <p:cNvSpPr txBox="1">
            <a:spLocks noChangeArrowheads="1"/>
          </p:cNvSpPr>
          <p:nvPr/>
        </p:nvSpPr>
        <p:spPr bwMode="auto">
          <a:xfrm>
            <a:off x="2181383" y="1600200"/>
            <a:ext cx="75533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house</a:t>
            </a:r>
          </a:p>
        </p:txBody>
      </p:sp>
      <p:sp>
        <p:nvSpPr>
          <p:cNvPr id="35847" name="Text Box 9"/>
          <p:cNvSpPr txBox="1">
            <a:spLocks noChangeArrowheads="1"/>
          </p:cNvSpPr>
          <p:nvPr/>
        </p:nvSpPr>
        <p:spPr bwMode="auto">
          <a:xfrm>
            <a:off x="4553108" y="1600200"/>
            <a:ext cx="75533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house</a:t>
            </a:r>
          </a:p>
        </p:txBody>
      </p:sp>
      <p:sp>
        <p:nvSpPr>
          <p:cNvPr id="35848" name="Text Box 14"/>
          <p:cNvSpPr txBox="1">
            <a:spLocks noChangeArrowheads="1"/>
          </p:cNvSpPr>
          <p:nvPr/>
        </p:nvSpPr>
        <p:spPr bwMode="auto">
          <a:xfrm>
            <a:off x="4612765" y="2711450"/>
            <a:ext cx="59157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casa</a:t>
            </a:r>
          </a:p>
        </p:txBody>
      </p:sp>
      <p:sp>
        <p:nvSpPr>
          <p:cNvPr id="35849" name="Text Box 20"/>
          <p:cNvSpPr txBox="1">
            <a:spLocks noChangeArrowheads="1"/>
          </p:cNvSpPr>
          <p:nvPr/>
        </p:nvSpPr>
        <p:spPr bwMode="auto">
          <a:xfrm>
            <a:off x="2229323" y="2711450"/>
            <a:ext cx="7166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verde</a:t>
            </a:r>
          </a:p>
        </p:txBody>
      </p:sp>
      <p:sp>
        <p:nvSpPr>
          <p:cNvPr id="35850" name="Text Box 21"/>
          <p:cNvSpPr txBox="1">
            <a:spLocks noChangeArrowheads="1"/>
          </p:cNvSpPr>
          <p:nvPr/>
        </p:nvSpPr>
        <p:spPr bwMode="auto">
          <a:xfrm>
            <a:off x="1485390" y="2711450"/>
            <a:ext cx="59157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casa</a:t>
            </a:r>
          </a:p>
        </p:txBody>
      </p:sp>
      <p:sp>
        <p:nvSpPr>
          <p:cNvPr id="35851" name="Text Box 22"/>
          <p:cNvSpPr txBox="1">
            <a:spLocks noChangeArrowheads="1"/>
          </p:cNvSpPr>
          <p:nvPr/>
        </p:nvSpPr>
        <p:spPr bwMode="auto">
          <a:xfrm>
            <a:off x="4048665" y="2711450"/>
            <a:ext cx="34817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la</a:t>
            </a:r>
          </a:p>
        </p:txBody>
      </p:sp>
      <p:cxnSp>
        <p:nvCxnSpPr>
          <p:cNvPr id="35852" name="AutoShape 33"/>
          <p:cNvCxnSpPr>
            <a:cxnSpLocks noChangeShapeType="1"/>
            <a:stCxn id="35845" idx="2"/>
            <a:endCxn id="35851" idx="0"/>
          </p:cNvCxnSpPr>
          <p:nvPr/>
        </p:nvCxnSpPr>
        <p:spPr bwMode="auto">
          <a:xfrm flipH="1">
            <a:off x="4222751" y="1966913"/>
            <a:ext cx="25399" cy="744537"/>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35853" name="AutoShape 33"/>
          <p:cNvCxnSpPr>
            <a:cxnSpLocks noChangeShapeType="1"/>
            <a:stCxn id="35846" idx="2"/>
            <a:endCxn id="35850" idx="0"/>
          </p:cNvCxnSpPr>
          <p:nvPr/>
        </p:nvCxnSpPr>
        <p:spPr bwMode="auto">
          <a:xfrm flipH="1">
            <a:off x="1781176" y="1969532"/>
            <a:ext cx="777875" cy="741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35854" name="AutoShape 33"/>
          <p:cNvCxnSpPr>
            <a:cxnSpLocks noChangeShapeType="1"/>
            <a:stCxn id="35844" idx="2"/>
            <a:endCxn id="35849" idx="0"/>
          </p:cNvCxnSpPr>
          <p:nvPr/>
        </p:nvCxnSpPr>
        <p:spPr bwMode="auto">
          <a:xfrm>
            <a:off x="1851025" y="1969532"/>
            <a:ext cx="736601" cy="741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35855" name="AutoShape 34"/>
          <p:cNvCxnSpPr>
            <a:cxnSpLocks noChangeShapeType="1"/>
            <a:stCxn id="35847" idx="2"/>
            <a:endCxn id="35848" idx="0"/>
          </p:cNvCxnSpPr>
          <p:nvPr/>
        </p:nvCxnSpPr>
        <p:spPr bwMode="auto">
          <a:xfrm flipH="1">
            <a:off x="4908551" y="1969532"/>
            <a:ext cx="22225" cy="741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pic>
        <p:nvPicPr>
          <p:cNvPr id="35856"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0" y="3571240"/>
            <a:ext cx="5243897" cy="10357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35857" name="Text Box 21"/>
          <p:cNvSpPr txBox="1">
            <a:spLocks noChangeArrowheads="1"/>
          </p:cNvSpPr>
          <p:nvPr/>
        </p:nvSpPr>
        <p:spPr bwMode="auto">
          <a:xfrm>
            <a:off x="1048850" y="3209608"/>
            <a:ext cx="276005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dirty="0">
                <a:latin typeface="+mn-lt"/>
              </a:rPr>
              <a:t>Initial Parameter Estimates:</a:t>
            </a:r>
          </a:p>
        </p:txBody>
      </p:sp>
      <p:sp>
        <p:nvSpPr>
          <p:cNvPr id="35858" name="Text Box 21"/>
          <p:cNvSpPr txBox="1">
            <a:spLocks noChangeArrowheads="1"/>
          </p:cNvSpPr>
          <p:nvPr/>
        </p:nvSpPr>
        <p:spPr bwMode="auto">
          <a:xfrm>
            <a:off x="5792153" y="3962400"/>
            <a:ext cx="3544888"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a:latin typeface="+mn-lt"/>
              </a:rPr>
              <a:t>= probability of translating </a:t>
            </a:r>
            <a:r>
              <a:rPr lang="en-US" altLang="en-US" i="1">
                <a:latin typeface="+mn-lt"/>
                <a:ea typeface="Times New Roman" charset="0"/>
                <a:cs typeface="Times New Roman" charset="0"/>
              </a:rPr>
              <a:t>e</a:t>
            </a:r>
            <a:r>
              <a:rPr lang="en-US" altLang="en-US">
                <a:latin typeface="+mn-lt"/>
              </a:rPr>
              <a:t> into </a:t>
            </a:r>
            <a:r>
              <a:rPr lang="en-US" altLang="en-US" i="1">
                <a:latin typeface="+mn-lt"/>
                <a:ea typeface="Times New Roman" charset="0"/>
                <a:cs typeface="Times New Roman" charset="0"/>
              </a:rPr>
              <a:t>f</a:t>
            </a:r>
            <a:endParaRPr lang="en-US" altLang="en-US">
              <a:latin typeface="+mn-lt"/>
            </a:endParaRPr>
          </a:p>
        </p:txBody>
      </p:sp>
      <p:pic>
        <p:nvPicPr>
          <p:cNvPr id="35859" name="Picture 1"/>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5915977" y="3706813"/>
            <a:ext cx="739775" cy="255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906" y="5118396"/>
            <a:ext cx="7046913" cy="1160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1" name="Text Box 21"/>
          <p:cNvSpPr txBox="1">
            <a:spLocks noChangeArrowheads="1"/>
          </p:cNvSpPr>
          <p:nvPr/>
        </p:nvSpPr>
        <p:spPr bwMode="auto">
          <a:xfrm>
            <a:off x="982128" y="4678046"/>
            <a:ext cx="237597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dirty="0" smtClean="0">
                <a:latin typeface="+mn-lt"/>
              </a:rPr>
              <a:t>After 1 iteration of </a:t>
            </a:r>
            <a:r>
              <a:rPr lang="en-US" altLang="en-US" err="1" smtClean="0">
                <a:latin typeface="+mn-lt"/>
              </a:rPr>
              <a:t>EM</a:t>
            </a:r>
            <a:r>
              <a:rPr lang="en-US" altLang="en-US" smtClean="0">
                <a:latin typeface="+mn-lt"/>
              </a:rPr>
              <a:t>:</a:t>
            </a:r>
            <a:endParaRPr lang="en-US" altLang="en-US" dirty="0">
              <a:latin typeface="+mn-lt"/>
            </a:endParaRPr>
          </a:p>
        </p:txBody>
      </p:sp>
    </p:spTree>
    <p:extLst>
      <p:ext uri="{BB962C8B-B14F-4D97-AF65-F5344CB8AC3E}">
        <p14:creationId xmlns:p14="http://schemas.microsoft.com/office/powerpoint/2010/main" val="396732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797175" y="3505200"/>
            <a:ext cx="3581400" cy="715963"/>
          </a:xfrm>
        </p:spPr>
        <p:txBody>
          <a:bodyPr>
            <a:normAutofit fontScale="90000"/>
          </a:bodyPr>
          <a:lstStyle/>
          <a:p>
            <a:pPr eaLnBrk="1" hangingPunct="1"/>
            <a:r>
              <a:rPr lang="en-US" altLang="en-US"/>
              <a:t>IBM Model 2</a:t>
            </a:r>
          </a:p>
        </p:txBody>
      </p:sp>
      <p:pic>
        <p:nvPicPr>
          <p:cNvPr id="43011" name="Picture 3"/>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2398713" y="1468438"/>
            <a:ext cx="4306887" cy="969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012" name="Rectangle 2"/>
          <p:cNvSpPr txBox="1">
            <a:spLocks noChangeArrowheads="1"/>
          </p:cNvSpPr>
          <p:nvPr/>
        </p:nvSpPr>
        <p:spPr bwMode="auto">
          <a:xfrm>
            <a:off x="2779713" y="630238"/>
            <a:ext cx="3581400" cy="715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4000" dirty="0">
                <a:latin typeface="+mj-lt"/>
              </a:rPr>
              <a:t>IBM Model 1</a:t>
            </a:r>
          </a:p>
        </p:txBody>
      </p:sp>
      <p:pic>
        <p:nvPicPr>
          <p:cNvPr id="43013" name="Picture 4"/>
          <p:cNvPicPr>
            <a:picLocks noChangeAspect="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1828800" y="4343400"/>
            <a:ext cx="5472113" cy="969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91076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152400"/>
            <a:ext cx="8229600" cy="639763"/>
          </a:xfrm>
        </p:spPr>
        <p:txBody>
          <a:bodyPr>
            <a:normAutofit fontScale="90000"/>
          </a:bodyPr>
          <a:lstStyle/>
          <a:p>
            <a:pPr eaLnBrk="1" hangingPunct="1"/>
            <a:r>
              <a:rPr lang="en-US" altLang="en-US" sz="3600" dirty="0"/>
              <a:t>IBM Model 3</a:t>
            </a:r>
          </a:p>
        </p:txBody>
      </p:sp>
      <p:pic>
        <p:nvPicPr>
          <p:cNvPr id="440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900113"/>
            <a:ext cx="7837487" cy="56530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7699793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sz="3600" dirty="0">
                <a:latin typeface="+mn-lt"/>
              </a:rPr>
              <a:t>Moving to Phrases</a:t>
            </a:r>
          </a:p>
        </p:txBody>
      </p:sp>
      <p:sp>
        <p:nvSpPr>
          <p:cNvPr id="48131" name="Text Box 4"/>
          <p:cNvSpPr txBox="1">
            <a:spLocks noChangeArrowheads="1"/>
          </p:cNvSpPr>
          <p:nvPr/>
        </p:nvSpPr>
        <p:spPr bwMode="auto">
          <a:xfrm>
            <a:off x="704850" y="2514600"/>
            <a:ext cx="5270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a:t>
            </a:r>
          </a:p>
        </p:txBody>
      </p:sp>
      <p:sp>
        <p:nvSpPr>
          <p:cNvPr id="48132" name="Text Box 5"/>
          <p:cNvSpPr txBox="1">
            <a:spLocks noChangeArrowheads="1"/>
          </p:cNvSpPr>
          <p:nvPr/>
        </p:nvSpPr>
        <p:spPr bwMode="auto">
          <a:xfrm>
            <a:off x="2326942" y="2514600"/>
            <a:ext cx="69916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Frage</a:t>
            </a:r>
          </a:p>
        </p:txBody>
      </p:sp>
      <p:sp>
        <p:nvSpPr>
          <p:cNvPr id="48133" name="Text Box 6"/>
          <p:cNvSpPr txBox="1">
            <a:spLocks noChangeArrowheads="1"/>
          </p:cNvSpPr>
          <p:nvPr/>
        </p:nvSpPr>
        <p:spPr bwMode="auto">
          <a:xfrm>
            <a:off x="1418954" y="2514600"/>
            <a:ext cx="67999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diese</a:t>
            </a:r>
          </a:p>
        </p:txBody>
      </p:sp>
      <p:sp>
        <p:nvSpPr>
          <p:cNvPr id="48134" name="Text Box 7"/>
          <p:cNvSpPr txBox="1">
            <a:spLocks noChangeArrowheads="1"/>
          </p:cNvSpPr>
          <p:nvPr/>
        </p:nvSpPr>
        <p:spPr bwMode="auto">
          <a:xfrm>
            <a:off x="7673156" y="2514600"/>
            <a:ext cx="124623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bekommen</a:t>
            </a:r>
          </a:p>
        </p:txBody>
      </p:sp>
      <p:sp>
        <p:nvSpPr>
          <p:cNvPr id="48135" name="Text Box 8"/>
          <p:cNvSpPr txBox="1">
            <a:spLocks noChangeArrowheads="1"/>
          </p:cNvSpPr>
          <p:nvPr/>
        </p:nvSpPr>
        <p:spPr bwMode="auto">
          <a:xfrm>
            <a:off x="4092587" y="2514600"/>
            <a:ext cx="45717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ich</a:t>
            </a:r>
          </a:p>
        </p:txBody>
      </p:sp>
      <p:sp>
        <p:nvSpPr>
          <p:cNvPr id="48136" name="Text Box 9"/>
          <p:cNvSpPr txBox="1">
            <a:spLocks noChangeArrowheads="1"/>
          </p:cNvSpPr>
          <p:nvPr/>
        </p:nvSpPr>
        <p:spPr bwMode="auto">
          <a:xfrm>
            <a:off x="3247878" y="2514600"/>
            <a:ext cx="65434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habe</a:t>
            </a:r>
          </a:p>
        </p:txBody>
      </p:sp>
      <p:sp>
        <p:nvSpPr>
          <p:cNvPr id="48137" name="Text Box 10"/>
          <p:cNvSpPr txBox="1">
            <a:spLocks noChangeArrowheads="1"/>
          </p:cNvSpPr>
          <p:nvPr/>
        </p:nvSpPr>
        <p:spPr bwMode="auto">
          <a:xfrm>
            <a:off x="4721225" y="2514600"/>
            <a:ext cx="7429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leider</a:t>
            </a:r>
          </a:p>
        </p:txBody>
      </p:sp>
      <p:sp>
        <p:nvSpPr>
          <p:cNvPr id="48138" name="Text Box 11"/>
          <p:cNvSpPr txBox="1">
            <a:spLocks noChangeArrowheads="1"/>
          </p:cNvSpPr>
          <p:nvPr/>
        </p:nvSpPr>
        <p:spPr bwMode="auto">
          <a:xfrm>
            <a:off x="6500813" y="2514600"/>
            <a:ext cx="9937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Antwort</a:t>
            </a:r>
          </a:p>
        </p:txBody>
      </p:sp>
      <p:sp>
        <p:nvSpPr>
          <p:cNvPr id="48139" name="Text Box 12"/>
          <p:cNvSpPr txBox="1">
            <a:spLocks noChangeArrowheads="1"/>
          </p:cNvSpPr>
          <p:nvPr/>
        </p:nvSpPr>
        <p:spPr bwMode="auto">
          <a:xfrm>
            <a:off x="5647702" y="2514600"/>
            <a:ext cx="68704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keine</a:t>
            </a:r>
          </a:p>
        </p:txBody>
      </p:sp>
      <p:sp>
        <p:nvSpPr>
          <p:cNvPr id="48140" name="Text Box 13"/>
          <p:cNvSpPr txBox="1">
            <a:spLocks noChangeArrowheads="1"/>
          </p:cNvSpPr>
          <p:nvPr/>
        </p:nvSpPr>
        <p:spPr bwMode="auto">
          <a:xfrm>
            <a:off x="704850" y="4514850"/>
            <a:ext cx="247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a:t>
            </a:r>
          </a:p>
        </p:txBody>
      </p:sp>
      <p:sp>
        <p:nvSpPr>
          <p:cNvPr id="48141" name="Text Box 14"/>
          <p:cNvSpPr txBox="1">
            <a:spLocks noChangeArrowheads="1"/>
          </p:cNvSpPr>
          <p:nvPr/>
        </p:nvSpPr>
        <p:spPr bwMode="auto">
          <a:xfrm>
            <a:off x="1108764" y="4514850"/>
            <a:ext cx="4812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did</a:t>
            </a:r>
          </a:p>
        </p:txBody>
      </p:sp>
      <p:sp>
        <p:nvSpPr>
          <p:cNvPr id="48142" name="Text Box 15"/>
          <p:cNvSpPr txBox="1">
            <a:spLocks noChangeArrowheads="1"/>
          </p:cNvSpPr>
          <p:nvPr/>
        </p:nvSpPr>
        <p:spPr bwMode="auto">
          <a:xfrm>
            <a:off x="1746250" y="4514850"/>
            <a:ext cx="501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not</a:t>
            </a:r>
          </a:p>
        </p:txBody>
      </p:sp>
      <p:sp>
        <p:nvSpPr>
          <p:cNvPr id="48143" name="Text Box 16"/>
          <p:cNvSpPr txBox="1">
            <a:spLocks noChangeArrowheads="1"/>
          </p:cNvSpPr>
          <p:nvPr/>
        </p:nvSpPr>
        <p:spPr bwMode="auto">
          <a:xfrm>
            <a:off x="2418680" y="4514850"/>
            <a:ext cx="14713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unfortunately</a:t>
            </a:r>
          </a:p>
        </p:txBody>
      </p:sp>
      <p:sp>
        <p:nvSpPr>
          <p:cNvPr id="48144" name="Text Box 17"/>
          <p:cNvSpPr txBox="1">
            <a:spLocks noChangeArrowheads="1"/>
          </p:cNvSpPr>
          <p:nvPr/>
        </p:nvSpPr>
        <p:spPr bwMode="auto">
          <a:xfrm>
            <a:off x="4089175" y="4514850"/>
            <a:ext cx="86087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receive</a:t>
            </a:r>
          </a:p>
        </p:txBody>
      </p:sp>
      <p:sp>
        <p:nvSpPr>
          <p:cNvPr id="48145" name="Text Box 18"/>
          <p:cNvSpPr txBox="1">
            <a:spLocks noChangeArrowheads="1"/>
          </p:cNvSpPr>
          <p:nvPr/>
        </p:nvSpPr>
        <p:spPr bwMode="auto">
          <a:xfrm>
            <a:off x="5144500" y="4514850"/>
            <a:ext cx="4171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a:t>
            </a:r>
          </a:p>
        </p:txBody>
      </p:sp>
      <p:sp>
        <p:nvSpPr>
          <p:cNvPr id="48146" name="Text Box 19"/>
          <p:cNvSpPr txBox="1">
            <a:spLocks noChangeArrowheads="1"/>
          </p:cNvSpPr>
          <p:nvPr/>
        </p:nvSpPr>
        <p:spPr bwMode="auto">
          <a:xfrm>
            <a:off x="5752506" y="4514850"/>
            <a:ext cx="86478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answer</a:t>
            </a:r>
          </a:p>
        </p:txBody>
      </p:sp>
      <p:sp>
        <p:nvSpPr>
          <p:cNvPr id="48147" name="Text Box 20"/>
          <p:cNvSpPr txBox="1">
            <a:spLocks noChangeArrowheads="1"/>
          </p:cNvSpPr>
          <p:nvPr/>
        </p:nvSpPr>
        <p:spPr bwMode="auto">
          <a:xfrm>
            <a:off x="6792913" y="4514850"/>
            <a:ext cx="3873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to</a:t>
            </a:r>
          </a:p>
        </p:txBody>
      </p:sp>
      <p:sp>
        <p:nvSpPr>
          <p:cNvPr id="48148" name="Text Box 21"/>
          <p:cNvSpPr txBox="1">
            <a:spLocks noChangeArrowheads="1"/>
          </p:cNvSpPr>
          <p:nvPr/>
        </p:nvSpPr>
        <p:spPr bwMode="auto">
          <a:xfrm>
            <a:off x="7333135" y="4514850"/>
            <a:ext cx="5261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this</a:t>
            </a:r>
          </a:p>
        </p:txBody>
      </p:sp>
      <p:sp>
        <p:nvSpPr>
          <p:cNvPr id="48149" name="Text Box 22"/>
          <p:cNvSpPr txBox="1">
            <a:spLocks noChangeArrowheads="1"/>
          </p:cNvSpPr>
          <p:nvPr/>
        </p:nvSpPr>
        <p:spPr bwMode="auto">
          <a:xfrm>
            <a:off x="7965504" y="4495800"/>
            <a:ext cx="10044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question</a:t>
            </a:r>
          </a:p>
        </p:txBody>
      </p:sp>
      <p:cxnSp>
        <p:nvCxnSpPr>
          <p:cNvPr id="48150" name="AutoShape 33"/>
          <p:cNvCxnSpPr>
            <a:cxnSpLocks noChangeShapeType="1"/>
            <a:stCxn id="48132" idx="2"/>
            <a:endCxn id="48149" idx="0"/>
          </p:cNvCxnSpPr>
          <p:nvPr/>
        </p:nvCxnSpPr>
        <p:spPr bwMode="auto">
          <a:xfrm>
            <a:off x="2676525" y="2883932"/>
            <a:ext cx="5791200" cy="161186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1" name="AutoShape 34"/>
          <p:cNvCxnSpPr>
            <a:cxnSpLocks noChangeShapeType="1"/>
            <a:stCxn id="48135" idx="2"/>
            <a:endCxn id="48140" idx="0"/>
          </p:cNvCxnSpPr>
          <p:nvPr/>
        </p:nvCxnSpPr>
        <p:spPr bwMode="auto">
          <a:xfrm flipH="1">
            <a:off x="828675" y="2883932"/>
            <a:ext cx="3492500" cy="1630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2" name="AutoShape 35"/>
          <p:cNvCxnSpPr>
            <a:cxnSpLocks noChangeShapeType="1"/>
            <a:stCxn id="48137" idx="2"/>
            <a:endCxn id="48143" idx="0"/>
          </p:cNvCxnSpPr>
          <p:nvPr/>
        </p:nvCxnSpPr>
        <p:spPr bwMode="auto">
          <a:xfrm flipH="1">
            <a:off x="3154363" y="2881313"/>
            <a:ext cx="1938337" cy="1633537"/>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3" name="AutoShape 36"/>
          <p:cNvCxnSpPr>
            <a:cxnSpLocks noChangeShapeType="1"/>
            <a:stCxn id="48139" idx="2"/>
            <a:endCxn id="48142" idx="0"/>
          </p:cNvCxnSpPr>
          <p:nvPr/>
        </p:nvCxnSpPr>
        <p:spPr bwMode="auto">
          <a:xfrm flipH="1">
            <a:off x="1997075" y="2883932"/>
            <a:ext cx="3994151" cy="1630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4" name="AutoShape 37"/>
          <p:cNvCxnSpPr>
            <a:cxnSpLocks noChangeShapeType="1"/>
            <a:stCxn id="48134" idx="2"/>
            <a:endCxn id="48144" idx="0"/>
          </p:cNvCxnSpPr>
          <p:nvPr/>
        </p:nvCxnSpPr>
        <p:spPr bwMode="auto">
          <a:xfrm flipH="1">
            <a:off x="4519614" y="2883932"/>
            <a:ext cx="3776662" cy="1630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5" name="AutoShape 33"/>
          <p:cNvCxnSpPr>
            <a:cxnSpLocks noChangeShapeType="1"/>
            <a:stCxn id="48133" idx="2"/>
            <a:endCxn id="48148" idx="0"/>
          </p:cNvCxnSpPr>
          <p:nvPr/>
        </p:nvCxnSpPr>
        <p:spPr bwMode="auto">
          <a:xfrm>
            <a:off x="1758951" y="2883932"/>
            <a:ext cx="5837237" cy="1630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6" name="AutoShape 33"/>
          <p:cNvCxnSpPr>
            <a:cxnSpLocks noChangeShapeType="1"/>
            <a:stCxn id="48131" idx="2"/>
            <a:endCxn id="48147" idx="0"/>
          </p:cNvCxnSpPr>
          <p:nvPr/>
        </p:nvCxnSpPr>
        <p:spPr bwMode="auto">
          <a:xfrm>
            <a:off x="968375" y="2881313"/>
            <a:ext cx="6018213" cy="1633537"/>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7" name="AutoShape 34"/>
          <p:cNvCxnSpPr>
            <a:cxnSpLocks noChangeShapeType="1"/>
            <a:stCxn id="48136" idx="2"/>
            <a:endCxn id="48141" idx="0"/>
          </p:cNvCxnSpPr>
          <p:nvPr/>
        </p:nvCxnSpPr>
        <p:spPr bwMode="auto">
          <a:xfrm flipH="1">
            <a:off x="1349375" y="2883932"/>
            <a:ext cx="2225676" cy="163091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8158" name="AutoShape 36"/>
          <p:cNvCxnSpPr>
            <a:cxnSpLocks noChangeShapeType="1"/>
            <a:stCxn id="48138" idx="2"/>
            <a:endCxn id="48146" idx="0"/>
          </p:cNvCxnSpPr>
          <p:nvPr/>
        </p:nvCxnSpPr>
        <p:spPr bwMode="auto">
          <a:xfrm flipH="1">
            <a:off x="6184901" y="2884488"/>
            <a:ext cx="812800" cy="1630362"/>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
        <p:nvSpPr>
          <p:cNvPr id="48159" name="Text Box 31"/>
          <p:cNvSpPr txBox="1">
            <a:spLocks noChangeArrowheads="1"/>
          </p:cNvSpPr>
          <p:nvPr/>
        </p:nvSpPr>
        <p:spPr bwMode="auto">
          <a:xfrm>
            <a:off x="47625" y="2514600"/>
            <a:ext cx="56618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400">
                <a:latin typeface="+mn-lt"/>
              </a:rPr>
              <a:t>NULL</a:t>
            </a:r>
          </a:p>
        </p:txBody>
      </p:sp>
      <p:cxnSp>
        <p:nvCxnSpPr>
          <p:cNvPr id="48160" name="AutoShape 37"/>
          <p:cNvCxnSpPr>
            <a:cxnSpLocks noChangeShapeType="1"/>
            <a:stCxn id="48159" idx="2"/>
            <a:endCxn id="48145" idx="0"/>
          </p:cNvCxnSpPr>
          <p:nvPr/>
        </p:nvCxnSpPr>
        <p:spPr bwMode="auto">
          <a:xfrm>
            <a:off x="330716" y="2822377"/>
            <a:ext cx="5022335" cy="1692473"/>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Tree>
    <p:extLst>
      <p:ext uri="{BB962C8B-B14F-4D97-AF65-F5344CB8AC3E}">
        <p14:creationId xmlns:p14="http://schemas.microsoft.com/office/powerpoint/2010/main" val="15071404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457200" y="274638"/>
            <a:ext cx="8229600" cy="357187"/>
          </a:xfrm>
        </p:spPr>
        <p:txBody>
          <a:bodyPr>
            <a:normAutofit fontScale="90000"/>
          </a:bodyPr>
          <a:lstStyle/>
          <a:p>
            <a:pPr eaLnBrk="1" hangingPunct="1"/>
            <a:r>
              <a:rPr lang="en-US" altLang="en-US" sz="3600">
                <a:latin typeface="+mn-lt"/>
              </a:rPr>
              <a:t>Moving to Phrases</a:t>
            </a:r>
          </a:p>
        </p:txBody>
      </p:sp>
      <p:sp>
        <p:nvSpPr>
          <p:cNvPr id="49155" name="Text Box 4"/>
          <p:cNvSpPr txBox="1">
            <a:spLocks noChangeArrowheads="1"/>
          </p:cNvSpPr>
          <p:nvPr/>
        </p:nvSpPr>
        <p:spPr bwMode="auto">
          <a:xfrm>
            <a:off x="381000" y="2514600"/>
            <a:ext cx="5270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a:t>
            </a:r>
          </a:p>
        </p:txBody>
      </p:sp>
      <p:sp>
        <p:nvSpPr>
          <p:cNvPr id="49156" name="Text Box 5"/>
          <p:cNvSpPr txBox="1">
            <a:spLocks noChangeArrowheads="1"/>
          </p:cNvSpPr>
          <p:nvPr/>
        </p:nvSpPr>
        <p:spPr bwMode="auto">
          <a:xfrm>
            <a:off x="2003092" y="2514600"/>
            <a:ext cx="69916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Frage</a:t>
            </a:r>
          </a:p>
        </p:txBody>
      </p:sp>
      <p:sp>
        <p:nvSpPr>
          <p:cNvPr id="49157" name="Text Box 6"/>
          <p:cNvSpPr txBox="1">
            <a:spLocks noChangeArrowheads="1"/>
          </p:cNvSpPr>
          <p:nvPr/>
        </p:nvSpPr>
        <p:spPr bwMode="auto">
          <a:xfrm>
            <a:off x="1095104" y="2514600"/>
            <a:ext cx="67999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diese</a:t>
            </a:r>
          </a:p>
        </p:txBody>
      </p:sp>
      <p:sp>
        <p:nvSpPr>
          <p:cNvPr id="49158" name="Text Box 7"/>
          <p:cNvSpPr txBox="1">
            <a:spLocks noChangeArrowheads="1"/>
          </p:cNvSpPr>
          <p:nvPr/>
        </p:nvSpPr>
        <p:spPr bwMode="auto">
          <a:xfrm>
            <a:off x="7349306" y="2514600"/>
            <a:ext cx="124623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bekommen</a:t>
            </a:r>
          </a:p>
        </p:txBody>
      </p:sp>
      <p:sp>
        <p:nvSpPr>
          <p:cNvPr id="49159" name="Text Box 8"/>
          <p:cNvSpPr txBox="1">
            <a:spLocks noChangeArrowheads="1"/>
          </p:cNvSpPr>
          <p:nvPr/>
        </p:nvSpPr>
        <p:spPr bwMode="auto">
          <a:xfrm>
            <a:off x="3768737" y="2514600"/>
            <a:ext cx="45717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ich</a:t>
            </a:r>
          </a:p>
        </p:txBody>
      </p:sp>
      <p:sp>
        <p:nvSpPr>
          <p:cNvPr id="49160" name="Text Box 9"/>
          <p:cNvSpPr txBox="1">
            <a:spLocks noChangeArrowheads="1"/>
          </p:cNvSpPr>
          <p:nvPr/>
        </p:nvSpPr>
        <p:spPr bwMode="auto">
          <a:xfrm>
            <a:off x="2924028" y="2514600"/>
            <a:ext cx="65434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habe</a:t>
            </a:r>
          </a:p>
        </p:txBody>
      </p:sp>
      <p:sp>
        <p:nvSpPr>
          <p:cNvPr id="49161" name="Text Box 10"/>
          <p:cNvSpPr txBox="1">
            <a:spLocks noChangeArrowheads="1"/>
          </p:cNvSpPr>
          <p:nvPr/>
        </p:nvSpPr>
        <p:spPr bwMode="auto">
          <a:xfrm>
            <a:off x="4397375" y="2514600"/>
            <a:ext cx="7429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leider</a:t>
            </a:r>
          </a:p>
        </p:txBody>
      </p:sp>
      <p:sp>
        <p:nvSpPr>
          <p:cNvPr id="49162" name="Text Box 11"/>
          <p:cNvSpPr txBox="1">
            <a:spLocks noChangeArrowheads="1"/>
          </p:cNvSpPr>
          <p:nvPr/>
        </p:nvSpPr>
        <p:spPr bwMode="auto">
          <a:xfrm>
            <a:off x="6176963" y="2514600"/>
            <a:ext cx="9937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Antwort</a:t>
            </a:r>
          </a:p>
        </p:txBody>
      </p:sp>
      <p:sp>
        <p:nvSpPr>
          <p:cNvPr id="49163" name="Text Box 12"/>
          <p:cNvSpPr txBox="1">
            <a:spLocks noChangeArrowheads="1"/>
          </p:cNvSpPr>
          <p:nvPr/>
        </p:nvSpPr>
        <p:spPr bwMode="auto">
          <a:xfrm>
            <a:off x="5323852" y="2514600"/>
            <a:ext cx="68704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keine</a:t>
            </a:r>
          </a:p>
        </p:txBody>
      </p:sp>
      <p:sp>
        <p:nvSpPr>
          <p:cNvPr id="49164" name="Text Box 13"/>
          <p:cNvSpPr txBox="1">
            <a:spLocks noChangeArrowheads="1"/>
          </p:cNvSpPr>
          <p:nvPr/>
        </p:nvSpPr>
        <p:spPr bwMode="auto">
          <a:xfrm>
            <a:off x="381000" y="4514850"/>
            <a:ext cx="247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a:t>
            </a:r>
          </a:p>
        </p:txBody>
      </p:sp>
      <p:sp>
        <p:nvSpPr>
          <p:cNvPr id="49165" name="Text Box 14"/>
          <p:cNvSpPr txBox="1">
            <a:spLocks noChangeArrowheads="1"/>
          </p:cNvSpPr>
          <p:nvPr/>
        </p:nvSpPr>
        <p:spPr bwMode="auto">
          <a:xfrm>
            <a:off x="784914" y="4514850"/>
            <a:ext cx="4812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did</a:t>
            </a:r>
          </a:p>
        </p:txBody>
      </p:sp>
      <p:sp>
        <p:nvSpPr>
          <p:cNvPr id="49166" name="Text Box 15"/>
          <p:cNvSpPr txBox="1">
            <a:spLocks noChangeArrowheads="1"/>
          </p:cNvSpPr>
          <p:nvPr/>
        </p:nvSpPr>
        <p:spPr bwMode="auto">
          <a:xfrm>
            <a:off x="1422400" y="4514850"/>
            <a:ext cx="5016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not</a:t>
            </a:r>
          </a:p>
        </p:txBody>
      </p:sp>
      <p:sp>
        <p:nvSpPr>
          <p:cNvPr id="49167" name="Text Box 16"/>
          <p:cNvSpPr txBox="1">
            <a:spLocks noChangeArrowheads="1"/>
          </p:cNvSpPr>
          <p:nvPr/>
        </p:nvSpPr>
        <p:spPr bwMode="auto">
          <a:xfrm>
            <a:off x="2094830" y="4514850"/>
            <a:ext cx="14713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unfortunately</a:t>
            </a:r>
          </a:p>
        </p:txBody>
      </p:sp>
      <p:sp>
        <p:nvSpPr>
          <p:cNvPr id="49168" name="Text Box 17"/>
          <p:cNvSpPr txBox="1">
            <a:spLocks noChangeArrowheads="1"/>
          </p:cNvSpPr>
          <p:nvPr/>
        </p:nvSpPr>
        <p:spPr bwMode="auto">
          <a:xfrm>
            <a:off x="3765325" y="4514850"/>
            <a:ext cx="86087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receive</a:t>
            </a:r>
          </a:p>
        </p:txBody>
      </p:sp>
      <p:sp>
        <p:nvSpPr>
          <p:cNvPr id="49169" name="Text Box 18"/>
          <p:cNvSpPr txBox="1">
            <a:spLocks noChangeArrowheads="1"/>
          </p:cNvSpPr>
          <p:nvPr/>
        </p:nvSpPr>
        <p:spPr bwMode="auto">
          <a:xfrm>
            <a:off x="4820650" y="4514850"/>
            <a:ext cx="4171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a:t>
            </a:r>
          </a:p>
        </p:txBody>
      </p:sp>
      <p:sp>
        <p:nvSpPr>
          <p:cNvPr id="49170" name="Text Box 19"/>
          <p:cNvSpPr txBox="1">
            <a:spLocks noChangeArrowheads="1"/>
          </p:cNvSpPr>
          <p:nvPr/>
        </p:nvSpPr>
        <p:spPr bwMode="auto">
          <a:xfrm>
            <a:off x="5428656" y="4514850"/>
            <a:ext cx="86478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answer</a:t>
            </a:r>
          </a:p>
        </p:txBody>
      </p:sp>
      <p:sp>
        <p:nvSpPr>
          <p:cNvPr id="49171" name="Text Box 20"/>
          <p:cNvSpPr txBox="1">
            <a:spLocks noChangeArrowheads="1"/>
          </p:cNvSpPr>
          <p:nvPr/>
        </p:nvSpPr>
        <p:spPr bwMode="auto">
          <a:xfrm>
            <a:off x="6469063" y="4514850"/>
            <a:ext cx="3873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to</a:t>
            </a:r>
          </a:p>
        </p:txBody>
      </p:sp>
      <p:sp>
        <p:nvSpPr>
          <p:cNvPr id="49172" name="Text Box 21"/>
          <p:cNvSpPr txBox="1">
            <a:spLocks noChangeArrowheads="1"/>
          </p:cNvSpPr>
          <p:nvPr/>
        </p:nvSpPr>
        <p:spPr bwMode="auto">
          <a:xfrm>
            <a:off x="7009285" y="4514850"/>
            <a:ext cx="5261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this</a:t>
            </a:r>
          </a:p>
        </p:txBody>
      </p:sp>
      <p:sp>
        <p:nvSpPr>
          <p:cNvPr id="49173" name="Text Box 22"/>
          <p:cNvSpPr txBox="1">
            <a:spLocks noChangeArrowheads="1"/>
          </p:cNvSpPr>
          <p:nvPr/>
        </p:nvSpPr>
        <p:spPr bwMode="auto">
          <a:xfrm>
            <a:off x="7641654" y="4495800"/>
            <a:ext cx="10044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question</a:t>
            </a:r>
          </a:p>
        </p:txBody>
      </p:sp>
      <p:sp>
        <p:nvSpPr>
          <p:cNvPr id="49174" name="Rectangle 23"/>
          <p:cNvSpPr>
            <a:spLocks noChangeArrowheads="1"/>
          </p:cNvSpPr>
          <p:nvPr/>
        </p:nvSpPr>
        <p:spPr bwMode="auto">
          <a:xfrm>
            <a:off x="381000" y="2438400"/>
            <a:ext cx="24384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75" name="Rectangle 24"/>
          <p:cNvSpPr>
            <a:spLocks noChangeArrowheads="1"/>
          </p:cNvSpPr>
          <p:nvPr/>
        </p:nvSpPr>
        <p:spPr bwMode="auto">
          <a:xfrm>
            <a:off x="2819400" y="2438400"/>
            <a:ext cx="15240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76" name="Rectangle 25"/>
          <p:cNvSpPr>
            <a:spLocks noChangeArrowheads="1"/>
          </p:cNvSpPr>
          <p:nvPr/>
        </p:nvSpPr>
        <p:spPr bwMode="auto">
          <a:xfrm>
            <a:off x="4343400" y="2438400"/>
            <a:ext cx="9144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77" name="Rectangle 26"/>
          <p:cNvSpPr>
            <a:spLocks noChangeArrowheads="1"/>
          </p:cNvSpPr>
          <p:nvPr/>
        </p:nvSpPr>
        <p:spPr bwMode="auto">
          <a:xfrm>
            <a:off x="5257800" y="2438400"/>
            <a:ext cx="9144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78" name="Rectangle 27"/>
          <p:cNvSpPr>
            <a:spLocks noChangeArrowheads="1"/>
          </p:cNvSpPr>
          <p:nvPr/>
        </p:nvSpPr>
        <p:spPr bwMode="auto">
          <a:xfrm>
            <a:off x="6172200" y="2438400"/>
            <a:ext cx="25146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79" name="Rectangle 28"/>
          <p:cNvSpPr>
            <a:spLocks noChangeArrowheads="1"/>
          </p:cNvSpPr>
          <p:nvPr/>
        </p:nvSpPr>
        <p:spPr bwMode="auto">
          <a:xfrm>
            <a:off x="304800" y="4438650"/>
            <a:ext cx="10668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80" name="Rectangle 29"/>
          <p:cNvSpPr>
            <a:spLocks noChangeArrowheads="1"/>
          </p:cNvSpPr>
          <p:nvPr/>
        </p:nvSpPr>
        <p:spPr bwMode="auto">
          <a:xfrm>
            <a:off x="1371600" y="4438650"/>
            <a:ext cx="6858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81" name="Rectangle 30"/>
          <p:cNvSpPr>
            <a:spLocks noChangeArrowheads="1"/>
          </p:cNvSpPr>
          <p:nvPr/>
        </p:nvSpPr>
        <p:spPr bwMode="auto">
          <a:xfrm>
            <a:off x="2057400" y="4438650"/>
            <a:ext cx="16002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82" name="Rectangle 31"/>
          <p:cNvSpPr>
            <a:spLocks noChangeArrowheads="1"/>
          </p:cNvSpPr>
          <p:nvPr/>
        </p:nvSpPr>
        <p:spPr bwMode="auto">
          <a:xfrm>
            <a:off x="3657600" y="4438650"/>
            <a:ext cx="27432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49183" name="Rectangle 32"/>
          <p:cNvSpPr>
            <a:spLocks noChangeArrowheads="1"/>
          </p:cNvSpPr>
          <p:nvPr/>
        </p:nvSpPr>
        <p:spPr bwMode="auto">
          <a:xfrm>
            <a:off x="6400800" y="4438650"/>
            <a:ext cx="2362200" cy="533400"/>
          </a:xfrm>
          <a:prstGeom prst="rect">
            <a:avLst/>
          </a:prstGeom>
          <a:noFill/>
          <a:ln w="3810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cxnSp>
        <p:nvCxnSpPr>
          <p:cNvPr id="49184" name="AutoShape 33"/>
          <p:cNvCxnSpPr>
            <a:cxnSpLocks noChangeShapeType="1"/>
            <a:stCxn id="49174" idx="2"/>
            <a:endCxn id="49183" idx="0"/>
          </p:cNvCxnSpPr>
          <p:nvPr/>
        </p:nvCxnSpPr>
        <p:spPr bwMode="auto">
          <a:xfrm>
            <a:off x="1600200" y="2990850"/>
            <a:ext cx="5981700" cy="1428750"/>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9185" name="AutoShape 34"/>
          <p:cNvCxnSpPr>
            <a:cxnSpLocks noChangeShapeType="1"/>
            <a:stCxn id="49175" idx="2"/>
            <a:endCxn id="49179" idx="0"/>
          </p:cNvCxnSpPr>
          <p:nvPr/>
        </p:nvCxnSpPr>
        <p:spPr bwMode="auto">
          <a:xfrm flipH="1">
            <a:off x="838200" y="2990850"/>
            <a:ext cx="2743200" cy="1428750"/>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9186" name="AutoShape 35"/>
          <p:cNvCxnSpPr>
            <a:cxnSpLocks noChangeShapeType="1"/>
            <a:stCxn id="49176" idx="2"/>
            <a:endCxn id="49181" idx="0"/>
          </p:cNvCxnSpPr>
          <p:nvPr/>
        </p:nvCxnSpPr>
        <p:spPr bwMode="auto">
          <a:xfrm flipH="1">
            <a:off x="2857500" y="2990850"/>
            <a:ext cx="1943100" cy="1428750"/>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9187" name="AutoShape 36"/>
          <p:cNvCxnSpPr>
            <a:cxnSpLocks noChangeShapeType="1"/>
            <a:stCxn id="49177" idx="2"/>
            <a:endCxn id="49180" idx="0"/>
          </p:cNvCxnSpPr>
          <p:nvPr/>
        </p:nvCxnSpPr>
        <p:spPr bwMode="auto">
          <a:xfrm flipH="1">
            <a:off x="1714500" y="2990850"/>
            <a:ext cx="4000500" cy="1428750"/>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49188" name="AutoShape 37"/>
          <p:cNvCxnSpPr>
            <a:cxnSpLocks noChangeShapeType="1"/>
            <a:stCxn id="49178" idx="2"/>
            <a:endCxn id="49182" idx="0"/>
          </p:cNvCxnSpPr>
          <p:nvPr/>
        </p:nvCxnSpPr>
        <p:spPr bwMode="auto">
          <a:xfrm flipH="1">
            <a:off x="5029200" y="2990850"/>
            <a:ext cx="2400300" cy="1428750"/>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
        <p:nvSpPr>
          <p:cNvPr id="75816" name="AutoShape 40"/>
          <p:cNvSpPr>
            <a:spLocks/>
          </p:cNvSpPr>
          <p:nvPr/>
        </p:nvSpPr>
        <p:spPr bwMode="auto">
          <a:xfrm>
            <a:off x="1752600" y="1143000"/>
            <a:ext cx="4495800" cy="381000"/>
          </a:xfrm>
          <a:prstGeom prst="borderCallout2">
            <a:avLst>
              <a:gd name="adj1" fmla="val 30000"/>
              <a:gd name="adj2" fmla="val 101694"/>
              <a:gd name="adj3" fmla="val 30000"/>
              <a:gd name="adj4" fmla="val 112995"/>
              <a:gd name="adj5" fmla="val 333750"/>
              <a:gd name="adj6" fmla="val 124648"/>
            </a:avLst>
          </a:prstGeom>
          <a:solidFill>
            <a:schemeClr val="accent1"/>
          </a:solid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2400" dirty="0">
                <a:solidFill>
                  <a:schemeClr val="bg1"/>
                </a:solidFill>
                <a:latin typeface="+mn-lt"/>
              </a:rPr>
              <a:t>Not necessarily syntactic phrases</a:t>
            </a:r>
          </a:p>
        </p:txBody>
      </p:sp>
    </p:spTree>
    <p:extLst>
      <p:ext uri="{BB962C8B-B14F-4D97-AF65-F5344CB8AC3E}">
        <p14:creationId xmlns:p14="http://schemas.microsoft.com/office/powerpoint/2010/main" val="1416153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76200"/>
            <a:ext cx="8229600" cy="639763"/>
          </a:xfrm>
        </p:spPr>
        <p:txBody>
          <a:bodyPr/>
          <a:lstStyle/>
          <a:p>
            <a:pPr eaLnBrk="1" hangingPunct="1"/>
            <a:r>
              <a:rPr lang="en-US" altLang="en-US" sz="3200" dirty="0">
                <a:latin typeface="+mn-lt"/>
              </a:rPr>
              <a:t>“Phrase-Based” Translation</a:t>
            </a:r>
          </a:p>
        </p:txBody>
      </p:sp>
      <p:sp>
        <p:nvSpPr>
          <p:cNvPr id="50179" name="Rectangle 3"/>
          <p:cNvSpPr>
            <a:spLocks noChangeArrowheads="1"/>
          </p:cNvSpPr>
          <p:nvPr/>
        </p:nvSpPr>
        <p:spPr bwMode="auto">
          <a:xfrm>
            <a:off x="304800" y="685800"/>
            <a:ext cx="8686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Char char="•"/>
            </a:pPr>
            <a:r>
              <a:rPr lang="en-US" altLang="en-US" sz="2400">
                <a:latin typeface="+mn-lt"/>
              </a:rPr>
              <a:t>Relies on a </a:t>
            </a:r>
            <a:r>
              <a:rPr lang="en-US" altLang="en-US" sz="2400" b="1">
                <a:latin typeface="+mn-lt"/>
              </a:rPr>
              <a:t>phrase table</a:t>
            </a:r>
          </a:p>
          <a:p>
            <a:pPr lvl="1" eaLnBrk="1" hangingPunct="1">
              <a:spcBef>
                <a:spcPct val="20000"/>
              </a:spcBef>
              <a:buFontTx/>
              <a:buChar char="–"/>
            </a:pPr>
            <a:r>
              <a:rPr lang="en-US" altLang="en-US" sz="2000">
                <a:latin typeface="+mn-lt"/>
              </a:rPr>
              <a:t>massive bilingual phrase dictionary, with probabilities</a:t>
            </a:r>
            <a:endParaRPr lang="en-US" altLang="en-US" sz="2000" b="1">
              <a:latin typeface="+mn-lt"/>
            </a:endParaRPr>
          </a:p>
          <a:p>
            <a:pPr eaLnBrk="1" hangingPunct="1">
              <a:spcBef>
                <a:spcPct val="20000"/>
              </a:spcBef>
              <a:buFontTx/>
              <a:buChar char="•"/>
            </a:pPr>
            <a:r>
              <a:rPr lang="en-US" altLang="en-US" sz="2400">
                <a:latin typeface="+mn-lt"/>
              </a:rPr>
              <a:t>To build:</a:t>
            </a:r>
          </a:p>
          <a:p>
            <a:pPr lvl="1" eaLnBrk="1" hangingPunct="1">
              <a:spcBef>
                <a:spcPct val="20000"/>
              </a:spcBef>
              <a:buFontTx/>
              <a:buChar char="–"/>
            </a:pPr>
            <a:r>
              <a:rPr lang="en-US" altLang="en-US" sz="2000">
                <a:latin typeface="+mn-lt"/>
              </a:rPr>
              <a:t>Find the best word alignment for each sentence pair</a:t>
            </a:r>
          </a:p>
          <a:p>
            <a:pPr lvl="1" eaLnBrk="1" hangingPunct="1">
              <a:spcBef>
                <a:spcPct val="20000"/>
              </a:spcBef>
              <a:buFontTx/>
              <a:buChar char="–"/>
            </a:pPr>
            <a:r>
              <a:rPr lang="en-US" altLang="en-US" sz="2000">
                <a:latin typeface="+mn-lt"/>
              </a:rPr>
              <a:t>Extract all phrase pairs </a:t>
            </a:r>
            <a:r>
              <a:rPr lang="en-US" altLang="en-US" sz="2000" b="1">
                <a:latin typeface="+mn-lt"/>
              </a:rPr>
              <a:t>consistent</a:t>
            </a:r>
            <a:r>
              <a:rPr lang="en-US" altLang="en-US" sz="2000">
                <a:latin typeface="+mn-lt"/>
              </a:rPr>
              <a:t> with the word alignment</a:t>
            </a:r>
          </a:p>
          <a:p>
            <a:pPr lvl="1" eaLnBrk="1" hangingPunct="1">
              <a:spcBef>
                <a:spcPct val="20000"/>
              </a:spcBef>
              <a:buFontTx/>
              <a:buChar char="–"/>
            </a:pPr>
            <a:r>
              <a:rPr lang="en-US" altLang="en-US" sz="2000">
                <a:latin typeface="+mn-lt"/>
              </a:rPr>
              <a:t>Compute probabilities using relative frequency estimation</a:t>
            </a:r>
          </a:p>
        </p:txBody>
      </p:sp>
    </p:spTree>
    <p:extLst>
      <p:ext uri="{BB962C8B-B14F-4D97-AF65-F5344CB8AC3E}">
        <p14:creationId xmlns:p14="http://schemas.microsoft.com/office/powerpoint/2010/main" val="14893297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76200"/>
            <a:ext cx="8229600" cy="639763"/>
          </a:xfrm>
        </p:spPr>
        <p:txBody>
          <a:bodyPr/>
          <a:lstStyle/>
          <a:p>
            <a:pPr eaLnBrk="1" hangingPunct="1"/>
            <a:r>
              <a:rPr lang="en-US" altLang="en-US" sz="3200">
                <a:latin typeface="+mn-lt"/>
              </a:rPr>
              <a:t>Phrase-Based Translation</a:t>
            </a:r>
          </a:p>
        </p:txBody>
      </p:sp>
      <p:sp>
        <p:nvSpPr>
          <p:cNvPr id="51203" name="Text Box 4"/>
          <p:cNvSpPr txBox="1">
            <a:spLocks noChangeArrowheads="1"/>
          </p:cNvSpPr>
          <p:nvPr/>
        </p:nvSpPr>
        <p:spPr bwMode="auto">
          <a:xfrm>
            <a:off x="704850" y="4110038"/>
            <a:ext cx="5270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a:t>
            </a:r>
          </a:p>
        </p:txBody>
      </p:sp>
      <p:sp>
        <p:nvSpPr>
          <p:cNvPr id="51204" name="Text Box 5"/>
          <p:cNvSpPr txBox="1">
            <a:spLocks noChangeArrowheads="1"/>
          </p:cNvSpPr>
          <p:nvPr/>
        </p:nvSpPr>
        <p:spPr bwMode="auto">
          <a:xfrm>
            <a:off x="2326942" y="4110038"/>
            <a:ext cx="69916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Frage</a:t>
            </a:r>
          </a:p>
        </p:txBody>
      </p:sp>
      <p:sp>
        <p:nvSpPr>
          <p:cNvPr id="51205" name="Text Box 6"/>
          <p:cNvSpPr txBox="1">
            <a:spLocks noChangeArrowheads="1"/>
          </p:cNvSpPr>
          <p:nvPr/>
        </p:nvSpPr>
        <p:spPr bwMode="auto">
          <a:xfrm>
            <a:off x="1418954" y="4110038"/>
            <a:ext cx="67999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diese</a:t>
            </a:r>
          </a:p>
        </p:txBody>
      </p:sp>
      <p:sp>
        <p:nvSpPr>
          <p:cNvPr id="51206" name="Text Box 7"/>
          <p:cNvSpPr txBox="1">
            <a:spLocks noChangeArrowheads="1"/>
          </p:cNvSpPr>
          <p:nvPr/>
        </p:nvSpPr>
        <p:spPr bwMode="auto">
          <a:xfrm>
            <a:off x="7673156" y="4110038"/>
            <a:ext cx="124623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bekommen</a:t>
            </a:r>
          </a:p>
        </p:txBody>
      </p:sp>
      <p:sp>
        <p:nvSpPr>
          <p:cNvPr id="51207" name="Text Box 8"/>
          <p:cNvSpPr txBox="1">
            <a:spLocks noChangeArrowheads="1"/>
          </p:cNvSpPr>
          <p:nvPr/>
        </p:nvSpPr>
        <p:spPr bwMode="auto">
          <a:xfrm>
            <a:off x="4092587" y="4110038"/>
            <a:ext cx="45717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ich</a:t>
            </a:r>
          </a:p>
        </p:txBody>
      </p:sp>
      <p:sp>
        <p:nvSpPr>
          <p:cNvPr id="51208" name="Text Box 9"/>
          <p:cNvSpPr txBox="1">
            <a:spLocks noChangeArrowheads="1"/>
          </p:cNvSpPr>
          <p:nvPr/>
        </p:nvSpPr>
        <p:spPr bwMode="auto">
          <a:xfrm>
            <a:off x="3247878" y="4110038"/>
            <a:ext cx="65434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habe</a:t>
            </a:r>
          </a:p>
        </p:txBody>
      </p:sp>
      <p:sp>
        <p:nvSpPr>
          <p:cNvPr id="51209" name="Text Box 10"/>
          <p:cNvSpPr txBox="1">
            <a:spLocks noChangeArrowheads="1"/>
          </p:cNvSpPr>
          <p:nvPr/>
        </p:nvSpPr>
        <p:spPr bwMode="auto">
          <a:xfrm>
            <a:off x="4721225" y="4110038"/>
            <a:ext cx="7429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leider</a:t>
            </a:r>
          </a:p>
        </p:txBody>
      </p:sp>
      <p:sp>
        <p:nvSpPr>
          <p:cNvPr id="51210" name="Text Box 11"/>
          <p:cNvSpPr txBox="1">
            <a:spLocks noChangeArrowheads="1"/>
          </p:cNvSpPr>
          <p:nvPr/>
        </p:nvSpPr>
        <p:spPr bwMode="auto">
          <a:xfrm>
            <a:off x="6500813" y="4110038"/>
            <a:ext cx="9937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Antwort</a:t>
            </a:r>
          </a:p>
        </p:txBody>
      </p:sp>
      <p:sp>
        <p:nvSpPr>
          <p:cNvPr id="51211" name="Text Box 12"/>
          <p:cNvSpPr txBox="1">
            <a:spLocks noChangeArrowheads="1"/>
          </p:cNvSpPr>
          <p:nvPr/>
        </p:nvSpPr>
        <p:spPr bwMode="auto">
          <a:xfrm>
            <a:off x="5647702" y="4110038"/>
            <a:ext cx="68704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keine</a:t>
            </a:r>
          </a:p>
        </p:txBody>
      </p:sp>
      <p:sp>
        <p:nvSpPr>
          <p:cNvPr id="51212" name="Text Box 13"/>
          <p:cNvSpPr txBox="1">
            <a:spLocks noChangeArrowheads="1"/>
          </p:cNvSpPr>
          <p:nvPr/>
        </p:nvSpPr>
        <p:spPr bwMode="auto">
          <a:xfrm>
            <a:off x="704850" y="6110288"/>
            <a:ext cx="247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a:t>
            </a:r>
          </a:p>
        </p:txBody>
      </p:sp>
      <p:sp>
        <p:nvSpPr>
          <p:cNvPr id="51213" name="Text Box 14"/>
          <p:cNvSpPr txBox="1">
            <a:spLocks noChangeArrowheads="1"/>
          </p:cNvSpPr>
          <p:nvPr/>
        </p:nvSpPr>
        <p:spPr bwMode="auto">
          <a:xfrm>
            <a:off x="1108764" y="6110288"/>
            <a:ext cx="4812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did</a:t>
            </a:r>
          </a:p>
        </p:txBody>
      </p:sp>
      <p:sp>
        <p:nvSpPr>
          <p:cNvPr id="51214" name="Text Box 15"/>
          <p:cNvSpPr txBox="1">
            <a:spLocks noChangeArrowheads="1"/>
          </p:cNvSpPr>
          <p:nvPr/>
        </p:nvSpPr>
        <p:spPr bwMode="auto">
          <a:xfrm>
            <a:off x="1746250" y="6110288"/>
            <a:ext cx="501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not</a:t>
            </a:r>
          </a:p>
        </p:txBody>
      </p:sp>
      <p:sp>
        <p:nvSpPr>
          <p:cNvPr id="51215" name="Text Box 16"/>
          <p:cNvSpPr txBox="1">
            <a:spLocks noChangeArrowheads="1"/>
          </p:cNvSpPr>
          <p:nvPr/>
        </p:nvSpPr>
        <p:spPr bwMode="auto">
          <a:xfrm>
            <a:off x="2418680" y="6110288"/>
            <a:ext cx="14713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unfortunately</a:t>
            </a:r>
          </a:p>
        </p:txBody>
      </p:sp>
      <p:sp>
        <p:nvSpPr>
          <p:cNvPr id="51216" name="Text Box 17"/>
          <p:cNvSpPr txBox="1">
            <a:spLocks noChangeArrowheads="1"/>
          </p:cNvSpPr>
          <p:nvPr/>
        </p:nvSpPr>
        <p:spPr bwMode="auto">
          <a:xfrm>
            <a:off x="4089175" y="6110288"/>
            <a:ext cx="86087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receive</a:t>
            </a:r>
          </a:p>
        </p:txBody>
      </p:sp>
      <p:sp>
        <p:nvSpPr>
          <p:cNvPr id="51217" name="Text Box 18"/>
          <p:cNvSpPr txBox="1">
            <a:spLocks noChangeArrowheads="1"/>
          </p:cNvSpPr>
          <p:nvPr/>
        </p:nvSpPr>
        <p:spPr bwMode="auto">
          <a:xfrm>
            <a:off x="5144500" y="6110288"/>
            <a:ext cx="4171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a:t>
            </a:r>
          </a:p>
        </p:txBody>
      </p:sp>
      <p:sp>
        <p:nvSpPr>
          <p:cNvPr id="51218" name="Text Box 19"/>
          <p:cNvSpPr txBox="1">
            <a:spLocks noChangeArrowheads="1"/>
          </p:cNvSpPr>
          <p:nvPr/>
        </p:nvSpPr>
        <p:spPr bwMode="auto">
          <a:xfrm>
            <a:off x="5752506" y="6110288"/>
            <a:ext cx="86478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answer</a:t>
            </a:r>
          </a:p>
        </p:txBody>
      </p:sp>
      <p:sp>
        <p:nvSpPr>
          <p:cNvPr id="51219" name="Text Box 20"/>
          <p:cNvSpPr txBox="1">
            <a:spLocks noChangeArrowheads="1"/>
          </p:cNvSpPr>
          <p:nvPr/>
        </p:nvSpPr>
        <p:spPr bwMode="auto">
          <a:xfrm>
            <a:off x="6792913" y="6110288"/>
            <a:ext cx="3873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to</a:t>
            </a:r>
          </a:p>
        </p:txBody>
      </p:sp>
      <p:sp>
        <p:nvSpPr>
          <p:cNvPr id="51220" name="Text Box 21"/>
          <p:cNvSpPr txBox="1">
            <a:spLocks noChangeArrowheads="1"/>
          </p:cNvSpPr>
          <p:nvPr/>
        </p:nvSpPr>
        <p:spPr bwMode="auto">
          <a:xfrm>
            <a:off x="7333135" y="6110288"/>
            <a:ext cx="5261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this</a:t>
            </a:r>
          </a:p>
        </p:txBody>
      </p:sp>
      <p:sp>
        <p:nvSpPr>
          <p:cNvPr id="51221" name="Text Box 22"/>
          <p:cNvSpPr txBox="1">
            <a:spLocks noChangeArrowheads="1"/>
          </p:cNvSpPr>
          <p:nvPr/>
        </p:nvSpPr>
        <p:spPr bwMode="auto">
          <a:xfrm>
            <a:off x="7965504" y="6091238"/>
            <a:ext cx="10044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question</a:t>
            </a:r>
          </a:p>
        </p:txBody>
      </p:sp>
      <p:sp>
        <p:nvSpPr>
          <p:cNvPr id="51222" name="Rectangle 3"/>
          <p:cNvSpPr>
            <a:spLocks noChangeArrowheads="1"/>
          </p:cNvSpPr>
          <p:nvPr/>
        </p:nvSpPr>
        <p:spPr bwMode="auto">
          <a:xfrm>
            <a:off x="304800" y="685800"/>
            <a:ext cx="8686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Char char="•"/>
            </a:pPr>
            <a:r>
              <a:rPr lang="en-US" altLang="en-US" sz="2400" dirty="0">
                <a:latin typeface="+mn-lt"/>
              </a:rPr>
              <a:t>Relies on a </a:t>
            </a:r>
            <a:r>
              <a:rPr lang="en-US" altLang="en-US" sz="2400" b="1" dirty="0">
                <a:latin typeface="+mn-lt"/>
              </a:rPr>
              <a:t>phrase table</a:t>
            </a:r>
          </a:p>
          <a:p>
            <a:pPr lvl="1" eaLnBrk="1" hangingPunct="1">
              <a:spcBef>
                <a:spcPct val="20000"/>
              </a:spcBef>
              <a:buFontTx/>
              <a:buChar char="–"/>
            </a:pPr>
            <a:r>
              <a:rPr lang="en-US" altLang="en-US" sz="2000" dirty="0">
                <a:latin typeface="+mn-lt"/>
              </a:rPr>
              <a:t>massive bilingual phrase dictionary, with probabilities</a:t>
            </a:r>
            <a:endParaRPr lang="en-US" altLang="en-US" sz="2000" b="1" dirty="0">
              <a:latin typeface="+mn-lt"/>
            </a:endParaRPr>
          </a:p>
          <a:p>
            <a:pPr eaLnBrk="1" hangingPunct="1">
              <a:spcBef>
                <a:spcPct val="20000"/>
              </a:spcBef>
              <a:buFontTx/>
              <a:buChar char="•"/>
            </a:pPr>
            <a:r>
              <a:rPr lang="en-US" altLang="en-US" sz="2400" dirty="0">
                <a:latin typeface="+mn-lt"/>
              </a:rPr>
              <a:t>To build:</a:t>
            </a:r>
          </a:p>
          <a:p>
            <a:pPr lvl="1" eaLnBrk="1" hangingPunct="1">
              <a:spcBef>
                <a:spcPct val="20000"/>
              </a:spcBef>
              <a:buFontTx/>
              <a:buChar char="–"/>
            </a:pPr>
            <a:r>
              <a:rPr lang="en-US" altLang="en-US" sz="2000" dirty="0">
                <a:latin typeface="+mn-lt"/>
              </a:rPr>
              <a:t>Find the best word alignment for each sentence pair</a:t>
            </a:r>
          </a:p>
          <a:p>
            <a:pPr lvl="1" eaLnBrk="1" hangingPunct="1">
              <a:spcBef>
                <a:spcPct val="20000"/>
              </a:spcBef>
              <a:buFontTx/>
              <a:buChar char="–"/>
            </a:pPr>
            <a:r>
              <a:rPr lang="en-US" altLang="en-US" sz="2000" dirty="0">
                <a:solidFill>
                  <a:schemeClr val="bg2"/>
                </a:solidFill>
                <a:latin typeface="+mn-lt"/>
              </a:rPr>
              <a:t>Extract all phrase pairs </a:t>
            </a:r>
            <a:r>
              <a:rPr lang="en-US" altLang="en-US" sz="2000" b="1" dirty="0">
                <a:solidFill>
                  <a:schemeClr val="bg2"/>
                </a:solidFill>
                <a:latin typeface="+mn-lt"/>
              </a:rPr>
              <a:t>consistent</a:t>
            </a:r>
            <a:r>
              <a:rPr lang="en-US" altLang="en-US" sz="2000" dirty="0">
                <a:solidFill>
                  <a:schemeClr val="bg2"/>
                </a:solidFill>
                <a:latin typeface="+mn-lt"/>
              </a:rPr>
              <a:t> with the word alignment</a:t>
            </a:r>
          </a:p>
          <a:p>
            <a:pPr lvl="1" eaLnBrk="1" hangingPunct="1">
              <a:spcBef>
                <a:spcPct val="20000"/>
              </a:spcBef>
              <a:buFontTx/>
              <a:buChar char="–"/>
            </a:pPr>
            <a:r>
              <a:rPr lang="en-US" altLang="en-US" sz="2000" dirty="0">
                <a:solidFill>
                  <a:schemeClr val="bg2"/>
                </a:solidFill>
                <a:latin typeface="+mn-lt"/>
              </a:rPr>
              <a:t>Compute probabilities using relative frequency estimation</a:t>
            </a:r>
          </a:p>
        </p:txBody>
      </p:sp>
      <p:cxnSp>
        <p:nvCxnSpPr>
          <p:cNvPr id="51223" name="AutoShape 33"/>
          <p:cNvCxnSpPr>
            <a:cxnSpLocks noChangeShapeType="1"/>
          </p:cNvCxnSpPr>
          <p:nvPr/>
        </p:nvCxnSpPr>
        <p:spPr bwMode="auto">
          <a:xfrm>
            <a:off x="2676525" y="4476750"/>
            <a:ext cx="5791200" cy="161448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4" name="AutoShape 34"/>
          <p:cNvCxnSpPr>
            <a:cxnSpLocks noChangeShapeType="1"/>
          </p:cNvCxnSpPr>
          <p:nvPr/>
        </p:nvCxnSpPr>
        <p:spPr bwMode="auto">
          <a:xfrm flipH="1">
            <a:off x="828675" y="4476750"/>
            <a:ext cx="34925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5" name="AutoShape 35"/>
          <p:cNvCxnSpPr>
            <a:cxnSpLocks noChangeShapeType="1"/>
          </p:cNvCxnSpPr>
          <p:nvPr/>
        </p:nvCxnSpPr>
        <p:spPr bwMode="auto">
          <a:xfrm flipH="1">
            <a:off x="3154363" y="4476750"/>
            <a:ext cx="1938337"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6" name="AutoShape 36"/>
          <p:cNvCxnSpPr>
            <a:cxnSpLocks noChangeShapeType="1"/>
          </p:cNvCxnSpPr>
          <p:nvPr/>
        </p:nvCxnSpPr>
        <p:spPr bwMode="auto">
          <a:xfrm flipH="1">
            <a:off x="1997075" y="4476750"/>
            <a:ext cx="399415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7" name="AutoShape 37"/>
          <p:cNvCxnSpPr>
            <a:cxnSpLocks noChangeShapeType="1"/>
          </p:cNvCxnSpPr>
          <p:nvPr/>
        </p:nvCxnSpPr>
        <p:spPr bwMode="auto">
          <a:xfrm flipH="1">
            <a:off x="4519613" y="4476750"/>
            <a:ext cx="3776662"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8" name="AutoShape 33"/>
          <p:cNvCxnSpPr>
            <a:cxnSpLocks noChangeShapeType="1"/>
          </p:cNvCxnSpPr>
          <p:nvPr/>
        </p:nvCxnSpPr>
        <p:spPr bwMode="auto">
          <a:xfrm>
            <a:off x="1758950" y="4476750"/>
            <a:ext cx="5837238"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29" name="AutoShape 33"/>
          <p:cNvCxnSpPr>
            <a:cxnSpLocks noChangeShapeType="1"/>
          </p:cNvCxnSpPr>
          <p:nvPr/>
        </p:nvCxnSpPr>
        <p:spPr bwMode="auto">
          <a:xfrm>
            <a:off x="968375" y="4476750"/>
            <a:ext cx="6018213"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30" name="AutoShape 34"/>
          <p:cNvCxnSpPr>
            <a:cxnSpLocks noChangeShapeType="1"/>
          </p:cNvCxnSpPr>
          <p:nvPr/>
        </p:nvCxnSpPr>
        <p:spPr bwMode="auto">
          <a:xfrm flipH="1">
            <a:off x="1349375" y="4476750"/>
            <a:ext cx="2225675"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1231" name="AutoShape 36"/>
          <p:cNvCxnSpPr>
            <a:cxnSpLocks noChangeShapeType="1"/>
          </p:cNvCxnSpPr>
          <p:nvPr/>
        </p:nvCxnSpPr>
        <p:spPr bwMode="auto">
          <a:xfrm flipH="1">
            <a:off x="6184900" y="4476750"/>
            <a:ext cx="8128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Tree>
    <p:extLst>
      <p:ext uri="{BB962C8B-B14F-4D97-AF65-F5344CB8AC3E}">
        <p14:creationId xmlns:p14="http://schemas.microsoft.com/office/powerpoint/2010/main" val="7369134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76200"/>
            <a:ext cx="8229600" cy="639763"/>
          </a:xfrm>
        </p:spPr>
        <p:txBody>
          <a:bodyPr/>
          <a:lstStyle/>
          <a:p>
            <a:pPr eaLnBrk="1" hangingPunct="1"/>
            <a:r>
              <a:rPr lang="en-US" altLang="en-US" sz="3200">
                <a:latin typeface="+mn-lt"/>
              </a:rPr>
              <a:t>Phrase-Based Translation</a:t>
            </a:r>
          </a:p>
        </p:txBody>
      </p:sp>
      <p:sp>
        <p:nvSpPr>
          <p:cNvPr id="52227" name="Text Box 13"/>
          <p:cNvSpPr txBox="1">
            <a:spLocks noChangeArrowheads="1"/>
          </p:cNvSpPr>
          <p:nvPr/>
        </p:nvSpPr>
        <p:spPr bwMode="auto">
          <a:xfrm>
            <a:off x="704850" y="6110288"/>
            <a:ext cx="247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a:t>
            </a:r>
          </a:p>
        </p:txBody>
      </p:sp>
      <p:sp>
        <p:nvSpPr>
          <p:cNvPr id="52228" name="Text Box 14"/>
          <p:cNvSpPr txBox="1">
            <a:spLocks noChangeArrowheads="1"/>
          </p:cNvSpPr>
          <p:nvPr/>
        </p:nvSpPr>
        <p:spPr bwMode="auto">
          <a:xfrm>
            <a:off x="1108764" y="6110288"/>
            <a:ext cx="4812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did</a:t>
            </a:r>
          </a:p>
        </p:txBody>
      </p:sp>
      <p:sp>
        <p:nvSpPr>
          <p:cNvPr id="52229" name="Text Box 15"/>
          <p:cNvSpPr txBox="1">
            <a:spLocks noChangeArrowheads="1"/>
          </p:cNvSpPr>
          <p:nvPr/>
        </p:nvSpPr>
        <p:spPr bwMode="auto">
          <a:xfrm>
            <a:off x="1746250" y="6110288"/>
            <a:ext cx="501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not</a:t>
            </a:r>
          </a:p>
        </p:txBody>
      </p:sp>
      <p:sp>
        <p:nvSpPr>
          <p:cNvPr id="52230" name="Text Box 16"/>
          <p:cNvSpPr txBox="1">
            <a:spLocks noChangeArrowheads="1"/>
          </p:cNvSpPr>
          <p:nvPr/>
        </p:nvSpPr>
        <p:spPr bwMode="auto">
          <a:xfrm>
            <a:off x="2418680" y="6110288"/>
            <a:ext cx="14713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unfortunately</a:t>
            </a:r>
          </a:p>
        </p:txBody>
      </p:sp>
      <p:sp>
        <p:nvSpPr>
          <p:cNvPr id="52231" name="Text Box 17"/>
          <p:cNvSpPr txBox="1">
            <a:spLocks noChangeArrowheads="1"/>
          </p:cNvSpPr>
          <p:nvPr/>
        </p:nvSpPr>
        <p:spPr bwMode="auto">
          <a:xfrm>
            <a:off x="4089175" y="6110288"/>
            <a:ext cx="86087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receive</a:t>
            </a:r>
          </a:p>
        </p:txBody>
      </p:sp>
      <p:sp>
        <p:nvSpPr>
          <p:cNvPr id="52232" name="Rectangle 3"/>
          <p:cNvSpPr>
            <a:spLocks noChangeArrowheads="1"/>
          </p:cNvSpPr>
          <p:nvPr/>
        </p:nvSpPr>
        <p:spPr bwMode="auto">
          <a:xfrm>
            <a:off x="304800" y="685800"/>
            <a:ext cx="8686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Char char="•"/>
            </a:pPr>
            <a:r>
              <a:rPr lang="en-US" altLang="en-US" sz="2400">
                <a:latin typeface="+mn-lt"/>
              </a:rPr>
              <a:t>Relies on a </a:t>
            </a:r>
            <a:r>
              <a:rPr lang="en-US" altLang="en-US" sz="2400" b="1">
                <a:latin typeface="+mn-lt"/>
              </a:rPr>
              <a:t>phrase table</a:t>
            </a:r>
          </a:p>
          <a:p>
            <a:pPr lvl="1" eaLnBrk="1" hangingPunct="1">
              <a:spcBef>
                <a:spcPct val="20000"/>
              </a:spcBef>
              <a:buFontTx/>
              <a:buChar char="–"/>
            </a:pPr>
            <a:r>
              <a:rPr lang="en-US" altLang="en-US" sz="2000">
                <a:latin typeface="+mn-lt"/>
              </a:rPr>
              <a:t>massive bilingual phrase dictionary, with probabilities</a:t>
            </a:r>
            <a:endParaRPr lang="en-US" altLang="en-US" sz="2000" b="1">
              <a:latin typeface="+mn-lt"/>
            </a:endParaRPr>
          </a:p>
          <a:p>
            <a:pPr eaLnBrk="1" hangingPunct="1">
              <a:spcBef>
                <a:spcPct val="20000"/>
              </a:spcBef>
              <a:buFontTx/>
              <a:buChar char="•"/>
            </a:pPr>
            <a:r>
              <a:rPr lang="en-US" altLang="en-US" sz="2400">
                <a:latin typeface="+mn-lt"/>
              </a:rPr>
              <a:t>To build:</a:t>
            </a:r>
          </a:p>
          <a:p>
            <a:pPr lvl="1" eaLnBrk="1" hangingPunct="1">
              <a:spcBef>
                <a:spcPct val="20000"/>
              </a:spcBef>
              <a:buFontTx/>
              <a:buChar char="–"/>
            </a:pPr>
            <a:r>
              <a:rPr lang="en-US" altLang="en-US" sz="2000">
                <a:solidFill>
                  <a:schemeClr val="bg2"/>
                </a:solidFill>
                <a:latin typeface="+mn-lt"/>
              </a:rPr>
              <a:t>Find the best word alignment for each sentence pair</a:t>
            </a:r>
          </a:p>
          <a:p>
            <a:pPr lvl="1" eaLnBrk="1" hangingPunct="1">
              <a:spcBef>
                <a:spcPct val="20000"/>
              </a:spcBef>
              <a:buFontTx/>
              <a:buChar char="–"/>
            </a:pPr>
            <a:r>
              <a:rPr lang="en-US" altLang="en-US" sz="2000">
                <a:latin typeface="+mn-lt"/>
              </a:rPr>
              <a:t>Extract all phrase pairs </a:t>
            </a:r>
            <a:r>
              <a:rPr lang="en-US" altLang="en-US" sz="2000" b="1">
                <a:latin typeface="+mn-lt"/>
              </a:rPr>
              <a:t>consistent</a:t>
            </a:r>
            <a:r>
              <a:rPr lang="en-US" altLang="en-US" sz="2000">
                <a:latin typeface="+mn-lt"/>
              </a:rPr>
              <a:t> with the word alignment</a:t>
            </a:r>
          </a:p>
          <a:p>
            <a:pPr lvl="1" eaLnBrk="1" hangingPunct="1">
              <a:spcBef>
                <a:spcPct val="20000"/>
              </a:spcBef>
              <a:buFontTx/>
              <a:buChar char="–"/>
            </a:pPr>
            <a:r>
              <a:rPr lang="en-US" altLang="en-US" sz="2000">
                <a:solidFill>
                  <a:schemeClr val="bg2"/>
                </a:solidFill>
                <a:latin typeface="+mn-lt"/>
              </a:rPr>
              <a:t>Compute probabilities using relative frequency estimation</a:t>
            </a:r>
          </a:p>
        </p:txBody>
      </p:sp>
      <p:cxnSp>
        <p:nvCxnSpPr>
          <p:cNvPr id="52233" name="AutoShape 33"/>
          <p:cNvCxnSpPr>
            <a:cxnSpLocks noChangeShapeType="1"/>
          </p:cNvCxnSpPr>
          <p:nvPr/>
        </p:nvCxnSpPr>
        <p:spPr bwMode="auto">
          <a:xfrm>
            <a:off x="2676525" y="4476750"/>
            <a:ext cx="5791200" cy="161448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4" name="AutoShape 34"/>
          <p:cNvCxnSpPr>
            <a:cxnSpLocks noChangeShapeType="1"/>
          </p:cNvCxnSpPr>
          <p:nvPr/>
        </p:nvCxnSpPr>
        <p:spPr bwMode="auto">
          <a:xfrm flipH="1">
            <a:off x="828675" y="4476750"/>
            <a:ext cx="34925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5" name="AutoShape 35"/>
          <p:cNvCxnSpPr>
            <a:cxnSpLocks noChangeShapeType="1"/>
          </p:cNvCxnSpPr>
          <p:nvPr/>
        </p:nvCxnSpPr>
        <p:spPr bwMode="auto">
          <a:xfrm flipH="1">
            <a:off x="3154363" y="4476750"/>
            <a:ext cx="1938337"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6" name="AutoShape 36"/>
          <p:cNvCxnSpPr>
            <a:cxnSpLocks noChangeShapeType="1"/>
          </p:cNvCxnSpPr>
          <p:nvPr/>
        </p:nvCxnSpPr>
        <p:spPr bwMode="auto">
          <a:xfrm flipH="1">
            <a:off x="1997075" y="4476750"/>
            <a:ext cx="399415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7" name="AutoShape 37"/>
          <p:cNvCxnSpPr>
            <a:cxnSpLocks noChangeShapeType="1"/>
          </p:cNvCxnSpPr>
          <p:nvPr/>
        </p:nvCxnSpPr>
        <p:spPr bwMode="auto">
          <a:xfrm flipH="1">
            <a:off x="4519613" y="4476750"/>
            <a:ext cx="3776662"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8" name="AutoShape 33"/>
          <p:cNvCxnSpPr>
            <a:cxnSpLocks noChangeShapeType="1"/>
          </p:cNvCxnSpPr>
          <p:nvPr/>
        </p:nvCxnSpPr>
        <p:spPr bwMode="auto">
          <a:xfrm>
            <a:off x="1758950" y="4476750"/>
            <a:ext cx="5837238"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39" name="AutoShape 33"/>
          <p:cNvCxnSpPr>
            <a:cxnSpLocks noChangeShapeType="1"/>
          </p:cNvCxnSpPr>
          <p:nvPr/>
        </p:nvCxnSpPr>
        <p:spPr bwMode="auto">
          <a:xfrm>
            <a:off x="968375" y="4476750"/>
            <a:ext cx="6018213"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40" name="AutoShape 34"/>
          <p:cNvCxnSpPr>
            <a:cxnSpLocks noChangeShapeType="1"/>
          </p:cNvCxnSpPr>
          <p:nvPr/>
        </p:nvCxnSpPr>
        <p:spPr bwMode="auto">
          <a:xfrm flipH="1">
            <a:off x="1349375" y="4476750"/>
            <a:ext cx="2225675"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2241" name="AutoShape 36"/>
          <p:cNvCxnSpPr>
            <a:cxnSpLocks noChangeShapeType="1"/>
          </p:cNvCxnSpPr>
          <p:nvPr/>
        </p:nvCxnSpPr>
        <p:spPr bwMode="auto">
          <a:xfrm flipH="1">
            <a:off x="6184900" y="4476750"/>
            <a:ext cx="8128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
        <p:nvSpPr>
          <p:cNvPr id="52242" name="Rectangle 23"/>
          <p:cNvSpPr>
            <a:spLocks noChangeArrowheads="1"/>
          </p:cNvSpPr>
          <p:nvPr/>
        </p:nvSpPr>
        <p:spPr bwMode="auto">
          <a:xfrm>
            <a:off x="685800" y="4114800"/>
            <a:ext cx="24384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2243" name="Text Box 4"/>
          <p:cNvSpPr txBox="1">
            <a:spLocks noChangeArrowheads="1"/>
          </p:cNvSpPr>
          <p:nvPr/>
        </p:nvSpPr>
        <p:spPr bwMode="auto">
          <a:xfrm>
            <a:off x="704850" y="4110038"/>
            <a:ext cx="5270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a:t>
            </a:r>
          </a:p>
        </p:txBody>
      </p:sp>
      <p:sp>
        <p:nvSpPr>
          <p:cNvPr id="52244" name="Text Box 5"/>
          <p:cNvSpPr txBox="1">
            <a:spLocks noChangeArrowheads="1"/>
          </p:cNvSpPr>
          <p:nvPr/>
        </p:nvSpPr>
        <p:spPr bwMode="auto">
          <a:xfrm>
            <a:off x="2326942" y="4110038"/>
            <a:ext cx="69916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Frage</a:t>
            </a:r>
          </a:p>
        </p:txBody>
      </p:sp>
      <p:sp>
        <p:nvSpPr>
          <p:cNvPr id="52245" name="Text Box 6"/>
          <p:cNvSpPr txBox="1">
            <a:spLocks noChangeArrowheads="1"/>
          </p:cNvSpPr>
          <p:nvPr/>
        </p:nvSpPr>
        <p:spPr bwMode="auto">
          <a:xfrm>
            <a:off x="1418954" y="4110038"/>
            <a:ext cx="67999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diese</a:t>
            </a:r>
          </a:p>
        </p:txBody>
      </p:sp>
      <p:sp>
        <p:nvSpPr>
          <p:cNvPr id="52246" name="Text Box 7"/>
          <p:cNvSpPr txBox="1">
            <a:spLocks noChangeArrowheads="1"/>
          </p:cNvSpPr>
          <p:nvPr/>
        </p:nvSpPr>
        <p:spPr bwMode="auto">
          <a:xfrm>
            <a:off x="7673156" y="4110038"/>
            <a:ext cx="124623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bekommen</a:t>
            </a:r>
          </a:p>
        </p:txBody>
      </p:sp>
      <p:sp>
        <p:nvSpPr>
          <p:cNvPr id="52247" name="Text Box 8"/>
          <p:cNvSpPr txBox="1">
            <a:spLocks noChangeArrowheads="1"/>
          </p:cNvSpPr>
          <p:nvPr/>
        </p:nvSpPr>
        <p:spPr bwMode="auto">
          <a:xfrm>
            <a:off x="4092587" y="4110038"/>
            <a:ext cx="45717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ich</a:t>
            </a:r>
          </a:p>
        </p:txBody>
      </p:sp>
      <p:sp>
        <p:nvSpPr>
          <p:cNvPr id="52248" name="Text Box 9"/>
          <p:cNvSpPr txBox="1">
            <a:spLocks noChangeArrowheads="1"/>
          </p:cNvSpPr>
          <p:nvPr/>
        </p:nvSpPr>
        <p:spPr bwMode="auto">
          <a:xfrm>
            <a:off x="3247878" y="4110038"/>
            <a:ext cx="65434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habe</a:t>
            </a:r>
          </a:p>
        </p:txBody>
      </p:sp>
      <p:sp>
        <p:nvSpPr>
          <p:cNvPr id="52249" name="Text Box 10"/>
          <p:cNvSpPr txBox="1">
            <a:spLocks noChangeArrowheads="1"/>
          </p:cNvSpPr>
          <p:nvPr/>
        </p:nvSpPr>
        <p:spPr bwMode="auto">
          <a:xfrm>
            <a:off x="4721225" y="4110038"/>
            <a:ext cx="7429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leider</a:t>
            </a:r>
          </a:p>
        </p:txBody>
      </p:sp>
      <p:sp>
        <p:nvSpPr>
          <p:cNvPr id="52250" name="Text Box 12"/>
          <p:cNvSpPr txBox="1">
            <a:spLocks noChangeArrowheads="1"/>
          </p:cNvSpPr>
          <p:nvPr/>
        </p:nvSpPr>
        <p:spPr bwMode="auto">
          <a:xfrm>
            <a:off x="5647702" y="4110038"/>
            <a:ext cx="68704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keine</a:t>
            </a:r>
          </a:p>
        </p:txBody>
      </p:sp>
      <p:sp>
        <p:nvSpPr>
          <p:cNvPr id="52251" name="Rectangle 23"/>
          <p:cNvSpPr>
            <a:spLocks noChangeArrowheads="1"/>
          </p:cNvSpPr>
          <p:nvPr/>
        </p:nvSpPr>
        <p:spPr bwMode="auto">
          <a:xfrm>
            <a:off x="6705600" y="6096000"/>
            <a:ext cx="22860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2252" name="Text Box 20"/>
          <p:cNvSpPr txBox="1">
            <a:spLocks noChangeArrowheads="1"/>
          </p:cNvSpPr>
          <p:nvPr/>
        </p:nvSpPr>
        <p:spPr bwMode="auto">
          <a:xfrm>
            <a:off x="6792913" y="6110288"/>
            <a:ext cx="3873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to</a:t>
            </a:r>
          </a:p>
        </p:txBody>
      </p:sp>
      <p:sp>
        <p:nvSpPr>
          <p:cNvPr id="52253" name="Text Box 21"/>
          <p:cNvSpPr txBox="1">
            <a:spLocks noChangeArrowheads="1"/>
          </p:cNvSpPr>
          <p:nvPr/>
        </p:nvSpPr>
        <p:spPr bwMode="auto">
          <a:xfrm>
            <a:off x="7333135" y="6110288"/>
            <a:ext cx="5261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this</a:t>
            </a:r>
          </a:p>
        </p:txBody>
      </p:sp>
      <p:sp>
        <p:nvSpPr>
          <p:cNvPr id="52254" name="Text Box 22"/>
          <p:cNvSpPr txBox="1">
            <a:spLocks noChangeArrowheads="1"/>
          </p:cNvSpPr>
          <p:nvPr/>
        </p:nvSpPr>
        <p:spPr bwMode="auto">
          <a:xfrm>
            <a:off x="7965504" y="6091238"/>
            <a:ext cx="10044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question</a:t>
            </a:r>
          </a:p>
        </p:txBody>
      </p:sp>
      <p:sp>
        <p:nvSpPr>
          <p:cNvPr id="52255" name="Text Box 18"/>
          <p:cNvSpPr txBox="1">
            <a:spLocks noChangeArrowheads="1"/>
          </p:cNvSpPr>
          <p:nvPr/>
        </p:nvSpPr>
        <p:spPr bwMode="auto">
          <a:xfrm>
            <a:off x="5144500" y="6110288"/>
            <a:ext cx="4171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a:t>
            </a:r>
          </a:p>
        </p:txBody>
      </p:sp>
      <p:sp>
        <p:nvSpPr>
          <p:cNvPr id="52256" name="Text Box 19"/>
          <p:cNvSpPr txBox="1">
            <a:spLocks noChangeArrowheads="1"/>
          </p:cNvSpPr>
          <p:nvPr/>
        </p:nvSpPr>
        <p:spPr bwMode="auto">
          <a:xfrm>
            <a:off x="5752506" y="6110288"/>
            <a:ext cx="86478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answer</a:t>
            </a:r>
          </a:p>
        </p:txBody>
      </p:sp>
      <p:sp>
        <p:nvSpPr>
          <p:cNvPr id="52257" name="Text Box 11"/>
          <p:cNvSpPr txBox="1">
            <a:spLocks noChangeArrowheads="1"/>
          </p:cNvSpPr>
          <p:nvPr/>
        </p:nvSpPr>
        <p:spPr bwMode="auto">
          <a:xfrm>
            <a:off x="6500813" y="4110038"/>
            <a:ext cx="9937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Antwort</a:t>
            </a:r>
          </a:p>
        </p:txBody>
      </p:sp>
      <p:sp>
        <p:nvSpPr>
          <p:cNvPr id="52258" name="Text Box 4"/>
          <p:cNvSpPr txBox="1">
            <a:spLocks noChangeArrowheads="1"/>
          </p:cNvSpPr>
          <p:nvPr/>
        </p:nvSpPr>
        <p:spPr bwMode="auto">
          <a:xfrm>
            <a:off x="3352800" y="2667000"/>
            <a:ext cx="5114925" cy="646113"/>
          </a:xfrm>
          <a:prstGeom prst="rect">
            <a:avLst/>
          </a:prstGeom>
          <a:solidFill>
            <a:schemeClr val="bg1"/>
          </a:solidFill>
          <a:ln w="38100">
            <a:solidFill>
              <a:schemeClr val="accent2"/>
            </a:solidFill>
            <a:miter lim="800000"/>
            <a:headEnd/>
            <a:tailEnd/>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 diese Frage           to this question          1.0</a:t>
            </a:r>
          </a:p>
          <a:p>
            <a:pPr algn="dist" eaLnBrk="1" hangingPunct="1"/>
            <a:endParaRPr lang="en-US" altLang="en-US">
              <a:latin typeface="+mn-lt"/>
            </a:endParaRPr>
          </a:p>
        </p:txBody>
      </p:sp>
    </p:spTree>
    <p:extLst>
      <p:ext uri="{BB962C8B-B14F-4D97-AF65-F5344CB8AC3E}">
        <p14:creationId xmlns:p14="http://schemas.microsoft.com/office/powerpoint/2010/main" val="2886474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76200"/>
            <a:ext cx="8229600" cy="639763"/>
          </a:xfrm>
        </p:spPr>
        <p:txBody>
          <a:bodyPr/>
          <a:lstStyle/>
          <a:p>
            <a:pPr eaLnBrk="1" hangingPunct="1"/>
            <a:r>
              <a:rPr lang="en-US" altLang="en-US" sz="3200" dirty="0">
                <a:latin typeface="+mn-lt"/>
              </a:rPr>
              <a:t>Phrase-Based Translation</a:t>
            </a:r>
          </a:p>
        </p:txBody>
      </p:sp>
      <p:sp>
        <p:nvSpPr>
          <p:cNvPr id="53251" name="Text Box 13"/>
          <p:cNvSpPr txBox="1">
            <a:spLocks noChangeArrowheads="1"/>
          </p:cNvSpPr>
          <p:nvPr/>
        </p:nvSpPr>
        <p:spPr bwMode="auto">
          <a:xfrm>
            <a:off x="704850" y="6110288"/>
            <a:ext cx="247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a:t>
            </a:r>
          </a:p>
        </p:txBody>
      </p:sp>
      <p:sp>
        <p:nvSpPr>
          <p:cNvPr id="53252" name="Text Box 14"/>
          <p:cNvSpPr txBox="1">
            <a:spLocks noChangeArrowheads="1"/>
          </p:cNvSpPr>
          <p:nvPr/>
        </p:nvSpPr>
        <p:spPr bwMode="auto">
          <a:xfrm>
            <a:off x="1108764" y="6110288"/>
            <a:ext cx="4812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did</a:t>
            </a:r>
          </a:p>
        </p:txBody>
      </p:sp>
      <p:sp>
        <p:nvSpPr>
          <p:cNvPr id="53253" name="Text Box 15"/>
          <p:cNvSpPr txBox="1">
            <a:spLocks noChangeArrowheads="1"/>
          </p:cNvSpPr>
          <p:nvPr/>
        </p:nvSpPr>
        <p:spPr bwMode="auto">
          <a:xfrm>
            <a:off x="1746250" y="6110288"/>
            <a:ext cx="501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not</a:t>
            </a:r>
          </a:p>
        </p:txBody>
      </p:sp>
      <p:sp>
        <p:nvSpPr>
          <p:cNvPr id="53254" name="Text Box 16"/>
          <p:cNvSpPr txBox="1">
            <a:spLocks noChangeArrowheads="1"/>
          </p:cNvSpPr>
          <p:nvPr/>
        </p:nvSpPr>
        <p:spPr bwMode="auto">
          <a:xfrm>
            <a:off x="2418680" y="6110288"/>
            <a:ext cx="14713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unfortunately</a:t>
            </a:r>
          </a:p>
        </p:txBody>
      </p:sp>
      <p:sp>
        <p:nvSpPr>
          <p:cNvPr id="53255" name="Text Box 17"/>
          <p:cNvSpPr txBox="1">
            <a:spLocks noChangeArrowheads="1"/>
          </p:cNvSpPr>
          <p:nvPr/>
        </p:nvSpPr>
        <p:spPr bwMode="auto">
          <a:xfrm>
            <a:off x="4089175" y="6110288"/>
            <a:ext cx="86087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receive</a:t>
            </a:r>
          </a:p>
        </p:txBody>
      </p:sp>
      <p:sp>
        <p:nvSpPr>
          <p:cNvPr id="53256" name="Rectangle 3"/>
          <p:cNvSpPr>
            <a:spLocks noChangeArrowheads="1"/>
          </p:cNvSpPr>
          <p:nvPr/>
        </p:nvSpPr>
        <p:spPr bwMode="auto">
          <a:xfrm>
            <a:off x="304800" y="685800"/>
            <a:ext cx="8686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Char char="•"/>
            </a:pPr>
            <a:r>
              <a:rPr lang="en-US" altLang="en-US" sz="2400">
                <a:latin typeface="+mn-lt"/>
              </a:rPr>
              <a:t>Relies on a </a:t>
            </a:r>
            <a:r>
              <a:rPr lang="en-US" altLang="en-US" sz="2400" b="1">
                <a:latin typeface="+mn-lt"/>
              </a:rPr>
              <a:t>phrase table</a:t>
            </a:r>
          </a:p>
          <a:p>
            <a:pPr lvl="1" eaLnBrk="1" hangingPunct="1">
              <a:spcBef>
                <a:spcPct val="20000"/>
              </a:spcBef>
              <a:buFontTx/>
              <a:buChar char="–"/>
            </a:pPr>
            <a:r>
              <a:rPr lang="en-US" altLang="en-US" sz="2000">
                <a:latin typeface="+mn-lt"/>
              </a:rPr>
              <a:t>massive bilingual phrase dictionary, with probabilities</a:t>
            </a:r>
            <a:endParaRPr lang="en-US" altLang="en-US" sz="2000" b="1">
              <a:latin typeface="+mn-lt"/>
            </a:endParaRPr>
          </a:p>
          <a:p>
            <a:pPr eaLnBrk="1" hangingPunct="1">
              <a:spcBef>
                <a:spcPct val="20000"/>
              </a:spcBef>
              <a:buFontTx/>
              <a:buChar char="•"/>
            </a:pPr>
            <a:r>
              <a:rPr lang="en-US" altLang="en-US" sz="2400">
                <a:latin typeface="+mn-lt"/>
              </a:rPr>
              <a:t>To build:</a:t>
            </a:r>
          </a:p>
          <a:p>
            <a:pPr lvl="1" eaLnBrk="1" hangingPunct="1">
              <a:spcBef>
                <a:spcPct val="20000"/>
              </a:spcBef>
              <a:buFontTx/>
              <a:buChar char="–"/>
            </a:pPr>
            <a:r>
              <a:rPr lang="en-US" altLang="en-US" sz="2000">
                <a:solidFill>
                  <a:schemeClr val="bg2"/>
                </a:solidFill>
                <a:latin typeface="+mn-lt"/>
              </a:rPr>
              <a:t>Find the best word alignment for each sentence pair</a:t>
            </a:r>
          </a:p>
          <a:p>
            <a:pPr lvl="1" eaLnBrk="1" hangingPunct="1">
              <a:spcBef>
                <a:spcPct val="20000"/>
              </a:spcBef>
              <a:buFontTx/>
              <a:buChar char="–"/>
            </a:pPr>
            <a:r>
              <a:rPr lang="en-US" altLang="en-US" sz="2000">
                <a:latin typeface="+mn-lt"/>
              </a:rPr>
              <a:t>Extract all phrase pairs </a:t>
            </a:r>
            <a:r>
              <a:rPr lang="en-US" altLang="en-US" sz="2000" b="1">
                <a:latin typeface="+mn-lt"/>
              </a:rPr>
              <a:t>consistent</a:t>
            </a:r>
            <a:r>
              <a:rPr lang="en-US" altLang="en-US" sz="2000">
                <a:latin typeface="+mn-lt"/>
              </a:rPr>
              <a:t> with the word alignment</a:t>
            </a:r>
          </a:p>
          <a:p>
            <a:pPr lvl="1" eaLnBrk="1" hangingPunct="1">
              <a:spcBef>
                <a:spcPct val="20000"/>
              </a:spcBef>
              <a:buFontTx/>
              <a:buChar char="–"/>
            </a:pPr>
            <a:r>
              <a:rPr lang="en-US" altLang="en-US" sz="2000">
                <a:solidFill>
                  <a:schemeClr val="bg2"/>
                </a:solidFill>
                <a:latin typeface="+mn-lt"/>
              </a:rPr>
              <a:t>Compute probabilities using relative frequency estimation</a:t>
            </a:r>
          </a:p>
        </p:txBody>
      </p:sp>
      <p:cxnSp>
        <p:nvCxnSpPr>
          <p:cNvPr id="53257" name="AutoShape 33"/>
          <p:cNvCxnSpPr>
            <a:cxnSpLocks noChangeShapeType="1"/>
          </p:cNvCxnSpPr>
          <p:nvPr/>
        </p:nvCxnSpPr>
        <p:spPr bwMode="auto">
          <a:xfrm>
            <a:off x="2676525" y="4476750"/>
            <a:ext cx="5791200" cy="161448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58" name="AutoShape 34"/>
          <p:cNvCxnSpPr>
            <a:cxnSpLocks noChangeShapeType="1"/>
          </p:cNvCxnSpPr>
          <p:nvPr/>
        </p:nvCxnSpPr>
        <p:spPr bwMode="auto">
          <a:xfrm flipH="1">
            <a:off x="828675" y="4476750"/>
            <a:ext cx="34925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59" name="AutoShape 35"/>
          <p:cNvCxnSpPr>
            <a:cxnSpLocks noChangeShapeType="1"/>
          </p:cNvCxnSpPr>
          <p:nvPr/>
        </p:nvCxnSpPr>
        <p:spPr bwMode="auto">
          <a:xfrm flipH="1">
            <a:off x="3154363" y="4476750"/>
            <a:ext cx="1938337"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0" name="AutoShape 36"/>
          <p:cNvCxnSpPr>
            <a:cxnSpLocks noChangeShapeType="1"/>
          </p:cNvCxnSpPr>
          <p:nvPr/>
        </p:nvCxnSpPr>
        <p:spPr bwMode="auto">
          <a:xfrm flipH="1">
            <a:off x="1997075" y="4476750"/>
            <a:ext cx="399415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1" name="AutoShape 37"/>
          <p:cNvCxnSpPr>
            <a:cxnSpLocks noChangeShapeType="1"/>
          </p:cNvCxnSpPr>
          <p:nvPr/>
        </p:nvCxnSpPr>
        <p:spPr bwMode="auto">
          <a:xfrm flipH="1">
            <a:off x="4519613" y="4476750"/>
            <a:ext cx="3776662"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2" name="AutoShape 33"/>
          <p:cNvCxnSpPr>
            <a:cxnSpLocks noChangeShapeType="1"/>
          </p:cNvCxnSpPr>
          <p:nvPr/>
        </p:nvCxnSpPr>
        <p:spPr bwMode="auto">
          <a:xfrm>
            <a:off x="1758950" y="4476750"/>
            <a:ext cx="5837238"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3" name="AutoShape 33"/>
          <p:cNvCxnSpPr>
            <a:cxnSpLocks noChangeShapeType="1"/>
          </p:cNvCxnSpPr>
          <p:nvPr/>
        </p:nvCxnSpPr>
        <p:spPr bwMode="auto">
          <a:xfrm>
            <a:off x="968375" y="4476750"/>
            <a:ext cx="6018213"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4" name="AutoShape 34"/>
          <p:cNvCxnSpPr>
            <a:cxnSpLocks noChangeShapeType="1"/>
          </p:cNvCxnSpPr>
          <p:nvPr/>
        </p:nvCxnSpPr>
        <p:spPr bwMode="auto">
          <a:xfrm flipH="1">
            <a:off x="1349375" y="4476750"/>
            <a:ext cx="2225675"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cxnSp>
        <p:nvCxnSpPr>
          <p:cNvPr id="53265" name="AutoShape 36"/>
          <p:cNvCxnSpPr>
            <a:cxnSpLocks noChangeShapeType="1"/>
          </p:cNvCxnSpPr>
          <p:nvPr/>
        </p:nvCxnSpPr>
        <p:spPr bwMode="auto">
          <a:xfrm flipH="1">
            <a:off x="6184900" y="4476750"/>
            <a:ext cx="812800" cy="1633538"/>
          </a:xfrm>
          <a:prstGeom prst="straightConnector1">
            <a:avLst/>
          </a:prstGeom>
          <a:noFill/>
          <a:ln w="9525">
            <a:solidFill>
              <a:schemeClr val="accent2"/>
            </a:solidFill>
            <a:round/>
            <a:headEnd/>
            <a:tailEnd/>
          </a:ln>
          <a:extLst>
            <a:ext uri="{909E8E84-426E-40dd-AFC4-6F175D3DCCD1}">
              <a14:hiddenFill xmlns="" xmlns:a14="http://schemas.microsoft.com/office/drawing/2010/main">
                <a:noFill/>
              </a14:hiddenFill>
            </a:ext>
          </a:extLst>
        </p:spPr>
      </p:cxnSp>
      <p:sp>
        <p:nvSpPr>
          <p:cNvPr id="53266" name="Rectangle 23"/>
          <p:cNvSpPr>
            <a:spLocks noChangeArrowheads="1"/>
          </p:cNvSpPr>
          <p:nvPr/>
        </p:nvSpPr>
        <p:spPr bwMode="auto">
          <a:xfrm>
            <a:off x="685800" y="4114800"/>
            <a:ext cx="24384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3267" name="Text Box 4"/>
          <p:cNvSpPr txBox="1">
            <a:spLocks noChangeArrowheads="1"/>
          </p:cNvSpPr>
          <p:nvPr/>
        </p:nvSpPr>
        <p:spPr bwMode="auto">
          <a:xfrm>
            <a:off x="704850" y="4110038"/>
            <a:ext cx="5270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a:t>
            </a:r>
          </a:p>
        </p:txBody>
      </p:sp>
      <p:sp>
        <p:nvSpPr>
          <p:cNvPr id="53268" name="Text Box 5"/>
          <p:cNvSpPr txBox="1">
            <a:spLocks noChangeArrowheads="1"/>
          </p:cNvSpPr>
          <p:nvPr/>
        </p:nvSpPr>
        <p:spPr bwMode="auto">
          <a:xfrm>
            <a:off x="2326942" y="4110038"/>
            <a:ext cx="69916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Frage</a:t>
            </a:r>
          </a:p>
        </p:txBody>
      </p:sp>
      <p:sp>
        <p:nvSpPr>
          <p:cNvPr id="53269" name="Text Box 6"/>
          <p:cNvSpPr txBox="1">
            <a:spLocks noChangeArrowheads="1"/>
          </p:cNvSpPr>
          <p:nvPr/>
        </p:nvSpPr>
        <p:spPr bwMode="auto">
          <a:xfrm>
            <a:off x="1418954" y="4110038"/>
            <a:ext cx="67999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diese</a:t>
            </a:r>
          </a:p>
        </p:txBody>
      </p:sp>
      <p:sp>
        <p:nvSpPr>
          <p:cNvPr id="53270" name="Text Box 7"/>
          <p:cNvSpPr txBox="1">
            <a:spLocks noChangeArrowheads="1"/>
          </p:cNvSpPr>
          <p:nvPr/>
        </p:nvSpPr>
        <p:spPr bwMode="auto">
          <a:xfrm>
            <a:off x="7673156" y="4110038"/>
            <a:ext cx="124623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bekommen</a:t>
            </a:r>
          </a:p>
        </p:txBody>
      </p:sp>
      <p:sp>
        <p:nvSpPr>
          <p:cNvPr id="53271" name="Text Box 8"/>
          <p:cNvSpPr txBox="1">
            <a:spLocks noChangeArrowheads="1"/>
          </p:cNvSpPr>
          <p:nvPr/>
        </p:nvSpPr>
        <p:spPr bwMode="auto">
          <a:xfrm>
            <a:off x="4092587" y="4110038"/>
            <a:ext cx="45717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ich</a:t>
            </a:r>
          </a:p>
        </p:txBody>
      </p:sp>
      <p:sp>
        <p:nvSpPr>
          <p:cNvPr id="53272" name="Text Box 9"/>
          <p:cNvSpPr txBox="1">
            <a:spLocks noChangeArrowheads="1"/>
          </p:cNvSpPr>
          <p:nvPr/>
        </p:nvSpPr>
        <p:spPr bwMode="auto">
          <a:xfrm>
            <a:off x="3247878" y="4110038"/>
            <a:ext cx="65434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habe</a:t>
            </a:r>
          </a:p>
        </p:txBody>
      </p:sp>
      <p:sp>
        <p:nvSpPr>
          <p:cNvPr id="53273" name="Text Box 10"/>
          <p:cNvSpPr txBox="1">
            <a:spLocks noChangeArrowheads="1"/>
          </p:cNvSpPr>
          <p:nvPr/>
        </p:nvSpPr>
        <p:spPr bwMode="auto">
          <a:xfrm>
            <a:off x="4721225" y="4110038"/>
            <a:ext cx="7429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leider</a:t>
            </a:r>
          </a:p>
        </p:txBody>
      </p:sp>
      <p:sp>
        <p:nvSpPr>
          <p:cNvPr id="53274" name="Text Box 12"/>
          <p:cNvSpPr txBox="1">
            <a:spLocks noChangeArrowheads="1"/>
          </p:cNvSpPr>
          <p:nvPr/>
        </p:nvSpPr>
        <p:spPr bwMode="auto">
          <a:xfrm>
            <a:off x="5647702" y="4110038"/>
            <a:ext cx="68704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keine</a:t>
            </a:r>
          </a:p>
        </p:txBody>
      </p:sp>
      <p:sp>
        <p:nvSpPr>
          <p:cNvPr id="53275" name="Rectangle 23"/>
          <p:cNvSpPr>
            <a:spLocks noChangeArrowheads="1"/>
          </p:cNvSpPr>
          <p:nvPr/>
        </p:nvSpPr>
        <p:spPr bwMode="auto">
          <a:xfrm>
            <a:off x="6705600" y="6096000"/>
            <a:ext cx="22860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3276" name="Text Box 20"/>
          <p:cNvSpPr txBox="1">
            <a:spLocks noChangeArrowheads="1"/>
          </p:cNvSpPr>
          <p:nvPr/>
        </p:nvSpPr>
        <p:spPr bwMode="auto">
          <a:xfrm>
            <a:off x="6792913" y="6110288"/>
            <a:ext cx="3873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to</a:t>
            </a:r>
          </a:p>
        </p:txBody>
      </p:sp>
      <p:sp>
        <p:nvSpPr>
          <p:cNvPr id="53277" name="Text Box 21"/>
          <p:cNvSpPr txBox="1">
            <a:spLocks noChangeArrowheads="1"/>
          </p:cNvSpPr>
          <p:nvPr/>
        </p:nvSpPr>
        <p:spPr bwMode="auto">
          <a:xfrm>
            <a:off x="7333135" y="6110288"/>
            <a:ext cx="52610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this</a:t>
            </a:r>
          </a:p>
        </p:txBody>
      </p:sp>
      <p:sp>
        <p:nvSpPr>
          <p:cNvPr id="53278" name="Text Box 22"/>
          <p:cNvSpPr txBox="1">
            <a:spLocks noChangeArrowheads="1"/>
          </p:cNvSpPr>
          <p:nvPr/>
        </p:nvSpPr>
        <p:spPr bwMode="auto">
          <a:xfrm>
            <a:off x="7965504" y="6091238"/>
            <a:ext cx="10044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question</a:t>
            </a:r>
          </a:p>
        </p:txBody>
      </p:sp>
      <p:sp>
        <p:nvSpPr>
          <p:cNvPr id="53279" name="Rectangle 23"/>
          <p:cNvSpPr>
            <a:spLocks noChangeArrowheads="1"/>
          </p:cNvSpPr>
          <p:nvPr/>
        </p:nvSpPr>
        <p:spPr bwMode="auto">
          <a:xfrm>
            <a:off x="5105400" y="6096000"/>
            <a:ext cx="15240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3280" name="Rectangle 23"/>
          <p:cNvSpPr>
            <a:spLocks noChangeArrowheads="1"/>
          </p:cNvSpPr>
          <p:nvPr/>
        </p:nvSpPr>
        <p:spPr bwMode="auto">
          <a:xfrm>
            <a:off x="6477000" y="4114800"/>
            <a:ext cx="10668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3281" name="Text Box 18"/>
          <p:cNvSpPr txBox="1">
            <a:spLocks noChangeArrowheads="1"/>
          </p:cNvSpPr>
          <p:nvPr/>
        </p:nvSpPr>
        <p:spPr bwMode="auto">
          <a:xfrm>
            <a:off x="5144500" y="6110288"/>
            <a:ext cx="4171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a:t>
            </a:r>
          </a:p>
        </p:txBody>
      </p:sp>
      <p:sp>
        <p:nvSpPr>
          <p:cNvPr id="53282" name="Rectangle 23"/>
          <p:cNvSpPr>
            <a:spLocks noChangeArrowheads="1"/>
          </p:cNvSpPr>
          <p:nvPr/>
        </p:nvSpPr>
        <p:spPr bwMode="auto">
          <a:xfrm>
            <a:off x="5638800" y="6172200"/>
            <a:ext cx="1066800" cy="381000"/>
          </a:xfrm>
          <a:prstGeom prst="rect">
            <a:avLst/>
          </a:prstGeom>
          <a:solidFill>
            <a:schemeClr val="bg1"/>
          </a:solidFill>
          <a:ln w="38100">
            <a:solidFill>
              <a:schemeClr val="accent2"/>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sp>
        <p:nvSpPr>
          <p:cNvPr id="53283" name="Text Box 19"/>
          <p:cNvSpPr txBox="1">
            <a:spLocks noChangeArrowheads="1"/>
          </p:cNvSpPr>
          <p:nvPr/>
        </p:nvSpPr>
        <p:spPr bwMode="auto">
          <a:xfrm>
            <a:off x="5752506" y="6110288"/>
            <a:ext cx="86478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answer</a:t>
            </a:r>
          </a:p>
        </p:txBody>
      </p:sp>
      <p:sp>
        <p:nvSpPr>
          <p:cNvPr id="53284" name="Text Box 11"/>
          <p:cNvSpPr txBox="1">
            <a:spLocks noChangeArrowheads="1"/>
          </p:cNvSpPr>
          <p:nvPr/>
        </p:nvSpPr>
        <p:spPr bwMode="auto">
          <a:xfrm>
            <a:off x="6500813" y="4110038"/>
            <a:ext cx="9937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Antwort</a:t>
            </a:r>
          </a:p>
        </p:txBody>
      </p:sp>
      <p:sp>
        <p:nvSpPr>
          <p:cNvPr id="53285" name="Text Box 4"/>
          <p:cNvSpPr txBox="1">
            <a:spLocks noChangeArrowheads="1"/>
          </p:cNvSpPr>
          <p:nvPr/>
        </p:nvSpPr>
        <p:spPr bwMode="auto">
          <a:xfrm>
            <a:off x="3352800" y="2667000"/>
            <a:ext cx="5114925" cy="1200150"/>
          </a:xfrm>
          <a:prstGeom prst="rect">
            <a:avLst/>
          </a:prstGeom>
          <a:solidFill>
            <a:schemeClr val="bg1"/>
          </a:solidFill>
          <a:ln w="38100">
            <a:solidFill>
              <a:schemeClr val="accent2"/>
            </a:solidFill>
            <a:miter lim="800000"/>
            <a:headEnd/>
            <a:tailEnd/>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dist" eaLnBrk="1" hangingPunct="1"/>
            <a:r>
              <a:rPr lang="en-US" altLang="en-US">
                <a:latin typeface="+mn-lt"/>
              </a:rPr>
              <a:t>Auf diese Frage           to this question          1.0</a:t>
            </a:r>
          </a:p>
          <a:p>
            <a:pPr algn="dist" eaLnBrk="1" hangingPunct="1"/>
            <a:r>
              <a:rPr lang="en-US" altLang="en-US">
                <a:latin typeface="+mn-lt"/>
              </a:rPr>
              <a:t>Antwort                      an answer                  1.0</a:t>
            </a:r>
          </a:p>
          <a:p>
            <a:pPr algn="dist" eaLnBrk="1" hangingPunct="1"/>
            <a:r>
              <a:rPr lang="en-US" altLang="en-US">
                <a:latin typeface="+mn-lt"/>
              </a:rPr>
              <a:t>Antwort                       answer                       1.0</a:t>
            </a:r>
          </a:p>
          <a:p>
            <a:pPr algn="dist" eaLnBrk="1" hangingPunct="1"/>
            <a:r>
              <a:rPr lang="en-US" altLang="en-US">
                <a:latin typeface="+mn-lt"/>
              </a:rPr>
              <a:t>…</a:t>
            </a:r>
          </a:p>
        </p:txBody>
      </p:sp>
    </p:spTree>
    <p:extLst>
      <p:ext uri="{BB962C8B-B14F-4D97-AF65-F5344CB8AC3E}">
        <p14:creationId xmlns:p14="http://schemas.microsoft.com/office/powerpoint/2010/main" val="12885202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76200"/>
            <a:ext cx="8229600" cy="639763"/>
          </a:xfrm>
        </p:spPr>
        <p:txBody>
          <a:bodyPr/>
          <a:lstStyle/>
          <a:p>
            <a:pPr eaLnBrk="1" hangingPunct="1"/>
            <a:r>
              <a:rPr lang="en-US" altLang="en-US" sz="3200">
                <a:latin typeface="+mn-lt"/>
              </a:rPr>
              <a:t>Phrase-Based Translation</a:t>
            </a:r>
          </a:p>
        </p:txBody>
      </p:sp>
      <p:sp>
        <p:nvSpPr>
          <p:cNvPr id="54275" name="Rectangle 3"/>
          <p:cNvSpPr>
            <a:spLocks noChangeArrowheads="1"/>
          </p:cNvSpPr>
          <p:nvPr/>
        </p:nvSpPr>
        <p:spPr bwMode="auto">
          <a:xfrm>
            <a:off x="304800" y="685800"/>
            <a:ext cx="8686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FontTx/>
              <a:buChar char="•"/>
            </a:pPr>
            <a:r>
              <a:rPr lang="en-US" altLang="en-US" sz="2400">
                <a:latin typeface="+mn-lt"/>
              </a:rPr>
              <a:t>Relies on a </a:t>
            </a:r>
            <a:r>
              <a:rPr lang="en-US" altLang="en-US" sz="2400" b="1">
                <a:latin typeface="+mn-lt"/>
              </a:rPr>
              <a:t>phrase table</a:t>
            </a:r>
          </a:p>
          <a:p>
            <a:pPr lvl="1" eaLnBrk="1" hangingPunct="1">
              <a:spcBef>
                <a:spcPct val="20000"/>
              </a:spcBef>
              <a:buFontTx/>
              <a:buChar char="–"/>
            </a:pPr>
            <a:r>
              <a:rPr lang="en-US" altLang="en-US" sz="2000">
                <a:latin typeface="+mn-lt"/>
              </a:rPr>
              <a:t>massive bilingual phrase dictionary, with probabilities</a:t>
            </a:r>
            <a:endParaRPr lang="en-US" altLang="en-US" sz="2000" b="1">
              <a:latin typeface="+mn-lt"/>
            </a:endParaRPr>
          </a:p>
          <a:p>
            <a:pPr eaLnBrk="1" hangingPunct="1">
              <a:spcBef>
                <a:spcPct val="20000"/>
              </a:spcBef>
              <a:buFontTx/>
              <a:buChar char="•"/>
            </a:pPr>
            <a:r>
              <a:rPr lang="en-US" altLang="en-US" sz="2400">
                <a:latin typeface="+mn-lt"/>
              </a:rPr>
              <a:t>To build:</a:t>
            </a:r>
          </a:p>
          <a:p>
            <a:pPr lvl="1" eaLnBrk="1" hangingPunct="1">
              <a:spcBef>
                <a:spcPct val="20000"/>
              </a:spcBef>
              <a:buFontTx/>
              <a:buChar char="–"/>
            </a:pPr>
            <a:r>
              <a:rPr lang="en-US" altLang="en-US" sz="2000">
                <a:solidFill>
                  <a:schemeClr val="bg2"/>
                </a:solidFill>
                <a:latin typeface="+mn-lt"/>
              </a:rPr>
              <a:t>Find the best word alignment for each sentence pair</a:t>
            </a:r>
          </a:p>
          <a:p>
            <a:pPr lvl="1" eaLnBrk="1" hangingPunct="1">
              <a:spcBef>
                <a:spcPct val="20000"/>
              </a:spcBef>
              <a:buFontTx/>
              <a:buChar char="–"/>
            </a:pPr>
            <a:r>
              <a:rPr lang="en-US" altLang="en-US" sz="2000">
                <a:solidFill>
                  <a:schemeClr val="bg2"/>
                </a:solidFill>
                <a:latin typeface="+mn-lt"/>
              </a:rPr>
              <a:t>Extract all phrase pairs </a:t>
            </a:r>
            <a:r>
              <a:rPr lang="en-US" altLang="en-US" sz="2000" b="1">
                <a:solidFill>
                  <a:schemeClr val="bg2"/>
                </a:solidFill>
                <a:latin typeface="+mn-lt"/>
              </a:rPr>
              <a:t>consistent</a:t>
            </a:r>
            <a:r>
              <a:rPr lang="en-US" altLang="en-US" sz="2000">
                <a:solidFill>
                  <a:schemeClr val="bg2"/>
                </a:solidFill>
                <a:latin typeface="+mn-lt"/>
              </a:rPr>
              <a:t> with the word alignment</a:t>
            </a:r>
          </a:p>
          <a:p>
            <a:pPr lvl="1" eaLnBrk="1" hangingPunct="1">
              <a:spcBef>
                <a:spcPct val="20000"/>
              </a:spcBef>
              <a:buFontTx/>
              <a:buChar char="–"/>
            </a:pPr>
            <a:r>
              <a:rPr lang="en-US" altLang="en-US" sz="2000">
                <a:latin typeface="+mn-lt"/>
              </a:rPr>
              <a:t>Compute probabilities using relative frequency estimation:</a:t>
            </a:r>
          </a:p>
        </p:txBody>
      </p:sp>
      <p:pic>
        <p:nvPicPr>
          <p:cNvPr id="54276"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048000"/>
            <a:ext cx="3303588" cy="747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54277" name="AutoShape 42"/>
          <p:cNvSpPr>
            <a:spLocks noChangeArrowheads="1"/>
          </p:cNvSpPr>
          <p:nvPr/>
        </p:nvSpPr>
        <p:spPr bwMode="auto">
          <a:xfrm>
            <a:off x="4267200" y="4648200"/>
            <a:ext cx="609600" cy="381000"/>
          </a:xfrm>
          <a:prstGeom prst="rightArrow">
            <a:avLst>
              <a:gd name="adj1" fmla="val 50000"/>
              <a:gd name="adj2" fmla="val 72222"/>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latin typeface="+mn-lt"/>
            </a:endParaRPr>
          </a:p>
        </p:txBody>
      </p:sp>
      <p:graphicFrame>
        <p:nvGraphicFramePr>
          <p:cNvPr id="193747" name="Group 211"/>
          <p:cNvGraphicFramePr>
            <a:graphicFrameLocks noGrp="1"/>
          </p:cNvGraphicFramePr>
          <p:nvPr>
            <p:extLst>
              <p:ext uri="{D42A27DB-BD31-4B8C-83A1-F6EECF244321}">
                <p14:modId xmlns:p14="http://schemas.microsoft.com/office/powerpoint/2010/main" val="1612969199"/>
              </p:ext>
            </p:extLst>
          </p:nvPr>
        </p:nvGraphicFramePr>
        <p:xfrm>
          <a:off x="152400" y="3962400"/>
          <a:ext cx="3962400" cy="1828800"/>
        </p:xfrm>
        <a:graphic>
          <a:graphicData uri="http://schemas.openxmlformats.org/drawingml/2006/table">
            <a:tbl>
              <a:tblPr/>
              <a:tblGrid>
                <a:gridCol w="1600200"/>
                <a:gridCol w="1570038"/>
                <a:gridCol w="792162"/>
              </a:tblGrid>
              <a:tr h="27305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Narrow" charset="0"/>
                        </a:rPr>
                        <a:t>German</a:t>
                      </a:r>
                    </a:p>
                  </a:txBody>
                  <a:tcPr horzOverflow="overflow">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Narrow" charset="0"/>
                        </a:rPr>
                        <a:t>English</a:t>
                      </a:r>
                    </a:p>
                  </a:txBody>
                  <a:tcPr horzOverflow="overflow">
                    <a:lnL>
                      <a:noFill/>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Narrow" charset="0"/>
                        </a:rPr>
                        <a:t>Count</a:t>
                      </a:r>
                    </a:p>
                  </a:txBody>
                  <a:tcPr horzOverflow="overflow">
                    <a:lnL>
                      <a:noFill/>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Auf diese Frage</a:t>
                      </a:r>
                    </a:p>
                  </a:txBody>
                  <a:tcPr horzOverflow="overflow">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to this question</a:t>
                      </a:r>
                    </a:p>
                  </a:txBody>
                  <a:tcPr horzOverflow="overflow">
                    <a:lnL>
                      <a:noFill/>
                    </a:lnL>
                    <a:lnR>
                      <a:noFill/>
                    </a:lnR>
                    <a:lnT w="38100" cap="flat" cmpd="sng" algn="ctr">
                      <a:solidFill>
                        <a:schemeClr val="accent2"/>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1.0</a:t>
                      </a:r>
                    </a:p>
                  </a:txBody>
                  <a:tcPr horzOverflow="overflow">
                    <a:lnL>
                      <a:noFill/>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a:noFill/>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Antwort</a:t>
                      </a:r>
                    </a:p>
                  </a:txBody>
                  <a:tcPr horzOverflow="overflow">
                    <a:lnL w="38100" cap="flat" cmpd="sng" algn="ctr">
                      <a:solidFill>
                        <a:schemeClr val="accent2"/>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 answer</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1.0</a:t>
                      </a:r>
                    </a:p>
                  </a:txBody>
                  <a:tcPr horzOverflow="overflow">
                    <a:lnL>
                      <a:noFill/>
                    </a:lnL>
                    <a:lnR w="38100" cap="flat" cmpd="sng" algn="ctr">
                      <a:solidFill>
                        <a:schemeClr val="accent2"/>
                      </a:solidFill>
                      <a:prstDash val="solid"/>
                      <a:round/>
                      <a:headEnd type="none" w="med" len="med"/>
                      <a:tailEnd type="none" w="med" len="med"/>
                    </a:lnR>
                    <a:lnT>
                      <a:noFill/>
                    </a:lnT>
                    <a:lnB>
                      <a:noFill/>
                    </a:lnB>
                    <a:lnTlToBr>
                      <a:noFill/>
                    </a:lnTlToBr>
                    <a:lnBlToTr>
                      <a:noFill/>
                    </a:lnBlToTr>
                    <a:solidFill>
                      <a:srgbClr val="FFFF66"/>
                    </a:solidFill>
                  </a:tcPr>
                </a:tc>
              </a:tr>
              <a:tr h="319088">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Antwort</a:t>
                      </a:r>
                    </a:p>
                  </a:txBody>
                  <a:tcPr horzOverflow="overflow">
                    <a:lnL w="38100" cap="flat" cmpd="sng" algn="ctr">
                      <a:solidFill>
                        <a:schemeClr val="accent2"/>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answer</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1.0</a:t>
                      </a:r>
                    </a:p>
                  </a:txBody>
                  <a:tcPr horzOverflow="overflow">
                    <a:lnL>
                      <a:noFill/>
                    </a:lnL>
                    <a:lnR w="38100" cap="flat" cmpd="sng" algn="ctr">
                      <a:solidFill>
                        <a:schemeClr val="accent2"/>
                      </a:solidFill>
                      <a:prstDash val="solid"/>
                      <a:round/>
                      <a:headEnd type="none" w="med" len="med"/>
                      <a:tailEnd type="none" w="med" len="med"/>
                    </a:lnR>
                    <a:lnT>
                      <a:noFill/>
                    </a:lnT>
                    <a:lnB>
                      <a:noFill/>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t>
                      </a:r>
                    </a:p>
                  </a:txBody>
                  <a:tcPr horzOverflow="overflow">
                    <a:lnL w="38100" cap="flat" cmpd="sng" algn="ctr">
                      <a:solidFill>
                        <a:schemeClr val="accent2"/>
                      </a:solidFill>
                      <a:prstDash val="solid"/>
                      <a:round/>
                      <a:headEnd type="none" w="med" len="med"/>
                      <a:tailEnd type="none" w="med" len="med"/>
                    </a:lnL>
                    <a:lnR>
                      <a:noFill/>
                    </a:lnR>
                    <a:lnT>
                      <a:noFill/>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Narrow" charset="0"/>
                      </a:endParaRPr>
                    </a:p>
                  </a:txBody>
                  <a:tcPr horzOverflow="overflow">
                    <a:lnL>
                      <a:noFill/>
                    </a:lnL>
                    <a:lnR>
                      <a:noFill/>
                    </a:lnR>
                    <a:lnT>
                      <a:noFill/>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Narrow" charset="0"/>
                      </a:endParaRPr>
                    </a:p>
                  </a:txBody>
                  <a:tcPr horzOverflow="overflow">
                    <a:lnL>
                      <a:noFill/>
                    </a:lnL>
                    <a:lnR w="38100" cap="flat" cmpd="sng" algn="ctr">
                      <a:solidFill>
                        <a:schemeClr val="accent2"/>
                      </a:solidFill>
                      <a:prstDash val="solid"/>
                      <a:round/>
                      <a:headEnd type="none" w="med" len="med"/>
                      <a:tailEnd type="none" w="med" len="med"/>
                    </a:lnR>
                    <a:lnT>
                      <a:noFill/>
                    </a:lnT>
                    <a:lnB w="38100" cap="flat" cmpd="sng" algn="ctr">
                      <a:solidFill>
                        <a:schemeClr val="accent2"/>
                      </a:solidFill>
                      <a:prstDash val="solid"/>
                      <a:round/>
                      <a:headEnd type="none" w="med" len="med"/>
                      <a:tailEnd type="none" w="med" len="med"/>
                    </a:lnB>
                    <a:lnTlToBr>
                      <a:noFill/>
                    </a:lnTlToBr>
                    <a:lnBlToTr>
                      <a:noFill/>
                    </a:lnBlToTr>
                    <a:solidFill>
                      <a:srgbClr val="FFFF66"/>
                    </a:solidFill>
                  </a:tcPr>
                </a:tc>
              </a:tr>
            </a:tbl>
          </a:graphicData>
        </a:graphic>
      </p:graphicFrame>
      <p:graphicFrame>
        <p:nvGraphicFramePr>
          <p:cNvPr id="193748" name="Group 212"/>
          <p:cNvGraphicFramePr>
            <a:graphicFrameLocks noGrp="1"/>
          </p:cNvGraphicFramePr>
          <p:nvPr>
            <p:extLst>
              <p:ext uri="{D42A27DB-BD31-4B8C-83A1-F6EECF244321}">
                <p14:modId xmlns:p14="http://schemas.microsoft.com/office/powerpoint/2010/main" val="1487251512"/>
              </p:ext>
            </p:extLst>
          </p:nvPr>
        </p:nvGraphicFramePr>
        <p:xfrm>
          <a:off x="4953000" y="3962400"/>
          <a:ext cx="3962400" cy="1828800"/>
        </p:xfrm>
        <a:graphic>
          <a:graphicData uri="http://schemas.openxmlformats.org/drawingml/2006/table">
            <a:tbl>
              <a:tblPr/>
              <a:tblGrid>
                <a:gridCol w="1600200"/>
                <a:gridCol w="1524000"/>
                <a:gridCol w="838200"/>
              </a:tblGrid>
              <a:tr h="27305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Narrow" charset="0"/>
                        </a:rPr>
                        <a:t>German</a:t>
                      </a:r>
                    </a:p>
                  </a:txBody>
                  <a:tcPr horzOverflow="overflow">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Narrow" charset="0"/>
                        </a:rPr>
                        <a:t>English</a:t>
                      </a:r>
                    </a:p>
                  </a:txBody>
                  <a:tcPr horzOverflow="overflow">
                    <a:lnL>
                      <a:noFill/>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Narrow" charset="0"/>
                        </a:rPr>
                        <a:t>P(</a:t>
                      </a:r>
                      <a:r>
                        <a:rPr kumimoji="0" lang="en-US" altLang="en-US" sz="1000" b="1" i="0" u="none" strike="noStrike" cap="none" normalizeH="0" baseline="0">
                          <a:ln>
                            <a:noFill/>
                          </a:ln>
                          <a:solidFill>
                            <a:schemeClr val="tx1"/>
                          </a:solidFill>
                          <a:effectLst/>
                          <a:latin typeface="Arial Narrow" charset="0"/>
                        </a:rPr>
                        <a:t> </a:t>
                      </a:r>
                      <a:r>
                        <a:rPr kumimoji="0" lang="en-US" altLang="en-US" sz="1800" b="1" i="0" u="none" strike="noStrike" cap="none" normalizeH="0" baseline="0">
                          <a:ln>
                            <a:noFill/>
                          </a:ln>
                          <a:solidFill>
                            <a:schemeClr val="tx1"/>
                          </a:solidFill>
                          <a:effectLst/>
                          <a:latin typeface="Arial Narrow" charset="0"/>
                        </a:rPr>
                        <a:t>e | f )</a:t>
                      </a:r>
                    </a:p>
                  </a:txBody>
                  <a:tcPr horzOverflow="overflow">
                    <a:lnL>
                      <a:noFill/>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Auf diese Frage</a:t>
                      </a:r>
                    </a:p>
                  </a:txBody>
                  <a:tcPr horzOverflow="overflow">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to this question</a:t>
                      </a:r>
                    </a:p>
                  </a:txBody>
                  <a:tcPr horzOverflow="overflow">
                    <a:lnL>
                      <a:noFill/>
                    </a:lnL>
                    <a:lnR>
                      <a:noFill/>
                    </a:lnR>
                    <a:lnT w="38100" cap="flat" cmpd="sng" algn="ctr">
                      <a:solidFill>
                        <a:schemeClr val="accent2"/>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1.0</a:t>
                      </a:r>
                    </a:p>
                  </a:txBody>
                  <a:tcPr horzOverflow="overflow">
                    <a:lnL>
                      <a:noFill/>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a:noFill/>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Antwort</a:t>
                      </a:r>
                    </a:p>
                  </a:txBody>
                  <a:tcPr horzOverflow="overflow">
                    <a:lnL w="38100" cap="flat" cmpd="sng" algn="ctr">
                      <a:solidFill>
                        <a:schemeClr val="accent2"/>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 answer</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0.5</a:t>
                      </a:r>
                    </a:p>
                  </a:txBody>
                  <a:tcPr horzOverflow="overflow">
                    <a:lnL>
                      <a:noFill/>
                    </a:lnL>
                    <a:lnR w="38100" cap="flat" cmpd="sng" algn="ctr">
                      <a:solidFill>
                        <a:schemeClr val="accent2"/>
                      </a:solidFill>
                      <a:prstDash val="solid"/>
                      <a:round/>
                      <a:headEnd type="none" w="med" len="med"/>
                      <a:tailEnd type="none" w="med" len="med"/>
                    </a:lnR>
                    <a:lnT>
                      <a:noFill/>
                    </a:lnT>
                    <a:lnB>
                      <a:noFill/>
                    </a:lnB>
                    <a:lnTlToBr>
                      <a:noFill/>
                    </a:lnTlToBr>
                    <a:lnBlToTr>
                      <a:noFill/>
                    </a:lnBlToTr>
                    <a:solidFill>
                      <a:srgbClr val="FFFF66"/>
                    </a:solidFill>
                  </a:tcPr>
                </a:tc>
              </a:tr>
              <a:tr h="319088">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Antwort</a:t>
                      </a:r>
                    </a:p>
                  </a:txBody>
                  <a:tcPr horzOverflow="overflow">
                    <a:lnL w="38100" cap="flat" cmpd="sng" algn="ctr">
                      <a:solidFill>
                        <a:schemeClr val="accent2"/>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answer</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0.5</a:t>
                      </a:r>
                    </a:p>
                  </a:txBody>
                  <a:tcPr horzOverflow="overflow">
                    <a:lnL>
                      <a:noFill/>
                    </a:lnL>
                    <a:lnR w="38100" cap="flat" cmpd="sng" algn="ctr">
                      <a:solidFill>
                        <a:schemeClr val="accent2"/>
                      </a:solidFill>
                      <a:prstDash val="solid"/>
                      <a:round/>
                      <a:headEnd type="none" w="med" len="med"/>
                      <a:tailEnd type="none" w="med" len="med"/>
                    </a:lnR>
                    <a:lnT>
                      <a:noFill/>
                    </a:lnT>
                    <a:lnB>
                      <a:noFill/>
                    </a:lnB>
                    <a:lnTlToBr>
                      <a:noFill/>
                    </a:lnTlToBr>
                    <a:lnBlToTr>
                      <a:noFill/>
                    </a:lnBlToTr>
                    <a:solidFill>
                      <a:srgbClr val="FFFF66"/>
                    </a:solidFill>
                  </a:tcPr>
                </a:tc>
              </a:tr>
              <a:tr h="317500">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Narrow" charset="0"/>
                        </a:rPr>
                        <a:t>…</a:t>
                      </a:r>
                    </a:p>
                  </a:txBody>
                  <a:tcPr horzOverflow="overflow">
                    <a:lnL w="38100" cap="flat" cmpd="sng" algn="ctr">
                      <a:solidFill>
                        <a:schemeClr val="accent2"/>
                      </a:solidFill>
                      <a:prstDash val="solid"/>
                      <a:round/>
                      <a:headEnd type="none" w="med" len="med"/>
                      <a:tailEnd type="none" w="med" len="med"/>
                    </a:lnL>
                    <a:lnR>
                      <a:noFill/>
                    </a:lnR>
                    <a:lnT>
                      <a:noFill/>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Narrow" charset="0"/>
                      </a:endParaRPr>
                    </a:p>
                  </a:txBody>
                  <a:tcPr horzOverflow="overflow">
                    <a:lnL>
                      <a:noFill/>
                    </a:lnL>
                    <a:lnR>
                      <a:noFill/>
                    </a:lnR>
                    <a:lnT>
                      <a:noFill/>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Gill Sans MT" charset="0"/>
                        </a:defRPr>
                      </a:lvl1pPr>
                      <a:lvl2pPr marL="742950" indent="-285750" eaLnBrk="0" hangingPunct="0">
                        <a:spcBef>
                          <a:spcPct val="20000"/>
                        </a:spcBef>
                        <a:defRPr sz="2400">
                          <a:solidFill>
                            <a:schemeClr val="tx1"/>
                          </a:solidFill>
                          <a:latin typeface="Gill Sans MT" charset="0"/>
                        </a:defRPr>
                      </a:lvl2pPr>
                      <a:lvl3pPr marL="1143000" indent="-228600" eaLnBrk="0" hangingPunct="0">
                        <a:spcBef>
                          <a:spcPct val="20000"/>
                        </a:spcBef>
                        <a:defRPr sz="2000">
                          <a:solidFill>
                            <a:schemeClr val="tx1"/>
                          </a:solidFill>
                          <a:latin typeface="Gill Sans MT" charset="0"/>
                        </a:defRPr>
                      </a:lvl3pPr>
                      <a:lvl4pPr marL="1600200" indent="-228600" eaLnBrk="0" hangingPunct="0">
                        <a:spcBef>
                          <a:spcPct val="20000"/>
                        </a:spcBef>
                        <a:defRPr>
                          <a:solidFill>
                            <a:schemeClr val="tx1"/>
                          </a:solidFill>
                          <a:latin typeface="Gill Sans MT" charset="0"/>
                        </a:defRPr>
                      </a:lvl4pPr>
                      <a:lvl5pPr marL="2057400" indent="-228600" eaLnBrk="0" hangingPunct="0">
                        <a:spcBef>
                          <a:spcPct val="20000"/>
                        </a:spcBef>
                        <a:defRPr>
                          <a:solidFill>
                            <a:schemeClr val="tx1"/>
                          </a:solidFill>
                          <a:latin typeface="Gill Sans MT" charset="0"/>
                        </a:defRPr>
                      </a:lvl5pPr>
                      <a:lvl6pPr marL="2514600" indent="-228600" eaLnBrk="0" fontAlgn="base" hangingPunct="0">
                        <a:spcBef>
                          <a:spcPct val="20000"/>
                        </a:spcBef>
                        <a:spcAft>
                          <a:spcPct val="0"/>
                        </a:spcAft>
                        <a:defRPr>
                          <a:solidFill>
                            <a:schemeClr val="tx1"/>
                          </a:solidFill>
                          <a:latin typeface="Gill Sans MT" charset="0"/>
                        </a:defRPr>
                      </a:lvl6pPr>
                      <a:lvl7pPr marL="2971800" indent="-228600" eaLnBrk="0" fontAlgn="base" hangingPunct="0">
                        <a:spcBef>
                          <a:spcPct val="20000"/>
                        </a:spcBef>
                        <a:spcAft>
                          <a:spcPct val="0"/>
                        </a:spcAft>
                        <a:defRPr>
                          <a:solidFill>
                            <a:schemeClr val="tx1"/>
                          </a:solidFill>
                          <a:latin typeface="Gill Sans MT" charset="0"/>
                        </a:defRPr>
                      </a:lvl7pPr>
                      <a:lvl8pPr marL="3429000" indent="-228600" eaLnBrk="0" fontAlgn="base" hangingPunct="0">
                        <a:spcBef>
                          <a:spcPct val="20000"/>
                        </a:spcBef>
                        <a:spcAft>
                          <a:spcPct val="0"/>
                        </a:spcAft>
                        <a:defRPr>
                          <a:solidFill>
                            <a:schemeClr val="tx1"/>
                          </a:solidFill>
                          <a:latin typeface="Gill Sans MT" charset="0"/>
                        </a:defRPr>
                      </a:lvl8pPr>
                      <a:lvl9pPr marL="3886200" indent="-228600" eaLnBrk="0" fontAlgn="base" hangingPunct="0">
                        <a:spcBef>
                          <a:spcPct val="20000"/>
                        </a:spcBef>
                        <a:spcAft>
                          <a:spcPct val="0"/>
                        </a:spcAft>
                        <a:defRPr>
                          <a:solidFill>
                            <a:schemeClr val="tx1"/>
                          </a:solidFill>
                          <a:latin typeface="Gill Sans MT"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Narrow" charset="0"/>
                      </a:endParaRPr>
                    </a:p>
                  </a:txBody>
                  <a:tcPr horzOverflow="overflow">
                    <a:lnL>
                      <a:noFill/>
                    </a:lnL>
                    <a:lnR w="38100" cap="flat" cmpd="sng" algn="ctr">
                      <a:solidFill>
                        <a:schemeClr val="accent2"/>
                      </a:solidFill>
                      <a:prstDash val="solid"/>
                      <a:round/>
                      <a:headEnd type="none" w="med" len="med"/>
                      <a:tailEnd type="none" w="med" len="med"/>
                    </a:lnR>
                    <a:lnT>
                      <a:noFill/>
                    </a:lnT>
                    <a:lnB w="38100" cap="flat" cmpd="sng" algn="ctr">
                      <a:solidFill>
                        <a:schemeClr val="accent2"/>
                      </a:solidFill>
                      <a:prstDash val="solid"/>
                      <a:round/>
                      <a:headEnd type="none" w="med" len="med"/>
                      <a:tailEnd type="none" w="med" len="med"/>
                    </a:lnB>
                    <a:lnTlToBr>
                      <a:noFill/>
                    </a:lnTlToBr>
                    <a:lnBlToTr>
                      <a:noFill/>
                    </a:lnBlToTr>
                    <a:solidFill>
                      <a:srgbClr val="FFFF66"/>
                    </a:solidFill>
                  </a:tcPr>
                </a:tc>
              </a:tr>
            </a:tbl>
          </a:graphicData>
        </a:graphic>
      </p:graphicFrame>
    </p:spTree>
    <p:extLst>
      <p:ext uri="{BB962C8B-B14F-4D97-AF65-F5344CB8AC3E}">
        <p14:creationId xmlns:p14="http://schemas.microsoft.com/office/powerpoint/2010/main" val="4021521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normAutofit fontScale="90000"/>
          </a:bodyPr>
          <a:lstStyle/>
          <a:p>
            <a:pPr eaLnBrk="1" hangingPunct="1"/>
            <a:r>
              <a:rPr lang="en-US" altLang="en-US" sz="3200" dirty="0" smtClean="0"/>
              <a:t>Adding Syntax: </a:t>
            </a:r>
            <a:r>
              <a:rPr lang="en-US" altLang="en-US" sz="3200" dirty="0"/>
              <a:t>Synchronous Context-Free Grammars</a:t>
            </a:r>
          </a:p>
        </p:txBody>
      </p:sp>
      <p:pic>
        <p:nvPicPr>
          <p:cNvPr id="563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1828800"/>
            <a:ext cx="3400425" cy="35814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5632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8163" y="1828800"/>
            <a:ext cx="4338637" cy="37560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56325" name="Text Box 6"/>
          <p:cNvSpPr txBox="1">
            <a:spLocks noChangeArrowheads="1"/>
          </p:cNvSpPr>
          <p:nvPr/>
        </p:nvSpPr>
        <p:spPr bwMode="auto">
          <a:xfrm>
            <a:off x="1535113" y="1408113"/>
            <a:ext cx="682623" cy="424732"/>
          </a:xfrm>
          <a:prstGeom prst="rect">
            <a:avLst/>
          </a:prstGeom>
          <a:noFill/>
          <a:ln>
            <a:noFill/>
          </a:ln>
          <a:extLst>
            <a:ext uri="{909E8E84-426E-40dd-AFC4-6F175D3DCCD1}">
              <a14:hiddenFill xmlns="" xmlns:a14="http://schemas.microsoft.com/office/drawing/2010/main">
                <a:solidFill>
                  <a:srgbClr val="666699"/>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Bef>
                <a:spcPct val="20000"/>
              </a:spcBef>
            </a:pPr>
            <a:r>
              <a:rPr lang="en-US" altLang="en-US" sz="2400" b="1" dirty="0">
                <a:latin typeface="+mn-lt"/>
              </a:rPr>
              <a:t>CFG</a:t>
            </a:r>
          </a:p>
        </p:txBody>
      </p:sp>
      <p:sp>
        <p:nvSpPr>
          <p:cNvPr id="56326" name="Text Box 6"/>
          <p:cNvSpPr txBox="1">
            <a:spLocks noChangeArrowheads="1"/>
          </p:cNvSpPr>
          <p:nvPr/>
        </p:nvSpPr>
        <p:spPr bwMode="auto">
          <a:xfrm>
            <a:off x="6019800" y="1408113"/>
            <a:ext cx="828497" cy="424732"/>
          </a:xfrm>
          <a:prstGeom prst="rect">
            <a:avLst/>
          </a:prstGeom>
          <a:noFill/>
          <a:ln>
            <a:noFill/>
          </a:ln>
          <a:extLst>
            <a:ext uri="{909E8E84-426E-40dd-AFC4-6F175D3DCCD1}">
              <a14:hiddenFill xmlns="" xmlns:a14="http://schemas.microsoft.com/office/drawing/2010/main">
                <a:solidFill>
                  <a:srgbClr val="666699"/>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Bef>
                <a:spcPct val="20000"/>
              </a:spcBef>
            </a:pPr>
            <a:r>
              <a:rPr lang="en-US" altLang="en-US" sz="2400" b="1">
                <a:latin typeface="+mn-lt"/>
              </a:rPr>
              <a:t>SCFG</a:t>
            </a:r>
          </a:p>
        </p:txBody>
      </p:sp>
      <p:sp>
        <p:nvSpPr>
          <p:cNvPr id="56327" name="TextBox 14"/>
          <p:cNvSpPr txBox="1">
            <a:spLocks noChangeArrowheads="1"/>
          </p:cNvSpPr>
          <p:nvPr/>
        </p:nvSpPr>
        <p:spPr bwMode="auto">
          <a:xfrm>
            <a:off x="2209800" y="2971800"/>
            <a:ext cx="630238" cy="46196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400" b="1">
                <a:latin typeface="Times New Roman" charset="0"/>
                <a:ea typeface="Times New Roman" charset="0"/>
                <a:cs typeface="Times New Roman" charset="0"/>
              </a:rPr>
              <a:t>NN</a:t>
            </a:r>
          </a:p>
        </p:txBody>
      </p:sp>
    </p:spTree>
    <p:extLst>
      <p:ext uri="{BB962C8B-B14F-4D97-AF65-F5344CB8AC3E}">
        <p14:creationId xmlns:p14="http://schemas.microsoft.com/office/powerpoint/2010/main" val="15108693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668338"/>
            <a:ext cx="2627312" cy="2767012"/>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5734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609600"/>
            <a:ext cx="3352800" cy="290195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57348" name="Text Box 6"/>
          <p:cNvSpPr txBox="1">
            <a:spLocks noChangeArrowheads="1"/>
          </p:cNvSpPr>
          <p:nvPr/>
        </p:nvSpPr>
        <p:spPr bwMode="auto">
          <a:xfrm>
            <a:off x="1905000" y="228600"/>
            <a:ext cx="682623" cy="424732"/>
          </a:xfrm>
          <a:prstGeom prst="rect">
            <a:avLst/>
          </a:prstGeom>
          <a:noFill/>
          <a:ln>
            <a:noFill/>
          </a:ln>
          <a:extLst>
            <a:ext uri="{909E8E84-426E-40dd-AFC4-6F175D3DCCD1}">
              <a14:hiddenFill xmlns="" xmlns:a14="http://schemas.microsoft.com/office/drawing/2010/main">
                <a:solidFill>
                  <a:srgbClr val="666699"/>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Bef>
                <a:spcPct val="20000"/>
              </a:spcBef>
            </a:pPr>
            <a:r>
              <a:rPr lang="en-US" altLang="en-US" sz="2400" b="1" dirty="0">
                <a:latin typeface="+mn-lt"/>
              </a:rPr>
              <a:t>CFG</a:t>
            </a:r>
          </a:p>
        </p:txBody>
      </p:sp>
      <p:pic>
        <p:nvPicPr>
          <p:cNvPr id="57349" name="Picture 9"/>
          <p:cNvPicPr>
            <a:picLocks noChangeAspect="1" noChangeArrowheads="1"/>
          </p:cNvPicPr>
          <p:nvPr/>
        </p:nvPicPr>
        <p:blipFill>
          <a:blip r:embed="rId5">
            <a:extLst>
              <a:ext uri="{28A0092B-C50C-407E-A947-70E740481C1C}">
                <a14:useLocalDpi xmlns:a14="http://schemas.microsoft.com/office/drawing/2010/main" val="0"/>
              </a:ext>
            </a:extLst>
          </a:blip>
          <a:srcRect t="5023"/>
          <a:stretch>
            <a:fillRect/>
          </a:stretch>
        </p:blipFill>
        <p:spPr bwMode="auto">
          <a:xfrm>
            <a:off x="1447800" y="3657600"/>
            <a:ext cx="2079625" cy="2881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57350" name="Text Box 6"/>
          <p:cNvSpPr txBox="1">
            <a:spLocks noChangeArrowheads="1"/>
          </p:cNvSpPr>
          <p:nvPr/>
        </p:nvSpPr>
        <p:spPr bwMode="auto">
          <a:xfrm>
            <a:off x="5497513" y="228600"/>
            <a:ext cx="828497" cy="424732"/>
          </a:xfrm>
          <a:prstGeom prst="rect">
            <a:avLst/>
          </a:prstGeom>
          <a:noFill/>
          <a:ln>
            <a:noFill/>
          </a:ln>
          <a:extLst>
            <a:ext uri="{909E8E84-426E-40dd-AFC4-6F175D3DCCD1}">
              <a14:hiddenFill xmlns="" xmlns:a14="http://schemas.microsoft.com/office/drawing/2010/main">
                <a:solidFill>
                  <a:srgbClr val="666699"/>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Bef>
                <a:spcPct val="20000"/>
              </a:spcBef>
            </a:pPr>
            <a:r>
              <a:rPr lang="en-US" altLang="en-US" sz="2400" b="1">
                <a:latin typeface="+mn-lt"/>
              </a:rPr>
              <a:t>SCFG</a:t>
            </a:r>
          </a:p>
        </p:txBody>
      </p:sp>
      <p:pic>
        <p:nvPicPr>
          <p:cNvPr id="57351"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8613" y="3622675"/>
            <a:ext cx="4167187" cy="3159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57352" name="TextBox 14"/>
          <p:cNvSpPr txBox="1">
            <a:spLocks noChangeArrowheads="1"/>
          </p:cNvSpPr>
          <p:nvPr/>
        </p:nvSpPr>
        <p:spPr bwMode="auto">
          <a:xfrm>
            <a:off x="2438400" y="1524000"/>
            <a:ext cx="517525" cy="36988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b="1">
                <a:latin typeface="Times New Roman" charset="0"/>
                <a:ea typeface="Times New Roman" charset="0"/>
                <a:cs typeface="Times New Roman" charset="0"/>
              </a:rPr>
              <a:t>NN</a:t>
            </a:r>
          </a:p>
        </p:txBody>
      </p:sp>
    </p:spTree>
    <p:extLst>
      <p:ext uri="{BB962C8B-B14F-4D97-AF65-F5344CB8AC3E}">
        <p14:creationId xmlns:p14="http://schemas.microsoft.com/office/powerpoint/2010/main" val="4459543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pic>
        <p:nvPicPr>
          <p:cNvPr id="11" name="Picture 10"/>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4104722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cxnSp>
        <p:nvCxnSpPr>
          <p:cNvPr id="14" name="Straight Arrow Connector 13"/>
          <p:cNvCxnSpPr/>
          <p:nvPr/>
        </p:nvCxnSpPr>
        <p:spPr>
          <a:xfrm flipV="1">
            <a:off x="4728400" y="1604820"/>
            <a:ext cx="282335" cy="981365"/>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1"/>
          <p:cNvSpPr txBox="1">
            <a:spLocks noChangeArrowheads="1"/>
          </p:cNvSpPr>
          <p:nvPr/>
        </p:nvSpPr>
        <p:spPr bwMode="auto">
          <a:xfrm>
            <a:off x="4143456" y="2540005"/>
            <a:ext cx="1169887"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source</a:t>
            </a:r>
          </a:p>
          <a:p>
            <a:pPr algn="ctr" eaLnBrk="1" hangingPunct="1"/>
            <a:r>
              <a:rPr lang="en-US" sz="2000" dirty="0" smtClean="0">
                <a:solidFill>
                  <a:srgbClr val="0062AC"/>
                </a:solidFill>
                <a:latin typeface="Calibri"/>
                <a:cs typeface="Calibri"/>
              </a:rPr>
              <a:t>sentence</a:t>
            </a:r>
            <a:endParaRPr lang="en-US" sz="2000" dirty="0">
              <a:solidFill>
                <a:srgbClr val="0062AC"/>
              </a:solidFill>
              <a:latin typeface="Calibri"/>
              <a:cs typeface="Calibri"/>
            </a:endParaRPr>
          </a:p>
        </p:txBody>
      </p:sp>
      <p:sp>
        <p:nvSpPr>
          <p:cNvPr id="16" name="TextBox 11"/>
          <p:cNvSpPr txBox="1">
            <a:spLocks noChangeArrowheads="1"/>
          </p:cNvSpPr>
          <p:nvPr/>
        </p:nvSpPr>
        <p:spPr bwMode="auto">
          <a:xfrm>
            <a:off x="2470162" y="2703947"/>
            <a:ext cx="1380782"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predicted</a:t>
            </a:r>
          </a:p>
          <a:p>
            <a:pPr algn="ctr" eaLnBrk="1" hangingPunct="1"/>
            <a:r>
              <a:rPr lang="en-US" sz="2000" dirty="0" smtClean="0">
                <a:solidFill>
                  <a:srgbClr val="0062AC"/>
                </a:solidFill>
                <a:latin typeface="Calibri"/>
                <a:cs typeface="Calibri"/>
              </a:rPr>
              <a:t>translation</a:t>
            </a:r>
            <a:endParaRPr lang="en-US" sz="2000" dirty="0">
              <a:solidFill>
                <a:srgbClr val="0062AC"/>
              </a:solidFill>
              <a:latin typeface="Calibri"/>
              <a:cs typeface="Calibri"/>
            </a:endParaRPr>
          </a:p>
        </p:txBody>
      </p:sp>
      <p:cxnSp>
        <p:nvCxnSpPr>
          <p:cNvPr id="17" name="Straight Arrow Connector 16"/>
          <p:cNvCxnSpPr/>
          <p:nvPr/>
        </p:nvCxnSpPr>
        <p:spPr>
          <a:xfrm flipH="1" flipV="1">
            <a:off x="2828646" y="1685637"/>
            <a:ext cx="285724" cy="1018310"/>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10903206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sp>
        <p:nvSpPr>
          <p:cNvPr id="10"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pic>
        <p:nvPicPr>
          <p:cNvPr id="14" name="Picture 13"/>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54159126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Tree>
    <p:extLst>
      <p:ext uri="{BB962C8B-B14F-4D97-AF65-F5344CB8AC3E}">
        <p14:creationId xmlns:p14="http://schemas.microsoft.com/office/powerpoint/2010/main" val="14886108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pic>
        <p:nvPicPr>
          <p:cNvPr id="7" name="Picture 6"/>
          <p:cNvPicPr>
            <a:picLocks noChangeAspect="1"/>
          </p:cNvPicPr>
          <p:nvPr/>
        </p:nvPicPr>
        <p:blipFill>
          <a:blip r:embed="rId4"/>
          <a:stretch>
            <a:fillRect/>
          </a:stretch>
        </p:blipFill>
        <p:spPr>
          <a:xfrm>
            <a:off x="2733984" y="3866563"/>
            <a:ext cx="5372100" cy="533400"/>
          </a:xfrm>
          <a:prstGeom prst="rect">
            <a:avLst/>
          </a:prstGeom>
        </p:spPr>
      </p:pic>
      <p:sp>
        <p:nvSpPr>
          <p:cNvPr id="12" name="Rectangle 11"/>
          <p:cNvSpPr/>
          <p:nvPr/>
        </p:nvSpPr>
        <p:spPr>
          <a:xfrm>
            <a:off x="2620839" y="382153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1161164" y="4643607"/>
            <a:ext cx="6769702"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extra parameters to tune, can tune to optimize BLEU</a:t>
            </a:r>
          </a:p>
        </p:txBody>
      </p:sp>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Tree>
    <p:extLst>
      <p:ext uri="{BB962C8B-B14F-4D97-AF65-F5344CB8AC3E}">
        <p14:creationId xmlns:p14="http://schemas.microsoft.com/office/powerpoint/2010/main" val="8977994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a:t>
            </a:r>
            <a:r>
              <a:rPr lang="en-US" dirty="0" smtClean="0"/>
              <a:t>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pic>
        <p:nvPicPr>
          <p:cNvPr id="7" name="Picture 6"/>
          <p:cNvPicPr>
            <a:picLocks noChangeAspect="1"/>
          </p:cNvPicPr>
          <p:nvPr/>
        </p:nvPicPr>
        <p:blipFill>
          <a:blip r:embed="rId4"/>
          <a:stretch>
            <a:fillRect/>
          </a:stretch>
        </p:blipFill>
        <p:spPr>
          <a:xfrm>
            <a:off x="2733984" y="3866563"/>
            <a:ext cx="5372100" cy="533400"/>
          </a:xfrm>
          <a:prstGeom prst="rect">
            <a:avLst/>
          </a:prstGeom>
        </p:spPr>
      </p:pic>
      <p:sp>
        <p:nvSpPr>
          <p:cNvPr id="12" name="Rectangle 11"/>
          <p:cNvSpPr/>
          <p:nvPr/>
        </p:nvSpPr>
        <p:spPr>
          <a:xfrm>
            <a:off x="2620839" y="382153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1161164" y="4643607"/>
            <a:ext cx="6769702"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extra parameters to tune, can tune to optimize BLEU</a:t>
            </a:r>
          </a:p>
        </p:txBody>
      </p:sp>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
        <p:nvSpPr>
          <p:cNvPr id="10" name="TextBox 11"/>
          <p:cNvSpPr txBox="1">
            <a:spLocks noChangeArrowheads="1"/>
          </p:cNvSpPr>
          <p:nvPr/>
        </p:nvSpPr>
        <p:spPr bwMode="auto">
          <a:xfrm>
            <a:off x="3750068" y="5197765"/>
            <a:ext cx="1776598"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i="0" dirty="0" smtClean="0">
                <a:solidFill>
                  <a:srgbClr val="0062AC"/>
                </a:solidFill>
                <a:latin typeface="Calibri"/>
                <a:cs typeface="Calibri"/>
              </a:rPr>
              <a:t>“tuning”</a:t>
            </a:r>
          </a:p>
        </p:txBody>
      </p:sp>
    </p:spTree>
    <p:extLst>
      <p:ext uri="{BB962C8B-B14F-4D97-AF65-F5344CB8AC3E}">
        <p14:creationId xmlns:p14="http://schemas.microsoft.com/office/powerpoint/2010/main" val="109589099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chemeClr val="bg1"/>
                </a:solidFill>
                <a:latin typeface="Calibri"/>
                <a:cs typeface="Calibri"/>
              </a:rPr>
              <a:t>“word count feature”:</a:t>
            </a:r>
          </a:p>
        </p:txBody>
      </p:sp>
    </p:spTree>
    <p:extLst>
      <p:ext uri="{BB962C8B-B14F-4D97-AF65-F5344CB8AC3E}">
        <p14:creationId xmlns:p14="http://schemas.microsoft.com/office/powerpoint/2010/main" val="18201794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rgbClr val="C50C0C"/>
                </a:solidFill>
                <a:latin typeface="Calibri"/>
                <a:cs typeface="Calibri"/>
              </a:rPr>
              <a:t>“word count feature”:</a:t>
            </a:r>
          </a:p>
        </p:txBody>
      </p:sp>
      <p:sp>
        <p:nvSpPr>
          <p:cNvPr id="12" name="Rectangle 11"/>
          <p:cNvSpPr/>
          <p:nvPr/>
        </p:nvSpPr>
        <p:spPr>
          <a:xfrm>
            <a:off x="2863284" y="363681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 name="Picture 2"/>
          <p:cNvPicPr>
            <a:picLocks noChangeAspect="1"/>
          </p:cNvPicPr>
          <p:nvPr/>
        </p:nvPicPr>
        <p:blipFill>
          <a:blip r:embed="rId3"/>
          <a:stretch>
            <a:fillRect/>
          </a:stretch>
        </p:blipFill>
        <p:spPr>
          <a:xfrm>
            <a:off x="1467413" y="3427863"/>
            <a:ext cx="6324600" cy="533400"/>
          </a:xfrm>
          <a:prstGeom prst="rect">
            <a:avLst/>
          </a:prstGeom>
        </p:spPr>
      </p:pic>
      <p:sp>
        <p:nvSpPr>
          <p:cNvPr id="9" name="Rectangle 8"/>
          <p:cNvSpPr/>
          <p:nvPr/>
        </p:nvSpPr>
        <p:spPr>
          <a:xfrm>
            <a:off x="7181274" y="3244276"/>
            <a:ext cx="762000" cy="646545"/>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8520696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rgbClr val="C50C0C"/>
                </a:solidFill>
                <a:latin typeface="Calibri"/>
                <a:cs typeface="Calibri"/>
              </a:rPr>
              <a:t>“word count feature”:</a:t>
            </a:r>
          </a:p>
        </p:txBody>
      </p:sp>
      <p:sp>
        <p:nvSpPr>
          <p:cNvPr id="12" name="Rectangle 11"/>
          <p:cNvSpPr/>
          <p:nvPr/>
        </p:nvSpPr>
        <p:spPr>
          <a:xfrm>
            <a:off x="2863284" y="363681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 name="Picture 2"/>
          <p:cNvPicPr>
            <a:picLocks noChangeAspect="1"/>
          </p:cNvPicPr>
          <p:nvPr/>
        </p:nvPicPr>
        <p:blipFill>
          <a:blip r:embed="rId3"/>
          <a:stretch>
            <a:fillRect/>
          </a:stretch>
        </p:blipFill>
        <p:spPr>
          <a:xfrm>
            <a:off x="1467413" y="3427863"/>
            <a:ext cx="6324600" cy="533400"/>
          </a:xfrm>
          <a:prstGeom prst="rect">
            <a:avLst/>
          </a:prstGeom>
        </p:spPr>
      </p:pic>
      <p:pic>
        <p:nvPicPr>
          <p:cNvPr id="8" name="Picture 7"/>
          <p:cNvPicPr>
            <a:picLocks noChangeAspect="1"/>
          </p:cNvPicPr>
          <p:nvPr/>
        </p:nvPicPr>
        <p:blipFill>
          <a:blip r:embed="rId4"/>
          <a:stretch>
            <a:fillRect/>
          </a:stretch>
        </p:blipFill>
        <p:spPr>
          <a:xfrm>
            <a:off x="317500" y="4801768"/>
            <a:ext cx="8496300" cy="533400"/>
          </a:xfrm>
          <a:prstGeom prst="rect">
            <a:avLst/>
          </a:prstGeom>
        </p:spPr>
      </p:pic>
      <p:sp>
        <p:nvSpPr>
          <p:cNvPr id="14" name="TextBox 11"/>
          <p:cNvSpPr txBox="1">
            <a:spLocks noChangeArrowheads="1"/>
          </p:cNvSpPr>
          <p:nvPr/>
        </p:nvSpPr>
        <p:spPr bwMode="auto">
          <a:xfrm>
            <a:off x="2121529" y="4250957"/>
            <a:ext cx="4733537"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C50C0C"/>
                </a:solidFill>
                <a:latin typeface="Calibri"/>
                <a:cs typeface="Calibri"/>
              </a:rPr>
              <a:t>“reverse translation model feature”:</a:t>
            </a:r>
          </a:p>
        </p:txBody>
      </p:sp>
      <p:sp>
        <p:nvSpPr>
          <p:cNvPr id="9" name="Rectangle 8"/>
          <p:cNvSpPr/>
          <p:nvPr/>
        </p:nvSpPr>
        <p:spPr>
          <a:xfrm>
            <a:off x="7181274" y="3244276"/>
            <a:ext cx="762000" cy="646545"/>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5" name="Rectangle 14"/>
          <p:cNvSpPr/>
          <p:nvPr/>
        </p:nvSpPr>
        <p:spPr>
          <a:xfrm>
            <a:off x="6975764" y="4678220"/>
            <a:ext cx="1937327" cy="528782"/>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13142712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07545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21309553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18015736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flipH="1" flipV="1">
            <a:off x="5431204" y="3550013"/>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TextBox 11"/>
          <p:cNvSpPr txBox="1">
            <a:spLocks noChangeArrowheads="1"/>
          </p:cNvSpPr>
          <p:nvPr/>
        </p:nvSpPr>
        <p:spPr bwMode="auto">
          <a:xfrm>
            <a:off x="5257800" y="3925669"/>
            <a:ext cx="3675751" cy="646331"/>
          </a:xfrm>
          <a:prstGeom prst="rect">
            <a:avLst/>
          </a:prstGeom>
          <a:noFill/>
          <a:ln w="19050">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opposition to sanctions against </a:t>
            </a:r>
          </a:p>
          <a:p>
            <a:pPr algn="ctr" eaLnBrk="1" hangingPunct="1"/>
            <a:r>
              <a:rPr lang="en-US" i="0" dirty="0" smtClean="0">
                <a:latin typeface="Calibri"/>
                <a:cs typeface="Calibri"/>
              </a:rPr>
              <a:t>Zimbabwe African National Congress</a:t>
            </a:r>
          </a:p>
        </p:txBody>
      </p:sp>
      <p:sp>
        <p:nvSpPr>
          <p:cNvPr id="11" name="TextBox 10"/>
          <p:cNvSpPr txBox="1">
            <a:spLocks noChangeArrowheads="1"/>
          </p:cNvSpPr>
          <p:nvPr/>
        </p:nvSpPr>
        <p:spPr bwMode="auto">
          <a:xfrm>
            <a:off x="6022913" y="3550013"/>
            <a:ext cx="2418726"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a:solidFill>
                  <a:srgbClr val="C00000"/>
                </a:solidFill>
                <a:latin typeface="Calibri"/>
                <a:cs typeface="Calibri"/>
              </a:rPr>
              <a:t>predicted </a:t>
            </a:r>
            <a:r>
              <a:rPr lang="en-US" sz="2000" dirty="0" smtClean="0">
                <a:solidFill>
                  <a:srgbClr val="C00000"/>
                </a:solidFill>
                <a:latin typeface="Calibri"/>
                <a:cs typeface="Calibri"/>
              </a:rPr>
              <a:t>translation</a:t>
            </a:r>
            <a:endParaRPr lang="en-US" sz="2000" dirty="0">
              <a:solidFill>
                <a:srgbClr val="C00000"/>
              </a:solidFill>
              <a:latin typeface="Calibri"/>
              <a:cs typeface="Calibri"/>
            </a:endParaRPr>
          </a:p>
        </p:txBody>
      </p:sp>
      <p:sp>
        <p:nvSpPr>
          <p:cNvPr id="12"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5937968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19" name="Straight Arrow Connector 18"/>
          <p:cNvCxnSpPr/>
          <p:nvPr/>
        </p:nvCxnSpPr>
        <p:spPr>
          <a:xfrm flipH="1" flipV="1">
            <a:off x="5431204" y="3550013"/>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303644" y="1547721"/>
            <a:ext cx="555512" cy="194779"/>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1"/>
          <p:cNvSpPr txBox="1">
            <a:spLocks noChangeArrowheads="1"/>
          </p:cNvSpPr>
          <p:nvPr/>
        </p:nvSpPr>
        <p:spPr bwMode="auto">
          <a:xfrm>
            <a:off x="5257800" y="3925669"/>
            <a:ext cx="3675751" cy="646331"/>
          </a:xfrm>
          <a:prstGeom prst="rect">
            <a:avLst/>
          </a:prstGeom>
          <a:noFill/>
          <a:ln w="19050">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opposition to sanctions against </a:t>
            </a:r>
          </a:p>
          <a:p>
            <a:pPr algn="ctr" eaLnBrk="1" hangingPunct="1"/>
            <a:r>
              <a:rPr lang="en-US" i="0" dirty="0" smtClean="0">
                <a:latin typeface="Calibri"/>
                <a:cs typeface="Calibri"/>
              </a:rPr>
              <a:t>Zimbabwe African National Congress</a:t>
            </a:r>
          </a:p>
        </p:txBody>
      </p:sp>
      <p:sp>
        <p:nvSpPr>
          <p:cNvPr id="12" name="TextBox 11"/>
          <p:cNvSpPr txBox="1">
            <a:spLocks noChangeArrowheads="1"/>
          </p:cNvSpPr>
          <p:nvPr/>
        </p:nvSpPr>
        <p:spPr bwMode="auto">
          <a:xfrm>
            <a:off x="6022913" y="3550013"/>
            <a:ext cx="2418726"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a:solidFill>
                  <a:srgbClr val="C00000"/>
                </a:solidFill>
                <a:latin typeface="Calibri"/>
                <a:cs typeface="Calibri"/>
              </a:rPr>
              <a:t>predicted </a:t>
            </a:r>
            <a:r>
              <a:rPr lang="en-US" sz="2000" dirty="0" smtClean="0">
                <a:solidFill>
                  <a:srgbClr val="C00000"/>
                </a:solidFill>
                <a:latin typeface="Calibri"/>
                <a:cs typeface="Calibri"/>
              </a:rPr>
              <a:t>translation</a:t>
            </a:r>
            <a:endParaRPr lang="en-US" sz="2000" dirty="0">
              <a:solidFill>
                <a:srgbClr val="C00000"/>
              </a:solidFill>
              <a:latin typeface="Calibri"/>
              <a:cs typeface="Calibri"/>
            </a:endParaRPr>
          </a:p>
        </p:txBody>
      </p:sp>
      <p:sp>
        <p:nvSpPr>
          <p:cNvPr id="13" name="TextBox 11"/>
          <p:cNvSpPr txBox="1">
            <a:spLocks noChangeArrowheads="1"/>
          </p:cNvSpPr>
          <p:nvPr/>
        </p:nvSpPr>
        <p:spPr bwMode="auto">
          <a:xfrm>
            <a:off x="3859156" y="1224555"/>
            <a:ext cx="3913244" cy="646331"/>
          </a:xfrm>
          <a:prstGeom prst="rect">
            <a:avLst/>
          </a:prstGeom>
          <a:noFill/>
          <a:ln w="19050">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African National Congress opposition sanctions against Zimbabwe</a:t>
            </a:r>
          </a:p>
        </p:txBody>
      </p:sp>
      <p:sp>
        <p:nvSpPr>
          <p:cNvPr id="21"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5161907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flipH="1" flipV="1">
            <a:off x="5431204" y="3550013"/>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7" name="TextBox 11"/>
          <p:cNvSpPr txBox="1">
            <a:spLocks noChangeArrowheads="1"/>
          </p:cNvSpPr>
          <p:nvPr/>
        </p:nvSpPr>
        <p:spPr bwMode="auto">
          <a:xfrm>
            <a:off x="5257800" y="3925669"/>
            <a:ext cx="3675751" cy="646331"/>
          </a:xfrm>
          <a:prstGeom prst="rect">
            <a:avLst/>
          </a:prstGeom>
          <a:noFill/>
          <a:ln w="19050">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opposition to sanctions against </a:t>
            </a:r>
          </a:p>
          <a:p>
            <a:pPr algn="ctr" eaLnBrk="1" hangingPunct="1"/>
            <a:r>
              <a:rPr lang="en-US" i="0" dirty="0" smtClean="0">
                <a:latin typeface="Calibri"/>
                <a:cs typeface="Calibri"/>
              </a:rPr>
              <a:t>Zimbabwe African National Congress</a:t>
            </a:r>
          </a:p>
        </p:txBody>
      </p:sp>
      <p:sp>
        <p:nvSpPr>
          <p:cNvPr id="20" name="TextBox 11"/>
          <p:cNvSpPr txBox="1">
            <a:spLocks noChangeArrowheads="1"/>
          </p:cNvSpPr>
          <p:nvPr/>
        </p:nvSpPr>
        <p:spPr bwMode="auto">
          <a:xfrm>
            <a:off x="6022913" y="3550013"/>
            <a:ext cx="2418726"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a:solidFill>
                  <a:srgbClr val="C00000"/>
                </a:solidFill>
                <a:latin typeface="Calibri"/>
                <a:cs typeface="Calibri"/>
              </a:rPr>
              <a:t>predicted </a:t>
            </a:r>
            <a:r>
              <a:rPr lang="en-US" sz="2000" dirty="0" smtClean="0">
                <a:solidFill>
                  <a:srgbClr val="C00000"/>
                </a:solidFill>
                <a:latin typeface="Calibri"/>
                <a:cs typeface="Calibri"/>
              </a:rPr>
              <a:t>translation</a:t>
            </a:r>
            <a:endParaRPr lang="en-US" sz="2000" dirty="0">
              <a:solidFill>
                <a:srgbClr val="C00000"/>
              </a:solidFill>
              <a:latin typeface="Calibri"/>
              <a:cs typeface="Calibri"/>
            </a:endParaRPr>
          </a:p>
        </p:txBody>
      </p:sp>
      <p:sp>
        <p:nvSpPr>
          <p:cNvPr id="21" name="TextBox 11"/>
          <p:cNvSpPr txBox="1">
            <a:spLocks noChangeArrowheads="1"/>
          </p:cNvSpPr>
          <p:nvPr/>
        </p:nvSpPr>
        <p:spPr bwMode="auto">
          <a:xfrm>
            <a:off x="366222" y="4495800"/>
            <a:ext cx="2222083" cy="646331"/>
          </a:xfrm>
          <a:prstGeom prst="rect">
            <a:avLst/>
          </a:prstGeom>
          <a:solidFill>
            <a:schemeClr val="bg1"/>
          </a:solidFill>
          <a:ln w="19050">
            <a:solidFill>
              <a:srgbClr val="C000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African sanctioning to</a:t>
            </a:r>
          </a:p>
          <a:p>
            <a:pPr algn="ctr" eaLnBrk="1" hangingPunct="1"/>
            <a:r>
              <a:rPr lang="en-US" i="0" dirty="0" smtClean="0">
                <a:latin typeface="Calibri"/>
                <a:cs typeface="Calibri"/>
              </a:rPr>
              <a:t>Zimbabwe’s opposing</a:t>
            </a:r>
          </a:p>
        </p:txBody>
      </p:sp>
      <p:cxnSp>
        <p:nvCxnSpPr>
          <p:cNvPr id="22" name="Straight Arrow Connector 21"/>
          <p:cNvCxnSpPr/>
          <p:nvPr/>
        </p:nvCxnSpPr>
        <p:spPr>
          <a:xfrm>
            <a:off x="1386840" y="5142131"/>
            <a:ext cx="130716" cy="391232"/>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1"/>
          <p:cNvSpPr txBox="1">
            <a:spLocks noChangeArrowheads="1"/>
          </p:cNvSpPr>
          <p:nvPr/>
        </p:nvSpPr>
        <p:spPr bwMode="auto">
          <a:xfrm>
            <a:off x="3859156" y="1224555"/>
            <a:ext cx="3913244" cy="646331"/>
          </a:xfrm>
          <a:prstGeom prst="rect">
            <a:avLst/>
          </a:prstGeom>
          <a:noFill/>
          <a:ln w="19050">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African National Congress opposition sanctions against Zimbabwe</a:t>
            </a:r>
          </a:p>
        </p:txBody>
      </p:sp>
      <p:cxnSp>
        <p:nvCxnSpPr>
          <p:cNvPr id="16" name="Straight Arrow Connector 15"/>
          <p:cNvCxnSpPr>
            <a:stCxn id="13" idx="1"/>
          </p:cNvCxnSpPr>
          <p:nvPr/>
        </p:nvCxnSpPr>
        <p:spPr>
          <a:xfrm flipH="1">
            <a:off x="3303644" y="1547721"/>
            <a:ext cx="555512" cy="194779"/>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342298338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
        <p:nvSpPr>
          <p:cNvPr id="7" name="TextBox 11"/>
          <p:cNvSpPr txBox="1">
            <a:spLocks noChangeArrowheads="1"/>
          </p:cNvSpPr>
          <p:nvPr/>
        </p:nvSpPr>
        <p:spPr bwMode="auto">
          <a:xfrm>
            <a:off x="5449455" y="1231900"/>
            <a:ext cx="3559232" cy="1754327"/>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learning moves translations in this plot</a:t>
            </a:r>
            <a:endParaRPr lang="en-US" sz="3600" b="1" i="0" dirty="0">
              <a:solidFill>
                <a:srgbClr val="FFFF00"/>
              </a:solidFill>
              <a:latin typeface="Calibri"/>
              <a:cs typeface="Calibri"/>
            </a:endParaRPr>
          </a:p>
        </p:txBody>
      </p:sp>
    </p:spTree>
    <p:extLst>
      <p:ext uri="{BB962C8B-B14F-4D97-AF65-F5344CB8AC3E}">
        <p14:creationId xmlns:p14="http://schemas.microsoft.com/office/powerpoint/2010/main" val="189753345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
        <p:nvSpPr>
          <p:cNvPr id="7" name="TextBox 11"/>
          <p:cNvSpPr txBox="1">
            <a:spLocks noChangeArrowheads="1"/>
          </p:cNvSpPr>
          <p:nvPr/>
        </p:nvSpPr>
        <p:spPr bwMode="auto">
          <a:xfrm>
            <a:off x="4876800" y="1231900"/>
            <a:ext cx="4131887" cy="1754327"/>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learning moves translations left or right in this plot</a:t>
            </a:r>
            <a:endParaRPr lang="en-US" sz="3600" b="1" i="0" dirty="0">
              <a:solidFill>
                <a:srgbClr val="FFFF00"/>
              </a:solidFill>
              <a:latin typeface="Calibri"/>
              <a:cs typeface="Calibri"/>
            </a:endParaRPr>
          </a:p>
        </p:txBody>
      </p:sp>
    </p:spTree>
    <p:extLst>
      <p:ext uri="{BB962C8B-B14F-4D97-AF65-F5344CB8AC3E}">
        <p14:creationId xmlns:p14="http://schemas.microsoft.com/office/powerpoint/2010/main" val="106928735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937" y="12192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218545" y="3349873"/>
            <a:ext cx="3558309" cy="646331"/>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“ideal” model</a:t>
            </a:r>
            <a:endParaRPr lang="en-US" sz="3600" b="1" i="0" dirty="0">
              <a:solidFill>
                <a:srgbClr val="FFFF00"/>
              </a:solidFill>
              <a:latin typeface="Calibri"/>
              <a:cs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65086152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8" name="TextBox 11"/>
          <p:cNvSpPr txBox="1">
            <a:spLocks noChangeArrowheads="1"/>
          </p:cNvSpPr>
          <p:nvPr/>
        </p:nvSpPr>
        <p:spPr bwMode="auto">
          <a:xfrm>
            <a:off x="2159007" y="2320650"/>
            <a:ext cx="4830618" cy="1200329"/>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Where’s the gold standard translation?</a:t>
            </a:r>
            <a:endParaRPr lang="en-US" sz="3600" b="1" i="0" dirty="0">
              <a:solidFill>
                <a:srgbClr val="FFFF00"/>
              </a:solidFill>
              <a:latin typeface="Calibri"/>
              <a:cs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152973379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762000" y="1676400"/>
            <a:ext cx="7696200" cy="2133600"/>
          </a:xfrm>
          <a:solidFill>
            <a:schemeClr val="tx1"/>
          </a:solidFill>
        </p:spPr>
        <p:txBody>
          <a:bodyPr/>
          <a:lstStyle/>
          <a:p>
            <a:r>
              <a:rPr lang="en-US" sz="4000" b="1" dirty="0" smtClean="0">
                <a:solidFill>
                  <a:srgbClr val="FFFF00"/>
                </a:solidFill>
                <a:latin typeface="Calibri"/>
              </a:rPr>
              <a:t>Issue:</a:t>
            </a:r>
            <a:br>
              <a:rPr lang="en-US" sz="4000" b="1" dirty="0" smtClean="0">
                <a:solidFill>
                  <a:srgbClr val="FFFF00"/>
                </a:solidFill>
                <a:latin typeface="Calibri"/>
              </a:rPr>
            </a:br>
            <a:r>
              <a:rPr lang="en-US" sz="4000" b="1" dirty="0" smtClean="0">
                <a:solidFill>
                  <a:srgbClr val="FFFF00"/>
                </a:solidFill>
                <a:latin typeface="Calibri"/>
              </a:rPr>
              <a:t>gold standard translation is often</a:t>
            </a:r>
            <a:br>
              <a:rPr lang="en-US" sz="4000" b="1" dirty="0" smtClean="0">
                <a:solidFill>
                  <a:srgbClr val="FFFF00"/>
                </a:solidFill>
                <a:latin typeface="Calibri"/>
              </a:rPr>
            </a:br>
            <a:r>
              <a:rPr lang="en-US" sz="4000" b="1" i="1" dirty="0" smtClean="0">
                <a:solidFill>
                  <a:srgbClr val="FFFF00"/>
                </a:solidFill>
                <a:latin typeface="Calibri"/>
              </a:rPr>
              <a:t>unreachable</a:t>
            </a:r>
            <a:r>
              <a:rPr lang="en-US" sz="4000" b="1" dirty="0" smtClean="0">
                <a:solidFill>
                  <a:srgbClr val="FFFF00"/>
                </a:solidFill>
                <a:latin typeface="Calibri"/>
              </a:rPr>
              <a:t> by the model</a:t>
            </a:r>
            <a:endParaRPr lang="en-US" sz="4000" b="1" dirty="0">
              <a:solidFill>
                <a:srgbClr val="FFFF00"/>
              </a:solidFill>
              <a:latin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
        <p:nvSpPr>
          <p:cNvPr id="6" name="Title 1"/>
          <p:cNvSpPr txBox="1">
            <a:spLocks/>
          </p:cNvSpPr>
          <p:nvPr/>
        </p:nvSpPr>
        <p:spPr bwMode="auto">
          <a:xfrm>
            <a:off x="2590800" y="3994726"/>
            <a:ext cx="4038600" cy="2232891"/>
          </a:xfrm>
          <a:prstGeom prst="rect">
            <a:avLst/>
          </a:prstGeom>
          <a:solidFill>
            <a:srgbClr val="0062AC"/>
          </a:solidFill>
          <a:ln>
            <a:noFill/>
          </a:ln>
          <a:effectLs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mj-cs"/>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sz="2800" b="1" i="0" dirty="0" smtClean="0">
                <a:solidFill>
                  <a:schemeClr val="bg1"/>
                </a:solidFill>
                <a:latin typeface="Calibri"/>
                <a:cs typeface="Calibri"/>
              </a:rPr>
              <a:t>Why?</a:t>
            </a:r>
          </a:p>
          <a:p>
            <a:endParaRPr lang="en-US" sz="800" b="1" i="0" dirty="0" smtClean="0">
              <a:solidFill>
                <a:schemeClr val="bg1"/>
              </a:solidFill>
              <a:latin typeface="Calibri"/>
              <a:cs typeface="Calibri"/>
            </a:endParaRPr>
          </a:p>
          <a:p>
            <a:r>
              <a:rPr lang="en-US" sz="2800" b="1" i="0" dirty="0" smtClean="0">
                <a:solidFill>
                  <a:schemeClr val="bg1"/>
                </a:solidFill>
                <a:latin typeface="Calibri"/>
                <a:cs typeface="Calibri"/>
              </a:rPr>
              <a:t>limited translation rules,</a:t>
            </a:r>
          </a:p>
          <a:p>
            <a:r>
              <a:rPr lang="en-US" sz="2800" b="1" i="0" dirty="0" smtClean="0">
                <a:solidFill>
                  <a:schemeClr val="bg1"/>
                </a:solidFill>
                <a:latin typeface="Calibri"/>
                <a:cs typeface="Calibri"/>
              </a:rPr>
              <a:t>free translations, </a:t>
            </a:r>
          </a:p>
          <a:p>
            <a:r>
              <a:rPr lang="en-US" sz="2800" b="1" i="0" dirty="0" smtClean="0">
                <a:solidFill>
                  <a:schemeClr val="bg1"/>
                </a:solidFill>
                <a:latin typeface="Calibri"/>
                <a:cs typeface="Calibri"/>
              </a:rPr>
              <a:t>noisy data</a:t>
            </a:r>
          </a:p>
        </p:txBody>
      </p:sp>
    </p:spTree>
    <p:extLst>
      <p:ext uri="{BB962C8B-B14F-4D97-AF65-F5344CB8AC3E}">
        <p14:creationId xmlns:p14="http://schemas.microsoft.com/office/powerpoint/2010/main" val="113422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libri"/>
              </a:rPr>
              <a:t>Free Translations</a:t>
            </a:r>
            <a:endParaRPr lang="en-US" dirty="0">
              <a:latin typeface="Calibri"/>
            </a:endParaRPr>
          </a:p>
        </p:txBody>
      </p:sp>
      <p:sp>
        <p:nvSpPr>
          <p:cNvPr id="4" name="TextBox 3"/>
          <p:cNvSpPr txBox="1"/>
          <p:nvPr/>
        </p:nvSpPr>
        <p:spPr>
          <a:xfrm>
            <a:off x="762001" y="1143000"/>
            <a:ext cx="7848600" cy="3785652"/>
          </a:xfrm>
          <a:prstGeom prst="rect">
            <a:avLst/>
          </a:prstGeom>
          <a:noFill/>
        </p:spPr>
        <p:txBody>
          <a:bodyPr wrap="square" rtlCol="0">
            <a:spAutoFit/>
          </a:bodyPr>
          <a:lstStyle/>
          <a:p>
            <a:r>
              <a:rPr lang="en-US" sz="2400" b="1" i="0" dirty="0" smtClean="0">
                <a:latin typeface="Calibri"/>
                <a:cs typeface="Calibri"/>
              </a:rPr>
              <a:t>Machine translation:</a:t>
            </a:r>
          </a:p>
          <a:p>
            <a:r>
              <a:rPr lang="en-US" sz="2400" i="0" dirty="0" smtClean="0">
                <a:latin typeface="Calibri"/>
                <a:cs typeface="Calibri"/>
              </a:rPr>
              <a:t>Sharon's </a:t>
            </a:r>
            <a:r>
              <a:rPr lang="en-US" sz="2400" i="0" dirty="0">
                <a:latin typeface="Calibri"/>
                <a:cs typeface="Calibri"/>
              </a:rPr>
              <a:t>office said, leader of the main opposition Labor Party has admitted defeat and congratulatory telephone calls to Sharon.</a:t>
            </a:r>
          </a:p>
          <a:p>
            <a:endParaRPr lang="en-US" sz="2400" i="0" dirty="0" smtClean="0">
              <a:latin typeface="Calibri"/>
              <a:cs typeface="Calibri"/>
            </a:endParaRPr>
          </a:p>
          <a:p>
            <a:r>
              <a:rPr lang="en-US" sz="2400" b="1" i="0" dirty="0" smtClean="0">
                <a:latin typeface="Calibri"/>
                <a:cs typeface="Calibri"/>
              </a:rPr>
              <a:t>Human-generated translation:</a:t>
            </a:r>
          </a:p>
          <a:p>
            <a:r>
              <a:rPr lang="en-US" sz="2400" i="0" dirty="0" smtClean="0">
                <a:latin typeface="Calibri"/>
                <a:cs typeface="Calibri"/>
              </a:rPr>
              <a:t>According </a:t>
            </a:r>
            <a:r>
              <a:rPr lang="en-US" sz="2400" i="0" dirty="0">
                <a:latin typeface="Calibri"/>
                <a:cs typeface="Calibri"/>
              </a:rPr>
              <a:t>to </a:t>
            </a:r>
            <a:r>
              <a:rPr lang="en-US" sz="2400" i="0" dirty="0">
                <a:solidFill>
                  <a:srgbClr val="288CD2"/>
                </a:solidFill>
                <a:latin typeface="Calibri"/>
                <a:cs typeface="Calibri"/>
              </a:rPr>
              <a:t>a representative of </a:t>
            </a:r>
            <a:r>
              <a:rPr lang="en-US" sz="2400" i="0" dirty="0">
                <a:latin typeface="Calibri"/>
                <a:cs typeface="Calibri"/>
              </a:rPr>
              <a:t>Sharon's office, the leader of the main opposition Labor Party has admitted defeat and made the </a:t>
            </a:r>
            <a:r>
              <a:rPr lang="en-US" sz="2400" i="0" dirty="0">
                <a:solidFill>
                  <a:srgbClr val="288CD2"/>
                </a:solidFill>
                <a:latin typeface="Calibri"/>
                <a:cs typeface="Calibri"/>
              </a:rPr>
              <a:t>obligatory</a:t>
            </a:r>
            <a:r>
              <a:rPr lang="en-US" sz="2400" i="0" dirty="0">
                <a:solidFill>
                  <a:srgbClr val="1818FF"/>
                </a:solidFill>
                <a:latin typeface="Calibri"/>
                <a:cs typeface="Calibri"/>
              </a:rPr>
              <a:t> </a:t>
            </a:r>
            <a:r>
              <a:rPr lang="en-US" sz="2400" i="0" dirty="0">
                <a:latin typeface="Calibri"/>
                <a:cs typeface="Calibri"/>
              </a:rPr>
              <a:t>congratulating telephone call to Sharon.</a:t>
            </a:r>
          </a:p>
          <a:p>
            <a:endParaRPr lang="en-US" sz="2400" i="0" dirty="0">
              <a:latin typeface="Calibri"/>
              <a:cs typeface="Calibri"/>
            </a:endParaRPr>
          </a:p>
        </p:txBody>
      </p:sp>
    </p:spTree>
    <p:extLst>
      <p:ext uri="{BB962C8B-B14F-4D97-AF65-F5344CB8AC3E}">
        <p14:creationId xmlns:p14="http://schemas.microsoft.com/office/powerpoint/2010/main" val="146258319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libri"/>
              </a:rPr>
              <a:t>Free Translations</a:t>
            </a:r>
            <a:endParaRPr lang="en-US" dirty="0">
              <a:latin typeface="Calibri"/>
            </a:endParaRPr>
          </a:p>
        </p:txBody>
      </p:sp>
      <p:sp>
        <p:nvSpPr>
          <p:cNvPr id="4" name="TextBox 3"/>
          <p:cNvSpPr txBox="1"/>
          <p:nvPr/>
        </p:nvSpPr>
        <p:spPr>
          <a:xfrm>
            <a:off x="762001" y="1143000"/>
            <a:ext cx="7848600" cy="3785652"/>
          </a:xfrm>
          <a:prstGeom prst="rect">
            <a:avLst/>
          </a:prstGeom>
          <a:noFill/>
        </p:spPr>
        <p:txBody>
          <a:bodyPr wrap="square" rtlCol="0">
            <a:spAutoFit/>
          </a:bodyPr>
          <a:lstStyle/>
          <a:p>
            <a:r>
              <a:rPr lang="en-US" sz="2400" b="1" i="0" dirty="0" smtClean="0">
                <a:latin typeface="Calibri"/>
                <a:cs typeface="Calibri"/>
              </a:rPr>
              <a:t>Machine translation:</a:t>
            </a:r>
          </a:p>
          <a:p>
            <a:r>
              <a:rPr lang="en-US" sz="2400" i="0" dirty="0" smtClean="0">
                <a:latin typeface="Calibri"/>
                <a:cs typeface="Calibri"/>
              </a:rPr>
              <a:t>Sharon's </a:t>
            </a:r>
            <a:r>
              <a:rPr lang="en-US" sz="2400" i="0" dirty="0">
                <a:latin typeface="Calibri"/>
                <a:cs typeface="Calibri"/>
              </a:rPr>
              <a:t>office said, leader of the main opposition Labor Party has admitted defeat and congratulatory telephone calls to Sharon.</a:t>
            </a:r>
          </a:p>
          <a:p>
            <a:endParaRPr lang="en-US" sz="2400" i="0" dirty="0" smtClean="0">
              <a:latin typeface="Calibri"/>
              <a:cs typeface="Calibri"/>
            </a:endParaRPr>
          </a:p>
          <a:p>
            <a:r>
              <a:rPr lang="en-US" sz="2400" b="1" i="0" dirty="0" smtClean="0">
                <a:latin typeface="Calibri"/>
                <a:cs typeface="Calibri"/>
              </a:rPr>
              <a:t>Human-generated translation:</a:t>
            </a:r>
          </a:p>
          <a:p>
            <a:r>
              <a:rPr lang="en-US" sz="2400" i="0" dirty="0" smtClean="0">
                <a:latin typeface="Calibri"/>
                <a:cs typeface="Calibri"/>
              </a:rPr>
              <a:t>According </a:t>
            </a:r>
            <a:r>
              <a:rPr lang="en-US" sz="2400" i="0" dirty="0">
                <a:latin typeface="Calibri"/>
                <a:cs typeface="Calibri"/>
              </a:rPr>
              <a:t>to </a:t>
            </a:r>
            <a:r>
              <a:rPr lang="en-US" sz="2400" i="0" dirty="0">
                <a:solidFill>
                  <a:srgbClr val="288CD2"/>
                </a:solidFill>
                <a:latin typeface="Calibri"/>
                <a:cs typeface="Calibri"/>
              </a:rPr>
              <a:t>a representative of </a:t>
            </a:r>
            <a:r>
              <a:rPr lang="en-US" sz="2400" i="0" dirty="0">
                <a:latin typeface="Calibri"/>
                <a:cs typeface="Calibri"/>
              </a:rPr>
              <a:t>Sharon's office, the leader of the main opposition Labor Party has admitted defeat and made the </a:t>
            </a:r>
            <a:r>
              <a:rPr lang="en-US" sz="2400" i="0" dirty="0">
                <a:solidFill>
                  <a:srgbClr val="288CD2"/>
                </a:solidFill>
                <a:latin typeface="Calibri"/>
                <a:cs typeface="Calibri"/>
              </a:rPr>
              <a:t>obligatory</a:t>
            </a:r>
            <a:r>
              <a:rPr lang="en-US" sz="2400" i="0" dirty="0">
                <a:solidFill>
                  <a:srgbClr val="1818FF"/>
                </a:solidFill>
                <a:latin typeface="Calibri"/>
                <a:cs typeface="Calibri"/>
              </a:rPr>
              <a:t> </a:t>
            </a:r>
            <a:r>
              <a:rPr lang="en-US" sz="2400" i="0" dirty="0">
                <a:latin typeface="Calibri"/>
                <a:cs typeface="Calibri"/>
              </a:rPr>
              <a:t>congratulating telephone call to Sharon.</a:t>
            </a:r>
          </a:p>
          <a:p>
            <a:endParaRPr lang="en-US" sz="2400" i="0" dirty="0">
              <a:latin typeface="Calibri"/>
              <a:cs typeface="Calibri"/>
            </a:endParaRPr>
          </a:p>
        </p:txBody>
      </p:sp>
      <p:sp>
        <p:nvSpPr>
          <p:cNvPr id="5" name="Title 1"/>
          <p:cNvSpPr txBox="1">
            <a:spLocks/>
          </p:cNvSpPr>
          <p:nvPr/>
        </p:nvSpPr>
        <p:spPr bwMode="auto">
          <a:xfrm>
            <a:off x="762000" y="383309"/>
            <a:ext cx="7696200" cy="2133600"/>
          </a:xfrm>
          <a:prstGeom prst="rect">
            <a:avLst/>
          </a:prstGeom>
          <a:solidFill>
            <a:schemeClr val="tx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Calibri"/>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b="1" i="0" dirty="0" smtClean="0">
                <a:solidFill>
                  <a:srgbClr val="FFFF00"/>
                </a:solidFill>
                <a:latin typeface="Calibri"/>
              </a:rPr>
              <a:t>Even if gold standard translation was reachable by model, we might not want to learn from it directly</a:t>
            </a:r>
            <a:endParaRPr lang="en-US" b="1" i="0" dirty="0">
              <a:solidFill>
                <a:srgbClr val="FFFF00"/>
              </a:solidFill>
              <a:latin typeface="Calibri"/>
            </a:endParaRPr>
          </a:p>
        </p:txBody>
      </p:sp>
      <p:sp>
        <p:nvSpPr>
          <p:cNvPr id="6" name="Title 1"/>
          <p:cNvSpPr txBox="1">
            <a:spLocks/>
          </p:cNvSpPr>
          <p:nvPr/>
        </p:nvSpPr>
        <p:spPr bwMode="auto">
          <a:xfrm>
            <a:off x="381000" y="2694709"/>
            <a:ext cx="8382000" cy="2286000"/>
          </a:xfrm>
          <a:prstGeom prst="rect">
            <a:avLst/>
          </a:prstGeom>
          <a:solidFill>
            <a:srgbClr val="0062AC"/>
          </a:solidFill>
          <a:ln>
            <a:noFill/>
          </a:ln>
          <a:effectLs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mj-cs"/>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b="1" i="0" dirty="0" smtClean="0">
                <a:solidFill>
                  <a:schemeClr val="bg1"/>
                </a:solidFill>
                <a:latin typeface="Calibri"/>
                <a:cs typeface="Calibri"/>
              </a:rPr>
              <a:t>Applicable to other tasks:</a:t>
            </a:r>
          </a:p>
          <a:p>
            <a:r>
              <a:rPr lang="en-US" b="1" i="0" dirty="0" smtClean="0">
                <a:solidFill>
                  <a:schemeClr val="bg1"/>
                </a:solidFill>
                <a:latin typeface="Calibri"/>
                <a:cs typeface="Calibri"/>
              </a:rPr>
              <a:t>summarization</a:t>
            </a:r>
          </a:p>
          <a:p>
            <a:r>
              <a:rPr lang="en-US" b="1" i="0" dirty="0" smtClean="0">
                <a:solidFill>
                  <a:schemeClr val="bg1"/>
                </a:solidFill>
                <a:latin typeface="Calibri"/>
                <a:cs typeface="Calibri"/>
              </a:rPr>
              <a:t>image caption generation</a:t>
            </a:r>
          </a:p>
        </p:txBody>
      </p:sp>
    </p:spTree>
    <p:extLst>
      <p:ext uri="{BB962C8B-B14F-4D97-AF65-F5344CB8AC3E}">
        <p14:creationId xmlns:p14="http://schemas.microsoft.com/office/powerpoint/2010/main" val="92928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578"/>
            <a:ext cx="8229600" cy="726831"/>
          </a:xfrm>
        </p:spPr>
        <p:txBody>
          <a:bodyPr>
            <a:normAutofit/>
          </a:bodyPr>
          <a:lstStyle/>
          <a:p>
            <a:r>
              <a:rPr lang="en-US" sz="3600" dirty="0" smtClean="0">
                <a:solidFill>
                  <a:srgbClr val="000000"/>
                </a:solidFill>
              </a:rPr>
              <a:t>Loss Functions</a:t>
            </a:r>
            <a:endParaRPr lang="en-US" sz="3600" dirty="0">
              <a:solidFill>
                <a:srgbClr val="000000"/>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65</a:t>
            </a:fld>
            <a:endParaRPr lang="en-US" dirty="0"/>
          </a:p>
        </p:txBody>
      </p:sp>
      <p:graphicFrame>
        <p:nvGraphicFramePr>
          <p:cNvPr id="18" name="Table 17"/>
          <p:cNvGraphicFramePr>
            <a:graphicFrameLocks noGrp="1"/>
          </p:cNvGraphicFramePr>
          <p:nvPr>
            <p:extLst/>
          </p:nvPr>
        </p:nvGraphicFramePr>
        <p:xfrm>
          <a:off x="-1" y="1071880"/>
          <a:ext cx="9144001" cy="4301744"/>
        </p:xfrm>
        <a:graphic>
          <a:graphicData uri="http://schemas.openxmlformats.org/drawingml/2006/table">
            <a:tbl>
              <a:tblPr firstRow="1" bandRow="1">
                <a:tableStyleId>{5C22544A-7EE6-4342-B048-85BDC9FD1C3A}</a:tableStyleId>
              </a:tblPr>
              <a:tblGrid>
                <a:gridCol w="1300481"/>
                <a:gridCol w="5486400"/>
                <a:gridCol w="2357120"/>
              </a:tblGrid>
              <a:tr h="462280">
                <a:tc>
                  <a:txBody>
                    <a:bodyPr/>
                    <a:lstStyle/>
                    <a:p>
                      <a:pPr algn="ctr"/>
                      <a:r>
                        <a:rPr lang="en-US" dirty="0" smtClean="0">
                          <a:solidFill>
                            <a:srgbClr val="000000"/>
                          </a:solidFill>
                        </a:rPr>
                        <a:t>name</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loss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where used</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r>
              <a:tr h="821944">
                <a:tc>
                  <a:txBody>
                    <a:bodyPr/>
                    <a:lstStyle/>
                    <a:p>
                      <a:pPr algn="ctr"/>
                      <a:r>
                        <a:rPr lang="en-US" dirty="0" smtClean="0">
                          <a:solidFill>
                            <a:srgbClr val="000000"/>
                          </a:solidFill>
                        </a:rPr>
                        <a:t>cost (“0-1”)</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 intractable, but underlies “direct error minimization”</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perceptron</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perceptron algorithm</a:t>
                      </a:r>
                      <a:r>
                        <a:rPr lang="en-US" baseline="0" dirty="0" smtClean="0">
                          <a:solidFill>
                            <a:srgbClr val="000000"/>
                          </a:solidFill>
                        </a:rPr>
                        <a:t> (Rosenblatt, 1958)</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hinge</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support vector machines, other large-margin algorithms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log</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r>
                        <a:rPr lang="en-US" dirty="0" smtClean="0">
                          <a:solidFill>
                            <a:srgbClr val="000000"/>
                          </a:solidFill>
                        </a:rPr>
                        <a:t>logistic regression, conditional random fields, maximum</a:t>
                      </a:r>
                      <a:r>
                        <a:rPr lang="en-US" baseline="0" dirty="0" smtClean="0">
                          <a:solidFill>
                            <a:srgbClr val="000000"/>
                          </a:solidFill>
                        </a:rPr>
                        <a:t> entropy models</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r>
            </a:tbl>
          </a:graphicData>
        </a:graphic>
      </p:graphicFrame>
      <p:pic>
        <p:nvPicPr>
          <p:cNvPr id="20" name="Picture 19"/>
          <p:cNvPicPr>
            <a:picLocks noChangeAspect="1"/>
          </p:cNvPicPr>
          <p:nvPr/>
        </p:nvPicPr>
        <p:blipFill rotWithShape="1">
          <a:blip r:embed="rId2"/>
          <a:srcRect l="32819"/>
          <a:stretch/>
        </p:blipFill>
        <p:spPr>
          <a:xfrm>
            <a:off x="1509656" y="2692400"/>
            <a:ext cx="4336528" cy="442435"/>
          </a:xfrm>
          <a:prstGeom prst="rect">
            <a:avLst/>
          </a:prstGeom>
        </p:spPr>
      </p:pic>
      <p:pic>
        <p:nvPicPr>
          <p:cNvPr id="21" name="Picture 20"/>
          <p:cNvPicPr>
            <a:picLocks noChangeAspect="1"/>
          </p:cNvPicPr>
          <p:nvPr/>
        </p:nvPicPr>
        <p:blipFill rotWithShape="1">
          <a:blip r:embed="rId3"/>
          <a:srcRect l="27111"/>
          <a:stretch/>
        </p:blipFill>
        <p:spPr>
          <a:xfrm>
            <a:off x="1402079" y="3618408"/>
            <a:ext cx="5323841" cy="397289"/>
          </a:xfrm>
          <a:prstGeom prst="rect">
            <a:avLst/>
          </a:prstGeom>
        </p:spPr>
      </p:pic>
      <p:pic>
        <p:nvPicPr>
          <p:cNvPr id="22" name="Picture 21"/>
          <p:cNvPicPr>
            <a:picLocks noChangeAspect="1"/>
          </p:cNvPicPr>
          <p:nvPr/>
        </p:nvPicPr>
        <p:blipFill rotWithShape="1">
          <a:blip r:embed="rId4"/>
          <a:srcRect l="45252"/>
          <a:stretch/>
        </p:blipFill>
        <p:spPr>
          <a:xfrm>
            <a:off x="2641600" y="1866900"/>
            <a:ext cx="2631440" cy="299656"/>
          </a:xfrm>
          <a:prstGeom prst="rect">
            <a:avLst/>
          </a:prstGeom>
        </p:spPr>
      </p:pic>
      <p:pic>
        <p:nvPicPr>
          <p:cNvPr id="6" name="Picture 5"/>
          <p:cNvPicPr>
            <a:picLocks noChangeAspect="1"/>
          </p:cNvPicPr>
          <p:nvPr/>
        </p:nvPicPr>
        <p:blipFill>
          <a:blip r:embed="rId5"/>
          <a:stretch>
            <a:fillRect/>
          </a:stretch>
        </p:blipFill>
        <p:spPr>
          <a:xfrm>
            <a:off x="1601096" y="4399458"/>
            <a:ext cx="4870824" cy="974165"/>
          </a:xfrm>
          <a:prstGeom prst="rect">
            <a:avLst/>
          </a:prstGeom>
        </p:spPr>
      </p:pic>
    </p:spTree>
    <p:extLst>
      <p:ext uri="{BB962C8B-B14F-4D97-AF65-F5344CB8AC3E}">
        <p14:creationId xmlns:p14="http://schemas.microsoft.com/office/powerpoint/2010/main" val="164425786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578"/>
            <a:ext cx="8229600" cy="726831"/>
          </a:xfrm>
        </p:spPr>
        <p:txBody>
          <a:bodyPr>
            <a:normAutofit/>
          </a:bodyPr>
          <a:lstStyle/>
          <a:p>
            <a:r>
              <a:rPr lang="en-US" sz="3600" dirty="0" smtClean="0">
                <a:solidFill>
                  <a:srgbClr val="000000"/>
                </a:solidFill>
              </a:rPr>
              <a:t>Loss Functions</a:t>
            </a:r>
            <a:endParaRPr lang="en-US" sz="3600" dirty="0">
              <a:solidFill>
                <a:srgbClr val="000000"/>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66</a:t>
            </a:fld>
            <a:endParaRPr lang="en-US" dirty="0"/>
          </a:p>
        </p:txBody>
      </p:sp>
      <p:graphicFrame>
        <p:nvGraphicFramePr>
          <p:cNvPr id="18" name="Table 17"/>
          <p:cNvGraphicFramePr>
            <a:graphicFrameLocks noGrp="1"/>
          </p:cNvGraphicFramePr>
          <p:nvPr>
            <p:extLst/>
          </p:nvPr>
        </p:nvGraphicFramePr>
        <p:xfrm>
          <a:off x="-1" y="1071880"/>
          <a:ext cx="9144001" cy="4301744"/>
        </p:xfrm>
        <a:graphic>
          <a:graphicData uri="http://schemas.openxmlformats.org/drawingml/2006/table">
            <a:tbl>
              <a:tblPr firstRow="1" bandRow="1">
                <a:tableStyleId>{5C22544A-7EE6-4342-B048-85BDC9FD1C3A}</a:tableStyleId>
              </a:tblPr>
              <a:tblGrid>
                <a:gridCol w="1300481"/>
                <a:gridCol w="5486400"/>
                <a:gridCol w="2357120"/>
              </a:tblGrid>
              <a:tr h="462280">
                <a:tc>
                  <a:txBody>
                    <a:bodyPr/>
                    <a:lstStyle/>
                    <a:p>
                      <a:pPr algn="ctr"/>
                      <a:r>
                        <a:rPr lang="en-US" dirty="0" smtClean="0">
                          <a:solidFill>
                            <a:srgbClr val="000000"/>
                          </a:solidFill>
                        </a:rPr>
                        <a:t>name</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loss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where used</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r>
              <a:tr h="821944">
                <a:tc>
                  <a:txBody>
                    <a:bodyPr/>
                    <a:lstStyle/>
                    <a:p>
                      <a:pPr algn="ctr"/>
                      <a:r>
                        <a:rPr lang="en-US" dirty="0" smtClean="0">
                          <a:solidFill>
                            <a:srgbClr val="000000"/>
                          </a:solidFill>
                        </a:rPr>
                        <a:t>cost (“0-1”)</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 intractable, but underlies “direct error minimization”</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perceptron</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perceptron algorithm</a:t>
                      </a:r>
                      <a:r>
                        <a:rPr lang="en-US" baseline="0" dirty="0" smtClean="0">
                          <a:solidFill>
                            <a:srgbClr val="000000"/>
                          </a:solidFill>
                        </a:rPr>
                        <a:t> (Rosenblatt, 1958)</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hinge</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support vector machines, other large-margin algorithms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log</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r>
                        <a:rPr lang="en-US" dirty="0" smtClean="0">
                          <a:solidFill>
                            <a:srgbClr val="000000"/>
                          </a:solidFill>
                        </a:rPr>
                        <a:t>logistic regression, conditional random fields, maximum</a:t>
                      </a:r>
                      <a:r>
                        <a:rPr lang="en-US" baseline="0" dirty="0" smtClean="0">
                          <a:solidFill>
                            <a:srgbClr val="000000"/>
                          </a:solidFill>
                        </a:rPr>
                        <a:t> entropy models</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r>
            </a:tbl>
          </a:graphicData>
        </a:graphic>
      </p:graphicFrame>
      <p:pic>
        <p:nvPicPr>
          <p:cNvPr id="20" name="Picture 19"/>
          <p:cNvPicPr>
            <a:picLocks noChangeAspect="1"/>
          </p:cNvPicPr>
          <p:nvPr/>
        </p:nvPicPr>
        <p:blipFill rotWithShape="1">
          <a:blip r:embed="rId2"/>
          <a:srcRect l="32819"/>
          <a:stretch/>
        </p:blipFill>
        <p:spPr>
          <a:xfrm>
            <a:off x="1509656" y="2692400"/>
            <a:ext cx="4336528" cy="442435"/>
          </a:xfrm>
          <a:prstGeom prst="rect">
            <a:avLst/>
          </a:prstGeom>
        </p:spPr>
      </p:pic>
      <p:pic>
        <p:nvPicPr>
          <p:cNvPr id="21" name="Picture 20"/>
          <p:cNvPicPr>
            <a:picLocks noChangeAspect="1"/>
          </p:cNvPicPr>
          <p:nvPr/>
        </p:nvPicPr>
        <p:blipFill rotWithShape="1">
          <a:blip r:embed="rId3"/>
          <a:srcRect l="27111"/>
          <a:stretch/>
        </p:blipFill>
        <p:spPr>
          <a:xfrm>
            <a:off x="1402079" y="3618408"/>
            <a:ext cx="5323841" cy="397289"/>
          </a:xfrm>
          <a:prstGeom prst="rect">
            <a:avLst/>
          </a:prstGeom>
        </p:spPr>
      </p:pic>
      <p:pic>
        <p:nvPicPr>
          <p:cNvPr id="22" name="Picture 21"/>
          <p:cNvPicPr>
            <a:picLocks noChangeAspect="1"/>
          </p:cNvPicPr>
          <p:nvPr/>
        </p:nvPicPr>
        <p:blipFill rotWithShape="1">
          <a:blip r:embed="rId4"/>
          <a:srcRect l="45252"/>
          <a:stretch/>
        </p:blipFill>
        <p:spPr>
          <a:xfrm>
            <a:off x="2641600" y="1866900"/>
            <a:ext cx="2631440" cy="299656"/>
          </a:xfrm>
          <a:prstGeom prst="rect">
            <a:avLst/>
          </a:prstGeom>
        </p:spPr>
      </p:pic>
      <p:pic>
        <p:nvPicPr>
          <p:cNvPr id="6" name="Picture 5"/>
          <p:cNvPicPr>
            <a:picLocks noChangeAspect="1"/>
          </p:cNvPicPr>
          <p:nvPr/>
        </p:nvPicPr>
        <p:blipFill>
          <a:blip r:embed="rId5"/>
          <a:stretch>
            <a:fillRect/>
          </a:stretch>
        </p:blipFill>
        <p:spPr>
          <a:xfrm>
            <a:off x="1601096" y="4399458"/>
            <a:ext cx="4870824" cy="974165"/>
          </a:xfrm>
          <a:prstGeom prst="rect">
            <a:avLst/>
          </a:prstGeom>
        </p:spPr>
      </p:pic>
      <p:sp>
        <p:nvSpPr>
          <p:cNvPr id="11" name="Title 1"/>
          <p:cNvSpPr txBox="1">
            <a:spLocks/>
          </p:cNvSpPr>
          <p:nvPr/>
        </p:nvSpPr>
        <p:spPr>
          <a:xfrm>
            <a:off x="1651896" y="199338"/>
            <a:ext cx="5825864" cy="1458435"/>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smtClean="0">
                <a:solidFill>
                  <a:srgbClr val="FFFF00"/>
                </a:solidFill>
                <a:latin typeface="Calibri"/>
              </a:rPr>
              <a:t>issue: gold standard translation is often unreachable by the model</a:t>
            </a:r>
            <a:endParaRPr lang="en-US" sz="2800" b="1" dirty="0">
              <a:solidFill>
                <a:srgbClr val="FFFF00"/>
              </a:solidFill>
              <a:latin typeface="Calibri"/>
            </a:endParaRPr>
          </a:p>
        </p:txBody>
      </p:sp>
      <p:cxnSp>
        <p:nvCxnSpPr>
          <p:cNvPr id="5" name="Straight Arrow Connector 4"/>
          <p:cNvCxnSpPr/>
          <p:nvPr/>
        </p:nvCxnSpPr>
        <p:spPr>
          <a:xfrm flipH="1">
            <a:off x="2783840" y="1606973"/>
            <a:ext cx="660400" cy="1085427"/>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2560320" y="1606973"/>
            <a:ext cx="1036320" cy="2011435"/>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H="1">
            <a:off x="2854960" y="1606973"/>
            <a:ext cx="894080" cy="3208867"/>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107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578"/>
            <a:ext cx="8229600" cy="726831"/>
          </a:xfrm>
        </p:spPr>
        <p:txBody>
          <a:bodyPr>
            <a:normAutofit/>
          </a:bodyPr>
          <a:lstStyle/>
          <a:p>
            <a:r>
              <a:rPr lang="en-US" sz="3600" dirty="0" smtClean="0">
                <a:solidFill>
                  <a:srgbClr val="000000"/>
                </a:solidFill>
              </a:rPr>
              <a:t>Loss Functions</a:t>
            </a:r>
            <a:endParaRPr lang="en-US" sz="3600" dirty="0">
              <a:solidFill>
                <a:srgbClr val="000000"/>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67</a:t>
            </a:fld>
            <a:endParaRPr lang="en-US" dirty="0"/>
          </a:p>
        </p:txBody>
      </p:sp>
      <p:graphicFrame>
        <p:nvGraphicFramePr>
          <p:cNvPr id="18" name="Table 17"/>
          <p:cNvGraphicFramePr>
            <a:graphicFrameLocks noGrp="1"/>
          </p:cNvGraphicFramePr>
          <p:nvPr>
            <p:extLst/>
          </p:nvPr>
        </p:nvGraphicFramePr>
        <p:xfrm>
          <a:off x="-1" y="1071880"/>
          <a:ext cx="9144001" cy="4301744"/>
        </p:xfrm>
        <a:graphic>
          <a:graphicData uri="http://schemas.openxmlformats.org/drawingml/2006/table">
            <a:tbl>
              <a:tblPr firstRow="1" bandRow="1">
                <a:tableStyleId>{5C22544A-7EE6-4342-B048-85BDC9FD1C3A}</a:tableStyleId>
              </a:tblPr>
              <a:tblGrid>
                <a:gridCol w="1300481"/>
                <a:gridCol w="5486400"/>
                <a:gridCol w="2357120"/>
              </a:tblGrid>
              <a:tr h="462280">
                <a:tc>
                  <a:txBody>
                    <a:bodyPr/>
                    <a:lstStyle/>
                    <a:p>
                      <a:pPr algn="ctr"/>
                      <a:r>
                        <a:rPr lang="en-US" dirty="0" smtClean="0">
                          <a:solidFill>
                            <a:srgbClr val="000000"/>
                          </a:solidFill>
                        </a:rPr>
                        <a:t>name</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loss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where used</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r>
              <a:tr h="821944">
                <a:tc>
                  <a:txBody>
                    <a:bodyPr/>
                    <a:lstStyle/>
                    <a:p>
                      <a:pPr algn="ctr"/>
                      <a:r>
                        <a:rPr lang="en-US" dirty="0" smtClean="0">
                          <a:solidFill>
                            <a:srgbClr val="000000"/>
                          </a:solidFill>
                        </a:rPr>
                        <a:t>cost (“0-1”)</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 intractable, but underlies “direct error minimization”</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perceptron</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perceptron algorithm</a:t>
                      </a:r>
                      <a:r>
                        <a:rPr lang="en-US" baseline="0" dirty="0" smtClean="0">
                          <a:solidFill>
                            <a:srgbClr val="000000"/>
                          </a:solidFill>
                        </a:rPr>
                        <a:t> (Rosenblatt, 1958)</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hinge</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support vector machines, other large-margin algorithms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log</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r>
                        <a:rPr lang="en-US" dirty="0" smtClean="0">
                          <a:solidFill>
                            <a:srgbClr val="000000"/>
                          </a:solidFill>
                        </a:rPr>
                        <a:t>logistic regression, conditional random fields, maximum</a:t>
                      </a:r>
                      <a:r>
                        <a:rPr lang="en-US" baseline="0" dirty="0" smtClean="0">
                          <a:solidFill>
                            <a:srgbClr val="000000"/>
                          </a:solidFill>
                        </a:rPr>
                        <a:t> entropy models</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r>
            </a:tbl>
          </a:graphicData>
        </a:graphic>
      </p:graphicFrame>
      <p:pic>
        <p:nvPicPr>
          <p:cNvPr id="20" name="Picture 19"/>
          <p:cNvPicPr>
            <a:picLocks noChangeAspect="1"/>
          </p:cNvPicPr>
          <p:nvPr/>
        </p:nvPicPr>
        <p:blipFill rotWithShape="1">
          <a:blip r:embed="rId2"/>
          <a:srcRect l="32819"/>
          <a:stretch/>
        </p:blipFill>
        <p:spPr>
          <a:xfrm>
            <a:off x="1509656" y="2692400"/>
            <a:ext cx="4336528" cy="442435"/>
          </a:xfrm>
          <a:prstGeom prst="rect">
            <a:avLst/>
          </a:prstGeom>
        </p:spPr>
      </p:pic>
      <p:pic>
        <p:nvPicPr>
          <p:cNvPr id="21" name="Picture 20"/>
          <p:cNvPicPr>
            <a:picLocks noChangeAspect="1"/>
          </p:cNvPicPr>
          <p:nvPr/>
        </p:nvPicPr>
        <p:blipFill rotWithShape="1">
          <a:blip r:embed="rId3"/>
          <a:srcRect l="27111"/>
          <a:stretch/>
        </p:blipFill>
        <p:spPr>
          <a:xfrm>
            <a:off x="1402079" y="3618408"/>
            <a:ext cx="5323841" cy="397289"/>
          </a:xfrm>
          <a:prstGeom prst="rect">
            <a:avLst/>
          </a:prstGeom>
        </p:spPr>
      </p:pic>
      <p:pic>
        <p:nvPicPr>
          <p:cNvPr id="22" name="Picture 21"/>
          <p:cNvPicPr>
            <a:picLocks noChangeAspect="1"/>
          </p:cNvPicPr>
          <p:nvPr/>
        </p:nvPicPr>
        <p:blipFill rotWithShape="1">
          <a:blip r:embed="rId4"/>
          <a:srcRect l="45252"/>
          <a:stretch/>
        </p:blipFill>
        <p:spPr>
          <a:xfrm>
            <a:off x="2641600" y="1866900"/>
            <a:ext cx="2631440" cy="299656"/>
          </a:xfrm>
          <a:prstGeom prst="rect">
            <a:avLst/>
          </a:prstGeom>
        </p:spPr>
      </p:pic>
      <p:pic>
        <p:nvPicPr>
          <p:cNvPr id="6" name="Picture 5"/>
          <p:cNvPicPr>
            <a:picLocks noChangeAspect="1"/>
          </p:cNvPicPr>
          <p:nvPr/>
        </p:nvPicPr>
        <p:blipFill>
          <a:blip r:embed="rId5"/>
          <a:stretch>
            <a:fillRect/>
          </a:stretch>
        </p:blipFill>
        <p:spPr>
          <a:xfrm>
            <a:off x="1601096" y="4399458"/>
            <a:ext cx="4870824" cy="974165"/>
          </a:xfrm>
          <a:prstGeom prst="rect">
            <a:avLst/>
          </a:prstGeom>
        </p:spPr>
      </p:pic>
      <p:sp>
        <p:nvSpPr>
          <p:cNvPr id="11" name="Title 1"/>
          <p:cNvSpPr txBox="1">
            <a:spLocks/>
          </p:cNvSpPr>
          <p:nvPr/>
        </p:nvSpPr>
        <p:spPr>
          <a:xfrm>
            <a:off x="1249680" y="0"/>
            <a:ext cx="6228080" cy="1458435"/>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smtClean="0">
                <a:solidFill>
                  <a:srgbClr val="FFFF00"/>
                </a:solidFill>
                <a:latin typeface="Calibri"/>
              </a:rPr>
              <a:t>intractable, but it doesn’t need to compute model score of gold standard!</a:t>
            </a:r>
            <a:endParaRPr lang="en-US" sz="2800" b="1" dirty="0">
              <a:solidFill>
                <a:srgbClr val="FFFF00"/>
              </a:solidFill>
              <a:latin typeface="Calibri"/>
            </a:endParaRPr>
          </a:p>
        </p:txBody>
      </p:sp>
      <p:sp>
        <p:nvSpPr>
          <p:cNvPr id="3" name="Donut 2"/>
          <p:cNvSpPr/>
          <p:nvPr/>
        </p:nvSpPr>
        <p:spPr>
          <a:xfrm>
            <a:off x="1920240" y="1458435"/>
            <a:ext cx="4328160" cy="1030765"/>
          </a:xfrm>
          <a:prstGeom prst="donut">
            <a:avLst>
              <a:gd name="adj" fmla="val 8346"/>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276927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17866"/>
            <a:ext cx="8229600" cy="3241632"/>
          </a:xfrm>
          <a:ln>
            <a:solidFill>
              <a:schemeClr val="tx1"/>
            </a:solidFill>
          </a:ln>
        </p:spPr>
      </p:pic>
      <p:sp>
        <p:nvSpPr>
          <p:cNvPr id="6" name="TextBox 11"/>
          <p:cNvSpPr txBox="1">
            <a:spLocks noChangeArrowheads="1"/>
          </p:cNvSpPr>
          <p:nvPr/>
        </p:nvSpPr>
        <p:spPr bwMode="auto">
          <a:xfrm>
            <a:off x="2764162" y="221706"/>
            <a:ext cx="3563746"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i="0" dirty="0" smtClean="0">
                <a:solidFill>
                  <a:srgbClr val="0062AC"/>
                </a:solidFill>
                <a:latin typeface="Calibri"/>
                <a:cs typeface="Calibri"/>
              </a:rPr>
              <a:t>MERT, </a:t>
            </a:r>
            <a:r>
              <a:rPr lang="en-US" sz="3600" i="0" dirty="0" err="1" smtClean="0">
                <a:solidFill>
                  <a:srgbClr val="0062AC"/>
                </a:solidFill>
                <a:latin typeface="Calibri"/>
                <a:cs typeface="Calibri"/>
              </a:rPr>
              <a:t>Och</a:t>
            </a:r>
            <a:r>
              <a:rPr lang="en-US" sz="3600" i="0" dirty="0" smtClean="0">
                <a:solidFill>
                  <a:srgbClr val="0062AC"/>
                </a:solidFill>
                <a:latin typeface="Calibri"/>
                <a:cs typeface="Calibri"/>
              </a:rPr>
              <a:t> (2003)</a:t>
            </a:r>
          </a:p>
        </p:txBody>
      </p:sp>
    </p:spTree>
    <p:extLst>
      <p:ext uri="{BB962C8B-B14F-4D97-AF65-F5344CB8AC3E}">
        <p14:creationId xmlns:p14="http://schemas.microsoft.com/office/powerpoint/2010/main" val="424234298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Notation</a:t>
            </a:r>
            <a:endParaRPr lang="en-US" dirty="0"/>
          </a:p>
        </p:txBody>
      </p:sp>
      <p:pic>
        <p:nvPicPr>
          <p:cNvPr id="5" name="Picture 4"/>
          <p:cNvPicPr>
            <a:picLocks noChangeAspect="1"/>
          </p:cNvPicPr>
          <p:nvPr/>
        </p:nvPicPr>
        <p:blipFill>
          <a:blip r:embed="rId2"/>
          <a:stretch>
            <a:fillRect/>
          </a:stretch>
        </p:blipFill>
        <p:spPr>
          <a:xfrm>
            <a:off x="2413000" y="3124200"/>
            <a:ext cx="4305300" cy="609600"/>
          </a:xfrm>
          <a:prstGeom prst="rect">
            <a:avLst/>
          </a:prstGeom>
        </p:spPr>
      </p:pic>
      <p:cxnSp>
        <p:nvCxnSpPr>
          <p:cNvPr id="6" name="Straight Arrow Connector 5"/>
          <p:cNvCxnSpPr/>
          <p:nvPr/>
        </p:nvCxnSpPr>
        <p:spPr>
          <a:xfrm flipH="1">
            <a:off x="5620337" y="2170546"/>
            <a:ext cx="279400" cy="939800"/>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11"/>
          <p:cNvSpPr txBox="1">
            <a:spLocks noChangeArrowheads="1"/>
          </p:cNvSpPr>
          <p:nvPr/>
        </p:nvSpPr>
        <p:spPr bwMode="auto">
          <a:xfrm>
            <a:off x="3816701" y="1492677"/>
            <a:ext cx="1060432"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feature</a:t>
            </a:r>
          </a:p>
          <a:p>
            <a:pPr algn="ctr" eaLnBrk="1" hangingPunct="1"/>
            <a:r>
              <a:rPr lang="en-US" sz="2000" dirty="0" smtClean="0">
                <a:solidFill>
                  <a:srgbClr val="0062AC"/>
                </a:solidFill>
                <a:latin typeface="Calibri"/>
                <a:cs typeface="Calibri"/>
              </a:rPr>
              <a:t>weights</a:t>
            </a:r>
          </a:p>
        </p:txBody>
      </p:sp>
      <p:cxnSp>
        <p:nvCxnSpPr>
          <p:cNvPr id="8" name="Straight Arrow Connector 7"/>
          <p:cNvCxnSpPr>
            <a:stCxn id="7" idx="2"/>
          </p:cNvCxnSpPr>
          <p:nvPr/>
        </p:nvCxnSpPr>
        <p:spPr>
          <a:xfrm>
            <a:off x="4346917" y="2200563"/>
            <a:ext cx="744628" cy="893619"/>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11"/>
          <p:cNvSpPr txBox="1">
            <a:spLocks noChangeArrowheads="1"/>
          </p:cNvSpPr>
          <p:nvPr/>
        </p:nvSpPr>
        <p:spPr bwMode="auto">
          <a:xfrm>
            <a:off x="5416879" y="1417784"/>
            <a:ext cx="1019893"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feature</a:t>
            </a:r>
          </a:p>
          <a:p>
            <a:pPr algn="ctr" eaLnBrk="1" hangingPunct="1"/>
            <a:r>
              <a:rPr lang="en-US" sz="2000" dirty="0" smtClean="0">
                <a:solidFill>
                  <a:srgbClr val="0062AC"/>
                </a:solidFill>
                <a:latin typeface="Calibri"/>
                <a:cs typeface="Calibri"/>
              </a:rPr>
              <a:t>vector</a:t>
            </a:r>
            <a:endParaRPr lang="en-US" sz="2000" dirty="0">
              <a:solidFill>
                <a:srgbClr val="0062AC"/>
              </a:solidFill>
              <a:latin typeface="Calibri"/>
              <a:cs typeface="Calibri"/>
            </a:endParaRPr>
          </a:p>
        </p:txBody>
      </p:sp>
      <p:cxnSp>
        <p:nvCxnSpPr>
          <p:cNvPr id="10" name="Straight Arrow Connector 9"/>
          <p:cNvCxnSpPr>
            <a:stCxn id="15" idx="0"/>
          </p:cNvCxnSpPr>
          <p:nvPr/>
        </p:nvCxnSpPr>
        <p:spPr>
          <a:xfrm flipV="1">
            <a:off x="5144041" y="3500582"/>
            <a:ext cx="716432" cy="955965"/>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1"/>
          <p:cNvSpPr txBox="1">
            <a:spLocks noChangeArrowheads="1"/>
          </p:cNvSpPr>
          <p:nvPr/>
        </p:nvSpPr>
        <p:spPr bwMode="auto">
          <a:xfrm>
            <a:off x="7421378" y="4120071"/>
            <a:ext cx="1300005"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latent</a:t>
            </a:r>
          </a:p>
          <a:p>
            <a:pPr algn="ctr" eaLnBrk="1" hangingPunct="1"/>
            <a:r>
              <a:rPr lang="en-US" sz="2000" dirty="0" smtClean="0">
                <a:solidFill>
                  <a:srgbClr val="0062AC"/>
                </a:solidFill>
                <a:latin typeface="Calibri"/>
                <a:cs typeface="Calibri"/>
              </a:rPr>
              <a:t>derivation</a:t>
            </a:r>
          </a:p>
        </p:txBody>
      </p:sp>
      <p:sp>
        <p:nvSpPr>
          <p:cNvPr id="15" name="TextBox 11"/>
          <p:cNvSpPr txBox="1">
            <a:spLocks noChangeArrowheads="1"/>
          </p:cNvSpPr>
          <p:nvPr/>
        </p:nvSpPr>
        <p:spPr bwMode="auto">
          <a:xfrm>
            <a:off x="4559097" y="4456547"/>
            <a:ext cx="1169887"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source</a:t>
            </a:r>
          </a:p>
          <a:p>
            <a:pPr algn="ctr" eaLnBrk="1" hangingPunct="1"/>
            <a:r>
              <a:rPr lang="en-US" sz="2000" dirty="0" smtClean="0">
                <a:solidFill>
                  <a:srgbClr val="0062AC"/>
                </a:solidFill>
                <a:latin typeface="Calibri"/>
                <a:cs typeface="Calibri"/>
              </a:rPr>
              <a:t>sentence</a:t>
            </a:r>
            <a:endParaRPr lang="en-US" sz="2000" dirty="0">
              <a:solidFill>
                <a:srgbClr val="0062AC"/>
              </a:solidFill>
              <a:latin typeface="Calibri"/>
              <a:cs typeface="Calibri"/>
            </a:endParaRPr>
          </a:p>
        </p:txBody>
      </p:sp>
      <p:sp>
        <p:nvSpPr>
          <p:cNvPr id="17" name="TextBox 11"/>
          <p:cNvSpPr txBox="1">
            <a:spLocks noChangeArrowheads="1"/>
          </p:cNvSpPr>
          <p:nvPr/>
        </p:nvSpPr>
        <p:spPr bwMode="auto">
          <a:xfrm>
            <a:off x="5772152" y="4528129"/>
            <a:ext cx="138078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translation</a:t>
            </a:r>
            <a:endParaRPr lang="en-US" sz="2000" dirty="0">
              <a:solidFill>
                <a:srgbClr val="0062AC"/>
              </a:solidFill>
              <a:latin typeface="Calibri"/>
              <a:cs typeface="Calibri"/>
            </a:endParaRPr>
          </a:p>
        </p:txBody>
      </p:sp>
      <p:cxnSp>
        <p:nvCxnSpPr>
          <p:cNvPr id="18" name="Straight Arrow Connector 17"/>
          <p:cNvCxnSpPr>
            <a:stCxn id="17" idx="0"/>
          </p:cNvCxnSpPr>
          <p:nvPr/>
        </p:nvCxnSpPr>
        <p:spPr>
          <a:xfrm flipH="1" flipV="1">
            <a:off x="6176819" y="3509819"/>
            <a:ext cx="285724" cy="1018310"/>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1" idx="0"/>
          </p:cNvCxnSpPr>
          <p:nvPr/>
        </p:nvCxnSpPr>
        <p:spPr>
          <a:xfrm flipH="1" flipV="1">
            <a:off x="6534729" y="3498274"/>
            <a:ext cx="1536652" cy="621797"/>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63208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spTree>
    <p:extLst>
      <p:ext uri="{BB962C8B-B14F-4D97-AF65-F5344CB8AC3E}">
        <p14:creationId xmlns:p14="http://schemas.microsoft.com/office/powerpoint/2010/main" val="1066968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21"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
        <p:nvSpPr>
          <p:cNvPr id="26"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sp>
        <p:nvSpPr>
          <p:cNvPr id="11" name="Left Brace 10"/>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247050608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cxnSp>
        <p:nvCxnSpPr>
          <p:cNvPr id="16" name="Straight Arrow Connector 15"/>
          <p:cNvCxnSpPr>
            <a:stCxn id="17" idx="2"/>
          </p:cNvCxnSpPr>
          <p:nvPr/>
        </p:nvCxnSpPr>
        <p:spPr>
          <a:xfrm flipH="1">
            <a:off x="2182076" y="2128659"/>
            <a:ext cx="98631" cy="1023252"/>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1"/>
          <p:cNvSpPr txBox="1">
            <a:spLocks noChangeArrowheads="1"/>
          </p:cNvSpPr>
          <p:nvPr/>
        </p:nvSpPr>
        <p:spPr bwMode="auto">
          <a:xfrm>
            <a:off x="384056" y="1420773"/>
            <a:ext cx="379330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“how bad are these translations?”</a:t>
            </a:r>
          </a:p>
          <a:p>
            <a:pPr algn="ctr" eaLnBrk="1" hangingPunct="1"/>
            <a:r>
              <a:rPr lang="en-US" sz="2000" dirty="0" smtClean="0">
                <a:solidFill>
                  <a:srgbClr val="0062AC"/>
                </a:solidFill>
                <a:latin typeface="Calibri"/>
                <a:cs typeface="Calibri"/>
              </a:rPr>
              <a:t>e.g., negative BLEU</a:t>
            </a:r>
          </a:p>
        </p:txBody>
      </p:sp>
      <p:sp>
        <p:nvSpPr>
          <p:cNvPr id="18"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9" name="Left Brace 18"/>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2"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Tree>
    <p:extLst>
      <p:ext uri="{BB962C8B-B14F-4D97-AF65-F5344CB8AC3E}">
        <p14:creationId xmlns:p14="http://schemas.microsoft.com/office/powerpoint/2010/main" val="116936410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cxnSp>
        <p:nvCxnSpPr>
          <p:cNvPr id="16" name="Straight Arrow Connector 15"/>
          <p:cNvCxnSpPr>
            <a:stCxn id="17" idx="2"/>
          </p:cNvCxnSpPr>
          <p:nvPr/>
        </p:nvCxnSpPr>
        <p:spPr>
          <a:xfrm flipH="1">
            <a:off x="2182076" y="2128659"/>
            <a:ext cx="98631" cy="1023252"/>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1"/>
          <p:cNvSpPr txBox="1">
            <a:spLocks noChangeArrowheads="1"/>
          </p:cNvSpPr>
          <p:nvPr/>
        </p:nvSpPr>
        <p:spPr bwMode="auto">
          <a:xfrm>
            <a:off x="384056" y="1420773"/>
            <a:ext cx="379330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“how bad are these translations?”</a:t>
            </a:r>
          </a:p>
          <a:p>
            <a:pPr algn="ctr" eaLnBrk="1" hangingPunct="1"/>
            <a:r>
              <a:rPr lang="en-US" sz="2000" dirty="0" smtClean="0">
                <a:solidFill>
                  <a:srgbClr val="0062AC"/>
                </a:solidFill>
                <a:latin typeface="Calibri"/>
                <a:cs typeface="Calibri"/>
              </a:rPr>
              <a:t>e.g., negative BLEU</a:t>
            </a:r>
          </a:p>
        </p:txBody>
      </p:sp>
      <p:sp>
        <p:nvSpPr>
          <p:cNvPr id="18"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9" name="Left Brace 18"/>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2"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
        <p:nvSpPr>
          <p:cNvPr id="3" name="Rectangle 2"/>
          <p:cNvSpPr/>
          <p:nvPr/>
        </p:nvSpPr>
        <p:spPr>
          <a:xfrm>
            <a:off x="288687" y="1062182"/>
            <a:ext cx="8485909" cy="4306455"/>
          </a:xfrm>
          <a:prstGeom prst="rect">
            <a:avLst/>
          </a:prstGeom>
          <a:solidFill>
            <a:schemeClr val="bg1">
              <a:alpha val="64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727363" y="1157551"/>
            <a:ext cx="7666182" cy="1384995"/>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chemeClr val="bg1"/>
                </a:solidFill>
                <a:latin typeface="Calibri"/>
                <a:cs typeface="Calibri"/>
              </a:rPr>
              <a:t>minimize the cost of the decoder output</a:t>
            </a:r>
          </a:p>
          <a:p>
            <a:pPr algn="ctr" eaLnBrk="1" hangingPunct="1"/>
            <a:endParaRPr lang="en-US" i="0" dirty="0" smtClean="0">
              <a:solidFill>
                <a:schemeClr val="bg1"/>
              </a:solidFill>
              <a:latin typeface="Calibri"/>
              <a:cs typeface="Calibri"/>
            </a:endParaRPr>
          </a:p>
          <a:p>
            <a:pPr algn="ctr" eaLnBrk="1" hangingPunct="1"/>
            <a:r>
              <a:rPr lang="en-US" sz="3200" i="0" dirty="0" smtClean="0">
                <a:solidFill>
                  <a:schemeClr val="bg1"/>
                </a:solidFill>
                <a:latin typeface="Calibri"/>
                <a:cs typeface="Calibri"/>
              </a:rPr>
              <a:t>intractable in general – how can we solve it?</a:t>
            </a:r>
          </a:p>
        </p:txBody>
      </p:sp>
    </p:spTree>
    <p:extLst>
      <p:ext uri="{BB962C8B-B14F-4D97-AF65-F5344CB8AC3E}">
        <p14:creationId xmlns:p14="http://schemas.microsoft.com/office/powerpoint/2010/main" val="152598314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cxnSp>
        <p:nvCxnSpPr>
          <p:cNvPr id="16" name="Straight Arrow Connector 15"/>
          <p:cNvCxnSpPr>
            <a:stCxn id="17" idx="2"/>
          </p:cNvCxnSpPr>
          <p:nvPr/>
        </p:nvCxnSpPr>
        <p:spPr>
          <a:xfrm flipH="1">
            <a:off x="2182076" y="2128659"/>
            <a:ext cx="98631" cy="1023252"/>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1"/>
          <p:cNvSpPr txBox="1">
            <a:spLocks noChangeArrowheads="1"/>
          </p:cNvSpPr>
          <p:nvPr/>
        </p:nvSpPr>
        <p:spPr bwMode="auto">
          <a:xfrm>
            <a:off x="384056" y="1420773"/>
            <a:ext cx="379330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“how bad are these translations?”</a:t>
            </a:r>
          </a:p>
          <a:p>
            <a:pPr algn="ctr" eaLnBrk="1" hangingPunct="1"/>
            <a:r>
              <a:rPr lang="en-US" sz="2000" dirty="0" smtClean="0">
                <a:solidFill>
                  <a:srgbClr val="0062AC"/>
                </a:solidFill>
                <a:latin typeface="Calibri"/>
                <a:cs typeface="Calibri"/>
              </a:rPr>
              <a:t>e.g., negative BLEU</a:t>
            </a:r>
          </a:p>
        </p:txBody>
      </p:sp>
      <p:sp>
        <p:nvSpPr>
          <p:cNvPr id="18"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9" name="Left Brace 18"/>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2"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
        <p:nvSpPr>
          <p:cNvPr id="3" name="Rectangle 2"/>
          <p:cNvSpPr/>
          <p:nvPr/>
        </p:nvSpPr>
        <p:spPr>
          <a:xfrm>
            <a:off x="288687" y="1062182"/>
            <a:ext cx="8485909" cy="4306455"/>
          </a:xfrm>
          <a:prstGeom prst="rect">
            <a:avLst/>
          </a:prstGeom>
          <a:solidFill>
            <a:schemeClr val="bg1">
              <a:alpha val="64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TextBox 11"/>
          <p:cNvSpPr txBox="1">
            <a:spLocks noChangeArrowheads="1"/>
          </p:cNvSpPr>
          <p:nvPr/>
        </p:nvSpPr>
        <p:spPr bwMode="auto">
          <a:xfrm>
            <a:off x="729672" y="3584405"/>
            <a:ext cx="7666182" cy="2062103"/>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rgbClr val="FFFFFF"/>
                </a:solidFill>
                <a:latin typeface="Calibri"/>
                <a:cs typeface="Calibri"/>
              </a:rPr>
              <a:t>generate k-best lists of translations, approximately minimize cost on k-best lists,  repeat with new parameters</a:t>
            </a:r>
          </a:p>
          <a:p>
            <a:pPr algn="ctr" eaLnBrk="1" hangingPunct="1"/>
            <a:r>
              <a:rPr lang="en-US" sz="3200" i="0" dirty="0" smtClean="0">
                <a:solidFill>
                  <a:srgbClr val="FFFFFF"/>
                </a:solidFill>
                <a:latin typeface="Calibri"/>
                <a:cs typeface="Calibri"/>
              </a:rPr>
              <a:t>(pool k-best lists across iterates)</a:t>
            </a:r>
          </a:p>
        </p:txBody>
      </p:sp>
      <p:sp>
        <p:nvSpPr>
          <p:cNvPr id="20" name="TextBox 11"/>
          <p:cNvSpPr txBox="1">
            <a:spLocks noChangeArrowheads="1"/>
          </p:cNvSpPr>
          <p:nvPr/>
        </p:nvSpPr>
        <p:spPr bwMode="auto">
          <a:xfrm>
            <a:off x="727363" y="1157551"/>
            <a:ext cx="7666182" cy="1384995"/>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chemeClr val="bg1"/>
                </a:solidFill>
                <a:latin typeface="Calibri"/>
                <a:cs typeface="Calibri"/>
              </a:rPr>
              <a:t>minimize the cost of the decoder output</a:t>
            </a:r>
          </a:p>
          <a:p>
            <a:pPr algn="ctr" eaLnBrk="1" hangingPunct="1"/>
            <a:endParaRPr lang="en-US" i="0" dirty="0" smtClean="0">
              <a:solidFill>
                <a:schemeClr val="bg1"/>
              </a:solidFill>
              <a:latin typeface="Calibri"/>
              <a:cs typeface="Calibri"/>
            </a:endParaRPr>
          </a:p>
          <a:p>
            <a:pPr algn="ctr" eaLnBrk="1" hangingPunct="1"/>
            <a:r>
              <a:rPr lang="en-US" sz="3200" i="0" dirty="0" smtClean="0">
                <a:solidFill>
                  <a:schemeClr val="bg1"/>
                </a:solidFill>
                <a:latin typeface="Calibri"/>
                <a:cs typeface="Calibri"/>
              </a:rPr>
              <a:t>intractable in general – how can we solve it?</a:t>
            </a:r>
          </a:p>
        </p:txBody>
      </p:sp>
    </p:spTree>
    <p:extLst>
      <p:ext uri="{BB962C8B-B14F-4D97-AF65-F5344CB8AC3E}">
        <p14:creationId xmlns:p14="http://schemas.microsoft.com/office/powerpoint/2010/main" val="291120624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Tree>
    <p:extLst>
      <p:ext uri="{BB962C8B-B14F-4D97-AF65-F5344CB8AC3E}">
        <p14:creationId xmlns:p14="http://schemas.microsoft.com/office/powerpoint/2010/main" val="351534759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3960091" y="535939"/>
            <a:ext cx="4375727"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each point is a translation for the same sentence</a:t>
            </a:r>
          </a:p>
        </p:txBody>
      </p:sp>
      <p:sp>
        <p:nvSpPr>
          <p:cNvPr id="9" name="TextBox 11"/>
          <p:cNvSpPr txBox="1">
            <a:spLocks noChangeArrowheads="1"/>
          </p:cNvSpPr>
          <p:nvPr/>
        </p:nvSpPr>
        <p:spPr bwMode="auto">
          <a:xfrm>
            <a:off x="5680379" y="4786970"/>
            <a:ext cx="3174996"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a:latin typeface="Calibri"/>
                <a:cs typeface="Calibri"/>
              </a:rPr>
              <a:t>Arabic-English</a:t>
            </a:r>
            <a:r>
              <a:rPr lang="en-US" sz="2800" b="1" i="0" dirty="0" smtClean="0">
                <a:latin typeface="Calibri"/>
                <a:cs typeface="Calibri"/>
              </a:rPr>
              <a:t>,</a:t>
            </a:r>
          </a:p>
          <a:p>
            <a:pPr algn="ctr" eaLnBrk="1" hangingPunct="1"/>
            <a:r>
              <a:rPr lang="en-US" sz="2800" b="1" i="0" dirty="0" smtClean="0">
                <a:latin typeface="Calibri"/>
                <a:cs typeface="Calibri"/>
              </a:rPr>
              <a:t>phrase</a:t>
            </a:r>
            <a:r>
              <a:rPr lang="en-US" sz="2800" b="1" i="0" dirty="0">
                <a:latin typeface="Calibri"/>
                <a:cs typeface="Calibri"/>
              </a:rPr>
              <a:t>-based</a:t>
            </a:r>
            <a:endParaRPr lang="en-US" sz="2800" b="1" i="0" dirty="0" smtClean="0">
              <a:latin typeface="Calibri"/>
              <a:cs typeface="Calibri"/>
            </a:endParaRPr>
          </a:p>
        </p:txBody>
      </p:sp>
    </p:spTree>
    <p:extLst>
      <p:ext uri="{BB962C8B-B14F-4D97-AF65-F5344CB8AC3E}">
        <p14:creationId xmlns:p14="http://schemas.microsoft.com/office/powerpoint/2010/main" val="10431457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4595073" y="328121"/>
            <a:ext cx="3775371"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10,000-best list, </a:t>
            </a:r>
          </a:p>
          <a:p>
            <a:pPr algn="ctr" eaLnBrk="1" hangingPunct="1"/>
            <a:r>
              <a:rPr lang="en-US" sz="2800" b="1" i="0" dirty="0" smtClean="0">
                <a:latin typeface="Calibri"/>
                <a:cs typeface="Calibri"/>
              </a:rPr>
              <a:t>default </a:t>
            </a:r>
            <a:r>
              <a:rPr lang="en-US" sz="2800" b="1" i="0" dirty="0">
                <a:latin typeface="Calibri"/>
                <a:cs typeface="Calibri"/>
              </a:rPr>
              <a:t>Moses </a:t>
            </a:r>
            <a:r>
              <a:rPr lang="en-US" sz="2800" b="1" i="0" dirty="0" smtClean="0">
                <a:latin typeface="Calibri"/>
                <a:cs typeface="Calibri"/>
              </a:rPr>
              <a:t>weights</a:t>
            </a:r>
            <a:endParaRPr lang="en-US" sz="2800" i="0" dirty="0" smtClean="0">
              <a:latin typeface="Calibri"/>
              <a:cs typeface="Calibri"/>
            </a:endParaRPr>
          </a:p>
        </p:txBody>
      </p:sp>
      <p:sp>
        <p:nvSpPr>
          <p:cNvPr id="8" name="TextBox 11"/>
          <p:cNvSpPr txBox="1">
            <a:spLocks noChangeArrowheads="1"/>
          </p:cNvSpPr>
          <p:nvPr/>
        </p:nvSpPr>
        <p:spPr bwMode="auto">
          <a:xfrm>
            <a:off x="6915732" y="3814844"/>
            <a:ext cx="1826490"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28 BLEU</a:t>
            </a:r>
          </a:p>
        </p:txBody>
      </p:sp>
    </p:spTree>
    <p:extLst>
      <p:ext uri="{BB962C8B-B14F-4D97-AF65-F5344CB8AC3E}">
        <p14:creationId xmlns:p14="http://schemas.microsoft.com/office/powerpoint/2010/main" val="108781027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5345548" y="397391"/>
            <a:ext cx="2817093" cy="1384995"/>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same sentence,</a:t>
            </a:r>
          </a:p>
          <a:p>
            <a:pPr algn="ctr" eaLnBrk="1" hangingPunct="1"/>
            <a:r>
              <a:rPr lang="en-US" sz="2800" b="1" i="0" dirty="0" smtClean="0">
                <a:latin typeface="Calibri"/>
                <a:cs typeface="Calibri"/>
              </a:rPr>
              <a:t>10,000-best list</a:t>
            </a:r>
          </a:p>
          <a:p>
            <a:pPr algn="ctr" eaLnBrk="1" hangingPunct="1"/>
            <a:r>
              <a:rPr lang="en-US" sz="2800" b="1" i="0" dirty="0" smtClean="0">
                <a:latin typeface="Calibri"/>
                <a:cs typeface="Calibri"/>
              </a:rPr>
              <a:t>after MERT</a:t>
            </a:r>
            <a:endParaRPr lang="en-US" sz="2800" i="0" dirty="0" smtClean="0">
              <a:latin typeface="Calibri"/>
              <a:cs typeface="Calibri"/>
            </a:endParaRPr>
          </a:p>
        </p:txBody>
      </p:sp>
      <p:sp>
        <p:nvSpPr>
          <p:cNvPr id="8" name="TextBox 11"/>
          <p:cNvSpPr txBox="1">
            <a:spLocks noChangeArrowheads="1"/>
          </p:cNvSpPr>
          <p:nvPr/>
        </p:nvSpPr>
        <p:spPr bwMode="auto">
          <a:xfrm>
            <a:off x="6948059" y="2972029"/>
            <a:ext cx="1826490"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34 BLEU</a:t>
            </a:r>
          </a:p>
        </p:txBody>
      </p:sp>
    </p:spTree>
    <p:extLst>
      <p:ext uri="{BB962C8B-B14F-4D97-AF65-F5344CB8AC3E}">
        <p14:creationId xmlns:p14="http://schemas.microsoft.com/office/powerpoint/2010/main" val="183968135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4745158" y="189581"/>
            <a:ext cx="3775371"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another sentence,</a:t>
            </a:r>
          </a:p>
          <a:p>
            <a:pPr algn="ctr" eaLnBrk="1" hangingPunct="1"/>
            <a:r>
              <a:rPr lang="en-US" sz="2800" b="1" i="0" dirty="0" smtClean="0">
                <a:latin typeface="Calibri"/>
                <a:cs typeface="Calibri"/>
              </a:rPr>
              <a:t>default </a:t>
            </a:r>
            <a:r>
              <a:rPr lang="en-US" sz="2800" b="1" i="0" dirty="0">
                <a:latin typeface="Calibri"/>
                <a:cs typeface="Calibri"/>
              </a:rPr>
              <a:t>Moses </a:t>
            </a:r>
            <a:r>
              <a:rPr lang="en-US" sz="2800" b="1" i="0" dirty="0" smtClean="0">
                <a:latin typeface="Calibri"/>
                <a:cs typeface="Calibri"/>
              </a:rPr>
              <a:t>weights</a:t>
            </a:r>
            <a:endParaRPr lang="en-US" sz="2800" i="0" dirty="0" smtClean="0">
              <a:latin typeface="Calibri"/>
              <a:cs typeface="Calibri"/>
            </a:endParaRPr>
          </a:p>
        </p:txBody>
      </p:sp>
      <p:sp>
        <p:nvSpPr>
          <p:cNvPr id="8" name="TextBox 11"/>
          <p:cNvSpPr txBox="1">
            <a:spLocks noChangeArrowheads="1"/>
          </p:cNvSpPr>
          <p:nvPr/>
        </p:nvSpPr>
        <p:spPr bwMode="auto">
          <a:xfrm>
            <a:off x="6901865" y="2083009"/>
            <a:ext cx="1826490"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46 BLEU</a:t>
            </a:r>
          </a:p>
        </p:txBody>
      </p:sp>
    </p:spTree>
    <p:extLst>
      <p:ext uri="{BB962C8B-B14F-4D97-AF65-F5344CB8AC3E}">
        <p14:creationId xmlns:p14="http://schemas.microsoft.com/office/powerpoint/2010/main" val="348494817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5587993" y="316576"/>
            <a:ext cx="2817093"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same sentence,</a:t>
            </a:r>
          </a:p>
          <a:p>
            <a:pPr algn="ctr" eaLnBrk="1" hangingPunct="1"/>
            <a:r>
              <a:rPr lang="en-US" sz="2800" b="1" i="0" dirty="0" smtClean="0">
                <a:latin typeface="Calibri"/>
                <a:cs typeface="Calibri"/>
              </a:rPr>
              <a:t>after MERT</a:t>
            </a:r>
            <a:endParaRPr lang="en-US" sz="2800" i="0" dirty="0" smtClean="0">
              <a:latin typeface="Calibri"/>
              <a:cs typeface="Calibri"/>
            </a:endParaRPr>
          </a:p>
        </p:txBody>
      </p:sp>
      <p:sp>
        <p:nvSpPr>
          <p:cNvPr id="8" name="TextBox 11"/>
          <p:cNvSpPr txBox="1">
            <a:spLocks noChangeArrowheads="1"/>
          </p:cNvSpPr>
          <p:nvPr/>
        </p:nvSpPr>
        <p:spPr bwMode="auto">
          <a:xfrm>
            <a:off x="6832598" y="2175397"/>
            <a:ext cx="1826490" cy="954107"/>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62 BLEU</a:t>
            </a:r>
          </a:p>
        </p:txBody>
      </p:sp>
    </p:spTree>
    <p:extLst>
      <p:ext uri="{BB962C8B-B14F-4D97-AF65-F5344CB8AC3E}">
        <p14:creationId xmlns:p14="http://schemas.microsoft.com/office/powerpoint/2010/main" val="377052936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2701636" y="420481"/>
            <a:ext cx="5703452"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r>
              <a:rPr lang="en-US" sz="2800" b="1" i="0" dirty="0" smtClean="0">
                <a:latin typeface="Calibri"/>
                <a:cs typeface="Calibri"/>
              </a:rPr>
              <a:t>Why are there horizontal “bands”?</a:t>
            </a:r>
          </a:p>
        </p:txBody>
      </p:sp>
    </p:spTree>
    <p:extLst>
      <p:ext uri="{BB962C8B-B14F-4D97-AF65-F5344CB8AC3E}">
        <p14:creationId xmlns:p14="http://schemas.microsoft.com/office/powerpoint/2010/main" val="52133562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2701636" y="420481"/>
            <a:ext cx="5703452" cy="2893100"/>
          </a:xfrm>
          <a:prstGeom prst="rect">
            <a:avLst/>
          </a:prstGeom>
          <a:noFill/>
          <a:ln w="19050">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r>
              <a:rPr lang="en-US" sz="2800" b="1" i="0" dirty="0" smtClean="0">
                <a:latin typeface="Calibri"/>
                <a:cs typeface="Calibri"/>
              </a:rPr>
              <a:t>Why are there horizontal “bands”?</a:t>
            </a:r>
          </a:p>
          <a:p>
            <a:pPr algn="r" eaLnBrk="1" hangingPunct="1"/>
            <a:endParaRPr lang="en-US" sz="1400" b="1" i="0" dirty="0" smtClean="0">
              <a:latin typeface="Calibri"/>
              <a:cs typeface="Calibri"/>
            </a:endParaRPr>
          </a:p>
          <a:p>
            <a:pPr algn="r" eaLnBrk="1" hangingPunct="1"/>
            <a:endParaRPr lang="en-US" sz="2800" b="1" i="0" dirty="0" smtClean="0">
              <a:latin typeface="Calibri"/>
              <a:cs typeface="Calibri"/>
            </a:endParaRPr>
          </a:p>
          <a:p>
            <a:pPr algn="r" eaLnBrk="1" hangingPunct="1"/>
            <a:r>
              <a:rPr lang="en-US" sz="2800" b="1" i="0" dirty="0" smtClean="0">
                <a:latin typeface="Calibri"/>
                <a:cs typeface="Calibri"/>
              </a:rPr>
              <a:t>latent derivations,</a:t>
            </a:r>
            <a:endParaRPr lang="en-US" b="1" i="0" dirty="0">
              <a:latin typeface="Calibri"/>
              <a:cs typeface="Calibri"/>
            </a:endParaRPr>
          </a:p>
          <a:p>
            <a:pPr algn="r" eaLnBrk="1" hangingPunct="1"/>
            <a:endParaRPr lang="en-US" sz="2800" b="1" i="0" dirty="0" smtClean="0">
              <a:latin typeface="Calibri"/>
              <a:cs typeface="Calibri"/>
            </a:endParaRPr>
          </a:p>
          <a:p>
            <a:pPr algn="r" eaLnBrk="1" hangingPunct="1"/>
            <a:r>
              <a:rPr lang="en-US" sz="2800" b="1" i="0" dirty="0" smtClean="0">
                <a:latin typeface="Calibri"/>
                <a:cs typeface="Calibri"/>
              </a:rPr>
              <a:t>different translations </a:t>
            </a:r>
          </a:p>
          <a:p>
            <a:pPr algn="r" eaLnBrk="1" hangingPunct="1"/>
            <a:r>
              <a:rPr lang="en-US" sz="2800" b="1" i="0" dirty="0" smtClean="0">
                <a:latin typeface="Calibri"/>
                <a:cs typeface="Calibri"/>
              </a:rPr>
              <a:t>with same BLEU</a:t>
            </a:r>
            <a:endParaRPr lang="en-US" sz="2800" i="0" dirty="0" smtClean="0">
              <a:latin typeface="Calibri"/>
              <a:cs typeface="Calibri"/>
            </a:endParaRPr>
          </a:p>
        </p:txBody>
      </p:sp>
    </p:spTree>
    <p:extLst>
      <p:ext uri="{BB962C8B-B14F-4D97-AF65-F5344CB8AC3E}">
        <p14:creationId xmlns:p14="http://schemas.microsoft.com/office/powerpoint/2010/main" val="302304320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Content Placeholder 2"/>
          <p:cNvSpPr>
            <a:spLocks noGrp="1"/>
          </p:cNvSpPr>
          <p:nvPr>
            <p:ph idx="1"/>
          </p:nvPr>
        </p:nvSpPr>
        <p:spPr>
          <a:xfrm>
            <a:off x="457200" y="2667000"/>
            <a:ext cx="8458200" cy="3459163"/>
          </a:xfrm>
        </p:spPr>
        <p:txBody>
          <a:bodyPr/>
          <a:lstStyle/>
          <a:p>
            <a:pPr marL="0" indent="0">
              <a:buNone/>
            </a:pPr>
            <a:r>
              <a:rPr lang="en-US" dirty="0" smtClean="0"/>
              <a:t>What are some issues with this loss function?</a:t>
            </a:r>
          </a:p>
          <a:p>
            <a:pPr marL="457200" lvl="1" indent="0">
              <a:buNone/>
            </a:pPr>
            <a:r>
              <a:rPr lang="en-US" dirty="0" smtClean="0"/>
              <a:t>Discontinuous &amp; non-convex </a:t>
            </a:r>
            <a:r>
              <a:rPr lang="en-US" dirty="0" smtClean="0">
                <a:sym typeface="Symbol" pitchFamily="18" charset="2"/>
              </a:rPr>
              <a:t> optimization relies on randomized search</a:t>
            </a:r>
            <a:endParaRPr lang="en-US" dirty="0" smtClean="0"/>
          </a:p>
          <a:p>
            <a:pPr marL="457200" lvl="1" indent="0">
              <a:buNone/>
            </a:pPr>
            <a:r>
              <a:rPr lang="en-US" dirty="0" smtClean="0"/>
              <a:t>No regularization </a:t>
            </a:r>
            <a:r>
              <a:rPr lang="en-US" dirty="0" smtClean="0">
                <a:sym typeface="Symbol" pitchFamily="18" charset="2"/>
              </a:rPr>
              <a:t></a:t>
            </a:r>
            <a:r>
              <a:rPr lang="en-US" dirty="0" smtClean="0"/>
              <a:t> leads to </a:t>
            </a:r>
            <a:r>
              <a:rPr lang="en-US" dirty="0" err="1" smtClean="0"/>
              <a:t>overfitting</a:t>
            </a:r>
            <a:endParaRPr lang="en-US" dirty="0" smtClean="0"/>
          </a:p>
          <a:p>
            <a:pPr marL="0" indent="0">
              <a:buNone/>
            </a:pPr>
            <a:r>
              <a:rPr lang="en-US" dirty="0" smtClean="0"/>
              <a:t>As a result, MERT is only effective for very small models (&lt;40 parameters)</a:t>
            </a:r>
          </a:p>
        </p:txBody>
      </p:sp>
      <p:sp>
        <p:nvSpPr>
          <p:cNvPr id="30" name="TextBox 11"/>
          <p:cNvSpPr txBox="1">
            <a:spLocks noChangeArrowheads="1"/>
          </p:cNvSpPr>
          <p:nvPr/>
        </p:nvSpPr>
        <p:spPr bwMode="auto">
          <a:xfrm>
            <a:off x="5136147" y="1789593"/>
            <a:ext cx="108122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31" name="Left Brace 30"/>
          <p:cNvSpPr/>
          <p:nvPr/>
        </p:nvSpPr>
        <p:spPr bwMode="auto">
          <a:xfrm rot="16200000">
            <a:off x="5433290" y="-115407"/>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2" name="Picture 31"/>
          <p:cNvPicPr>
            <a:picLocks noChangeAspect="1"/>
          </p:cNvPicPr>
          <p:nvPr/>
        </p:nvPicPr>
        <p:blipFill>
          <a:blip r:embed="rId3"/>
          <a:stretch>
            <a:fillRect/>
          </a:stretch>
        </p:blipFill>
        <p:spPr>
          <a:xfrm>
            <a:off x="861290" y="379893"/>
            <a:ext cx="7378700" cy="1104900"/>
          </a:xfrm>
          <a:prstGeom prst="rect">
            <a:avLst/>
          </a:prstGeom>
        </p:spPr>
      </p:pic>
      <p:sp>
        <p:nvSpPr>
          <p:cNvPr id="35" name="TextBox 11"/>
          <p:cNvSpPr txBox="1">
            <a:spLocks noChangeArrowheads="1"/>
          </p:cNvSpPr>
          <p:nvPr/>
        </p:nvSpPr>
        <p:spPr bwMode="auto">
          <a:xfrm>
            <a:off x="2514560" y="1684028"/>
            <a:ext cx="13286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36" name="Left Brace 35"/>
          <p:cNvSpPr/>
          <p:nvPr/>
        </p:nvSpPr>
        <p:spPr bwMode="auto">
          <a:xfrm rot="16200000">
            <a:off x="2815944" y="890193"/>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397219528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Content Placeholder 2"/>
          <p:cNvSpPr>
            <a:spLocks noGrp="1"/>
          </p:cNvSpPr>
          <p:nvPr>
            <p:ph idx="1"/>
          </p:nvPr>
        </p:nvSpPr>
        <p:spPr/>
        <p:txBody>
          <a:bodyPr/>
          <a:lstStyle/>
          <a:p>
            <a:pPr marL="0" indent="0">
              <a:buNone/>
            </a:pPr>
            <a:r>
              <a:rPr lang="en-US" sz="2800" dirty="0" smtClean="0"/>
              <a:t>Many researchers tried to improve MERT:</a:t>
            </a:r>
          </a:p>
          <a:p>
            <a:pPr marL="457200" lvl="1" indent="0">
              <a:buNone/>
            </a:pPr>
            <a:r>
              <a:rPr lang="en-US" sz="2400" i="1" dirty="0"/>
              <a:t>Regularization and Search for </a:t>
            </a:r>
            <a:r>
              <a:rPr lang="en-US" sz="2400" i="1" dirty="0" smtClean="0"/>
              <a:t>MERT</a:t>
            </a:r>
            <a:r>
              <a:rPr lang="en-US" sz="2400" dirty="0" smtClean="0"/>
              <a:t> </a:t>
            </a:r>
            <a:r>
              <a:rPr lang="en-US" sz="2400" dirty="0" smtClean="0">
                <a:solidFill>
                  <a:srgbClr val="0062AC"/>
                </a:solidFill>
              </a:rPr>
              <a:t>(</a:t>
            </a:r>
            <a:r>
              <a:rPr lang="en-US" sz="2400" dirty="0" err="1" smtClean="0">
                <a:solidFill>
                  <a:srgbClr val="0062AC"/>
                </a:solidFill>
              </a:rPr>
              <a:t>Cer</a:t>
            </a:r>
            <a:r>
              <a:rPr lang="en-US" sz="2400" dirty="0" smtClean="0">
                <a:solidFill>
                  <a:srgbClr val="0062AC"/>
                </a:solidFill>
              </a:rPr>
              <a:t> </a:t>
            </a:r>
            <a:r>
              <a:rPr lang="en-US" sz="2400" dirty="0">
                <a:solidFill>
                  <a:srgbClr val="0062AC"/>
                </a:solidFill>
              </a:rPr>
              <a:t>et al</a:t>
            </a:r>
            <a:r>
              <a:rPr lang="en-US" sz="2400" dirty="0" smtClean="0">
                <a:solidFill>
                  <a:srgbClr val="0062AC"/>
                </a:solidFill>
              </a:rPr>
              <a:t>., 2008)</a:t>
            </a:r>
            <a:endParaRPr lang="en-US" sz="2400" dirty="0">
              <a:solidFill>
                <a:srgbClr val="0062AC"/>
              </a:solidFill>
            </a:endParaRPr>
          </a:p>
          <a:p>
            <a:pPr marL="457200" lvl="1" indent="0">
              <a:buNone/>
            </a:pPr>
            <a:r>
              <a:rPr lang="en-US" sz="2400" i="1" dirty="0"/>
              <a:t>Random Restarts in MERT for </a:t>
            </a:r>
            <a:r>
              <a:rPr lang="en-US" sz="2400" i="1" dirty="0" smtClean="0"/>
              <a:t>MT </a:t>
            </a:r>
            <a:r>
              <a:rPr lang="en-US" sz="2400" dirty="0" smtClean="0">
                <a:solidFill>
                  <a:srgbClr val="0062AC"/>
                </a:solidFill>
              </a:rPr>
              <a:t>(Moore </a:t>
            </a:r>
            <a:r>
              <a:rPr lang="en-US" sz="2400" dirty="0">
                <a:solidFill>
                  <a:srgbClr val="0062AC"/>
                </a:solidFill>
              </a:rPr>
              <a:t>&amp; </a:t>
            </a:r>
            <a:r>
              <a:rPr lang="en-US" sz="2400" dirty="0" smtClean="0">
                <a:solidFill>
                  <a:srgbClr val="0062AC"/>
                </a:solidFill>
              </a:rPr>
              <a:t>Quirk, 2008)</a:t>
            </a:r>
            <a:endParaRPr lang="en-US" sz="2400" dirty="0">
              <a:solidFill>
                <a:srgbClr val="0062AC"/>
              </a:solidFill>
            </a:endParaRPr>
          </a:p>
          <a:p>
            <a:pPr marL="457200" lvl="1" indent="0">
              <a:buNone/>
            </a:pPr>
            <a:r>
              <a:rPr lang="en-US" sz="2400" i="1" dirty="0" smtClean="0"/>
              <a:t>Stabilizing MERT</a:t>
            </a:r>
            <a:r>
              <a:rPr lang="en-US" sz="2400" dirty="0" smtClean="0"/>
              <a:t> </a:t>
            </a:r>
            <a:r>
              <a:rPr lang="en-US" sz="2400" dirty="0" smtClean="0">
                <a:solidFill>
                  <a:srgbClr val="0062AC"/>
                </a:solidFill>
              </a:rPr>
              <a:t>(</a:t>
            </a:r>
            <a:r>
              <a:rPr lang="en-US" sz="2400" dirty="0">
                <a:solidFill>
                  <a:srgbClr val="0062AC"/>
                </a:solidFill>
              </a:rPr>
              <a:t>Foster &amp; Kuhn, 2009</a:t>
            </a:r>
            <a:r>
              <a:rPr lang="en-US" sz="2400" dirty="0" smtClean="0">
                <a:solidFill>
                  <a:srgbClr val="0062AC"/>
                </a:solidFill>
              </a:rPr>
              <a:t>)</a:t>
            </a:r>
          </a:p>
          <a:p>
            <a:pPr lvl="1"/>
            <a:endParaRPr lang="en-US" sz="2400" dirty="0" smtClean="0"/>
          </a:p>
          <a:p>
            <a:pPr marL="0" indent="0">
              <a:buNone/>
            </a:pPr>
            <a:r>
              <a:rPr lang="en-US" sz="2800" dirty="0" smtClean="0"/>
              <a:t>Issues remain:</a:t>
            </a:r>
          </a:p>
          <a:p>
            <a:pPr marL="457200" lvl="1" indent="0">
              <a:buNone/>
            </a:pPr>
            <a:r>
              <a:rPr lang="en-US" sz="2400" i="1" dirty="0" smtClean="0"/>
              <a:t>Better </a:t>
            </a:r>
            <a:r>
              <a:rPr lang="en-US" sz="2400" i="1" dirty="0"/>
              <a:t>Hypothesis Testing for </a:t>
            </a:r>
            <a:r>
              <a:rPr lang="en-US" sz="2400" i="1" dirty="0" smtClean="0"/>
              <a:t>Statistical MT: </a:t>
            </a:r>
            <a:r>
              <a:rPr lang="en-US" sz="2400" i="1" dirty="0"/>
              <a:t>Controlling for Optimizer </a:t>
            </a:r>
            <a:r>
              <a:rPr lang="en-US" sz="2400" i="1" dirty="0" smtClean="0"/>
              <a:t>Instability </a:t>
            </a:r>
            <a:r>
              <a:rPr lang="en-US" sz="2400" dirty="0">
                <a:solidFill>
                  <a:srgbClr val="0062AC"/>
                </a:solidFill>
              </a:rPr>
              <a:t>(Clark et al., 2011)</a:t>
            </a:r>
            <a:r>
              <a:rPr lang="en-US" sz="2400" dirty="0"/>
              <a:t> </a:t>
            </a:r>
            <a:endParaRPr lang="en-US" sz="2400" dirty="0" smtClean="0"/>
          </a:p>
          <a:p>
            <a:pPr marL="457200" lvl="1" indent="0">
              <a:buNone/>
            </a:pPr>
            <a:r>
              <a:rPr lang="en-US" dirty="0" smtClean="0"/>
              <a:t>They suggest running MERT 3-5 times due to its instability</a:t>
            </a:r>
          </a:p>
          <a:p>
            <a:endParaRPr lang="en-US" dirty="0" smtClean="0"/>
          </a:p>
        </p:txBody>
      </p:sp>
    </p:spTree>
    <p:extLst>
      <p:ext uri="{BB962C8B-B14F-4D97-AF65-F5344CB8AC3E}">
        <p14:creationId xmlns:p14="http://schemas.microsoft.com/office/powerpoint/2010/main" val="116028478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5" name="Picture 4" descr="Screen Shot 2015-05-12 at 3.55.1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30"/>
            <a:ext cx="9144000" cy="6671285"/>
          </a:xfrm>
          <a:prstGeom prst="rect">
            <a:avLst/>
          </a:prstGeom>
        </p:spPr>
      </p:pic>
    </p:spTree>
    <p:extLst>
      <p:ext uri="{BB962C8B-B14F-4D97-AF65-F5344CB8AC3E}">
        <p14:creationId xmlns:p14="http://schemas.microsoft.com/office/powerpoint/2010/main" val="300620635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5" name="Picture 4" descr="Screen Shot 2015-05-12 at 3.55.1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30"/>
            <a:ext cx="9144000" cy="6671285"/>
          </a:xfrm>
          <a:prstGeom prst="rect">
            <a:avLst/>
          </a:prstGeom>
        </p:spPr>
      </p:pic>
      <p:pic>
        <p:nvPicPr>
          <p:cNvPr id="3" name="Picture 2" descr="Screen Shot 2015-05-12 at 4.02.00 PM.png"/>
          <p:cNvPicPr>
            <a:picLocks noChangeAspect="1"/>
          </p:cNvPicPr>
          <p:nvPr/>
        </p:nvPicPr>
        <p:blipFill rotWithShape="1">
          <a:blip r:embed="rId3">
            <a:extLst>
              <a:ext uri="{28A0092B-C50C-407E-A947-70E740481C1C}">
                <a14:useLocalDpi xmlns:a14="http://schemas.microsoft.com/office/drawing/2010/main" val="0"/>
              </a:ext>
            </a:extLst>
          </a:blip>
          <a:srcRect l="4545" r="3914"/>
          <a:stretch/>
        </p:blipFill>
        <p:spPr>
          <a:xfrm>
            <a:off x="415636" y="1841500"/>
            <a:ext cx="8370455" cy="3160472"/>
          </a:xfrm>
          <a:prstGeom prst="rect">
            <a:avLst/>
          </a:prstGeom>
          <a:ln>
            <a:solidFill>
              <a:srgbClr val="000000"/>
            </a:solidFill>
          </a:ln>
        </p:spPr>
      </p:pic>
    </p:spTree>
    <p:extLst>
      <p:ext uri="{BB962C8B-B14F-4D97-AF65-F5344CB8AC3E}">
        <p14:creationId xmlns:p14="http://schemas.microsoft.com/office/powerpoint/2010/main" val="121452695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1420104" y="1205340"/>
            <a:ext cx="1258455"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Tree>
    <p:extLst>
      <p:ext uri="{BB962C8B-B14F-4D97-AF65-F5344CB8AC3E}">
        <p14:creationId xmlns:p14="http://schemas.microsoft.com/office/powerpoint/2010/main" val="205460620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9" name="Right Arrow 8"/>
          <p:cNvSpPr/>
          <p:nvPr/>
        </p:nvSpPr>
        <p:spPr>
          <a:xfrm>
            <a:off x="2886924" y="1337963"/>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1420104" y="1205340"/>
            <a:ext cx="1258455"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
        <p:nvSpPr>
          <p:cNvPr id="12" name="TextBox 11"/>
          <p:cNvSpPr txBox="1">
            <a:spLocks noChangeArrowheads="1"/>
          </p:cNvSpPr>
          <p:nvPr/>
        </p:nvSpPr>
        <p:spPr bwMode="auto">
          <a:xfrm>
            <a:off x="5223165" y="3200400"/>
            <a:ext cx="23852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03124866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 for MT?</a:t>
            </a:r>
            <a:br>
              <a:rPr lang="en-US" dirty="0" smtClean="0"/>
            </a:br>
            <a:r>
              <a:rPr lang="en-US" sz="2800" dirty="0" smtClean="0">
                <a:solidFill>
                  <a:schemeClr val="bg1"/>
                </a:solidFill>
              </a:rPr>
              <a:t>(Collins, 2002)</a:t>
            </a:r>
            <a:endParaRPr lang="en-US" sz="2800" dirty="0">
              <a:solidFill>
                <a:schemeClr val="bg1"/>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TextBox 11"/>
          <p:cNvSpPr txBox="1">
            <a:spLocks noChangeArrowheads="1"/>
          </p:cNvSpPr>
          <p:nvPr/>
        </p:nvSpPr>
        <p:spPr bwMode="auto">
          <a:xfrm>
            <a:off x="1420104" y="1205340"/>
            <a:ext cx="1258455"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
        <p:nvSpPr>
          <p:cNvPr id="4" name="&quot;No&quot; Symbol 3"/>
          <p:cNvSpPr/>
          <p:nvPr/>
        </p:nvSpPr>
        <p:spPr>
          <a:xfrm>
            <a:off x="2482273" y="1177638"/>
            <a:ext cx="519545" cy="519545"/>
          </a:xfrm>
          <a:prstGeom prst="noSmoking">
            <a:avLst>
              <a:gd name="adj" fmla="val 11502"/>
            </a:avLst>
          </a:prstGeom>
          <a:solidFill>
            <a:srgbClr val="C50C0C"/>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5223165" y="3200400"/>
            <a:ext cx="23852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8279636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9" name="TextBox 8"/>
          <p:cNvSpPr txBox="1">
            <a:spLocks noChangeArrowheads="1"/>
          </p:cNvSpPr>
          <p:nvPr/>
        </p:nvSpPr>
        <p:spPr bwMode="auto">
          <a:xfrm>
            <a:off x="5223165" y="3200400"/>
            <a:ext cx="23852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0" name="Right Arrow 9"/>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53026503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Rectangle 19"/>
          <p:cNvSpPr/>
          <p:nvPr/>
        </p:nvSpPr>
        <p:spPr>
          <a:xfrm>
            <a:off x="1143000" y="1558637"/>
            <a:ext cx="2701626" cy="4306454"/>
          </a:xfrm>
          <a:prstGeom prst="rect">
            <a:avLst/>
          </a:prstGeom>
          <a:solidFill>
            <a:schemeClr val="bg1">
              <a:alpha val="73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4"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10" name="TextBox 9"/>
          <p:cNvSpPr txBox="1">
            <a:spLocks noChangeArrowheads="1"/>
          </p:cNvSpPr>
          <p:nvPr/>
        </p:nvSpPr>
        <p:spPr bwMode="auto">
          <a:xfrm>
            <a:off x="5223165" y="3200400"/>
            <a:ext cx="23852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1" name="Right Arrow 10"/>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25007494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TextBox 8"/>
          <p:cNvSpPr txBox="1">
            <a:spLocks noChangeArrowheads="1"/>
          </p:cNvSpPr>
          <p:nvPr/>
        </p:nvSpPr>
        <p:spPr bwMode="auto">
          <a:xfrm>
            <a:off x="5439237" y="2025759"/>
            <a:ext cx="298340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BLEU oracle on k-best list</a:t>
            </a:r>
            <a:endParaRPr lang="en-US" sz="2000" dirty="0">
              <a:solidFill>
                <a:srgbClr val="32A031"/>
              </a:solidFill>
              <a:latin typeface="Calibri"/>
              <a:cs typeface="Calibri"/>
            </a:endParaRPr>
          </a:p>
        </p:txBody>
      </p:sp>
      <p:sp>
        <p:nvSpPr>
          <p:cNvPr id="16" name="TextBox 15"/>
          <p:cNvSpPr txBox="1">
            <a:spLocks noChangeArrowheads="1"/>
          </p:cNvSpPr>
          <p:nvPr/>
        </p:nvSpPr>
        <p:spPr bwMode="auto">
          <a:xfrm>
            <a:off x="5223165" y="3200400"/>
            <a:ext cx="23852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Rectangle 19"/>
          <p:cNvSpPr/>
          <p:nvPr/>
        </p:nvSpPr>
        <p:spPr>
          <a:xfrm>
            <a:off x="1143000" y="1558637"/>
            <a:ext cx="2701626" cy="4306454"/>
          </a:xfrm>
          <a:prstGeom prst="rect">
            <a:avLst/>
          </a:prstGeom>
          <a:solidFill>
            <a:schemeClr val="bg1">
              <a:alpha val="73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4"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19" name="Right Arrow 18"/>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72795413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Tree>
    <p:extLst>
      <p:ext uri="{BB962C8B-B14F-4D97-AF65-F5344CB8AC3E}">
        <p14:creationId xmlns:p14="http://schemas.microsoft.com/office/powerpoint/2010/main" val="17864706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86740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Tree>
    <p:extLst>
      <p:ext uri="{BB962C8B-B14F-4D97-AF65-F5344CB8AC3E}">
        <p14:creationId xmlns:p14="http://schemas.microsoft.com/office/powerpoint/2010/main" val="296768304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86740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15" name="Right Arrow 14"/>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TextBox 15"/>
          <p:cNvSpPr txBox="1">
            <a:spLocks noChangeArrowheads="1"/>
          </p:cNvSpPr>
          <p:nvPr/>
        </p:nvSpPr>
        <p:spPr bwMode="auto">
          <a:xfrm>
            <a:off x="5160819" y="4835235"/>
            <a:ext cx="210127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124333351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304800"/>
            <a:ext cx="8534400" cy="685800"/>
          </a:xfrm>
        </p:spPr>
        <p:txBody>
          <a:bodyPr>
            <a:normAutofit fontScale="90000"/>
          </a:bodyPr>
          <a:lstStyle/>
          <a:p>
            <a:r>
              <a:rPr lang="en-US" dirty="0" smtClean="0">
                <a:latin typeface="Calibri"/>
              </a:rPr>
              <a:t>“Fear” Ramp Loss</a:t>
            </a:r>
            <a:r>
              <a:rPr lang="en-US" dirty="0">
                <a:latin typeface="Calibri"/>
              </a:rPr>
              <a:t/>
            </a:r>
            <a:br>
              <a:rPr lang="en-US" dirty="0">
                <a:latin typeface="Calibri"/>
              </a:rPr>
            </a:br>
            <a:r>
              <a:rPr lang="en-US" sz="2800" dirty="0" smtClean="0">
                <a:solidFill>
                  <a:srgbClr val="0062AC"/>
                </a:solidFill>
                <a:latin typeface="Calibri"/>
              </a:rPr>
              <a:t>(Do et al., 2008)</a:t>
            </a:r>
            <a:endParaRPr lang="en-US" sz="2800" dirty="0">
              <a:solidFill>
                <a:srgbClr val="0062AC"/>
              </a:solidFill>
              <a:latin typeface="Calibri"/>
            </a:endParaRPr>
          </a:p>
        </p:txBody>
      </p:sp>
      <p:sp>
        <p:nvSpPr>
          <p:cNvPr id="15" name="Right Arrow 14"/>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8" name="Rectangle 17"/>
          <p:cNvSpPr/>
          <p:nvPr/>
        </p:nvSpPr>
        <p:spPr>
          <a:xfrm>
            <a:off x="5192357" y="2438400"/>
            <a:ext cx="2961043"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TextBox 13"/>
          <p:cNvSpPr txBox="1">
            <a:spLocks noChangeArrowheads="1"/>
          </p:cNvSpPr>
          <p:nvPr/>
        </p:nvSpPr>
        <p:spPr bwMode="auto">
          <a:xfrm>
            <a:off x="586740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21" name="TextBox 20"/>
          <p:cNvSpPr txBox="1">
            <a:spLocks noChangeArrowheads="1"/>
          </p:cNvSpPr>
          <p:nvPr/>
        </p:nvSpPr>
        <p:spPr bwMode="auto">
          <a:xfrm>
            <a:off x="5160819" y="4835235"/>
            <a:ext cx="210127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17" name="Rectangle 16"/>
          <p:cNvSpPr/>
          <p:nvPr/>
        </p:nvSpPr>
        <p:spPr>
          <a:xfrm>
            <a:off x="4343400" y="5264731"/>
            <a:ext cx="4713643" cy="756226"/>
          </a:xfrm>
          <a:prstGeom prst="rect">
            <a:avLst/>
          </a:prstGeom>
          <a:solidFill>
            <a:schemeClr val="bg1"/>
          </a:solidFill>
          <a:ln w="57150"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3" name="Picture 22"/>
          <p:cNvPicPr>
            <a:picLocks noChangeAspect="1"/>
          </p:cNvPicPr>
          <p:nvPr/>
        </p:nvPicPr>
        <p:blipFill>
          <a:blip r:embed="rId4"/>
          <a:stretch>
            <a:fillRect/>
          </a:stretch>
        </p:blipFill>
        <p:spPr>
          <a:xfrm>
            <a:off x="4472710" y="5365173"/>
            <a:ext cx="4457700" cy="571500"/>
          </a:xfrm>
          <a:prstGeom prst="rect">
            <a:avLst/>
          </a:prstGeom>
        </p:spPr>
      </p:pic>
      <p:pic>
        <p:nvPicPr>
          <p:cNvPr id="4" name="Picture 3"/>
          <p:cNvPicPr>
            <a:picLocks noChangeAspect="1"/>
          </p:cNvPicPr>
          <p:nvPr/>
        </p:nvPicPr>
        <p:blipFill>
          <a:blip r:embed="rId5"/>
          <a:stretch>
            <a:fillRect/>
          </a:stretch>
        </p:blipFill>
        <p:spPr>
          <a:xfrm>
            <a:off x="5485246" y="2573482"/>
            <a:ext cx="2501900" cy="520700"/>
          </a:xfrm>
          <a:prstGeom prst="rect">
            <a:avLst/>
          </a:prstGeom>
        </p:spPr>
      </p:pic>
    </p:spTree>
    <p:extLst>
      <p:ext uri="{BB962C8B-B14F-4D97-AF65-F5344CB8AC3E}">
        <p14:creationId xmlns:p14="http://schemas.microsoft.com/office/powerpoint/2010/main" val="166571661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304800"/>
            <a:ext cx="8534400" cy="685800"/>
          </a:xfrm>
        </p:spPr>
        <p:txBody>
          <a:bodyPr>
            <a:normAutofit fontScale="90000"/>
          </a:bodyPr>
          <a:lstStyle/>
          <a:p>
            <a:r>
              <a:rPr lang="en-US" dirty="0" smtClean="0">
                <a:latin typeface="Calibri"/>
              </a:rPr>
              <a:t>“Fear” Ramp Loss</a:t>
            </a:r>
            <a:br>
              <a:rPr lang="en-US" dirty="0" smtClean="0">
                <a:latin typeface="Calibri"/>
              </a:rPr>
            </a:br>
            <a:r>
              <a:rPr lang="en-US" sz="2800" dirty="0" smtClean="0">
                <a:solidFill>
                  <a:srgbClr val="0062AC"/>
                </a:solidFill>
                <a:latin typeface="Calibri"/>
              </a:rPr>
              <a:t>(Do et al., 2008)</a:t>
            </a:r>
            <a:endParaRPr lang="en-US" sz="2800" dirty="0">
              <a:solidFill>
                <a:srgbClr val="0062AC"/>
              </a:solidFill>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6" name="TextBox 11"/>
          <p:cNvSpPr txBox="1">
            <a:spLocks noChangeArrowheads="1"/>
          </p:cNvSpPr>
          <p:nvPr/>
        </p:nvSpPr>
        <p:spPr bwMode="auto">
          <a:xfrm>
            <a:off x="7510739" y="3962400"/>
            <a:ext cx="16914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gold standard</a:t>
            </a:r>
            <a:endParaRPr lang="en-US" sz="2000" dirty="0">
              <a:solidFill>
                <a:srgbClr val="0062AC"/>
              </a:solidFill>
              <a:latin typeface="Calibri"/>
              <a:cs typeface="Calibri"/>
            </a:endParaRPr>
          </a:p>
        </p:txBody>
      </p:sp>
      <p:sp>
        <p:nvSpPr>
          <p:cNvPr id="23" name="TextBox 22"/>
          <p:cNvSpPr txBox="1">
            <a:spLocks noChangeArrowheads="1"/>
          </p:cNvSpPr>
          <p:nvPr/>
        </p:nvSpPr>
        <p:spPr bwMode="auto">
          <a:xfrm>
            <a:off x="586740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25" name="TextBox 24"/>
          <p:cNvSpPr txBox="1">
            <a:spLocks noChangeArrowheads="1"/>
          </p:cNvSpPr>
          <p:nvPr/>
        </p:nvSpPr>
        <p:spPr bwMode="auto">
          <a:xfrm>
            <a:off x="5160819" y="4835235"/>
            <a:ext cx="210127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26" name="Rectangle 25"/>
          <p:cNvSpPr/>
          <p:nvPr/>
        </p:nvSpPr>
        <p:spPr>
          <a:xfrm>
            <a:off x="4343400" y="5264731"/>
            <a:ext cx="4713643" cy="756226"/>
          </a:xfrm>
          <a:prstGeom prst="rect">
            <a:avLst/>
          </a:prstGeom>
          <a:solidFill>
            <a:schemeClr val="bg1"/>
          </a:solidFill>
          <a:ln w="57150"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7" name="Picture 26"/>
          <p:cNvPicPr>
            <a:picLocks noChangeAspect="1"/>
          </p:cNvPicPr>
          <p:nvPr/>
        </p:nvPicPr>
        <p:blipFill>
          <a:blip r:embed="rId4"/>
          <a:stretch>
            <a:fillRect/>
          </a:stretch>
        </p:blipFill>
        <p:spPr>
          <a:xfrm>
            <a:off x="4472710" y="5365173"/>
            <a:ext cx="4457700" cy="571500"/>
          </a:xfrm>
          <a:prstGeom prst="rect">
            <a:avLst/>
          </a:prstGeom>
        </p:spPr>
      </p:pic>
      <p:cxnSp>
        <p:nvCxnSpPr>
          <p:cNvPr id="17" name="Straight Arrow Connector 16"/>
          <p:cNvCxnSpPr/>
          <p:nvPr/>
        </p:nvCxnSpPr>
        <p:spPr bwMode="auto">
          <a:xfrm flipH="1">
            <a:off x="8081823" y="4385600"/>
            <a:ext cx="159211" cy="1063854"/>
          </a:xfrm>
          <a:prstGeom prst="straightConnector1">
            <a:avLst/>
          </a:prstGeom>
          <a:solidFill>
            <a:schemeClr val="accent1"/>
          </a:solidFill>
          <a:ln w="57150" cap="flat" cmpd="sng" algn="ctr">
            <a:solidFill>
              <a:srgbClr val="0062AC"/>
            </a:solidFill>
            <a:prstDash val="solid"/>
            <a:round/>
            <a:headEnd type="none" w="med" len="med"/>
            <a:tailEnd type="triangle" w="lg"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8" name="Right Arrow 27"/>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5192357" y="2438400"/>
            <a:ext cx="2961043"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1" name="Picture 30"/>
          <p:cNvPicPr>
            <a:picLocks noChangeAspect="1"/>
          </p:cNvPicPr>
          <p:nvPr/>
        </p:nvPicPr>
        <p:blipFill>
          <a:blip r:embed="rId5"/>
          <a:stretch>
            <a:fillRect/>
          </a:stretch>
        </p:blipFill>
        <p:spPr>
          <a:xfrm>
            <a:off x="5485246" y="2573482"/>
            <a:ext cx="2501900" cy="520700"/>
          </a:xfrm>
          <a:prstGeom prst="rect">
            <a:avLst/>
          </a:prstGeom>
        </p:spPr>
      </p:pic>
    </p:spTree>
    <p:extLst>
      <p:ext uri="{BB962C8B-B14F-4D97-AF65-F5344CB8AC3E}">
        <p14:creationId xmlns:p14="http://schemas.microsoft.com/office/powerpoint/2010/main" val="152548649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143170"/>
            <a:ext cx="8534400" cy="930564"/>
          </a:xfrm>
        </p:spPr>
        <p:txBody>
          <a:bodyPr>
            <a:normAutofit fontScale="90000"/>
          </a:bodyPr>
          <a:lstStyle/>
          <a:p>
            <a:r>
              <a:rPr lang="en-US" dirty="0" smtClean="0">
                <a:latin typeface="Calibri"/>
              </a:rPr>
              <a:t>“Hope” Ramp Loss</a:t>
            </a:r>
            <a:br>
              <a:rPr lang="en-US" dirty="0" smtClean="0">
                <a:latin typeface="Calibri"/>
              </a:rPr>
            </a:br>
            <a:r>
              <a:rPr lang="en-US" sz="2400" dirty="0" smtClean="0">
                <a:solidFill>
                  <a:srgbClr val="0062AC"/>
                </a:solidFill>
                <a:latin typeface="Calibri"/>
              </a:rPr>
              <a:t>(</a:t>
            </a:r>
            <a:r>
              <a:rPr lang="en-US" sz="2400" dirty="0" err="1" smtClean="0">
                <a:solidFill>
                  <a:srgbClr val="0062AC"/>
                </a:solidFill>
                <a:latin typeface="Calibri"/>
              </a:rPr>
              <a:t>McAllester</a:t>
            </a:r>
            <a:r>
              <a:rPr lang="en-US" sz="2400" dirty="0" smtClean="0">
                <a:solidFill>
                  <a:srgbClr val="0062AC"/>
                </a:solidFill>
                <a:latin typeface="Calibri"/>
              </a:rPr>
              <a:t> &amp; </a:t>
            </a:r>
            <a:r>
              <a:rPr lang="en-US" sz="2400" dirty="0" err="1" smtClean="0">
                <a:solidFill>
                  <a:srgbClr val="0062AC"/>
                </a:solidFill>
                <a:latin typeface="Calibri"/>
              </a:rPr>
              <a:t>Keshet</a:t>
            </a:r>
            <a:r>
              <a:rPr lang="en-US" sz="2400" dirty="0" smtClean="0">
                <a:solidFill>
                  <a:srgbClr val="0062AC"/>
                </a:solidFill>
                <a:latin typeface="Calibri"/>
              </a:rPr>
              <a:t>, 2011;</a:t>
            </a:r>
            <a:r>
              <a:rPr lang="en-US" sz="2400" dirty="0">
                <a:solidFill>
                  <a:srgbClr val="0062AC"/>
                </a:solidFill>
                <a:latin typeface="Calibri"/>
              </a:rPr>
              <a:t> </a:t>
            </a:r>
            <a:r>
              <a:rPr lang="en-US" sz="2400" dirty="0" smtClean="0">
                <a:solidFill>
                  <a:srgbClr val="0062AC"/>
                </a:solidFill>
                <a:latin typeface="Calibri"/>
              </a:rPr>
              <a:t>Liang et al., 2006)</a:t>
            </a:r>
            <a:endParaRPr lang="en-US" sz="2400" dirty="0">
              <a:solidFill>
                <a:srgbClr val="0062AC"/>
              </a:solidFill>
              <a:latin typeface="Calibri"/>
            </a:endParaRPr>
          </a:p>
        </p:txBody>
      </p:sp>
      <p:sp>
        <p:nvSpPr>
          <p:cNvPr id="9" name="Right Arrow 8"/>
          <p:cNvSpPr/>
          <p:nvPr/>
        </p:nvSpPr>
        <p:spPr>
          <a:xfrm rot="10800000">
            <a:off x="4508867" y="3341105"/>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16544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294523725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8" name="Rectangle 7"/>
          <p:cNvSpPr/>
          <p:nvPr/>
        </p:nvSpPr>
        <p:spPr>
          <a:xfrm>
            <a:off x="4343401" y="1219200"/>
            <a:ext cx="4724400"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TextBox 19"/>
          <p:cNvSpPr txBox="1">
            <a:spLocks noChangeArrowheads="1"/>
          </p:cNvSpPr>
          <p:nvPr/>
        </p:nvSpPr>
        <p:spPr bwMode="auto">
          <a:xfrm>
            <a:off x="5165440" y="3200400"/>
            <a:ext cx="2667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pic>
        <p:nvPicPr>
          <p:cNvPr id="2" name="Picture 1"/>
          <p:cNvPicPr>
            <a:picLocks noChangeAspect="1"/>
          </p:cNvPicPr>
          <p:nvPr/>
        </p:nvPicPr>
        <p:blipFill>
          <a:blip r:embed="rId4"/>
          <a:stretch>
            <a:fillRect/>
          </a:stretch>
        </p:blipFill>
        <p:spPr>
          <a:xfrm>
            <a:off x="4495800" y="1324264"/>
            <a:ext cx="4457700" cy="571500"/>
          </a:xfrm>
          <a:prstGeom prst="rect">
            <a:avLst/>
          </a:prstGeom>
        </p:spPr>
      </p:pic>
      <p:sp>
        <p:nvSpPr>
          <p:cNvPr id="21" name="Right Arrow 20"/>
          <p:cNvSpPr/>
          <p:nvPr/>
        </p:nvSpPr>
        <p:spPr>
          <a:xfrm rot="10800000">
            <a:off x="4508867" y="3341105"/>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TextBox 22"/>
          <p:cNvSpPr txBox="1">
            <a:spLocks noChangeArrowheads="1"/>
          </p:cNvSpPr>
          <p:nvPr/>
        </p:nvSpPr>
        <p:spPr bwMode="auto">
          <a:xfrm>
            <a:off x="5439244" y="2002669"/>
            <a:ext cx="220384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6" name="Title 1"/>
          <p:cNvSpPr>
            <a:spLocks noGrp="1"/>
          </p:cNvSpPr>
          <p:nvPr>
            <p:ph type="title"/>
          </p:nvPr>
        </p:nvSpPr>
        <p:spPr>
          <a:xfrm>
            <a:off x="304800" y="143170"/>
            <a:ext cx="8534400" cy="930564"/>
          </a:xfrm>
        </p:spPr>
        <p:txBody>
          <a:bodyPr>
            <a:normAutofit fontScale="90000"/>
          </a:bodyPr>
          <a:lstStyle/>
          <a:p>
            <a:r>
              <a:rPr lang="en-US" dirty="0" smtClean="0">
                <a:latin typeface="Calibri"/>
              </a:rPr>
              <a:t>“Hope” Ramp Loss</a:t>
            </a:r>
            <a:br>
              <a:rPr lang="en-US" dirty="0" smtClean="0">
                <a:latin typeface="Calibri"/>
              </a:rPr>
            </a:br>
            <a:r>
              <a:rPr lang="en-US" sz="2400" dirty="0" smtClean="0">
                <a:solidFill>
                  <a:srgbClr val="0062AC"/>
                </a:solidFill>
                <a:latin typeface="Calibri"/>
              </a:rPr>
              <a:t>(</a:t>
            </a:r>
            <a:r>
              <a:rPr lang="en-US" sz="2400" dirty="0" err="1" smtClean="0">
                <a:solidFill>
                  <a:srgbClr val="0062AC"/>
                </a:solidFill>
                <a:latin typeface="Calibri"/>
              </a:rPr>
              <a:t>McAllester</a:t>
            </a:r>
            <a:r>
              <a:rPr lang="en-US" sz="2400" dirty="0" smtClean="0">
                <a:solidFill>
                  <a:srgbClr val="0062AC"/>
                </a:solidFill>
                <a:latin typeface="Calibri"/>
              </a:rPr>
              <a:t> &amp; </a:t>
            </a:r>
            <a:r>
              <a:rPr lang="en-US" sz="2400" dirty="0" err="1" smtClean="0">
                <a:solidFill>
                  <a:srgbClr val="0062AC"/>
                </a:solidFill>
                <a:latin typeface="Calibri"/>
              </a:rPr>
              <a:t>Keshet</a:t>
            </a:r>
            <a:r>
              <a:rPr lang="en-US" sz="2400" dirty="0" smtClean="0">
                <a:solidFill>
                  <a:srgbClr val="0062AC"/>
                </a:solidFill>
                <a:latin typeface="Calibri"/>
              </a:rPr>
              <a:t>, 2011;</a:t>
            </a:r>
            <a:r>
              <a:rPr lang="en-US" sz="2400" dirty="0">
                <a:solidFill>
                  <a:srgbClr val="0062AC"/>
                </a:solidFill>
                <a:latin typeface="Calibri"/>
              </a:rPr>
              <a:t> </a:t>
            </a:r>
            <a:r>
              <a:rPr lang="en-US" sz="2400" dirty="0" smtClean="0">
                <a:solidFill>
                  <a:srgbClr val="0062AC"/>
                </a:solidFill>
                <a:latin typeface="Calibri"/>
              </a:rPr>
              <a:t>Liang et al., 2006)</a:t>
            </a:r>
            <a:endParaRPr lang="en-US" sz="2400" dirty="0">
              <a:solidFill>
                <a:srgbClr val="0062AC"/>
              </a:solidFill>
              <a:latin typeface="Calibri"/>
            </a:endParaRPr>
          </a:p>
        </p:txBody>
      </p:sp>
    </p:spTree>
    <p:extLst>
      <p:ext uri="{BB962C8B-B14F-4D97-AF65-F5344CB8AC3E}">
        <p14:creationId xmlns:p14="http://schemas.microsoft.com/office/powerpoint/2010/main" val="85550860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1" name="Title 1"/>
          <p:cNvSpPr>
            <a:spLocks noGrp="1"/>
          </p:cNvSpPr>
          <p:nvPr>
            <p:ph type="title"/>
          </p:nvPr>
        </p:nvSpPr>
        <p:spPr>
          <a:xfrm>
            <a:off x="304800" y="304800"/>
            <a:ext cx="8534400" cy="685800"/>
          </a:xfrm>
        </p:spPr>
        <p:txBody>
          <a:bodyPr>
            <a:normAutofit fontScale="90000"/>
          </a:bodyPr>
          <a:lstStyle/>
          <a:p>
            <a:r>
              <a:rPr lang="en-US" dirty="0" smtClean="0">
                <a:latin typeface="Calibri"/>
              </a:rPr>
              <a:t>“Hope-Fear” Ramp Loss</a:t>
            </a:r>
            <a:br>
              <a:rPr lang="en-US" dirty="0" smtClean="0">
                <a:latin typeface="Calibri"/>
              </a:rPr>
            </a:br>
            <a:r>
              <a:rPr lang="en-US" sz="2400" dirty="0" smtClean="0">
                <a:solidFill>
                  <a:srgbClr val="0062AC"/>
                </a:solidFill>
                <a:latin typeface="Calibri"/>
              </a:rPr>
              <a:t>(Chiang et al., 2008; 2009</a:t>
            </a:r>
            <a:r>
              <a:rPr lang="en-US" sz="2400" dirty="0" smtClean="0">
                <a:solidFill>
                  <a:srgbClr val="0062AC"/>
                </a:solidFill>
              </a:rPr>
              <a:t>; Cherry &amp; Foster, 2012;</a:t>
            </a:r>
            <a:r>
              <a:rPr lang="en-US" sz="2400" dirty="0" smtClean="0">
                <a:solidFill>
                  <a:srgbClr val="0062AC"/>
                </a:solidFill>
                <a:latin typeface="Calibri"/>
              </a:rPr>
              <a:t> Chiang, 2012)</a:t>
            </a:r>
            <a:endParaRPr lang="en-US" sz="2400" dirty="0">
              <a:solidFill>
                <a:srgbClr val="0062AC"/>
              </a:solidFill>
              <a:latin typeface="Calibri"/>
            </a:endParaRPr>
          </a:p>
        </p:txBody>
      </p:sp>
      <p:sp>
        <p:nvSpPr>
          <p:cNvPr id="23" name="Right Arrow 22"/>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p:cNvSpPr txBox="1">
            <a:spLocks noChangeArrowheads="1"/>
          </p:cNvSpPr>
          <p:nvPr/>
        </p:nvSpPr>
        <p:spPr bwMode="auto">
          <a:xfrm>
            <a:off x="5439244" y="2002669"/>
            <a:ext cx="220384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8" name="TextBox 27"/>
          <p:cNvSpPr txBox="1">
            <a:spLocks noChangeArrowheads="1"/>
          </p:cNvSpPr>
          <p:nvPr/>
        </p:nvSpPr>
        <p:spPr bwMode="auto">
          <a:xfrm>
            <a:off x="5160819" y="4835235"/>
            <a:ext cx="210127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58636856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1" name="Title 1"/>
          <p:cNvSpPr>
            <a:spLocks noGrp="1"/>
          </p:cNvSpPr>
          <p:nvPr>
            <p:ph type="title"/>
          </p:nvPr>
        </p:nvSpPr>
        <p:spPr>
          <a:xfrm>
            <a:off x="304800" y="304800"/>
            <a:ext cx="8534400" cy="685800"/>
          </a:xfrm>
        </p:spPr>
        <p:txBody>
          <a:bodyPr>
            <a:normAutofit fontScale="90000"/>
          </a:bodyPr>
          <a:lstStyle/>
          <a:p>
            <a:r>
              <a:rPr lang="en-US" dirty="0" smtClean="0">
                <a:latin typeface="Calibri"/>
              </a:rPr>
              <a:t>“Hope-Fear” Ramp Loss</a:t>
            </a:r>
            <a:br>
              <a:rPr lang="en-US" dirty="0" smtClean="0">
                <a:latin typeface="Calibri"/>
              </a:rPr>
            </a:br>
            <a:r>
              <a:rPr lang="en-US" sz="2400" dirty="0" smtClean="0">
                <a:solidFill>
                  <a:srgbClr val="0062AC"/>
                </a:solidFill>
                <a:latin typeface="Calibri"/>
              </a:rPr>
              <a:t>(Chiang et al., 2008; 2009</a:t>
            </a:r>
            <a:r>
              <a:rPr lang="en-US" sz="2400" dirty="0" smtClean="0">
                <a:solidFill>
                  <a:srgbClr val="0062AC"/>
                </a:solidFill>
              </a:rPr>
              <a:t>; Cherry &amp; Foster, 2012;</a:t>
            </a:r>
            <a:r>
              <a:rPr lang="en-US" sz="2400" dirty="0" smtClean="0">
                <a:solidFill>
                  <a:srgbClr val="0062AC"/>
                </a:solidFill>
                <a:latin typeface="Calibri"/>
              </a:rPr>
              <a:t> Chiang, 2012)</a:t>
            </a:r>
            <a:endParaRPr lang="en-US" sz="2400" dirty="0">
              <a:solidFill>
                <a:srgbClr val="0062AC"/>
              </a:solidFill>
              <a:latin typeface="Calibri"/>
            </a:endParaRPr>
          </a:p>
        </p:txBody>
      </p:sp>
      <p:sp>
        <p:nvSpPr>
          <p:cNvPr id="23" name="Right Arrow 22"/>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p:cNvSpPr txBox="1">
            <a:spLocks noChangeArrowheads="1"/>
          </p:cNvSpPr>
          <p:nvPr/>
        </p:nvSpPr>
        <p:spPr bwMode="auto">
          <a:xfrm>
            <a:off x="5439244" y="2002669"/>
            <a:ext cx="220384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8" name="TextBox 27"/>
          <p:cNvSpPr txBox="1">
            <a:spLocks noChangeArrowheads="1"/>
          </p:cNvSpPr>
          <p:nvPr/>
        </p:nvSpPr>
        <p:spPr bwMode="auto">
          <a:xfrm>
            <a:off x="5160819" y="4835235"/>
            <a:ext cx="210127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12" name="Rectangle 11"/>
          <p:cNvSpPr/>
          <p:nvPr/>
        </p:nvSpPr>
        <p:spPr>
          <a:xfrm>
            <a:off x="4343401" y="2478810"/>
            <a:ext cx="4724400" cy="774700"/>
          </a:xfrm>
          <a:prstGeom prst="rect">
            <a:avLst/>
          </a:prstGeom>
          <a:solidFill>
            <a:schemeClr val="bg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Rectangle 13"/>
          <p:cNvSpPr/>
          <p:nvPr/>
        </p:nvSpPr>
        <p:spPr>
          <a:xfrm>
            <a:off x="4343400" y="4091710"/>
            <a:ext cx="4713643" cy="774700"/>
          </a:xfrm>
          <a:prstGeom prst="rect">
            <a:avLst/>
          </a:prstGeom>
          <a:solidFill>
            <a:schemeClr val="bg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15" name="Picture 14"/>
          <p:cNvPicPr>
            <a:picLocks noChangeAspect="1"/>
          </p:cNvPicPr>
          <p:nvPr/>
        </p:nvPicPr>
        <p:blipFill>
          <a:blip r:embed="rId4"/>
          <a:stretch>
            <a:fillRect/>
          </a:stretch>
        </p:blipFill>
        <p:spPr>
          <a:xfrm>
            <a:off x="4419600" y="4167910"/>
            <a:ext cx="4584700" cy="609600"/>
          </a:xfrm>
          <a:prstGeom prst="rect">
            <a:avLst/>
          </a:prstGeom>
        </p:spPr>
      </p:pic>
      <p:pic>
        <p:nvPicPr>
          <p:cNvPr id="16" name="Picture 15"/>
          <p:cNvPicPr>
            <a:picLocks noChangeAspect="1"/>
          </p:cNvPicPr>
          <p:nvPr/>
        </p:nvPicPr>
        <p:blipFill>
          <a:blip r:embed="rId5"/>
          <a:stretch>
            <a:fillRect/>
          </a:stretch>
        </p:blipFill>
        <p:spPr>
          <a:xfrm>
            <a:off x="4419600" y="2567710"/>
            <a:ext cx="4584700" cy="609600"/>
          </a:xfrm>
          <a:prstGeom prst="rect">
            <a:avLst/>
          </a:prstGeom>
        </p:spPr>
      </p:pic>
    </p:spTree>
    <p:extLst>
      <p:ext uri="{BB962C8B-B14F-4D97-AF65-F5344CB8AC3E}">
        <p14:creationId xmlns:p14="http://schemas.microsoft.com/office/powerpoint/2010/main" val="146494685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3967018" cy="1020618"/>
          </a:xfrm>
        </p:spPr>
        <p:txBody>
          <a:bodyPr/>
          <a:lstStyle/>
          <a:p>
            <a:r>
              <a:rPr lang="en-US" sz="3200" dirty="0" smtClean="0">
                <a:latin typeface="Calibri"/>
              </a:rPr>
              <a:t>Experiments</a:t>
            </a:r>
            <a:br>
              <a:rPr lang="en-US" sz="3200" dirty="0" smtClean="0">
                <a:latin typeface="Calibri"/>
              </a:rPr>
            </a:br>
            <a:r>
              <a:rPr lang="en-US" sz="2400" dirty="0">
                <a:solidFill>
                  <a:srgbClr val="0062AC"/>
                </a:solidFill>
              </a:rPr>
              <a:t>(Gimpel, 2012)</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2075771780"/>
              </p:ext>
            </p:extLst>
          </p:nvPr>
        </p:nvGraphicFramePr>
        <p:xfrm>
          <a:off x="304802" y="1371600"/>
          <a:ext cx="8482055" cy="2225040"/>
        </p:xfrm>
        <a:graphic>
          <a:graphicData uri="http://schemas.openxmlformats.org/drawingml/2006/table">
            <a:tbl>
              <a:tblPr firstRow="1" bandRow="1">
                <a:tableStyleId>{1FECB4D8-DB02-4DC6-A0A2-4F2EBAE1DC90}</a:tableStyleId>
              </a:tblPr>
              <a:tblGrid>
                <a:gridCol w="4856478"/>
                <a:gridCol w="1849120"/>
                <a:gridCol w="1776457"/>
              </a:tblGrid>
              <a:tr h="370840">
                <a:tc>
                  <a:txBody>
                    <a:bodyPr/>
                    <a:lstStyle/>
                    <a:p>
                      <a:endParaRPr lang="en-US" dirty="0">
                        <a:latin typeface="Calibri"/>
                        <a:cs typeface="Calibri"/>
                      </a:endParaRPr>
                    </a:p>
                  </a:txBody>
                  <a:tcPr>
                    <a:lnR w="12700" cap="flat" cmpd="sng" algn="ctr">
                      <a:solidFill>
                        <a:scrgbClr r="0" g="0" b="0"/>
                      </a:solidFill>
                      <a:prstDash val="solid"/>
                      <a:round/>
                      <a:headEnd type="none" w="med" len="med"/>
                      <a:tailEnd type="none" w="med" len="med"/>
                    </a:lnR>
                  </a:tcPr>
                </a:tc>
                <a:tc>
                  <a:txBody>
                    <a:bodyPr/>
                    <a:lstStyle/>
                    <a:p>
                      <a:pPr algn="ctr"/>
                      <a:r>
                        <a:rPr lang="en-US" b="0" dirty="0" smtClean="0">
                          <a:solidFill>
                            <a:schemeClr val="tx1"/>
                          </a:solidFill>
                          <a:latin typeface="Calibri"/>
                          <a:cs typeface="Calibri"/>
                        </a:rPr>
                        <a:t>Moses</a:t>
                      </a:r>
                      <a:endParaRPr lang="en-US" b="0" dirty="0">
                        <a:solidFill>
                          <a:schemeClr val="tx1"/>
                        </a:solidFill>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tc>
                  <a:txBody>
                    <a:bodyPr/>
                    <a:lstStyle/>
                    <a:p>
                      <a:pPr algn="ctr"/>
                      <a:r>
                        <a:rPr lang="en-US" b="0" dirty="0" err="1" smtClean="0">
                          <a:solidFill>
                            <a:schemeClr val="tx1"/>
                          </a:solidFill>
                          <a:latin typeface="Calibri"/>
                          <a:cs typeface="Calibri"/>
                        </a:rPr>
                        <a:t>Hiero</a:t>
                      </a:r>
                      <a:endParaRPr lang="en-US" b="0" dirty="0">
                        <a:solidFill>
                          <a:schemeClr val="tx1"/>
                        </a:solidFill>
                        <a:latin typeface="Calibri"/>
                        <a:cs typeface="Calibri"/>
                      </a:endParaRPr>
                    </a:p>
                  </a:txBody>
                  <a:tcPr>
                    <a:lnL w="12700" cap="flat" cmpd="sng" algn="ctr">
                      <a:solidFill>
                        <a:scrgbClr r="0" g="0" b="0"/>
                      </a:solidFill>
                      <a:prstDash val="solid"/>
                      <a:round/>
                      <a:headEnd type="none" w="med" len="med"/>
                      <a:tailEnd type="none" w="med" len="med"/>
                    </a:lnL>
                  </a:tcPr>
                </a:tc>
              </a:tr>
              <a:tr h="370840">
                <a:tc>
                  <a:txBody>
                    <a:bodyPr/>
                    <a:lstStyle/>
                    <a:p>
                      <a:endParaRPr lang="en-US" dirty="0">
                        <a:latin typeface="Calibri"/>
                        <a:cs typeface="Calibri"/>
                      </a:endParaRPr>
                    </a:p>
                  </a:txBody>
                  <a:tcPr>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en-US" dirty="0" smtClean="0">
                          <a:latin typeface="Calibri"/>
                          <a:cs typeface="Calibri"/>
                        </a:rPr>
                        <a:t>%BLEU</a:t>
                      </a:r>
                      <a:endParaRPr lang="en-US" dirty="0">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en-US" dirty="0" smtClean="0">
                          <a:latin typeface="Calibri"/>
                          <a:cs typeface="Calibri"/>
                        </a:rPr>
                        <a:t>%BLEU</a:t>
                      </a:r>
                      <a:endParaRPr lang="en-US" dirty="0">
                        <a:latin typeface="Calibri"/>
                        <a:cs typeface="Calibri"/>
                      </a:endParaRPr>
                    </a:p>
                  </a:txBody>
                  <a:tcPr>
                    <a:lnL w="12700" cap="flat" cmpd="sng" algn="ctr">
                      <a:solidFill>
                        <a:scrgbClr r="0" g="0" b="0"/>
                      </a:solidFill>
                      <a:prstDash val="solid"/>
                      <a:round/>
                      <a:headEnd type="none" w="med" len="med"/>
                      <a:tailEnd type="none" w="med" len="med"/>
                    </a:lnL>
                    <a:lnB w="12700" cap="flat" cmpd="sng" algn="ctr">
                      <a:solidFill>
                        <a:scrgbClr r="0" g="0" b="0"/>
                      </a:solidFill>
                      <a:prstDash val="solid"/>
                      <a:round/>
                      <a:headEnd type="none" w="med" len="med"/>
                      <a:tailEnd type="none" w="med" len="med"/>
                    </a:lnB>
                  </a:tcPr>
                </a:tc>
              </a:tr>
              <a:tr h="370840">
                <a:tc>
                  <a:txBody>
                    <a:bodyPr/>
                    <a:lstStyle/>
                    <a:p>
                      <a:r>
                        <a:rPr lang="en-US" dirty="0" smtClean="0">
                          <a:latin typeface="Calibri"/>
                          <a:cs typeface="Calibri"/>
                        </a:rPr>
                        <a:t>MERT</a:t>
                      </a:r>
                      <a:endParaRPr lang="en-US" dirty="0">
                        <a:latin typeface="Calibri"/>
                        <a:cs typeface="Calibri"/>
                      </a:endParaRP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pPr algn="ctr"/>
                      <a:r>
                        <a:rPr lang="en-US" b="1" dirty="0" smtClean="0">
                          <a:latin typeface="Calibri"/>
                          <a:cs typeface="Calibri"/>
                        </a:rPr>
                        <a:t>35.9</a:t>
                      </a:r>
                      <a:endParaRPr lang="en-US" b="1" dirty="0">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pPr algn="ctr"/>
                      <a:r>
                        <a:rPr lang="en-US" b="1" dirty="0" smtClean="0">
                          <a:latin typeface="Calibri"/>
                          <a:cs typeface="Calibri"/>
                        </a:rPr>
                        <a:t>37.0</a:t>
                      </a:r>
                      <a:endParaRPr lang="en-US" b="1" dirty="0">
                        <a:latin typeface="Calibri"/>
                        <a:cs typeface="Calibri"/>
                      </a:endParaRP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r>
              <a:tr h="370840">
                <a:tc>
                  <a:txBody>
                    <a:bodyPr/>
                    <a:lstStyle/>
                    <a:p>
                      <a:r>
                        <a:rPr lang="en-US" dirty="0" smtClean="0">
                          <a:latin typeface="Calibri"/>
                          <a:cs typeface="Calibri"/>
                        </a:rPr>
                        <a:t>Fear Ramp (away from bad)</a:t>
                      </a:r>
                      <a:endParaRPr lang="en-US" dirty="0">
                        <a:latin typeface="Calibri"/>
                        <a:cs typeface="Calibri"/>
                      </a:endParaRPr>
                    </a:p>
                  </a:txBody>
                  <a:tcPr>
                    <a:lnR w="12700" cap="flat" cmpd="sng" algn="ctr">
                      <a:solidFill>
                        <a:scrgbClr r="0" g="0" b="0"/>
                      </a:solidFill>
                      <a:prstDash val="solid"/>
                      <a:round/>
                      <a:headEnd type="none" w="med" len="med"/>
                      <a:tailEnd type="none" w="med" len="med"/>
                    </a:lnR>
                  </a:tcPr>
                </a:tc>
                <a:tc>
                  <a:txBody>
                    <a:bodyPr/>
                    <a:lstStyle/>
                    <a:p>
                      <a:pPr algn="ctr"/>
                      <a:r>
                        <a:rPr lang="en-US" dirty="0" smtClean="0">
                          <a:latin typeface="Calibri"/>
                          <a:cs typeface="Calibri"/>
                        </a:rPr>
                        <a:t>34.9</a:t>
                      </a:r>
                      <a:endParaRPr lang="en-US" dirty="0">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tc>
                  <a:txBody>
                    <a:bodyPr/>
                    <a:lstStyle/>
                    <a:p>
                      <a:pPr algn="ctr"/>
                      <a:r>
                        <a:rPr lang="en-US" dirty="0" smtClean="0">
                          <a:latin typeface="Calibri"/>
                          <a:cs typeface="Calibri"/>
                        </a:rPr>
                        <a:t>34.2</a:t>
                      </a:r>
                      <a:endParaRPr lang="en-US" dirty="0">
                        <a:latin typeface="Calibri"/>
                        <a:cs typeface="Calibri"/>
                      </a:endParaRPr>
                    </a:p>
                  </a:txBody>
                  <a:tcPr>
                    <a:lnL w="12700" cap="flat" cmpd="sng" algn="ctr">
                      <a:solidFill>
                        <a:scrgbClr r="0" g="0" b="0"/>
                      </a:solidFill>
                      <a:prstDash val="solid"/>
                      <a:round/>
                      <a:headEnd type="none" w="med" len="med"/>
                      <a:tailEnd type="none" w="med" len="med"/>
                    </a:lnL>
                  </a:tcPr>
                </a:tc>
              </a:tr>
              <a:tr h="370840">
                <a:tc>
                  <a:txBody>
                    <a:bodyPr/>
                    <a:lstStyle/>
                    <a:p>
                      <a:r>
                        <a:rPr lang="en-US" dirty="0" smtClean="0">
                          <a:latin typeface="Calibri"/>
                          <a:cs typeface="Calibri"/>
                        </a:rPr>
                        <a:t>Hope Ramp (toward good)</a:t>
                      </a:r>
                      <a:endParaRPr lang="en-US" dirty="0">
                        <a:latin typeface="Calibri"/>
                        <a:cs typeface="Calibri"/>
                      </a:endParaRPr>
                    </a:p>
                  </a:txBody>
                  <a:tcPr>
                    <a:lnR w="12700" cap="flat" cmpd="sng" algn="ctr">
                      <a:solidFill>
                        <a:scrgbClr r="0" g="0" b="0"/>
                      </a:solidFill>
                      <a:prstDash val="solid"/>
                      <a:round/>
                      <a:headEnd type="none" w="med" len="med"/>
                      <a:tailEnd type="none" w="med" len="med"/>
                    </a:lnR>
                  </a:tcPr>
                </a:tc>
                <a:tc>
                  <a:txBody>
                    <a:bodyPr/>
                    <a:lstStyle/>
                    <a:p>
                      <a:pPr algn="ctr"/>
                      <a:r>
                        <a:rPr lang="en-US" dirty="0" smtClean="0">
                          <a:latin typeface="Calibri"/>
                          <a:cs typeface="Calibri"/>
                        </a:rPr>
                        <a:t>35.2</a:t>
                      </a:r>
                      <a:endParaRPr lang="en-US" dirty="0">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tc>
                  <a:txBody>
                    <a:bodyPr/>
                    <a:lstStyle/>
                    <a:p>
                      <a:pPr algn="ctr"/>
                      <a:r>
                        <a:rPr lang="en-US" dirty="0" smtClean="0">
                          <a:latin typeface="Calibri"/>
                          <a:cs typeface="Calibri"/>
                        </a:rPr>
                        <a:t>36.0</a:t>
                      </a:r>
                      <a:endParaRPr lang="en-US" dirty="0">
                        <a:latin typeface="Calibri"/>
                        <a:cs typeface="Calibri"/>
                      </a:endParaRPr>
                    </a:p>
                  </a:txBody>
                  <a:tcPr>
                    <a:lnL w="12700" cap="flat" cmpd="sng" algn="ctr">
                      <a:solidFill>
                        <a:scrgbClr r="0" g="0" b="0"/>
                      </a:solidFill>
                      <a:prstDash val="solid"/>
                      <a:round/>
                      <a:headEnd type="none" w="med" len="med"/>
                      <a:tailEnd type="none" w="med" len="med"/>
                    </a:lnL>
                  </a:tcPr>
                </a:tc>
              </a:tr>
              <a:tr h="370840">
                <a:tc>
                  <a:txBody>
                    <a:bodyPr/>
                    <a:lstStyle/>
                    <a:p>
                      <a:r>
                        <a:rPr lang="en-US" dirty="0" smtClean="0">
                          <a:latin typeface="Calibri"/>
                          <a:cs typeface="Calibri"/>
                        </a:rPr>
                        <a:t>Hope-Fear Ramp (toward good + away from bad)</a:t>
                      </a:r>
                      <a:endParaRPr lang="en-US" dirty="0">
                        <a:latin typeface="Calibri"/>
                        <a:cs typeface="Calibri"/>
                      </a:endParaRPr>
                    </a:p>
                  </a:txBody>
                  <a:tcPr>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en-US" dirty="0" smtClean="0">
                          <a:latin typeface="Calibri"/>
                          <a:cs typeface="Calibri"/>
                        </a:rPr>
                        <a:t>35.7</a:t>
                      </a:r>
                      <a:endParaRPr lang="en-US" dirty="0">
                        <a:latin typeface="Calibri"/>
                        <a:cs typeface="Calibri"/>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en-US" b="1" dirty="0" smtClean="0">
                          <a:latin typeface="Calibri"/>
                          <a:cs typeface="Calibri"/>
                        </a:rPr>
                        <a:t>37.0</a:t>
                      </a:r>
                      <a:endParaRPr lang="en-US" b="1" dirty="0">
                        <a:latin typeface="Calibri"/>
                        <a:cs typeface="Calibri"/>
                      </a:endParaRPr>
                    </a:p>
                  </a:txBody>
                  <a:tcPr>
                    <a:lnL w="12700" cap="flat" cmpd="sng" algn="ctr">
                      <a:solidFill>
                        <a:scrgbClr r="0" g="0" b="0"/>
                      </a:solidFill>
                      <a:prstDash val="solid"/>
                      <a:round/>
                      <a:headEnd type="none" w="med" len="med"/>
                      <a:tailEnd type="none" w="med" len="med"/>
                    </a:lnL>
                    <a:lnB w="12700" cap="flat" cmpd="sng" algn="ctr">
                      <a:solidFill>
                        <a:scrgbClr r="0" g="0" b="0"/>
                      </a:solidFill>
                      <a:prstDash val="solid"/>
                      <a:round/>
                      <a:headEnd type="none" w="med" len="med"/>
                      <a:tailEnd type="none" w="med" len="med"/>
                    </a:lnB>
                  </a:tcPr>
                </a:tc>
              </a:tr>
            </a:tbl>
          </a:graphicData>
        </a:graphic>
      </p:graphicFrame>
      <p:sp>
        <p:nvSpPr>
          <p:cNvPr id="6" name="Left Brace 5"/>
          <p:cNvSpPr/>
          <p:nvPr/>
        </p:nvSpPr>
        <p:spPr bwMode="auto">
          <a:xfrm rot="5400000">
            <a:off x="6570980" y="-469900"/>
            <a:ext cx="457200" cy="3286760"/>
          </a:xfrm>
          <a:prstGeom prst="leftBrace">
            <a:avLst>
              <a:gd name="adj1" fmla="val 63888"/>
              <a:gd name="adj2" fmla="val 50000"/>
            </a:avLst>
          </a:prstGeom>
          <a:no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7" name="TextBox 6"/>
          <p:cNvSpPr txBox="1">
            <a:spLocks noChangeArrowheads="1"/>
          </p:cNvSpPr>
          <p:nvPr/>
        </p:nvSpPr>
        <p:spPr bwMode="auto">
          <a:xfrm>
            <a:off x="4062487" y="640080"/>
            <a:ext cx="472437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a:solidFill>
                  <a:srgbClr val="0062AC"/>
                </a:solidFill>
                <a:latin typeface="Calibri"/>
                <a:cs typeface="Calibri"/>
              </a:rPr>
              <a:t>a</a:t>
            </a:r>
            <a:r>
              <a:rPr lang="en-US" i="0" dirty="0" smtClean="0">
                <a:solidFill>
                  <a:srgbClr val="0062AC"/>
                </a:solidFill>
                <a:latin typeface="Calibri"/>
                <a:cs typeface="Calibri"/>
              </a:rPr>
              <a:t>verages over </a:t>
            </a:r>
            <a:r>
              <a:rPr lang="en-US" i="0" dirty="0">
                <a:solidFill>
                  <a:srgbClr val="0062AC"/>
                </a:solidFill>
                <a:latin typeface="Calibri"/>
                <a:cs typeface="Calibri"/>
              </a:rPr>
              <a:t>8</a:t>
            </a:r>
            <a:r>
              <a:rPr lang="en-US" i="0" dirty="0" smtClean="0">
                <a:solidFill>
                  <a:srgbClr val="0062AC"/>
                </a:solidFill>
                <a:latin typeface="Calibri"/>
                <a:cs typeface="Calibri"/>
              </a:rPr>
              <a:t> test sets across 3 language pairs</a:t>
            </a:r>
            <a:endParaRPr lang="en-US" i="0" dirty="0">
              <a:solidFill>
                <a:srgbClr val="0062AC"/>
              </a:solidFill>
              <a:latin typeface="Calibri"/>
              <a:cs typeface="Calibri"/>
            </a:endParaRPr>
          </a:p>
        </p:txBody>
      </p:sp>
    </p:spTree>
    <p:extLst>
      <p:ext uri="{BB962C8B-B14F-4D97-AF65-F5344CB8AC3E}">
        <p14:creationId xmlns:p14="http://schemas.microsoft.com/office/powerpoint/2010/main" val="36237387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228600"/>
            <a:ext cx="8534400" cy="685800"/>
          </a:xfrm>
        </p:spPr>
        <p:txBody>
          <a:bodyPr>
            <a:normAutofit fontScale="90000"/>
          </a:bodyPr>
          <a:lstStyle/>
          <a:p>
            <a:r>
              <a:rPr lang="en-US" dirty="0"/>
              <a:t>Pairwise Ranking Optimization</a:t>
            </a:r>
            <a:r>
              <a:rPr lang="en-US" dirty="0" smtClean="0"/>
              <a:t/>
            </a:r>
            <a:br>
              <a:rPr lang="en-US" dirty="0" smtClean="0"/>
            </a:br>
            <a:r>
              <a:rPr lang="en-US" sz="2800" dirty="0" smtClean="0">
                <a:solidFill>
                  <a:srgbClr val="0062AC"/>
                </a:solidFill>
              </a:rPr>
              <a:t>(Hopkins &amp; May, 2011)</a:t>
            </a:r>
            <a:endParaRPr lang="en-US" sz="2800" dirty="0"/>
          </a:p>
        </p:txBody>
      </p:sp>
      <p:sp>
        <p:nvSpPr>
          <p:cNvPr id="12" name="Right Arrow 11"/>
          <p:cNvSpPr/>
          <p:nvPr/>
        </p:nvSpPr>
        <p:spPr>
          <a:xfrm rot="10800000">
            <a:off x="3840018" y="479136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ight Arrow 19"/>
          <p:cNvSpPr/>
          <p:nvPr/>
        </p:nvSpPr>
        <p:spPr>
          <a:xfrm>
            <a:off x="3796145" y="2861968"/>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1143000" y="1600200"/>
            <a:ext cx="2438400" cy="4343400"/>
          </a:xfrm>
          <a:prstGeom prst="rect">
            <a:avLst/>
          </a:prstGeom>
          <a:solidFill>
            <a:schemeClr val="bg1">
              <a:alpha val="69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109036548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equation}&#10;\textcolor{red}{a = a_1 ... a_{|f|}} \nonumber&#10;\end{equation}&#10;&#10;&#10;\end{document}"/>
  <p:tag name="IGUANATEXSIZE" val="36"/>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mid e)\nonumber&#10;\end{align}&#10;&#10;&#10;\end{document}"/>
  <p:tag name="IGUANATEXSIZE" val="32"/>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a \mid e)&amp;=\prod_{j=1}^{|f|} \textcolor{red}{P(a_j)} \textcolor{blue}{P(f_j | e_{a_j})} \nonumber\\&#10;&amp;= \prod_{j=1}^{|f|} \textcolor{red}{\frac{1}{|e|+1}} \textcolor{blue}{P(f_j | e_{a_j})}\nonumber&#10;\end{align}&#10;&#10;&#10;\end{document}"/>
  <p:tag name="IGUANATEXSIZE" val="24"/>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mid e)\nonumber&#10;\end{align}&#10;&#10;&#10;\end{document}"/>
  <p:tag name="IGUANATEXSIZE" val="24"/>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a \mid e)&amp;=\prod_{j=1}^{|f|} \textcolor{red}{P(a_j)} \textcolor{blue}{P(f_j | e_{a_j})} \nonumber\\&#10;&amp;= \prod_{j=1}^{|f|} \textcolor{red}{\frac{1}{|e|+1}} \textcolor{blue}{P(f_j | e_{a_j})}\nonumber&#10;\end{align}&#10;&#10;&#10;\end{document}"/>
  <p:tag name="IGUANATEXSIZE" val="24"/>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mid e)\nonumber&#10;\end{align}&#10;&#10;&#10;\end{document}"/>
  <p:tag name="IGUANATEXSIZE" val="24"/>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mid e) = \sum_a P(f, a \mid e)\nonumber&#10;\end{align}&#10;&#10;&#10;\end{document}"/>
  <p:tag name="IGUANATEXSIZE" val="24"/>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a \mid e)&amp;=\prod_{j=1}^{|f|} \textcolor{red}{P(a_j)} \textcolor{blue}{P(f_j | e_{a_j})} \nonumber\\&#10;&amp;= \prod_{j=1}^{|f|} \textcolor{red}{\frac{1}{|e|+1}} \textcolor{blue}{P(f_j | e_{a_j})}\nonumber&#10;\end{align}&#10;&#10;&#10;\end{document}"/>
  <p:tag name="IGUANATEXSIZE" val="24"/>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align}&#10;P(f, a \mid e)&amp;=\prod_{j=1}^{|f|} \textcolor{red}{P(a_j)} \textcolor{blue}{P(f_j | e_{a_j})} \nonumber\\&#10;&amp;= \prod_{j=1}^{|f|} \textcolor{red}{\frac{1}{|e|+1}} \textcolor{blue}{P(f_j | e_{a_j})}\nonumber&#10;\end{align}&#10;&#10;&#10;\end{document}"/>
  <p:tag name="IGUANATEXSIZE" val="24"/>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newcommand{\y}{\boldsymbol{y}}&#10;\newcommand{\x}{\boldsymbol{x}}&#10;\newcommand{\w}{\boldsymbol{\mathrm{w}}}&#10;\newcommand{\g}{\boldsymbol{\mathrm{g}}}&#10;\newcommand{\vect}[1]{\mbox{\boldmath $#1$}}&#10;&#10;\DeclareMathOperator*{\argmax}{argmax}&#10;\pagestyle{empty}&#10;\begin{document}&#10;&#10;&#10;\begin{equation}&#10;t(f\mid e)\nonumber&#10;\end{equation}&#10;&#10;&#10;\end{document}"/>
  <p:tag name="IGUANATEXSIZE" val="2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equation}&#10;P(f, a \mid e) = \prod_{j=1}^{|f|} \textcolor{red}{\frac{1}{|e|+1}} \textcolor{blue}{P(f_j | e_{a_j})}\nonumber&#10;\end{equation}&#10;&#10;&#10;\end{document}"/>
  <p:tag name="IGUANATEXSIZE" val="24"/>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 amsthm, amssymb}&#10;\usepackage{bm}&#10;\usepackage{color}&#10;&#10;\newcommand{\y}{\boldsymbol{y}}&#10;\newcommand{\x}{\boldsymbol{x}}&#10;\newcommand{\w}{\boldsymbol{\mathrm{w}}}&#10;\newcommand{\g}{\boldsymbol{\mathrm{g}}}&#10;\newcommand{\vect}[1]{\mbox{\boldmath $#1$}}&#10;&#10;\DeclareMathOperator*{\argmax}{argmax}&#10;\pagestyle{empty}&#10;\begin{document}&#10;&#10;&#10;\begin{equation}&#10;P(f, a \mid e) = \prod_{j=1}^{|f|} \textcolor{red}{P(a_j \mid j, |f|, |e|)} \textcolor{blue}{P(f_j | e_{a_j})}\nonumber&#10;\end{equation}&#10;&#10;&#10;\end{document}"/>
  <p:tag name="IGUANATEXSIZE" val="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68873</TotalTime>
  <Words>3987</Words>
  <Application>Microsoft Macintosh PowerPoint</Application>
  <PresentationFormat>On-screen Show (4:3)</PresentationFormat>
  <Paragraphs>779</Paragraphs>
  <Slides>103</Slides>
  <Notes>73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103</vt:i4>
      </vt:variant>
    </vt:vector>
  </HeadingPairs>
  <TitlesOfParts>
    <vt:vector size="114" baseType="lpstr">
      <vt:lpstr>Arial Narrow</vt:lpstr>
      <vt:lpstr>Arial Unicode MS</vt:lpstr>
      <vt:lpstr>Calibri</vt:lpstr>
      <vt:lpstr>ＭＳ Ｐゴシック</vt:lpstr>
      <vt:lpstr>Symbol</vt:lpstr>
      <vt:lpstr>Times New Roman</vt:lpstr>
      <vt:lpstr>TIMES-ROMAN</vt:lpstr>
      <vt:lpstr>Wingdings</vt:lpstr>
      <vt:lpstr>Arial</vt:lpstr>
      <vt:lpstr>Office Theme</vt:lpstr>
      <vt:lpstr>Equation</vt:lpstr>
      <vt:lpstr>TTIC 31190: Natural Language Processing</vt:lpstr>
      <vt:lpstr>Announcements</vt:lpstr>
      <vt:lpstr>Roadmap</vt:lpstr>
      <vt:lpstr>PowerPoint Presentation</vt:lpstr>
      <vt:lpstr>PowerPoint Presentation</vt:lpstr>
      <vt:lpstr>Approaches to Machine Translation: The Vauquois Triangle</vt:lpstr>
      <vt:lpstr>Interlingua Example</vt:lpstr>
      <vt:lpstr>Classification Framework for Machine Translation</vt:lpstr>
      <vt:lpstr>Data?</vt:lpstr>
      <vt:lpstr>Data?</vt:lpstr>
      <vt:lpstr>PowerPoint Presentation</vt:lpstr>
      <vt:lpstr>Data?</vt:lpstr>
      <vt:lpstr>Parallel Data</vt:lpstr>
      <vt:lpstr>Learning from Parallel Sentences</vt:lpstr>
      <vt:lpstr>Learning from Parallel Sentences</vt:lpstr>
      <vt:lpstr>Machine Translation Evaluation</vt:lpstr>
      <vt:lpstr>Statistical Machine Translation</vt:lpstr>
      <vt:lpstr>Noisy Channel Model</vt:lpstr>
      <vt:lpstr>Noisy Channel Model for Translating  French ( f ) to English (e)</vt:lpstr>
      <vt:lpstr>Modeling for the Noisy Channel</vt:lpstr>
      <vt:lpstr>Modeling for the Noisy Channel</vt:lpstr>
      <vt:lpstr>Word Alignments</vt:lpstr>
      <vt:lpstr>Word Alignments</vt:lpstr>
      <vt:lpstr>PowerPoint Presentation</vt:lpstr>
      <vt:lpstr>Alignments as Hidden Variables</vt:lpstr>
      <vt:lpstr>Modeling Alignments: IBM Model 1</vt:lpstr>
      <vt:lpstr>Modeling Alignments: IBM Model 1</vt:lpstr>
      <vt:lpstr>Modeling Alignments: IBM Model 1</vt:lpstr>
      <vt:lpstr>Modeling Alignments: IBM Model 1</vt:lpstr>
      <vt:lpstr>Aside: are alignments always hidden?</vt:lpstr>
      <vt:lpstr>IBM Model 1 Example</vt:lpstr>
      <vt:lpstr>IBM Model 2</vt:lpstr>
      <vt:lpstr>IBM Model 3</vt:lpstr>
      <vt:lpstr>Moving to Phrases</vt:lpstr>
      <vt:lpstr>Moving to Phrases</vt:lpstr>
      <vt:lpstr>“Phrase-Based” Translation</vt:lpstr>
      <vt:lpstr>Phrase-Based Translation</vt:lpstr>
      <vt:lpstr>Phrase-Based Translation</vt:lpstr>
      <vt:lpstr>Phrase-Based Translation</vt:lpstr>
      <vt:lpstr>Phrase-Based Translation</vt:lpstr>
      <vt:lpstr>Adding Syntax: Synchronous Context-Free Grammars</vt:lpstr>
      <vt:lpstr>PowerPoint Presentation</vt:lpstr>
      <vt:lpstr>Noisy Channel</vt:lpstr>
      <vt:lpstr>Noisy Channel</vt:lpstr>
      <vt:lpstr>Noisy Channel</vt:lpstr>
      <vt:lpstr>Noisy Channel</vt:lpstr>
      <vt:lpstr>Noisy Channel</vt:lpstr>
      <vt:lpstr>Noisy Channel</vt:lpstr>
      <vt:lpstr>Noisy Channel  Linear Model?</vt:lpstr>
      <vt:lpstr>Noisy Channel  Linear Model?</vt:lpstr>
      <vt:lpstr>Noisy Channel  Linear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 gold standard translation is often unreachable by the model</vt:lpstr>
      <vt:lpstr>Free Translations</vt:lpstr>
      <vt:lpstr>Free Translations</vt:lpstr>
      <vt:lpstr>Loss Functions</vt:lpstr>
      <vt:lpstr>Loss Functions</vt:lpstr>
      <vt:lpstr>Loss Functions</vt:lpstr>
      <vt:lpstr>PowerPoint Presentation</vt:lpstr>
      <vt:lpstr>Notation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Perceptron Loss</vt:lpstr>
      <vt:lpstr>Perceptron Loss</vt:lpstr>
      <vt:lpstr>Perceptron Loss for MT? (Collins, 2002)</vt:lpstr>
      <vt:lpstr>k-Best Perceptron for MT (Liang et al., 2006)</vt:lpstr>
      <vt:lpstr>k-Best Perceptron for MT (Liang et al., 2006)</vt:lpstr>
      <vt:lpstr>k-Best Perceptron for MT (Liang et al., 2006)</vt:lpstr>
      <vt:lpstr>Ramp Loss Minimization</vt:lpstr>
      <vt:lpstr>Ramp Loss Minimization</vt:lpstr>
      <vt:lpstr>Ramp Loss Minimization</vt:lpstr>
      <vt:lpstr>“Fear” Ramp Loss (Do et al., 2008)</vt:lpstr>
      <vt:lpstr>“Fear” Ramp Loss (Do et al., 2008)</vt:lpstr>
      <vt:lpstr>“Hope” Ramp Loss (McAllester &amp; Keshet, 2011; Liang et al., 2006)</vt:lpstr>
      <vt:lpstr>“Hope” Ramp Loss (McAllester &amp; Keshet, 2011; Liang et al., 2006)</vt:lpstr>
      <vt:lpstr>“Hope-Fear” Ramp Loss (Chiang et al., 2008; 2009; Cherry &amp; Foster, 2012; Chiang, 2012)</vt:lpstr>
      <vt:lpstr>“Hope-Fear” Ramp Loss (Chiang et al., 2008; 2009; Cherry &amp; Foster, 2012; Chiang, 2012)</vt:lpstr>
      <vt:lpstr>Experiments (Gimpel, 2012)</vt:lpstr>
      <vt:lpstr>Pairwise Ranking Optimization (Hopkins &amp; May, 2011)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TTIC 31190: Natural Language Processing</dc:title>
  <dc:creator>Kevin Gimpel</dc:creator>
  <cp:lastModifiedBy>Kevin Gimpel</cp:lastModifiedBy>
  <cp:revision>2296</cp:revision>
  <cp:lastPrinted>2016-02-15T18:10:03Z</cp:lastPrinted>
  <dcterms:created xsi:type="dcterms:W3CDTF">2015-08-31T18:15:35Z</dcterms:created>
  <dcterms:modified xsi:type="dcterms:W3CDTF">2016-02-25T20:53:00Z</dcterms:modified>
</cp:coreProperties>
</file>