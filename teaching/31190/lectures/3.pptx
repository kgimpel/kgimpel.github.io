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56" r:id="rId2"/>
    <p:sldId id="504" r:id="rId3"/>
    <p:sldId id="584" r:id="rId4"/>
    <p:sldId id="566" r:id="rId5"/>
    <p:sldId id="663" r:id="rId6"/>
    <p:sldId id="662" r:id="rId7"/>
    <p:sldId id="567" r:id="rId8"/>
    <p:sldId id="559" r:id="rId9"/>
    <p:sldId id="562" r:id="rId10"/>
    <p:sldId id="564" r:id="rId11"/>
    <p:sldId id="664" r:id="rId12"/>
    <p:sldId id="563" r:id="rId13"/>
    <p:sldId id="560" r:id="rId14"/>
    <p:sldId id="570" r:id="rId15"/>
    <p:sldId id="656" r:id="rId16"/>
    <p:sldId id="568" r:id="rId17"/>
    <p:sldId id="574" r:id="rId18"/>
    <p:sldId id="571" r:id="rId19"/>
    <p:sldId id="576" r:id="rId20"/>
    <p:sldId id="657" r:id="rId21"/>
    <p:sldId id="577" r:id="rId22"/>
    <p:sldId id="573" r:id="rId23"/>
    <p:sldId id="579" r:id="rId24"/>
    <p:sldId id="581" r:id="rId25"/>
    <p:sldId id="658" r:id="rId26"/>
    <p:sldId id="582" r:id="rId27"/>
    <p:sldId id="589" r:id="rId28"/>
    <p:sldId id="586" r:id="rId29"/>
    <p:sldId id="588" r:id="rId30"/>
    <p:sldId id="587" r:id="rId31"/>
    <p:sldId id="592" r:id="rId32"/>
    <p:sldId id="593" r:id="rId33"/>
    <p:sldId id="594" r:id="rId34"/>
    <p:sldId id="665" r:id="rId35"/>
    <p:sldId id="259" r:id="rId36"/>
    <p:sldId id="459" r:id="rId37"/>
    <p:sldId id="505" r:id="rId38"/>
    <p:sldId id="506" r:id="rId39"/>
    <p:sldId id="507" r:id="rId40"/>
    <p:sldId id="661" r:id="rId41"/>
    <p:sldId id="681" r:id="rId42"/>
    <p:sldId id="680" r:id="rId43"/>
    <p:sldId id="650" r:id="rId44"/>
    <p:sldId id="651" r:id="rId45"/>
    <p:sldId id="652" r:id="rId46"/>
    <p:sldId id="653" r:id="rId47"/>
    <p:sldId id="654" r:id="rId48"/>
    <p:sldId id="509" r:id="rId49"/>
    <p:sldId id="666" r:id="rId50"/>
    <p:sldId id="667" r:id="rId51"/>
    <p:sldId id="669" r:id="rId52"/>
    <p:sldId id="668" r:id="rId53"/>
    <p:sldId id="670" r:id="rId54"/>
    <p:sldId id="597" r:id="rId55"/>
    <p:sldId id="671" r:id="rId56"/>
    <p:sldId id="673" r:id="rId57"/>
    <p:sldId id="674" r:id="rId58"/>
    <p:sldId id="676" r:id="rId59"/>
    <p:sldId id="675" r:id="rId60"/>
    <p:sldId id="677" r:id="rId61"/>
    <p:sldId id="642" r:id="rId62"/>
    <p:sldId id="678" r:id="rId63"/>
    <p:sldId id="679" r:id="rId64"/>
    <p:sldId id="646" r:id="rId65"/>
    <p:sldId id="645" r:id="rId66"/>
    <p:sldId id="641" r:id="rId67"/>
    <p:sldId id="643" r:id="rId68"/>
    <p:sldId id="644" r:id="rId69"/>
    <p:sldId id="648" r:id="rId70"/>
    <p:sldId id="647" r:id="rId71"/>
    <p:sldId id="607" r:id="rId72"/>
    <p:sldId id="608" r:id="rId73"/>
    <p:sldId id="609" r:id="rId74"/>
    <p:sldId id="610" r:id="rId75"/>
    <p:sldId id="611" r:id="rId76"/>
    <p:sldId id="612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79881" autoAdjust="0"/>
  </p:normalViewPr>
  <p:slideViewPr>
    <p:cSldViewPr snapToGrid="0" snapToObjects="1">
      <p:cViewPr>
        <p:scale>
          <a:sx n="100" d="100"/>
          <a:sy n="100" d="100"/>
        </p:scale>
        <p:origin x="2968" y="7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handoutMaster" Target="handoutMasters/handoutMaster1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1/12/16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1/12/16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43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weren’t, don’t, didn’t, doesn’t, wouldn’t, couldn’t, shouldn’t, haven’t, hadn’t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66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weren’t, don’t, didn’t, doesn’t, wouldn’t, couldn’t, shouldn’t, haven’t, hadn’t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08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weren’t, don’t, didn’t, doesn’t, wouldn’t, couldn’t, shouldn’t, haven’t, hadn’t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37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86323-23FC-C745-A59E-E7A0F69F23C3}" type="slidenum">
              <a:rPr lang="en-US"/>
              <a:pPr/>
              <a:t>44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71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9BB694-CB85-1C42-BB21-6EC89F24E5E0}" type="slidenum">
              <a:rPr lang="en-US"/>
              <a:pPr/>
              <a:t>45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6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24F83C-53AC-F24F-80E2-C55109AFC467}" type="slidenum">
              <a:rPr lang="en-US"/>
              <a:pPr/>
              <a:t>46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30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</a:t>
            </a:r>
            <a:r>
              <a:rPr lang="de-DE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</a:t>
            </a:r>
            <a:r>
              <a:rPr lang="de-DE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</a:t>
            </a:r>
            <a:r>
              <a:rPr lang="de-DE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1B9DA1-D091-A64A-A0FC-8E8CCCAFB71C}" type="slidenum">
              <a:rPr lang="en-US"/>
              <a:pPr/>
              <a:t>61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09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E32076-AB54-DD42-AB81-EE05460AD3D3}" type="slidenum">
              <a:rPr lang="en-US"/>
              <a:pPr/>
              <a:t>75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596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86A9FE-83D6-4343-A368-4D673939E6AA}" type="slidenum">
              <a:rPr lang="en-US"/>
              <a:pPr/>
              <a:t>76</a:t>
            </a:fld>
            <a:endParaRPr lang="en-US"/>
          </a:p>
        </p:txBody>
      </p:sp>
      <p:sp>
        <p:nvSpPr>
          <p:cNvPr id="29699" name="Rectangle 1026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2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1/12/16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1/12/16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1/12/16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1/12/16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1/12/16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1/12/16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1/12/16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1/12/16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1/12/16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1/12/16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1/12/16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1/12/16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4.emf"/><Relationship Id="rId9" Type="http://schemas.openxmlformats.org/officeDocument/2006/relationships/image" Target="../media/image15.emf"/><Relationship Id="rId10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7.emf"/><Relationship Id="rId8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jpeg"/><Relationship Id="rId8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6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5" Type="http://schemas.openxmlformats.org/officeDocument/2006/relationships/image" Target="../media/image20.gif"/><Relationship Id="rId6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6" Type="http://schemas.openxmlformats.org/officeDocument/2006/relationships/image" Target="../media/image20.gif"/><Relationship Id="rId7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3" Type="http://schemas.openxmlformats.org/officeDocument/2006/relationships/image" Target="../media/image2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3: Words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6886"/>
            <a:ext cx="8229600" cy="5884864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Assignment 1 has been posted</a:t>
            </a:r>
          </a:p>
          <a:p>
            <a:r>
              <a:rPr lang="en-US" dirty="0" smtClean="0"/>
              <a:t>Due 11:59 pm on Wednesday, January 20</a:t>
            </a:r>
            <a:r>
              <a:rPr lang="en-US" baseline="30000" dirty="0" smtClean="0"/>
              <a:t>th</a:t>
            </a:r>
          </a:p>
          <a:p>
            <a:endParaRPr lang="en-US" dirty="0" smtClean="0"/>
          </a:p>
          <a:p>
            <a:r>
              <a:rPr lang="en-US" dirty="0" smtClean="0"/>
              <a:t>We will start class 5 minutes late from now on, due to several students taking algorithms across campus</a:t>
            </a:r>
          </a:p>
          <a:p>
            <a:endParaRPr lang="en-US" dirty="0" smtClean="0"/>
          </a:p>
          <a:p>
            <a:r>
              <a:rPr lang="en-US" dirty="0" smtClean="0"/>
              <a:t>My office hours are Mondays 3-4pm, #531 (or by appointment)</a:t>
            </a:r>
            <a:endParaRPr lang="en-US" dirty="0"/>
          </a:p>
          <a:p>
            <a:r>
              <a:rPr lang="en-US" dirty="0" smtClean="0"/>
              <a:t>TA office hours are Thursdays 4-5pm, #501</a:t>
            </a:r>
          </a:p>
          <a:p>
            <a:endParaRPr lang="en-US" dirty="0" smtClean="0"/>
          </a:p>
          <a:p>
            <a:r>
              <a:rPr lang="en-US" dirty="0" smtClean="0"/>
              <a:t>If you’re auditing, you may still turn in the homework and we will give you feedback (though we may not give your homework as much attention as others)</a:t>
            </a:r>
          </a:p>
          <a:p>
            <a:endParaRPr lang="en-US" dirty="0"/>
          </a:p>
          <a:p>
            <a:r>
              <a:rPr lang="en-US" dirty="0"/>
              <a:t>If you didn’t receive an </a:t>
            </a:r>
            <a:r>
              <a:rPr lang="en-US" dirty="0" smtClean="0"/>
              <a:t>email from me this details, </a:t>
            </a:r>
            <a:r>
              <a:rPr lang="en-US" dirty="0"/>
              <a:t>then please email me with your name/</a:t>
            </a:r>
            <a:r>
              <a:rPr lang="en-US" dirty="0" smtClean="0"/>
              <a:t>email and let me know whether you are taking course for credit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5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 of loss functions and </a:t>
            </a:r>
            <a:r>
              <a:rPr lang="en-US" dirty="0" err="1" smtClean="0"/>
              <a:t>subgradients</a:t>
            </a:r>
            <a:r>
              <a:rPr lang="en-US" dirty="0" smtClean="0"/>
              <a:t> from last week (useful for homework)</a:t>
            </a:r>
          </a:p>
          <a:p>
            <a:endParaRPr lang="en-US" dirty="0" smtClean="0"/>
          </a:p>
          <a:p>
            <a:r>
              <a:rPr lang="en-US" dirty="0" smtClean="0"/>
              <a:t>start words (more about words and lexical semantics on Thursday)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3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2800" dirty="0" smtClean="0"/>
              <a:t>Empirical Risk Minimization with Surrogate Loss Functions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859377"/>
            <a:ext cx="41148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0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2800" dirty="0" smtClean="0"/>
              <a:t>Empirical Risk Minimization with Surrogate Loss Functions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859377"/>
            <a:ext cx="41148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89400" y="4389828"/>
            <a:ext cx="3911600" cy="1569660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many possible loss functions to consider optimizing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4770592" y="3581400"/>
            <a:ext cx="639608" cy="9271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9844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 against a gold standard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should reflect the evaluation metric for your task</a:t>
            </a:r>
          </a:p>
          <a:p>
            <a:endParaRPr lang="en-US" sz="2800" dirty="0" smtClean="0"/>
          </a:p>
          <a:p>
            <a:r>
              <a:rPr lang="en-US" sz="2800" dirty="0" smtClean="0"/>
              <a:t>usual convention:</a:t>
            </a:r>
            <a:endParaRPr lang="en-US" sz="2800" dirty="0"/>
          </a:p>
          <a:p>
            <a:r>
              <a:rPr lang="en-US" sz="2800" dirty="0" smtClean="0">
                <a:solidFill>
                  <a:schemeClr val="bg1"/>
                </a:solidFill>
              </a:rPr>
              <a:t>for classification, what cost should we use?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how about for other NLP tasks?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378200"/>
            <a:ext cx="1752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3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max-score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2946400"/>
            <a:ext cx="4838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7749" y="6061106"/>
            <a:ext cx="28829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five possible outputs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" name="Left Brace 25"/>
          <p:cNvSpPr/>
          <p:nvPr/>
        </p:nvSpPr>
        <p:spPr>
          <a:xfrm rot="16200000">
            <a:off x="2209800" y="4241800"/>
            <a:ext cx="482600" cy="3124200"/>
          </a:xfrm>
          <a:prstGeom prst="leftBrace">
            <a:avLst>
              <a:gd name="adj1" fmla="val 5307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47749" y="6061106"/>
            <a:ext cx="28829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five possible outputs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" name="Left Brace 24"/>
          <p:cNvSpPr/>
          <p:nvPr/>
        </p:nvSpPr>
        <p:spPr>
          <a:xfrm rot="16200000">
            <a:off x="2209800" y="4241800"/>
            <a:ext cx="482600" cy="3124200"/>
          </a:xfrm>
          <a:prstGeom prst="leftBrace">
            <a:avLst>
              <a:gd name="adj1" fmla="val 5307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7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42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49" y="3879850"/>
            <a:ext cx="1435100" cy="3175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4400" y="4912382"/>
            <a:ext cx="1435100" cy="31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506" y="4378982"/>
            <a:ext cx="1435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1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17145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744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0" y="355600"/>
            <a:ext cx="4838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04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860800" y="812800"/>
            <a:ext cx="1841500" cy="29464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300" y="355600"/>
            <a:ext cx="4838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860800" y="812800"/>
            <a:ext cx="1841500" cy="29464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300" y="355600"/>
            <a:ext cx="4838700" cy="317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</p:spTree>
    <p:extLst>
      <p:ext uri="{BB962C8B-B14F-4D97-AF65-F5344CB8AC3E}">
        <p14:creationId xmlns:p14="http://schemas.microsoft.com/office/powerpoint/2010/main" val="3629847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580140"/>
            <a:ext cx="444500" cy="163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495800"/>
            <a:ext cx="444500" cy="723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759200"/>
            <a:ext cx="444500" cy="1460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3225800"/>
            <a:ext cx="444500" cy="1993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300" y="355600"/>
            <a:ext cx="4838700" cy="3175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75200" y="2890391"/>
            <a:ext cx="3911600" cy="15696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score of gold standard will go to infinity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30600" y="0"/>
            <a:ext cx="444500" cy="5219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8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800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489200" y="1638300"/>
            <a:ext cx="4343400" cy="12827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746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489200" y="1638300"/>
            <a:ext cx="4343400" cy="12827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</p:spTree>
    <p:extLst>
      <p:ext uri="{BB962C8B-B14F-4D97-AF65-F5344CB8AC3E}">
        <p14:creationId xmlns:p14="http://schemas.microsoft.com/office/powerpoint/2010/main" val="2583566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076700"/>
            <a:ext cx="444500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340100"/>
            <a:ext cx="444500" cy="187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460051"/>
            <a:ext cx="444500" cy="7596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251200"/>
            <a:ext cx="444500" cy="1968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54" y="673100"/>
            <a:ext cx="7226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5200" y="2890391"/>
            <a:ext cx="3911600" cy="15696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gold standard will have highest score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1426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76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6635750" y="-984251"/>
            <a:ext cx="482600" cy="4279900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231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6635750" y="-984251"/>
            <a:ext cx="482600" cy="4279900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1"/>
            <a:endCxn id="21" idx="0"/>
          </p:cNvCxnSpPr>
          <p:nvPr/>
        </p:nvCxnSpPr>
        <p:spPr>
          <a:xfrm flipH="1">
            <a:off x="1143000" y="1396999"/>
            <a:ext cx="5734050" cy="1041401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992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6635750" y="-984251"/>
            <a:ext cx="482600" cy="4279900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1"/>
            <a:endCxn id="21" idx="0"/>
          </p:cNvCxnSpPr>
          <p:nvPr/>
        </p:nvCxnSpPr>
        <p:spPr>
          <a:xfrm flipH="1">
            <a:off x="1143000" y="1396999"/>
            <a:ext cx="5734050" cy="1041401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</p:spTree>
    <p:extLst>
      <p:ext uri="{BB962C8B-B14F-4D97-AF65-F5344CB8AC3E}">
        <p14:creationId xmlns:p14="http://schemas.microsoft.com/office/powerpoint/2010/main" val="497563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937000"/>
            <a:ext cx="444500" cy="1282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2890391"/>
            <a:ext cx="444500" cy="23293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946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0353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" y="535632"/>
            <a:ext cx="8851900" cy="4814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75200" y="2890391"/>
            <a:ext cx="3911600" cy="2554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score of gold standard will be higher than </a:t>
            </a:r>
            <a:r>
              <a:rPr lang="en-US" sz="3200" dirty="0" err="1" smtClean="0">
                <a:solidFill>
                  <a:schemeClr val="bg1"/>
                </a:solidFill>
                <a:cs typeface="Calibri"/>
              </a:rPr>
              <a:t>score+cost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of all others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827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Subgradients</a:t>
            </a:r>
            <a:r>
              <a:rPr lang="en-US" dirty="0" smtClean="0"/>
              <a:t> of Loss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48063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some of our loss functions are not differentiable:</a:t>
            </a:r>
          </a:p>
          <a:p>
            <a:endParaRPr lang="en-US" sz="2800" dirty="0" smtClean="0"/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but they are </a:t>
            </a:r>
            <a:r>
              <a:rPr lang="en-US" sz="2800" dirty="0" err="1" smtClean="0">
                <a:solidFill>
                  <a:srgbClr val="000000"/>
                </a:solidFill>
              </a:rPr>
              <a:t>subdifferentiable</a:t>
            </a:r>
            <a:r>
              <a:rPr lang="en-US" sz="2800" dirty="0" smtClean="0">
                <a:solidFill>
                  <a:srgbClr val="000000"/>
                </a:solidFill>
              </a:rPr>
              <a:t>: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885950"/>
            <a:ext cx="7150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29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</a:t>
            </a:r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AbsReal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5700"/>
            <a:ext cx="4137471" cy="278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4457700"/>
            <a:ext cx="29210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14900"/>
            <a:ext cx="26797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5378450"/>
            <a:ext cx="3060700" cy="31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73400" y="4267200"/>
            <a:ext cx="1206500" cy="161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30400"/>
            <a:ext cx="322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37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</a:t>
            </a:r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4457700"/>
            <a:ext cx="29210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14900"/>
            <a:ext cx="26797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5378450"/>
            <a:ext cx="3060700" cy="31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73400" y="5257800"/>
            <a:ext cx="1206500" cy="67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bsReal.gi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5700"/>
            <a:ext cx="4137471" cy="2781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30400"/>
            <a:ext cx="322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73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</a:t>
            </a:r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4457700"/>
            <a:ext cx="29210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14900"/>
            <a:ext cx="26797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5378450"/>
            <a:ext cx="3060700" cy="317500"/>
          </a:xfrm>
          <a:prstGeom prst="rect">
            <a:avLst/>
          </a:prstGeom>
        </p:spPr>
      </p:pic>
      <p:pic>
        <p:nvPicPr>
          <p:cNvPr id="11" name="Picture 10" descr="AbsReal.gi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5700"/>
            <a:ext cx="4137471" cy="2781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30400"/>
            <a:ext cx="3225800" cy="317500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064000" y="4084785"/>
            <a:ext cx="4927600" cy="263669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to find a </a:t>
            </a:r>
            <a:r>
              <a:rPr lang="en-US" sz="2800" dirty="0" err="1" smtClean="0"/>
              <a:t>subgradient</a:t>
            </a:r>
            <a:r>
              <a:rPr lang="en-US" sz="2800" dirty="0" smtClean="0"/>
              <a:t> of max of convex functions at a point, choose one function that achieves the max at that point and choose any of its </a:t>
            </a:r>
            <a:r>
              <a:rPr lang="en-US" sz="2800" dirty="0" err="1" smtClean="0"/>
              <a:t>subgradients</a:t>
            </a:r>
            <a:r>
              <a:rPr lang="en-US" sz="2800" dirty="0" smtClean="0"/>
              <a:t> at the point</a:t>
            </a:r>
          </a:p>
        </p:txBody>
      </p:sp>
    </p:spTree>
    <p:extLst>
      <p:ext uri="{BB962C8B-B14F-4D97-AF65-F5344CB8AC3E}">
        <p14:creationId xmlns:p14="http://schemas.microsoft.com/office/powerpoint/2010/main" val="363584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Subgradients</a:t>
            </a:r>
            <a:r>
              <a:rPr lang="en-US" dirty="0" smtClean="0"/>
              <a:t> of Loss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48063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some of our loss functions are not differentiable:</a:t>
            </a:r>
          </a:p>
          <a:p>
            <a:endParaRPr lang="en-US" sz="2800" dirty="0" smtClean="0"/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but they are </a:t>
            </a:r>
            <a:r>
              <a:rPr lang="en-US" sz="2800" dirty="0" err="1" smtClean="0">
                <a:solidFill>
                  <a:srgbClr val="000000"/>
                </a:solidFill>
              </a:rPr>
              <a:t>subdifferentiable</a:t>
            </a:r>
            <a:r>
              <a:rPr lang="en-US" sz="2800" dirty="0" smtClean="0">
                <a:solidFill>
                  <a:srgbClr val="000000"/>
                </a:solidFill>
              </a:rPr>
              <a:t>: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885950"/>
            <a:ext cx="7150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43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Subgradients</a:t>
            </a:r>
            <a:r>
              <a:rPr lang="en-US" dirty="0" smtClean="0"/>
              <a:t> of Loss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48063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some of our loss functions are not differentiable:</a:t>
            </a:r>
          </a:p>
          <a:p>
            <a:endParaRPr lang="en-US" sz="2800" dirty="0" smtClean="0"/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but they are </a:t>
            </a:r>
            <a:r>
              <a:rPr lang="en-US" sz="2800" dirty="0" err="1" smtClean="0">
                <a:solidFill>
                  <a:srgbClr val="000000"/>
                </a:solidFill>
              </a:rPr>
              <a:t>subdifferentiable</a:t>
            </a:r>
            <a:r>
              <a:rPr lang="en-US" sz="2800" dirty="0" smtClean="0">
                <a:solidFill>
                  <a:srgbClr val="000000"/>
                </a:solidFill>
              </a:rPr>
              <a:t>: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885950"/>
            <a:ext cx="71501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4064000"/>
            <a:ext cx="67564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Subgradients</a:t>
            </a:r>
            <a:r>
              <a:rPr lang="en-US" dirty="0" smtClean="0"/>
              <a:t> of Loss Functions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212850"/>
            <a:ext cx="71501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184400"/>
            <a:ext cx="6756400" cy="7493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333500" y="5372097"/>
            <a:ext cx="4114800" cy="908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 smtClean="0"/>
              <a:t>find </a:t>
            </a:r>
            <a:r>
              <a:rPr lang="en-US" sz="2400" dirty="0" err="1" smtClean="0"/>
              <a:t>subgradient</a:t>
            </a:r>
            <a:r>
              <a:rPr lang="en-US" sz="2400" dirty="0" smtClean="0"/>
              <a:t> of the function that achieves the max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850900" y="4580165"/>
            <a:ext cx="508000" cy="880835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" y="3884529"/>
            <a:ext cx="8953500" cy="69563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073400" y="3846428"/>
            <a:ext cx="6070600" cy="9160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90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Subgradients</a:t>
            </a:r>
            <a:r>
              <a:rPr lang="en-US" dirty="0" smtClean="0"/>
              <a:t> of Loss Functions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212850"/>
            <a:ext cx="71501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184400"/>
            <a:ext cx="6756400" cy="7493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333500" y="5372097"/>
            <a:ext cx="4114800" cy="908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 smtClean="0"/>
              <a:t>find </a:t>
            </a:r>
            <a:r>
              <a:rPr lang="en-US" sz="2400" dirty="0" err="1" smtClean="0"/>
              <a:t>subgradient</a:t>
            </a:r>
            <a:r>
              <a:rPr lang="en-US" sz="2400" dirty="0" smtClean="0"/>
              <a:t> of the function that achieves the max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850900" y="4580165"/>
            <a:ext cx="508000" cy="880835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" y="3884529"/>
            <a:ext cx="8953500" cy="69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11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/>
              <a:t>syntax and syntactic parsing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what is a word?</a:t>
            </a:r>
          </a:p>
          <a:p>
            <a:r>
              <a:rPr lang="en-US" dirty="0" smtClean="0"/>
              <a:t>tokenization</a:t>
            </a:r>
          </a:p>
          <a:p>
            <a:r>
              <a:rPr lang="en-US" dirty="0" smtClean="0"/>
              <a:t>morphology</a:t>
            </a:r>
          </a:p>
          <a:p>
            <a:r>
              <a:rPr lang="en-US" dirty="0" smtClean="0"/>
              <a:t>word sense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3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word?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250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Tokenization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tokenization</a:t>
            </a:r>
            <a:r>
              <a:rPr lang="en-US" dirty="0" smtClean="0"/>
              <a:t>: convert a character stream into words by adding spaces</a:t>
            </a:r>
          </a:p>
          <a:p>
            <a:r>
              <a:rPr lang="en-US" dirty="0" smtClean="0"/>
              <a:t>for certain languages, highly nontrivial</a:t>
            </a:r>
          </a:p>
          <a:p>
            <a:r>
              <a:rPr lang="en-US" dirty="0" smtClean="0"/>
              <a:t>e.g., Chinese word segmentation is a widely-studied NLP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22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Tokenization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other languages (English), tokenization is easier but is still not always obvious</a:t>
            </a:r>
          </a:p>
          <a:p>
            <a:r>
              <a:rPr lang="en-US" dirty="0" smtClean="0"/>
              <a:t>the data for your homework has been tokenized:</a:t>
            </a:r>
          </a:p>
          <a:p>
            <a:pPr lvl="1"/>
            <a:r>
              <a:rPr lang="en-US" dirty="0" smtClean="0"/>
              <a:t>punctuation has been split off from words</a:t>
            </a:r>
          </a:p>
          <a:p>
            <a:pPr lvl="1"/>
            <a:r>
              <a:rPr lang="en-US" dirty="0" smtClean="0"/>
              <a:t>contractions have been split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17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Intricacies of Tokenization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6640"/>
            <a:ext cx="8229600" cy="4552360"/>
          </a:xfrm>
        </p:spPr>
        <p:txBody>
          <a:bodyPr>
            <a:normAutofit fontScale="92500"/>
          </a:bodyPr>
          <a:lstStyle/>
          <a:p>
            <a:r>
              <a:rPr lang="en-US" dirty="0"/>
              <a:t>s</a:t>
            </a:r>
            <a:r>
              <a:rPr lang="en-US" dirty="0" smtClean="0"/>
              <a:t>eparating punctuation characters from words?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, ” ? !  </a:t>
            </a:r>
            <a:r>
              <a:rPr lang="en-US" sz="2600" dirty="0" smtClean="0">
                <a:sym typeface="Wingdings"/>
              </a:rPr>
              <a:t></a:t>
            </a:r>
            <a:r>
              <a:rPr lang="en-US" dirty="0" smtClean="0"/>
              <a:t> always separate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 .</a:t>
            </a:r>
            <a:r>
              <a:rPr lang="en-US" dirty="0" smtClean="0"/>
              <a:t>   </a:t>
            </a:r>
            <a:r>
              <a:rPr lang="en-US" sz="23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when shouldn’t we separate it?</a:t>
            </a:r>
          </a:p>
          <a:p>
            <a:pPr lvl="2"/>
            <a:r>
              <a:rPr lang="en-US" i="1" dirty="0" smtClean="0">
                <a:solidFill>
                  <a:schemeClr val="bg1"/>
                </a:solidFill>
                <a:sym typeface="Wingdings"/>
              </a:rPr>
              <a:t>Dr., Mr., Prof., U.S., etc.</a:t>
            </a:r>
            <a:endParaRPr lang="en-US" i="1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English contractions:</a:t>
            </a:r>
          </a:p>
          <a:p>
            <a:pPr lvl="1"/>
            <a:r>
              <a:rPr lang="en-US" i="1" dirty="0" smtClean="0">
                <a:solidFill>
                  <a:schemeClr val="bg1"/>
                </a:solidFill>
              </a:rPr>
              <a:t>isn’t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i="1" dirty="0" smtClean="0">
                <a:solidFill>
                  <a:schemeClr val="bg1"/>
                </a:solidFill>
              </a:rPr>
              <a:t>aren’t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i="1" dirty="0" smtClean="0">
                <a:solidFill>
                  <a:schemeClr val="bg1"/>
                </a:solidFill>
              </a:rPr>
              <a:t>wasn’t</a:t>
            </a:r>
            <a:r>
              <a:rPr lang="en-US" dirty="0" smtClean="0">
                <a:solidFill>
                  <a:schemeClr val="bg1"/>
                </a:solidFill>
              </a:rPr>
              <a:t>,… </a:t>
            </a:r>
            <a:r>
              <a:rPr lang="en-US" sz="2300" dirty="0">
                <a:solidFill>
                  <a:schemeClr val="bg1"/>
                </a:solidFill>
                <a:sym typeface="Wingdings"/>
              </a:rPr>
              <a:t>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 </a:t>
            </a:r>
            <a:r>
              <a:rPr lang="en-US" i="1" dirty="0">
                <a:solidFill>
                  <a:schemeClr val="bg1"/>
                </a:solidFill>
                <a:sym typeface="Wingdings"/>
              </a:rPr>
              <a:t>is </a:t>
            </a:r>
            <a:r>
              <a:rPr lang="en-US" i="1" dirty="0" err="1">
                <a:solidFill>
                  <a:schemeClr val="bg1"/>
                </a:solidFill>
                <a:sym typeface="Wingdings"/>
              </a:rPr>
              <a:t>n’t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, </a:t>
            </a:r>
            <a:r>
              <a:rPr lang="en-US" i="1" dirty="0">
                <a:solidFill>
                  <a:schemeClr val="bg1"/>
                </a:solidFill>
                <a:sym typeface="Wingdings"/>
              </a:rPr>
              <a:t>are </a:t>
            </a:r>
            <a:r>
              <a:rPr lang="en-US" i="1" dirty="0" err="1">
                <a:solidFill>
                  <a:schemeClr val="bg1"/>
                </a:solidFill>
                <a:sym typeface="Wingdings"/>
              </a:rPr>
              <a:t>n’t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, </a:t>
            </a:r>
            <a:r>
              <a:rPr lang="en-US" i="1" dirty="0" smtClean="0">
                <a:solidFill>
                  <a:schemeClr val="bg1"/>
                </a:solidFill>
                <a:sym typeface="Wingdings"/>
              </a:rPr>
              <a:t>was </a:t>
            </a:r>
            <a:r>
              <a:rPr lang="en-US" i="1" dirty="0" err="1" smtClean="0">
                <a:solidFill>
                  <a:schemeClr val="bg1"/>
                </a:solidFill>
                <a:sym typeface="Wingdings"/>
              </a:rPr>
              <a:t>n’t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,…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  <a:sym typeface="Wingdings"/>
              </a:rPr>
              <a:t>but how about these: </a:t>
            </a:r>
            <a:r>
              <a:rPr lang="en-US" i="1" dirty="0" smtClean="0">
                <a:solidFill>
                  <a:schemeClr val="bg1"/>
                </a:solidFill>
              </a:rPr>
              <a:t>can’t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i="1" dirty="0" smtClean="0">
                <a:solidFill>
                  <a:schemeClr val="bg1"/>
                </a:solidFill>
              </a:rPr>
              <a:t>won’t </a:t>
            </a:r>
            <a:r>
              <a:rPr lang="en-US" sz="2200" dirty="0">
                <a:solidFill>
                  <a:schemeClr val="bg1"/>
                </a:solidFill>
                <a:sym typeface="Wingdings"/>
              </a:rPr>
              <a:t>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ca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n’t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i="1" dirty="0" err="1">
                <a:solidFill>
                  <a:schemeClr val="bg1"/>
                </a:solidFill>
              </a:rPr>
              <a:t>wo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n’t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i="1" dirty="0" err="1" smtClean="0">
                <a:solidFill>
                  <a:schemeClr val="bg1"/>
                </a:solidFill>
              </a:rPr>
              <a:t>ca</a:t>
            </a:r>
            <a:r>
              <a:rPr lang="en-US" i="1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and </a:t>
            </a:r>
            <a:r>
              <a:rPr lang="en-US" i="1" dirty="0" err="1" smtClean="0">
                <a:solidFill>
                  <a:schemeClr val="bg1"/>
                </a:solidFill>
              </a:rPr>
              <a:t>wo</a:t>
            </a:r>
            <a:r>
              <a:rPr lang="en-US" i="1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are then different forms from </a:t>
            </a:r>
            <a:r>
              <a:rPr lang="en-US" i="1" dirty="0" smtClean="0">
                <a:solidFill>
                  <a:schemeClr val="bg1"/>
                </a:solidFill>
              </a:rPr>
              <a:t>can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i="1" dirty="0" smtClean="0">
                <a:solidFill>
                  <a:schemeClr val="bg1"/>
                </a:solidFill>
              </a:rPr>
              <a:t>will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2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Intricacies of Tokenization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6640"/>
            <a:ext cx="8229600" cy="4552360"/>
          </a:xfrm>
        </p:spPr>
        <p:txBody>
          <a:bodyPr>
            <a:normAutofit fontScale="92500"/>
          </a:bodyPr>
          <a:lstStyle/>
          <a:p>
            <a:r>
              <a:rPr lang="en-US" dirty="0"/>
              <a:t>s</a:t>
            </a:r>
            <a:r>
              <a:rPr lang="en-US" dirty="0" smtClean="0"/>
              <a:t>eparating punctuation characters from words?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, ” ? !  </a:t>
            </a:r>
            <a:r>
              <a:rPr lang="en-US" sz="2600" dirty="0" smtClean="0">
                <a:sym typeface="Wingdings"/>
              </a:rPr>
              <a:t></a:t>
            </a:r>
            <a:r>
              <a:rPr lang="en-US" dirty="0" smtClean="0"/>
              <a:t> always separate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 .</a:t>
            </a:r>
            <a:r>
              <a:rPr lang="en-US" dirty="0" smtClean="0"/>
              <a:t>   </a:t>
            </a:r>
            <a:r>
              <a:rPr lang="en-US" sz="23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when shouldn’t we separate it?</a:t>
            </a:r>
          </a:p>
          <a:p>
            <a:pPr lvl="2"/>
            <a:r>
              <a:rPr lang="en-US" i="1" dirty="0" smtClean="0">
                <a:sym typeface="Wingdings"/>
              </a:rPr>
              <a:t>Dr., Mr., Prof., U.S., etc.</a:t>
            </a:r>
            <a:endParaRPr lang="en-US" i="1" dirty="0" smtClean="0"/>
          </a:p>
          <a:p>
            <a:r>
              <a:rPr lang="en-US" dirty="0" smtClean="0">
                <a:solidFill>
                  <a:schemeClr val="bg1"/>
                </a:solidFill>
              </a:rPr>
              <a:t>English contractions:</a:t>
            </a:r>
          </a:p>
          <a:p>
            <a:pPr lvl="1"/>
            <a:r>
              <a:rPr lang="en-US" i="1" dirty="0" smtClean="0">
                <a:solidFill>
                  <a:schemeClr val="bg1"/>
                </a:solidFill>
              </a:rPr>
              <a:t>isn’t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i="1" dirty="0" smtClean="0">
                <a:solidFill>
                  <a:schemeClr val="bg1"/>
                </a:solidFill>
              </a:rPr>
              <a:t>aren’t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i="1" dirty="0" smtClean="0">
                <a:solidFill>
                  <a:schemeClr val="bg1"/>
                </a:solidFill>
              </a:rPr>
              <a:t>wasn’t</a:t>
            </a:r>
            <a:r>
              <a:rPr lang="en-US" dirty="0" smtClean="0">
                <a:solidFill>
                  <a:schemeClr val="bg1"/>
                </a:solidFill>
              </a:rPr>
              <a:t>,… </a:t>
            </a:r>
            <a:r>
              <a:rPr lang="en-US" sz="2300" dirty="0">
                <a:solidFill>
                  <a:schemeClr val="bg1"/>
                </a:solidFill>
                <a:sym typeface="Wingdings"/>
              </a:rPr>
              <a:t>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 </a:t>
            </a:r>
            <a:r>
              <a:rPr lang="en-US" i="1" dirty="0">
                <a:solidFill>
                  <a:schemeClr val="bg1"/>
                </a:solidFill>
                <a:sym typeface="Wingdings"/>
              </a:rPr>
              <a:t>is </a:t>
            </a:r>
            <a:r>
              <a:rPr lang="en-US" i="1" dirty="0" err="1">
                <a:solidFill>
                  <a:schemeClr val="bg1"/>
                </a:solidFill>
                <a:sym typeface="Wingdings"/>
              </a:rPr>
              <a:t>n’t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, </a:t>
            </a:r>
            <a:r>
              <a:rPr lang="en-US" i="1" dirty="0">
                <a:solidFill>
                  <a:schemeClr val="bg1"/>
                </a:solidFill>
                <a:sym typeface="Wingdings"/>
              </a:rPr>
              <a:t>are </a:t>
            </a:r>
            <a:r>
              <a:rPr lang="en-US" i="1" dirty="0" err="1">
                <a:solidFill>
                  <a:schemeClr val="bg1"/>
                </a:solidFill>
                <a:sym typeface="Wingdings"/>
              </a:rPr>
              <a:t>n’t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, </a:t>
            </a:r>
            <a:r>
              <a:rPr lang="en-US" i="1" dirty="0" smtClean="0">
                <a:solidFill>
                  <a:schemeClr val="bg1"/>
                </a:solidFill>
                <a:sym typeface="Wingdings"/>
              </a:rPr>
              <a:t>was </a:t>
            </a:r>
            <a:r>
              <a:rPr lang="en-US" i="1" dirty="0" err="1" smtClean="0">
                <a:solidFill>
                  <a:schemeClr val="bg1"/>
                </a:solidFill>
                <a:sym typeface="Wingdings"/>
              </a:rPr>
              <a:t>n’t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,…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  <a:sym typeface="Wingdings"/>
              </a:rPr>
              <a:t>but how about these: </a:t>
            </a:r>
            <a:r>
              <a:rPr lang="en-US" i="1" dirty="0" smtClean="0">
                <a:solidFill>
                  <a:schemeClr val="bg1"/>
                </a:solidFill>
              </a:rPr>
              <a:t>can’t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i="1" dirty="0" smtClean="0">
                <a:solidFill>
                  <a:schemeClr val="bg1"/>
                </a:solidFill>
              </a:rPr>
              <a:t>won’t </a:t>
            </a:r>
            <a:r>
              <a:rPr lang="en-US" sz="2200" dirty="0">
                <a:solidFill>
                  <a:schemeClr val="bg1"/>
                </a:solidFill>
                <a:sym typeface="Wingdings"/>
              </a:rPr>
              <a:t>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ca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n’t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i="1" dirty="0" err="1">
                <a:solidFill>
                  <a:schemeClr val="bg1"/>
                </a:solidFill>
              </a:rPr>
              <a:t>wo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n’t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i="1" dirty="0" err="1" smtClean="0">
                <a:solidFill>
                  <a:schemeClr val="bg1"/>
                </a:solidFill>
              </a:rPr>
              <a:t>ca</a:t>
            </a:r>
            <a:r>
              <a:rPr lang="en-US" i="1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and </a:t>
            </a:r>
            <a:r>
              <a:rPr lang="en-US" i="1" dirty="0" err="1" smtClean="0">
                <a:solidFill>
                  <a:schemeClr val="bg1"/>
                </a:solidFill>
              </a:rPr>
              <a:t>wo</a:t>
            </a:r>
            <a:r>
              <a:rPr lang="en-US" i="1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are then different forms from </a:t>
            </a:r>
            <a:r>
              <a:rPr lang="en-US" i="1" dirty="0" smtClean="0">
                <a:solidFill>
                  <a:schemeClr val="bg1"/>
                </a:solidFill>
              </a:rPr>
              <a:t>can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i="1" dirty="0" smtClean="0">
                <a:solidFill>
                  <a:schemeClr val="bg1"/>
                </a:solidFill>
              </a:rPr>
              <a:t>will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6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Intricacies of Tokenization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6640"/>
            <a:ext cx="8229600" cy="4552360"/>
          </a:xfrm>
        </p:spPr>
        <p:txBody>
          <a:bodyPr>
            <a:normAutofit fontScale="92500"/>
          </a:bodyPr>
          <a:lstStyle/>
          <a:p>
            <a:r>
              <a:rPr lang="en-US" dirty="0"/>
              <a:t>s</a:t>
            </a:r>
            <a:r>
              <a:rPr lang="en-US" dirty="0" smtClean="0"/>
              <a:t>eparating punctuation characters from words?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, ” ? !  </a:t>
            </a:r>
            <a:r>
              <a:rPr lang="en-US" sz="2600" dirty="0" smtClean="0">
                <a:sym typeface="Wingdings"/>
              </a:rPr>
              <a:t></a:t>
            </a:r>
            <a:r>
              <a:rPr lang="en-US" dirty="0" smtClean="0"/>
              <a:t> always separate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 .</a:t>
            </a:r>
            <a:r>
              <a:rPr lang="en-US" dirty="0" smtClean="0"/>
              <a:t>   </a:t>
            </a:r>
            <a:r>
              <a:rPr lang="en-US" sz="23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when shouldn’t we separate it?</a:t>
            </a:r>
          </a:p>
          <a:p>
            <a:pPr lvl="2"/>
            <a:r>
              <a:rPr lang="en-US" i="1" dirty="0" smtClean="0">
                <a:sym typeface="Wingdings"/>
              </a:rPr>
              <a:t>Dr., Mr., Prof., U.S., etc.</a:t>
            </a:r>
            <a:endParaRPr lang="en-US" i="1" dirty="0" smtClean="0"/>
          </a:p>
          <a:p>
            <a:r>
              <a:rPr lang="en-US" dirty="0" smtClean="0"/>
              <a:t>English contractions:</a:t>
            </a:r>
          </a:p>
          <a:p>
            <a:pPr lvl="1"/>
            <a:r>
              <a:rPr lang="en-US" i="1" dirty="0" smtClean="0"/>
              <a:t>isn’t</a:t>
            </a:r>
            <a:r>
              <a:rPr lang="en-US" dirty="0" smtClean="0"/>
              <a:t>, </a:t>
            </a:r>
            <a:r>
              <a:rPr lang="en-US" i="1" dirty="0" smtClean="0"/>
              <a:t>aren’t</a:t>
            </a:r>
            <a:r>
              <a:rPr lang="en-US" dirty="0" smtClean="0"/>
              <a:t>, </a:t>
            </a:r>
            <a:r>
              <a:rPr lang="en-US" i="1" dirty="0" smtClean="0"/>
              <a:t>wasn’t</a:t>
            </a:r>
            <a:r>
              <a:rPr lang="en-US" dirty="0" smtClean="0"/>
              <a:t>,… </a:t>
            </a:r>
            <a:r>
              <a:rPr lang="en-US" sz="23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is </a:t>
            </a:r>
            <a:r>
              <a:rPr lang="en-US" i="1" dirty="0" err="1">
                <a:sym typeface="Wingdings"/>
              </a:rPr>
              <a:t>n’t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are </a:t>
            </a:r>
            <a:r>
              <a:rPr lang="en-US" i="1" dirty="0" err="1">
                <a:sym typeface="Wingdings"/>
              </a:rPr>
              <a:t>n’t</a:t>
            </a:r>
            <a:r>
              <a:rPr lang="en-US" dirty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was </a:t>
            </a:r>
            <a:r>
              <a:rPr lang="en-US" i="1" dirty="0" err="1" smtClean="0">
                <a:sym typeface="Wingdings"/>
              </a:rPr>
              <a:t>n’t</a:t>
            </a:r>
            <a:r>
              <a:rPr lang="en-US" dirty="0" smtClean="0">
                <a:sym typeface="Wingdings"/>
              </a:rPr>
              <a:t>,…</a:t>
            </a:r>
            <a:endParaRPr lang="en-US" dirty="0" smtClean="0"/>
          </a:p>
          <a:p>
            <a:pPr lvl="1"/>
            <a:r>
              <a:rPr lang="en-US" dirty="0" smtClean="0">
                <a:sym typeface="Wingdings"/>
              </a:rPr>
              <a:t>but how about these: </a:t>
            </a:r>
            <a:r>
              <a:rPr lang="en-US" i="1" dirty="0" smtClean="0"/>
              <a:t>can’t</a:t>
            </a:r>
            <a:r>
              <a:rPr lang="en-US" dirty="0" smtClean="0"/>
              <a:t>, </a:t>
            </a:r>
            <a:r>
              <a:rPr lang="en-US" i="1" dirty="0" smtClean="0"/>
              <a:t>won’t </a:t>
            </a:r>
            <a:r>
              <a:rPr lang="en-US" sz="22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 err="1"/>
              <a:t>ca</a:t>
            </a:r>
            <a:r>
              <a:rPr lang="en-US" i="1" dirty="0"/>
              <a:t> </a:t>
            </a:r>
            <a:r>
              <a:rPr lang="en-US" i="1" dirty="0" err="1"/>
              <a:t>n’t</a:t>
            </a:r>
            <a:r>
              <a:rPr lang="en-US" dirty="0"/>
              <a:t>, </a:t>
            </a:r>
            <a:r>
              <a:rPr lang="en-US" i="1" dirty="0" err="1"/>
              <a:t>wo</a:t>
            </a:r>
            <a:r>
              <a:rPr lang="en-US" i="1" dirty="0"/>
              <a:t> </a:t>
            </a:r>
            <a:r>
              <a:rPr lang="en-US" i="1" dirty="0" err="1"/>
              <a:t>n’t</a:t>
            </a:r>
            <a:endParaRPr lang="en-US" dirty="0" smtClean="0"/>
          </a:p>
          <a:p>
            <a:pPr lvl="1"/>
            <a:r>
              <a:rPr lang="en-US" i="1" dirty="0" err="1" smtClean="0"/>
              <a:t>ca</a:t>
            </a:r>
            <a:r>
              <a:rPr lang="en-US" i="1" dirty="0" smtClean="0"/>
              <a:t> </a:t>
            </a:r>
            <a:r>
              <a:rPr lang="en-US" dirty="0" smtClean="0"/>
              <a:t>and </a:t>
            </a:r>
            <a:r>
              <a:rPr lang="en-US" i="1" dirty="0" err="1" smtClean="0"/>
              <a:t>wo</a:t>
            </a:r>
            <a:r>
              <a:rPr lang="en-US" i="1" dirty="0" smtClean="0"/>
              <a:t> </a:t>
            </a:r>
            <a:r>
              <a:rPr lang="en-US" dirty="0" smtClean="0"/>
              <a:t>are then different forms from </a:t>
            </a:r>
            <a:r>
              <a:rPr lang="en-US" i="1" dirty="0" smtClean="0"/>
              <a:t>can</a:t>
            </a:r>
            <a:r>
              <a:rPr lang="en-US" dirty="0" smtClean="0"/>
              <a:t> and </a:t>
            </a:r>
            <a:r>
              <a:rPr lang="en-US" i="1" dirty="0" smtClean="0"/>
              <a:t>will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427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77800" y="1066800"/>
            <a:ext cx="8851900" cy="3708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>
                <a:sym typeface="Symbol" charset="2"/>
              </a:rPr>
              <a:t>Chinese and </a:t>
            </a:r>
            <a:r>
              <a:rPr lang="en-US" sz="2800" dirty="0" smtClean="0">
                <a:sym typeface="Symbol" charset="2"/>
              </a:rPr>
              <a:t>Japanese: </a:t>
            </a:r>
            <a:r>
              <a:rPr lang="en-US" sz="2800" dirty="0">
                <a:sym typeface="Symbol" charset="2"/>
              </a:rPr>
              <a:t>no spaces </a:t>
            </a:r>
            <a:r>
              <a:rPr lang="en-US" sz="2800" dirty="0" smtClean="0">
                <a:sym typeface="Symbol" charset="2"/>
              </a:rPr>
              <a:t>between words</a:t>
            </a:r>
            <a:r>
              <a:rPr lang="en-US" sz="2800" dirty="0">
                <a:sym typeface="Symbol" charset="2"/>
              </a:rPr>
              <a:t>:</a:t>
            </a:r>
          </a:p>
          <a:p>
            <a:pPr lvl="1" eaLnBrk="1" hangingPunct="1"/>
            <a:r>
              <a:rPr lang="ja-JP" altLang="en-US" sz="2400" dirty="0" smtClean="0">
                <a:latin typeface="华文黑体"/>
                <a:ea typeface="华文黑体"/>
                <a:cs typeface="华文黑体"/>
                <a:sym typeface="Symbol" charset="2"/>
              </a:rPr>
              <a:t>莎拉波娃现在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居住在美国东南部的佛罗里达。</a:t>
            </a:r>
            <a:endParaRPr lang="en-US" altLang="ja-JP" sz="2400" dirty="0">
              <a:latin typeface="华文黑体"/>
              <a:ea typeface="华文黑体"/>
              <a:cs typeface="华文黑体"/>
              <a:sym typeface="Symbol" charset="2"/>
            </a:endParaRPr>
          </a:p>
          <a:p>
            <a:pPr lvl="1" eaLnBrk="1" hangingPunct="1"/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莎拉波娃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现在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 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居住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在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en-US" altLang="ja-JP" sz="2400" dirty="0" smtClean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sz="2400" dirty="0" smtClean="0">
                <a:latin typeface="华文黑体"/>
                <a:ea typeface="华文黑体"/>
                <a:cs typeface="华文黑体"/>
                <a:sym typeface="Symbol" charset="2"/>
              </a:rPr>
              <a:t>美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国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 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东南部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   </a:t>
            </a:r>
            <a:r>
              <a:rPr lang="ja-JP" altLang="en-US" sz="2400" dirty="0">
                <a:latin typeface="华文黑体"/>
                <a:ea typeface="华文黑体"/>
                <a:cs typeface="华文黑体"/>
                <a:sym typeface="Symbol" charset="2"/>
              </a:rPr>
              <a:t>的</a:t>
            </a:r>
            <a:r>
              <a:rPr lang="en-US" altLang="ja-JP" sz="2400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en-US" altLang="ja-JP" sz="2400" dirty="0" smtClean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sz="2400" dirty="0" smtClean="0">
                <a:latin typeface="华文黑体"/>
                <a:ea typeface="华文黑体"/>
                <a:cs typeface="华文黑体"/>
                <a:sym typeface="Symbol" charset="2"/>
              </a:rPr>
              <a:t>佛罗里达</a:t>
            </a:r>
            <a:endParaRPr lang="ja-JP" altLang="en-US" sz="2400" dirty="0">
              <a:latin typeface="华文黑体"/>
              <a:ea typeface="华文黑体"/>
              <a:cs typeface="华文黑体"/>
              <a:sym typeface="Symbol" charset="2"/>
            </a:endParaRPr>
          </a:p>
          <a:p>
            <a:pPr lvl="1" eaLnBrk="1" hangingPunct="1"/>
            <a:r>
              <a:rPr lang="en-US" sz="2400" dirty="0" err="1">
                <a:solidFill>
                  <a:srgbClr val="595959"/>
                </a:solidFill>
                <a:sym typeface="Symbol" charset="2"/>
              </a:rPr>
              <a:t>Sharapova</a:t>
            </a:r>
            <a:r>
              <a:rPr lang="en-US" sz="2400" dirty="0">
                <a:solidFill>
                  <a:srgbClr val="595959"/>
                </a:solidFill>
                <a:sym typeface="Symbol" charset="2"/>
              </a:rPr>
              <a:t> now </a:t>
            </a:r>
            <a:r>
              <a:rPr lang="en-US" sz="2400" dirty="0" smtClean="0">
                <a:solidFill>
                  <a:srgbClr val="595959"/>
                </a:solidFill>
                <a:sym typeface="Symbol" charset="2"/>
              </a:rPr>
              <a:t>    </a:t>
            </a:r>
            <a:r>
              <a:rPr lang="en-US" sz="2400" dirty="0">
                <a:solidFill>
                  <a:srgbClr val="595959"/>
                </a:solidFill>
                <a:sym typeface="Symbol" charset="2"/>
              </a:rPr>
              <a:t>lives in    </a:t>
            </a:r>
            <a:r>
              <a:rPr lang="en-US" sz="2400" dirty="0" smtClean="0">
                <a:solidFill>
                  <a:srgbClr val="595959"/>
                </a:solidFill>
                <a:sym typeface="Symbol" charset="2"/>
              </a:rPr>
              <a:t>   US       southeastern     </a:t>
            </a:r>
            <a:r>
              <a:rPr lang="en-US" sz="2400" dirty="0">
                <a:solidFill>
                  <a:srgbClr val="595959"/>
                </a:solidFill>
                <a:sym typeface="Symbol" charset="2"/>
              </a:rPr>
              <a:t>Florida</a:t>
            </a:r>
          </a:p>
          <a:p>
            <a:pPr eaLnBrk="1" hangingPunct="1"/>
            <a:r>
              <a:rPr lang="en-US" sz="2800" dirty="0">
                <a:sym typeface="Symbol" charset="2"/>
              </a:rPr>
              <a:t>Further complicated in Japanese, with multiple alphabets intermingled</a:t>
            </a:r>
          </a:p>
          <a:p>
            <a:pPr lvl="1" eaLnBrk="1" hangingPunct="1"/>
            <a:r>
              <a:rPr lang="en-US" sz="2400" dirty="0">
                <a:sym typeface="Symbol" charset="2"/>
              </a:rPr>
              <a:t>Dates/amounts in multiple formats</a:t>
            </a:r>
          </a:p>
        </p:txBody>
      </p:sp>
      <p:sp>
        <p:nvSpPr>
          <p:cNvPr id="1255437" name="Text Box 1037"/>
          <p:cNvSpPr txBox="1">
            <a:spLocks noChangeArrowheads="1"/>
          </p:cNvSpPr>
          <p:nvPr/>
        </p:nvSpPr>
        <p:spPr bwMode="auto">
          <a:xfrm>
            <a:off x="381001" y="4507620"/>
            <a:ext cx="77765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lvl="1">
              <a:spcBef>
                <a:spcPct val="20000"/>
              </a:spcBef>
              <a:buClr>
                <a:schemeClr val="tx1"/>
              </a:buClr>
              <a:buSzPct val="55000"/>
              <a:buFont typeface="Wingdings" charset="2"/>
              <a:buNone/>
            </a:pPr>
            <a:r>
              <a:rPr lang="ja-JP" altLang="en-US" sz="2100" b="1" i="1" dirty="0"/>
              <a:t>フォーチュン</a:t>
            </a:r>
            <a:r>
              <a:rPr lang="en-US" altLang="ja-JP" sz="2100" b="1" i="1" dirty="0"/>
              <a:t>500</a:t>
            </a:r>
            <a:r>
              <a:rPr lang="ja-JP" altLang="en-US" sz="2100" b="1" i="1" dirty="0"/>
              <a:t>社は情報不足のため時間あた</a:t>
            </a:r>
            <a:r>
              <a:rPr lang="en-US" altLang="ja-JP" sz="2100" b="1" i="1" dirty="0"/>
              <a:t>$500K(</a:t>
            </a:r>
            <a:r>
              <a:rPr lang="ja-JP" altLang="en-US" sz="2100" b="1" i="1" dirty="0"/>
              <a:t>約</a:t>
            </a:r>
            <a:r>
              <a:rPr lang="en-US" altLang="ja-JP" sz="2100" b="1" i="1" dirty="0"/>
              <a:t>6,000</a:t>
            </a:r>
            <a:r>
              <a:rPr lang="ja-JP" altLang="en-US" sz="2100" b="1" i="1" dirty="0"/>
              <a:t>万円</a:t>
            </a:r>
            <a:r>
              <a:rPr lang="en-US" altLang="ja-JP" sz="2100" b="1" i="1" dirty="0"/>
              <a:t>)</a:t>
            </a:r>
            <a:endParaRPr lang="en-US" sz="2100" b="1" i="1" dirty="0"/>
          </a:p>
        </p:txBody>
      </p:sp>
      <p:grpSp>
        <p:nvGrpSpPr>
          <p:cNvPr id="28677" name="Group 1032"/>
          <p:cNvGrpSpPr>
            <a:grpSpLocks/>
          </p:cNvGrpSpPr>
          <p:nvPr/>
        </p:nvGrpSpPr>
        <p:grpSpPr bwMode="auto">
          <a:xfrm>
            <a:off x="1676401" y="5295020"/>
            <a:ext cx="5435600" cy="400050"/>
            <a:chOff x="422" y="3792"/>
            <a:chExt cx="3424" cy="252"/>
          </a:xfrm>
        </p:grpSpPr>
        <p:sp>
          <p:nvSpPr>
            <p:cNvPr id="28691" name="Text Box 1028"/>
            <p:cNvSpPr txBox="1">
              <a:spLocks noChangeArrowheads="1"/>
            </p:cNvSpPr>
            <p:nvPr/>
          </p:nvSpPr>
          <p:spPr bwMode="auto">
            <a:xfrm>
              <a:off x="422" y="3792"/>
              <a:ext cx="722" cy="25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>
                  <a:latin typeface="Calibri"/>
                  <a:cs typeface="Calibri"/>
                </a:rPr>
                <a:t>Katakana</a:t>
              </a:r>
            </a:p>
          </p:txBody>
        </p:sp>
        <p:sp>
          <p:nvSpPr>
            <p:cNvPr id="28692" name="Text Box 1029"/>
            <p:cNvSpPr txBox="1">
              <a:spLocks noChangeArrowheads="1"/>
            </p:cNvSpPr>
            <p:nvPr/>
          </p:nvSpPr>
          <p:spPr bwMode="auto">
            <a:xfrm>
              <a:off x="1499" y="3792"/>
              <a:ext cx="703" cy="25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>
                  <a:latin typeface="Calibri"/>
                  <a:cs typeface="Calibri"/>
                </a:rPr>
                <a:t>Hiragana</a:t>
              </a:r>
            </a:p>
          </p:txBody>
        </p:sp>
        <p:sp>
          <p:nvSpPr>
            <p:cNvPr id="28693" name="Text Box 1030"/>
            <p:cNvSpPr txBox="1">
              <a:spLocks noChangeArrowheads="1"/>
            </p:cNvSpPr>
            <p:nvPr/>
          </p:nvSpPr>
          <p:spPr bwMode="auto">
            <a:xfrm>
              <a:off x="2603" y="3792"/>
              <a:ext cx="438" cy="25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>
                  <a:latin typeface="Calibri"/>
                  <a:cs typeface="Calibri"/>
                </a:rPr>
                <a:t>Kanji</a:t>
              </a:r>
            </a:p>
          </p:txBody>
        </p:sp>
        <p:sp>
          <p:nvSpPr>
            <p:cNvPr id="28694" name="Text Box 1031"/>
            <p:cNvSpPr txBox="1">
              <a:spLocks noChangeArrowheads="1"/>
            </p:cNvSpPr>
            <p:nvPr/>
          </p:nvSpPr>
          <p:spPr bwMode="auto">
            <a:xfrm>
              <a:off x="3275" y="3792"/>
              <a:ext cx="571" cy="25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 err="1">
                  <a:latin typeface="Calibri"/>
                  <a:cs typeface="Calibri"/>
                </a:rPr>
                <a:t>Romaji</a:t>
              </a:r>
              <a:endParaRPr lang="en-US" sz="2000" dirty="0">
                <a:latin typeface="Calibri"/>
                <a:cs typeface="Calibri"/>
              </a:endParaRPr>
            </a:p>
          </p:txBody>
        </p:sp>
      </p:grpSp>
      <p:sp>
        <p:nvSpPr>
          <p:cNvPr id="28678" name="Rectangle 1040"/>
          <p:cNvSpPr>
            <a:spLocks noChangeArrowheads="1"/>
          </p:cNvSpPr>
          <p:nvPr/>
        </p:nvSpPr>
        <p:spPr bwMode="auto">
          <a:xfrm>
            <a:off x="914400" y="4579338"/>
            <a:ext cx="14478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79" name="AutoShape 1041"/>
          <p:cNvCxnSpPr>
            <a:cxnSpLocks noChangeShapeType="1"/>
            <a:stCxn id="28691" idx="0"/>
            <a:endCxn id="28678" idx="2"/>
          </p:cNvCxnSpPr>
          <p:nvPr/>
        </p:nvCxnSpPr>
        <p:spPr bwMode="auto">
          <a:xfrm flipH="1" flipV="1">
            <a:off x="1638300" y="4948670"/>
            <a:ext cx="611189" cy="3463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680" name="Rectangle 1044"/>
          <p:cNvSpPr>
            <a:spLocks noChangeArrowheads="1"/>
          </p:cNvSpPr>
          <p:nvPr/>
        </p:nvSpPr>
        <p:spPr bwMode="auto">
          <a:xfrm>
            <a:off x="4597400" y="4566638"/>
            <a:ext cx="5334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81" name="AutoShape 1045"/>
          <p:cNvCxnSpPr>
            <a:cxnSpLocks noChangeShapeType="1"/>
            <a:stCxn id="28692" idx="0"/>
            <a:endCxn id="28680" idx="2"/>
          </p:cNvCxnSpPr>
          <p:nvPr/>
        </p:nvCxnSpPr>
        <p:spPr bwMode="auto">
          <a:xfrm flipV="1">
            <a:off x="3944146" y="4935970"/>
            <a:ext cx="919954" cy="359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682" name="Rectangle 1046"/>
          <p:cNvSpPr>
            <a:spLocks noChangeArrowheads="1"/>
          </p:cNvSpPr>
          <p:nvPr/>
        </p:nvSpPr>
        <p:spPr bwMode="auto">
          <a:xfrm>
            <a:off x="5130800" y="4553938"/>
            <a:ext cx="5334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83" name="AutoShape 1047"/>
          <p:cNvCxnSpPr>
            <a:cxnSpLocks noChangeShapeType="1"/>
            <a:stCxn id="28693" idx="0"/>
            <a:endCxn id="28682" idx="2"/>
          </p:cNvCxnSpPr>
          <p:nvPr/>
        </p:nvCxnSpPr>
        <p:spPr bwMode="auto">
          <a:xfrm flipH="1" flipV="1">
            <a:off x="5397500" y="4923270"/>
            <a:ext cx="88902" cy="3717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684" name="Rectangle 1048"/>
          <p:cNvSpPr>
            <a:spLocks noChangeArrowheads="1"/>
          </p:cNvSpPr>
          <p:nvPr/>
        </p:nvSpPr>
        <p:spPr bwMode="auto">
          <a:xfrm>
            <a:off x="6658771" y="4538855"/>
            <a:ext cx="2286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85" name="AutoShape 1049"/>
          <p:cNvCxnSpPr>
            <a:cxnSpLocks noChangeShapeType="1"/>
            <a:stCxn id="28694" idx="0"/>
            <a:endCxn id="28684" idx="2"/>
          </p:cNvCxnSpPr>
          <p:nvPr/>
        </p:nvCxnSpPr>
        <p:spPr bwMode="auto">
          <a:xfrm flipV="1">
            <a:off x="6658771" y="4908187"/>
            <a:ext cx="114300" cy="38683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255451" name="Text Box 1051"/>
          <p:cNvSpPr txBox="1">
            <a:spLocks noChangeArrowheads="1"/>
          </p:cNvSpPr>
          <p:nvPr/>
        </p:nvSpPr>
        <p:spPr bwMode="auto">
          <a:xfrm>
            <a:off x="1062039" y="5828421"/>
            <a:ext cx="46977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End-user can express query entirely in hiragana!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33007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5437" grpId="0"/>
      <p:bldP spid="28678" grpId="0" animBg="1"/>
      <p:bldP spid="28680" grpId="0" animBg="1"/>
      <p:bldP spid="28682" grpId="0" animBg="1"/>
      <p:bldP spid="28684" grpId="0" animBg="1"/>
      <p:bldP spid="125545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</a:t>
            </a:r>
            <a:r>
              <a:rPr lang="en-US" dirty="0" smtClean="0"/>
              <a:t>Segmentation in </a:t>
            </a:r>
            <a:r>
              <a:rPr lang="en-US" dirty="0"/>
              <a:t>Chinese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073740"/>
            <a:ext cx="8534400" cy="5052424"/>
          </a:xfrm>
        </p:spPr>
        <p:txBody>
          <a:bodyPr/>
          <a:lstStyle/>
          <a:p>
            <a:r>
              <a:rPr lang="en-US" dirty="0" smtClean="0"/>
              <a:t>Chinese </a:t>
            </a:r>
            <a:r>
              <a:rPr lang="en-US" dirty="0"/>
              <a:t>w</a:t>
            </a:r>
            <a:r>
              <a:rPr lang="en-US" dirty="0" smtClean="0"/>
              <a:t>ords are composed </a:t>
            </a:r>
            <a:r>
              <a:rPr lang="en-US" dirty="0"/>
              <a:t>of characters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haracters </a:t>
            </a:r>
            <a:r>
              <a:rPr lang="en-US" dirty="0"/>
              <a:t>are generally 1 syllable and 1 </a:t>
            </a:r>
            <a:r>
              <a:rPr lang="en-US" dirty="0" smtClean="0"/>
              <a:t>morpheme</a:t>
            </a:r>
            <a:endParaRPr lang="en-US" dirty="0"/>
          </a:p>
          <a:p>
            <a:pPr lvl="1"/>
            <a:r>
              <a:rPr lang="en-US" dirty="0"/>
              <a:t>a</a:t>
            </a:r>
            <a:r>
              <a:rPr lang="en-US" dirty="0" smtClean="0"/>
              <a:t>verage </a:t>
            </a:r>
            <a:r>
              <a:rPr lang="en-US" dirty="0"/>
              <a:t>word is 2.4 characters </a:t>
            </a:r>
            <a:r>
              <a:rPr lang="en-US" dirty="0" smtClean="0"/>
              <a:t>long</a:t>
            </a:r>
            <a:endParaRPr lang="en-US" dirty="0"/>
          </a:p>
          <a:p>
            <a:r>
              <a:rPr lang="en-US" dirty="0"/>
              <a:t>s</a:t>
            </a:r>
            <a:r>
              <a:rPr lang="en-US" dirty="0" smtClean="0"/>
              <a:t>tandard baseline segmentation </a:t>
            </a:r>
            <a:r>
              <a:rPr lang="en-US" dirty="0"/>
              <a:t>algorithm: </a:t>
            </a:r>
          </a:p>
          <a:p>
            <a:pPr lvl="1"/>
            <a:r>
              <a:rPr lang="en-US" dirty="0"/>
              <a:t>Maximum Matching </a:t>
            </a:r>
            <a:r>
              <a:rPr lang="en-US" dirty="0" smtClean="0"/>
              <a:t> (</a:t>
            </a:r>
            <a:r>
              <a:rPr lang="en-US" dirty="0"/>
              <a:t>also called Greedy)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33250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Maximum Matching</a:t>
            </a:r>
            <a:br>
              <a:rPr lang="en-US" sz="3600" dirty="0"/>
            </a:br>
            <a:r>
              <a:rPr lang="en-US" sz="3600" dirty="0"/>
              <a:t>Word Segmentation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80140"/>
            <a:ext cx="8229600" cy="40697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Given a </a:t>
            </a:r>
            <a:r>
              <a:rPr lang="en-US" dirty="0" smtClean="0"/>
              <a:t>Chinese word list </a:t>
            </a:r>
            <a:r>
              <a:rPr lang="en-US" dirty="0"/>
              <a:t>and a </a:t>
            </a:r>
            <a:r>
              <a:rPr lang="en-US" dirty="0" smtClean="0"/>
              <a:t>string:</a:t>
            </a:r>
            <a:endParaRPr lang="en-US" dirty="0"/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s</a:t>
            </a:r>
            <a:r>
              <a:rPr lang="en-US" dirty="0" smtClean="0"/>
              <a:t>tart </a:t>
            </a:r>
            <a:r>
              <a:rPr lang="en-US" dirty="0"/>
              <a:t>a pointer at the beginning of the string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 dirty="0" smtClean="0"/>
              <a:t>find longest </a:t>
            </a:r>
            <a:r>
              <a:rPr lang="en-US" dirty="0"/>
              <a:t>word in dictionary that matches the string starting at pointer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m</a:t>
            </a:r>
            <a:r>
              <a:rPr lang="en-US" dirty="0" smtClean="0"/>
              <a:t>ove </a:t>
            </a:r>
            <a:r>
              <a:rPr lang="en-US" dirty="0"/>
              <a:t>the pointer over the word in string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 dirty="0"/>
              <a:t>g</a:t>
            </a:r>
            <a:r>
              <a:rPr lang="en-US" dirty="0" smtClean="0"/>
              <a:t>o </a:t>
            </a:r>
            <a:r>
              <a:rPr lang="en-US" dirty="0"/>
              <a:t>to 2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29054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0"/>
            <a:ext cx="77724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Maximum Matching Examples</a:t>
            </a:r>
            <a:endParaRPr lang="en-US" sz="36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92100" y="1143000"/>
            <a:ext cx="8763000" cy="5537200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Thecat</a:t>
            </a:r>
            <a:r>
              <a:rPr lang="en-US" sz="2800" dirty="0" err="1"/>
              <a:t>i</a:t>
            </a:r>
            <a:r>
              <a:rPr lang="en-US" sz="2800" dirty="0" err="1" smtClean="0"/>
              <a:t>nthehat</a:t>
            </a:r>
            <a:endParaRPr lang="en-US" sz="2800" dirty="0" smtClean="0"/>
          </a:p>
          <a:p>
            <a:r>
              <a:rPr lang="en-US" sz="2800" dirty="0" err="1" smtClean="0"/>
              <a:t>Thetabledownthere</a:t>
            </a:r>
            <a:endParaRPr lang="en-US" sz="2800" dirty="0" smtClean="0"/>
          </a:p>
          <a:p>
            <a:endParaRPr lang="en-US" dirty="0" smtClean="0"/>
          </a:p>
          <a:p>
            <a:r>
              <a:rPr lang="en-US" dirty="0" smtClean="0"/>
              <a:t>Doesn’t </a:t>
            </a:r>
            <a:r>
              <a:rPr lang="en-US" dirty="0"/>
              <a:t>generally work in </a:t>
            </a:r>
            <a:r>
              <a:rPr lang="en-US" dirty="0" smtClean="0"/>
              <a:t>English</a:t>
            </a:r>
            <a:r>
              <a:rPr lang="en-US" dirty="0"/>
              <a:t>!</a:t>
            </a:r>
          </a:p>
          <a:p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works astonishingly well in Chinese</a:t>
            </a:r>
          </a:p>
          <a:p>
            <a:pPr lvl="1" eaLnBrk="1" hangingPunct="1"/>
            <a:r>
              <a:rPr lang="ja-JP" altLang="en-US" sz="2400" dirty="0">
                <a:cs typeface="ＭＳ Ｐゴシック" charset="-128"/>
                <a:sym typeface="Symbol" charset="2"/>
              </a:rPr>
              <a:t>莎拉波娃现在居住在美国东南部的佛罗里达。</a:t>
            </a:r>
            <a:endParaRPr lang="en-US" altLang="ja-JP" sz="2400" dirty="0">
              <a:cs typeface="ＭＳ Ｐゴシック" charset="-128"/>
              <a:sym typeface="Symbol" charset="2"/>
            </a:endParaRPr>
          </a:p>
          <a:p>
            <a:pPr lvl="1" eaLnBrk="1" hangingPunct="1"/>
            <a:r>
              <a:rPr lang="ja-JP" altLang="en-US" sz="2400" dirty="0">
                <a:cs typeface="ＭＳ Ｐゴシック" charset="-128"/>
                <a:sym typeface="Symbol" charset="2"/>
              </a:rPr>
              <a:t>莎拉波娃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现在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居住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在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美国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东南部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 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的</a:t>
            </a:r>
            <a:r>
              <a:rPr lang="en-US" altLang="ja-JP" sz="2400" dirty="0">
                <a:cs typeface="ＭＳ Ｐゴシック" charset="-128"/>
                <a:sym typeface="Symbol" charset="2"/>
              </a:rPr>
              <a:t>  </a:t>
            </a:r>
            <a:r>
              <a:rPr lang="ja-JP" altLang="en-US" sz="2400" dirty="0">
                <a:cs typeface="ＭＳ Ｐゴシック" charset="-128"/>
                <a:sym typeface="Symbol" charset="2"/>
              </a:rPr>
              <a:t>佛罗里达</a:t>
            </a:r>
            <a:endParaRPr lang="en-US" altLang="ja-JP" sz="2000" dirty="0"/>
          </a:p>
          <a:p>
            <a:r>
              <a:rPr lang="en-US" dirty="0" smtClean="0"/>
              <a:t>Modern probabilistic segmentation </a:t>
            </a:r>
            <a:r>
              <a:rPr lang="en-US" dirty="0"/>
              <a:t>algorithms </a:t>
            </a:r>
            <a:r>
              <a:rPr lang="en-US" dirty="0" smtClean="0"/>
              <a:t>even better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11700" y="166370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/>
              <a:t>the table down </a:t>
            </a:r>
            <a:r>
              <a:rPr lang="en-US" sz="2000" dirty="0" smtClean="0"/>
              <a:t>there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711700" y="1219200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smtClean="0"/>
              <a:t>the cat in the hat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711700" y="202244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/>
              <a:t>t</a:t>
            </a:r>
            <a:r>
              <a:rPr lang="en-US" sz="2000" dirty="0" smtClean="0"/>
              <a:t>heta bled own there</a:t>
            </a:r>
            <a:endParaRPr lang="en-US" sz="2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99024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2" grpId="0"/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Effect on Machine Translation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 descr="Screen Shot 2016-01-11 at 10.53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700"/>
            <a:ext cx="9144000" cy="5351112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124450" y="6356350"/>
            <a:ext cx="2857499" cy="4540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Chang, Galley, &amp; Manning (2008)</a:t>
            </a:r>
          </a:p>
        </p:txBody>
      </p:sp>
    </p:spTree>
    <p:extLst>
      <p:ext uri="{BB962C8B-B14F-4D97-AF65-F5344CB8AC3E}">
        <p14:creationId xmlns:p14="http://schemas.microsoft.com/office/powerpoint/2010/main" val="190628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Removing Spaces?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</a:t>
            </a:r>
            <a:r>
              <a:rPr lang="en-US" dirty="0" smtClean="0"/>
              <a:t>okenization is usually about adding spaces</a:t>
            </a:r>
          </a:p>
          <a:p>
            <a:r>
              <a:rPr lang="en-US" dirty="0"/>
              <a:t>b</a:t>
            </a:r>
            <a:r>
              <a:rPr lang="en-US" dirty="0" smtClean="0"/>
              <a:t>ut might we also want to remove spaces?</a:t>
            </a:r>
          </a:p>
          <a:p>
            <a:r>
              <a:rPr lang="en-US" dirty="0"/>
              <a:t>w</a:t>
            </a:r>
            <a:r>
              <a:rPr lang="en-US" dirty="0" smtClean="0"/>
              <a:t>hat are some English examples?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names?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New York 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 </a:t>
            </a:r>
            <a:r>
              <a:rPr lang="en-US" dirty="0" err="1" smtClean="0">
                <a:solidFill>
                  <a:schemeClr val="bg1"/>
                </a:solidFill>
                <a:sym typeface="Wingdings"/>
              </a:rPr>
              <a:t>NewYork</a:t>
            </a:r>
            <a:endParaRPr lang="en-US" dirty="0" smtClean="0">
              <a:solidFill>
                <a:schemeClr val="bg1"/>
              </a:solidFill>
              <a:sym typeface="Wingdings"/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  <a:sym typeface="Wingdings"/>
              </a:rPr>
              <a:t>non-compositional compounds?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  <a:sym typeface="Wingdings"/>
              </a:rPr>
              <a:t>hot dog 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 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hotdog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sym typeface="Wingdings"/>
              </a:rPr>
              <a:t>other artifacts of our spacing conventions?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  <a:sym typeface="Wingdings"/>
              </a:rPr>
              <a:t>New York-Long Island Railway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7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Removing Spaces?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</a:t>
            </a:r>
            <a:r>
              <a:rPr lang="en-US" dirty="0" smtClean="0"/>
              <a:t>okenization is usually about adding spaces</a:t>
            </a:r>
          </a:p>
          <a:p>
            <a:r>
              <a:rPr lang="en-US" dirty="0"/>
              <a:t>b</a:t>
            </a:r>
            <a:r>
              <a:rPr lang="en-US" dirty="0" smtClean="0"/>
              <a:t>ut might we also want to remove spaces?</a:t>
            </a:r>
          </a:p>
          <a:p>
            <a:r>
              <a:rPr lang="en-US" dirty="0"/>
              <a:t>w</a:t>
            </a:r>
            <a:r>
              <a:rPr lang="en-US" dirty="0" smtClean="0"/>
              <a:t>hat are some English examples?</a:t>
            </a:r>
          </a:p>
          <a:p>
            <a:pPr lvl="1"/>
            <a:r>
              <a:rPr lang="en-US" dirty="0" smtClean="0"/>
              <a:t>names?</a:t>
            </a:r>
          </a:p>
          <a:p>
            <a:pPr lvl="2"/>
            <a:r>
              <a:rPr lang="en-US" dirty="0" smtClean="0"/>
              <a:t>New York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err="1" smtClean="0">
                <a:sym typeface="Wingdings"/>
              </a:rPr>
              <a:t>NewYork</a:t>
            </a:r>
            <a:endParaRPr lang="en-US" dirty="0" smtClean="0">
              <a:sym typeface="Wingdings"/>
            </a:endParaRPr>
          </a:p>
          <a:p>
            <a:pPr lvl="1"/>
            <a:r>
              <a:rPr lang="en-US" dirty="0" smtClean="0">
                <a:sym typeface="Wingdings"/>
              </a:rPr>
              <a:t>non-compositional compounds?</a:t>
            </a:r>
          </a:p>
          <a:p>
            <a:pPr lvl="2"/>
            <a:r>
              <a:rPr lang="en-US" dirty="0" smtClean="0">
                <a:sym typeface="Wingdings"/>
              </a:rPr>
              <a:t>hot dog </a:t>
            </a:r>
            <a:r>
              <a:rPr lang="en-US" dirty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hotdog</a:t>
            </a:r>
          </a:p>
          <a:p>
            <a:pPr lvl="1"/>
            <a:r>
              <a:rPr lang="en-US" dirty="0" smtClean="0">
                <a:sym typeface="Wingdings"/>
              </a:rPr>
              <a:t>other artifacts of our spacing conventions?</a:t>
            </a:r>
          </a:p>
          <a:p>
            <a:pPr lvl="2"/>
            <a:r>
              <a:rPr lang="en-US" dirty="0" smtClean="0">
                <a:sym typeface="Wingdings"/>
              </a:rPr>
              <a:t>New York-Long Island Railway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2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and Tokens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once text has been tokenized, let’s count the words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types</a:t>
            </a:r>
            <a:r>
              <a:rPr lang="en-US" dirty="0" smtClean="0"/>
              <a:t>: entries in the vocabulary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tokens</a:t>
            </a:r>
            <a:r>
              <a:rPr lang="en-US" dirty="0" smtClean="0"/>
              <a:t>: instances of types in a corpus</a:t>
            </a:r>
          </a:p>
          <a:p>
            <a:r>
              <a:rPr lang="en-US" dirty="0" smtClean="0"/>
              <a:t>example sentence: </a:t>
            </a:r>
            <a:r>
              <a:rPr lang="en-US" i="1" dirty="0" smtClean="0"/>
              <a:t>If they want to go , they should go .</a:t>
            </a:r>
          </a:p>
          <a:p>
            <a:pPr lvl="1"/>
            <a:r>
              <a:rPr lang="en-US" dirty="0" smtClean="0"/>
              <a:t>how many types?  </a:t>
            </a:r>
          </a:p>
          <a:p>
            <a:pPr lvl="1"/>
            <a:r>
              <a:rPr lang="en-US" dirty="0" smtClean="0"/>
              <a:t>how many tokens?  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type/token ratio: useful statistic of a corpus (here, 0.8)</a:t>
            </a:r>
          </a:p>
          <a:p>
            <a:r>
              <a:rPr lang="en-US" dirty="0" smtClean="0">
                <a:solidFill>
                  <a:schemeClr val="bg1"/>
                </a:solidFill>
                <a:sym typeface="Wingdings"/>
              </a:rPr>
              <a:t>as we add data, what happens to the type-token ratio?  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indicates what?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high type/token ratio 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 rich morphology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  <a:sym typeface="Wingdings"/>
              </a:rPr>
              <a:t>low type/token ratio  poor morphology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565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and Tokens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once text has been tokenized, let’s count the words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types</a:t>
            </a:r>
            <a:r>
              <a:rPr lang="en-US" dirty="0" smtClean="0"/>
              <a:t>: entries in the vocabulary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tokens</a:t>
            </a:r>
            <a:r>
              <a:rPr lang="en-US" dirty="0" smtClean="0"/>
              <a:t>: instances of types in a corpus</a:t>
            </a:r>
          </a:p>
          <a:p>
            <a:r>
              <a:rPr lang="en-US" dirty="0" smtClean="0"/>
              <a:t>example sentence: </a:t>
            </a:r>
            <a:r>
              <a:rPr lang="en-US" i="1" dirty="0" smtClean="0"/>
              <a:t>If they want to go , they should go .</a:t>
            </a:r>
          </a:p>
          <a:p>
            <a:pPr lvl="1"/>
            <a:r>
              <a:rPr lang="en-US" dirty="0" smtClean="0"/>
              <a:t>how many types?  8</a:t>
            </a:r>
          </a:p>
          <a:p>
            <a:pPr lvl="1"/>
            <a:r>
              <a:rPr lang="en-US" dirty="0" smtClean="0"/>
              <a:t>how many tokens?  10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type/token ratio</a:t>
            </a:r>
            <a:r>
              <a:rPr lang="en-US" dirty="0" smtClean="0"/>
              <a:t>: useful statistic of a corpus (here, 0.8)</a:t>
            </a:r>
          </a:p>
          <a:p>
            <a:r>
              <a:rPr lang="en-US" dirty="0" smtClean="0">
                <a:solidFill>
                  <a:schemeClr val="bg1"/>
                </a:solidFill>
                <a:sym typeface="Wingdings"/>
              </a:rPr>
              <a:t>as we add data, what happens to the type-token ratio?  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indicates what?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high type/token ratio 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 rich morphology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  <a:sym typeface="Wingdings"/>
              </a:rPr>
              <a:t>low type/token ratio  poor morphology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71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and Tokens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once text has been tokenized, let’s count the words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types</a:t>
            </a:r>
            <a:r>
              <a:rPr lang="en-US" dirty="0" smtClean="0"/>
              <a:t>: entries in the vocabulary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tokens</a:t>
            </a:r>
            <a:r>
              <a:rPr lang="en-US" dirty="0" smtClean="0"/>
              <a:t>: instances of types in a corpus</a:t>
            </a:r>
          </a:p>
          <a:p>
            <a:r>
              <a:rPr lang="en-US" dirty="0" smtClean="0"/>
              <a:t>example sentence: </a:t>
            </a:r>
            <a:r>
              <a:rPr lang="en-US" i="1" dirty="0" smtClean="0"/>
              <a:t>If they want to go , they should go .</a:t>
            </a:r>
          </a:p>
          <a:p>
            <a:pPr lvl="1"/>
            <a:r>
              <a:rPr lang="en-US" dirty="0" smtClean="0"/>
              <a:t>how many types?  8</a:t>
            </a:r>
          </a:p>
          <a:p>
            <a:pPr lvl="1"/>
            <a:r>
              <a:rPr lang="en-US" dirty="0" smtClean="0"/>
              <a:t>how many tokens?  10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type/token ratio</a:t>
            </a:r>
            <a:r>
              <a:rPr lang="en-US" dirty="0" smtClean="0"/>
              <a:t>: useful statistic of a corpus (here, 0.8)</a:t>
            </a:r>
          </a:p>
          <a:p>
            <a:r>
              <a:rPr lang="en-US" dirty="0" smtClean="0">
                <a:sym typeface="Wingdings"/>
              </a:rPr>
              <a:t>as we add data, what happens to the type-token ratio?  </a:t>
            </a:r>
          </a:p>
          <a:p>
            <a:r>
              <a:rPr lang="en-US" dirty="0" smtClean="0"/>
              <a:t>indicates what?</a:t>
            </a:r>
          </a:p>
          <a:p>
            <a:pPr lvl="1"/>
            <a:r>
              <a:rPr lang="en-US" dirty="0" smtClean="0"/>
              <a:t>high type/token ratio </a:t>
            </a:r>
            <a:r>
              <a:rPr lang="en-US" sz="2100" dirty="0" smtClean="0">
                <a:sym typeface="Wingdings"/>
              </a:rPr>
              <a:t></a:t>
            </a:r>
            <a:endParaRPr lang="en-US" dirty="0" smtClean="0">
              <a:sym typeface="Wingdings"/>
            </a:endParaRPr>
          </a:p>
          <a:p>
            <a:pPr lvl="1"/>
            <a:r>
              <a:rPr lang="en-US" dirty="0" smtClean="0">
                <a:sym typeface="Wingdings"/>
              </a:rPr>
              <a:t>low type/token ratio </a:t>
            </a:r>
            <a:r>
              <a:rPr lang="en-US" sz="2100" dirty="0" smtClean="0">
                <a:sym typeface="Wingdings"/>
              </a:rPr>
              <a:t>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37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and Tokens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once text has been tokenized, let’s count the words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types</a:t>
            </a:r>
            <a:r>
              <a:rPr lang="en-US" dirty="0" smtClean="0"/>
              <a:t>: entries in the vocabulary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tokens</a:t>
            </a:r>
            <a:r>
              <a:rPr lang="en-US" dirty="0" smtClean="0"/>
              <a:t>: instances of types in a corpus</a:t>
            </a:r>
          </a:p>
          <a:p>
            <a:r>
              <a:rPr lang="en-US" dirty="0" smtClean="0"/>
              <a:t>example sentence: </a:t>
            </a:r>
            <a:r>
              <a:rPr lang="en-US" i="1" dirty="0" smtClean="0"/>
              <a:t>If they want to go , they should go .</a:t>
            </a:r>
          </a:p>
          <a:p>
            <a:pPr lvl="1"/>
            <a:r>
              <a:rPr lang="en-US" dirty="0" smtClean="0"/>
              <a:t>how many types?  8</a:t>
            </a:r>
          </a:p>
          <a:p>
            <a:pPr lvl="1"/>
            <a:r>
              <a:rPr lang="en-US" dirty="0" smtClean="0"/>
              <a:t>how many tokens?  10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type/token ratio</a:t>
            </a:r>
            <a:r>
              <a:rPr lang="en-US" dirty="0" smtClean="0"/>
              <a:t>: useful statistic of a corpus (here, 0.8)</a:t>
            </a:r>
          </a:p>
          <a:p>
            <a:r>
              <a:rPr lang="en-US" dirty="0" smtClean="0">
                <a:sym typeface="Wingdings"/>
              </a:rPr>
              <a:t>as we add data, what happens to the type-token ratio?  </a:t>
            </a:r>
          </a:p>
          <a:p>
            <a:r>
              <a:rPr lang="en-US" dirty="0" smtClean="0"/>
              <a:t>indicates what?</a:t>
            </a:r>
          </a:p>
          <a:p>
            <a:pPr lvl="1"/>
            <a:r>
              <a:rPr lang="en-US" dirty="0" smtClean="0"/>
              <a:t>high type/token ratio </a:t>
            </a:r>
            <a:r>
              <a:rPr lang="en-US" sz="2100" dirty="0" smtClean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rich morphology</a:t>
            </a:r>
          </a:p>
          <a:p>
            <a:pPr lvl="1"/>
            <a:r>
              <a:rPr lang="en-US" dirty="0" smtClean="0">
                <a:sym typeface="Wingdings"/>
              </a:rPr>
              <a:t>low type/token ratio </a:t>
            </a:r>
            <a:r>
              <a:rPr lang="en-US" sz="2100" dirty="0" smtClean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poor morphology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269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many words are there?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Wingdings"/>
              </a:rPr>
              <a:t>how many English words exist?</a:t>
            </a:r>
          </a:p>
          <a:p>
            <a:r>
              <a:rPr lang="en-US" dirty="0" smtClean="0">
                <a:sym typeface="Wingdings"/>
              </a:rPr>
              <a:t>when we increase the size of our corpus, what happens to the number of types?</a:t>
            </a:r>
          </a:p>
          <a:p>
            <a:pPr lvl="1"/>
            <a:r>
              <a:rPr lang="en-US" dirty="0">
                <a:solidFill>
                  <a:schemeClr val="bg1"/>
                </a:solidFill>
                <a:sym typeface="Wingdings"/>
              </a:rPr>
              <a:t>a bit surprising: vocabulary continues to 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grow in any actual dataset</a:t>
            </a:r>
            <a:endParaRPr lang="en-US" dirty="0">
              <a:solidFill>
                <a:schemeClr val="bg1"/>
              </a:solidFill>
              <a:sym typeface="Wingdings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sym typeface="Wingdings"/>
              </a:rPr>
              <a:t>you’ll just never see all the 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words</a:t>
            </a:r>
          </a:p>
          <a:p>
            <a:r>
              <a:rPr lang="en-US" dirty="0" err="1" smtClean="0">
                <a:solidFill>
                  <a:schemeClr val="bg1"/>
                </a:solidFill>
                <a:sym typeface="Wingdings"/>
              </a:rPr>
              <a:t>Zipf’s</a:t>
            </a:r>
            <a:r>
              <a:rPr lang="en-US" dirty="0" smtClean="0">
                <a:solidFill>
                  <a:schemeClr val="bg1"/>
                </a:solidFill>
                <a:sym typeface="Wingdings"/>
              </a:rPr>
              <a:t> law: frequency of a word is inversely proportional to its rank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357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many words are there?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Wingdings"/>
              </a:rPr>
              <a:t>how many English words exist?</a:t>
            </a:r>
          </a:p>
          <a:p>
            <a:r>
              <a:rPr lang="en-US" dirty="0" smtClean="0">
                <a:sym typeface="Wingdings"/>
              </a:rPr>
              <a:t>when we increase the size of our corpus, what happens to the number of types?</a:t>
            </a:r>
          </a:p>
          <a:p>
            <a:pPr lvl="1"/>
            <a:r>
              <a:rPr lang="en-US" dirty="0">
                <a:sym typeface="Wingdings"/>
              </a:rPr>
              <a:t>a bit surprising: vocabulary continues to </a:t>
            </a:r>
            <a:r>
              <a:rPr lang="en-US" dirty="0" smtClean="0">
                <a:sym typeface="Wingdings"/>
              </a:rPr>
              <a:t>grow in any actual dataset</a:t>
            </a:r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you’ll just never see all the </a:t>
            </a:r>
            <a:r>
              <a:rPr lang="en-US" dirty="0" smtClean="0">
                <a:sym typeface="Wingdings"/>
              </a:rPr>
              <a:t>words</a:t>
            </a:r>
          </a:p>
          <a:p>
            <a:pPr lvl="1"/>
            <a:r>
              <a:rPr lang="en-US" dirty="0" smtClean="0">
                <a:sym typeface="Wingdings"/>
              </a:rPr>
              <a:t>in 1 million tweets, 15M tokens, 600k types</a:t>
            </a:r>
          </a:p>
          <a:p>
            <a:pPr lvl="1"/>
            <a:r>
              <a:rPr lang="en-US" dirty="0" smtClean="0">
                <a:sym typeface="Wingdings"/>
              </a:rPr>
              <a:t>in 56 million tweets, 847M tokens, ?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77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many words are there?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Wingdings"/>
              </a:rPr>
              <a:t>how many English words exist?</a:t>
            </a:r>
          </a:p>
          <a:p>
            <a:r>
              <a:rPr lang="en-US" dirty="0" smtClean="0">
                <a:sym typeface="Wingdings"/>
              </a:rPr>
              <a:t>when we increase the size of our corpus, what happens to the number of types?</a:t>
            </a:r>
          </a:p>
          <a:p>
            <a:pPr lvl="1"/>
            <a:r>
              <a:rPr lang="en-US" dirty="0">
                <a:sym typeface="Wingdings"/>
              </a:rPr>
              <a:t>a bit surprising: vocabulary continues to </a:t>
            </a:r>
            <a:r>
              <a:rPr lang="en-US" dirty="0" smtClean="0">
                <a:sym typeface="Wingdings"/>
              </a:rPr>
              <a:t>grow in any actual dataset</a:t>
            </a:r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you’ll just never see all the </a:t>
            </a:r>
            <a:r>
              <a:rPr lang="en-US" dirty="0" smtClean="0">
                <a:sym typeface="Wingdings"/>
              </a:rPr>
              <a:t>words</a:t>
            </a:r>
          </a:p>
          <a:p>
            <a:pPr lvl="1"/>
            <a:r>
              <a:rPr lang="en-US" dirty="0" smtClean="0">
                <a:sym typeface="Wingdings"/>
              </a:rPr>
              <a:t>in 1 million tweets, 15M tokens, 600k types</a:t>
            </a:r>
          </a:p>
          <a:p>
            <a:pPr lvl="1"/>
            <a:r>
              <a:rPr lang="en-US" dirty="0" smtClean="0">
                <a:sym typeface="Wingdings"/>
              </a:rPr>
              <a:t>in 56 million tweets, 847M tokens, 11M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62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are words distributed?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6598"/>
            <a:ext cx="8229600" cy="1300971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288CD2"/>
                </a:solidFill>
                <a:sym typeface="Wingdings"/>
              </a:rPr>
              <a:t>Zipf’s</a:t>
            </a:r>
            <a:r>
              <a:rPr lang="en-US" sz="2800" dirty="0" smtClean="0">
                <a:solidFill>
                  <a:srgbClr val="288CD2"/>
                </a:solidFill>
                <a:sym typeface="Wingdings"/>
              </a:rPr>
              <a:t> law</a:t>
            </a:r>
            <a:r>
              <a:rPr lang="en-US" sz="2800" dirty="0" smtClean="0">
                <a:sym typeface="Wingdings"/>
              </a:rPr>
              <a:t>: frequency of a word is inversely proportional to its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 descr="graph-zip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60" y="1714501"/>
            <a:ext cx="8453240" cy="446684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912771" y="6273794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blog EMIS</a:t>
            </a:r>
          </a:p>
        </p:txBody>
      </p:sp>
    </p:spTree>
    <p:extLst>
      <p:ext uri="{BB962C8B-B14F-4D97-AF65-F5344CB8AC3E}">
        <p14:creationId xmlns:p14="http://schemas.microsoft.com/office/powerpoint/2010/main" val="24932969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are words distributed?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6598"/>
            <a:ext cx="8229600" cy="1300971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288CD2"/>
                </a:solidFill>
                <a:sym typeface="Wingdings"/>
              </a:rPr>
              <a:t>Zipf’s</a:t>
            </a:r>
            <a:r>
              <a:rPr lang="en-US" sz="2800" dirty="0" smtClean="0">
                <a:solidFill>
                  <a:srgbClr val="288CD2"/>
                </a:solidFill>
                <a:sym typeface="Wingdings"/>
              </a:rPr>
              <a:t> law</a:t>
            </a:r>
            <a:r>
              <a:rPr lang="en-US" sz="2800" dirty="0" smtClean="0">
                <a:sym typeface="Wingdings"/>
              </a:rPr>
              <a:t>: frequency of a word is inversely proportional to its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 descr="graph-zip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60" y="1714501"/>
            <a:ext cx="8453240" cy="446684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912771" y="6273794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blog EMIS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7300" y="4147691"/>
            <a:ext cx="2133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“long tail”</a:t>
            </a:r>
          </a:p>
        </p:txBody>
      </p:sp>
    </p:spTree>
    <p:extLst>
      <p:ext uri="{BB962C8B-B14F-4D97-AF65-F5344CB8AC3E}">
        <p14:creationId xmlns:p14="http://schemas.microsoft.com/office/powerpoint/2010/main" val="17848667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Zipf’s</a:t>
            </a:r>
            <a:r>
              <a:rPr lang="en-US" sz="3600" dirty="0" smtClean="0"/>
              <a:t> Law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6929"/>
            <a:ext cx="8229600" cy="5052424"/>
          </a:xfrm>
        </p:spPr>
        <p:txBody>
          <a:bodyPr>
            <a:normAutofit/>
          </a:bodyPr>
          <a:lstStyle/>
          <a:p>
            <a:r>
              <a:rPr lang="en-US" sz="2400" dirty="0" smtClean="0">
                <a:sym typeface="Wingdings"/>
              </a:rPr>
              <a:t>also predicts other kinds of data: population of cities in a country, revenue of different companies, etc.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pic>
        <p:nvPicPr>
          <p:cNvPr id="7" name="Picture 6" descr="feb25-zipfbgrap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80" y="1536700"/>
            <a:ext cx="6872420" cy="516890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7776371" y="570935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 smtClean="0">
                <a:solidFill>
                  <a:srgbClr val="288CD2"/>
                </a:solidFill>
              </a:rPr>
              <a:t>The </a:t>
            </a:r>
            <a:r>
              <a:rPr lang="en-US" sz="1000" dirty="0">
                <a:solidFill>
                  <a:srgbClr val="288CD2"/>
                </a:solidFill>
              </a:rPr>
              <a:t>Laurentian University Sports Analytics </a:t>
            </a:r>
            <a:r>
              <a:rPr lang="en-US" sz="1000" dirty="0" smtClean="0">
                <a:solidFill>
                  <a:srgbClr val="288CD2"/>
                </a:solidFill>
              </a:rPr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42267268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Long Tail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so many word types!</a:t>
            </a:r>
          </a:p>
          <a:p>
            <a:r>
              <a:rPr lang="en-US" dirty="0" smtClean="0"/>
              <a:t>but words have </a:t>
            </a:r>
            <a:r>
              <a:rPr lang="en-US" b="1" dirty="0" smtClean="0"/>
              <a:t>internal structure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3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Morphology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m</a:t>
            </a:r>
            <a:r>
              <a:rPr lang="en-US" dirty="0" smtClean="0">
                <a:solidFill>
                  <a:srgbClr val="288CD2"/>
                </a:solidFill>
              </a:rPr>
              <a:t>orphemes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small meaningful units that make up words</a:t>
            </a:r>
          </a:p>
          <a:p>
            <a:pPr lvl="1"/>
            <a:r>
              <a:rPr lang="en-US" dirty="0" smtClean="0">
                <a:solidFill>
                  <a:srgbClr val="288CD2"/>
                </a:solidFill>
              </a:rPr>
              <a:t>stems</a:t>
            </a:r>
            <a:r>
              <a:rPr lang="en-US" dirty="0"/>
              <a:t>: </a:t>
            </a:r>
            <a:r>
              <a:rPr lang="en-US" dirty="0" smtClean="0"/>
              <a:t>core meaning-bearing </a:t>
            </a:r>
            <a:r>
              <a:rPr lang="en-US" dirty="0"/>
              <a:t>units</a:t>
            </a:r>
          </a:p>
          <a:p>
            <a:pPr lvl="1"/>
            <a:r>
              <a:rPr lang="en-US" dirty="0" smtClean="0">
                <a:solidFill>
                  <a:srgbClr val="288CD2"/>
                </a:solidFill>
              </a:rPr>
              <a:t>affixes</a:t>
            </a:r>
            <a:r>
              <a:rPr lang="en-US" dirty="0"/>
              <a:t>: </a:t>
            </a:r>
            <a:r>
              <a:rPr lang="en-US" dirty="0" smtClean="0"/>
              <a:t>bits </a:t>
            </a:r>
            <a:r>
              <a:rPr lang="en-US" dirty="0"/>
              <a:t>and pieces that adhere to </a:t>
            </a:r>
            <a:r>
              <a:rPr lang="en-US" dirty="0" smtClean="0"/>
              <a:t>stems</a:t>
            </a:r>
          </a:p>
          <a:p>
            <a:pPr lvl="2"/>
            <a:r>
              <a:rPr lang="en-US" sz="2800" dirty="0" smtClean="0"/>
              <a:t>often with grammatical </a:t>
            </a:r>
            <a:r>
              <a:rPr lang="en-US" sz="2800" dirty="0"/>
              <a:t>functions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46557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Kinds of Word Formation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inflection</a:t>
            </a:r>
            <a:r>
              <a:rPr lang="en-US" dirty="0" smtClean="0"/>
              <a:t>: modifying a word with an affix to change its grammatical function (tense, number, etc.)</a:t>
            </a:r>
          </a:p>
          <a:p>
            <a:pPr lvl="1"/>
            <a:r>
              <a:rPr lang="en-US" dirty="0" smtClean="0"/>
              <a:t>result is a “different form of the same word”</a:t>
            </a:r>
          </a:p>
          <a:p>
            <a:pPr lvl="1"/>
            <a:r>
              <a:rPr lang="en-US" dirty="0" smtClean="0"/>
              <a:t>examples: </a:t>
            </a:r>
            <a:r>
              <a:rPr lang="en-US" i="1" dirty="0" smtClean="0"/>
              <a:t>book</a:t>
            </a:r>
            <a:r>
              <a:rPr lang="en-US" dirty="0" smtClean="0"/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books</a:t>
            </a:r>
            <a:r>
              <a:rPr lang="en-US" dirty="0" smtClean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walk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walked</a:t>
            </a:r>
            <a:endParaRPr lang="en-US" i="1" dirty="0" smtClean="0"/>
          </a:p>
          <a:p>
            <a:r>
              <a:rPr lang="en-US" dirty="0" smtClean="0">
                <a:solidFill>
                  <a:srgbClr val="FFFFFF"/>
                </a:solidFill>
              </a:rPr>
              <a:t>derivation: adding an affix to a stem to create a new word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examples: </a:t>
            </a:r>
            <a:r>
              <a:rPr lang="en-US" i="1" dirty="0" smtClean="0">
                <a:solidFill>
                  <a:srgbClr val="FFFFFF"/>
                </a:solidFill>
              </a:rPr>
              <a:t>great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sym typeface="Wingdings"/>
              </a:rPr>
              <a:t>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greatly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,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great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sym typeface="Wingdings"/>
              </a:rPr>
              <a:t>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greatness</a:t>
            </a:r>
          </a:p>
          <a:p>
            <a:r>
              <a:rPr lang="en-US" dirty="0" smtClean="0">
                <a:solidFill>
                  <a:srgbClr val="FFFFFF"/>
                </a:solidFill>
                <a:sym typeface="Wingdings"/>
              </a:rPr>
              <a:t>compounding: combining two stems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  <a:sym typeface="Wingdings"/>
              </a:rPr>
              <a:t>examples: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lawsuit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,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keyboard, bookcase</a:t>
            </a:r>
            <a:endParaRPr lang="en-US" i="1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3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Kinds of Word Formation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inflection</a:t>
            </a:r>
            <a:r>
              <a:rPr lang="en-US" dirty="0" smtClean="0"/>
              <a:t>: modifying a word with an affix to change its grammatical function (tense, number, etc.)</a:t>
            </a:r>
          </a:p>
          <a:p>
            <a:pPr lvl="1"/>
            <a:r>
              <a:rPr lang="en-US" dirty="0" smtClean="0"/>
              <a:t>result is a “different form of the same word”</a:t>
            </a:r>
          </a:p>
          <a:p>
            <a:pPr lvl="1"/>
            <a:r>
              <a:rPr lang="en-US" dirty="0" smtClean="0"/>
              <a:t>examples: </a:t>
            </a:r>
            <a:r>
              <a:rPr lang="en-US" i="1" dirty="0" smtClean="0"/>
              <a:t>book</a:t>
            </a:r>
            <a:r>
              <a:rPr lang="en-US" dirty="0" smtClean="0"/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books</a:t>
            </a:r>
            <a:r>
              <a:rPr lang="en-US" dirty="0" smtClean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walk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walked</a:t>
            </a:r>
            <a:endParaRPr lang="en-US" i="1" dirty="0" smtClean="0"/>
          </a:p>
          <a:p>
            <a:r>
              <a:rPr lang="en-US" dirty="0" smtClean="0">
                <a:solidFill>
                  <a:srgbClr val="288CD2"/>
                </a:solidFill>
              </a:rPr>
              <a:t>derivation</a:t>
            </a:r>
            <a:r>
              <a:rPr lang="en-US" dirty="0" smtClean="0"/>
              <a:t>: adding an affix to a stem to create a new word</a:t>
            </a:r>
          </a:p>
          <a:p>
            <a:pPr lvl="1"/>
            <a:r>
              <a:rPr lang="en-US" dirty="0" smtClean="0"/>
              <a:t>examples: </a:t>
            </a:r>
            <a:r>
              <a:rPr lang="en-US" i="1" dirty="0" smtClean="0"/>
              <a:t>great</a:t>
            </a:r>
            <a:r>
              <a:rPr lang="en-US" dirty="0" smtClean="0"/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greatly</a:t>
            </a:r>
            <a:r>
              <a:rPr lang="en-US" dirty="0" smtClean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great</a:t>
            </a:r>
            <a:r>
              <a:rPr lang="en-US" dirty="0" smtClean="0">
                <a:sym typeface="Wingdings"/>
              </a:rPr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greatness</a:t>
            </a:r>
          </a:p>
          <a:p>
            <a:r>
              <a:rPr lang="en-US" dirty="0" smtClean="0">
                <a:solidFill>
                  <a:srgbClr val="FFFFFF"/>
                </a:solidFill>
                <a:sym typeface="Wingdings"/>
              </a:rPr>
              <a:t>compounding: combining two stems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  <a:sym typeface="Wingdings"/>
              </a:rPr>
              <a:t>examples: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lawsuit</a:t>
            </a:r>
            <a:r>
              <a:rPr lang="en-US" dirty="0" smtClean="0">
                <a:solidFill>
                  <a:srgbClr val="FFFFFF"/>
                </a:solidFill>
                <a:sym typeface="Wingdings"/>
              </a:rPr>
              <a:t>, </a:t>
            </a:r>
            <a:r>
              <a:rPr lang="en-US" i="1" dirty="0" smtClean="0">
                <a:solidFill>
                  <a:srgbClr val="FFFFFF"/>
                </a:solidFill>
                <a:sym typeface="Wingdings"/>
              </a:rPr>
              <a:t>keyboard, bookcase</a:t>
            </a:r>
            <a:endParaRPr lang="en-US" i="1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9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Kinds of Word Formation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inflection</a:t>
            </a:r>
            <a:r>
              <a:rPr lang="en-US" dirty="0" smtClean="0"/>
              <a:t>: modifying a word with an affix to change its grammatical function (tense, number, etc.)</a:t>
            </a:r>
          </a:p>
          <a:p>
            <a:pPr lvl="1"/>
            <a:r>
              <a:rPr lang="en-US" dirty="0" smtClean="0"/>
              <a:t>result is a “different form of the same word”</a:t>
            </a:r>
          </a:p>
          <a:p>
            <a:pPr lvl="1"/>
            <a:r>
              <a:rPr lang="en-US" dirty="0" smtClean="0"/>
              <a:t>examples: </a:t>
            </a:r>
            <a:r>
              <a:rPr lang="en-US" i="1" dirty="0" smtClean="0"/>
              <a:t>book</a:t>
            </a:r>
            <a:r>
              <a:rPr lang="en-US" dirty="0" smtClean="0"/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books</a:t>
            </a:r>
            <a:r>
              <a:rPr lang="en-US" dirty="0" smtClean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walk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walked</a:t>
            </a:r>
            <a:endParaRPr lang="en-US" i="1" dirty="0" smtClean="0"/>
          </a:p>
          <a:p>
            <a:r>
              <a:rPr lang="en-US" dirty="0" smtClean="0">
                <a:solidFill>
                  <a:srgbClr val="288CD2"/>
                </a:solidFill>
              </a:rPr>
              <a:t>derivation</a:t>
            </a:r>
            <a:r>
              <a:rPr lang="en-US" dirty="0" smtClean="0"/>
              <a:t>: adding an affix to a stem to create a new word</a:t>
            </a:r>
          </a:p>
          <a:p>
            <a:pPr lvl="1"/>
            <a:r>
              <a:rPr lang="en-US" dirty="0" smtClean="0"/>
              <a:t>examples: </a:t>
            </a:r>
            <a:r>
              <a:rPr lang="en-US" i="1" dirty="0" smtClean="0"/>
              <a:t>great</a:t>
            </a:r>
            <a:r>
              <a:rPr lang="en-US" dirty="0" smtClean="0"/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greatly</a:t>
            </a:r>
            <a:r>
              <a:rPr lang="en-US" dirty="0" smtClean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great</a:t>
            </a:r>
            <a:r>
              <a:rPr lang="en-US" dirty="0" smtClean="0">
                <a:sym typeface="Wingdings"/>
              </a:rPr>
              <a:t> </a:t>
            </a:r>
            <a:r>
              <a:rPr lang="en-US" sz="20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greatness</a:t>
            </a:r>
          </a:p>
          <a:p>
            <a:r>
              <a:rPr lang="en-US" dirty="0" smtClean="0">
                <a:solidFill>
                  <a:srgbClr val="288CD2"/>
                </a:solidFill>
                <a:sym typeface="Wingdings"/>
              </a:rPr>
              <a:t>compounding</a:t>
            </a:r>
            <a:r>
              <a:rPr lang="en-US" dirty="0" smtClean="0">
                <a:sym typeface="Wingdings"/>
              </a:rPr>
              <a:t>: combining two stems</a:t>
            </a:r>
          </a:p>
          <a:p>
            <a:pPr lvl="1"/>
            <a:r>
              <a:rPr lang="en-US" dirty="0" smtClean="0">
                <a:sym typeface="Wingdings"/>
              </a:rPr>
              <a:t>examples: </a:t>
            </a:r>
            <a:r>
              <a:rPr lang="en-US" i="1" dirty="0" smtClean="0">
                <a:sym typeface="Wingdings"/>
              </a:rPr>
              <a:t>lawsuit</a:t>
            </a:r>
            <a:r>
              <a:rPr lang="en-US" dirty="0" smtClean="0">
                <a:sym typeface="Wingdings"/>
              </a:rPr>
              <a:t>, </a:t>
            </a:r>
            <a:r>
              <a:rPr lang="en-US" i="1" dirty="0" smtClean="0">
                <a:sym typeface="Wingdings"/>
              </a:rPr>
              <a:t>keyboard, bookcase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374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usually, morphological derivation is simply splitting a word into its morphemes:</a:t>
            </a:r>
          </a:p>
          <a:p>
            <a:pPr lvl="1"/>
            <a:r>
              <a:rPr lang="en-US" dirty="0" smtClean="0"/>
              <a:t>walked = walk + </a:t>
            </a:r>
            <a:r>
              <a:rPr lang="en-US" dirty="0" err="1" smtClean="0"/>
              <a:t>ed</a:t>
            </a:r>
            <a:endParaRPr lang="en-US" dirty="0" smtClean="0"/>
          </a:p>
          <a:p>
            <a:pPr lvl="1"/>
            <a:r>
              <a:rPr lang="en-US" dirty="0" smtClean="0"/>
              <a:t>greatness = great + ness</a:t>
            </a:r>
          </a:p>
          <a:p>
            <a:r>
              <a:rPr lang="en-US" dirty="0" smtClean="0"/>
              <a:t>but it can actually be a hierarchical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732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ambiguity in hierarchical morphological decomposition?</a:t>
            </a:r>
          </a:p>
          <a:p>
            <a:pPr lvl="1"/>
            <a:r>
              <a:rPr lang="en-US" dirty="0" smtClean="0"/>
              <a:t>rare, but it does happen</a:t>
            </a:r>
          </a:p>
          <a:p>
            <a:pPr lvl="1"/>
            <a:r>
              <a:rPr lang="en-US" dirty="0" err="1" smtClean="0">
                <a:solidFill>
                  <a:schemeClr val="bg1"/>
                </a:solidFill>
              </a:rPr>
              <a:t>unlockable</a:t>
            </a:r>
            <a:r>
              <a:rPr lang="en-US" dirty="0" smtClean="0">
                <a:solidFill>
                  <a:schemeClr val="bg1"/>
                </a:solidFill>
              </a:rPr>
              <a:t> = un + lock + able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what does this word mean?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un+lock</a:t>
            </a:r>
            <a:r>
              <a:rPr lang="en-US" dirty="0" smtClean="0">
                <a:solidFill>
                  <a:schemeClr val="bg1"/>
                </a:solidFill>
              </a:rPr>
              <a:t>)+able: “able to be unlocked”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un+(</a:t>
            </a:r>
            <a:r>
              <a:rPr lang="en-US" dirty="0" err="1" smtClean="0">
                <a:solidFill>
                  <a:schemeClr val="bg1"/>
                </a:solidFill>
              </a:rPr>
              <a:t>lock+able</a:t>
            </a:r>
            <a:r>
              <a:rPr lang="en-US" dirty="0" smtClean="0">
                <a:solidFill>
                  <a:schemeClr val="bg1"/>
                </a:solidFill>
              </a:rPr>
              <a:t>): “unable to be locked”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65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ambiguity in hierarchical morphological decomposition?</a:t>
            </a:r>
          </a:p>
          <a:p>
            <a:pPr lvl="1"/>
            <a:r>
              <a:rPr lang="en-US" dirty="0" smtClean="0"/>
              <a:t>rare, but it does happen</a:t>
            </a:r>
          </a:p>
          <a:p>
            <a:pPr lvl="1"/>
            <a:r>
              <a:rPr lang="en-US" dirty="0" err="1" smtClean="0"/>
              <a:t>unlockable</a:t>
            </a:r>
            <a:r>
              <a:rPr lang="en-US" dirty="0" smtClean="0"/>
              <a:t> = un + lock + able</a:t>
            </a:r>
          </a:p>
          <a:p>
            <a:pPr lvl="2"/>
            <a:r>
              <a:rPr lang="en-US" dirty="0" smtClean="0"/>
              <a:t>what does this word mean?</a:t>
            </a:r>
          </a:p>
          <a:p>
            <a:pPr lvl="2"/>
            <a:r>
              <a:rPr lang="en-US" dirty="0" smtClean="0">
                <a:solidFill>
                  <a:srgbClr val="FFFFFF"/>
                </a:solidFill>
              </a:rPr>
              <a:t>(</a:t>
            </a:r>
            <a:r>
              <a:rPr lang="en-US" dirty="0" err="1" smtClean="0">
                <a:solidFill>
                  <a:srgbClr val="FFFFFF"/>
                </a:solidFill>
              </a:rPr>
              <a:t>un+lock</a:t>
            </a:r>
            <a:r>
              <a:rPr lang="en-US" dirty="0" smtClean="0">
                <a:solidFill>
                  <a:srgbClr val="FFFFFF"/>
                </a:solidFill>
              </a:rPr>
              <a:t>)+able: “able to be unlocked”</a:t>
            </a:r>
          </a:p>
          <a:p>
            <a:pPr lvl="2"/>
            <a:r>
              <a:rPr lang="en-US" dirty="0" smtClean="0">
                <a:solidFill>
                  <a:srgbClr val="FFFFFF"/>
                </a:solidFill>
              </a:rPr>
              <a:t>un+(</a:t>
            </a:r>
            <a:r>
              <a:rPr lang="en-US" dirty="0" err="1" smtClean="0">
                <a:solidFill>
                  <a:srgbClr val="FFFFFF"/>
                </a:solidFill>
              </a:rPr>
              <a:t>lock+able</a:t>
            </a:r>
            <a:r>
              <a:rPr lang="en-US" dirty="0" smtClean="0">
                <a:solidFill>
                  <a:srgbClr val="FFFFFF"/>
                </a:solidFill>
              </a:rPr>
              <a:t>): “unable to be locked”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008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ambiguity in hierarchical morphological decomposition?</a:t>
            </a:r>
          </a:p>
          <a:p>
            <a:pPr lvl="1"/>
            <a:r>
              <a:rPr lang="en-US" dirty="0" smtClean="0"/>
              <a:t>rare, but it does happen</a:t>
            </a:r>
          </a:p>
          <a:p>
            <a:pPr lvl="1"/>
            <a:r>
              <a:rPr lang="en-US" dirty="0" err="1" smtClean="0"/>
              <a:t>unlockable</a:t>
            </a:r>
            <a:r>
              <a:rPr lang="en-US" dirty="0" smtClean="0"/>
              <a:t> = un + lock + able</a:t>
            </a:r>
          </a:p>
          <a:p>
            <a:pPr lvl="2"/>
            <a:r>
              <a:rPr lang="en-US" dirty="0" smtClean="0"/>
              <a:t>what does this word mean?</a:t>
            </a:r>
          </a:p>
          <a:p>
            <a:pPr lvl="2"/>
            <a:r>
              <a:rPr lang="en-US" dirty="0" smtClean="0"/>
              <a:t>(</a:t>
            </a:r>
            <a:r>
              <a:rPr lang="en-US" dirty="0" err="1" smtClean="0"/>
              <a:t>un+lock</a:t>
            </a:r>
            <a:r>
              <a:rPr lang="en-US" dirty="0" smtClean="0"/>
              <a:t>)+able: “able to be unlocked”</a:t>
            </a:r>
          </a:p>
          <a:p>
            <a:pPr lvl="2"/>
            <a:r>
              <a:rPr lang="en-US" dirty="0" smtClean="0"/>
              <a:t>un+(</a:t>
            </a:r>
            <a:r>
              <a:rPr lang="en-US" dirty="0" err="1" smtClean="0"/>
              <a:t>lock+able</a:t>
            </a:r>
            <a:r>
              <a:rPr lang="en-US" dirty="0" smtClean="0"/>
              <a:t>): “unable to be locked”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54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Morphology in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common tasks:</a:t>
            </a:r>
          </a:p>
          <a:p>
            <a:pPr lvl="1"/>
            <a:r>
              <a:rPr lang="en-US" dirty="0" smtClean="0"/>
              <a:t>lemmatization</a:t>
            </a:r>
          </a:p>
          <a:p>
            <a:pPr lvl="1"/>
            <a:r>
              <a:rPr lang="en-US" dirty="0" smtClean="0"/>
              <a:t>stemming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497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Lemmatization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1"/>
            <a:ext cx="8686800" cy="526097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lemmatization</a:t>
            </a:r>
            <a:r>
              <a:rPr lang="en-US" dirty="0" smtClean="0"/>
              <a:t>: </a:t>
            </a:r>
            <a:r>
              <a:rPr lang="en-US" dirty="0"/>
              <a:t>r</a:t>
            </a:r>
            <a:r>
              <a:rPr lang="en-US" dirty="0" smtClean="0"/>
              <a:t>educe inflections or variant </a:t>
            </a:r>
            <a:r>
              <a:rPr lang="en-US" dirty="0"/>
              <a:t>forms to base form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sz="2400" i="1" dirty="0" smtClean="0"/>
              <a:t>am</a:t>
            </a:r>
            <a:r>
              <a:rPr lang="en-US" sz="2400" i="1" dirty="0"/>
              <a:t>, are,</a:t>
            </a:r>
            <a:r>
              <a:rPr lang="en-US" sz="2400" dirty="0"/>
              <a:t> </a:t>
            </a:r>
            <a:r>
              <a:rPr lang="en-US" sz="2400" i="1" dirty="0"/>
              <a:t>is </a:t>
            </a:r>
            <a:r>
              <a:rPr lang="en-US" sz="2400" dirty="0">
                <a:sym typeface="Symbol" charset="2"/>
              </a:rPr>
              <a:t></a:t>
            </a:r>
            <a:r>
              <a:rPr lang="en-US" sz="2400" dirty="0"/>
              <a:t> </a:t>
            </a:r>
            <a:r>
              <a:rPr lang="en-US" sz="2400" i="1" dirty="0"/>
              <a:t>be</a:t>
            </a:r>
            <a:endParaRPr lang="en-US" sz="2400" dirty="0"/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sz="2400" i="1" dirty="0"/>
              <a:t>car, cars, car's</a:t>
            </a:r>
            <a:r>
              <a:rPr lang="en-US" sz="2400" dirty="0"/>
              <a:t>, </a:t>
            </a:r>
            <a:r>
              <a:rPr lang="en-US" sz="2400" i="1" dirty="0"/>
              <a:t>cars'</a:t>
            </a:r>
            <a:r>
              <a:rPr lang="en-US" sz="2400" dirty="0"/>
              <a:t> </a:t>
            </a:r>
            <a:r>
              <a:rPr lang="en-US" sz="2400" dirty="0">
                <a:sym typeface="Symbol" charset="2"/>
              </a:rPr>
              <a:t></a:t>
            </a:r>
            <a:r>
              <a:rPr lang="en-US" sz="2400" dirty="0"/>
              <a:t> </a:t>
            </a:r>
            <a:r>
              <a:rPr lang="en-US" sz="2400" i="1" dirty="0"/>
              <a:t>car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i="1" dirty="0"/>
              <a:t>the boy's cars are different colors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</a:t>
            </a:r>
            <a:r>
              <a:rPr lang="en-US" dirty="0"/>
              <a:t> </a:t>
            </a:r>
            <a:r>
              <a:rPr lang="en-US" i="1" dirty="0"/>
              <a:t>the boy car be different color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dirty="0" smtClean="0"/>
              <a:t>have to find correct dictionary </a:t>
            </a:r>
            <a:r>
              <a:rPr lang="en-US" dirty="0"/>
              <a:t>headword </a:t>
            </a:r>
            <a:r>
              <a:rPr lang="en-US" dirty="0" smtClean="0"/>
              <a:t>form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e.g., for machine translation: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Spanish </a:t>
            </a:r>
            <a:r>
              <a:rPr lang="en-US" i="1" dirty="0" err="1" smtClean="0">
                <a:solidFill>
                  <a:srgbClr val="A50021"/>
                </a:solidFill>
              </a:rPr>
              <a:t>quiero</a:t>
            </a:r>
            <a:r>
              <a:rPr lang="en-US" dirty="0" smtClean="0"/>
              <a:t> </a:t>
            </a:r>
            <a:r>
              <a:rPr lang="en-US" dirty="0"/>
              <a:t>(‘I want’</a:t>
            </a:r>
            <a:r>
              <a:rPr lang="en-US" dirty="0" smtClean="0"/>
              <a:t>), </a:t>
            </a:r>
            <a:r>
              <a:rPr lang="en-US" i="1" dirty="0" err="1" smtClean="0">
                <a:solidFill>
                  <a:srgbClr val="A50021"/>
                </a:solidFill>
              </a:rPr>
              <a:t>quieres</a:t>
            </a:r>
            <a:r>
              <a:rPr lang="en-US" dirty="0" smtClean="0"/>
              <a:t> </a:t>
            </a:r>
            <a:r>
              <a:rPr lang="en-US" dirty="0"/>
              <a:t>(‘you want’) </a:t>
            </a:r>
            <a:r>
              <a:rPr lang="en-US" dirty="0" smtClean="0"/>
              <a:t>same lemma as </a:t>
            </a:r>
            <a:r>
              <a:rPr lang="en-US" i="1" dirty="0" err="1" smtClean="0">
                <a:solidFill>
                  <a:srgbClr val="A50021"/>
                </a:solidFill>
              </a:rPr>
              <a:t>querer</a:t>
            </a:r>
            <a:r>
              <a:rPr lang="en-US" dirty="0" smtClean="0"/>
              <a:t> </a:t>
            </a:r>
            <a:r>
              <a:rPr lang="en-US" dirty="0"/>
              <a:t>‘want’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11041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Stemming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288CD2"/>
                </a:solidFill>
              </a:rPr>
              <a:t>stemming</a:t>
            </a:r>
            <a:r>
              <a:rPr lang="en-US" b="1" dirty="0" smtClean="0"/>
              <a:t>: </a:t>
            </a:r>
            <a:r>
              <a:rPr lang="en-US" dirty="0" smtClean="0"/>
              <a:t>reduces words to their stems via crude chopping of affixes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lang="en-US" i="1" dirty="0"/>
              <a:t>automate(s), automatic, automation</a:t>
            </a:r>
            <a:r>
              <a:rPr lang="en-US" dirty="0"/>
              <a:t> all reduced to </a:t>
            </a:r>
            <a:r>
              <a:rPr lang="en-US" i="1" dirty="0"/>
              <a:t>automat</a:t>
            </a:r>
            <a:endParaRPr lang="en-US" dirty="0"/>
          </a:p>
          <a:p>
            <a:pPr lvl="1" eaLnBrk="1" hangingPunct="1"/>
            <a:r>
              <a:rPr lang="en-US" dirty="0" smtClean="0"/>
              <a:t>language </a:t>
            </a:r>
            <a:r>
              <a:rPr lang="en-US" dirty="0"/>
              <a:t>dependent</a:t>
            </a:r>
          </a:p>
          <a:p>
            <a:pPr lvl="1"/>
            <a:r>
              <a:rPr lang="en-US" dirty="0" smtClean="0"/>
              <a:t>key </a:t>
            </a:r>
            <a:r>
              <a:rPr lang="en-US" dirty="0"/>
              <a:t>step in information retrieval</a:t>
            </a:r>
          </a:p>
          <a:p>
            <a:pPr lvl="1" eaLnBrk="1" hangingPunct="1"/>
            <a:endParaRPr lang="en-US" dirty="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777875" y="1671640"/>
            <a:ext cx="184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81000" y="4647853"/>
            <a:ext cx="3581400" cy="138499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for example compressed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and compression are both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accepted as equivalent to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compress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5000627" y="4572000"/>
            <a:ext cx="3609975" cy="1524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exampl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compress and</a:t>
            </a:r>
          </a:p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compress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ar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both accept</a:t>
            </a:r>
          </a:p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equival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to compress</a:t>
            </a: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3962401" y="5105402"/>
            <a:ext cx="1038226" cy="485775"/>
          </a:xfrm>
          <a:prstGeom prst="rightArrow">
            <a:avLst>
              <a:gd name="adj1" fmla="val 50000"/>
              <a:gd name="adj2" fmla="val 6160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333627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/>
      <p:bldP spid="38918" grpId="0" animBg="1"/>
      <p:bldP spid="389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1398"/>
            <a:ext cx="8229600" cy="132720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Porter’s </a:t>
            </a:r>
            <a:r>
              <a:rPr lang="en-US" dirty="0" smtClean="0"/>
              <a:t>algorithm</a:t>
            </a:r>
            <a:br>
              <a:rPr lang="en-US" dirty="0" smtClean="0"/>
            </a:br>
            <a:r>
              <a:rPr lang="en-US" dirty="0" smtClean="0"/>
              <a:t>The most common English stemmer</a:t>
            </a:r>
            <a:endParaRPr 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-76200" y="1803400"/>
            <a:ext cx="4876800" cy="4445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   Step 1a</a:t>
            </a:r>
          </a:p>
          <a:p>
            <a:pPr marL="457200" lvl="1" indent="0">
              <a:buNone/>
            </a:pPr>
            <a:r>
              <a:rPr lang="en-US" sz="1600" dirty="0" err="1" smtClean="0">
                <a:latin typeface="Courier"/>
                <a:cs typeface="Courier"/>
              </a:rPr>
              <a:t>sses</a:t>
            </a:r>
            <a:r>
              <a:rPr lang="en-US" sz="1600" dirty="0" smtClean="0">
                <a:latin typeface="Courier"/>
                <a:cs typeface="Courier"/>
              </a:rPr>
              <a:t> 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caresses  caress</a:t>
            </a:r>
          </a:p>
          <a:p>
            <a:pPr marL="457200" lvl="1" indent="0">
              <a:buNone/>
            </a:pPr>
            <a:r>
              <a:rPr lang="en-US" sz="1600" dirty="0" err="1" smtClean="0">
                <a:latin typeface="Courier"/>
                <a:cs typeface="Courier"/>
              </a:rPr>
              <a:t>ies</a:t>
            </a:r>
            <a:r>
              <a:rPr lang="en-US" sz="1600" dirty="0" smtClean="0">
                <a:latin typeface="Courier"/>
                <a:cs typeface="Courier"/>
              </a:rPr>
              <a:t>  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i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ponies    </a:t>
            </a:r>
            <a:r>
              <a:rPr lang="en-US" sz="1600" dirty="0" err="1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</a:t>
            </a:r>
            <a:endParaRPr lang="en-US" sz="1600" dirty="0" smtClean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None/>
            </a:pP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    </a:t>
            </a: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    caress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s     </a:t>
            </a:r>
            <a:r>
              <a:rPr lang="en-US" sz="1600" dirty="0" err="1" smtClean="0">
                <a:sym typeface="Symbol" charset="2"/>
              </a:rPr>
              <a:t>ø</a:t>
            </a:r>
            <a:r>
              <a:rPr lang="en-US" sz="1600" dirty="0" smtClean="0">
                <a:sym typeface="Symbol" charset="2"/>
              </a:rPr>
              <a:t> 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cats       cat</a:t>
            </a:r>
          </a:p>
          <a:p>
            <a:pPr marL="0" indent="0">
              <a:buNone/>
            </a:pPr>
            <a:r>
              <a:rPr lang="en-US" sz="2000" dirty="0" smtClean="0">
                <a:latin typeface="Calibri"/>
                <a:cs typeface="Calibri"/>
                <a:sym typeface="Symbol" charset="2"/>
              </a:rPr>
              <a:t>  Step 1b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(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*v*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)</a:t>
            </a: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ing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sing       sing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ed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plastered  plaster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…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endParaRPr lang="en-US" sz="2200" dirty="0">
              <a:latin typeface="Courier"/>
              <a:cs typeface="Courier"/>
              <a:sym typeface="Symbol" charset="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67200" y="1905000"/>
            <a:ext cx="4876800" cy="4445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000" dirty="0" smtClean="0"/>
              <a:t>   Step 2 (for long stems)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 smtClean="0">
                <a:latin typeface="Courier"/>
                <a:cs typeface="Courier"/>
              </a:rPr>
              <a:t>ational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 ate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relational relate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 smtClean="0">
                <a:latin typeface="Courier"/>
                <a:cs typeface="Courier"/>
              </a:rPr>
              <a:t>izer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ize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	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digitizer  digitize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 smtClean="0">
                <a:latin typeface="Courier"/>
                <a:cs typeface="Courier"/>
                <a:sym typeface="Symbol" charset="2"/>
              </a:rPr>
              <a:t>ator</a:t>
            </a:r>
            <a:r>
              <a:rPr lang="en-US" sz="1600" dirty="0" smtClean="0">
                <a:latin typeface="Courier"/>
                <a:cs typeface="Courier"/>
                <a:sym typeface="Symbol" charset="2"/>
              </a:rPr>
              <a:t> ate	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operator   operate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…</a:t>
            </a:r>
            <a:endParaRPr lang="en-US" sz="1600" dirty="0" smtClean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0" indent="0">
              <a:buFont typeface="Times" charset="0"/>
              <a:buNone/>
            </a:pPr>
            <a:r>
              <a:rPr lang="en-US" sz="2000" dirty="0" smtClean="0">
                <a:latin typeface="Calibri"/>
                <a:cs typeface="Calibri"/>
                <a:sym typeface="Symbol" charset="2"/>
              </a:rPr>
              <a:t>    Step 3 (for longer stems)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al     </a:t>
            </a:r>
            <a:r>
              <a:rPr lang="en-US" sz="1600" dirty="0" err="1" smtClean="0">
                <a:sym typeface="Symbol" charset="2"/>
              </a:rPr>
              <a:t>ø</a:t>
            </a:r>
            <a:r>
              <a:rPr lang="en-US" sz="1600" dirty="0" smtClean="0">
                <a:sym typeface="Symbol" charset="2"/>
              </a:rPr>
              <a:t>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revival     </a:t>
            </a:r>
            <a:r>
              <a:rPr lang="en-US" sz="1600" dirty="0" err="1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</a:t>
            </a:r>
            <a:endParaRPr lang="en-US" sz="1600" dirty="0" smtClean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Font typeface="Times" charset="0"/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able   </a:t>
            </a:r>
            <a:r>
              <a:rPr lang="en-US" sz="1600" dirty="0" err="1" smtClean="0">
                <a:sym typeface="Symbol" charset="2"/>
              </a:rPr>
              <a:t>ø</a:t>
            </a:r>
            <a:r>
              <a:rPr lang="en-US" sz="1600" dirty="0" smtClean="0">
                <a:sym typeface="Symbol" charset="2"/>
              </a:rPr>
              <a:t>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adjustable  adjust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ate   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ø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activate    </a:t>
            </a:r>
            <a:r>
              <a:rPr lang="en-US" sz="1600" dirty="0" err="1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</a:t>
            </a:r>
            <a:endParaRPr lang="en-US" sz="1600" dirty="0" smtClean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None/>
            </a:pPr>
            <a:r>
              <a:rPr lang="en-US" sz="1600" dirty="0" smtClean="0">
                <a:latin typeface="Courier"/>
                <a:cs typeface="Courier"/>
                <a:sym typeface="Symbol" charset="2"/>
              </a:rPr>
              <a:t>…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endParaRPr lang="en-US" sz="2200" dirty="0">
              <a:latin typeface="Courier"/>
              <a:cs typeface="Courier"/>
              <a:sym typeface="Symbol" charset="2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42575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403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Viewing morphology in a corpus</a:t>
            </a:r>
            <a:br>
              <a:rPr lang="en-US" dirty="0" smtClean="0"/>
            </a:br>
            <a:r>
              <a:rPr lang="en-US" dirty="0" smtClean="0"/>
              <a:t>Why only strip –</a:t>
            </a:r>
            <a:r>
              <a:rPr lang="en-US" dirty="0" err="1" smtClean="0"/>
              <a:t>ing</a:t>
            </a:r>
            <a:r>
              <a:rPr lang="en-US" dirty="0" smtClean="0"/>
              <a:t> if there is a vowel?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22600"/>
            <a:ext cx="8077200" cy="1016000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28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28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28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2800" dirty="0" err="1">
                <a:sym typeface="Symbol" charset="2"/>
              </a:rPr>
              <a:t>ø</a:t>
            </a:r>
            <a:r>
              <a:rPr lang="en-US" sz="2800" dirty="0">
                <a:sym typeface="Symbol" charset="2"/>
              </a:rPr>
              <a:t>  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sing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7253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Viewing morphology in a corpus</a:t>
            </a:r>
            <a:br>
              <a:rPr lang="en-US" dirty="0" smtClean="0"/>
            </a:br>
            <a:r>
              <a:rPr lang="en-US" dirty="0" smtClean="0"/>
              <a:t>Why only strip –</a:t>
            </a:r>
            <a:r>
              <a:rPr lang="en-US" dirty="0" err="1" smtClean="0"/>
              <a:t>ing</a:t>
            </a:r>
            <a:r>
              <a:rPr lang="en-US" dirty="0" smtClean="0"/>
              <a:t> if there is a vowel?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8077200" cy="10160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sing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6000" y="3022600"/>
            <a:ext cx="9108001" cy="3657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400" dirty="0" err="1" smtClean="0">
                <a:latin typeface="Courier"/>
                <a:cs typeface="Courier"/>
              </a:rPr>
              <a:t>tr</a:t>
            </a:r>
            <a:r>
              <a:rPr lang="en-US" sz="1400" dirty="0" smtClean="0">
                <a:latin typeface="Courier"/>
                <a:cs typeface="Courier"/>
              </a:rPr>
              <a:t> </a:t>
            </a:r>
            <a:r>
              <a:rPr lang="en-US" sz="1400" dirty="0">
                <a:latin typeface="Courier"/>
                <a:cs typeface="Courier"/>
              </a:rPr>
              <a:t>-</a:t>
            </a:r>
            <a:r>
              <a:rPr lang="en-US" sz="1400" dirty="0" err="1">
                <a:latin typeface="Courier"/>
                <a:cs typeface="Courier"/>
              </a:rPr>
              <a:t>sc</a:t>
            </a:r>
            <a:r>
              <a:rPr lang="en-US" sz="1400" dirty="0">
                <a:latin typeface="Courier"/>
                <a:cs typeface="Courier"/>
              </a:rPr>
              <a:t> 'A-</a:t>
            </a:r>
            <a:r>
              <a:rPr lang="en-US" sz="1400" dirty="0" err="1">
                <a:latin typeface="Courier"/>
                <a:cs typeface="Courier"/>
              </a:rPr>
              <a:t>Za</a:t>
            </a:r>
            <a:r>
              <a:rPr lang="en-US" sz="1400" dirty="0">
                <a:latin typeface="Courier"/>
                <a:cs typeface="Courier"/>
              </a:rPr>
              <a:t>-z' '\n' &lt; </a:t>
            </a:r>
            <a:r>
              <a:rPr lang="en-US" sz="1400" dirty="0" err="1" smtClean="0">
                <a:latin typeface="Courier"/>
                <a:cs typeface="Courier"/>
              </a:rPr>
              <a:t>shakes.txt</a:t>
            </a:r>
            <a:r>
              <a:rPr lang="en-US" sz="1400" dirty="0" smtClean="0">
                <a:latin typeface="Courier"/>
                <a:cs typeface="Courier"/>
              </a:rPr>
              <a:t> | </a:t>
            </a:r>
            <a:r>
              <a:rPr lang="en-US" sz="1400" dirty="0" err="1">
                <a:latin typeface="Courier"/>
                <a:cs typeface="Courier"/>
              </a:rPr>
              <a:t>grep</a:t>
            </a:r>
            <a:r>
              <a:rPr lang="en-US" sz="1400" dirty="0">
                <a:latin typeface="Courier"/>
                <a:cs typeface="Courier"/>
              </a:rPr>
              <a:t> </a:t>
            </a:r>
            <a:r>
              <a:rPr lang="en-US" sz="1400" dirty="0" smtClean="0">
                <a:latin typeface="Courier"/>
                <a:cs typeface="Courier"/>
              </a:rPr>
              <a:t>’</a:t>
            </a:r>
            <a:r>
              <a:rPr lang="en-US" sz="1400" dirty="0" err="1" smtClean="0">
                <a:latin typeface="Courier"/>
                <a:cs typeface="Courier"/>
              </a:rPr>
              <a:t>ing</a:t>
            </a:r>
            <a:r>
              <a:rPr lang="en-US" sz="1400" dirty="0">
                <a:latin typeface="Courier"/>
                <a:cs typeface="Courier"/>
              </a:rPr>
              <a:t>$' | sort | </a:t>
            </a:r>
            <a:r>
              <a:rPr lang="en-US" sz="1400" dirty="0" err="1">
                <a:latin typeface="Courier"/>
                <a:cs typeface="Courier"/>
              </a:rPr>
              <a:t>uniq</a:t>
            </a:r>
            <a:r>
              <a:rPr lang="en-US" sz="1400" dirty="0">
                <a:latin typeface="Courier"/>
                <a:cs typeface="Courier"/>
              </a:rPr>
              <a:t> -c | sort </a:t>
            </a:r>
            <a:r>
              <a:rPr lang="en-US" sz="1400" dirty="0" smtClean="0">
                <a:latin typeface="Courier"/>
                <a:cs typeface="Courier"/>
              </a:rPr>
              <a:t>–nr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 smtClean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 smtClean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 smtClean="0">
              <a:solidFill>
                <a:schemeClr val="accent5">
                  <a:lumMod val="60000"/>
                  <a:lumOff val="40000"/>
                </a:schemeClr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 smtClean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 smtClean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350" dirty="0" err="1" smtClean="0">
                <a:latin typeface="Courier"/>
                <a:cs typeface="Courier"/>
              </a:rPr>
              <a:t>tr</a:t>
            </a:r>
            <a:r>
              <a:rPr lang="en-US" sz="1350" dirty="0" smtClean="0">
                <a:latin typeface="Courier"/>
                <a:cs typeface="Courier"/>
              </a:rPr>
              <a:t> </a:t>
            </a:r>
            <a:r>
              <a:rPr lang="en-US" sz="1350" dirty="0">
                <a:latin typeface="Courier"/>
                <a:cs typeface="Courier"/>
              </a:rPr>
              <a:t>-</a:t>
            </a:r>
            <a:r>
              <a:rPr lang="en-US" sz="1350" dirty="0" err="1">
                <a:latin typeface="Courier"/>
                <a:cs typeface="Courier"/>
              </a:rPr>
              <a:t>sc</a:t>
            </a:r>
            <a:r>
              <a:rPr lang="en-US" sz="1350" dirty="0">
                <a:latin typeface="Courier"/>
                <a:cs typeface="Courier"/>
              </a:rPr>
              <a:t> 'A-</a:t>
            </a:r>
            <a:r>
              <a:rPr lang="en-US" sz="1350" dirty="0" err="1">
                <a:latin typeface="Courier"/>
                <a:cs typeface="Courier"/>
              </a:rPr>
              <a:t>Za</a:t>
            </a:r>
            <a:r>
              <a:rPr lang="en-US" sz="1350" dirty="0">
                <a:latin typeface="Courier"/>
                <a:cs typeface="Courier"/>
              </a:rPr>
              <a:t>-z' '\n' &lt; </a:t>
            </a:r>
            <a:r>
              <a:rPr lang="en-US" sz="1350" dirty="0" err="1" smtClean="0">
                <a:latin typeface="Courier"/>
                <a:cs typeface="Courier"/>
              </a:rPr>
              <a:t>shakes.txt</a:t>
            </a:r>
            <a:r>
              <a:rPr lang="en-US" sz="1350" dirty="0" smtClean="0">
                <a:latin typeface="Courier"/>
                <a:cs typeface="Courier"/>
              </a:rPr>
              <a:t> | </a:t>
            </a:r>
            <a:r>
              <a:rPr lang="en-US" sz="1350" dirty="0" err="1" smtClean="0">
                <a:latin typeface="Courier"/>
                <a:cs typeface="Courier"/>
              </a:rPr>
              <a:t>grep</a:t>
            </a:r>
            <a:r>
              <a:rPr lang="en-US" sz="1350" dirty="0" smtClean="0">
                <a:latin typeface="Courier"/>
                <a:cs typeface="Courier"/>
              </a:rPr>
              <a:t> </a:t>
            </a:r>
            <a:r>
              <a:rPr lang="en-US" sz="1350" dirty="0">
                <a:latin typeface="Courier"/>
                <a:cs typeface="Courier"/>
              </a:rPr>
              <a:t>'[</a:t>
            </a:r>
            <a:r>
              <a:rPr lang="en-US" sz="1350" dirty="0" err="1">
                <a:latin typeface="Courier"/>
                <a:cs typeface="Courier"/>
              </a:rPr>
              <a:t>aeiou</a:t>
            </a:r>
            <a:r>
              <a:rPr lang="en-US" sz="1350" dirty="0" smtClean="0">
                <a:latin typeface="Courier"/>
                <a:cs typeface="Courier"/>
              </a:rPr>
              <a:t>].*</a:t>
            </a:r>
            <a:r>
              <a:rPr lang="en-US" sz="1350" dirty="0" err="1" smtClean="0">
                <a:latin typeface="Courier"/>
                <a:cs typeface="Courier"/>
              </a:rPr>
              <a:t>ing</a:t>
            </a:r>
            <a:r>
              <a:rPr lang="en-US" sz="1350" dirty="0">
                <a:latin typeface="Courier"/>
                <a:cs typeface="Courier"/>
              </a:rPr>
              <a:t>$' | sort | </a:t>
            </a:r>
            <a:r>
              <a:rPr lang="en-US" sz="1350" dirty="0" err="1">
                <a:latin typeface="Courier"/>
                <a:cs typeface="Courier"/>
              </a:rPr>
              <a:t>uniq</a:t>
            </a:r>
            <a:r>
              <a:rPr lang="en-US" sz="1350" dirty="0">
                <a:latin typeface="Courier"/>
                <a:cs typeface="Courier"/>
              </a:rPr>
              <a:t> -c | sort </a:t>
            </a:r>
            <a:r>
              <a:rPr lang="en-US" sz="1350" dirty="0" smtClean="0">
                <a:latin typeface="Courier"/>
                <a:cs typeface="Courier"/>
              </a:rPr>
              <a:t>–nr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600" y="3429000"/>
            <a:ext cx="1385190" cy="1757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548 being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solidFill>
                  <a:srgbClr val="A6A6A6"/>
                </a:solidFill>
                <a:latin typeface="Courier"/>
                <a:cs typeface="Courier"/>
              </a:rPr>
              <a:t>541 </a:t>
            </a:r>
            <a:r>
              <a:rPr lang="en-US" sz="1200" dirty="0">
                <a:solidFill>
                  <a:srgbClr val="A6A6A6"/>
                </a:solidFill>
                <a:latin typeface="Courier"/>
                <a:cs typeface="Courier"/>
              </a:rPr>
              <a:t>nothing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solidFill>
                  <a:srgbClr val="A6A6A6"/>
                </a:solidFill>
                <a:latin typeface="Courier"/>
                <a:cs typeface="Courier"/>
              </a:rPr>
              <a:t>152 </a:t>
            </a:r>
            <a:r>
              <a:rPr lang="en-US" sz="1200" dirty="0">
                <a:solidFill>
                  <a:srgbClr val="A6A6A6"/>
                </a:solidFill>
                <a:latin typeface="Courier"/>
                <a:cs typeface="Courier"/>
              </a:rPr>
              <a:t>something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latin typeface="Courier"/>
                <a:cs typeface="Courier"/>
              </a:rPr>
              <a:t>145 </a:t>
            </a:r>
            <a:r>
              <a:rPr lang="en-US" sz="1200" dirty="0">
                <a:latin typeface="Courier"/>
                <a:cs typeface="Courier"/>
              </a:rPr>
              <a:t>coming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solidFill>
                  <a:srgbClr val="A6A6A6"/>
                </a:solidFill>
                <a:latin typeface="Courier"/>
                <a:cs typeface="Courier"/>
              </a:rPr>
              <a:t>130 </a:t>
            </a:r>
            <a:r>
              <a:rPr lang="en-US" sz="1200" dirty="0">
                <a:solidFill>
                  <a:srgbClr val="A6A6A6"/>
                </a:solidFill>
                <a:latin typeface="Courier"/>
                <a:cs typeface="Courier"/>
              </a:rPr>
              <a:t>morning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latin typeface="Courier"/>
                <a:cs typeface="Courier"/>
              </a:rPr>
              <a:t>122 </a:t>
            </a:r>
            <a:r>
              <a:rPr lang="en-US" sz="1200" dirty="0">
                <a:latin typeface="Courier"/>
                <a:cs typeface="Courier"/>
              </a:rPr>
              <a:t>having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latin typeface="Courier"/>
                <a:cs typeface="Courier"/>
              </a:rPr>
              <a:t>120 </a:t>
            </a:r>
            <a:r>
              <a:rPr lang="en-US" sz="1200" dirty="0">
                <a:latin typeface="Courier"/>
                <a:cs typeface="Courier"/>
              </a:rPr>
              <a:t>living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latin typeface="Courier"/>
                <a:cs typeface="Courier"/>
              </a:rPr>
              <a:t>117 </a:t>
            </a:r>
            <a:r>
              <a:rPr lang="en-US" sz="1200" dirty="0">
                <a:latin typeface="Courier"/>
                <a:cs typeface="Courier"/>
              </a:rPr>
              <a:t>loving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latin typeface="Courier"/>
                <a:cs typeface="Courier"/>
              </a:rPr>
              <a:t>116 </a:t>
            </a:r>
            <a:r>
              <a:rPr lang="en-US" sz="1200" dirty="0">
                <a:latin typeface="Courier"/>
                <a:cs typeface="Courier"/>
              </a:rPr>
              <a:t>Being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 smtClean="0">
                <a:latin typeface="Courier"/>
                <a:cs typeface="Courier"/>
              </a:rPr>
              <a:t>102 going</a:t>
            </a:r>
            <a:endParaRPr lang="en-US" sz="1200" dirty="0">
              <a:latin typeface="Courier"/>
              <a:cs typeface="Couri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1479892" cy="1757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1312 King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 548 being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7CD7CF"/>
                </a:solidFill>
                <a:latin typeface="Courier"/>
                <a:cs typeface="Courier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541 nothing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388 king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375 bring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358 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307 ring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152 something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 145 coming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130 morning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814471" y="5949946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12146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1398"/>
            <a:ext cx="8229600" cy="1301802"/>
          </a:xfrm>
        </p:spPr>
        <p:txBody>
          <a:bodyPr>
            <a:normAutofit fontScale="90000"/>
          </a:bodyPr>
          <a:lstStyle/>
          <a:p>
            <a:r>
              <a:rPr lang="en-US" dirty="0"/>
              <a:t>Dealing with complex morphology is sometimes necessary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686800" cy="4445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smtClean="0"/>
              <a:t>Some languages </a:t>
            </a:r>
            <a:r>
              <a:rPr lang="en-US" sz="2800" dirty="0"/>
              <a:t>requires </a:t>
            </a:r>
            <a:r>
              <a:rPr lang="en-US" sz="2800" dirty="0" smtClean="0"/>
              <a:t>complex morpheme segmentation</a:t>
            </a:r>
            <a:endParaRPr lang="en-US" sz="2800" dirty="0"/>
          </a:p>
          <a:p>
            <a:pPr lvl="1"/>
            <a:r>
              <a:rPr lang="en-US" sz="2400" dirty="0"/>
              <a:t>Turkish</a:t>
            </a:r>
          </a:p>
          <a:p>
            <a:pPr lvl="1"/>
            <a:r>
              <a:rPr lang="en-US" sz="2400" i="1" dirty="0" err="1" smtClean="0">
                <a:solidFill>
                  <a:srgbClr val="000000"/>
                </a:solidFill>
              </a:rPr>
              <a:t>Uygarlastiramadiklarimizdanmissinizcasina</a:t>
            </a:r>
            <a:r>
              <a:rPr lang="en-US" sz="2400" dirty="0" smtClean="0">
                <a:solidFill>
                  <a:srgbClr val="000000"/>
                </a:solidFill>
              </a:rPr>
              <a:t>:</a:t>
            </a:r>
            <a:r>
              <a:rPr lang="en-US" sz="2400" i="1" dirty="0" smtClean="0">
                <a:solidFill>
                  <a:srgbClr val="000000"/>
                </a:solidFill>
              </a:rPr>
              <a:t> </a:t>
            </a:r>
            <a:r>
              <a:rPr lang="en-US" sz="2400" dirty="0" smtClean="0"/>
              <a:t>“(</a:t>
            </a:r>
            <a:r>
              <a:rPr lang="en-US" sz="2400" dirty="0"/>
              <a:t>behaving) as if you are among those whom we could not </a:t>
            </a:r>
            <a:r>
              <a:rPr lang="en-US" sz="2400" dirty="0" smtClean="0"/>
              <a:t>civilize”</a:t>
            </a:r>
            <a:endParaRPr lang="en-US" sz="2400" dirty="0"/>
          </a:p>
          <a:p>
            <a:pPr lvl="1"/>
            <a:r>
              <a:rPr lang="en-US" sz="2400" dirty="0" err="1">
                <a:solidFill>
                  <a:srgbClr val="FF0000"/>
                </a:solidFill>
              </a:rPr>
              <a:t>Uygar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`civilized’ + </a:t>
            </a:r>
            <a:r>
              <a:rPr lang="en-US" sz="2400" dirty="0" err="1">
                <a:solidFill>
                  <a:srgbClr val="FF0000"/>
                </a:solidFill>
              </a:rPr>
              <a:t>las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`become’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tir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`cause’ + </a:t>
            </a:r>
            <a:r>
              <a:rPr lang="en-US" sz="2000" dirty="0" err="1">
                <a:solidFill>
                  <a:srgbClr val="FF0000"/>
                </a:solidFill>
              </a:rPr>
              <a:t>ama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`not able’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dik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`past’ + </a:t>
            </a:r>
            <a:r>
              <a:rPr lang="en-US" sz="2000" dirty="0" err="1">
                <a:solidFill>
                  <a:srgbClr val="FF0000"/>
                </a:solidFill>
              </a:rPr>
              <a:t>lar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‘plural’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imiz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‘p1pl’ + </a:t>
            </a:r>
            <a:r>
              <a:rPr lang="en-US" sz="2000" dirty="0" err="1">
                <a:solidFill>
                  <a:srgbClr val="FF0000"/>
                </a:solidFill>
              </a:rPr>
              <a:t>dan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</a:t>
            </a:r>
            <a:r>
              <a:rPr lang="en-US" sz="2000" dirty="0" err="1"/>
              <a:t>abl</a:t>
            </a:r>
            <a:r>
              <a:rPr lang="en-US" sz="2000" dirty="0"/>
              <a:t>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mis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‘past’ + </a:t>
            </a:r>
            <a:r>
              <a:rPr lang="en-US" sz="2000" dirty="0" err="1">
                <a:solidFill>
                  <a:srgbClr val="FF0000"/>
                </a:solidFill>
              </a:rPr>
              <a:t>siniz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‘2pl’ + </a:t>
            </a:r>
            <a:r>
              <a:rPr lang="en-US" sz="2000" dirty="0" err="1">
                <a:solidFill>
                  <a:srgbClr val="FF0000"/>
                </a:solidFill>
              </a:rPr>
              <a:t>casina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‘as if’ 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5949946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6138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Terminology: </a:t>
            </a:r>
            <a:r>
              <a:rPr lang="en-US" dirty="0" smtClean="0">
                <a:solidFill>
                  <a:srgbClr val="288CD2"/>
                </a:solidFill>
              </a:rPr>
              <a:t>lemma</a:t>
            </a:r>
            <a:r>
              <a:rPr lang="en-US" dirty="0" smtClean="0"/>
              <a:t> and </a:t>
            </a:r>
            <a:r>
              <a:rPr lang="en-US" dirty="0" err="1" smtClean="0">
                <a:solidFill>
                  <a:srgbClr val="288CD2"/>
                </a:solidFill>
              </a:rPr>
              <a:t>wordform</a:t>
            </a:r>
            <a:endParaRPr lang="en-US" dirty="0">
              <a:solidFill>
                <a:srgbClr val="288CD2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70000"/>
            <a:ext cx="8534400" cy="530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>
                <a:solidFill>
                  <a:srgbClr val="288CD2"/>
                </a:solidFill>
              </a:rPr>
              <a:t>lemma </a:t>
            </a:r>
            <a:r>
              <a:rPr lang="en-US" sz="2800" dirty="0"/>
              <a:t>or </a:t>
            </a:r>
            <a:r>
              <a:rPr lang="en-US" sz="2800" dirty="0">
                <a:solidFill>
                  <a:srgbClr val="288CD2"/>
                </a:solidFill>
              </a:rPr>
              <a:t>citation </a:t>
            </a:r>
            <a:r>
              <a:rPr lang="en-US" sz="2800" dirty="0" smtClean="0">
                <a:solidFill>
                  <a:srgbClr val="288CD2"/>
                </a:solidFill>
              </a:rPr>
              <a:t>form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same </a:t>
            </a:r>
            <a:r>
              <a:rPr lang="en-US" dirty="0"/>
              <a:t>stem, part of speech, rough </a:t>
            </a:r>
            <a:r>
              <a:rPr lang="en-US" dirty="0" smtClean="0"/>
              <a:t>semantics</a:t>
            </a:r>
          </a:p>
          <a:p>
            <a:pPr>
              <a:lnSpc>
                <a:spcPct val="90000"/>
              </a:lnSpc>
            </a:pPr>
            <a:r>
              <a:rPr lang="en-US" sz="2800" dirty="0" err="1" smtClean="0">
                <a:solidFill>
                  <a:srgbClr val="288CD2"/>
                </a:solidFill>
              </a:rPr>
              <a:t>wordform</a:t>
            </a:r>
            <a:endParaRPr lang="en-US" sz="2400" dirty="0">
              <a:solidFill>
                <a:srgbClr val="288CD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/>
              <a:t>inflected word as it appears in text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558401"/>
              </p:ext>
            </p:extLst>
          </p:nvPr>
        </p:nvGraphicFramePr>
        <p:xfrm>
          <a:off x="2438400" y="3441701"/>
          <a:ext cx="4267200" cy="224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56083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err="1" smtClean="0"/>
                        <a:t>wordform</a:t>
                      </a:r>
                      <a:endParaRPr lang="en-US" sz="32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smtClean="0"/>
                        <a:t>lemma</a:t>
                      </a:r>
                      <a:endParaRPr lang="en-US" sz="3200" dirty="0"/>
                    </a:p>
                  </a:txBody>
                  <a:tcPr marT="60960" marB="60960"/>
                </a:tc>
              </a:tr>
              <a:tr h="56083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smtClean="0"/>
                        <a:t>banks</a:t>
                      </a:r>
                      <a:endParaRPr lang="en-US" sz="32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smtClean="0"/>
                        <a:t>bank</a:t>
                      </a:r>
                      <a:endParaRPr lang="en-US" sz="3200" dirty="0"/>
                    </a:p>
                  </a:txBody>
                  <a:tcPr marT="60960" marB="60960"/>
                </a:tc>
              </a:tr>
              <a:tr h="56083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smtClean="0"/>
                        <a:t>sung</a:t>
                      </a:r>
                      <a:endParaRPr lang="en-US" sz="32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smtClean="0"/>
                        <a:t>sing</a:t>
                      </a:r>
                      <a:endParaRPr lang="en-US" sz="3200" dirty="0"/>
                    </a:p>
                  </a:txBody>
                  <a:tcPr marT="60960" marB="60960"/>
                </a:tc>
              </a:tr>
              <a:tr h="56083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err="1" smtClean="0"/>
                        <a:t>duermes</a:t>
                      </a:r>
                      <a:endParaRPr lang="en-US" sz="32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3200" dirty="0" err="1" smtClean="0"/>
                        <a:t>dormir</a:t>
                      </a:r>
                      <a:endParaRPr lang="en-US" sz="3200" dirty="0"/>
                    </a:p>
                  </a:txBody>
                  <a:tcPr marT="60960" marB="60960"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87505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43390</TotalTime>
  <Words>3773</Words>
  <Application>Microsoft Macintosh PowerPoint</Application>
  <PresentationFormat>On-screen Show (4:3)</PresentationFormat>
  <Paragraphs>810</Paragraphs>
  <Slides>76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Calibri</vt:lpstr>
      <vt:lpstr>Courier</vt:lpstr>
      <vt:lpstr>ＭＳ Ｐゴシック</vt:lpstr>
      <vt:lpstr>Symbol</vt:lpstr>
      <vt:lpstr>Times</vt:lpstr>
      <vt:lpstr>Wingdings</vt:lpstr>
      <vt:lpstr>华文黑体</vt:lpstr>
      <vt:lpstr>Arial</vt:lpstr>
      <vt:lpstr>Office Theme</vt:lpstr>
      <vt:lpstr>TTIC 31190: Natural Language Processing</vt:lpstr>
      <vt:lpstr>PowerPoint Presentation</vt:lpstr>
      <vt:lpstr>Today</vt:lpstr>
      <vt:lpstr>Empirical Risk Minimization with Surrogate Loss Functions</vt:lpstr>
      <vt:lpstr>Empirical Risk Minimization with Surrogate Loss Functions</vt:lpstr>
      <vt:lpstr>Cost Functions</vt:lpstr>
      <vt:lpstr>Surrogate Loss Functions</vt:lpstr>
      <vt:lpstr>Visualization</vt:lpstr>
      <vt:lpstr>Visualization</vt:lpstr>
      <vt:lpstr>Visualization</vt:lpstr>
      <vt:lpstr>Visualization</vt:lpstr>
      <vt:lpstr>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Subgradients of Loss Functions</vt:lpstr>
      <vt:lpstr>Subgradient Examples</vt:lpstr>
      <vt:lpstr>Subgradient Examples</vt:lpstr>
      <vt:lpstr>Subgradient Examples</vt:lpstr>
      <vt:lpstr>Subgradients of Loss Functions</vt:lpstr>
      <vt:lpstr>Subgradients of Loss Functions</vt:lpstr>
      <vt:lpstr>Subgradients of Loss Functions</vt:lpstr>
      <vt:lpstr>Subgradients of Loss Functions</vt:lpstr>
      <vt:lpstr>Roadmap</vt:lpstr>
      <vt:lpstr>Words</vt:lpstr>
      <vt:lpstr>What is a word?</vt:lpstr>
      <vt:lpstr>Tokenization</vt:lpstr>
      <vt:lpstr>Tokenization</vt:lpstr>
      <vt:lpstr>Intricacies of Tokenization</vt:lpstr>
      <vt:lpstr>Intricacies of Tokenization</vt:lpstr>
      <vt:lpstr>Intricacies of Tokenization</vt:lpstr>
      <vt:lpstr>PowerPoint Presentation</vt:lpstr>
      <vt:lpstr>Word Segmentation in Chinese</vt:lpstr>
      <vt:lpstr>Maximum Matching Word Segmentation Algorithm</vt:lpstr>
      <vt:lpstr>Maximum Matching Examples</vt:lpstr>
      <vt:lpstr>Effect on Machine Translation</vt:lpstr>
      <vt:lpstr>Removing Spaces?</vt:lpstr>
      <vt:lpstr>Removing Spaces?</vt:lpstr>
      <vt:lpstr>Types and Tokens</vt:lpstr>
      <vt:lpstr>Types and Tokens</vt:lpstr>
      <vt:lpstr>Types and Tokens</vt:lpstr>
      <vt:lpstr>Types and Tokens</vt:lpstr>
      <vt:lpstr>How many words are there?</vt:lpstr>
      <vt:lpstr>How many words are there?</vt:lpstr>
      <vt:lpstr>How many words are there?</vt:lpstr>
      <vt:lpstr>How are words distributed?</vt:lpstr>
      <vt:lpstr>How are words distributed?</vt:lpstr>
      <vt:lpstr>Zipf’s Law</vt:lpstr>
      <vt:lpstr>The Long Tail</vt:lpstr>
      <vt:lpstr>Morphology</vt:lpstr>
      <vt:lpstr>Kinds of Word Formation</vt:lpstr>
      <vt:lpstr>Kinds of Word Formation</vt:lpstr>
      <vt:lpstr>Kinds of Word Formation</vt:lpstr>
      <vt:lpstr>Morphology</vt:lpstr>
      <vt:lpstr>Morphology</vt:lpstr>
      <vt:lpstr>Morphology</vt:lpstr>
      <vt:lpstr>Morphology</vt:lpstr>
      <vt:lpstr>Morphology in NLP</vt:lpstr>
      <vt:lpstr>Lemmatization</vt:lpstr>
      <vt:lpstr>Stemming</vt:lpstr>
      <vt:lpstr>Porter’s algorithm The most common English stemmer</vt:lpstr>
      <vt:lpstr>Viewing morphology in a corpus Why only strip –ing if there is a vowel?</vt:lpstr>
      <vt:lpstr>Viewing morphology in a corpus Why only strip –ing if there is a vowel?</vt:lpstr>
      <vt:lpstr>Dealing with complex morphology is sometimes necessary</vt:lpstr>
      <vt:lpstr>Terminology: lemma and wordform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899</cp:revision>
  <dcterms:created xsi:type="dcterms:W3CDTF">2015-08-31T18:15:35Z</dcterms:created>
  <dcterms:modified xsi:type="dcterms:W3CDTF">2016-01-13T00:34:08Z</dcterms:modified>
</cp:coreProperties>
</file>