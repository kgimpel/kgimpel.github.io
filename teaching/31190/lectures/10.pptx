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1213" r:id="rId3"/>
    <p:sldId id="1209" r:id="rId4"/>
    <p:sldId id="1278" r:id="rId5"/>
    <p:sldId id="1227" r:id="rId6"/>
    <p:sldId id="1285" r:id="rId7"/>
    <p:sldId id="1286" r:id="rId8"/>
    <p:sldId id="1279" r:id="rId9"/>
    <p:sldId id="1280" r:id="rId10"/>
    <p:sldId id="1281" r:id="rId11"/>
    <p:sldId id="1287" r:id="rId12"/>
    <p:sldId id="1282" r:id="rId13"/>
    <p:sldId id="1288" r:id="rId14"/>
    <p:sldId id="1283" r:id="rId15"/>
    <p:sldId id="1290" r:id="rId16"/>
    <p:sldId id="1292" r:id="rId17"/>
    <p:sldId id="1293" r:id="rId18"/>
    <p:sldId id="1289" r:id="rId19"/>
    <p:sldId id="1294" r:id="rId20"/>
    <p:sldId id="1299" r:id="rId21"/>
    <p:sldId id="1300" r:id="rId22"/>
    <p:sldId id="1302" r:id="rId23"/>
    <p:sldId id="1296" r:id="rId24"/>
    <p:sldId id="1251" r:id="rId25"/>
    <p:sldId id="1254" r:id="rId26"/>
    <p:sldId id="1252" r:id="rId27"/>
    <p:sldId id="1253" r:id="rId28"/>
    <p:sldId id="1255" r:id="rId29"/>
    <p:sldId id="1256" r:id="rId30"/>
    <p:sldId id="1308" r:id="rId31"/>
    <p:sldId id="1303" r:id="rId32"/>
    <p:sldId id="1306" r:id="rId33"/>
    <p:sldId id="1307" r:id="rId34"/>
    <p:sldId id="1309" r:id="rId35"/>
    <p:sldId id="1310" r:id="rId36"/>
    <p:sldId id="1311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B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3"/>
    <p:restoredTop sz="96422" autoAdjust="0"/>
  </p:normalViewPr>
  <p:slideViewPr>
    <p:cSldViewPr snapToGrid="0" snapToObjects="1">
      <p:cViewPr>
        <p:scale>
          <a:sx n="125" d="100"/>
          <a:sy n="125" d="100"/>
        </p:scale>
        <p:origin x="3752" y="13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2/4/16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2/4/16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2/4/16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2/4/16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2/4/16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2/4/16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2/4/16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2/4/16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2/4/16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2/4/16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2/4/16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2/4/16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2/4/16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2/4/16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8.emf"/><Relationship Id="rId5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png"/><Relationship Id="rId5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4" Type="http://schemas.openxmlformats.org/officeDocument/2006/relationships/image" Target="../media/image9.emf"/><Relationship Id="rId5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4" Type="http://schemas.openxmlformats.org/officeDocument/2006/relationships/image" Target="../media/image3.emf"/><Relationship Id="rId5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4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4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4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4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Relationship Id="rId3" Type="http://schemas.openxmlformats.org/officeDocument/2006/relationships/image" Target="../media/image21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4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4" Type="http://schemas.openxmlformats.org/officeDocument/2006/relationships/image" Target="../media/image28.emf"/><Relationship Id="rId5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4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3" Type="http://schemas.openxmlformats.org/officeDocument/2006/relationships/image" Target="../media/image21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4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4" Type="http://schemas.openxmlformats.org/officeDocument/2006/relationships/image" Target="../media/image35.emf"/><Relationship Id="rId5" Type="http://schemas.openxmlformats.org/officeDocument/2006/relationships/image" Target="../media/image36.emf"/><Relationship Id="rId6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4" Type="http://schemas.openxmlformats.org/officeDocument/2006/relationships/image" Target="../media/image35.emf"/><Relationship Id="rId5" Type="http://schemas.openxmlformats.org/officeDocument/2006/relationships/image" Target="../media/image36.emf"/><Relationship Id="rId6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4" Type="http://schemas.openxmlformats.org/officeDocument/2006/relationships/image" Target="../media/image35.emf"/><Relationship Id="rId5" Type="http://schemas.openxmlformats.org/officeDocument/2006/relationships/image" Target="../media/image36.emf"/><Relationship Id="rId6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4" Type="http://schemas.openxmlformats.org/officeDocument/2006/relationships/image" Target="../media/image3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4" Type="http://schemas.openxmlformats.org/officeDocument/2006/relationships/image" Target="../media/image3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4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emf"/><Relationship Id="rId3" Type="http://schemas.openxmlformats.org/officeDocument/2006/relationships/image" Target="../media/image40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/>
          <a:lstStyle/>
          <a:p>
            <a:r>
              <a:rPr lang="en-US" dirty="0" smtClean="0"/>
              <a:t>TTIC 31190:</a:t>
            </a:r>
            <a:br>
              <a:rPr lang="en-US" dirty="0" smtClean="0"/>
            </a:br>
            <a:r>
              <a:rPr lang="en-US" dirty="0" smtClean="0"/>
              <a:t>Natural Language Processing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900"/>
            <a:ext cx="6400800" cy="3403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Winter 2016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10: 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Neural Networks for NLP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Announcements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Assignment 2 due Friday</a:t>
            </a:r>
          </a:p>
          <a:p>
            <a:endParaRPr lang="en-US" dirty="0" smtClean="0"/>
          </a:p>
          <a:p>
            <a:r>
              <a:rPr lang="en-US" dirty="0" smtClean="0"/>
              <a:t>project proposal due Tuesday, Feb. 16</a:t>
            </a:r>
          </a:p>
          <a:p>
            <a:endParaRPr lang="en-US" dirty="0" smtClean="0"/>
          </a:p>
          <a:p>
            <a:r>
              <a:rPr lang="en-US" dirty="0"/>
              <a:t>m</a:t>
            </a:r>
            <a:r>
              <a:rPr lang="en-US" dirty="0" smtClean="0"/>
              <a:t>idterm on Thursday, Feb. 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1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 smtClean="0"/>
              <a:t>classification</a:t>
            </a:r>
          </a:p>
          <a:p>
            <a:r>
              <a:rPr lang="en-US" sz="2400" dirty="0" smtClean="0"/>
              <a:t>words</a:t>
            </a:r>
          </a:p>
          <a:p>
            <a:r>
              <a:rPr lang="en-US" sz="2400" dirty="0" smtClean="0"/>
              <a:t>lexical semantics</a:t>
            </a:r>
          </a:p>
          <a:p>
            <a:r>
              <a:rPr lang="en-US" sz="2400" dirty="0" smtClean="0"/>
              <a:t>language modeling</a:t>
            </a:r>
          </a:p>
          <a:p>
            <a:r>
              <a:rPr lang="en-US" sz="2400" dirty="0" smtClean="0"/>
              <a:t>sequence labeling</a:t>
            </a:r>
          </a:p>
          <a:p>
            <a:r>
              <a:rPr lang="en-US" sz="2400" dirty="0" smtClean="0">
                <a:solidFill>
                  <a:srgbClr val="288CD2"/>
                </a:solidFill>
              </a:rPr>
              <a:t>neural network methods in NLP</a:t>
            </a:r>
          </a:p>
          <a:p>
            <a:r>
              <a:rPr lang="en-US" sz="2400" dirty="0"/>
              <a:t>syntax and syntactic parsing</a:t>
            </a:r>
          </a:p>
          <a:p>
            <a:r>
              <a:rPr lang="en-US" sz="2400" dirty="0" smtClean="0"/>
              <a:t>semantic compositionality</a:t>
            </a:r>
          </a:p>
          <a:p>
            <a:r>
              <a:rPr lang="en-US" sz="2400" dirty="0" smtClean="0"/>
              <a:t>semantic parsing</a:t>
            </a:r>
          </a:p>
          <a:p>
            <a:r>
              <a:rPr lang="en-US" sz="2400" dirty="0" smtClean="0"/>
              <a:t>unsupervised learning</a:t>
            </a:r>
          </a:p>
          <a:p>
            <a:r>
              <a:rPr lang="en-US" sz="2400" dirty="0" smtClean="0"/>
              <a:t>machine translation and other applications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78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a neural network?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just think of a neural network as a function</a:t>
            </a:r>
          </a:p>
          <a:p>
            <a:r>
              <a:rPr lang="en-US" dirty="0" smtClean="0"/>
              <a:t>it has inputs and outputs</a:t>
            </a:r>
          </a:p>
          <a:p>
            <a:r>
              <a:rPr lang="en-US" dirty="0" smtClean="0"/>
              <a:t>the term “neural” typically means a particular type of functional building block (“neural layers”), but the term has expanded to mean many things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1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Classifier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2190"/>
            <a:ext cx="8463280" cy="3200400"/>
          </a:xfrm>
        </p:spPr>
        <p:txBody>
          <a:bodyPr>
            <a:normAutofit/>
          </a:bodyPr>
          <a:lstStyle/>
          <a:p>
            <a:r>
              <a:rPr lang="en-US" dirty="0" smtClean="0"/>
              <a:t>linear model score function: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we can also use a neural network for the score function!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959" y="3129280"/>
            <a:ext cx="4319725" cy="7531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1150620"/>
            <a:ext cx="57531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02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288CD2"/>
                </a:solidFill>
              </a:rPr>
              <a:t>neural layer </a:t>
            </a:r>
            <a:r>
              <a:rPr lang="en-US" sz="3200" dirty="0" smtClean="0"/>
              <a:t>= affine transform + nonlinearity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3040"/>
            <a:ext cx="8229600" cy="2123124"/>
          </a:xfrm>
        </p:spPr>
        <p:txBody>
          <a:bodyPr/>
          <a:lstStyle/>
          <a:p>
            <a:r>
              <a:rPr lang="en-US" dirty="0" smtClean="0"/>
              <a:t>this is a single “layer” of a neural network</a:t>
            </a:r>
          </a:p>
          <a:p>
            <a:r>
              <a:rPr lang="en-US" dirty="0" smtClean="0"/>
              <a:t>input vector is </a:t>
            </a:r>
          </a:p>
          <a:p>
            <a:r>
              <a:rPr lang="en-US" dirty="0" smtClean="0"/>
              <a:t>vector of “hidden units” is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610" y="1827064"/>
            <a:ext cx="4178300" cy="749300"/>
          </a:xfrm>
          <a:prstGeom prst="rect">
            <a:avLst/>
          </a:prstGeom>
        </p:spPr>
      </p:pic>
      <p:sp>
        <p:nvSpPr>
          <p:cNvPr id="6" name="Left Brace 5"/>
          <p:cNvSpPr/>
          <p:nvPr/>
        </p:nvSpPr>
        <p:spPr>
          <a:xfrm rot="16200000">
            <a:off x="4716780" y="1776263"/>
            <a:ext cx="467360" cy="2189480"/>
          </a:xfrm>
          <a:prstGeom prst="leftBrace">
            <a:avLst>
              <a:gd name="adj1" fmla="val 64855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165600" y="3220720"/>
            <a:ext cx="1701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affine transform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818640" y="2989352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nonlinearity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160" y="5233670"/>
            <a:ext cx="609600" cy="3937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870" y="4830922"/>
            <a:ext cx="241300" cy="203200"/>
          </a:xfrm>
          <a:prstGeom prst="rect">
            <a:avLst/>
          </a:prstGeom>
        </p:spPr>
      </p:pic>
      <p:cxnSp>
        <p:nvCxnSpPr>
          <p:cNvPr id="13" name="Straight Arrow Connector 12"/>
          <p:cNvCxnSpPr>
            <a:stCxn id="8" idx="0"/>
          </p:cNvCxnSpPr>
          <p:nvPr/>
        </p:nvCxnSpPr>
        <p:spPr>
          <a:xfrm flipV="1">
            <a:off x="2477635" y="2397761"/>
            <a:ext cx="763405" cy="59159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4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Nonlinearities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15360"/>
            <a:ext cx="8229600" cy="2610804"/>
          </a:xfrm>
        </p:spPr>
        <p:txBody>
          <a:bodyPr/>
          <a:lstStyle/>
          <a:p>
            <a:r>
              <a:rPr lang="en-US" dirty="0" smtClean="0"/>
              <a:t>most common: </a:t>
            </a:r>
            <a:r>
              <a:rPr lang="en-US" dirty="0" err="1" smtClean="0"/>
              <a:t>elementwise</a:t>
            </a:r>
            <a:r>
              <a:rPr lang="en-US" dirty="0" smtClean="0"/>
              <a:t> application of </a:t>
            </a:r>
            <a:r>
              <a:rPr lang="en-US" i="1" dirty="0" smtClean="0"/>
              <a:t>g</a:t>
            </a:r>
            <a:r>
              <a:rPr lang="en-US" dirty="0" smtClean="0"/>
              <a:t> function to each entry in vector</a:t>
            </a:r>
          </a:p>
          <a:p>
            <a:r>
              <a:rPr lang="en-US" dirty="0" smtClean="0"/>
              <a:t>examples</a:t>
            </a:r>
            <a:r>
              <a:rPr lang="is-IS" dirty="0" smtClean="0"/>
              <a:t>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899" y="1706880"/>
            <a:ext cx="4848479" cy="869484"/>
          </a:xfrm>
          <a:prstGeom prst="rect">
            <a:avLst/>
          </a:prstGeom>
        </p:spPr>
      </p:pic>
      <p:sp>
        <p:nvSpPr>
          <p:cNvPr id="6" name="Frame 5"/>
          <p:cNvSpPr/>
          <p:nvPr/>
        </p:nvSpPr>
        <p:spPr>
          <a:xfrm>
            <a:off x="3667760" y="1706880"/>
            <a:ext cx="467360" cy="86948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22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" y="1587500"/>
            <a:ext cx="8051800" cy="4076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20" y="3530600"/>
            <a:ext cx="215900" cy="190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415290"/>
            <a:ext cx="2057400" cy="4191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760" y="1289050"/>
            <a:ext cx="203200" cy="2667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21360" y="1717040"/>
            <a:ext cx="1016000" cy="12903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589177" y="341650"/>
            <a:ext cx="946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/>
              <a:t>tanh</a:t>
            </a:r>
            <a:r>
              <a:rPr lang="en-US" sz="2800" dirty="0" smtClean="0"/>
              <a:t>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9774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" y="5207000"/>
            <a:ext cx="215900" cy="190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760" y="1431290"/>
            <a:ext cx="203200" cy="2667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" y="1744980"/>
            <a:ext cx="8178800" cy="4140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21360" y="1940560"/>
            <a:ext cx="1016000" cy="12903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6289" y="146050"/>
            <a:ext cx="3073400" cy="939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1360" y="311170"/>
            <a:ext cx="2827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(logistic</a:t>
            </a:r>
            <a:r>
              <a:rPr lang="en-US" sz="2800" smtClean="0"/>
              <a:t>) sigmoid: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69608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95"/>
          <a:stretch/>
        </p:blipFill>
        <p:spPr>
          <a:xfrm>
            <a:off x="850900" y="1595119"/>
            <a:ext cx="7424928" cy="51263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379095"/>
            <a:ext cx="2387600" cy="419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360" y="311170"/>
            <a:ext cx="4103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rectified linear unit (</a:t>
            </a:r>
            <a:r>
              <a:rPr lang="en-US" sz="2800" dirty="0" err="1" smtClean="0"/>
              <a:t>ReLU</a:t>
            </a:r>
            <a:r>
              <a:rPr lang="en-US" sz="2800" dirty="0" smtClean="0"/>
              <a:t>):</a:t>
            </a:r>
            <a:endParaRPr lang="en-US" sz="2800" dirty="0"/>
          </a:p>
        </p:txBody>
      </p:sp>
      <p:sp>
        <p:nvSpPr>
          <p:cNvPr id="12" name="Rectangle 11"/>
          <p:cNvSpPr/>
          <p:nvPr/>
        </p:nvSpPr>
        <p:spPr>
          <a:xfrm>
            <a:off x="4055364" y="1351280"/>
            <a:ext cx="1016000" cy="2844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884" y="1328418"/>
            <a:ext cx="203200" cy="266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566920"/>
            <a:ext cx="2159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58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2-layer network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3040"/>
            <a:ext cx="8229600" cy="2123124"/>
          </a:xfrm>
        </p:spPr>
        <p:txBody>
          <a:bodyPr/>
          <a:lstStyle/>
          <a:p>
            <a:r>
              <a:rPr lang="en-US" dirty="0" smtClean="0"/>
              <a:t>this is a 2-layer neural network</a:t>
            </a:r>
          </a:p>
          <a:p>
            <a:r>
              <a:rPr lang="en-US" dirty="0" smtClean="0"/>
              <a:t>input vector is </a:t>
            </a:r>
          </a:p>
          <a:p>
            <a:r>
              <a:rPr lang="en-US" dirty="0" smtClean="0"/>
              <a:t>output vector 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778000" y="3272449"/>
            <a:ext cx="2171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vector of label scores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120" y="4814346"/>
            <a:ext cx="273050" cy="22993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915965"/>
            <a:ext cx="4114800" cy="7493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610" y="1014265"/>
            <a:ext cx="4178300" cy="7493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5690" y="5395908"/>
            <a:ext cx="229870" cy="245195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V="1">
            <a:off x="2106930" y="2470579"/>
            <a:ext cx="457200" cy="84058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82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2-layer neural network for sentiment classification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40" y="3235325"/>
            <a:ext cx="4597400" cy="977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40" y="1877865"/>
            <a:ext cx="4114800" cy="749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1014265"/>
            <a:ext cx="4178300" cy="749300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1107440" y="2496662"/>
            <a:ext cx="45722" cy="94294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013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98229"/>
          </a:xfrm>
        </p:spPr>
        <p:txBody>
          <a:bodyPr>
            <a:noAutofit/>
          </a:bodyPr>
          <a:lstStyle/>
          <a:p>
            <a:r>
              <a:rPr lang="en-US" sz="2400" dirty="0"/>
              <a:t>U</a:t>
            </a:r>
            <a:r>
              <a:rPr lang="en-US" sz="2400" dirty="0" smtClean="0"/>
              <a:t>se </a:t>
            </a:r>
            <a:r>
              <a:rPr lang="en-US" sz="2400" dirty="0" err="1" smtClean="0"/>
              <a:t>softmax</a:t>
            </a:r>
            <a:r>
              <a:rPr lang="en-US" sz="2400" dirty="0" smtClean="0"/>
              <a:t> function to convert scores into probabilities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2940049"/>
            <a:ext cx="3850640" cy="8190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4327349"/>
            <a:ext cx="8818880" cy="15620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" y="931473"/>
            <a:ext cx="4043680" cy="156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9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63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Why nonlinearities?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130" y="1707684"/>
            <a:ext cx="3801110" cy="6921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140" y="968544"/>
            <a:ext cx="3859769" cy="6921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170322"/>
            <a:ext cx="6174740" cy="714333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4155440"/>
            <a:ext cx="8229600" cy="2123124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if g is linear, then we can rewrite the above as a single affine transform</a:t>
            </a:r>
          </a:p>
          <a:p>
            <a:r>
              <a:rPr lang="en-US" dirty="0"/>
              <a:t>can you prove this</a:t>
            </a:r>
            <a:r>
              <a:rPr lang="en-US" dirty="0" smtClean="0"/>
              <a:t>? (use </a:t>
            </a:r>
            <a:r>
              <a:rPr lang="en-US" dirty="0" err="1" smtClean="0"/>
              <a:t>distributivity</a:t>
            </a:r>
            <a:r>
              <a:rPr lang="en-US" dirty="0" smtClean="0"/>
              <a:t> of matrix multiplication)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032447"/>
            <a:ext cx="2292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288CD2"/>
                </a:solidFill>
              </a:rPr>
              <a:t>2-layer network:</a:t>
            </a:r>
            <a:endParaRPr lang="en-US" sz="2400" b="1" dirty="0">
              <a:solidFill>
                <a:srgbClr val="288CD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200" y="2555188"/>
            <a:ext cx="3768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288CD2"/>
                </a:solidFill>
              </a:rPr>
              <a:t>written in a single equation:</a:t>
            </a:r>
            <a:endParaRPr lang="en-US" sz="2400" b="1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860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056640"/>
            <a:ext cx="8763159" cy="461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92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Understanding the score function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2960666"/>
            <a:ext cx="8280400" cy="12656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24814" y="5028142"/>
            <a:ext cx="4895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row vector corresponding to row 2 of </a:t>
            </a:r>
            <a:endParaRPr lang="en-US" sz="2400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3498850" y="4226272"/>
            <a:ext cx="1026160" cy="85268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00" y="4978138"/>
            <a:ext cx="812800" cy="393700"/>
          </a:xfrm>
          <a:prstGeom prst="rect">
            <a:avLst/>
          </a:prstGeom>
        </p:spPr>
      </p:pic>
      <p:sp>
        <p:nvSpPr>
          <p:cNvPr id="10" name="Frame 9"/>
          <p:cNvSpPr/>
          <p:nvPr/>
        </p:nvSpPr>
        <p:spPr>
          <a:xfrm>
            <a:off x="4525010" y="3555546"/>
            <a:ext cx="727710" cy="682824"/>
          </a:xfrm>
          <a:prstGeom prst="frame">
            <a:avLst>
              <a:gd name="adj1" fmla="val 176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18226" y="1766388"/>
            <a:ext cx="2825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entry 2 of </a:t>
            </a:r>
            <a:r>
              <a:rPr lang="en-US" sz="2400" smtClean="0"/>
              <a:t>bias vector</a:t>
            </a:r>
            <a:endParaRPr lang="en-US" sz="2400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7620000" y="2208800"/>
            <a:ext cx="396240" cy="153604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" y="1294765"/>
            <a:ext cx="45974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07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Parameter sharing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1294765"/>
            <a:ext cx="4597400" cy="977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" y="2960666"/>
            <a:ext cx="8280400" cy="1265606"/>
          </a:xfrm>
          <a:prstGeom prst="rect">
            <a:avLst/>
          </a:prstGeom>
        </p:spPr>
      </p:pic>
      <p:sp>
        <p:nvSpPr>
          <p:cNvPr id="14" name="Frame 13"/>
          <p:cNvSpPr/>
          <p:nvPr/>
        </p:nvSpPr>
        <p:spPr>
          <a:xfrm>
            <a:off x="5461000" y="2770839"/>
            <a:ext cx="2184400" cy="1537002"/>
          </a:xfrm>
          <a:prstGeom prst="frame">
            <a:avLst>
              <a:gd name="adj1" fmla="val 176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rame 14"/>
          <p:cNvSpPr/>
          <p:nvPr/>
        </p:nvSpPr>
        <p:spPr>
          <a:xfrm>
            <a:off x="4511040" y="2770839"/>
            <a:ext cx="751840" cy="1537002"/>
          </a:xfrm>
          <a:prstGeom prst="frame">
            <a:avLst>
              <a:gd name="adj1" fmla="val 1768"/>
            </a:avLst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ame 15"/>
          <p:cNvSpPr/>
          <p:nvPr/>
        </p:nvSpPr>
        <p:spPr>
          <a:xfrm>
            <a:off x="7934960" y="2797701"/>
            <a:ext cx="548640" cy="1537002"/>
          </a:xfrm>
          <a:prstGeom prst="frame">
            <a:avLst>
              <a:gd name="adj1" fmla="val 1768"/>
            </a:avLst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35600" y="4900966"/>
            <a:ext cx="2235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parameters shared between labels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18" name="Left Brace 17"/>
          <p:cNvSpPr/>
          <p:nvPr/>
        </p:nvSpPr>
        <p:spPr>
          <a:xfrm rot="16200000">
            <a:off x="6322060" y="3619495"/>
            <a:ext cx="467360" cy="2189480"/>
          </a:xfrm>
          <a:prstGeom prst="leftBrace">
            <a:avLst>
              <a:gd name="adj1" fmla="val 64855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283200" y="1089592"/>
            <a:ext cx="304800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smtClean="0">
                <a:solidFill>
                  <a:srgbClr val="BC0000"/>
                </a:solidFill>
              </a:rPr>
              <a:t>parameters NOT shared </a:t>
            </a:r>
            <a:r>
              <a:rPr lang="en-US" sz="2400" b="1" dirty="0" smtClean="0">
                <a:solidFill>
                  <a:srgbClr val="BC0000"/>
                </a:solidFill>
              </a:rPr>
              <a:t>between labels</a:t>
            </a:r>
            <a:endParaRPr lang="en-US" sz="2400" b="1" dirty="0">
              <a:solidFill>
                <a:srgbClr val="BC0000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4932680" y="1894557"/>
            <a:ext cx="674370" cy="864648"/>
          </a:xfrm>
          <a:prstGeom prst="straightConnector1">
            <a:avLst/>
          </a:prstGeom>
          <a:ln w="38100">
            <a:solidFill>
              <a:srgbClr val="BC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6" idx="0"/>
          </p:cNvCxnSpPr>
          <p:nvPr/>
        </p:nvCxnSpPr>
        <p:spPr>
          <a:xfrm>
            <a:off x="7934960" y="1882564"/>
            <a:ext cx="274320" cy="915137"/>
          </a:xfrm>
          <a:prstGeom prst="straightConnector1">
            <a:avLst/>
          </a:prstGeom>
          <a:ln w="38100">
            <a:solidFill>
              <a:srgbClr val="BC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89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Observation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with linear models:</a:t>
            </a:r>
          </a:p>
          <a:p>
            <a:pPr lvl="1"/>
            <a:r>
              <a:rPr lang="en-US" dirty="0" smtClean="0"/>
              <a:t>when using linear models for, say, sentiment classification, every feature included a label</a:t>
            </a:r>
          </a:p>
          <a:p>
            <a:pPr lvl="1"/>
            <a:r>
              <a:rPr lang="en-US" b="1" dirty="0" smtClean="0"/>
              <a:t>no </a:t>
            </a:r>
            <a:r>
              <a:rPr lang="en-US" dirty="0" smtClean="0"/>
              <a:t>parameters were shared between labels</a:t>
            </a:r>
          </a:p>
          <a:p>
            <a:r>
              <a:rPr lang="en-US" dirty="0" smtClean="0"/>
              <a:t>with neural networks</a:t>
            </a:r>
          </a:p>
          <a:p>
            <a:pPr lvl="1"/>
            <a:r>
              <a:rPr lang="en-US" dirty="0" smtClean="0"/>
              <a:t>we now have parameters shared across labels!</a:t>
            </a:r>
          </a:p>
          <a:p>
            <a:pPr lvl="1"/>
            <a:r>
              <a:rPr lang="en-US" dirty="0" smtClean="0"/>
              <a:t>we still have some parameters that are devoted to particular labels</a:t>
            </a:r>
          </a:p>
          <a:p>
            <a:pPr lvl="1"/>
            <a:r>
              <a:rPr lang="en-US" dirty="0" smtClean="0"/>
              <a:t>to define </a:t>
            </a:r>
            <a:r>
              <a:rPr lang="en-US" i="1" dirty="0" smtClean="0"/>
              <a:t>x</a:t>
            </a:r>
            <a:r>
              <a:rPr lang="en-US" dirty="0" smtClean="0"/>
              <a:t>, we design features that </a:t>
            </a:r>
            <a:r>
              <a:rPr lang="en-US" b="1" dirty="0" smtClean="0"/>
              <a:t>only </a:t>
            </a:r>
            <a:r>
              <a:rPr lang="en-US" dirty="0" smtClean="0"/>
              <a:t>look at the input (not at the labels)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9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Defining input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say we’re doing sentiment classification and we want to use a neural network</a:t>
            </a:r>
          </a:p>
          <a:p>
            <a:r>
              <a:rPr lang="en-US" dirty="0" smtClean="0"/>
              <a:t>what should </a:t>
            </a:r>
            <a:r>
              <a:rPr lang="en-US" b="1" i="1" dirty="0" smtClean="0"/>
              <a:t>x</a:t>
            </a:r>
            <a:r>
              <a:rPr lang="en-US" dirty="0" smtClean="0"/>
              <a:t> be?</a:t>
            </a:r>
          </a:p>
          <a:p>
            <a:pPr lvl="1"/>
            <a:r>
              <a:rPr lang="en-US" dirty="0" smtClean="0"/>
              <a:t>it has to be independent of the label</a:t>
            </a:r>
          </a:p>
          <a:p>
            <a:pPr lvl="1"/>
            <a:r>
              <a:rPr lang="en-US" dirty="0" smtClean="0"/>
              <a:t>it has to be a </a:t>
            </a:r>
            <a:r>
              <a:rPr lang="en-US" b="1" dirty="0" smtClean="0"/>
              <a:t>fixed-length </a:t>
            </a:r>
            <a:r>
              <a:rPr lang="en-US" dirty="0" smtClean="0"/>
              <a:t>vector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5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1398"/>
            <a:ext cx="9144000" cy="726831"/>
          </a:xfrm>
        </p:spPr>
        <p:txBody>
          <a:bodyPr>
            <a:noAutofit/>
          </a:bodyPr>
          <a:lstStyle/>
          <a:p>
            <a:r>
              <a:rPr lang="en-US" sz="2800" dirty="0" smtClean="0"/>
              <a:t>Empirical Risk Minimization with Surrogate Loss Functions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87089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/>
              <a:t>g</a:t>
            </a:r>
            <a:r>
              <a:rPr lang="en-US" sz="2800" dirty="0" smtClean="0"/>
              <a:t>iven training data:                               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where each</a:t>
            </a:r>
            <a:r>
              <a:rPr lang="en-US" sz="2800" dirty="0"/>
              <a:t> </a:t>
            </a:r>
            <a:r>
              <a:rPr lang="en-US" sz="2800" dirty="0" smtClean="0"/>
              <a:t>                is a label</a:t>
            </a:r>
          </a:p>
          <a:p>
            <a:r>
              <a:rPr lang="en-US" sz="2800" dirty="0" smtClean="0"/>
              <a:t>we want to solve the following: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965" y="938948"/>
            <a:ext cx="2641600" cy="406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505059"/>
            <a:ext cx="1028700" cy="355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2564737"/>
            <a:ext cx="4114800" cy="939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89400" y="3790388"/>
            <a:ext cx="3911600" cy="1384995"/>
          </a:xfrm>
          <a:prstGeom prst="rect">
            <a:avLst/>
          </a:prstGeom>
          <a:solidFill>
            <a:srgbClr val="288CD2"/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cs typeface="Calibri"/>
              </a:rPr>
              <a:t>many possible loss functions to consider optimizing</a:t>
            </a:r>
            <a:endParaRPr lang="en-US" sz="28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488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737678"/>
              </p:ext>
            </p:extLst>
          </p:nvPr>
        </p:nvGraphicFramePr>
        <p:xfrm>
          <a:off x="-1" y="1071880"/>
          <a:ext cx="9144001" cy="4301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481"/>
                <a:gridCol w="5486400"/>
                <a:gridCol w="2357120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loss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where used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cost (“0-1”)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intractable, but underlies “direct error minimization”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perceptron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perceptron algorithm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(Rosenblatt, 1958)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hinge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support vector machines, other large-margin algorithms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logistic regression, conditional random fields, maximum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entropy models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/>
          <a:srcRect l="32819"/>
          <a:stretch/>
        </p:blipFill>
        <p:spPr>
          <a:xfrm>
            <a:off x="1509656" y="2692400"/>
            <a:ext cx="4336528" cy="44243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/>
          <a:srcRect l="27111"/>
          <a:stretch/>
        </p:blipFill>
        <p:spPr>
          <a:xfrm>
            <a:off x="1402079" y="3618408"/>
            <a:ext cx="5323841" cy="39728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l="45252"/>
          <a:stretch/>
        </p:blipFill>
        <p:spPr>
          <a:xfrm>
            <a:off x="2641600" y="1866900"/>
            <a:ext cx="2631440" cy="2996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1096" y="4399458"/>
            <a:ext cx="4870824" cy="97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88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86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(Sub)gradients of Losses for </a:t>
            </a:r>
            <a:r>
              <a:rPr lang="en-US" sz="3600" b="1" dirty="0" smtClean="0">
                <a:solidFill>
                  <a:srgbClr val="000000"/>
                </a:solidFill>
              </a:rPr>
              <a:t>Linear Models</a:t>
            </a:r>
            <a:endParaRPr lang="en-US" sz="3600" b="1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071717"/>
              </p:ext>
            </p:extLst>
          </p:nvPr>
        </p:nvGraphicFramePr>
        <p:xfrm>
          <a:off x="-1" y="1071880"/>
          <a:ext cx="8950961" cy="375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828"/>
                <a:gridCol w="7459133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entry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j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of (sub)gradient of loss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for linear model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cost (“0-1”)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not 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subdifferentiable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in general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perceptron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hinge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2637604"/>
            <a:ext cx="5740400" cy="3168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320" y="4297680"/>
            <a:ext cx="3400796" cy="31993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078" y="3469640"/>
            <a:ext cx="6729202" cy="32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Learning with Neural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05200"/>
            <a:ext cx="8463280" cy="257048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we can use any of our loss functions from before, as long as we can compute (sub)gradients</a:t>
            </a:r>
          </a:p>
          <a:p>
            <a:r>
              <a:rPr lang="en-US" dirty="0" smtClean="0"/>
              <a:t>algorithm for doing this efficiently: </a:t>
            </a:r>
            <a:r>
              <a:rPr lang="en-US" b="1" dirty="0" err="1" smtClean="0">
                <a:solidFill>
                  <a:srgbClr val="288CD2"/>
                </a:solidFill>
              </a:rPr>
              <a:t>backpropagation</a:t>
            </a:r>
            <a:endParaRPr lang="en-US" b="1" dirty="0" smtClean="0">
              <a:solidFill>
                <a:srgbClr val="288CD2"/>
              </a:solidFill>
            </a:endParaRPr>
          </a:p>
          <a:p>
            <a:r>
              <a:rPr lang="en-US" dirty="0" smtClean="0"/>
              <a:t>it’s basically just the chain rule of derivatives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1279059"/>
            <a:ext cx="5753100" cy="622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2142316"/>
            <a:ext cx="7721600" cy="118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5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Computation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useful way to represent the computations performed by a neural model (or any model!)</a:t>
            </a:r>
          </a:p>
          <a:p>
            <a:r>
              <a:rPr lang="en-US" dirty="0" smtClean="0"/>
              <a:t>why useful? makes it easy to implement automatic differentiation (</a:t>
            </a:r>
            <a:r>
              <a:rPr lang="en-US" dirty="0" err="1" smtClean="0"/>
              <a:t>backpropagation</a:t>
            </a:r>
            <a:r>
              <a:rPr lang="en-US" dirty="0" smtClean="0"/>
              <a:t>)</a:t>
            </a:r>
          </a:p>
          <a:p>
            <a:r>
              <a:rPr lang="en-US" dirty="0" smtClean="0"/>
              <a:t>many neural net toolkits let you define your model in terms of computation graphs (</a:t>
            </a:r>
            <a:r>
              <a:rPr lang="en-US" dirty="0" err="1" smtClean="0"/>
              <a:t>Theano</a:t>
            </a:r>
            <a:r>
              <a:rPr lang="en-US" dirty="0" smtClean="0"/>
              <a:t>, Torch, </a:t>
            </a:r>
            <a:r>
              <a:rPr lang="en-US" dirty="0" err="1" smtClean="0"/>
              <a:t>TensorFlow</a:t>
            </a:r>
            <a:r>
              <a:rPr lang="en-US" dirty="0" smtClean="0"/>
              <a:t>, CNTK, CNN, PENNE, etc.)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6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Backpropagation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backpropagation</a:t>
            </a:r>
            <a:r>
              <a:rPr lang="en-US" dirty="0" smtClean="0"/>
              <a:t> has become associated with neural networks, but it’s much more general</a:t>
            </a:r>
          </a:p>
          <a:p>
            <a:r>
              <a:rPr lang="en-US" dirty="0" smtClean="0"/>
              <a:t>I also use </a:t>
            </a:r>
            <a:r>
              <a:rPr lang="en-US" dirty="0" err="1" smtClean="0"/>
              <a:t>backpropagation</a:t>
            </a:r>
            <a:r>
              <a:rPr lang="en-US" dirty="0" smtClean="0"/>
              <a:t> to compute gradients in </a:t>
            </a:r>
            <a:r>
              <a:rPr lang="en-US" b="1" dirty="0" smtClean="0"/>
              <a:t>linear</a:t>
            </a:r>
            <a:r>
              <a:rPr lang="en-US" dirty="0" smtClean="0"/>
              <a:t> models for structured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64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simple computation graph: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59200"/>
            <a:ext cx="8229600" cy="2366964"/>
          </a:xfrm>
        </p:spPr>
        <p:txBody>
          <a:bodyPr/>
          <a:lstStyle/>
          <a:p>
            <a:r>
              <a:rPr lang="en-US" dirty="0" smtClean="0"/>
              <a:t>represents expression “a + 3”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273813" y="1566363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429163" y="2610946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134863" y="2605906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694" y="2724570"/>
            <a:ext cx="139700" cy="139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411" y="1650514"/>
            <a:ext cx="203200" cy="20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618" y="2703660"/>
            <a:ext cx="127000" cy="203200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stCxn id="5" idx="3"/>
            <a:endCxn id="6" idx="7"/>
          </p:cNvCxnSpPr>
          <p:nvPr/>
        </p:nvCxnSpPr>
        <p:spPr>
          <a:xfrm flipH="1">
            <a:off x="3740227" y="1877427"/>
            <a:ext cx="586956" cy="78688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7" idx="1"/>
          </p:cNvCxnSpPr>
          <p:nvPr/>
        </p:nvCxnSpPr>
        <p:spPr>
          <a:xfrm>
            <a:off x="4584877" y="1877427"/>
            <a:ext cx="603356" cy="78184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35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slightly bigger computation graph: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90720"/>
            <a:ext cx="8229600" cy="1483360"/>
          </a:xfrm>
        </p:spPr>
        <p:txBody>
          <a:bodyPr/>
          <a:lstStyle/>
          <a:p>
            <a:r>
              <a:rPr lang="en-US" dirty="0" smtClean="0"/>
              <a:t>represents expression “(a + 3)</a:t>
            </a:r>
            <a:r>
              <a:rPr lang="en-US" baseline="30000" dirty="0" smtClean="0"/>
              <a:t>2</a:t>
            </a:r>
            <a:r>
              <a:rPr lang="en-US" dirty="0" smtClean="0"/>
              <a:t> + 4a</a:t>
            </a:r>
            <a:r>
              <a:rPr lang="en-US" baseline="30000" dirty="0" smtClean="0"/>
              <a:t>2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421367" y="2777699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13152" y="3675338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145982" y="3670298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83" y="3788962"/>
            <a:ext cx="139700" cy="1397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965" y="2861850"/>
            <a:ext cx="2032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1737" y="3768052"/>
            <a:ext cx="127000" cy="203200"/>
          </a:xfrm>
          <a:prstGeom prst="rect">
            <a:avLst/>
          </a:prstGeom>
        </p:spPr>
      </p:pic>
      <p:cxnSp>
        <p:nvCxnSpPr>
          <p:cNvPr id="19" name="Straight Arrow Connector 18"/>
          <p:cNvCxnSpPr>
            <a:stCxn id="13" idx="3"/>
            <a:endCxn id="14" idx="7"/>
          </p:cNvCxnSpPr>
          <p:nvPr/>
        </p:nvCxnSpPr>
        <p:spPr>
          <a:xfrm flipH="1">
            <a:off x="1024216" y="3088763"/>
            <a:ext cx="450521" cy="63994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3" idx="5"/>
            <a:endCxn id="15" idx="1"/>
          </p:cNvCxnSpPr>
          <p:nvPr/>
        </p:nvCxnSpPr>
        <p:spPr>
          <a:xfrm>
            <a:off x="1732431" y="3088763"/>
            <a:ext cx="466921" cy="634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567875" y="2772659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859660" y="3670298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292490" y="3665258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191" y="3783922"/>
            <a:ext cx="139700" cy="1397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473" y="2856810"/>
            <a:ext cx="203200" cy="2032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245" y="3763012"/>
            <a:ext cx="127000" cy="203200"/>
          </a:xfrm>
          <a:prstGeom prst="rect">
            <a:avLst/>
          </a:prstGeom>
        </p:spPr>
      </p:pic>
      <p:cxnSp>
        <p:nvCxnSpPr>
          <p:cNvPr id="27" name="Straight Arrow Connector 26"/>
          <p:cNvCxnSpPr>
            <a:stCxn id="21" idx="3"/>
            <a:endCxn id="22" idx="7"/>
          </p:cNvCxnSpPr>
          <p:nvPr/>
        </p:nvCxnSpPr>
        <p:spPr>
          <a:xfrm flipH="1">
            <a:off x="3170724" y="3083723"/>
            <a:ext cx="450521" cy="63994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5"/>
            <a:endCxn id="23" idx="1"/>
          </p:cNvCxnSpPr>
          <p:nvPr/>
        </p:nvCxnSpPr>
        <p:spPr>
          <a:xfrm>
            <a:off x="3878939" y="3083723"/>
            <a:ext cx="466921" cy="634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4659" y="2013022"/>
            <a:ext cx="152400" cy="152400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2520911" y="1901460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0" idx="5"/>
            <a:endCxn id="21" idx="1"/>
          </p:cNvCxnSpPr>
          <p:nvPr/>
        </p:nvCxnSpPr>
        <p:spPr>
          <a:xfrm>
            <a:off x="2831975" y="2212524"/>
            <a:ext cx="789270" cy="61350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0" idx="3"/>
            <a:endCxn id="13" idx="7"/>
          </p:cNvCxnSpPr>
          <p:nvPr/>
        </p:nvCxnSpPr>
        <p:spPr>
          <a:xfrm flipH="1">
            <a:off x="1732431" y="2212524"/>
            <a:ext cx="841850" cy="61854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376126" y="1072260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724" y="1156411"/>
            <a:ext cx="203200" cy="203200"/>
          </a:xfrm>
          <a:prstGeom prst="rect">
            <a:avLst/>
          </a:prstGeom>
        </p:spPr>
      </p:pic>
      <p:cxnSp>
        <p:nvCxnSpPr>
          <p:cNvPr id="35" name="Straight Arrow Connector 34"/>
          <p:cNvCxnSpPr>
            <a:stCxn id="33" idx="3"/>
            <a:endCxn id="30" idx="7"/>
          </p:cNvCxnSpPr>
          <p:nvPr/>
        </p:nvCxnSpPr>
        <p:spPr>
          <a:xfrm flipH="1">
            <a:off x="2831975" y="1383324"/>
            <a:ext cx="1597521" cy="57150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3717" y="2022593"/>
            <a:ext cx="152400" cy="152400"/>
          </a:xfrm>
          <a:prstGeom prst="rect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6069969" y="1911031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/>
          <p:cNvCxnSpPr>
            <a:stCxn id="33" idx="5"/>
            <a:endCxn id="37" idx="1"/>
          </p:cNvCxnSpPr>
          <p:nvPr/>
        </p:nvCxnSpPr>
        <p:spPr>
          <a:xfrm>
            <a:off x="4687190" y="1383324"/>
            <a:ext cx="1436149" cy="58107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237" y="2905213"/>
            <a:ext cx="152400" cy="152400"/>
          </a:xfrm>
          <a:prstGeom prst="rect">
            <a:avLst/>
          </a:prstGeom>
        </p:spPr>
      </p:pic>
      <p:sp>
        <p:nvSpPr>
          <p:cNvPr id="40" name="Oval 39"/>
          <p:cNvSpPr/>
          <p:nvPr/>
        </p:nvSpPr>
        <p:spPr>
          <a:xfrm>
            <a:off x="6999489" y="2793651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6299672" y="3677703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203" y="3791327"/>
            <a:ext cx="139700" cy="139700"/>
          </a:xfrm>
          <a:prstGeom prst="rect">
            <a:avLst/>
          </a:prstGeom>
        </p:spPr>
      </p:pic>
      <p:cxnSp>
        <p:nvCxnSpPr>
          <p:cNvPr id="43" name="Straight Arrow Connector 42"/>
          <p:cNvCxnSpPr>
            <a:stCxn id="40" idx="3"/>
            <a:endCxn id="41" idx="7"/>
          </p:cNvCxnSpPr>
          <p:nvPr/>
        </p:nvCxnSpPr>
        <p:spPr>
          <a:xfrm flipH="1">
            <a:off x="6610736" y="3104715"/>
            <a:ext cx="442123" cy="62635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690511" y="3683194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8042" y="3796818"/>
            <a:ext cx="139700" cy="139700"/>
          </a:xfrm>
          <a:prstGeom prst="rect">
            <a:avLst/>
          </a:prstGeom>
        </p:spPr>
      </p:pic>
      <p:cxnSp>
        <p:nvCxnSpPr>
          <p:cNvPr id="46" name="Straight Arrow Connector 45"/>
          <p:cNvCxnSpPr>
            <a:stCxn id="40" idx="5"/>
            <a:endCxn id="44" idx="1"/>
          </p:cNvCxnSpPr>
          <p:nvPr/>
        </p:nvCxnSpPr>
        <p:spPr>
          <a:xfrm>
            <a:off x="7310553" y="3104715"/>
            <a:ext cx="433328" cy="63184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7" idx="5"/>
            <a:endCxn id="40" idx="1"/>
          </p:cNvCxnSpPr>
          <p:nvPr/>
        </p:nvCxnSpPr>
        <p:spPr>
          <a:xfrm>
            <a:off x="6381033" y="2222095"/>
            <a:ext cx="671826" cy="62492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5295006" y="2777699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7402" y="2856810"/>
            <a:ext cx="139700" cy="190500"/>
          </a:xfrm>
          <a:prstGeom prst="rect">
            <a:avLst/>
          </a:prstGeom>
        </p:spPr>
      </p:pic>
      <p:cxnSp>
        <p:nvCxnSpPr>
          <p:cNvPr id="50" name="Straight Arrow Connector 49"/>
          <p:cNvCxnSpPr>
            <a:stCxn id="37" idx="3"/>
            <a:endCxn id="48" idx="7"/>
          </p:cNvCxnSpPr>
          <p:nvPr/>
        </p:nvCxnSpPr>
        <p:spPr>
          <a:xfrm flipH="1">
            <a:off x="5606070" y="2222095"/>
            <a:ext cx="517269" cy="60897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61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Operators can have more than 2 operands: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90720"/>
            <a:ext cx="8229600" cy="1483360"/>
          </a:xfrm>
        </p:spPr>
        <p:txBody>
          <a:bodyPr/>
          <a:lstStyle/>
          <a:p>
            <a:r>
              <a:rPr lang="en-US" dirty="0" smtClean="0"/>
              <a:t>still represents expression “(a + 3)</a:t>
            </a:r>
            <a:r>
              <a:rPr lang="en-US" baseline="30000" dirty="0" smtClean="0"/>
              <a:t>2</a:t>
            </a:r>
            <a:r>
              <a:rPr lang="en-US" dirty="0" smtClean="0"/>
              <a:t> + 4a</a:t>
            </a:r>
            <a:r>
              <a:rPr lang="en-US" baseline="30000" dirty="0" smtClean="0"/>
              <a:t>2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421367" y="2777699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13152" y="3675338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145982" y="3670298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83" y="3788962"/>
            <a:ext cx="139700" cy="1397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965" y="2861850"/>
            <a:ext cx="2032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1737" y="3768052"/>
            <a:ext cx="127000" cy="203200"/>
          </a:xfrm>
          <a:prstGeom prst="rect">
            <a:avLst/>
          </a:prstGeom>
        </p:spPr>
      </p:pic>
      <p:cxnSp>
        <p:nvCxnSpPr>
          <p:cNvPr id="19" name="Straight Arrow Connector 18"/>
          <p:cNvCxnSpPr>
            <a:stCxn id="13" idx="3"/>
            <a:endCxn id="14" idx="7"/>
          </p:cNvCxnSpPr>
          <p:nvPr/>
        </p:nvCxnSpPr>
        <p:spPr>
          <a:xfrm flipH="1">
            <a:off x="1024216" y="3088763"/>
            <a:ext cx="450521" cy="63994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3" idx="5"/>
            <a:endCxn id="15" idx="1"/>
          </p:cNvCxnSpPr>
          <p:nvPr/>
        </p:nvCxnSpPr>
        <p:spPr>
          <a:xfrm>
            <a:off x="1732431" y="3088763"/>
            <a:ext cx="466921" cy="634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567875" y="2772659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859660" y="3670298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292490" y="3665258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191" y="3783922"/>
            <a:ext cx="139700" cy="1397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473" y="2856810"/>
            <a:ext cx="203200" cy="2032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245" y="3763012"/>
            <a:ext cx="127000" cy="203200"/>
          </a:xfrm>
          <a:prstGeom prst="rect">
            <a:avLst/>
          </a:prstGeom>
        </p:spPr>
      </p:pic>
      <p:cxnSp>
        <p:nvCxnSpPr>
          <p:cNvPr id="27" name="Straight Arrow Connector 26"/>
          <p:cNvCxnSpPr>
            <a:stCxn id="21" idx="3"/>
            <a:endCxn id="22" idx="7"/>
          </p:cNvCxnSpPr>
          <p:nvPr/>
        </p:nvCxnSpPr>
        <p:spPr>
          <a:xfrm flipH="1">
            <a:off x="3170724" y="3083723"/>
            <a:ext cx="450521" cy="63994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5"/>
            <a:endCxn id="23" idx="1"/>
          </p:cNvCxnSpPr>
          <p:nvPr/>
        </p:nvCxnSpPr>
        <p:spPr>
          <a:xfrm>
            <a:off x="3878939" y="3083723"/>
            <a:ext cx="466921" cy="634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4659" y="2013022"/>
            <a:ext cx="152400" cy="152400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2520911" y="1901460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0" idx="5"/>
            <a:endCxn id="21" idx="1"/>
          </p:cNvCxnSpPr>
          <p:nvPr/>
        </p:nvCxnSpPr>
        <p:spPr>
          <a:xfrm>
            <a:off x="2831975" y="2212524"/>
            <a:ext cx="789270" cy="61350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0" idx="3"/>
            <a:endCxn id="13" idx="7"/>
          </p:cNvCxnSpPr>
          <p:nvPr/>
        </p:nvCxnSpPr>
        <p:spPr>
          <a:xfrm flipH="1">
            <a:off x="1732431" y="2212524"/>
            <a:ext cx="841850" cy="61854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376126" y="1072260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724" y="1156411"/>
            <a:ext cx="203200" cy="203200"/>
          </a:xfrm>
          <a:prstGeom prst="rect">
            <a:avLst/>
          </a:prstGeom>
        </p:spPr>
      </p:pic>
      <p:cxnSp>
        <p:nvCxnSpPr>
          <p:cNvPr id="35" name="Straight Arrow Connector 34"/>
          <p:cNvCxnSpPr>
            <a:stCxn id="33" idx="3"/>
            <a:endCxn id="30" idx="7"/>
          </p:cNvCxnSpPr>
          <p:nvPr/>
        </p:nvCxnSpPr>
        <p:spPr>
          <a:xfrm flipH="1">
            <a:off x="2831975" y="1383324"/>
            <a:ext cx="1597521" cy="57150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3" idx="5"/>
          </p:cNvCxnSpPr>
          <p:nvPr/>
        </p:nvCxnSpPr>
        <p:spPr>
          <a:xfrm>
            <a:off x="4687190" y="1383324"/>
            <a:ext cx="1436149" cy="58107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Picture 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4357" y="1989983"/>
            <a:ext cx="152400" cy="152400"/>
          </a:xfrm>
          <a:prstGeom prst="rect">
            <a:avLst/>
          </a:prstGeom>
        </p:spPr>
      </p:pic>
      <p:sp>
        <p:nvSpPr>
          <p:cNvPr id="52" name="Oval 51"/>
          <p:cNvSpPr/>
          <p:nvPr/>
        </p:nvSpPr>
        <p:spPr>
          <a:xfrm>
            <a:off x="6110609" y="1878421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6109422" y="2755585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953" y="2869209"/>
            <a:ext cx="139700" cy="139700"/>
          </a:xfrm>
          <a:prstGeom prst="rect">
            <a:avLst/>
          </a:prstGeom>
        </p:spPr>
      </p:pic>
      <p:sp>
        <p:nvSpPr>
          <p:cNvPr id="55" name="Oval 54"/>
          <p:cNvSpPr/>
          <p:nvPr/>
        </p:nvSpPr>
        <p:spPr>
          <a:xfrm>
            <a:off x="6881032" y="2745089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563" y="2858713"/>
            <a:ext cx="139700" cy="139700"/>
          </a:xfrm>
          <a:prstGeom prst="rect">
            <a:avLst/>
          </a:prstGeom>
        </p:spPr>
      </p:pic>
      <p:cxnSp>
        <p:nvCxnSpPr>
          <p:cNvPr id="57" name="Straight Arrow Connector 56"/>
          <p:cNvCxnSpPr>
            <a:stCxn id="52" idx="5"/>
            <a:endCxn id="55" idx="1"/>
          </p:cNvCxnSpPr>
          <p:nvPr/>
        </p:nvCxnSpPr>
        <p:spPr>
          <a:xfrm>
            <a:off x="6421673" y="2189485"/>
            <a:ext cx="512729" cy="60897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52" idx="4"/>
            <a:endCxn id="53" idx="0"/>
          </p:cNvCxnSpPr>
          <p:nvPr/>
        </p:nvCxnSpPr>
        <p:spPr>
          <a:xfrm flipH="1">
            <a:off x="6291639" y="2242855"/>
            <a:ext cx="1187" cy="51273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5335646" y="2745089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8042" y="2824200"/>
            <a:ext cx="139700" cy="190500"/>
          </a:xfrm>
          <a:prstGeom prst="rect">
            <a:avLst/>
          </a:prstGeom>
        </p:spPr>
      </p:pic>
      <p:cxnSp>
        <p:nvCxnSpPr>
          <p:cNvPr id="61" name="Straight Arrow Connector 60"/>
          <p:cNvCxnSpPr>
            <a:stCxn id="52" idx="3"/>
            <a:endCxn id="59" idx="7"/>
          </p:cNvCxnSpPr>
          <p:nvPr/>
        </p:nvCxnSpPr>
        <p:spPr>
          <a:xfrm flipH="1">
            <a:off x="5646710" y="2189485"/>
            <a:ext cx="517269" cy="60897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65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04904"/>
            <a:ext cx="8229600" cy="1483360"/>
          </a:xfrm>
        </p:spPr>
        <p:txBody>
          <a:bodyPr/>
          <a:lstStyle/>
          <a:p>
            <a:r>
              <a:rPr lang="en-US" dirty="0" smtClean="0"/>
              <a:t>more concise: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421367" y="1822659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13152" y="2720298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145982" y="2715258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83" y="2833922"/>
            <a:ext cx="139700" cy="1397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965" y="1906810"/>
            <a:ext cx="2032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1737" y="2813012"/>
            <a:ext cx="127000" cy="203200"/>
          </a:xfrm>
          <a:prstGeom prst="rect">
            <a:avLst/>
          </a:prstGeom>
        </p:spPr>
      </p:pic>
      <p:cxnSp>
        <p:nvCxnSpPr>
          <p:cNvPr id="19" name="Straight Arrow Connector 18"/>
          <p:cNvCxnSpPr>
            <a:stCxn id="13" idx="3"/>
            <a:endCxn id="14" idx="7"/>
          </p:cNvCxnSpPr>
          <p:nvPr/>
        </p:nvCxnSpPr>
        <p:spPr>
          <a:xfrm flipH="1">
            <a:off x="1024216" y="2133723"/>
            <a:ext cx="450521" cy="63994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3" idx="5"/>
            <a:endCxn id="15" idx="1"/>
          </p:cNvCxnSpPr>
          <p:nvPr/>
        </p:nvCxnSpPr>
        <p:spPr>
          <a:xfrm>
            <a:off x="1732431" y="2133723"/>
            <a:ext cx="466921" cy="634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567875" y="1817619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859660" y="2715258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292490" y="2710218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191" y="2828882"/>
            <a:ext cx="139700" cy="1397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473" y="1901770"/>
            <a:ext cx="203200" cy="2032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245" y="2807972"/>
            <a:ext cx="127000" cy="203200"/>
          </a:xfrm>
          <a:prstGeom prst="rect">
            <a:avLst/>
          </a:prstGeom>
        </p:spPr>
      </p:pic>
      <p:cxnSp>
        <p:nvCxnSpPr>
          <p:cNvPr id="27" name="Straight Arrow Connector 26"/>
          <p:cNvCxnSpPr>
            <a:stCxn id="21" idx="3"/>
            <a:endCxn id="22" idx="7"/>
          </p:cNvCxnSpPr>
          <p:nvPr/>
        </p:nvCxnSpPr>
        <p:spPr>
          <a:xfrm flipH="1">
            <a:off x="3170724" y="2128683"/>
            <a:ext cx="450521" cy="63994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5"/>
            <a:endCxn id="23" idx="1"/>
          </p:cNvCxnSpPr>
          <p:nvPr/>
        </p:nvCxnSpPr>
        <p:spPr>
          <a:xfrm>
            <a:off x="3878939" y="2128683"/>
            <a:ext cx="466921" cy="634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4659" y="1057982"/>
            <a:ext cx="152400" cy="152400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2520911" y="946420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0" idx="5"/>
            <a:endCxn id="21" idx="1"/>
          </p:cNvCxnSpPr>
          <p:nvPr/>
        </p:nvCxnSpPr>
        <p:spPr>
          <a:xfrm>
            <a:off x="2831975" y="1257484"/>
            <a:ext cx="789270" cy="61350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0" idx="3"/>
            <a:endCxn id="13" idx="7"/>
          </p:cNvCxnSpPr>
          <p:nvPr/>
        </p:nvCxnSpPr>
        <p:spPr>
          <a:xfrm flipH="1">
            <a:off x="1732431" y="1257484"/>
            <a:ext cx="841850" cy="61854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376126" y="117220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724" y="201371"/>
            <a:ext cx="203200" cy="203200"/>
          </a:xfrm>
          <a:prstGeom prst="rect">
            <a:avLst/>
          </a:prstGeom>
        </p:spPr>
      </p:pic>
      <p:cxnSp>
        <p:nvCxnSpPr>
          <p:cNvPr id="35" name="Straight Arrow Connector 34"/>
          <p:cNvCxnSpPr>
            <a:stCxn id="33" idx="3"/>
            <a:endCxn id="30" idx="7"/>
          </p:cNvCxnSpPr>
          <p:nvPr/>
        </p:nvCxnSpPr>
        <p:spPr>
          <a:xfrm flipH="1">
            <a:off x="2831975" y="428284"/>
            <a:ext cx="1597521" cy="57150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3" idx="5"/>
          </p:cNvCxnSpPr>
          <p:nvPr/>
        </p:nvCxnSpPr>
        <p:spPr>
          <a:xfrm>
            <a:off x="4687190" y="428284"/>
            <a:ext cx="1436149" cy="58107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Picture 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4357" y="1034943"/>
            <a:ext cx="152400" cy="152400"/>
          </a:xfrm>
          <a:prstGeom prst="rect">
            <a:avLst/>
          </a:prstGeom>
        </p:spPr>
      </p:pic>
      <p:sp>
        <p:nvSpPr>
          <p:cNvPr id="52" name="Oval 51"/>
          <p:cNvSpPr/>
          <p:nvPr/>
        </p:nvSpPr>
        <p:spPr>
          <a:xfrm>
            <a:off x="6110609" y="923381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6109422" y="1800545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953" y="1914169"/>
            <a:ext cx="139700" cy="139700"/>
          </a:xfrm>
          <a:prstGeom prst="rect">
            <a:avLst/>
          </a:prstGeom>
        </p:spPr>
      </p:pic>
      <p:sp>
        <p:nvSpPr>
          <p:cNvPr id="55" name="Oval 54"/>
          <p:cNvSpPr/>
          <p:nvPr/>
        </p:nvSpPr>
        <p:spPr>
          <a:xfrm>
            <a:off x="6881032" y="1790049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563" y="1903673"/>
            <a:ext cx="139700" cy="139700"/>
          </a:xfrm>
          <a:prstGeom prst="rect">
            <a:avLst/>
          </a:prstGeom>
        </p:spPr>
      </p:pic>
      <p:cxnSp>
        <p:nvCxnSpPr>
          <p:cNvPr id="57" name="Straight Arrow Connector 56"/>
          <p:cNvCxnSpPr>
            <a:stCxn id="52" idx="5"/>
            <a:endCxn id="55" idx="1"/>
          </p:cNvCxnSpPr>
          <p:nvPr/>
        </p:nvCxnSpPr>
        <p:spPr>
          <a:xfrm>
            <a:off x="6421673" y="1234445"/>
            <a:ext cx="512729" cy="60897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52" idx="4"/>
            <a:endCxn id="53" idx="0"/>
          </p:cNvCxnSpPr>
          <p:nvPr/>
        </p:nvCxnSpPr>
        <p:spPr>
          <a:xfrm flipH="1">
            <a:off x="6291639" y="1287815"/>
            <a:ext cx="1187" cy="51273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5335646" y="1790049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8042" y="1869160"/>
            <a:ext cx="139700" cy="190500"/>
          </a:xfrm>
          <a:prstGeom prst="rect">
            <a:avLst/>
          </a:prstGeom>
        </p:spPr>
      </p:pic>
      <p:cxnSp>
        <p:nvCxnSpPr>
          <p:cNvPr id="61" name="Straight Arrow Connector 60"/>
          <p:cNvCxnSpPr>
            <a:stCxn id="52" idx="3"/>
            <a:endCxn id="59" idx="7"/>
          </p:cNvCxnSpPr>
          <p:nvPr/>
        </p:nvCxnSpPr>
        <p:spPr>
          <a:xfrm flipH="1">
            <a:off x="5646710" y="1234445"/>
            <a:ext cx="517269" cy="60897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3265453" y="5318250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2557238" y="6215889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3990068" y="6210849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69" y="6329513"/>
            <a:ext cx="139700" cy="1397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051" y="5402401"/>
            <a:ext cx="203200" cy="2032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5823" y="6308603"/>
            <a:ext cx="127000" cy="203200"/>
          </a:xfrm>
          <a:prstGeom prst="rect">
            <a:avLst/>
          </a:prstGeom>
        </p:spPr>
      </p:pic>
      <p:cxnSp>
        <p:nvCxnSpPr>
          <p:cNvPr id="46" name="Straight Arrow Connector 45"/>
          <p:cNvCxnSpPr>
            <a:stCxn id="40" idx="3"/>
            <a:endCxn id="41" idx="0"/>
          </p:cNvCxnSpPr>
          <p:nvPr/>
        </p:nvCxnSpPr>
        <p:spPr>
          <a:xfrm flipH="1">
            <a:off x="2739455" y="5629314"/>
            <a:ext cx="579368" cy="58657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0" idx="5"/>
            <a:endCxn id="42" idx="1"/>
          </p:cNvCxnSpPr>
          <p:nvPr/>
        </p:nvCxnSpPr>
        <p:spPr>
          <a:xfrm>
            <a:off x="3576517" y="5629314"/>
            <a:ext cx="466921" cy="634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2861" y="4553573"/>
            <a:ext cx="152400" cy="152400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3269113" y="4442011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4505123" y="3612811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721" y="3696962"/>
            <a:ext cx="203200" cy="203200"/>
          </a:xfrm>
          <a:prstGeom prst="rect">
            <a:avLst/>
          </a:prstGeom>
        </p:spPr>
      </p:pic>
      <p:cxnSp>
        <p:nvCxnSpPr>
          <p:cNvPr id="63" name="Straight Arrow Connector 62"/>
          <p:cNvCxnSpPr>
            <a:stCxn id="50" idx="3"/>
            <a:endCxn id="49" idx="7"/>
          </p:cNvCxnSpPr>
          <p:nvPr/>
        </p:nvCxnSpPr>
        <p:spPr>
          <a:xfrm flipH="1">
            <a:off x="3580177" y="3923875"/>
            <a:ext cx="978316" cy="57150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Picture 6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874" y="4563144"/>
            <a:ext cx="152400" cy="152400"/>
          </a:xfrm>
          <a:prstGeom prst="rect">
            <a:avLst/>
          </a:prstGeom>
        </p:spPr>
      </p:pic>
      <p:sp>
        <p:nvSpPr>
          <p:cNvPr id="65" name="Oval 64"/>
          <p:cNvSpPr/>
          <p:nvPr/>
        </p:nvSpPr>
        <p:spPr>
          <a:xfrm>
            <a:off x="5863126" y="4451582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/>
          <p:cNvCxnSpPr>
            <a:stCxn id="50" idx="5"/>
            <a:endCxn id="65" idx="1"/>
          </p:cNvCxnSpPr>
          <p:nvPr/>
        </p:nvCxnSpPr>
        <p:spPr>
          <a:xfrm>
            <a:off x="4816187" y="3923875"/>
            <a:ext cx="1100309" cy="58107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65" idx="4"/>
            <a:endCxn id="41" idx="6"/>
          </p:cNvCxnSpPr>
          <p:nvPr/>
        </p:nvCxnSpPr>
        <p:spPr>
          <a:xfrm flipH="1">
            <a:off x="2921672" y="4816016"/>
            <a:ext cx="3123671" cy="158209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65" idx="5"/>
            <a:endCxn id="69" idx="0"/>
          </p:cNvCxnSpPr>
          <p:nvPr/>
        </p:nvCxnSpPr>
        <p:spPr>
          <a:xfrm>
            <a:off x="6174190" y="4762646"/>
            <a:ext cx="351753" cy="55560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6343726" y="5318250"/>
            <a:ext cx="364434" cy="36443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6122" y="5397361"/>
            <a:ext cx="139700" cy="190500"/>
          </a:xfrm>
          <a:prstGeom prst="rect">
            <a:avLst/>
          </a:prstGeom>
        </p:spPr>
      </p:pic>
      <p:cxnSp>
        <p:nvCxnSpPr>
          <p:cNvPr id="71" name="Straight Arrow Connector 70"/>
          <p:cNvCxnSpPr>
            <a:stCxn id="65" idx="3"/>
            <a:endCxn id="41" idx="7"/>
          </p:cNvCxnSpPr>
          <p:nvPr/>
        </p:nvCxnSpPr>
        <p:spPr>
          <a:xfrm flipH="1">
            <a:off x="2868302" y="4762646"/>
            <a:ext cx="3048194" cy="150661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urved Connector 71"/>
          <p:cNvCxnSpPr>
            <a:stCxn id="49" idx="3"/>
            <a:endCxn id="40" idx="1"/>
          </p:cNvCxnSpPr>
          <p:nvPr/>
        </p:nvCxnSpPr>
        <p:spPr>
          <a:xfrm rot="5400000">
            <a:off x="3011381" y="5060517"/>
            <a:ext cx="618545" cy="366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urved Connector 72"/>
          <p:cNvCxnSpPr>
            <a:stCxn id="49" idx="5"/>
            <a:endCxn id="40" idx="7"/>
          </p:cNvCxnSpPr>
          <p:nvPr/>
        </p:nvCxnSpPr>
        <p:spPr>
          <a:xfrm rot="5400000">
            <a:off x="3269075" y="5060517"/>
            <a:ext cx="618545" cy="366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15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Overfitting</a:t>
            </a:r>
            <a:r>
              <a:rPr lang="en-US" dirty="0" smtClean="0"/>
              <a:t> &amp; Regularization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when we can fit any function, </a:t>
            </a:r>
            <a:r>
              <a:rPr lang="en-US" b="1" dirty="0" err="1" smtClean="0">
                <a:solidFill>
                  <a:srgbClr val="288CD2"/>
                </a:solidFill>
              </a:rPr>
              <a:t>overfitting</a:t>
            </a:r>
            <a:r>
              <a:rPr lang="en-US" b="1" dirty="0" smtClean="0">
                <a:solidFill>
                  <a:srgbClr val="288CD2"/>
                </a:solidFill>
              </a:rPr>
              <a:t> </a:t>
            </a:r>
            <a:r>
              <a:rPr lang="en-US" dirty="0" smtClean="0"/>
              <a:t>becomes a big concern</a:t>
            </a:r>
          </a:p>
          <a:p>
            <a:r>
              <a:rPr lang="en-US" dirty="0" err="1" smtClean="0"/>
              <a:t>overfitting</a:t>
            </a:r>
            <a:r>
              <a:rPr lang="en-US" dirty="0" smtClean="0"/>
              <a:t>: learning a model that does well on the training set but doesn’t generalize to new data</a:t>
            </a:r>
          </a:p>
          <a:p>
            <a:r>
              <a:rPr lang="en-US" dirty="0" smtClean="0"/>
              <a:t>there are many strategies to reduce </a:t>
            </a:r>
            <a:r>
              <a:rPr lang="en-US" dirty="0" err="1" smtClean="0"/>
              <a:t>overfitting</a:t>
            </a:r>
            <a:r>
              <a:rPr lang="en-US" dirty="0" smtClean="0"/>
              <a:t> (we’ll use the general term </a:t>
            </a:r>
            <a:r>
              <a:rPr lang="en-US" b="1" dirty="0" smtClean="0">
                <a:solidFill>
                  <a:srgbClr val="288CD2"/>
                </a:solidFill>
              </a:rPr>
              <a:t>regularization</a:t>
            </a:r>
            <a:r>
              <a:rPr lang="en-US" dirty="0" smtClean="0"/>
              <a:t> for any such strategy) </a:t>
            </a:r>
          </a:p>
          <a:p>
            <a:r>
              <a:rPr lang="en-US" dirty="0" smtClean="0"/>
              <a:t>you used </a:t>
            </a:r>
            <a:r>
              <a:rPr lang="en-US" b="1" dirty="0" smtClean="0">
                <a:solidFill>
                  <a:srgbClr val="288CD2"/>
                </a:solidFill>
              </a:rPr>
              <a:t>early stopping </a:t>
            </a:r>
            <a:r>
              <a:rPr lang="en-US" dirty="0" smtClean="0"/>
              <a:t>in Assignment 1, which is one kind of regularization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734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1398"/>
            <a:ext cx="9144000" cy="726831"/>
          </a:xfrm>
        </p:spPr>
        <p:txBody>
          <a:bodyPr>
            <a:noAutofit/>
          </a:bodyPr>
          <a:lstStyle/>
          <a:p>
            <a:r>
              <a:rPr lang="en-US" sz="3200" dirty="0" smtClean="0"/>
              <a:t>Empirical Risk Minimization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31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87089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/>
              <a:t>g</a:t>
            </a:r>
            <a:r>
              <a:rPr lang="en-US" sz="2800" dirty="0" smtClean="0"/>
              <a:t>iven training data:                               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where each</a:t>
            </a:r>
            <a:r>
              <a:rPr lang="en-US" sz="2800" dirty="0"/>
              <a:t> </a:t>
            </a:r>
            <a:r>
              <a:rPr lang="en-US" sz="2800" dirty="0" smtClean="0"/>
              <a:t>                is a label</a:t>
            </a:r>
          </a:p>
          <a:p>
            <a:r>
              <a:rPr lang="en-US" sz="2800" dirty="0" smtClean="0"/>
              <a:t>we want to solve the following: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965" y="938948"/>
            <a:ext cx="2641600" cy="406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505059"/>
            <a:ext cx="1028700" cy="3556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521" y="2702560"/>
            <a:ext cx="5384800" cy="939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69565" y="2804160"/>
            <a:ext cx="1624755" cy="7298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4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1398"/>
            <a:ext cx="9144000" cy="726831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288CD2"/>
                </a:solidFill>
              </a:rPr>
              <a:t>Regularized</a:t>
            </a:r>
            <a:r>
              <a:rPr lang="en-US" sz="3200" dirty="0" smtClean="0"/>
              <a:t> Empirical Risk Minimization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32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87089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/>
              <a:t>g</a:t>
            </a:r>
            <a:r>
              <a:rPr lang="en-US" sz="2800" dirty="0" smtClean="0"/>
              <a:t>iven training data:                               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where each</a:t>
            </a:r>
            <a:r>
              <a:rPr lang="en-US" sz="2800" dirty="0"/>
              <a:t> </a:t>
            </a:r>
            <a:r>
              <a:rPr lang="en-US" sz="2800" dirty="0" smtClean="0"/>
              <a:t>                is a label</a:t>
            </a:r>
          </a:p>
          <a:p>
            <a:r>
              <a:rPr lang="en-US" sz="2800" dirty="0" smtClean="0"/>
              <a:t>we want to solve the following: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965" y="938948"/>
            <a:ext cx="2641600" cy="406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505059"/>
            <a:ext cx="1028700" cy="355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10486" y="3781646"/>
            <a:ext cx="2235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regularization term</a:t>
            </a:r>
          </a:p>
        </p:txBody>
      </p:sp>
      <p:sp>
        <p:nvSpPr>
          <p:cNvPr id="14" name="Left Brace 13"/>
          <p:cNvSpPr/>
          <p:nvPr/>
        </p:nvSpPr>
        <p:spPr>
          <a:xfrm rot="16200000">
            <a:off x="6970624" y="3230019"/>
            <a:ext cx="292920" cy="660400"/>
          </a:xfrm>
          <a:prstGeom prst="leftBrace">
            <a:avLst>
              <a:gd name="adj1" fmla="val 64855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521" y="2702560"/>
            <a:ext cx="5384800" cy="939800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H="1">
            <a:off x="6705600" y="2306320"/>
            <a:ext cx="193040" cy="71120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27606" y="1505062"/>
            <a:ext cx="2235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regularization strength</a:t>
            </a:r>
          </a:p>
        </p:txBody>
      </p:sp>
    </p:spTree>
    <p:extLst>
      <p:ext uri="{BB962C8B-B14F-4D97-AF65-F5344CB8AC3E}">
        <p14:creationId xmlns:p14="http://schemas.microsoft.com/office/powerpoint/2010/main" val="230152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Regularization 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0560"/>
            <a:ext cx="8412480" cy="399288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most common: penalize large parameter values</a:t>
            </a:r>
          </a:p>
          <a:p>
            <a:r>
              <a:rPr lang="en-US" dirty="0" smtClean="0"/>
              <a:t>intuition: large parameters might be instances of </a:t>
            </a:r>
            <a:r>
              <a:rPr lang="en-US" dirty="0" err="1" smtClean="0"/>
              <a:t>overfitting</a:t>
            </a:r>
            <a:endParaRPr lang="en-US" dirty="0" smtClean="0"/>
          </a:p>
          <a:p>
            <a:r>
              <a:rPr lang="en-US" dirty="0" smtClean="0"/>
              <a:t>examples:</a:t>
            </a:r>
          </a:p>
          <a:p>
            <a:pPr marL="457200" lvl="1" indent="0">
              <a:buNone/>
            </a:pPr>
            <a:r>
              <a:rPr lang="en-US" b="1" i="1" dirty="0" smtClean="0">
                <a:solidFill>
                  <a:srgbClr val="288CD2"/>
                </a:solidFill>
              </a:rPr>
              <a:t>L</a:t>
            </a:r>
            <a:r>
              <a:rPr lang="en-US" b="1" i="1" baseline="-25000" dirty="0" smtClean="0">
                <a:solidFill>
                  <a:srgbClr val="288CD2"/>
                </a:solidFill>
              </a:rPr>
              <a:t>2</a:t>
            </a:r>
            <a:r>
              <a:rPr lang="en-US" dirty="0" smtClean="0">
                <a:solidFill>
                  <a:srgbClr val="288CD2"/>
                </a:solidFill>
              </a:rPr>
              <a:t> </a:t>
            </a:r>
            <a:r>
              <a:rPr lang="en-US" b="1" dirty="0" smtClean="0">
                <a:solidFill>
                  <a:srgbClr val="288CD2"/>
                </a:solidFill>
              </a:rPr>
              <a:t>regularization</a:t>
            </a:r>
            <a:r>
              <a:rPr lang="en-US" dirty="0" smtClean="0"/>
              <a:t>:</a:t>
            </a:r>
          </a:p>
          <a:p>
            <a:pPr marL="457200" lvl="1" indent="0">
              <a:buNone/>
            </a:pPr>
            <a:r>
              <a:rPr lang="en-US" sz="2200" dirty="0" smtClean="0"/>
              <a:t>(also called </a:t>
            </a:r>
            <a:r>
              <a:rPr lang="en-US" sz="2200" dirty="0" err="1" smtClean="0"/>
              <a:t>Tikhonov</a:t>
            </a:r>
            <a:r>
              <a:rPr lang="en-US" sz="2200" dirty="0" smtClean="0"/>
              <a:t> regularization </a:t>
            </a:r>
          </a:p>
          <a:p>
            <a:pPr marL="457200" lvl="1" indent="0">
              <a:buNone/>
            </a:pPr>
            <a:r>
              <a:rPr lang="en-US" sz="2200" dirty="0" smtClean="0"/>
              <a:t>or ridge regression)</a:t>
            </a:r>
          </a:p>
          <a:p>
            <a:pPr marL="457200" lvl="1" indent="0">
              <a:buNone/>
            </a:pPr>
            <a:r>
              <a:rPr lang="en-US" b="1" i="1" dirty="0" smtClean="0">
                <a:solidFill>
                  <a:srgbClr val="288CD2"/>
                </a:solidFill>
              </a:rPr>
              <a:t>L</a:t>
            </a:r>
            <a:r>
              <a:rPr lang="en-US" b="1" i="1" baseline="-25000" dirty="0" smtClean="0">
                <a:solidFill>
                  <a:srgbClr val="288CD2"/>
                </a:solidFill>
              </a:rPr>
              <a:t>1</a:t>
            </a:r>
            <a:r>
              <a:rPr lang="en-US" b="1" dirty="0" smtClean="0">
                <a:solidFill>
                  <a:srgbClr val="288CD2"/>
                </a:solidFill>
              </a:rPr>
              <a:t> regularization</a:t>
            </a:r>
            <a:r>
              <a:rPr lang="en-US" dirty="0" smtClean="0"/>
              <a:t>:</a:t>
            </a:r>
          </a:p>
          <a:p>
            <a:pPr marL="457200" lvl="1" indent="0">
              <a:buNone/>
            </a:pPr>
            <a:r>
              <a:rPr lang="en-US" sz="2200" dirty="0" smtClean="0"/>
              <a:t>(also called basis pursuit or LASSO)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521" y="898229"/>
            <a:ext cx="5384800" cy="939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340" y="3896360"/>
            <a:ext cx="3136900" cy="6731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9340" y="4975860"/>
            <a:ext cx="32639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2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Regularization 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61440"/>
            <a:ext cx="8412480" cy="3992880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n-US" sz="3200" b="1" i="1" dirty="0" smtClean="0"/>
              <a:t>L</a:t>
            </a:r>
            <a:r>
              <a:rPr lang="en-US" sz="3200" b="1" i="1" baseline="-25000" dirty="0" smtClean="0"/>
              <a:t>2</a:t>
            </a:r>
            <a:r>
              <a:rPr lang="en-US" sz="3200" dirty="0" smtClean="0"/>
              <a:t> </a:t>
            </a:r>
            <a:r>
              <a:rPr lang="en-US" sz="3200" b="1" dirty="0" smtClean="0"/>
              <a:t>regularization</a:t>
            </a:r>
            <a:r>
              <a:rPr lang="en-US" sz="3200" dirty="0" smtClean="0"/>
              <a:t>:</a:t>
            </a:r>
          </a:p>
          <a:p>
            <a:pPr marL="457200" lvl="1" indent="0">
              <a:buNone/>
            </a:pPr>
            <a:endParaRPr lang="en-US" sz="2400" dirty="0" smtClean="0"/>
          </a:p>
          <a:p>
            <a:pPr marL="457200" lvl="1" indent="0">
              <a:buNone/>
            </a:pPr>
            <a:r>
              <a:rPr lang="en-US" sz="2400" dirty="0" smtClean="0"/>
              <a:t>differentiable, widely-used</a:t>
            </a:r>
          </a:p>
          <a:p>
            <a:pPr marL="457200" lvl="1" indent="0">
              <a:buNone/>
            </a:pPr>
            <a:endParaRPr lang="en-US" sz="2400" dirty="0" smtClean="0"/>
          </a:p>
          <a:p>
            <a:pPr marL="457200" lvl="1" indent="0">
              <a:buNone/>
            </a:pPr>
            <a:endParaRPr lang="en-US" sz="2400" dirty="0" smtClean="0"/>
          </a:p>
          <a:p>
            <a:pPr marL="457200" lvl="1" indent="0">
              <a:buNone/>
            </a:pPr>
            <a:r>
              <a:rPr lang="en-US" sz="3200" b="1" i="1" dirty="0" smtClean="0"/>
              <a:t>L</a:t>
            </a:r>
            <a:r>
              <a:rPr lang="en-US" sz="3200" b="1" i="1" baseline="-25000" dirty="0" smtClean="0"/>
              <a:t>1</a:t>
            </a:r>
            <a:r>
              <a:rPr lang="en-US" sz="3200" b="1" dirty="0" smtClean="0"/>
              <a:t> regularization</a:t>
            </a:r>
            <a:r>
              <a:rPr lang="en-US" sz="3200" dirty="0" smtClean="0"/>
              <a:t>:</a:t>
            </a:r>
          </a:p>
          <a:p>
            <a:pPr marL="457200" lvl="1" indent="0">
              <a:buNone/>
            </a:pPr>
            <a:endParaRPr lang="en-US" sz="2400" dirty="0" smtClean="0"/>
          </a:p>
          <a:p>
            <a:pPr marL="457200" lvl="1" indent="0">
              <a:buNone/>
            </a:pPr>
            <a:r>
              <a:rPr lang="en-US" sz="2400" dirty="0" smtClean="0"/>
              <a:t>not differentiable (but is </a:t>
            </a:r>
            <a:r>
              <a:rPr lang="en-US" sz="2400" dirty="0" err="1" smtClean="0"/>
              <a:t>subdifferentiable</a:t>
            </a:r>
            <a:r>
              <a:rPr lang="en-US" sz="2400" dirty="0" smtClean="0"/>
              <a:t>)</a:t>
            </a:r>
          </a:p>
          <a:p>
            <a:pPr marL="457200" lvl="1" indent="0">
              <a:buNone/>
            </a:pPr>
            <a:r>
              <a:rPr lang="en-US" sz="2400" dirty="0" smtClean="0"/>
              <a:t>leads to sparse solutions (many parameters become zero!)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020" y="1478280"/>
            <a:ext cx="3136900" cy="6731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020" y="3608070"/>
            <a:ext cx="32639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1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Dropout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7238"/>
            <a:ext cx="8229600" cy="2351407"/>
          </a:xfrm>
        </p:spPr>
        <p:txBody>
          <a:bodyPr/>
          <a:lstStyle/>
          <a:p>
            <a:r>
              <a:rPr lang="en-US" dirty="0" smtClean="0"/>
              <a:t>popular regularization method for neural networks</a:t>
            </a:r>
          </a:p>
          <a:p>
            <a:r>
              <a:rPr lang="en-US" dirty="0" smtClean="0"/>
              <a:t>randomly “drop out” (set to zero) some of the vector entries in the layers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/>
          </a:p>
        </p:txBody>
      </p:sp>
      <p:pic>
        <p:nvPicPr>
          <p:cNvPr id="5" name="Picture 4" descr="dropou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113" y="3128645"/>
            <a:ext cx="4348232" cy="323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7301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Optimization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you used stochastic gradient descent (SGD) in Assignment 1</a:t>
            </a:r>
          </a:p>
          <a:p>
            <a:r>
              <a:rPr lang="en-US" dirty="0" smtClean="0"/>
              <a:t>but there are many other choices:</a:t>
            </a:r>
          </a:p>
          <a:p>
            <a:pPr lvl="1"/>
            <a:r>
              <a:rPr lang="en-US" dirty="0" err="1" smtClean="0"/>
              <a:t>AdaGrad</a:t>
            </a:r>
            <a:endParaRPr lang="en-US" dirty="0" smtClean="0"/>
          </a:p>
          <a:p>
            <a:pPr lvl="1"/>
            <a:r>
              <a:rPr lang="en-US" dirty="0" err="1" smtClean="0"/>
              <a:t>AdaDelta</a:t>
            </a:r>
            <a:endParaRPr lang="en-US" dirty="0" smtClean="0"/>
          </a:p>
          <a:p>
            <a:pPr lvl="1"/>
            <a:r>
              <a:rPr lang="en-US" dirty="0" smtClean="0"/>
              <a:t>Adam</a:t>
            </a:r>
          </a:p>
          <a:p>
            <a:pPr lvl="1"/>
            <a:r>
              <a:rPr lang="en-US" dirty="0" smtClean="0"/>
              <a:t>SGD with momentum</a:t>
            </a:r>
          </a:p>
          <a:p>
            <a:r>
              <a:rPr lang="en-US" dirty="0" smtClean="0"/>
              <a:t>we don’t have time to go through these in class, but you should try using them! (most  toolkits have implementations of these and others)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42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54908</TotalTime>
  <Words>970</Words>
  <Application>Microsoft Macintosh PowerPoint</Application>
  <PresentationFormat>On-screen Show (4:3)</PresentationFormat>
  <Paragraphs>201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Calibri</vt:lpstr>
      <vt:lpstr>Arial</vt:lpstr>
      <vt:lpstr>Office Theme</vt:lpstr>
      <vt:lpstr>TTIC 31190: Natural Language Processing</vt:lpstr>
      <vt:lpstr>Announcements</vt:lpstr>
      <vt:lpstr>Roadmap</vt:lpstr>
      <vt:lpstr>What is a neural network?</vt:lpstr>
      <vt:lpstr>Classifier Framework</vt:lpstr>
      <vt:lpstr>neural layer = affine transform + nonlinearity</vt:lpstr>
      <vt:lpstr>Nonlinearities</vt:lpstr>
      <vt:lpstr>PowerPoint Presentation</vt:lpstr>
      <vt:lpstr>PowerPoint Presentation</vt:lpstr>
      <vt:lpstr>PowerPoint Presentation</vt:lpstr>
      <vt:lpstr>2-layer network</vt:lpstr>
      <vt:lpstr>2-layer neural network for sentiment classification</vt:lpstr>
      <vt:lpstr>Use softmax function to convert scores into probabilities</vt:lpstr>
      <vt:lpstr>Why nonlinearities?</vt:lpstr>
      <vt:lpstr>PowerPoint Presentation</vt:lpstr>
      <vt:lpstr>Understanding the score function</vt:lpstr>
      <vt:lpstr>Parameter sharing</vt:lpstr>
      <vt:lpstr>Observation</vt:lpstr>
      <vt:lpstr>Defining input features</vt:lpstr>
      <vt:lpstr>Empirical Risk Minimization with Surrogate Loss Functions</vt:lpstr>
      <vt:lpstr>Loss Functions</vt:lpstr>
      <vt:lpstr>(Sub)gradients of Losses for Linear Models</vt:lpstr>
      <vt:lpstr>Learning with Neural Networks</vt:lpstr>
      <vt:lpstr>Computation Graphs</vt:lpstr>
      <vt:lpstr>Backpropagation</vt:lpstr>
      <vt:lpstr>A simple computation graph:</vt:lpstr>
      <vt:lpstr>A slightly bigger computation graph:</vt:lpstr>
      <vt:lpstr>Operators can have more than 2 operands:</vt:lpstr>
      <vt:lpstr>PowerPoint Presentation</vt:lpstr>
      <vt:lpstr>Overfitting &amp; Regularization</vt:lpstr>
      <vt:lpstr>Empirical Risk Minimization</vt:lpstr>
      <vt:lpstr>Regularized Empirical Risk Minimization</vt:lpstr>
      <vt:lpstr>Regularization Terms</vt:lpstr>
      <vt:lpstr>Regularization Terms</vt:lpstr>
      <vt:lpstr>Dropout</vt:lpstr>
      <vt:lpstr>Optimization Algorithms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 Gimpel</cp:lastModifiedBy>
  <cp:revision>1799</cp:revision>
  <dcterms:created xsi:type="dcterms:W3CDTF">2015-08-31T18:15:35Z</dcterms:created>
  <dcterms:modified xsi:type="dcterms:W3CDTF">2016-02-04T20:01:12Z</dcterms:modified>
</cp:coreProperties>
</file>