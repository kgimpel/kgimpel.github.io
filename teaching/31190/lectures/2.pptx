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wdp" ContentType="image/vnd.ms-photo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0"/>
  </p:notesMasterIdLst>
  <p:handoutMasterIdLst>
    <p:handoutMasterId r:id="rId81"/>
  </p:handoutMasterIdLst>
  <p:sldIdLst>
    <p:sldId id="256" r:id="rId2"/>
    <p:sldId id="424" r:id="rId3"/>
    <p:sldId id="259" r:id="rId4"/>
    <p:sldId id="425" r:id="rId5"/>
    <p:sldId id="426" r:id="rId6"/>
    <p:sldId id="459" r:id="rId7"/>
    <p:sldId id="449" r:id="rId8"/>
    <p:sldId id="411" r:id="rId9"/>
    <p:sldId id="412" r:id="rId10"/>
    <p:sldId id="468" r:id="rId11"/>
    <p:sldId id="452" r:id="rId12"/>
    <p:sldId id="453" r:id="rId13"/>
    <p:sldId id="467" r:id="rId14"/>
    <p:sldId id="451" r:id="rId15"/>
    <p:sldId id="455" r:id="rId16"/>
    <p:sldId id="456" r:id="rId17"/>
    <p:sldId id="400" r:id="rId18"/>
    <p:sldId id="401" r:id="rId19"/>
    <p:sldId id="403" r:id="rId20"/>
    <p:sldId id="402" r:id="rId21"/>
    <p:sldId id="422" r:id="rId22"/>
    <p:sldId id="423" r:id="rId23"/>
    <p:sldId id="420" r:id="rId24"/>
    <p:sldId id="405" r:id="rId25"/>
    <p:sldId id="457" r:id="rId26"/>
    <p:sldId id="406" r:id="rId27"/>
    <p:sldId id="460" r:id="rId28"/>
    <p:sldId id="355" r:id="rId29"/>
    <p:sldId id="469" r:id="rId30"/>
    <p:sldId id="450" r:id="rId31"/>
    <p:sldId id="470" r:id="rId32"/>
    <p:sldId id="480" r:id="rId33"/>
    <p:sldId id="362" r:id="rId34"/>
    <p:sldId id="471" r:id="rId35"/>
    <p:sldId id="472" r:id="rId36"/>
    <p:sldId id="436" r:id="rId37"/>
    <p:sldId id="435" r:id="rId38"/>
    <p:sldId id="464" r:id="rId39"/>
    <p:sldId id="465" r:id="rId40"/>
    <p:sldId id="466" r:id="rId41"/>
    <p:sldId id="473" r:id="rId42"/>
    <p:sldId id="474" r:id="rId43"/>
    <p:sldId id="461" r:id="rId44"/>
    <p:sldId id="429" r:id="rId45"/>
    <p:sldId id="430" r:id="rId46"/>
    <p:sldId id="481" r:id="rId47"/>
    <p:sldId id="482" r:id="rId48"/>
    <p:sldId id="483" r:id="rId49"/>
    <p:sldId id="428" r:id="rId50"/>
    <p:sldId id="484" r:id="rId51"/>
    <p:sldId id="487" r:id="rId52"/>
    <p:sldId id="485" r:id="rId53"/>
    <p:sldId id="489" r:id="rId54"/>
    <p:sldId id="491" r:id="rId55"/>
    <p:sldId id="462" r:id="rId56"/>
    <p:sldId id="488" r:id="rId57"/>
    <p:sldId id="495" r:id="rId58"/>
    <p:sldId id="493" r:id="rId59"/>
    <p:sldId id="496" r:id="rId60"/>
    <p:sldId id="494" r:id="rId61"/>
    <p:sldId id="497" r:id="rId62"/>
    <p:sldId id="498" r:id="rId63"/>
    <p:sldId id="501" r:id="rId64"/>
    <p:sldId id="503" r:id="rId65"/>
    <p:sldId id="463" r:id="rId66"/>
    <p:sldId id="440" r:id="rId67"/>
    <p:sldId id="442" r:id="rId68"/>
    <p:sldId id="441" r:id="rId69"/>
    <p:sldId id="443" r:id="rId70"/>
    <p:sldId id="444" r:id="rId71"/>
    <p:sldId id="445" r:id="rId72"/>
    <p:sldId id="446" r:id="rId73"/>
    <p:sldId id="476" r:id="rId74"/>
    <p:sldId id="447" r:id="rId75"/>
    <p:sldId id="448" r:id="rId76"/>
    <p:sldId id="477" r:id="rId77"/>
    <p:sldId id="478" r:id="rId78"/>
    <p:sldId id="479" r:id="rId7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0000"/>
    <a:srgbClr val="288C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9414" autoAdjust="0"/>
  </p:normalViewPr>
  <p:slideViewPr>
    <p:cSldViewPr snapToGrid="0" snapToObjects="1">
      <p:cViewPr>
        <p:scale>
          <a:sx n="100" d="100"/>
          <a:sy n="100" d="100"/>
        </p:scale>
        <p:origin x="2504" y="5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80" Type="http://schemas.openxmlformats.org/officeDocument/2006/relationships/notesMaster" Target="notesMasters/notesMaster1.xml"/><Relationship Id="rId81" Type="http://schemas.openxmlformats.org/officeDocument/2006/relationships/handoutMaster" Target="handoutMasters/handoutMaster1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1/7/16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1/7/16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sentence -&gt; NER labeling</a:t>
            </a:r>
          </a:p>
          <a:p>
            <a:endParaRPr lang="en-US" dirty="0" smtClean="0"/>
          </a:p>
          <a:p>
            <a:r>
              <a:rPr lang="en-US" dirty="0" smtClean="0"/>
              <a:t>sentence -&gt; translation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err="1" smtClean="0"/>
              <a:t>Neue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Umfrage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Kaufen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Sie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eine</a:t>
            </a:r>
            <a:r>
              <a:rPr lang="en-US" baseline="0" dirty="0" smtClean="0"/>
              <a:t> Apple Watch?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sentence -&gt; parse tree</a:t>
            </a:r>
          </a:p>
          <a:p>
            <a:r>
              <a:rPr lang="en-US" dirty="0" smtClean="0"/>
              <a:t>set of documents</a:t>
            </a:r>
            <a:r>
              <a:rPr lang="en-US" baseline="0" dirty="0" smtClean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93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sentence -&gt; NER labeling</a:t>
            </a:r>
          </a:p>
          <a:p>
            <a:endParaRPr lang="en-US" dirty="0" smtClean="0"/>
          </a:p>
          <a:p>
            <a:r>
              <a:rPr lang="en-US" dirty="0" smtClean="0"/>
              <a:t>sentence -&gt; translation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err="1" smtClean="0"/>
              <a:t>Neue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Umfrage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Kaufen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Sie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eine</a:t>
            </a:r>
            <a:r>
              <a:rPr lang="en-US" baseline="0" dirty="0" smtClean="0"/>
              <a:t> Apple Watch?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sentence -&gt; parse tree</a:t>
            </a:r>
          </a:p>
          <a:p>
            <a:r>
              <a:rPr lang="en-US" dirty="0" smtClean="0"/>
              <a:t>set of documents</a:t>
            </a:r>
            <a:r>
              <a:rPr lang="en-US" baseline="0" dirty="0" smtClean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93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727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07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07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07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072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07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1/7/16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1/7/16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1/7/16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1/7/16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1/7/16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1/7/16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1/7/16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1/7/16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1/7/16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1/7/16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1/7/16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1/7/16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g"/><Relationship Id="rId20" Type="http://schemas.openxmlformats.org/officeDocument/2006/relationships/image" Target="../media/image20.jpeg"/><Relationship Id="rId10" Type="http://schemas.openxmlformats.org/officeDocument/2006/relationships/image" Target="../media/image10.jpeg"/><Relationship Id="rId11" Type="http://schemas.openxmlformats.org/officeDocument/2006/relationships/image" Target="../media/image11.jpg"/><Relationship Id="rId12" Type="http://schemas.openxmlformats.org/officeDocument/2006/relationships/image" Target="../media/image12.jpeg"/><Relationship Id="rId13" Type="http://schemas.openxmlformats.org/officeDocument/2006/relationships/image" Target="../media/image13.jpg"/><Relationship Id="rId14" Type="http://schemas.openxmlformats.org/officeDocument/2006/relationships/image" Target="../media/image14.jpg"/><Relationship Id="rId15" Type="http://schemas.openxmlformats.org/officeDocument/2006/relationships/image" Target="../media/image15.jpg"/><Relationship Id="rId16" Type="http://schemas.openxmlformats.org/officeDocument/2006/relationships/image" Target="../media/image16.jpg"/><Relationship Id="rId17" Type="http://schemas.openxmlformats.org/officeDocument/2006/relationships/image" Target="../media/image17.jpeg"/><Relationship Id="rId18" Type="http://schemas.openxmlformats.org/officeDocument/2006/relationships/image" Target="../media/image18.jpg"/><Relationship Id="rId19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jpeg"/><Relationship Id="rId5" Type="http://schemas.microsoft.com/office/2007/relationships/hdphoto" Target="../media/hdphoto1.wdp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4" Type="http://schemas.openxmlformats.org/officeDocument/2006/relationships/image" Target="../media/image26.emf"/><Relationship Id="rId5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4" Type="http://schemas.openxmlformats.org/officeDocument/2006/relationships/image" Target="../media/image26.emf"/><Relationship Id="rId5" Type="http://schemas.openxmlformats.org/officeDocument/2006/relationships/image" Target="../media/image27.emf"/><Relationship Id="rId6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4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4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4" Type="http://schemas.openxmlformats.org/officeDocument/2006/relationships/image" Target="../media/image31.emf"/><Relationship Id="rId5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4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e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e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e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e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emf"/><Relationship Id="rId3" Type="http://schemas.openxmlformats.org/officeDocument/2006/relationships/image" Target="../media/image36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4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e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e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emf"/><Relationship Id="rId3" Type="http://schemas.openxmlformats.org/officeDocument/2006/relationships/image" Target="../media/image37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4" Type="http://schemas.openxmlformats.org/officeDocument/2006/relationships/image" Target="../media/image43.emf"/><Relationship Id="rId5" Type="http://schemas.openxmlformats.org/officeDocument/2006/relationships/image" Target="../media/image4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4" Type="http://schemas.openxmlformats.org/officeDocument/2006/relationships/image" Target="../media/image43.emf"/><Relationship Id="rId5" Type="http://schemas.openxmlformats.org/officeDocument/2006/relationships/image" Target="../media/image4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e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emf"/><Relationship Id="rId3" Type="http://schemas.openxmlformats.org/officeDocument/2006/relationships/image" Target="../media/image45.e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emf"/><Relationship Id="rId3" Type="http://schemas.openxmlformats.org/officeDocument/2006/relationships/image" Target="../media/image45.e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emf"/><Relationship Id="rId3" Type="http://schemas.openxmlformats.org/officeDocument/2006/relationships/image" Target="../media/image46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4" Type="http://schemas.openxmlformats.org/officeDocument/2006/relationships/image" Target="../media/image4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e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emf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emf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emf"/><Relationship Id="rId3" Type="http://schemas.openxmlformats.org/officeDocument/2006/relationships/image" Target="../media/image48.em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emf"/><Relationship Id="rId3" Type="http://schemas.openxmlformats.org/officeDocument/2006/relationships/image" Target="../media/image48.e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4" Type="http://schemas.openxmlformats.org/officeDocument/2006/relationships/image" Target="../media/image4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4" Type="http://schemas.openxmlformats.org/officeDocument/2006/relationships/image" Target="../media/image4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4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4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e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4" Type="http://schemas.openxmlformats.org/officeDocument/2006/relationships/image" Target="../media/image51.emf"/><Relationship Id="rId5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emf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3.e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4" Type="http://schemas.openxmlformats.org/officeDocument/2006/relationships/image" Target="../media/image53.emf"/><Relationship Id="rId5" Type="http://schemas.openxmlformats.org/officeDocument/2006/relationships/image" Target="../media/image5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4" Type="http://schemas.openxmlformats.org/officeDocument/2006/relationships/image" Target="../media/image53.emf"/><Relationship Id="rId5" Type="http://schemas.openxmlformats.org/officeDocument/2006/relationships/image" Target="../media/image5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4" Type="http://schemas.openxmlformats.org/officeDocument/2006/relationships/image" Target="../media/image53.emf"/><Relationship Id="rId5" Type="http://schemas.openxmlformats.org/officeDocument/2006/relationships/image" Target="../media/image5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4" Type="http://schemas.openxmlformats.org/officeDocument/2006/relationships/image" Target="../media/image53.emf"/><Relationship Id="rId5" Type="http://schemas.openxmlformats.org/officeDocument/2006/relationships/image" Target="../media/image5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4" Type="http://schemas.openxmlformats.org/officeDocument/2006/relationships/image" Target="../media/image53.emf"/><Relationship Id="rId5" Type="http://schemas.openxmlformats.org/officeDocument/2006/relationships/image" Target="../media/image5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emf"/><Relationship Id="rId3" Type="http://schemas.openxmlformats.org/officeDocument/2006/relationships/image" Target="../media/image49.emf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/>
          <a:lstStyle/>
          <a:p>
            <a:r>
              <a:rPr lang="en-US" dirty="0" smtClean="0"/>
              <a:t>TTIC 31190:</a:t>
            </a:r>
            <a:br>
              <a:rPr lang="en-US" dirty="0" smtClean="0"/>
            </a:br>
            <a:r>
              <a:rPr lang="en-US" dirty="0" smtClean="0"/>
              <a:t>Natural Language Processing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993900"/>
            <a:ext cx="6400800" cy="34036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Winter 2016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 smtClean="0">
                <a:solidFill>
                  <a:schemeClr val="tx1"/>
                </a:solidFill>
              </a:rPr>
              <a:t>Lecture 2: Text Classification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Please email me (kgimpel@ttic.edu) with the following:</a:t>
            </a:r>
          </a:p>
          <a:p>
            <a:pPr lvl="1"/>
            <a:r>
              <a:rPr lang="en-US" dirty="0" smtClean="0"/>
              <a:t>your name</a:t>
            </a:r>
          </a:p>
          <a:p>
            <a:pPr lvl="1"/>
            <a:r>
              <a:rPr lang="en-US" dirty="0" smtClean="0"/>
              <a:t>your email address</a:t>
            </a:r>
          </a:p>
          <a:p>
            <a:pPr lvl="1"/>
            <a:r>
              <a:rPr lang="en-US" dirty="0" smtClean="0"/>
              <a:t>whether you taking the class for credit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I will use your address to create a mailing list for course announcements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293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Roadmap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sz="2400" dirty="0" smtClean="0">
                <a:solidFill>
                  <a:srgbClr val="288CD2"/>
                </a:solidFill>
              </a:rPr>
              <a:t>classification</a:t>
            </a:r>
          </a:p>
          <a:p>
            <a:r>
              <a:rPr lang="en-US" sz="2400" dirty="0" smtClean="0"/>
              <a:t>words</a:t>
            </a:r>
          </a:p>
          <a:p>
            <a:r>
              <a:rPr lang="en-US" sz="2400" dirty="0" smtClean="0"/>
              <a:t>lexical semantics</a:t>
            </a:r>
          </a:p>
          <a:p>
            <a:r>
              <a:rPr lang="en-US" sz="2400" dirty="0" smtClean="0"/>
              <a:t>language modeling</a:t>
            </a:r>
          </a:p>
          <a:p>
            <a:r>
              <a:rPr lang="en-US" sz="2400" dirty="0" smtClean="0"/>
              <a:t>sequence labeling</a:t>
            </a:r>
          </a:p>
          <a:p>
            <a:r>
              <a:rPr lang="en-US" sz="2400" dirty="0" smtClean="0"/>
              <a:t>syntax and syntactic parsing</a:t>
            </a:r>
          </a:p>
          <a:p>
            <a:r>
              <a:rPr lang="en-US" sz="2400" dirty="0" smtClean="0"/>
              <a:t>neural network methods in NLP</a:t>
            </a:r>
          </a:p>
          <a:p>
            <a:r>
              <a:rPr lang="en-US" sz="2400" dirty="0" smtClean="0"/>
              <a:t>semantic compositionality</a:t>
            </a:r>
          </a:p>
          <a:p>
            <a:r>
              <a:rPr lang="en-US" sz="2400" dirty="0" smtClean="0"/>
              <a:t>semantic parsing</a:t>
            </a:r>
          </a:p>
          <a:p>
            <a:r>
              <a:rPr lang="en-US" sz="2400" dirty="0" smtClean="0"/>
              <a:t>unsupervised learning</a:t>
            </a:r>
          </a:p>
          <a:p>
            <a:r>
              <a:rPr lang="en-US" sz="2400" dirty="0" smtClean="0"/>
              <a:t>machine translation and other applications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06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927930" y="252413"/>
            <a:ext cx="3091870" cy="507831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2800" i="0" dirty="0" smtClean="0">
                <a:solidFill>
                  <a:schemeClr val="bg1"/>
                </a:solidFill>
                <a:latin typeface="Calibri"/>
                <a:cs typeface="Calibri"/>
              </a:rPr>
              <a:t>Text Classification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723900" y="4940018"/>
            <a:ext cx="5892800" cy="1149632"/>
          </a:xfrm>
        </p:spPr>
        <p:txBody>
          <a:bodyPr>
            <a:noAutofit/>
          </a:bodyPr>
          <a:lstStyle/>
          <a:p>
            <a:r>
              <a:rPr lang="en-US" sz="2000" dirty="0" smtClean="0">
                <a:solidFill>
                  <a:srgbClr val="0062AC"/>
                </a:solidFill>
              </a:rPr>
              <a:t>spam / not spam</a:t>
            </a:r>
          </a:p>
          <a:p>
            <a:r>
              <a:rPr lang="en-US" sz="2000" dirty="0" smtClean="0">
                <a:solidFill>
                  <a:srgbClr val="0062AC"/>
                </a:solidFill>
              </a:rPr>
              <a:t>priority level</a:t>
            </a:r>
          </a:p>
          <a:p>
            <a:r>
              <a:rPr lang="en-US" sz="2000" dirty="0" smtClean="0">
                <a:solidFill>
                  <a:srgbClr val="0062AC"/>
                </a:solidFill>
              </a:rPr>
              <a:t>category (primary / social / promotions / updates)</a:t>
            </a:r>
          </a:p>
        </p:txBody>
      </p:sp>
      <p:pic>
        <p:nvPicPr>
          <p:cNvPr id="7" name="Picture 6" descr="Gmail_inbox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32" b="4186"/>
          <a:stretch/>
        </p:blipFill>
        <p:spPr>
          <a:xfrm>
            <a:off x="227585" y="1079500"/>
            <a:ext cx="8661263" cy="374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568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927930" y="252413"/>
            <a:ext cx="3091870" cy="507831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2800" i="0" dirty="0" smtClean="0">
                <a:solidFill>
                  <a:schemeClr val="bg1"/>
                </a:solidFill>
                <a:latin typeface="Calibri"/>
                <a:cs typeface="Calibri"/>
              </a:rPr>
              <a:t>Sentiment Analysis</a:t>
            </a:r>
          </a:p>
        </p:txBody>
      </p:sp>
      <p:pic>
        <p:nvPicPr>
          <p:cNvPr id="2" name="Picture 1" descr="twitrratr1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7" b="30185"/>
          <a:stretch/>
        </p:blipFill>
        <p:spPr>
          <a:xfrm>
            <a:off x="368300" y="1092200"/>
            <a:ext cx="8392657" cy="433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647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Classification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datasets</a:t>
            </a:r>
          </a:p>
          <a:p>
            <a:r>
              <a:rPr lang="en-US" dirty="0" smtClean="0"/>
              <a:t>features</a:t>
            </a:r>
          </a:p>
          <a:p>
            <a:r>
              <a:rPr lang="en-US" dirty="0" smtClean="0"/>
              <a:t>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333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NLP Datasets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NLP datasets include inputs (usually text) and outputs (usually some sort of </a:t>
            </a:r>
            <a:r>
              <a:rPr lang="en-US" dirty="0" smtClean="0">
                <a:solidFill>
                  <a:srgbClr val="288CD2"/>
                </a:solidFill>
              </a:rPr>
              <a:t>annotation</a:t>
            </a:r>
            <a:r>
              <a:rPr lang="en-US" dirty="0" smtClean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162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supervised machine learning needs labeled datasets, where labels are called </a:t>
            </a:r>
            <a:r>
              <a:rPr lang="en-US" dirty="0" smtClean="0">
                <a:solidFill>
                  <a:srgbClr val="288CD2"/>
                </a:solidFill>
              </a:rPr>
              <a:t>ground truth</a:t>
            </a:r>
            <a:endParaRPr lang="en-US" dirty="0" smtClean="0"/>
          </a:p>
          <a:p>
            <a:r>
              <a:rPr lang="en-US" dirty="0"/>
              <a:t>i</a:t>
            </a:r>
            <a:r>
              <a:rPr lang="en-US" dirty="0" smtClean="0"/>
              <a:t>n NLP, labels are annotations provided by humans</a:t>
            </a:r>
          </a:p>
          <a:p>
            <a:r>
              <a:rPr lang="en-US" dirty="0" smtClean="0"/>
              <a:t>there is always some disagreement among annotators, even for simple tasks</a:t>
            </a:r>
          </a:p>
          <a:p>
            <a:r>
              <a:rPr lang="en-US" dirty="0" smtClean="0"/>
              <a:t>these annotations are called a </a:t>
            </a:r>
            <a:r>
              <a:rPr lang="en-US" dirty="0" smtClean="0">
                <a:solidFill>
                  <a:srgbClr val="288CD2"/>
                </a:solidFill>
              </a:rPr>
              <a:t>gold </a:t>
            </a:r>
            <a:r>
              <a:rPr lang="en-US" dirty="0">
                <a:solidFill>
                  <a:srgbClr val="288CD2"/>
                </a:solidFill>
              </a:rPr>
              <a:t>standard</a:t>
            </a:r>
            <a:r>
              <a:rPr lang="en-US" dirty="0"/>
              <a:t>, not ground truth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237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are NLP datasets developed?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9440"/>
            <a:ext cx="8229600" cy="505242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paid, trained human annotation</a:t>
            </a:r>
          </a:p>
          <a:p>
            <a:pPr lvl="1"/>
            <a:r>
              <a:rPr lang="en-US" dirty="0" smtClean="0"/>
              <a:t>this is the traditional approach</a:t>
            </a:r>
          </a:p>
          <a:p>
            <a:pPr lvl="1"/>
            <a:r>
              <a:rPr lang="en-US" dirty="0" smtClean="0"/>
              <a:t>researchers write annotation guidelines, recruit &amp; pay annotators (often linguists)</a:t>
            </a:r>
          </a:p>
          <a:p>
            <a:pPr lvl="1"/>
            <a:r>
              <a:rPr lang="en-US" dirty="0" smtClean="0"/>
              <a:t>more consistent annotations, but costly to scale</a:t>
            </a:r>
          </a:p>
          <a:p>
            <a:pPr lvl="1"/>
            <a:r>
              <a:rPr lang="en-US" dirty="0" smtClean="0"/>
              <a:t>e.g., Penn Treebank (1993)</a:t>
            </a:r>
          </a:p>
          <a:p>
            <a:pPr lvl="2"/>
            <a:r>
              <a:rPr lang="en-US" dirty="0" smtClean="0"/>
              <a:t>1 million words, mostly Wall Street Journal, annotated with part-of-speech tags and syntactic parse trees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 descr="Example-tre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545" y="4941853"/>
            <a:ext cx="2108320" cy="172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075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534400" cy="5257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17 </a:t>
            </a:r>
            <a:r>
              <a:rPr lang="en-US" dirty="0" smtClean="0"/>
              <a:t>CMU researchers annotated ~2000 tweets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sz="2400" kern="1200" dirty="0" smtClean="0"/>
              <a:t>Gimpel, Schneider, O'Connor, Das, Mills, Eisenstein, </a:t>
            </a:r>
            <a:r>
              <a:rPr lang="en-US" sz="2400" kern="1200" dirty="0" err="1" smtClean="0"/>
              <a:t>Heilman</a:t>
            </a:r>
            <a:r>
              <a:rPr lang="en-US" sz="2400" kern="1200" dirty="0" smtClean="0"/>
              <a:t>, </a:t>
            </a:r>
            <a:r>
              <a:rPr lang="en-US" sz="2400" kern="1200" dirty="0" err="1" smtClean="0"/>
              <a:t>Yogatama</a:t>
            </a:r>
            <a:r>
              <a:rPr lang="en-US" sz="2400" kern="1200" dirty="0" smtClean="0"/>
              <a:t>, </a:t>
            </a:r>
            <a:r>
              <a:rPr lang="en-US" sz="2400" kern="1200" dirty="0" err="1" smtClean="0"/>
              <a:t>Flanigan</a:t>
            </a:r>
            <a:r>
              <a:rPr lang="en-US" sz="2400" kern="1200" dirty="0" smtClean="0"/>
              <a:t>, Smith. “</a:t>
            </a:r>
            <a:r>
              <a:rPr lang="en-US" sz="2400" dirty="0" smtClean="0"/>
              <a:t>Part-of-Speech Tagging for Twitter: Annotation, Features, and Experiments,” ACL 2011.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75" t="38141" r="48344" b="49375"/>
          <a:stretch/>
        </p:blipFill>
        <p:spPr bwMode="auto">
          <a:xfrm>
            <a:off x="2196066" y="2974899"/>
            <a:ext cx="948690" cy="12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1594" b="21550"/>
          <a:stretch/>
        </p:blipFill>
        <p:spPr>
          <a:xfrm>
            <a:off x="4562894" y="1760816"/>
            <a:ext cx="1003051" cy="12191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81" t="12512" r="20433" b="63"/>
          <a:stretch/>
        </p:blipFill>
        <p:spPr>
          <a:xfrm>
            <a:off x="8068413" y="2974899"/>
            <a:ext cx="899532" cy="121610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1762364"/>
            <a:ext cx="914400" cy="1219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6127"/>
          <a:stretch/>
        </p:blipFill>
        <p:spPr>
          <a:xfrm>
            <a:off x="3563838" y="1762364"/>
            <a:ext cx="999056" cy="121253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84" t="9524" r="21300" b="21693"/>
          <a:stretch/>
        </p:blipFill>
        <p:spPr>
          <a:xfrm>
            <a:off x="6460810" y="1762364"/>
            <a:ext cx="1006790" cy="1219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9" b="4458"/>
          <a:stretch/>
        </p:blipFill>
        <p:spPr>
          <a:xfrm>
            <a:off x="1230739" y="2974899"/>
            <a:ext cx="965327" cy="121610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123" b="26643"/>
          <a:stretch/>
        </p:blipFill>
        <p:spPr>
          <a:xfrm>
            <a:off x="1739680" y="1762364"/>
            <a:ext cx="909758" cy="121253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0" r="19352" b="24907"/>
          <a:stretch/>
        </p:blipFill>
        <p:spPr>
          <a:xfrm>
            <a:off x="304800" y="2974900"/>
            <a:ext cx="925939" cy="12161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4013" y="2974900"/>
            <a:ext cx="914400" cy="12161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30"/>
          <a:stretch/>
        </p:blipFill>
        <p:spPr>
          <a:xfrm>
            <a:off x="5565945" y="1760816"/>
            <a:ext cx="894865" cy="121919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1" t="4507" r="26295" b="6065"/>
          <a:stretch/>
        </p:blipFill>
        <p:spPr>
          <a:xfrm>
            <a:off x="4158816" y="2974899"/>
            <a:ext cx="1040132" cy="12161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81" y="1760816"/>
            <a:ext cx="914399" cy="121408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47"/>
          <a:stretch/>
        </p:blipFill>
        <p:spPr>
          <a:xfrm>
            <a:off x="5198948" y="2974900"/>
            <a:ext cx="1008515" cy="12161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5" t="6776" r="26023" b="41174"/>
          <a:stretch/>
        </p:blipFill>
        <p:spPr>
          <a:xfrm>
            <a:off x="3144756" y="2981564"/>
            <a:ext cx="1014060" cy="120943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438" y="1760815"/>
            <a:ext cx="914400" cy="121408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48" t="39847" r="24687" b="32348"/>
          <a:stretch/>
        </p:blipFill>
        <p:spPr>
          <a:xfrm>
            <a:off x="6207463" y="2974899"/>
            <a:ext cx="946550" cy="1216100"/>
          </a:xfrm>
          <a:prstGeom prst="rect">
            <a:avLst/>
          </a:prstGeom>
        </p:spPr>
      </p:pic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6858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Example: Twitter part-of-speech annotation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151876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-444500"/>
            <a:ext cx="8229600" cy="33528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 smtClean="0">
                <a:solidFill>
                  <a:srgbClr val="FFFFFF"/>
                </a:solidFill>
              </a:rPr>
              <a:t>paid, trained human annotation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crowdsourcing</a:t>
            </a:r>
          </a:p>
          <a:p>
            <a:pPr lvl="1"/>
            <a:r>
              <a:rPr lang="en-US" sz="2400" dirty="0" smtClean="0"/>
              <a:t>more recent trend</a:t>
            </a:r>
          </a:p>
          <a:p>
            <a:pPr lvl="1"/>
            <a:r>
              <a:rPr lang="en-US" sz="2400" dirty="0" smtClean="0"/>
              <a:t>Amazon Mechanical Turk</a:t>
            </a:r>
          </a:p>
          <a:p>
            <a:pPr lvl="1"/>
            <a:r>
              <a:rPr lang="en-US" sz="2400" dirty="0" smtClean="0"/>
              <a:t>can’t really train annotators, but easier to get multiple annotations for each input (which can then be averaged)</a:t>
            </a:r>
          </a:p>
          <a:p>
            <a:pPr lvl="1"/>
            <a:r>
              <a:rPr lang="en-US" sz="2400" dirty="0" smtClean="0"/>
              <a:t>e.g., Stanford Sentiment Treebank: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 descr="Screen Shot 2016-01-06 at 3.37.3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168" y="3619499"/>
            <a:ext cx="4659832" cy="2876551"/>
          </a:xfrm>
          <a:prstGeom prst="rect">
            <a:avLst/>
          </a:prstGeom>
        </p:spPr>
      </p:pic>
      <p:pic>
        <p:nvPicPr>
          <p:cNvPr id="7" name="Picture 6" descr="Screen Shot 2016-01-06 at 3.39.45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2794000"/>
            <a:ext cx="6591300" cy="148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036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300" y="-1097960"/>
            <a:ext cx="8229600" cy="767656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rgbClr val="FFFFFF"/>
                </a:solidFill>
              </a:rPr>
              <a:t>paid, trained human annotation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rgbClr val="FFFFFF"/>
                </a:solidFill>
              </a:rPr>
              <a:t>crowdsourcing</a:t>
            </a:r>
            <a:endParaRPr lang="en-US" dirty="0">
              <a:solidFill>
                <a:srgbClr val="FFFFFF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naturally-occurring annotation</a:t>
            </a:r>
          </a:p>
          <a:p>
            <a:pPr lvl="1"/>
            <a:r>
              <a:rPr lang="en-US" dirty="0" smtClean="0"/>
              <a:t>long history: used by IBM for speech recognition and statistical machine translation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how might you find naturally-occurring data for:</a:t>
            </a:r>
          </a:p>
          <a:p>
            <a:pPr lvl="2"/>
            <a:r>
              <a:rPr lang="en-US" dirty="0" smtClean="0">
                <a:solidFill>
                  <a:schemeClr val="bg1"/>
                </a:solidFill>
              </a:rPr>
              <a:t>conversational agents</a:t>
            </a:r>
          </a:p>
          <a:p>
            <a:pPr lvl="2"/>
            <a:r>
              <a:rPr lang="en-US" dirty="0" smtClean="0">
                <a:solidFill>
                  <a:schemeClr val="bg1"/>
                </a:solidFill>
              </a:rPr>
              <a:t>summarization</a:t>
            </a:r>
          </a:p>
          <a:p>
            <a:pPr lvl="2"/>
            <a:r>
              <a:rPr lang="en-US" dirty="0" err="1" smtClean="0">
                <a:solidFill>
                  <a:schemeClr val="bg1"/>
                </a:solidFill>
              </a:rPr>
              <a:t>coreference</a:t>
            </a:r>
            <a:r>
              <a:rPr lang="en-US" dirty="0" smtClean="0">
                <a:solidFill>
                  <a:schemeClr val="bg1"/>
                </a:solidFill>
              </a:rPr>
              <a:t> resolution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 descr="40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28" t="18672" r="15972" b="31405"/>
          <a:stretch/>
        </p:blipFill>
        <p:spPr>
          <a:xfrm>
            <a:off x="1714500" y="1639733"/>
            <a:ext cx="5727700" cy="2694142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5156200" y="4371975"/>
            <a:ext cx="2286000" cy="3815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/>
              <a:buNone/>
            </a:pPr>
            <a:r>
              <a:rPr lang="en-US" sz="1400" dirty="0" smtClean="0">
                <a:solidFill>
                  <a:srgbClr val="0062AC"/>
                </a:solidFill>
              </a:rPr>
              <a:t>credit: Brown &amp; Mercer, 20 Years of </a:t>
            </a:r>
            <a:r>
              <a:rPr lang="en-US" sz="1400" dirty="0" err="1" smtClean="0">
                <a:solidFill>
                  <a:srgbClr val="0062AC"/>
                </a:solidFill>
              </a:rPr>
              <a:t>Bitext</a:t>
            </a:r>
            <a:r>
              <a:rPr lang="en-US" sz="1400" dirty="0" smtClean="0">
                <a:solidFill>
                  <a:srgbClr val="0062AC"/>
                </a:solidFill>
              </a:rPr>
              <a:t> Workshop, 2013</a:t>
            </a: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2299083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300" y="-1097960"/>
            <a:ext cx="8229600" cy="767656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rgbClr val="FFFFFF"/>
                </a:solidFill>
              </a:rPr>
              <a:t>paid, trained human annotation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rgbClr val="FFFFFF"/>
                </a:solidFill>
              </a:rPr>
              <a:t>crowdsourcing</a:t>
            </a:r>
            <a:endParaRPr lang="en-US" dirty="0">
              <a:solidFill>
                <a:srgbClr val="FFFFFF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naturally-occurring annotation</a:t>
            </a:r>
          </a:p>
          <a:p>
            <a:pPr lvl="1"/>
            <a:r>
              <a:rPr lang="en-US" dirty="0" smtClean="0"/>
              <a:t>long history: used by IBM for speech recognition and statistical machine translation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how might you find naturally-occurring data for:</a:t>
            </a:r>
          </a:p>
          <a:p>
            <a:pPr lvl="2"/>
            <a:r>
              <a:rPr lang="en-US" dirty="0" smtClean="0"/>
              <a:t>conversational agents</a:t>
            </a:r>
          </a:p>
          <a:p>
            <a:pPr lvl="2"/>
            <a:r>
              <a:rPr lang="en-US" dirty="0" smtClean="0"/>
              <a:t>summarization</a:t>
            </a:r>
          </a:p>
          <a:p>
            <a:pPr lvl="2"/>
            <a:r>
              <a:rPr lang="en-US" dirty="0" err="1" smtClean="0"/>
              <a:t>coreference</a:t>
            </a:r>
            <a:r>
              <a:rPr lang="en-US" dirty="0" smtClean="0"/>
              <a:t> resolution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 descr="40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28" t="18672" r="15972" b="31405"/>
          <a:stretch/>
        </p:blipFill>
        <p:spPr>
          <a:xfrm>
            <a:off x="1714500" y="1639733"/>
            <a:ext cx="5727700" cy="2694142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5156200" y="4371975"/>
            <a:ext cx="2286000" cy="3815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/>
              <a:buNone/>
            </a:pPr>
            <a:r>
              <a:rPr lang="en-US" sz="1400" dirty="0" smtClean="0">
                <a:solidFill>
                  <a:srgbClr val="0062AC"/>
                </a:solidFill>
              </a:rPr>
              <a:t>credit: Brown &amp; Mercer, 20 Years of </a:t>
            </a:r>
            <a:r>
              <a:rPr lang="en-US" sz="1400" dirty="0" err="1" smtClean="0">
                <a:solidFill>
                  <a:srgbClr val="0062AC"/>
                </a:solidFill>
              </a:rPr>
              <a:t>Bitext</a:t>
            </a:r>
            <a:r>
              <a:rPr lang="en-US" sz="1400" dirty="0" smtClean="0">
                <a:solidFill>
                  <a:srgbClr val="0062AC"/>
                </a:solidFill>
              </a:rPr>
              <a:t> Workshop, 2013</a:t>
            </a: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3827514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Annotator Agreement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given annotations from two annotators, how should we measure inter-annotator agreement?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percent agreement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Cohen’s Kappa (Cohen, 1960) accounts for agreement by chance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generalizations exist for more than two annotators (Fleiss, 1971)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381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Annotator Agreement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</a:t>
            </a:r>
            <a:r>
              <a:rPr lang="en-US" dirty="0" smtClean="0"/>
              <a:t>iven annotations from two annotators, how should we measure inter-annotator agreement?</a:t>
            </a:r>
          </a:p>
          <a:p>
            <a:pPr lvl="1"/>
            <a:r>
              <a:rPr lang="en-US" dirty="0" smtClean="0"/>
              <a:t>percent agreement?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Cohen’s Kappa (Cohen, 1960) accounts for agreement by chance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generalizations exist for more than two annotators (Fleiss, 1971)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996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Annotator Agreement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</a:t>
            </a:r>
            <a:r>
              <a:rPr lang="en-US" dirty="0" smtClean="0"/>
              <a:t>iven annotations from two annotators, how should we measure inter-annotator agreement?</a:t>
            </a:r>
          </a:p>
          <a:p>
            <a:pPr lvl="1"/>
            <a:r>
              <a:rPr lang="en-US" dirty="0" smtClean="0"/>
              <a:t>percent agreement?</a:t>
            </a:r>
          </a:p>
          <a:p>
            <a:pPr lvl="1"/>
            <a:r>
              <a:rPr lang="en-US" dirty="0" smtClean="0"/>
              <a:t>Cohen’s Kappa (Cohen, 1960) accounts for agreement by chance</a:t>
            </a:r>
          </a:p>
          <a:p>
            <a:pPr lvl="1"/>
            <a:r>
              <a:rPr lang="en-US" dirty="0" smtClean="0"/>
              <a:t>generalizations exist for more than two annotators (Fleiss, 1971)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2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Text Classification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There are many annotated datasets</a:t>
            </a:r>
          </a:p>
          <a:p>
            <a:pPr lvl="1"/>
            <a:r>
              <a:rPr lang="en-US" dirty="0" smtClean="0"/>
              <a:t>Stanford Sentiment Treebank: fine-grained sentiment analysis of movie reviews</a:t>
            </a:r>
          </a:p>
          <a:p>
            <a:pPr lvl="1"/>
            <a:r>
              <a:rPr lang="en-US" dirty="0"/>
              <a:t>subjectivity/objectivity sentence classification</a:t>
            </a:r>
          </a:p>
          <a:p>
            <a:pPr lvl="1"/>
            <a:r>
              <a:rPr lang="en-US" dirty="0" smtClean="0"/>
              <a:t>binary sentiment analysis of customer reviews</a:t>
            </a:r>
          </a:p>
          <a:p>
            <a:pPr lvl="1"/>
            <a:r>
              <a:rPr lang="en-US" dirty="0" smtClean="0"/>
              <a:t>TREC question classification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154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18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58800" y="500884"/>
            <a:ext cx="8229600" cy="865127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Subjectivity/objectivity classification: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704292"/>
              </p:ext>
            </p:extLst>
          </p:nvPr>
        </p:nvGraphicFramePr>
        <p:xfrm>
          <a:off x="296336" y="1366011"/>
          <a:ext cx="8542866" cy="3225800"/>
        </p:xfrm>
        <a:graphic>
          <a:graphicData uri="http://schemas.openxmlformats.org/drawingml/2006/table">
            <a:tbl>
              <a:tblPr>
                <a:effectLst/>
                <a:tableStyleId>{9D7B26C5-4107-4FEC-AEDC-1716B250A1EF}</a:tableStyleId>
              </a:tblPr>
              <a:tblGrid>
                <a:gridCol w="7380087"/>
                <a:gridCol w="1162779"/>
              </a:tblGrid>
              <a:tr h="806450">
                <a:tc>
                  <a:txBody>
                    <a:bodyPr/>
                    <a:lstStyle/>
                    <a:p>
                      <a:r>
                        <a:rPr lang="en-US" dirty="0" smtClean="0"/>
                        <a:t>the hulk is an anger fueled monster with incredible strength and resistance to damage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 smtClean="0"/>
                        <a:t>in trying to be daring and original , it comes off as only occasionally satirical and never fresh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solondz</a:t>
                      </a:r>
                      <a:r>
                        <a:rPr lang="en-US" dirty="0" smtClean="0"/>
                        <a:t> may well be the only one laughing at his own joke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 smtClean="0"/>
                        <a:t>obstacles pop up left and right , as the adventure gets wilder and wilder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188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19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58800" y="500884"/>
            <a:ext cx="8229600" cy="865127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Subjectivity/objectivity classification: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22836"/>
              </p:ext>
            </p:extLst>
          </p:nvPr>
        </p:nvGraphicFramePr>
        <p:xfrm>
          <a:off x="296336" y="1366011"/>
          <a:ext cx="8542866" cy="3225800"/>
        </p:xfrm>
        <a:graphic>
          <a:graphicData uri="http://schemas.openxmlformats.org/drawingml/2006/table">
            <a:tbl>
              <a:tblPr>
                <a:effectLst/>
                <a:tableStyleId>{9D7B26C5-4107-4FEC-AEDC-1716B250A1EF}</a:tableStyleId>
              </a:tblPr>
              <a:tblGrid>
                <a:gridCol w="7380087"/>
                <a:gridCol w="1162779"/>
              </a:tblGrid>
              <a:tr h="806450">
                <a:tc>
                  <a:txBody>
                    <a:bodyPr/>
                    <a:lstStyle/>
                    <a:p>
                      <a:r>
                        <a:rPr lang="en-US" dirty="0" smtClean="0"/>
                        <a:t>the hulk is an anger fueled monster with incredible strength and resistance to damage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objective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 smtClean="0"/>
                        <a:t>in trying to be daring and original , it comes off as only occasionally satirical and never fresh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subjective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solondz</a:t>
                      </a:r>
                      <a:r>
                        <a:rPr lang="en-US" dirty="0" smtClean="0"/>
                        <a:t> may well be the only one laughing at his own joke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 smtClean="0"/>
                        <a:t>obstacles pop up left and right , as the adventure gets wilder and wilder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3092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20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58800" y="500884"/>
            <a:ext cx="8229600" cy="865127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Subjectivity/objectivity classification: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17192"/>
              </p:ext>
            </p:extLst>
          </p:nvPr>
        </p:nvGraphicFramePr>
        <p:xfrm>
          <a:off x="296336" y="1366011"/>
          <a:ext cx="8542866" cy="3225800"/>
        </p:xfrm>
        <a:graphic>
          <a:graphicData uri="http://schemas.openxmlformats.org/drawingml/2006/table">
            <a:tbl>
              <a:tblPr>
                <a:effectLst/>
                <a:tableStyleId>{9D7B26C5-4107-4FEC-AEDC-1716B250A1EF}</a:tableStyleId>
              </a:tblPr>
              <a:tblGrid>
                <a:gridCol w="7380087"/>
                <a:gridCol w="1162779"/>
              </a:tblGrid>
              <a:tr h="806450">
                <a:tc>
                  <a:txBody>
                    <a:bodyPr/>
                    <a:lstStyle/>
                    <a:p>
                      <a:r>
                        <a:rPr lang="en-US" dirty="0" smtClean="0"/>
                        <a:t>the hulk is an anger fueled monster with incredible strength and resistance to damage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objective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 smtClean="0"/>
                        <a:t>in trying to be daring and original , it comes off as only occasionally satirical and never fresh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subjective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solondz</a:t>
                      </a:r>
                      <a:r>
                        <a:rPr lang="en-US" dirty="0" smtClean="0"/>
                        <a:t> may well be the only one laughing at his own joke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subjective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 smtClean="0"/>
                        <a:t>obstacles pop up left and right , as the adventure gets wilder and wilder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objective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1334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21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58800" y="500884"/>
            <a:ext cx="8229600" cy="865127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Subjectivity/objectivity classification: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113776"/>
              </p:ext>
            </p:extLst>
          </p:nvPr>
        </p:nvGraphicFramePr>
        <p:xfrm>
          <a:off x="296336" y="1366011"/>
          <a:ext cx="8542866" cy="3225800"/>
        </p:xfrm>
        <a:graphic>
          <a:graphicData uri="http://schemas.openxmlformats.org/drawingml/2006/table">
            <a:tbl>
              <a:tblPr>
                <a:effectLst/>
                <a:tableStyleId>{9D7B26C5-4107-4FEC-AEDC-1716B250A1EF}</a:tableStyleId>
              </a:tblPr>
              <a:tblGrid>
                <a:gridCol w="7380087"/>
                <a:gridCol w="1162779"/>
              </a:tblGrid>
              <a:tr h="806450">
                <a:tc>
                  <a:txBody>
                    <a:bodyPr/>
                    <a:lstStyle/>
                    <a:p>
                      <a:r>
                        <a:rPr lang="en-US" dirty="0" smtClean="0"/>
                        <a:t>the hulk is an anger fueled monster with incredible strength and resistance to damage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objective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 smtClean="0"/>
                        <a:t>in trying to be daring and original , it comes off as only occasionally satirical and never fresh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subjective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solondz</a:t>
                      </a:r>
                      <a:r>
                        <a:rPr lang="en-US" dirty="0" smtClean="0"/>
                        <a:t> may well be the only one laughing at his own joke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subjective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 smtClean="0"/>
                        <a:t>obstacles pop up left and right , as the adventure gets wilder and wilder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objective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7" name="Content Placeholder 2"/>
          <p:cNvSpPr txBox="1">
            <a:spLocks/>
          </p:cNvSpPr>
          <p:nvPr/>
        </p:nvSpPr>
        <p:spPr>
          <a:xfrm>
            <a:off x="465668" y="4673600"/>
            <a:ext cx="8229600" cy="1520701"/>
          </a:xfrm>
          <a:prstGeom prst="rect">
            <a:avLst/>
          </a:prstGeom>
        </p:spPr>
        <p:txBody>
          <a:bodyPr vert="horz" lIns="91440" tIns="45720" rIns="91440" bIns="45720" numCol="1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How was this dataset generated?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IMDB plot summaries: objective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Rotten Tomatoes snippets: subjective</a:t>
            </a:r>
          </a:p>
        </p:txBody>
      </p:sp>
    </p:spTree>
    <p:extLst>
      <p:ext uri="{BB962C8B-B14F-4D97-AF65-F5344CB8AC3E}">
        <p14:creationId xmlns:p14="http://schemas.microsoft.com/office/powerpoint/2010/main" val="1785114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22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58800" y="500884"/>
            <a:ext cx="8229600" cy="865127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Subjectivity/objectivity classification: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542283"/>
              </p:ext>
            </p:extLst>
          </p:nvPr>
        </p:nvGraphicFramePr>
        <p:xfrm>
          <a:off x="296336" y="1366011"/>
          <a:ext cx="8542866" cy="3225800"/>
        </p:xfrm>
        <a:graphic>
          <a:graphicData uri="http://schemas.openxmlformats.org/drawingml/2006/table">
            <a:tbl>
              <a:tblPr>
                <a:effectLst/>
                <a:tableStyleId>{9D7B26C5-4107-4FEC-AEDC-1716B250A1EF}</a:tableStyleId>
              </a:tblPr>
              <a:tblGrid>
                <a:gridCol w="7380087"/>
                <a:gridCol w="1162779"/>
              </a:tblGrid>
              <a:tr h="806450">
                <a:tc>
                  <a:txBody>
                    <a:bodyPr/>
                    <a:lstStyle/>
                    <a:p>
                      <a:r>
                        <a:rPr lang="en-US" dirty="0" smtClean="0"/>
                        <a:t>the hulk is an anger fueled monster with incredible strength and resistance to damage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objective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 smtClean="0"/>
                        <a:t>in trying to be daring and original , it comes off as only occasionally satirical and never fresh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subjective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solondz</a:t>
                      </a:r>
                      <a:r>
                        <a:rPr lang="en-US" dirty="0" smtClean="0"/>
                        <a:t> may well be the only one laughing at his own joke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subjective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 smtClean="0"/>
                        <a:t>obstacles pop up left and right , as the adventure gets wilder and wilder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objective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7" name="Content Placeholder 2"/>
          <p:cNvSpPr txBox="1">
            <a:spLocks/>
          </p:cNvSpPr>
          <p:nvPr/>
        </p:nvSpPr>
        <p:spPr>
          <a:xfrm>
            <a:off x="465668" y="4673600"/>
            <a:ext cx="8229600" cy="1520701"/>
          </a:xfrm>
          <a:prstGeom prst="rect">
            <a:avLst/>
          </a:prstGeom>
        </p:spPr>
        <p:txBody>
          <a:bodyPr vert="horz" lIns="91440" tIns="45720" rIns="91440" bIns="45720" numCol="1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How was this dataset generated?</a:t>
            </a:r>
          </a:p>
          <a:p>
            <a:pPr lvl="1"/>
            <a:r>
              <a:rPr lang="en-US" dirty="0" smtClean="0"/>
              <a:t>IMDB plot summaries: objective</a:t>
            </a:r>
          </a:p>
          <a:p>
            <a:pPr lvl="1"/>
            <a:r>
              <a:rPr lang="en-US" dirty="0" smtClean="0"/>
              <a:t>Rotten Tomatoes snippets: subjective</a:t>
            </a:r>
          </a:p>
        </p:txBody>
      </p:sp>
    </p:spTree>
    <p:extLst>
      <p:ext uri="{BB962C8B-B14F-4D97-AF65-F5344CB8AC3E}">
        <p14:creationId xmlns:p14="http://schemas.microsoft.com/office/powerpoint/2010/main" val="1928942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23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58800" y="500884"/>
            <a:ext cx="8229600" cy="865127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Subjectivity/objectivity classification: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284296"/>
              </p:ext>
            </p:extLst>
          </p:nvPr>
        </p:nvGraphicFramePr>
        <p:xfrm>
          <a:off x="296336" y="1366011"/>
          <a:ext cx="8542866" cy="3225800"/>
        </p:xfrm>
        <a:graphic>
          <a:graphicData uri="http://schemas.openxmlformats.org/drawingml/2006/table">
            <a:tbl>
              <a:tblPr>
                <a:effectLst/>
                <a:tableStyleId>{9D7B26C5-4107-4FEC-AEDC-1716B250A1EF}</a:tableStyleId>
              </a:tblPr>
              <a:tblGrid>
                <a:gridCol w="7380087"/>
                <a:gridCol w="1162779"/>
              </a:tblGrid>
              <a:tr h="806450">
                <a:tc>
                  <a:txBody>
                    <a:bodyPr/>
                    <a:lstStyle/>
                    <a:p>
                      <a:r>
                        <a:rPr lang="en-US" dirty="0" smtClean="0"/>
                        <a:t>the hulk is an anger fueled monster with incredible strength and resistance to damage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objective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 smtClean="0"/>
                        <a:t>in trying to be daring and original , it comes off as only occasionally satirical and never fresh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subjective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solondz</a:t>
                      </a:r>
                      <a:r>
                        <a:rPr lang="en-US" dirty="0" smtClean="0"/>
                        <a:t> may well be the only one laughing at his own joke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subjective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6450">
                <a:tc>
                  <a:txBody>
                    <a:bodyPr/>
                    <a:lstStyle/>
                    <a:p>
                      <a:r>
                        <a:rPr lang="en-US" dirty="0" smtClean="0"/>
                        <a:t>obstacles pop up left and right , as the adventure gets wilder and wilder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objective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7" name="Content Placeholder 2"/>
          <p:cNvSpPr txBox="1">
            <a:spLocks/>
          </p:cNvSpPr>
          <p:nvPr/>
        </p:nvSpPr>
        <p:spPr>
          <a:xfrm>
            <a:off x="465668" y="4673600"/>
            <a:ext cx="8229600" cy="1520701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How might you generate a dataset like this?</a:t>
            </a:r>
          </a:p>
        </p:txBody>
      </p:sp>
    </p:spTree>
    <p:extLst>
      <p:ext uri="{BB962C8B-B14F-4D97-AF65-F5344CB8AC3E}">
        <p14:creationId xmlns:p14="http://schemas.microsoft.com/office/powerpoint/2010/main" val="14266196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24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58800" y="500884"/>
            <a:ext cx="8229600" cy="865127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customer review sentiment classification: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724969"/>
              </p:ext>
            </p:extLst>
          </p:nvPr>
        </p:nvGraphicFramePr>
        <p:xfrm>
          <a:off x="296336" y="1366011"/>
          <a:ext cx="8542866" cy="4032250"/>
        </p:xfrm>
        <a:graphic>
          <a:graphicData uri="http://schemas.openxmlformats.org/drawingml/2006/table">
            <a:tbl>
              <a:tblPr>
                <a:effectLst/>
                <a:tableStyleId>{9D7B26C5-4107-4FEC-AEDC-1716B250A1EF}</a:tableStyleId>
              </a:tblPr>
              <a:tblGrid>
                <a:gridCol w="7380087"/>
                <a:gridCol w="1162779"/>
              </a:tblGrid>
              <a:tr h="806450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 works with a minimum of fuss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6450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size - bigger than the </a:t>
                      </a:r>
                      <a:r>
                        <a:rPr lang="en-US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ipod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6450">
                <a:tc>
                  <a:txBody>
                    <a:bodyPr/>
                    <a:lstStyle/>
                    <a:p>
                      <a:r>
                        <a:rPr lang="en-US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've had this thing just over a month and the headphone jack has already come loose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6450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you can manage your profile , change the contrast of backlight , make different type of display , either list or tabbed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6450">
                <a:tc>
                  <a:txBody>
                    <a:bodyPr/>
                    <a:lstStyle/>
                    <a:p>
                      <a:r>
                        <a:rPr lang="en-US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replaced it with a router </a:t>
                      </a:r>
                      <a:r>
                        <a:rPr lang="en-US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raizer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and it works much better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69774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25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58800" y="500884"/>
            <a:ext cx="8229600" cy="865127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customer review sentiment classification: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99707"/>
              </p:ext>
            </p:extLst>
          </p:nvPr>
        </p:nvGraphicFramePr>
        <p:xfrm>
          <a:off x="296336" y="1366011"/>
          <a:ext cx="8542866" cy="4032250"/>
        </p:xfrm>
        <a:graphic>
          <a:graphicData uri="http://schemas.openxmlformats.org/drawingml/2006/table">
            <a:tbl>
              <a:tblPr>
                <a:effectLst/>
                <a:tableStyleId>{9D7B26C5-4107-4FEC-AEDC-1716B250A1EF}</a:tableStyleId>
              </a:tblPr>
              <a:tblGrid>
                <a:gridCol w="7380087"/>
                <a:gridCol w="1162779"/>
              </a:tblGrid>
              <a:tr h="806450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 works with a minimum of fuss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positive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6450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size - bigger than the </a:t>
                      </a:r>
                      <a:r>
                        <a:rPr lang="en-US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ipod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negative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6450">
                <a:tc>
                  <a:txBody>
                    <a:bodyPr/>
                    <a:lstStyle/>
                    <a:p>
                      <a:r>
                        <a:rPr lang="en-US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've had this thing just over a month and the headphone jack has already come loose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negative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6450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you can manage your profile , change the contrast of backlight , make different type of display , either list or tabbed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positive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6450">
                <a:tc>
                  <a:txBody>
                    <a:bodyPr/>
                    <a:lstStyle/>
                    <a:p>
                      <a:r>
                        <a:rPr lang="en-US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replaced it with a router </a:t>
                      </a:r>
                      <a:r>
                        <a:rPr lang="en-US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raizer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and it works much better 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negative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29205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26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58800" y="500884"/>
            <a:ext cx="8229600" cy="865127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q</a:t>
            </a:r>
            <a:r>
              <a:rPr lang="en-US" dirty="0" smtClean="0"/>
              <a:t>uestion classification: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950219"/>
              </p:ext>
            </p:extLst>
          </p:nvPr>
        </p:nvGraphicFramePr>
        <p:xfrm>
          <a:off x="296336" y="1366011"/>
          <a:ext cx="8542866" cy="4285488"/>
        </p:xfrm>
        <a:graphic>
          <a:graphicData uri="http://schemas.openxmlformats.org/drawingml/2006/table">
            <a:tbl>
              <a:tblPr>
                <a:effectLst/>
                <a:tableStyleId>{9D7B26C5-4107-4FEC-AEDC-1716B250A1EF}</a:tableStyleId>
              </a:tblPr>
              <a:tblGrid>
                <a:gridCol w="7031564"/>
                <a:gridCol w="1511302"/>
              </a:tblGrid>
              <a:tr h="714248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Who invented baseball ?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human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14248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CNN is an acronym for what ?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abbreviation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14248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Which Latin American country is the largest ?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location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14248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How many small businesses are there in the U.S .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number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14248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What would you add to the clay mixture to produce bone china ?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entity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14248"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What is the root of all evil ?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description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73608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Classification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dirty="0" smtClean="0"/>
              <a:t>datasets</a:t>
            </a:r>
          </a:p>
          <a:p>
            <a:r>
              <a:rPr lang="en-US" dirty="0" smtClean="0">
                <a:solidFill>
                  <a:srgbClr val="288CD2"/>
                </a:solidFill>
              </a:rPr>
              <a:t>features</a:t>
            </a:r>
          </a:p>
          <a:p>
            <a:r>
              <a:rPr lang="en-US" dirty="0" smtClean="0"/>
              <a:t>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333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Classification Framework</a:t>
            </a:r>
            <a:endParaRPr lang="en-US" sz="3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276" y="2207460"/>
            <a:ext cx="4902200" cy="52070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 bwMode="auto">
          <a:xfrm flipV="1">
            <a:off x="5907224" y="2527564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5366668" y="3056704"/>
            <a:ext cx="2493140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lang="en-US" sz="2400" b="1" i="0" dirty="0" smtClean="0">
                <a:solidFill>
                  <a:srgbClr val="FF0000"/>
                </a:solidFill>
                <a:latin typeface="Calibri"/>
                <a:cs typeface="Calibri"/>
              </a:rPr>
              <a:t>earning</a:t>
            </a:r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: choose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endParaRPr lang="en-US" sz="2400" i="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475" y="3204638"/>
            <a:ext cx="165100" cy="228600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 bwMode="auto">
          <a:xfrm flipH="1">
            <a:off x="5151076" y="1253197"/>
            <a:ext cx="304800" cy="914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 smtClean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 smtClean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  <a:endParaRPr lang="en-US" sz="2400" i="0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383" y="1422405"/>
            <a:ext cx="647700" cy="152400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 bwMode="auto">
          <a:xfrm>
            <a:off x="3699925" y="167659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Box 21"/>
          <p:cNvSpPr txBox="1"/>
          <p:nvPr/>
        </p:nvSpPr>
        <p:spPr>
          <a:xfrm>
            <a:off x="1045609" y="121493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endParaRPr lang="en-US" sz="2400" i="0" dirty="0">
              <a:solidFill>
                <a:srgbClr val="008000"/>
              </a:solidFill>
              <a:latin typeface="Calibri"/>
              <a:cs typeface="Calibri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625" y="1414131"/>
            <a:ext cx="990600" cy="2159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196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Classification Framework</a:t>
            </a:r>
            <a:endParaRPr lang="en-US" sz="3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276" y="2207460"/>
            <a:ext cx="4902200" cy="52070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 bwMode="auto">
          <a:xfrm flipV="1">
            <a:off x="5907224" y="2527564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5366668" y="3056704"/>
            <a:ext cx="2493140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lang="en-US" sz="2400" b="1" i="0" dirty="0" smtClean="0">
                <a:solidFill>
                  <a:srgbClr val="FF0000"/>
                </a:solidFill>
                <a:latin typeface="Calibri"/>
                <a:cs typeface="Calibri"/>
              </a:rPr>
              <a:t>earning</a:t>
            </a:r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: choose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endParaRPr lang="en-US" sz="2400" i="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475" y="3204638"/>
            <a:ext cx="165100" cy="228600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 bwMode="auto">
          <a:xfrm flipH="1">
            <a:off x="5151076" y="1253197"/>
            <a:ext cx="304800" cy="914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 smtClean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 smtClean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  <a:endParaRPr lang="en-US" sz="2400" i="0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383" y="1422405"/>
            <a:ext cx="647700" cy="152400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 bwMode="auto">
          <a:xfrm>
            <a:off x="3699925" y="167659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Box 21"/>
          <p:cNvSpPr txBox="1"/>
          <p:nvPr/>
        </p:nvSpPr>
        <p:spPr>
          <a:xfrm>
            <a:off x="1045609" y="121493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endParaRPr lang="en-US" sz="2400" i="0" dirty="0">
              <a:solidFill>
                <a:srgbClr val="008000"/>
              </a:solidFill>
              <a:latin typeface="Calibri"/>
              <a:cs typeface="Calibri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625" y="1414131"/>
            <a:ext cx="990600" cy="2159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29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288573" y="3840904"/>
            <a:ext cx="6547327" cy="1938992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  <a:effectLst>
            <a:softEdge rad="50800"/>
          </a:effectLst>
        </p:spPr>
        <p:txBody>
          <a:bodyPr wrap="square" rtlCol="0">
            <a:spAutoFit/>
          </a:bodyPr>
          <a:lstStyle/>
          <a:p>
            <a:r>
              <a:rPr lang="en-US" sz="2400" i="0" dirty="0" smtClean="0">
                <a:latin typeface="Calibri"/>
                <a:cs typeface="Calibri"/>
              </a:rPr>
              <a:t>our linear model text classifier:</a:t>
            </a:r>
          </a:p>
          <a:p>
            <a:endParaRPr lang="en-US" sz="2400" i="0" dirty="0" smtClean="0">
              <a:latin typeface="Calibri"/>
              <a:cs typeface="Calibri"/>
            </a:endParaRPr>
          </a:p>
          <a:p>
            <a:endParaRPr lang="en-US" sz="2400" dirty="0">
              <a:latin typeface="Calibri"/>
              <a:cs typeface="Calibri"/>
            </a:endParaRPr>
          </a:p>
          <a:p>
            <a:endParaRPr lang="en-US" sz="2400" i="0" dirty="0" smtClean="0">
              <a:latin typeface="Calibri"/>
              <a:cs typeface="Calibri"/>
            </a:endParaRPr>
          </a:p>
          <a:p>
            <a:r>
              <a:rPr lang="en-US" sz="2400" dirty="0">
                <a:latin typeface="Calibri"/>
                <a:cs typeface="Calibri"/>
              </a:rPr>
              <a:t> </a:t>
            </a:r>
            <a:endParaRPr lang="en-US" sz="2400" i="0" dirty="0">
              <a:latin typeface="Calibri"/>
              <a:cs typeface="Calibri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1500" y="4666582"/>
            <a:ext cx="55753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631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Features for NLP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NLP datasets include inputs and outputs</a:t>
            </a:r>
          </a:p>
          <a:p>
            <a:r>
              <a:rPr lang="en-US" sz="2800" dirty="0"/>
              <a:t>f</a:t>
            </a:r>
            <a:r>
              <a:rPr lang="en-US" sz="2800" dirty="0" smtClean="0"/>
              <a:t>eatures are usually not included</a:t>
            </a:r>
          </a:p>
          <a:p>
            <a:r>
              <a:rPr lang="en-US" sz="2800" dirty="0"/>
              <a:t>y</a:t>
            </a:r>
            <a:r>
              <a:rPr lang="en-US" sz="2800" dirty="0" smtClean="0"/>
              <a:t>ou have to define your own features</a:t>
            </a:r>
          </a:p>
          <a:p>
            <a:r>
              <a:rPr lang="en-US" sz="2800" dirty="0">
                <a:solidFill>
                  <a:schemeClr val="bg1"/>
                </a:solidFill>
              </a:rPr>
              <a:t>c</a:t>
            </a:r>
            <a:r>
              <a:rPr lang="en-US" sz="2800" dirty="0" smtClean="0">
                <a:solidFill>
                  <a:schemeClr val="bg1"/>
                </a:solidFill>
              </a:rPr>
              <a:t>ontrast this </a:t>
            </a:r>
            <a:r>
              <a:rPr lang="en-US" sz="2800" dirty="0">
                <a:solidFill>
                  <a:schemeClr val="bg1"/>
                </a:solidFill>
              </a:rPr>
              <a:t>with UCI </a:t>
            </a:r>
            <a:r>
              <a:rPr lang="en-US" sz="2800" dirty="0" smtClean="0">
                <a:solidFill>
                  <a:schemeClr val="bg1"/>
                </a:solidFill>
              </a:rPr>
              <a:t>datasets, which include a fixed-length “dense” feature vector for every instance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263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Features for NLP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NLP datasets include inputs and outputs</a:t>
            </a:r>
          </a:p>
          <a:p>
            <a:r>
              <a:rPr lang="en-US" sz="2800" dirty="0"/>
              <a:t>f</a:t>
            </a:r>
            <a:r>
              <a:rPr lang="en-US" sz="2800" dirty="0" smtClean="0"/>
              <a:t>eatures are usually not included</a:t>
            </a:r>
          </a:p>
          <a:p>
            <a:r>
              <a:rPr lang="en-US" sz="2800" dirty="0"/>
              <a:t>y</a:t>
            </a:r>
            <a:r>
              <a:rPr lang="en-US" sz="2800" dirty="0" smtClean="0"/>
              <a:t>ou have to define your own features</a:t>
            </a:r>
          </a:p>
          <a:p>
            <a:r>
              <a:rPr lang="en-US" sz="2800" dirty="0"/>
              <a:t>c</a:t>
            </a:r>
            <a:r>
              <a:rPr lang="en-US" sz="2800" dirty="0" smtClean="0"/>
              <a:t>ontrast this </a:t>
            </a:r>
            <a:r>
              <a:rPr lang="en-US" sz="2800" dirty="0"/>
              <a:t>with UCI </a:t>
            </a:r>
            <a:r>
              <a:rPr lang="en-US" sz="2800" dirty="0" smtClean="0"/>
              <a:t>datasets, which include a fixed-length </a:t>
            </a:r>
            <a:r>
              <a:rPr lang="en-US" sz="2800" dirty="0" smtClean="0">
                <a:solidFill>
                  <a:srgbClr val="288CD2"/>
                </a:solidFill>
              </a:rPr>
              <a:t>dense</a:t>
            </a:r>
            <a:r>
              <a:rPr lang="en-US" sz="2800" dirty="0" smtClean="0"/>
              <a:t> feature vector for every instance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31</a:t>
            </a:fld>
            <a:endParaRPr lang="en-US"/>
          </a:p>
        </p:txBody>
      </p:sp>
      <p:pic>
        <p:nvPicPr>
          <p:cNvPr id="5" name="Picture 4" descr="Screen Shot 2016-01-06 at 11.05.5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900" y="3933841"/>
            <a:ext cx="4749800" cy="196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0848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Features for NLP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NLP datasets include inputs and outputs</a:t>
            </a:r>
          </a:p>
          <a:p>
            <a:r>
              <a:rPr lang="en-US" sz="2800" dirty="0"/>
              <a:t>f</a:t>
            </a:r>
            <a:r>
              <a:rPr lang="en-US" sz="2800" dirty="0" smtClean="0"/>
              <a:t>eatures are usually not included</a:t>
            </a:r>
          </a:p>
          <a:p>
            <a:r>
              <a:rPr lang="en-US" sz="2800" dirty="0"/>
              <a:t>y</a:t>
            </a:r>
            <a:r>
              <a:rPr lang="en-US" sz="2800" dirty="0" smtClean="0"/>
              <a:t>ou have to define your own features</a:t>
            </a:r>
          </a:p>
          <a:p>
            <a:r>
              <a:rPr lang="en-US" sz="2800" dirty="0"/>
              <a:t>c</a:t>
            </a:r>
            <a:r>
              <a:rPr lang="en-US" sz="2800" dirty="0" smtClean="0"/>
              <a:t>ontrast this </a:t>
            </a:r>
            <a:r>
              <a:rPr lang="en-US" sz="2800" dirty="0"/>
              <a:t>with UCI </a:t>
            </a:r>
            <a:r>
              <a:rPr lang="en-US" sz="2800" dirty="0" smtClean="0"/>
              <a:t>datasets, which include a fixed-length </a:t>
            </a:r>
            <a:r>
              <a:rPr lang="en-US" sz="2800" dirty="0" smtClean="0">
                <a:solidFill>
                  <a:srgbClr val="288CD2"/>
                </a:solidFill>
              </a:rPr>
              <a:t>dense</a:t>
            </a:r>
            <a:r>
              <a:rPr lang="en-US" sz="2800" dirty="0" smtClean="0"/>
              <a:t> feature vector for every instance</a:t>
            </a:r>
          </a:p>
          <a:p>
            <a:r>
              <a:rPr lang="en-US" sz="2800" dirty="0" smtClean="0"/>
              <a:t>in NLP, features are usually </a:t>
            </a:r>
            <a:r>
              <a:rPr lang="en-US" sz="2800" dirty="0" smtClean="0">
                <a:solidFill>
                  <a:srgbClr val="288CD2"/>
                </a:solidFill>
              </a:rPr>
              <a:t>sparse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563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Unigram Binary Features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7824"/>
            <a:ext cx="8229600" cy="52443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</a:t>
            </a:r>
            <a:r>
              <a:rPr lang="en-US" dirty="0" smtClean="0"/>
              <a:t>wo example features: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where</a:t>
            </a:r>
          </a:p>
          <a:p>
            <a:r>
              <a:rPr lang="en-US" dirty="0" smtClean="0">
                <a:solidFill>
                  <a:srgbClr val="FFFFFF"/>
                </a:solidFill>
              </a:rPr>
              <a:t>we usually think in terms of feature templates</a:t>
            </a:r>
          </a:p>
          <a:p>
            <a:r>
              <a:rPr lang="en-US" dirty="0" smtClean="0">
                <a:solidFill>
                  <a:srgbClr val="FFFFFF"/>
                </a:solidFill>
              </a:rPr>
              <a:t>unigram binary feature template:</a:t>
            </a:r>
          </a:p>
          <a:p>
            <a:endParaRPr lang="en-US" sz="2800" dirty="0" smtClean="0">
              <a:solidFill>
                <a:srgbClr val="FFFFFF"/>
              </a:solidFill>
            </a:endParaRPr>
          </a:p>
          <a:p>
            <a:endParaRPr lang="en-US" sz="2800" dirty="0" smtClean="0">
              <a:solidFill>
                <a:srgbClr val="FFFFFF"/>
              </a:solidFill>
            </a:endParaRPr>
          </a:p>
          <a:p>
            <a:r>
              <a:rPr lang="en-US" sz="2800" dirty="0" smtClean="0">
                <a:solidFill>
                  <a:srgbClr val="FFFFFF"/>
                </a:solidFill>
              </a:rPr>
              <a:t>to create features, this feature template is instantiated for particular labels and words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650692"/>
            <a:ext cx="6172200" cy="787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980" y="2712631"/>
            <a:ext cx="4216400" cy="3175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78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Unigram Binary Features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7824"/>
            <a:ext cx="8229600" cy="52443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</a:t>
            </a:r>
            <a:r>
              <a:rPr lang="en-US" dirty="0" smtClean="0"/>
              <a:t>wo example features: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where</a:t>
            </a:r>
          </a:p>
          <a:p>
            <a:r>
              <a:rPr lang="en-US" dirty="0"/>
              <a:t>we usually think in terms of feature </a:t>
            </a:r>
            <a:r>
              <a:rPr lang="en-US" dirty="0">
                <a:solidFill>
                  <a:srgbClr val="288CD2"/>
                </a:solidFill>
              </a:rPr>
              <a:t>templates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unigram binary feature template: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800" dirty="0" smtClean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to create features, this feature template is instantiated for particular labels and words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650692"/>
            <a:ext cx="6172200" cy="787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980" y="2712631"/>
            <a:ext cx="4216400" cy="3175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96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Unigram Binary Features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7824"/>
            <a:ext cx="8229600" cy="52443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</a:t>
            </a:r>
            <a:r>
              <a:rPr lang="en-US" dirty="0" smtClean="0"/>
              <a:t>wo example features: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where</a:t>
            </a:r>
          </a:p>
          <a:p>
            <a:r>
              <a:rPr lang="en-US" dirty="0"/>
              <a:t>we usually think in terms of feature </a:t>
            </a:r>
            <a:r>
              <a:rPr lang="en-US" dirty="0">
                <a:solidFill>
                  <a:srgbClr val="288CD2"/>
                </a:solidFill>
              </a:rPr>
              <a:t>templates</a:t>
            </a:r>
          </a:p>
          <a:p>
            <a:r>
              <a:rPr lang="en-US" dirty="0" smtClean="0"/>
              <a:t>unigram binary feature template:</a:t>
            </a:r>
          </a:p>
          <a:p>
            <a:endParaRPr lang="en-US" sz="2800" dirty="0"/>
          </a:p>
          <a:p>
            <a:endParaRPr lang="en-US" sz="2800" dirty="0" smtClean="0"/>
          </a:p>
          <a:p>
            <a:r>
              <a:rPr lang="en-US" sz="2800" dirty="0" smtClean="0"/>
              <a:t>to create features, this feature template is instantiated for particular labels and words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650692"/>
            <a:ext cx="6172200" cy="787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980" y="2712631"/>
            <a:ext cx="4216400" cy="3175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35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4465594"/>
            <a:ext cx="59309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654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34231"/>
            <a:ext cx="8229600" cy="5052424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unigram binary template: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bigram binary template: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trigram </a:t>
            </a:r>
            <a:r>
              <a:rPr lang="en-US" dirty="0"/>
              <a:t>binary </a:t>
            </a:r>
            <a:r>
              <a:rPr lang="en-US" dirty="0" smtClean="0"/>
              <a:t>features</a:t>
            </a:r>
          </a:p>
          <a:p>
            <a:pPr marL="0" indent="0">
              <a:buNone/>
            </a:pPr>
            <a:r>
              <a:rPr lang="en-US" dirty="0" smtClean="0"/>
              <a:t>      …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36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00" y="1778000"/>
            <a:ext cx="5930900" cy="3683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2895600"/>
            <a:ext cx="7226300" cy="368300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/>
              <a:t>Higher-Order Binary Feature Templates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11133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Unigram </a:t>
            </a:r>
            <a:r>
              <a:rPr lang="en-US" sz="3600" b="1" dirty="0" smtClean="0">
                <a:solidFill>
                  <a:srgbClr val="000000"/>
                </a:solidFill>
              </a:rPr>
              <a:t>Count </a:t>
            </a:r>
            <a:r>
              <a:rPr lang="en-US" sz="3600" dirty="0" smtClean="0"/>
              <a:t>Features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9631"/>
            <a:ext cx="8229600" cy="5052424"/>
          </a:xfrm>
        </p:spPr>
        <p:txBody>
          <a:bodyPr/>
          <a:lstStyle/>
          <a:p>
            <a:r>
              <a:rPr lang="en-US" dirty="0" smtClean="0"/>
              <a:t>a ``count’’ feature returns the count of a particular word in the text</a:t>
            </a:r>
          </a:p>
          <a:p>
            <a:r>
              <a:rPr lang="en-US" dirty="0" smtClean="0"/>
              <a:t>unigram count feature template: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100" y="2971800"/>
            <a:ext cx="65151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832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Feature Count Cutoffs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US" dirty="0" smtClean="0"/>
              <a:t>roblem: some features are extremely rare</a:t>
            </a:r>
          </a:p>
          <a:p>
            <a:r>
              <a:rPr lang="en-US" dirty="0"/>
              <a:t>s</a:t>
            </a:r>
            <a:r>
              <a:rPr lang="en-US" dirty="0" smtClean="0"/>
              <a:t>olution: only keep features that appear at least </a:t>
            </a:r>
            <a:r>
              <a:rPr lang="en-US" i="1" dirty="0" smtClean="0"/>
              <a:t>k</a:t>
            </a:r>
            <a:r>
              <a:rPr lang="en-US" dirty="0" smtClean="0"/>
              <a:t> times in the training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4635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Feature Count Cutoffs (Example)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dirty="0" smtClean="0"/>
              <a:t>onsider the following training dataset:</a:t>
            </a:r>
          </a:p>
          <a:p>
            <a:pPr marL="457200" lvl="1" indent="0">
              <a:buNone/>
            </a:pPr>
            <a:r>
              <a:rPr lang="en-US" i="1" dirty="0" smtClean="0"/>
              <a:t>a great movie !</a:t>
            </a:r>
            <a:r>
              <a:rPr lang="en-US" dirty="0" smtClean="0"/>
              <a:t>					positive</a:t>
            </a:r>
          </a:p>
          <a:p>
            <a:pPr marL="457200" lvl="1" indent="0">
              <a:buNone/>
            </a:pPr>
            <a:r>
              <a:rPr lang="en-US" i="1" dirty="0" smtClean="0"/>
              <a:t>not such a great movie</a:t>
            </a:r>
            <a:r>
              <a:rPr lang="en-US" dirty="0" smtClean="0"/>
              <a:t>		negative</a:t>
            </a:r>
          </a:p>
          <a:p>
            <a:r>
              <a:rPr lang="en-US" dirty="0"/>
              <a:t>w</a:t>
            </a:r>
            <a:r>
              <a:rPr lang="en-US" dirty="0" smtClean="0"/>
              <a:t>ith the following single feature template:</a:t>
            </a:r>
          </a:p>
          <a:p>
            <a:endParaRPr lang="en-US" dirty="0"/>
          </a:p>
          <a:p>
            <a:r>
              <a:rPr lang="en-US" dirty="0"/>
              <a:t>w</a:t>
            </a:r>
            <a:r>
              <a:rPr lang="en-US" dirty="0" smtClean="0"/>
              <a:t>hich features would remain in the model with a feature count cutoff of 2?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429000"/>
            <a:ext cx="59309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1967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Feature Count Cutoffs (Example)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dirty="0" smtClean="0"/>
              <a:t>onsider the following training dataset:</a:t>
            </a:r>
          </a:p>
          <a:p>
            <a:pPr marL="457200" lvl="1" indent="0">
              <a:buNone/>
            </a:pPr>
            <a:r>
              <a:rPr lang="en-US" i="1" dirty="0" smtClean="0"/>
              <a:t>a great movie !</a:t>
            </a:r>
            <a:r>
              <a:rPr lang="en-US" dirty="0" smtClean="0"/>
              <a:t>					positive</a:t>
            </a:r>
          </a:p>
          <a:p>
            <a:pPr marL="457200" lvl="1" indent="0">
              <a:buNone/>
            </a:pPr>
            <a:r>
              <a:rPr lang="en-US" i="1" dirty="0" smtClean="0"/>
              <a:t>not such a great movie</a:t>
            </a:r>
            <a:r>
              <a:rPr lang="en-US" dirty="0" smtClean="0"/>
              <a:t>		negative</a:t>
            </a:r>
          </a:p>
          <a:p>
            <a:r>
              <a:rPr lang="en-US" dirty="0"/>
              <a:t>w</a:t>
            </a:r>
            <a:r>
              <a:rPr lang="en-US" dirty="0" smtClean="0"/>
              <a:t>ith the following single feature template:</a:t>
            </a:r>
          </a:p>
          <a:p>
            <a:endParaRPr lang="en-US" dirty="0"/>
          </a:p>
          <a:p>
            <a:r>
              <a:rPr lang="en-US" dirty="0"/>
              <a:t>w</a:t>
            </a:r>
            <a:r>
              <a:rPr lang="en-US" dirty="0" smtClean="0"/>
              <a:t>hich features would remain in the model with a feature count cutoff of 2?</a:t>
            </a:r>
          </a:p>
          <a:p>
            <a:pPr lvl="1"/>
            <a:r>
              <a:rPr lang="en-US" dirty="0"/>
              <a:t>n</a:t>
            </a:r>
            <a:r>
              <a:rPr lang="en-US" dirty="0" smtClean="0"/>
              <a:t>one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429000"/>
            <a:ext cx="59309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3285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Feature Count Cutoffs (Example)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dirty="0" smtClean="0"/>
              <a:t>onsider the following training dataset:</a:t>
            </a:r>
          </a:p>
          <a:p>
            <a:pPr marL="457200" lvl="1" indent="0">
              <a:buNone/>
            </a:pPr>
            <a:r>
              <a:rPr lang="en-US" i="1" dirty="0" smtClean="0"/>
              <a:t>a great movie !</a:t>
            </a:r>
            <a:r>
              <a:rPr lang="en-US" dirty="0" smtClean="0"/>
              <a:t>					positive</a:t>
            </a:r>
          </a:p>
          <a:p>
            <a:pPr marL="457200" lvl="1" indent="0">
              <a:buNone/>
            </a:pPr>
            <a:r>
              <a:rPr lang="en-US" i="1" dirty="0" smtClean="0"/>
              <a:t>not such a great movie</a:t>
            </a:r>
            <a:r>
              <a:rPr lang="en-US" dirty="0" smtClean="0"/>
              <a:t>		negative</a:t>
            </a:r>
          </a:p>
          <a:p>
            <a:r>
              <a:rPr lang="en-US" dirty="0"/>
              <a:t>w</a:t>
            </a:r>
            <a:r>
              <a:rPr lang="en-US" dirty="0" smtClean="0"/>
              <a:t>ith the following single feature template:</a:t>
            </a:r>
          </a:p>
          <a:p>
            <a:endParaRPr lang="en-US" dirty="0"/>
          </a:p>
          <a:p>
            <a:r>
              <a:rPr lang="en-US" dirty="0"/>
              <a:t>w</a:t>
            </a:r>
            <a:r>
              <a:rPr lang="en-US" dirty="0" smtClean="0"/>
              <a:t>hich features would remain in the model with a feature count cutoff of </a:t>
            </a:r>
            <a:r>
              <a:rPr lang="en-US" b="1" dirty="0" smtClean="0"/>
              <a:t>1</a:t>
            </a:r>
            <a:r>
              <a:rPr lang="en-US" dirty="0" smtClean="0"/>
              <a:t>?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429000"/>
            <a:ext cx="59309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8347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Feature Count Cutoffs (Example)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dirty="0" smtClean="0"/>
              <a:t>onsider the following training dataset:</a:t>
            </a:r>
          </a:p>
          <a:p>
            <a:pPr marL="457200" lvl="1" indent="0">
              <a:buNone/>
            </a:pPr>
            <a:r>
              <a:rPr lang="en-US" i="1" dirty="0" smtClean="0"/>
              <a:t>a great movie !</a:t>
            </a:r>
            <a:r>
              <a:rPr lang="en-US" dirty="0" smtClean="0"/>
              <a:t>					positive</a:t>
            </a:r>
          </a:p>
          <a:p>
            <a:pPr marL="457200" lvl="1" indent="0">
              <a:buNone/>
            </a:pPr>
            <a:r>
              <a:rPr lang="en-US" i="1" dirty="0" smtClean="0"/>
              <a:t>not such a great movie</a:t>
            </a:r>
            <a:r>
              <a:rPr lang="en-US" dirty="0" smtClean="0"/>
              <a:t>		negative</a:t>
            </a:r>
          </a:p>
          <a:p>
            <a:r>
              <a:rPr lang="en-US" dirty="0"/>
              <a:t>w</a:t>
            </a:r>
            <a:r>
              <a:rPr lang="en-US" dirty="0" smtClean="0"/>
              <a:t>ith the following single feature template:</a:t>
            </a:r>
          </a:p>
          <a:p>
            <a:endParaRPr lang="en-US" dirty="0"/>
          </a:p>
          <a:p>
            <a:r>
              <a:rPr lang="en-US" dirty="0"/>
              <a:t>w</a:t>
            </a:r>
            <a:r>
              <a:rPr lang="en-US" dirty="0" smtClean="0"/>
              <a:t>hich features would remain in the model with a feature count cutoff of </a:t>
            </a:r>
            <a:r>
              <a:rPr lang="en-US" b="1" dirty="0" smtClean="0"/>
              <a:t>0</a:t>
            </a:r>
            <a:r>
              <a:rPr lang="en-US" dirty="0" smtClean="0"/>
              <a:t>?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429000"/>
            <a:ext cx="59309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9190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Classification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dirty="0" smtClean="0"/>
              <a:t>datasets</a:t>
            </a:r>
          </a:p>
          <a:p>
            <a:r>
              <a:rPr lang="en-US" dirty="0" smtClean="0"/>
              <a:t>features</a:t>
            </a:r>
          </a:p>
          <a:p>
            <a:r>
              <a:rPr lang="en-US" dirty="0" smtClean="0">
                <a:solidFill>
                  <a:srgbClr val="288CD2"/>
                </a:solidFill>
              </a:rPr>
              <a:t>learning</a:t>
            </a:r>
          </a:p>
          <a:p>
            <a:pPr lvl="1"/>
            <a:r>
              <a:rPr lang="en-US" dirty="0" smtClean="0">
                <a:solidFill>
                  <a:srgbClr val="288CD2"/>
                </a:solidFill>
              </a:rPr>
              <a:t>empirical risk minimization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</a:rPr>
              <a:t>surrogate loss functions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</a:rPr>
              <a:t>gradient-based optimization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76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Learning</a:t>
            </a:r>
            <a:r>
              <a:rPr lang="en-US" dirty="0" smtClean="0"/>
              <a:t>: Empirical Risk Minimization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a machine learning course, you learn about many different learning frameworks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939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Learning</a:t>
            </a:r>
            <a:r>
              <a:rPr lang="en-US" dirty="0" smtClean="0"/>
              <a:t>: Empirical Risk Minimization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a machine learning course, you learn about many different learning frameworks</a:t>
            </a:r>
          </a:p>
          <a:p>
            <a:r>
              <a:rPr lang="en-US" dirty="0" smtClean="0"/>
              <a:t>Since we have limited time, we will be greedy and focus on a single framework that maximizes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  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(</a:t>
            </a:r>
            <a:r>
              <a:rPr lang="en-US" sz="2800" dirty="0" smtClean="0"/>
              <a:t>for some positive constants               )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We will start it today but continue to add to it later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4095750"/>
            <a:ext cx="7226300" cy="3429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650" y="5054600"/>
            <a:ext cx="9525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6882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Cost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940"/>
            <a:ext cx="8229600" cy="5052424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288CD2"/>
                </a:solidFill>
              </a:rPr>
              <a:t>cost function</a:t>
            </a:r>
            <a:r>
              <a:rPr lang="en-US" sz="2800" dirty="0" smtClean="0"/>
              <a:t>: scores outputs against a gold standard</a:t>
            </a:r>
          </a:p>
          <a:p>
            <a:endParaRPr lang="en-US" sz="2800" dirty="0" smtClean="0"/>
          </a:p>
          <a:p>
            <a:r>
              <a:rPr lang="en-US" sz="2800" dirty="0" smtClean="0"/>
              <a:t>should be as close as possible to the actual evaluation metric for your task</a:t>
            </a:r>
          </a:p>
          <a:p>
            <a:r>
              <a:rPr lang="en-US" sz="2800" dirty="0" smtClean="0"/>
              <a:t>usual conventions:</a:t>
            </a:r>
            <a:endParaRPr lang="en-US" sz="2800" dirty="0"/>
          </a:p>
          <a:p>
            <a:r>
              <a:rPr lang="en-US" sz="2800" dirty="0" smtClean="0">
                <a:solidFill>
                  <a:schemeClr val="bg1"/>
                </a:solidFill>
              </a:rPr>
              <a:t>for classification, what cost should we use?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800" dirty="0" smtClean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how about for other NLP tasks?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300" y="1587500"/>
            <a:ext cx="2552700" cy="317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300" y="3022600"/>
            <a:ext cx="1752600" cy="317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700" y="3416300"/>
            <a:ext cx="29845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25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Cost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940"/>
            <a:ext cx="8229600" cy="5052424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288CD2"/>
                </a:solidFill>
              </a:rPr>
              <a:t>cost function</a:t>
            </a:r>
            <a:r>
              <a:rPr lang="en-US" sz="2800" dirty="0" smtClean="0"/>
              <a:t>: scores outputs against a gold standard</a:t>
            </a:r>
          </a:p>
          <a:p>
            <a:endParaRPr lang="en-US" sz="2800" dirty="0" smtClean="0"/>
          </a:p>
          <a:p>
            <a:r>
              <a:rPr lang="en-US" sz="2800" dirty="0" smtClean="0"/>
              <a:t>should be as close as possible to the actual evaluation metric for your task</a:t>
            </a:r>
          </a:p>
          <a:p>
            <a:endParaRPr lang="en-US" sz="2800" dirty="0" smtClean="0"/>
          </a:p>
          <a:p>
            <a:r>
              <a:rPr lang="en-US" sz="2800" dirty="0" smtClean="0"/>
              <a:t>for classification, what cost should we use?</a:t>
            </a:r>
          </a:p>
          <a:p>
            <a:endParaRPr lang="en-US" sz="2800" dirty="0"/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dirty="0" smtClean="0">
                <a:solidFill>
                  <a:srgbClr val="FFFFFF"/>
                </a:solidFill>
              </a:rPr>
              <a:t>how about for other NLP tasks?</a:t>
            </a:r>
            <a:endParaRPr lang="en-US" sz="2800" dirty="0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300" y="1587500"/>
            <a:ext cx="25527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6765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Cost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940"/>
            <a:ext cx="8229600" cy="5052424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288CD2"/>
                </a:solidFill>
              </a:rPr>
              <a:t>cost function</a:t>
            </a:r>
            <a:r>
              <a:rPr lang="en-US" sz="2800" dirty="0" smtClean="0"/>
              <a:t>: scores outputs against a gold standard</a:t>
            </a:r>
          </a:p>
          <a:p>
            <a:endParaRPr lang="en-US" sz="2800" dirty="0" smtClean="0"/>
          </a:p>
          <a:p>
            <a:r>
              <a:rPr lang="en-US" sz="2800" dirty="0" smtClean="0"/>
              <a:t>should be as close as possible to the actual evaluation metric for your task</a:t>
            </a:r>
          </a:p>
          <a:p>
            <a:endParaRPr lang="en-US" sz="2800" dirty="0" smtClean="0"/>
          </a:p>
          <a:p>
            <a:r>
              <a:rPr lang="en-US" sz="2800" dirty="0" smtClean="0"/>
              <a:t>for classification, what cost should we use?</a:t>
            </a:r>
          </a:p>
          <a:p>
            <a:endParaRPr lang="en-US" sz="2800" dirty="0"/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dirty="0" smtClean="0"/>
              <a:t>how about for other NLP tasks?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700" y="4279900"/>
            <a:ext cx="2768600" cy="330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300" y="1587500"/>
            <a:ext cx="25527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4647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Risk Minimization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49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77800" y="1165531"/>
            <a:ext cx="8623300" cy="3342969"/>
          </a:xfrm>
        </p:spPr>
        <p:txBody>
          <a:bodyPr>
            <a:normAutofit/>
          </a:bodyPr>
          <a:lstStyle/>
          <a:p>
            <a:r>
              <a:rPr lang="en-US" sz="2800" dirty="0"/>
              <a:t>g</a:t>
            </a:r>
            <a:r>
              <a:rPr lang="en-US" sz="2800" dirty="0" smtClean="0"/>
              <a:t>iven training data:                               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where each</a:t>
            </a:r>
            <a:r>
              <a:rPr lang="en-US" sz="2800" dirty="0"/>
              <a:t> </a:t>
            </a:r>
            <a:r>
              <a:rPr lang="en-US" sz="2800" dirty="0" smtClean="0"/>
              <a:t>                is a label</a:t>
            </a:r>
          </a:p>
          <a:p>
            <a:r>
              <a:rPr lang="en-US" sz="2800" dirty="0" smtClean="0"/>
              <a:t>assume data is drawn </a:t>
            </a:r>
            <a:r>
              <a:rPr lang="en-US" sz="2800" dirty="0" err="1" smtClean="0"/>
              <a:t>iid</a:t>
            </a:r>
            <a:r>
              <a:rPr lang="en-US" sz="2800" dirty="0" smtClean="0"/>
              <a:t> (independently and identically distributed) from (unknown) joint distribution </a:t>
            </a:r>
          </a:p>
          <a:p>
            <a:r>
              <a:rPr lang="en-US" sz="2800" dirty="0" smtClean="0"/>
              <a:t>we want to solve the following: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965" y="1233588"/>
            <a:ext cx="2641600" cy="406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799699"/>
            <a:ext cx="1028700" cy="355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0" y="2791600"/>
            <a:ext cx="939800" cy="317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3400" y="4051300"/>
            <a:ext cx="55372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178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Risk Minimization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50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77800" y="1165531"/>
            <a:ext cx="8623300" cy="3342969"/>
          </a:xfrm>
        </p:spPr>
        <p:txBody>
          <a:bodyPr>
            <a:normAutofit/>
          </a:bodyPr>
          <a:lstStyle/>
          <a:p>
            <a:r>
              <a:rPr lang="en-US" sz="2800" dirty="0"/>
              <a:t>g</a:t>
            </a:r>
            <a:r>
              <a:rPr lang="en-US" sz="2800" dirty="0" smtClean="0"/>
              <a:t>iven training data:                               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where each</a:t>
            </a:r>
            <a:r>
              <a:rPr lang="en-US" sz="2800" dirty="0"/>
              <a:t> </a:t>
            </a:r>
            <a:r>
              <a:rPr lang="en-US" sz="2800" dirty="0" smtClean="0"/>
              <a:t>                is a label</a:t>
            </a:r>
          </a:p>
          <a:p>
            <a:r>
              <a:rPr lang="en-US" sz="2800" dirty="0" smtClean="0"/>
              <a:t>assume data is drawn </a:t>
            </a:r>
            <a:r>
              <a:rPr lang="en-US" sz="2800" dirty="0" err="1" smtClean="0"/>
              <a:t>iid</a:t>
            </a:r>
            <a:r>
              <a:rPr lang="en-US" sz="2800" dirty="0" smtClean="0"/>
              <a:t> (independently and identically distributed) from (unknown) joint distribution </a:t>
            </a:r>
          </a:p>
          <a:p>
            <a:r>
              <a:rPr lang="en-US" sz="2800" dirty="0" smtClean="0"/>
              <a:t>we want to solve the following: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965" y="1233588"/>
            <a:ext cx="2641600" cy="406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799699"/>
            <a:ext cx="1028700" cy="355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0" y="2791600"/>
            <a:ext cx="939800" cy="317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3400" y="4051300"/>
            <a:ext cx="5537200" cy="558800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 bwMode="auto">
          <a:xfrm flipV="1">
            <a:off x="3690738" y="4526685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TextBox 9"/>
          <p:cNvSpPr txBox="1"/>
          <p:nvPr/>
        </p:nvSpPr>
        <p:spPr>
          <a:xfrm>
            <a:off x="1446277" y="5101112"/>
            <a:ext cx="4560823" cy="584776"/>
          </a:xfrm>
          <a:prstGeom prst="rect">
            <a:avLst/>
          </a:prstGeom>
          <a:solidFill>
            <a:srgbClr val="BC0000"/>
          </a:solidFill>
          <a:ln w="3175" cmpd="sng">
            <a:solidFill>
              <a:srgbClr val="FFFFFF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cs typeface="Calibri"/>
              </a:rPr>
              <a:t>problem: </a:t>
            </a:r>
            <a:r>
              <a:rPr lang="en-US" sz="3200" i="1" dirty="0" smtClean="0">
                <a:solidFill>
                  <a:schemeClr val="bg1"/>
                </a:solidFill>
                <a:cs typeface="Calibri"/>
              </a:rPr>
              <a:t>P</a:t>
            </a:r>
            <a:r>
              <a:rPr lang="en-US" sz="3200" dirty="0" smtClean="0">
                <a:solidFill>
                  <a:schemeClr val="bg1"/>
                </a:solidFill>
                <a:cs typeface="Calibri"/>
              </a:rPr>
              <a:t> is unknown</a:t>
            </a:r>
            <a:endParaRPr lang="en-US" sz="3200" dirty="0" smtClean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9946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sz="3600" dirty="0" smtClean="0">
                <a:solidFill>
                  <a:srgbClr val="288CD2"/>
                </a:solidFill>
              </a:rPr>
              <a:t>Empirical</a:t>
            </a:r>
            <a:r>
              <a:rPr lang="en-US" sz="3600" dirty="0" smtClean="0"/>
              <a:t> Risk Minimization</a:t>
            </a:r>
            <a:br>
              <a:rPr lang="en-US" sz="3600" dirty="0" smtClean="0"/>
            </a:br>
            <a:r>
              <a:rPr lang="en-US" sz="2700" dirty="0" smtClean="0"/>
              <a:t>(</a:t>
            </a:r>
            <a:r>
              <a:rPr lang="en-US" sz="2700" dirty="0" err="1" smtClean="0"/>
              <a:t>Vapnik</a:t>
            </a:r>
            <a:r>
              <a:rPr lang="en-US" sz="2700" dirty="0" smtClean="0"/>
              <a:t> et al.)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51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77800" y="1165531"/>
            <a:ext cx="8623300" cy="334296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replace expectation with sum over examples: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400" y="1943100"/>
            <a:ext cx="5537200" cy="558800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 bwMode="auto">
          <a:xfrm>
            <a:off x="3656851" y="2501900"/>
            <a:ext cx="0" cy="957985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300" y="3657600"/>
            <a:ext cx="53594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071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sz="3600" dirty="0" smtClean="0">
                <a:solidFill>
                  <a:srgbClr val="288CD2"/>
                </a:solidFill>
              </a:rPr>
              <a:t>Empirical</a:t>
            </a:r>
            <a:r>
              <a:rPr lang="en-US" sz="3600" dirty="0" smtClean="0"/>
              <a:t> Risk Minimization</a:t>
            </a:r>
            <a:br>
              <a:rPr lang="en-US" sz="3600" dirty="0" smtClean="0"/>
            </a:br>
            <a:r>
              <a:rPr lang="en-US" sz="2700" dirty="0" smtClean="0"/>
              <a:t>(</a:t>
            </a:r>
            <a:r>
              <a:rPr lang="en-US" sz="2700" dirty="0" err="1" smtClean="0"/>
              <a:t>Vapnik</a:t>
            </a:r>
            <a:r>
              <a:rPr lang="en-US" sz="2700" dirty="0" smtClean="0"/>
              <a:t> et al.)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52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77800" y="1165531"/>
            <a:ext cx="8623300" cy="334296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replace expectation with sum over examples: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400" y="1943100"/>
            <a:ext cx="5537200" cy="558800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 bwMode="auto">
          <a:xfrm>
            <a:off x="3656851" y="2501900"/>
            <a:ext cx="0" cy="957985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300" y="3657600"/>
            <a:ext cx="5359400" cy="939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84300" y="4875867"/>
            <a:ext cx="6451600" cy="1077218"/>
          </a:xfrm>
          <a:prstGeom prst="rect">
            <a:avLst/>
          </a:prstGeom>
          <a:solidFill>
            <a:srgbClr val="BC0000"/>
          </a:solidFill>
          <a:ln w="3175" cmpd="sng">
            <a:solidFill>
              <a:srgbClr val="FFFFFF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cs typeface="Calibri"/>
              </a:rPr>
              <a:t>problem: NP-hard even for binary classification with linear models</a:t>
            </a:r>
            <a:endParaRPr lang="en-US" sz="3200" dirty="0" smtClean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9594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2032000"/>
            <a:ext cx="5359400" cy="939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84300" y="224228"/>
            <a:ext cx="6451600" cy="1569660"/>
          </a:xfrm>
          <a:prstGeom prst="rect">
            <a:avLst/>
          </a:prstGeom>
          <a:solidFill>
            <a:srgbClr val="288CD2"/>
          </a:solidFill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cs typeface="Calibri"/>
              </a:rPr>
              <a:t>solution: replace “cost loss” (also called “0-1” loss) with a </a:t>
            </a:r>
            <a:r>
              <a:rPr lang="en-US" sz="3200" b="1" dirty="0" smtClean="0">
                <a:solidFill>
                  <a:schemeClr val="bg1"/>
                </a:solidFill>
                <a:cs typeface="Calibri"/>
              </a:rPr>
              <a:t>surrogate</a:t>
            </a:r>
            <a:r>
              <a:rPr lang="en-US" sz="3200" dirty="0" smtClean="0">
                <a:solidFill>
                  <a:schemeClr val="bg1"/>
                </a:solidFill>
                <a:cs typeface="Calibri"/>
              </a:rPr>
              <a:t> function that is easier to optimize</a:t>
            </a:r>
            <a:endParaRPr lang="en-US" sz="3200" dirty="0" smtClean="0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" y="3938877"/>
            <a:ext cx="4114800" cy="939800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 bwMode="auto">
          <a:xfrm>
            <a:off x="2971051" y="2980892"/>
            <a:ext cx="0" cy="957985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2971051" y="3105817"/>
            <a:ext cx="5054600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generalize to permit any loss function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95742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54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2032000"/>
            <a:ext cx="5359400" cy="939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84300" y="224228"/>
            <a:ext cx="6451600" cy="1569660"/>
          </a:xfrm>
          <a:prstGeom prst="rect">
            <a:avLst/>
          </a:prstGeom>
          <a:solidFill>
            <a:srgbClr val="288CD2"/>
          </a:solidFill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cs typeface="Calibri"/>
              </a:rPr>
              <a:t>solution: replace “cost loss” (also called “0-1” loss) with a </a:t>
            </a:r>
            <a:r>
              <a:rPr lang="en-US" sz="3200" b="1" dirty="0" smtClean="0">
                <a:solidFill>
                  <a:schemeClr val="bg1"/>
                </a:solidFill>
                <a:cs typeface="Calibri"/>
              </a:rPr>
              <a:t>surrogate</a:t>
            </a:r>
            <a:r>
              <a:rPr lang="en-US" sz="3200" dirty="0" smtClean="0">
                <a:solidFill>
                  <a:schemeClr val="bg1"/>
                </a:solidFill>
                <a:cs typeface="Calibri"/>
              </a:rPr>
              <a:t> function that is easier to optimize</a:t>
            </a:r>
            <a:endParaRPr lang="en-US" sz="3200" dirty="0" smtClean="0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5150" y="5473700"/>
            <a:ext cx="5092700" cy="317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" y="3938877"/>
            <a:ext cx="4114800" cy="939800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 bwMode="auto">
          <a:xfrm>
            <a:off x="2971051" y="2980892"/>
            <a:ext cx="0" cy="957985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Box 15"/>
          <p:cNvSpPr txBox="1"/>
          <p:nvPr/>
        </p:nvSpPr>
        <p:spPr>
          <a:xfrm>
            <a:off x="2971051" y="3105817"/>
            <a:ext cx="5054600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generalize to permit any loss function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9451" y="5341017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288CD2"/>
                </a:solidFill>
                <a:cs typeface="Calibri"/>
              </a:rPr>
              <a:t>cost loss / 0-1 loss</a:t>
            </a:r>
            <a:r>
              <a:rPr lang="en-US" sz="2400" dirty="0" smtClean="0">
                <a:solidFill>
                  <a:srgbClr val="000000"/>
                </a:solidFill>
                <a:cs typeface="Calibri"/>
              </a:rPr>
              <a:t>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2533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Classification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dirty="0" smtClean="0"/>
              <a:t>datasets</a:t>
            </a:r>
          </a:p>
          <a:p>
            <a:r>
              <a:rPr lang="en-US" dirty="0" smtClean="0"/>
              <a:t>features</a:t>
            </a:r>
          </a:p>
          <a:p>
            <a:r>
              <a:rPr lang="en-US" dirty="0" smtClean="0">
                <a:solidFill>
                  <a:srgbClr val="288CD2"/>
                </a:solidFill>
              </a:rPr>
              <a:t>learning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</a:rPr>
              <a:t>empirical risk minimization</a:t>
            </a:r>
          </a:p>
          <a:p>
            <a:pPr lvl="1"/>
            <a:r>
              <a:rPr lang="en-US" dirty="0" smtClean="0">
                <a:solidFill>
                  <a:srgbClr val="288CD2"/>
                </a:solidFill>
              </a:rPr>
              <a:t>surrogate loss functions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</a:rPr>
              <a:t>gradient-based optimization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065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288CD2"/>
                </a:solidFill>
              </a:rPr>
              <a:t>Surrogate Loss Functions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56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00" y="1358900"/>
            <a:ext cx="5092700" cy="317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801" y="1226217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288CD2"/>
                </a:solidFill>
                <a:cs typeface="Calibri"/>
              </a:rPr>
              <a:t>cost loss / 0-1 loss</a:t>
            </a:r>
            <a:r>
              <a:rPr lang="en-US" sz="2400" dirty="0" smtClean="0">
                <a:solidFill>
                  <a:srgbClr val="000000"/>
                </a:solidFill>
                <a:cs typeface="Calibri"/>
              </a:rPr>
              <a:t>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32801" y="2620697"/>
            <a:ext cx="5645899" cy="52322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cs typeface="Calibri"/>
              </a:rPr>
              <a:t>why is this so difficult to optimize?</a:t>
            </a:r>
            <a:endParaRPr lang="en-US" sz="2800" dirty="0" smtClean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3127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288CD2"/>
                </a:solidFill>
              </a:rPr>
              <a:t>Surrogate Loss Functions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57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00" y="1358900"/>
            <a:ext cx="5092700" cy="317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801" y="1226217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288CD2"/>
                </a:solidFill>
                <a:cs typeface="Calibri"/>
              </a:rPr>
              <a:t>cost loss / 0-1 loss</a:t>
            </a:r>
            <a:r>
              <a:rPr lang="en-US" sz="2400" dirty="0" smtClean="0">
                <a:solidFill>
                  <a:srgbClr val="000000"/>
                </a:solidFill>
                <a:cs typeface="Calibri"/>
              </a:rPr>
              <a:t>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32801" y="2620697"/>
            <a:ext cx="5645899" cy="138499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cs typeface="Calibri"/>
              </a:rPr>
              <a:t>why is this so difficult to optimize?</a:t>
            </a:r>
          </a:p>
          <a:p>
            <a:pPr algn="ctr"/>
            <a:r>
              <a:rPr lang="en-US" sz="2800" dirty="0" smtClean="0">
                <a:latin typeface="Calibri"/>
                <a:cs typeface="Calibri"/>
              </a:rPr>
              <a:t>not necessarily continuous, can’t use gradient-based optimization</a:t>
            </a:r>
          </a:p>
        </p:txBody>
      </p:sp>
    </p:spTree>
    <p:extLst>
      <p:ext uri="{BB962C8B-B14F-4D97-AF65-F5344CB8AC3E}">
        <p14:creationId xmlns:p14="http://schemas.microsoft.com/office/powerpoint/2010/main" val="3328124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00"/>
                </a:solidFill>
              </a:rPr>
              <a:t>Surrogate Loss Functions</a:t>
            </a:r>
            <a:endParaRPr lang="en-US" sz="36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58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00" y="1358900"/>
            <a:ext cx="5092700" cy="317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801" y="1226217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cost loss / 0-1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2213570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288CD2"/>
                </a:solidFill>
                <a:cs typeface="Calibri"/>
              </a:rPr>
              <a:t>max-score loss</a:t>
            </a:r>
            <a:r>
              <a:rPr lang="en-US" sz="2400" dirty="0" smtClean="0">
                <a:solidFill>
                  <a:srgbClr val="000000"/>
                </a:solidFill>
                <a:cs typeface="Calibri"/>
              </a:rPr>
              <a:t>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300" y="2946400"/>
            <a:ext cx="48387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190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00"/>
                </a:solidFill>
              </a:rPr>
              <a:t>Surrogate Loss Functions</a:t>
            </a:r>
            <a:endParaRPr lang="en-US" sz="36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59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00" y="1358900"/>
            <a:ext cx="5092700" cy="317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801" y="1226217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cost loss / 0-1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2213570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288CD2"/>
                </a:solidFill>
                <a:cs typeface="Calibri"/>
              </a:rPr>
              <a:t>max-score loss</a:t>
            </a:r>
            <a:r>
              <a:rPr lang="en-US" sz="2400" dirty="0" smtClean="0">
                <a:solidFill>
                  <a:srgbClr val="000000"/>
                </a:solidFill>
                <a:cs typeface="Calibri"/>
              </a:rPr>
              <a:t>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300" y="2946400"/>
            <a:ext cx="4838700" cy="317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02601" y="4043097"/>
            <a:ext cx="6953999" cy="52322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cs typeface="Calibri"/>
              </a:rPr>
              <a:t>this is continuous, but what are its drawbacks?</a:t>
            </a:r>
            <a:endParaRPr lang="en-US" sz="2800" dirty="0" smtClean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52506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00"/>
                </a:solidFill>
              </a:rPr>
              <a:t>Surrogate Loss Functions</a:t>
            </a:r>
            <a:endParaRPr lang="en-US" sz="36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60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00" y="1358900"/>
            <a:ext cx="5092700" cy="317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801" y="1226217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cost loss / 0-1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2213570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max-score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300" y="2946400"/>
            <a:ext cx="4838700" cy="317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249" y="4305300"/>
            <a:ext cx="7226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36277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288CD2"/>
                </a:solidFill>
                <a:cs typeface="Calibri"/>
              </a:rPr>
              <a:t>perceptron loss</a:t>
            </a:r>
            <a:r>
              <a:rPr lang="en-US" sz="2400" dirty="0" smtClean="0">
                <a:solidFill>
                  <a:srgbClr val="000000"/>
                </a:solidFill>
                <a:cs typeface="Calibri"/>
              </a:rPr>
              <a:t>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0266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00"/>
                </a:solidFill>
              </a:rPr>
              <a:t>Surrogate Loss Functions</a:t>
            </a:r>
            <a:endParaRPr lang="en-US" sz="36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61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00" y="1358900"/>
            <a:ext cx="5092700" cy="317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801" y="1226217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cost loss / 0-1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2213570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max-score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300" y="2946400"/>
            <a:ext cx="4838700" cy="317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249" y="4305300"/>
            <a:ext cx="7226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36277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288CD2"/>
                </a:solidFill>
                <a:cs typeface="Calibri"/>
              </a:rPr>
              <a:t>perceptron loss</a:t>
            </a:r>
            <a:r>
              <a:rPr lang="en-US" sz="2400" dirty="0" smtClean="0">
                <a:solidFill>
                  <a:srgbClr val="000000"/>
                </a:solidFill>
                <a:cs typeface="Calibri"/>
              </a:rPr>
              <a:t>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02601" y="5173397"/>
            <a:ext cx="6953999" cy="954107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cs typeface="Calibri"/>
              </a:rPr>
              <a:t>loss function underlying perceptron algorithm (Rosenblatt, 1957-58)</a:t>
            </a:r>
            <a:endParaRPr lang="en-US" sz="2800" dirty="0" smtClean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2274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00"/>
                </a:solidFill>
              </a:rPr>
              <a:t>Surrogate Loss Functions</a:t>
            </a:r>
            <a:endParaRPr lang="en-US" sz="36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62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00" y="1358900"/>
            <a:ext cx="5092700" cy="317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801" y="1226217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cost loss / 0-1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49" y="2743200"/>
            <a:ext cx="7226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6700" y="34499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288CD2"/>
                </a:solidFill>
                <a:cs typeface="Calibri"/>
              </a:rPr>
              <a:t>hinge loss</a:t>
            </a:r>
            <a:r>
              <a:rPr lang="en-US" sz="2400" dirty="0" smtClean="0">
                <a:solidFill>
                  <a:srgbClr val="000000"/>
                </a:solidFill>
                <a:cs typeface="Calibri"/>
              </a:rPr>
              <a:t>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9600" y="20275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perceptron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" y="4165600"/>
            <a:ext cx="8851900" cy="48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695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00"/>
                </a:solidFill>
              </a:rPr>
              <a:t>Surrogate Loss Functions</a:t>
            </a:r>
            <a:endParaRPr lang="en-US" sz="36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63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00" y="1358900"/>
            <a:ext cx="5092700" cy="317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801" y="1226217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cost loss / 0-1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49" y="2743200"/>
            <a:ext cx="7226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6700" y="34499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288CD2"/>
                </a:solidFill>
                <a:cs typeface="Calibri"/>
              </a:rPr>
              <a:t>hinge loss</a:t>
            </a:r>
            <a:r>
              <a:rPr lang="en-US" sz="2400" dirty="0" smtClean="0">
                <a:solidFill>
                  <a:srgbClr val="000000"/>
                </a:solidFill>
                <a:cs typeface="Calibri"/>
              </a:rPr>
              <a:t>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9600" y="20275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perceptron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" y="4165600"/>
            <a:ext cx="8851900" cy="4814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80249" y="5173397"/>
            <a:ext cx="7480300" cy="52322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cs typeface="Calibri"/>
              </a:rPr>
              <a:t>loss function underlying support vector machines</a:t>
            </a:r>
            <a:endParaRPr lang="en-US" sz="2800" dirty="0" smtClean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4033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00"/>
                </a:solidFill>
              </a:rPr>
              <a:t>Surrogate Loss Functions</a:t>
            </a:r>
            <a:endParaRPr lang="en-US" sz="36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64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00" y="1358900"/>
            <a:ext cx="5092700" cy="317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801" y="1226217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cost loss / 0-1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49" y="2743200"/>
            <a:ext cx="7226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6700" y="34499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288CD2"/>
                </a:solidFill>
                <a:cs typeface="Calibri"/>
              </a:rPr>
              <a:t>hinge loss</a:t>
            </a:r>
            <a:r>
              <a:rPr lang="en-US" sz="2400" dirty="0" smtClean="0">
                <a:solidFill>
                  <a:srgbClr val="000000"/>
                </a:solidFill>
                <a:cs typeface="Calibri"/>
              </a:rPr>
              <a:t>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" y="5257800"/>
            <a:ext cx="8890000" cy="48288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20275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perceptron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00" y="4165600"/>
            <a:ext cx="8851900" cy="4814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549" y="4659784"/>
            <a:ext cx="5003800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288CD2"/>
                </a:solidFill>
                <a:cs typeface="Calibri"/>
              </a:rPr>
              <a:t>hinge loss</a:t>
            </a:r>
            <a:r>
              <a:rPr lang="en-US" sz="2400" dirty="0">
                <a:solidFill>
                  <a:srgbClr val="000000"/>
                </a:solidFill>
                <a:cs typeface="Calibri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cs typeface="Calibri"/>
              </a:rPr>
              <a:t>for our classification setting: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62398" y="6023917"/>
            <a:ext cx="3352051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tunable </a:t>
            </a:r>
            <a:r>
              <a:rPr lang="en-US" sz="2400" dirty="0" err="1" smtClean="0">
                <a:solidFill>
                  <a:srgbClr val="000000"/>
                </a:solidFill>
                <a:cs typeface="Calibri"/>
              </a:rPr>
              <a:t>hyperparameter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cxnSp>
        <p:nvCxnSpPr>
          <p:cNvPr id="16" name="Straight Arrow Connector 15"/>
          <p:cNvCxnSpPr/>
          <p:nvPr/>
        </p:nvCxnSpPr>
        <p:spPr bwMode="auto">
          <a:xfrm flipV="1">
            <a:off x="6718300" y="5575300"/>
            <a:ext cx="915149" cy="49169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398666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Classification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dirty="0" smtClean="0"/>
              <a:t>datasets</a:t>
            </a:r>
          </a:p>
          <a:p>
            <a:r>
              <a:rPr lang="en-US" dirty="0" smtClean="0"/>
              <a:t>features</a:t>
            </a:r>
          </a:p>
          <a:p>
            <a:r>
              <a:rPr lang="en-US" dirty="0" smtClean="0">
                <a:solidFill>
                  <a:srgbClr val="288CD2"/>
                </a:solidFill>
              </a:rPr>
              <a:t>learning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</a:rPr>
              <a:t>empirical risk minimization</a:t>
            </a:r>
          </a:p>
          <a:p>
            <a:pPr lvl="1"/>
            <a:r>
              <a:rPr lang="en-US" dirty="0" smtClean="0"/>
              <a:t>surrogate loss functions</a:t>
            </a:r>
          </a:p>
          <a:p>
            <a:pPr lvl="1"/>
            <a:r>
              <a:rPr lang="en-US" dirty="0" smtClean="0">
                <a:solidFill>
                  <a:srgbClr val="288CD2"/>
                </a:solidFill>
              </a:rPr>
              <a:t>gradient-based optimization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179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dient_descen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635" y="1502315"/>
            <a:ext cx="3659039" cy="40158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Gradient Descent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946740"/>
            <a:ext cx="8229600" cy="553026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minimizes a function </a:t>
            </a:r>
            <a:r>
              <a:rPr lang="en-US" sz="2800" i="1" dirty="0" smtClean="0"/>
              <a:t>F</a:t>
            </a:r>
            <a:r>
              <a:rPr lang="en-US" sz="2800" dirty="0" smtClean="0"/>
              <a:t> by taking steps in proportion to the negative of the gradient:</a:t>
            </a:r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66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226285"/>
            <a:ext cx="37084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07379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dient_descen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635" y="1502315"/>
            <a:ext cx="3659039" cy="4015834"/>
          </a:xfrm>
          <a:prstGeom prst="rect">
            <a:avLst/>
          </a:prstGeom>
        </p:spPr>
      </p:pic>
      <p:sp>
        <p:nvSpPr>
          <p:cNvPr id="12" name="Content Placeholder 2"/>
          <p:cNvSpPr txBox="1">
            <a:spLocks/>
          </p:cNvSpPr>
          <p:nvPr/>
        </p:nvSpPr>
        <p:spPr>
          <a:xfrm>
            <a:off x="546100" y="3263901"/>
            <a:ext cx="4292600" cy="14478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 smtClean="0"/>
              <a:t>        : </a:t>
            </a:r>
            <a:r>
              <a:rPr lang="en-US" sz="2800" dirty="0" err="1" smtClean="0"/>
              <a:t>stepsize</a:t>
            </a:r>
            <a:r>
              <a:rPr lang="en-US" sz="2800" dirty="0" smtClean="0"/>
              <a:t> at iteration </a:t>
            </a:r>
            <a:r>
              <a:rPr lang="en-US" sz="2800" i="1" dirty="0" smtClean="0"/>
              <a:t>t</a:t>
            </a:r>
          </a:p>
          <a:p>
            <a:pPr marL="0" indent="0">
              <a:buNone/>
            </a:pPr>
            <a:endParaRPr lang="en-US" sz="400" dirty="0" smtClean="0"/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          : gradient of objective function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Gradient Descent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946740"/>
            <a:ext cx="8229600" cy="553026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minimizes a function </a:t>
            </a:r>
            <a:r>
              <a:rPr lang="en-US" sz="2800" i="1" dirty="0" smtClean="0"/>
              <a:t>F </a:t>
            </a:r>
            <a:r>
              <a:rPr lang="en-US" sz="2800" dirty="0" smtClean="0"/>
              <a:t>by taking steps in proportion to the negative of the gradient:</a:t>
            </a:r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with conditions </a:t>
            </a:r>
            <a:r>
              <a:rPr lang="en-US" sz="2800" dirty="0"/>
              <a:t>on </a:t>
            </a:r>
            <a:r>
              <a:rPr lang="en-US" sz="2800" dirty="0" err="1"/>
              <a:t>stepsize</a:t>
            </a:r>
            <a:r>
              <a:rPr lang="en-US" sz="2800" dirty="0"/>
              <a:t> and objective function, will converge to local minimum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67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3328627"/>
            <a:ext cx="431800" cy="3556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226285"/>
            <a:ext cx="3708400" cy="381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3848100"/>
            <a:ext cx="12065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31127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dient_descen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635" y="1502315"/>
            <a:ext cx="3659039" cy="4015834"/>
          </a:xfrm>
          <a:prstGeom prst="rect">
            <a:avLst/>
          </a:prstGeom>
        </p:spPr>
      </p:pic>
      <p:sp>
        <p:nvSpPr>
          <p:cNvPr id="12" name="Content Placeholder 2"/>
          <p:cNvSpPr txBox="1">
            <a:spLocks/>
          </p:cNvSpPr>
          <p:nvPr/>
        </p:nvSpPr>
        <p:spPr>
          <a:xfrm>
            <a:off x="546100" y="3263901"/>
            <a:ext cx="4292600" cy="14478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 smtClean="0"/>
              <a:t>        : </a:t>
            </a:r>
            <a:r>
              <a:rPr lang="en-US" sz="2800" dirty="0" err="1" smtClean="0"/>
              <a:t>stepsize</a:t>
            </a:r>
            <a:r>
              <a:rPr lang="en-US" sz="2800" dirty="0" smtClean="0"/>
              <a:t> at iteration </a:t>
            </a:r>
            <a:r>
              <a:rPr lang="en-US" sz="2800" i="1" dirty="0" smtClean="0"/>
              <a:t>t</a:t>
            </a:r>
          </a:p>
          <a:p>
            <a:pPr marL="0" indent="0">
              <a:buNone/>
            </a:pPr>
            <a:endParaRPr lang="en-US" sz="400" dirty="0" smtClean="0"/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          : gradient of objective function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Gradient Descent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946740"/>
            <a:ext cx="8229600" cy="553026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minimizes a function </a:t>
            </a:r>
            <a:r>
              <a:rPr lang="en-US" sz="2800" i="1" dirty="0" smtClean="0"/>
              <a:t>F </a:t>
            </a:r>
            <a:r>
              <a:rPr lang="en-US" sz="2800" dirty="0" smtClean="0"/>
              <a:t>by taking steps in proportion to the negative of the gradient:</a:t>
            </a:r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with conditions </a:t>
            </a:r>
            <a:r>
              <a:rPr lang="en-US" sz="2800" dirty="0"/>
              <a:t>on </a:t>
            </a:r>
            <a:r>
              <a:rPr lang="en-US" sz="2800" dirty="0" err="1"/>
              <a:t>stepsize</a:t>
            </a:r>
            <a:r>
              <a:rPr lang="en-US" sz="2800" dirty="0"/>
              <a:t> and objective function, will converge to local minimum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68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064635" y="3537972"/>
            <a:ext cx="3770196" cy="1815882"/>
          </a:xfrm>
          <a:prstGeom prst="rect">
            <a:avLst/>
          </a:prstGeom>
          <a:solidFill>
            <a:schemeClr val="bg1"/>
          </a:solidFill>
          <a:ln w="3175" cmpd="sng"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cs typeface="Calibri"/>
              </a:rPr>
              <a:t>to speed convergence, can use line search to choose better </a:t>
            </a:r>
            <a:r>
              <a:rPr lang="en-US" sz="2800" dirty="0" err="1" smtClean="0">
                <a:cs typeface="Calibri"/>
              </a:rPr>
              <a:t>stepsizes</a:t>
            </a:r>
            <a:r>
              <a:rPr lang="en-US" sz="2800" dirty="0" smtClean="0">
                <a:cs typeface="Calibri"/>
              </a:rPr>
              <a:t>; also see L-BFGS</a:t>
            </a:r>
            <a:endParaRPr lang="en-US" sz="2800" i="0" dirty="0"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3328627"/>
            <a:ext cx="431800" cy="3556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226285"/>
            <a:ext cx="3708400" cy="3810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3848100"/>
            <a:ext cx="12065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37254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dient_descen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635" y="1502315"/>
            <a:ext cx="3659039" cy="4015834"/>
          </a:xfrm>
          <a:prstGeom prst="rect">
            <a:avLst/>
          </a:prstGeom>
        </p:spPr>
      </p:pic>
      <p:sp>
        <p:nvSpPr>
          <p:cNvPr id="12" name="Content Placeholder 2"/>
          <p:cNvSpPr txBox="1">
            <a:spLocks/>
          </p:cNvSpPr>
          <p:nvPr/>
        </p:nvSpPr>
        <p:spPr>
          <a:xfrm>
            <a:off x="546100" y="3263901"/>
            <a:ext cx="4292600" cy="14478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 smtClean="0"/>
              <a:t>        : </a:t>
            </a:r>
            <a:r>
              <a:rPr lang="en-US" sz="2800" dirty="0" err="1" smtClean="0"/>
              <a:t>stepsize</a:t>
            </a:r>
            <a:r>
              <a:rPr lang="en-US" sz="2800" dirty="0" smtClean="0"/>
              <a:t> at iteration </a:t>
            </a:r>
            <a:r>
              <a:rPr lang="en-US" sz="2800" i="1" dirty="0" smtClean="0"/>
              <a:t>t</a:t>
            </a:r>
          </a:p>
          <a:p>
            <a:pPr marL="0" indent="0">
              <a:buNone/>
            </a:pPr>
            <a:endParaRPr lang="en-US" sz="400" dirty="0" smtClean="0"/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          : gradient of objective function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Gradient Descent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946740"/>
            <a:ext cx="8229600" cy="553026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minimizes a function </a:t>
            </a:r>
            <a:r>
              <a:rPr lang="en-US" sz="2800" i="1" dirty="0" smtClean="0"/>
              <a:t>F </a:t>
            </a:r>
            <a:r>
              <a:rPr lang="en-US" sz="2800" dirty="0" smtClean="0"/>
              <a:t>by taking steps in proportion to the negative of the gradient:</a:t>
            </a:r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with conditions </a:t>
            </a:r>
            <a:r>
              <a:rPr lang="en-US" sz="2800" dirty="0"/>
              <a:t>on </a:t>
            </a:r>
            <a:r>
              <a:rPr lang="en-US" sz="2800" dirty="0" err="1"/>
              <a:t>stepsize</a:t>
            </a:r>
            <a:r>
              <a:rPr lang="en-US" sz="2800" dirty="0"/>
              <a:t> and objective function, will converge to local minimum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69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064635" y="3537972"/>
            <a:ext cx="3770196" cy="1815882"/>
          </a:xfrm>
          <a:prstGeom prst="rect">
            <a:avLst/>
          </a:prstGeom>
          <a:solidFill>
            <a:schemeClr val="bg1"/>
          </a:solidFill>
          <a:ln w="3175" cmpd="sng"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cs typeface="Calibri"/>
              </a:rPr>
              <a:t>to speed convergence, can use line search to choose better </a:t>
            </a:r>
            <a:r>
              <a:rPr lang="en-US" sz="2800" dirty="0" err="1" smtClean="0">
                <a:cs typeface="Calibri"/>
              </a:rPr>
              <a:t>stepsizes</a:t>
            </a:r>
            <a:r>
              <a:rPr lang="en-US" sz="2800" dirty="0" smtClean="0">
                <a:cs typeface="Calibri"/>
              </a:rPr>
              <a:t>; also see L-BFGS</a:t>
            </a:r>
            <a:endParaRPr lang="en-US" sz="2800" i="0" dirty="0">
              <a:latin typeface="Calibri"/>
              <a:cs typeface="Calibri"/>
            </a:endParaRPr>
          </a:p>
        </p:txBody>
      </p:sp>
      <p:cxnSp>
        <p:nvCxnSpPr>
          <p:cNvPr id="11" name="Straight Arrow Connector 10"/>
          <p:cNvCxnSpPr/>
          <p:nvPr/>
        </p:nvCxnSpPr>
        <p:spPr bwMode="auto">
          <a:xfrm flipV="1">
            <a:off x="3398638" y="2631458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2741677" y="3205885"/>
            <a:ext cx="4979923" cy="1077218"/>
          </a:xfrm>
          <a:prstGeom prst="rect">
            <a:avLst/>
          </a:prstGeom>
          <a:solidFill>
            <a:srgbClr val="BC0000"/>
          </a:solidFill>
          <a:ln w="3175" cmpd="sng">
            <a:solidFill>
              <a:srgbClr val="FFFFFF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cs typeface="Calibri"/>
              </a:rPr>
              <a:t>efficiency concern</a:t>
            </a:r>
            <a:r>
              <a:rPr lang="en-US" sz="3200" dirty="0">
                <a:solidFill>
                  <a:schemeClr val="bg1"/>
                </a:solidFill>
                <a:cs typeface="Calibri"/>
              </a:rPr>
              <a:t>: </a:t>
            </a:r>
            <a:r>
              <a:rPr lang="en-US" sz="3200" i="1" dirty="0" smtClean="0">
                <a:solidFill>
                  <a:schemeClr val="bg1"/>
                </a:solidFill>
                <a:cs typeface="Calibri"/>
              </a:rPr>
              <a:t>F</a:t>
            </a:r>
            <a:r>
              <a:rPr lang="en-US" sz="3200" dirty="0" smtClean="0">
                <a:solidFill>
                  <a:schemeClr val="bg1"/>
                </a:solidFill>
                <a:cs typeface="Calibri"/>
              </a:rPr>
              <a:t> </a:t>
            </a:r>
            <a:r>
              <a:rPr lang="en-US" sz="3200" dirty="0" smtClean="0">
                <a:solidFill>
                  <a:schemeClr val="bg1"/>
                </a:solidFill>
                <a:latin typeface="Calibri"/>
                <a:cs typeface="Calibri"/>
              </a:rPr>
              <a:t>is a sum over all training examples! 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3328627"/>
            <a:ext cx="431800" cy="355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226285"/>
            <a:ext cx="3708400" cy="3810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3848100"/>
            <a:ext cx="12065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4817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dient_descen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635" y="1502315"/>
            <a:ext cx="3659039" cy="4015834"/>
          </a:xfrm>
          <a:prstGeom prst="rect">
            <a:avLst/>
          </a:prstGeom>
        </p:spPr>
      </p:pic>
      <p:sp>
        <p:nvSpPr>
          <p:cNvPr id="12" name="Content Placeholder 2"/>
          <p:cNvSpPr txBox="1">
            <a:spLocks/>
          </p:cNvSpPr>
          <p:nvPr/>
        </p:nvSpPr>
        <p:spPr>
          <a:xfrm>
            <a:off x="546100" y="3263901"/>
            <a:ext cx="4292600" cy="14478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 smtClean="0"/>
              <a:t>        : </a:t>
            </a:r>
            <a:r>
              <a:rPr lang="en-US" sz="2800" dirty="0" err="1" smtClean="0"/>
              <a:t>stepsize</a:t>
            </a:r>
            <a:r>
              <a:rPr lang="en-US" sz="2800" dirty="0" smtClean="0"/>
              <a:t> at iteration </a:t>
            </a:r>
            <a:r>
              <a:rPr lang="en-US" sz="2800" i="1" dirty="0" smtClean="0"/>
              <a:t>t</a:t>
            </a:r>
          </a:p>
          <a:p>
            <a:pPr marL="0" indent="0">
              <a:buNone/>
            </a:pPr>
            <a:endParaRPr lang="en-US" sz="400" dirty="0" smtClean="0"/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          : gradient of objective function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Gradient Descent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946740"/>
            <a:ext cx="8229600" cy="553026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minimizes a function </a:t>
            </a:r>
            <a:r>
              <a:rPr lang="en-US" sz="2800" i="1" dirty="0" smtClean="0"/>
              <a:t>F </a:t>
            </a:r>
            <a:r>
              <a:rPr lang="en-US" sz="2800" dirty="0" smtClean="0"/>
              <a:t>by taking steps in proportion to the negative of the gradient:</a:t>
            </a:r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with conditions </a:t>
            </a:r>
            <a:r>
              <a:rPr lang="en-US" sz="2800" dirty="0"/>
              <a:t>on </a:t>
            </a:r>
            <a:r>
              <a:rPr lang="en-US" sz="2800" dirty="0" err="1"/>
              <a:t>stepsize</a:t>
            </a:r>
            <a:r>
              <a:rPr lang="en-US" sz="2800" dirty="0"/>
              <a:t> and objective function, will converge to local minimum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70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064635" y="3537972"/>
            <a:ext cx="3770196" cy="1815882"/>
          </a:xfrm>
          <a:prstGeom prst="rect">
            <a:avLst/>
          </a:prstGeom>
          <a:solidFill>
            <a:schemeClr val="bg1"/>
          </a:solidFill>
          <a:ln w="3175" cmpd="sng"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cs typeface="Calibri"/>
              </a:rPr>
              <a:t>to speed convergence, can use line search to choose better </a:t>
            </a:r>
            <a:r>
              <a:rPr lang="en-US" sz="2800" dirty="0" err="1" smtClean="0">
                <a:cs typeface="Calibri"/>
              </a:rPr>
              <a:t>stepsizes</a:t>
            </a:r>
            <a:r>
              <a:rPr lang="en-US" sz="2800" dirty="0" smtClean="0">
                <a:cs typeface="Calibri"/>
              </a:rPr>
              <a:t>; also see L-BFGS</a:t>
            </a:r>
            <a:endParaRPr lang="en-US" sz="2800" i="0" dirty="0">
              <a:latin typeface="Calibri"/>
              <a:cs typeface="Calibri"/>
            </a:endParaRPr>
          </a:p>
        </p:txBody>
      </p:sp>
      <p:cxnSp>
        <p:nvCxnSpPr>
          <p:cNvPr id="11" name="Straight Arrow Connector 10"/>
          <p:cNvCxnSpPr/>
          <p:nvPr/>
        </p:nvCxnSpPr>
        <p:spPr bwMode="auto">
          <a:xfrm flipV="1">
            <a:off x="3398638" y="2631458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2741677" y="3205885"/>
            <a:ext cx="4979923" cy="2769989"/>
          </a:xfrm>
          <a:prstGeom prst="rect">
            <a:avLst/>
          </a:prstGeom>
          <a:solidFill>
            <a:srgbClr val="BC0000"/>
          </a:solidFill>
          <a:ln w="3175" cmpd="sng">
            <a:solidFill>
              <a:srgbClr val="FFFFFF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cs typeface="Calibri"/>
              </a:rPr>
              <a:t>efficiency concern</a:t>
            </a:r>
            <a:r>
              <a:rPr lang="en-US" sz="3200" dirty="0">
                <a:solidFill>
                  <a:schemeClr val="bg1"/>
                </a:solidFill>
                <a:cs typeface="Calibri"/>
              </a:rPr>
              <a:t>: </a:t>
            </a:r>
            <a:r>
              <a:rPr lang="en-US" sz="3200" i="1" dirty="0" smtClean="0">
                <a:solidFill>
                  <a:schemeClr val="bg1"/>
                </a:solidFill>
                <a:cs typeface="Calibri"/>
              </a:rPr>
              <a:t>F</a:t>
            </a:r>
            <a:r>
              <a:rPr lang="en-US" sz="3200" dirty="0" smtClean="0">
                <a:solidFill>
                  <a:schemeClr val="bg1"/>
                </a:solidFill>
                <a:cs typeface="Calibri"/>
              </a:rPr>
              <a:t> </a:t>
            </a:r>
            <a:r>
              <a:rPr lang="en-US" sz="3200" dirty="0" smtClean="0">
                <a:solidFill>
                  <a:schemeClr val="bg1"/>
                </a:solidFill>
                <a:latin typeface="Calibri"/>
                <a:cs typeface="Calibri"/>
              </a:rPr>
              <a:t>is a sum over all training examples! </a:t>
            </a:r>
          </a:p>
          <a:p>
            <a:pPr algn="ctr"/>
            <a:endParaRPr lang="en-US" sz="1400" dirty="0" smtClean="0">
              <a:solidFill>
                <a:schemeClr val="bg1"/>
              </a:solidFill>
              <a:latin typeface="Calibri"/>
              <a:cs typeface="Calibri"/>
            </a:endParaRPr>
          </a:p>
          <a:p>
            <a:pPr algn="ctr"/>
            <a:r>
              <a:rPr lang="en-US" sz="3200" dirty="0" smtClean="0">
                <a:solidFill>
                  <a:schemeClr val="bg1"/>
                </a:solidFill>
                <a:latin typeface="Calibri"/>
                <a:cs typeface="Calibri"/>
              </a:rPr>
              <a:t>e</a:t>
            </a:r>
            <a:r>
              <a:rPr lang="en-US" sz="3200" i="0" dirty="0" smtClean="0">
                <a:solidFill>
                  <a:schemeClr val="bg1"/>
                </a:solidFill>
                <a:latin typeface="Calibri"/>
                <a:cs typeface="Calibri"/>
              </a:rPr>
              <a:t>very parameter update requires iterating through entire training set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3328627"/>
            <a:ext cx="431800" cy="355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226285"/>
            <a:ext cx="3708400" cy="3810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3848100"/>
            <a:ext cx="12065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40467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dient_descen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635" y="1502315"/>
            <a:ext cx="3659039" cy="4015834"/>
          </a:xfrm>
          <a:prstGeom prst="rect">
            <a:avLst/>
          </a:prstGeom>
        </p:spPr>
      </p:pic>
      <p:sp>
        <p:nvSpPr>
          <p:cNvPr id="12" name="Content Placeholder 2"/>
          <p:cNvSpPr txBox="1">
            <a:spLocks/>
          </p:cNvSpPr>
          <p:nvPr/>
        </p:nvSpPr>
        <p:spPr>
          <a:xfrm>
            <a:off x="546100" y="3263901"/>
            <a:ext cx="4292600" cy="14478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 smtClean="0"/>
              <a:t>        : </a:t>
            </a:r>
            <a:r>
              <a:rPr lang="en-US" sz="2800" dirty="0" err="1" smtClean="0"/>
              <a:t>stepsize</a:t>
            </a:r>
            <a:r>
              <a:rPr lang="en-US" sz="2800" dirty="0" smtClean="0"/>
              <a:t> at iteration </a:t>
            </a:r>
            <a:r>
              <a:rPr lang="en-US" sz="2800" i="1" dirty="0" smtClean="0"/>
              <a:t>t</a:t>
            </a:r>
          </a:p>
          <a:p>
            <a:pPr marL="0" indent="0">
              <a:buNone/>
            </a:pPr>
            <a:endParaRPr lang="en-US" sz="400" dirty="0" smtClean="0"/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          : gradient of objective function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Gradient Descent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946740"/>
            <a:ext cx="8229600" cy="553026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minimizes a function </a:t>
            </a:r>
            <a:r>
              <a:rPr lang="en-US" sz="2800" i="1" dirty="0" smtClean="0"/>
              <a:t>F</a:t>
            </a:r>
            <a:r>
              <a:rPr lang="en-US" sz="2800" dirty="0" smtClean="0"/>
              <a:t> by taking steps in proportion to the negative of the gradient:</a:t>
            </a:r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with conditions </a:t>
            </a:r>
            <a:r>
              <a:rPr lang="en-US" sz="2800" dirty="0"/>
              <a:t>on </a:t>
            </a:r>
            <a:r>
              <a:rPr lang="en-US" sz="2800" dirty="0" err="1"/>
              <a:t>stepsize</a:t>
            </a:r>
            <a:r>
              <a:rPr lang="en-US" sz="2800" dirty="0"/>
              <a:t> and objective function, will converge to local minimum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71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064635" y="3537972"/>
            <a:ext cx="3770196" cy="1815882"/>
          </a:xfrm>
          <a:prstGeom prst="rect">
            <a:avLst/>
          </a:prstGeom>
          <a:solidFill>
            <a:schemeClr val="bg1"/>
          </a:solidFill>
          <a:ln w="3175" cmpd="sng"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cs typeface="Calibri"/>
              </a:rPr>
              <a:t>to speed convergence, can use line search to choose better </a:t>
            </a:r>
            <a:r>
              <a:rPr lang="en-US" sz="2800" dirty="0" err="1" smtClean="0">
                <a:cs typeface="Calibri"/>
              </a:rPr>
              <a:t>stepsizes</a:t>
            </a:r>
            <a:r>
              <a:rPr lang="en-US" sz="2800" dirty="0" smtClean="0">
                <a:cs typeface="Calibri"/>
              </a:rPr>
              <a:t>; also see L-BFGS</a:t>
            </a:r>
            <a:endParaRPr lang="en-US" sz="2800" i="0" dirty="0">
              <a:latin typeface="Calibri"/>
              <a:cs typeface="Calibri"/>
            </a:endParaRPr>
          </a:p>
        </p:txBody>
      </p:sp>
      <p:cxnSp>
        <p:nvCxnSpPr>
          <p:cNvPr id="11" name="Straight Arrow Connector 10"/>
          <p:cNvCxnSpPr/>
          <p:nvPr/>
        </p:nvCxnSpPr>
        <p:spPr bwMode="auto">
          <a:xfrm flipV="1">
            <a:off x="3398638" y="2631458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2741677" y="3205885"/>
            <a:ext cx="4979923" cy="3570208"/>
          </a:xfrm>
          <a:prstGeom prst="rect">
            <a:avLst/>
          </a:prstGeom>
          <a:solidFill>
            <a:srgbClr val="BC0000"/>
          </a:solidFill>
          <a:ln w="3175" cmpd="sng">
            <a:solidFill>
              <a:srgbClr val="FFFFFF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cs typeface="Calibri"/>
              </a:rPr>
              <a:t>efficiency concern</a:t>
            </a:r>
            <a:r>
              <a:rPr lang="en-US" sz="3200" dirty="0">
                <a:solidFill>
                  <a:schemeClr val="bg1"/>
                </a:solidFill>
                <a:cs typeface="Calibri"/>
              </a:rPr>
              <a:t>: </a:t>
            </a:r>
            <a:r>
              <a:rPr lang="en-US" sz="3200" i="1" dirty="0" smtClean="0">
                <a:solidFill>
                  <a:schemeClr val="bg1"/>
                </a:solidFill>
                <a:cs typeface="Calibri"/>
              </a:rPr>
              <a:t>F</a:t>
            </a:r>
            <a:r>
              <a:rPr lang="en-US" sz="3200" dirty="0" smtClean="0">
                <a:solidFill>
                  <a:schemeClr val="bg1"/>
                </a:solidFill>
                <a:cs typeface="Calibri"/>
              </a:rPr>
              <a:t> </a:t>
            </a:r>
            <a:r>
              <a:rPr lang="en-US" sz="3200" dirty="0" smtClean="0">
                <a:solidFill>
                  <a:schemeClr val="bg1"/>
                </a:solidFill>
                <a:latin typeface="Calibri"/>
                <a:cs typeface="Calibri"/>
              </a:rPr>
              <a:t>is a sum over all training examples! </a:t>
            </a:r>
          </a:p>
          <a:p>
            <a:pPr algn="ctr"/>
            <a:endParaRPr lang="en-US" sz="1400" dirty="0" smtClean="0">
              <a:solidFill>
                <a:schemeClr val="bg1"/>
              </a:solidFill>
              <a:latin typeface="Calibri"/>
              <a:cs typeface="Calibri"/>
            </a:endParaRPr>
          </a:p>
          <a:p>
            <a:pPr algn="ctr"/>
            <a:r>
              <a:rPr lang="en-US" sz="3200" dirty="0" smtClean="0">
                <a:solidFill>
                  <a:schemeClr val="bg1"/>
                </a:solidFill>
                <a:latin typeface="Calibri"/>
                <a:cs typeface="Calibri"/>
              </a:rPr>
              <a:t>e</a:t>
            </a:r>
            <a:r>
              <a:rPr lang="en-US" sz="3200" i="0" dirty="0" smtClean="0">
                <a:solidFill>
                  <a:schemeClr val="bg1"/>
                </a:solidFill>
                <a:latin typeface="Calibri"/>
                <a:cs typeface="Calibri"/>
              </a:rPr>
              <a:t>very parameter update requires iterating through entire training set</a:t>
            </a:r>
          </a:p>
          <a:p>
            <a:pPr algn="ctr"/>
            <a:endParaRPr lang="en-US" sz="1400" i="0" dirty="0" smtClean="0">
              <a:solidFill>
                <a:schemeClr val="bg1"/>
              </a:solidFill>
              <a:latin typeface="Calibri"/>
              <a:cs typeface="Calibri"/>
            </a:endParaRPr>
          </a:p>
          <a:p>
            <a:pPr algn="ctr"/>
            <a:r>
              <a:rPr lang="en-US" sz="3200" b="1" i="0" dirty="0" smtClean="0">
                <a:solidFill>
                  <a:schemeClr val="bg1"/>
                </a:solidFill>
                <a:latin typeface="Calibri"/>
                <a:cs typeface="Calibri"/>
              </a:rPr>
              <a:t>“batch” algorithm</a:t>
            </a:r>
            <a:endParaRPr lang="en-US" sz="3200" b="1" i="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3328627"/>
            <a:ext cx="431800" cy="355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226285"/>
            <a:ext cx="3708400" cy="3810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3848100"/>
            <a:ext cx="12065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96427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Stochastic</a:t>
            </a:r>
            <a:r>
              <a:rPr lang="en-US" dirty="0" smtClean="0"/>
              <a:t> Gradient Descent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946740"/>
            <a:ext cx="8229600" cy="5123860"/>
          </a:xfrm>
        </p:spPr>
        <p:txBody>
          <a:bodyPr>
            <a:normAutofit/>
          </a:bodyPr>
          <a:lstStyle/>
          <a:p>
            <a:r>
              <a:rPr lang="en-US" sz="2800" dirty="0"/>
              <a:t>applicable when objective </a:t>
            </a:r>
            <a:r>
              <a:rPr lang="en-US" sz="2800" dirty="0" smtClean="0"/>
              <a:t>function is </a:t>
            </a:r>
            <a:r>
              <a:rPr lang="en-US" sz="2800" dirty="0"/>
              <a:t>a </a:t>
            </a:r>
            <a:r>
              <a:rPr lang="en-US" sz="2800" dirty="0" smtClean="0"/>
              <a:t>sum</a:t>
            </a:r>
          </a:p>
          <a:p>
            <a:r>
              <a:rPr lang="en-US" sz="2800" dirty="0" smtClean="0"/>
              <a:t>like gradient descent, except calculates gradient on a single example at a time (“</a:t>
            </a:r>
            <a:r>
              <a:rPr lang="en-US" sz="2800" dirty="0" smtClean="0">
                <a:solidFill>
                  <a:srgbClr val="288CD2"/>
                </a:solidFill>
              </a:rPr>
              <a:t>online</a:t>
            </a:r>
            <a:r>
              <a:rPr lang="en-US" sz="2800" dirty="0" smtClean="0"/>
              <a:t>”) or on a small set of examples (“</a:t>
            </a:r>
            <a:r>
              <a:rPr lang="en-US" sz="2800" dirty="0" smtClean="0">
                <a:solidFill>
                  <a:srgbClr val="288CD2"/>
                </a:solidFill>
              </a:rPr>
              <a:t>mini-batch</a:t>
            </a:r>
            <a:r>
              <a:rPr lang="en-US" sz="2800" dirty="0" smtClean="0"/>
              <a:t>”)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66280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Stochastic</a:t>
            </a:r>
            <a:r>
              <a:rPr lang="en-US" dirty="0" smtClean="0"/>
              <a:t> Gradient Descent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946740"/>
            <a:ext cx="8229600" cy="5123860"/>
          </a:xfrm>
        </p:spPr>
        <p:txBody>
          <a:bodyPr>
            <a:normAutofit/>
          </a:bodyPr>
          <a:lstStyle/>
          <a:p>
            <a:r>
              <a:rPr lang="en-US" sz="2800" dirty="0"/>
              <a:t>applicable when objective </a:t>
            </a:r>
            <a:r>
              <a:rPr lang="en-US" sz="2800" dirty="0" smtClean="0"/>
              <a:t>function is </a:t>
            </a:r>
            <a:r>
              <a:rPr lang="en-US" sz="2800" dirty="0"/>
              <a:t>a </a:t>
            </a:r>
            <a:r>
              <a:rPr lang="en-US" sz="2800" dirty="0" smtClean="0"/>
              <a:t>sum</a:t>
            </a:r>
          </a:p>
          <a:p>
            <a:r>
              <a:rPr lang="en-US" sz="2800" dirty="0" smtClean="0"/>
              <a:t>like gradient descent, except calculates gradient on a single example at a time (“</a:t>
            </a:r>
            <a:r>
              <a:rPr lang="en-US" sz="2800" dirty="0" smtClean="0">
                <a:solidFill>
                  <a:srgbClr val="288CD2"/>
                </a:solidFill>
              </a:rPr>
              <a:t>online</a:t>
            </a:r>
            <a:r>
              <a:rPr lang="en-US" sz="2800" dirty="0" smtClean="0"/>
              <a:t>”) or on a small set of examples (“</a:t>
            </a:r>
            <a:r>
              <a:rPr lang="en-US" sz="2800" dirty="0" smtClean="0">
                <a:solidFill>
                  <a:srgbClr val="288CD2"/>
                </a:solidFill>
              </a:rPr>
              <a:t>mini-batch</a:t>
            </a:r>
            <a:r>
              <a:rPr lang="en-US" sz="2800" dirty="0" smtClean="0"/>
              <a:t>”)</a:t>
            </a:r>
          </a:p>
          <a:p>
            <a:r>
              <a:rPr lang="en-US" sz="2800" dirty="0" smtClean="0"/>
              <a:t>converges much faster than (batch) gradient descent</a:t>
            </a:r>
          </a:p>
          <a:p>
            <a:r>
              <a:rPr lang="en-US" sz="2800" dirty="0" smtClean="0"/>
              <a:t>with conditions </a:t>
            </a:r>
            <a:r>
              <a:rPr lang="en-US" sz="2800" dirty="0"/>
              <a:t>on </a:t>
            </a:r>
            <a:r>
              <a:rPr lang="en-US" sz="2800" dirty="0" err="1"/>
              <a:t>stepsize</a:t>
            </a:r>
            <a:r>
              <a:rPr lang="en-US" sz="2800" dirty="0"/>
              <a:t> and objective function, will converge to local </a:t>
            </a:r>
            <a:r>
              <a:rPr lang="en-US" sz="2800" dirty="0" smtClean="0"/>
              <a:t>minimum</a:t>
            </a:r>
          </a:p>
          <a:p>
            <a:r>
              <a:rPr lang="en-US" sz="2800" dirty="0" smtClean="0"/>
              <a:t>there are many popular variants: </a:t>
            </a:r>
          </a:p>
          <a:p>
            <a:pPr marL="0" indent="0">
              <a:buNone/>
            </a:pPr>
            <a:r>
              <a:rPr lang="en-US" sz="2400" dirty="0" smtClean="0"/>
              <a:t>     </a:t>
            </a:r>
            <a:r>
              <a:rPr lang="en-US" sz="2400" dirty="0" err="1" smtClean="0"/>
              <a:t>SGD+momentum</a:t>
            </a:r>
            <a:r>
              <a:rPr lang="en-US" sz="2400" dirty="0" smtClean="0"/>
              <a:t>,</a:t>
            </a:r>
            <a:r>
              <a:rPr lang="en-US" sz="2800" dirty="0" smtClean="0"/>
              <a:t> </a:t>
            </a:r>
            <a:r>
              <a:rPr lang="en-US" sz="2400" dirty="0" err="1" smtClean="0"/>
              <a:t>AdaGrad</a:t>
            </a:r>
            <a:r>
              <a:rPr lang="en-US" sz="2400" dirty="0" smtClean="0"/>
              <a:t>, </a:t>
            </a:r>
            <a:r>
              <a:rPr lang="en-US" sz="2400" dirty="0" err="1" smtClean="0"/>
              <a:t>AdaDelta</a:t>
            </a:r>
            <a:r>
              <a:rPr lang="en-US" sz="2400" dirty="0" smtClean="0"/>
              <a:t>, Adam, </a:t>
            </a:r>
            <a:r>
              <a:rPr lang="en-US" sz="2400" dirty="0" err="1" smtClean="0"/>
              <a:t>RMSprop</a:t>
            </a:r>
            <a:r>
              <a:rPr lang="en-US" sz="2400" dirty="0" smtClean="0"/>
              <a:t>, etc.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5361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if </a:t>
            </a:r>
            <a:r>
              <a:rPr lang="en-US" i="1" dirty="0" smtClean="0"/>
              <a:t>F</a:t>
            </a:r>
            <a:r>
              <a:rPr lang="en-US" dirty="0" smtClean="0"/>
              <a:t> is not differentiable?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946740"/>
            <a:ext cx="8229600" cy="432376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some loss functions are not differentiable:</a:t>
            </a:r>
          </a:p>
          <a:p>
            <a:endParaRPr lang="en-US" sz="2800" dirty="0" smtClean="0"/>
          </a:p>
          <a:p>
            <a:endParaRPr lang="en-US" sz="2800" dirty="0"/>
          </a:p>
          <a:p>
            <a:pPr marL="0" indent="0">
              <a:buNone/>
            </a:pPr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but they </a:t>
            </a:r>
            <a:r>
              <a:rPr lang="en-US" sz="2800" i="1" dirty="0" smtClean="0"/>
              <a:t>are</a:t>
            </a:r>
            <a:r>
              <a:rPr lang="en-US" sz="2800" dirty="0" smtClean="0"/>
              <a:t> </a:t>
            </a:r>
            <a:r>
              <a:rPr lang="en-US" sz="2800" dirty="0" err="1" smtClean="0">
                <a:solidFill>
                  <a:srgbClr val="288CD2"/>
                </a:solidFill>
              </a:rPr>
              <a:t>subdifferentiable</a:t>
            </a:r>
            <a:r>
              <a:rPr lang="en-US" sz="2800" dirty="0" smtClean="0"/>
              <a:t>, so we can compute </a:t>
            </a:r>
            <a:r>
              <a:rPr lang="en-US" sz="2800" dirty="0" err="1" smtClean="0">
                <a:solidFill>
                  <a:srgbClr val="288CD2"/>
                </a:solidFill>
              </a:rPr>
              <a:t>subgradients</a:t>
            </a:r>
            <a:r>
              <a:rPr lang="en-US" sz="2800" dirty="0"/>
              <a:t> </a:t>
            </a:r>
            <a:r>
              <a:rPr lang="en-US" sz="2800" dirty="0" smtClean="0"/>
              <a:t>and use (stochastic) </a:t>
            </a:r>
            <a:r>
              <a:rPr lang="en-US" sz="2800" dirty="0" err="1" smtClean="0"/>
              <a:t>subgradient</a:t>
            </a:r>
            <a:r>
              <a:rPr lang="en-US" sz="2800" dirty="0" smtClean="0"/>
              <a:t> descent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2654300"/>
            <a:ext cx="8890000" cy="48288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" y="1930400"/>
            <a:ext cx="7226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73361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Subderivatives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946740"/>
            <a:ext cx="8229600" cy="5555660"/>
          </a:xfrm>
        </p:spPr>
        <p:txBody>
          <a:bodyPr>
            <a:normAutofit/>
          </a:bodyPr>
          <a:lstStyle/>
          <a:p>
            <a:r>
              <a:rPr lang="en-US" sz="2800" dirty="0" err="1" smtClean="0">
                <a:solidFill>
                  <a:srgbClr val="288CD2"/>
                </a:solidFill>
              </a:rPr>
              <a:t>subderivative</a:t>
            </a:r>
            <a:r>
              <a:rPr lang="en-US" sz="2800" dirty="0"/>
              <a:t>:</a:t>
            </a:r>
            <a:r>
              <a:rPr lang="en-US" sz="2800" dirty="0" smtClean="0"/>
              <a:t> generalization of derivative for </a:t>
            </a:r>
            <a:r>
              <a:rPr lang="en-US" sz="2800" dirty="0" err="1" smtClean="0"/>
              <a:t>nondifferentiable</a:t>
            </a:r>
            <a:r>
              <a:rPr lang="en-US" sz="2800" dirty="0" smtClean="0"/>
              <a:t>, convex functions</a:t>
            </a:r>
          </a:p>
          <a:p>
            <a:endParaRPr lang="en-US" sz="2800" dirty="0" smtClean="0"/>
          </a:p>
          <a:p>
            <a:r>
              <a:rPr lang="en-US" sz="2800" dirty="0" smtClean="0"/>
              <a:t>there may be multiple </a:t>
            </a:r>
          </a:p>
          <a:p>
            <a:pPr marL="0" indent="0">
              <a:buNone/>
            </a:pPr>
            <a:r>
              <a:rPr lang="en-US" sz="2800" dirty="0" smtClean="0"/>
              <a:t>    </a:t>
            </a:r>
            <a:r>
              <a:rPr lang="en-US" sz="2800" dirty="0" err="1" smtClean="0"/>
              <a:t>subderivatives</a:t>
            </a:r>
            <a:r>
              <a:rPr lang="en-US" sz="2800" dirty="0" smtClean="0"/>
              <a:t> at a point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(red lines)</a:t>
            </a:r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dirty="0" smtClean="0"/>
              <a:t>this set is called the </a:t>
            </a:r>
            <a:r>
              <a:rPr lang="en-US" sz="2800" dirty="0" err="1" smtClean="0">
                <a:solidFill>
                  <a:srgbClr val="288CD2"/>
                </a:solidFill>
              </a:rPr>
              <a:t>subdifferential</a:t>
            </a:r>
            <a:endParaRPr lang="en-US" sz="2800" dirty="0" smtClean="0">
              <a:solidFill>
                <a:srgbClr val="288CD2"/>
              </a:solidFill>
            </a:endParaRPr>
          </a:p>
          <a:p>
            <a:r>
              <a:rPr lang="en-US" sz="2800" dirty="0" smtClean="0"/>
              <a:t>a convex function </a:t>
            </a:r>
            <a:r>
              <a:rPr lang="en-US" sz="2800" i="1" dirty="0" smtClean="0"/>
              <a:t>g</a:t>
            </a:r>
            <a:r>
              <a:rPr lang="en-US" sz="2800" dirty="0" smtClean="0"/>
              <a:t> is differentiable at point x</a:t>
            </a:r>
            <a:r>
              <a:rPr lang="en-US" sz="2800" baseline="-25000" dirty="0" smtClean="0"/>
              <a:t>0</a:t>
            </a:r>
            <a:r>
              <a:rPr lang="en-US" sz="2800" dirty="0" smtClean="0"/>
              <a:t> if and only if the </a:t>
            </a:r>
            <a:r>
              <a:rPr lang="en-US" sz="2800" dirty="0" err="1" smtClean="0"/>
              <a:t>subdifferential</a:t>
            </a:r>
            <a:r>
              <a:rPr lang="en-US" sz="2800" dirty="0" smtClean="0"/>
              <a:t> of </a:t>
            </a:r>
            <a:r>
              <a:rPr lang="en-US" sz="2800" i="1" dirty="0" smtClean="0"/>
              <a:t>g</a:t>
            </a:r>
            <a:r>
              <a:rPr lang="en-US" sz="2800" dirty="0" smtClean="0"/>
              <a:t> at x</a:t>
            </a:r>
            <a:r>
              <a:rPr lang="en-US" sz="2800" baseline="-25000" dirty="0" smtClean="0"/>
              <a:t>0 </a:t>
            </a:r>
            <a:r>
              <a:rPr lang="en-US" sz="2800" dirty="0" smtClean="0"/>
              <a:t>contains only the derivative of </a:t>
            </a:r>
            <a:r>
              <a:rPr lang="en-US" sz="2800" i="1" dirty="0" smtClean="0"/>
              <a:t>g </a:t>
            </a:r>
            <a:r>
              <a:rPr lang="en-US" sz="2800" dirty="0" smtClean="0"/>
              <a:t>at </a:t>
            </a:r>
            <a:r>
              <a:rPr lang="en-US" sz="2800" dirty="0"/>
              <a:t>x</a:t>
            </a:r>
            <a:r>
              <a:rPr lang="en-US" sz="2800" baseline="-25000" dirty="0"/>
              <a:t>0</a:t>
            </a:r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75</a:t>
            </a:fld>
            <a:endParaRPr lang="en-US"/>
          </a:p>
        </p:txBody>
      </p:sp>
      <p:pic>
        <p:nvPicPr>
          <p:cNvPr id="5" name="Picture 4" descr="220px-Subderivative_illustration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771" y="1689100"/>
            <a:ext cx="2594429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10604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Stochastic </a:t>
            </a:r>
            <a:r>
              <a:rPr lang="en-US" dirty="0" err="1" smtClean="0"/>
              <a:t>Subgradient</a:t>
            </a:r>
            <a:r>
              <a:rPr lang="en-US" dirty="0" smtClean="0"/>
              <a:t> Descent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just like stochastic gradient descent, except replace gradients with </a:t>
            </a:r>
            <a:r>
              <a:rPr lang="en-US" dirty="0" err="1" smtClean="0"/>
              <a:t>subgradients</a:t>
            </a:r>
            <a:endParaRPr lang="en-US" dirty="0" smtClean="0"/>
          </a:p>
          <a:p>
            <a:r>
              <a:rPr lang="en-US" dirty="0" smtClean="0"/>
              <a:t>similarly strong theoretical guarantees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53152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Calculating </a:t>
            </a:r>
            <a:r>
              <a:rPr lang="en-US" dirty="0" err="1" smtClean="0"/>
              <a:t>Subgradients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at points of differentiability, just use your rules for calculating gradients</a:t>
            </a:r>
          </a:p>
          <a:p>
            <a:r>
              <a:rPr lang="en-US" dirty="0" smtClean="0"/>
              <a:t>at points of </a:t>
            </a:r>
            <a:r>
              <a:rPr lang="en-US" dirty="0" err="1" smtClean="0"/>
              <a:t>nondifferentiability</a:t>
            </a:r>
            <a:r>
              <a:rPr lang="en-US" dirty="0" smtClean="0"/>
              <a:t>, just find a single </a:t>
            </a:r>
            <a:r>
              <a:rPr lang="en-US" dirty="0" err="1" smtClean="0"/>
              <a:t>subgradient</a:t>
            </a:r>
            <a:r>
              <a:rPr lang="en-US" dirty="0" smtClean="0"/>
              <a:t>; </a:t>
            </a:r>
            <a:r>
              <a:rPr lang="en-US" i="1" dirty="0" smtClean="0"/>
              <a:t>any </a:t>
            </a:r>
            <a:r>
              <a:rPr lang="en-US" dirty="0" err="1" smtClean="0"/>
              <a:t>subgradient</a:t>
            </a:r>
            <a:r>
              <a:rPr lang="en-US" dirty="0" smtClean="0"/>
              <a:t> will do</a:t>
            </a:r>
          </a:p>
          <a:p>
            <a:r>
              <a:rPr lang="en-US" dirty="0" smtClean="0"/>
              <a:t>e.g., max of convex functions (on board)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0695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Please email me (kgimpel@ttic.edu) with the following:</a:t>
            </a:r>
          </a:p>
          <a:p>
            <a:pPr lvl="1"/>
            <a:r>
              <a:rPr lang="en-US" dirty="0" smtClean="0"/>
              <a:t>your name</a:t>
            </a:r>
          </a:p>
          <a:p>
            <a:pPr lvl="1"/>
            <a:r>
              <a:rPr lang="en-US" dirty="0" smtClean="0"/>
              <a:t>your email address</a:t>
            </a:r>
          </a:p>
          <a:p>
            <a:pPr lvl="1"/>
            <a:r>
              <a:rPr lang="en-US" dirty="0" smtClean="0"/>
              <a:t>whether you taking the class for credit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I will use your address to create a mailing list for course announcements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2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42297</TotalTime>
  <Words>2985</Words>
  <Application>Microsoft Macintosh PowerPoint</Application>
  <PresentationFormat>On-screen Show (4:3)</PresentationFormat>
  <Paragraphs>642</Paragraphs>
  <Slides>78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1" baseType="lpstr">
      <vt:lpstr>Arial</vt:lpstr>
      <vt:lpstr>Calibri</vt:lpstr>
      <vt:lpstr>Office Theme</vt:lpstr>
      <vt:lpstr>TTIC 31190: Natural Language Processing</vt:lpstr>
      <vt:lpstr>PowerPoint Presentation</vt:lpstr>
      <vt:lpstr>Roadmap</vt:lpstr>
      <vt:lpstr>PowerPoint Presentation</vt:lpstr>
      <vt:lpstr>PowerPoint Presentation</vt:lpstr>
      <vt:lpstr>Classification</vt:lpstr>
      <vt:lpstr>NLP Datasets</vt:lpstr>
      <vt:lpstr>Annotation</vt:lpstr>
      <vt:lpstr>How are NLP datasets developed?</vt:lpstr>
      <vt:lpstr>Example: Twitter part-of-speech annotation</vt:lpstr>
      <vt:lpstr>PowerPoint Presentation</vt:lpstr>
      <vt:lpstr>PowerPoint Presentation</vt:lpstr>
      <vt:lpstr>PowerPoint Presentation</vt:lpstr>
      <vt:lpstr>Annotator Agreement</vt:lpstr>
      <vt:lpstr>Annotator Agreement</vt:lpstr>
      <vt:lpstr>Annotator Agreement</vt:lpstr>
      <vt:lpstr>Text Classification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Classification</vt:lpstr>
      <vt:lpstr>Classification Framework</vt:lpstr>
      <vt:lpstr>Classification Framework</vt:lpstr>
      <vt:lpstr>Features for NLP</vt:lpstr>
      <vt:lpstr>Features for NLP</vt:lpstr>
      <vt:lpstr>Features for NLP</vt:lpstr>
      <vt:lpstr>Unigram Binary Features</vt:lpstr>
      <vt:lpstr>Unigram Binary Features</vt:lpstr>
      <vt:lpstr>Unigram Binary Features</vt:lpstr>
      <vt:lpstr>Higher-Order Binary Feature Templates</vt:lpstr>
      <vt:lpstr>Unigram Count Features</vt:lpstr>
      <vt:lpstr>Feature Count Cutoffs</vt:lpstr>
      <vt:lpstr>Feature Count Cutoffs (Example)</vt:lpstr>
      <vt:lpstr>Feature Count Cutoffs (Example)</vt:lpstr>
      <vt:lpstr>Feature Count Cutoffs (Example)</vt:lpstr>
      <vt:lpstr>Feature Count Cutoffs (Example)</vt:lpstr>
      <vt:lpstr>Classification</vt:lpstr>
      <vt:lpstr>Learning: Empirical Risk Minimization</vt:lpstr>
      <vt:lpstr>Learning: Empirical Risk Minimization</vt:lpstr>
      <vt:lpstr>Cost Functions</vt:lpstr>
      <vt:lpstr>Cost Functions</vt:lpstr>
      <vt:lpstr>Cost Functions</vt:lpstr>
      <vt:lpstr>Risk Minimization</vt:lpstr>
      <vt:lpstr>Risk Minimization</vt:lpstr>
      <vt:lpstr>Empirical Risk Minimization (Vapnik et al.)</vt:lpstr>
      <vt:lpstr>Empirical Risk Minimization (Vapnik et al.)</vt:lpstr>
      <vt:lpstr>PowerPoint Presentation</vt:lpstr>
      <vt:lpstr>PowerPoint Presentation</vt:lpstr>
      <vt:lpstr>Classification</vt:lpstr>
      <vt:lpstr>Surrogate Loss Functions</vt:lpstr>
      <vt:lpstr>Surrogate Loss Functions</vt:lpstr>
      <vt:lpstr>Surrogate Loss Functions</vt:lpstr>
      <vt:lpstr>Surrogate Loss Functions</vt:lpstr>
      <vt:lpstr>Surrogate Loss Functions</vt:lpstr>
      <vt:lpstr>Surrogate Loss Functions</vt:lpstr>
      <vt:lpstr>Surrogate Loss Functions</vt:lpstr>
      <vt:lpstr>Surrogate Loss Functions</vt:lpstr>
      <vt:lpstr>Surrogate Loss Functions</vt:lpstr>
      <vt:lpstr>Classification</vt:lpstr>
      <vt:lpstr>Gradient Descent</vt:lpstr>
      <vt:lpstr>Gradient Descent</vt:lpstr>
      <vt:lpstr>Gradient Descent</vt:lpstr>
      <vt:lpstr>Gradient Descent</vt:lpstr>
      <vt:lpstr>Gradient Descent</vt:lpstr>
      <vt:lpstr>Gradient Descent</vt:lpstr>
      <vt:lpstr>Stochastic Gradient Descent</vt:lpstr>
      <vt:lpstr>Stochastic Gradient Descent</vt:lpstr>
      <vt:lpstr>What if F is not differentiable?</vt:lpstr>
      <vt:lpstr>Subderivatives</vt:lpstr>
      <vt:lpstr>Stochastic Subgradient Descent</vt:lpstr>
      <vt:lpstr>Calculating Subgradients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Kevin Gimpel</cp:lastModifiedBy>
  <cp:revision>654</cp:revision>
  <dcterms:created xsi:type="dcterms:W3CDTF">2015-08-31T18:15:35Z</dcterms:created>
  <dcterms:modified xsi:type="dcterms:W3CDTF">2016-01-07T22:12:01Z</dcterms:modified>
</cp:coreProperties>
</file>