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9" r:id="rId3"/>
    <p:sldId id="1209" r:id="rId4"/>
    <p:sldId id="1077" r:id="rId5"/>
    <p:sldId id="1151" r:id="rId6"/>
    <p:sldId id="1161" r:id="rId7"/>
    <p:sldId id="1189" r:id="rId8"/>
    <p:sldId id="1190" r:id="rId9"/>
    <p:sldId id="1191" r:id="rId10"/>
    <p:sldId id="1192" r:id="rId11"/>
    <p:sldId id="1208" r:id="rId12"/>
    <p:sldId id="1196" r:id="rId13"/>
    <p:sldId id="1197" r:id="rId14"/>
    <p:sldId id="1199" r:id="rId15"/>
    <p:sldId id="1200" r:id="rId16"/>
    <p:sldId id="1201" r:id="rId17"/>
    <p:sldId id="1202" r:id="rId18"/>
    <p:sldId id="1203" r:id="rId19"/>
    <p:sldId id="1204" r:id="rId20"/>
    <p:sldId id="1205" r:id="rId21"/>
    <p:sldId id="1206" r:id="rId22"/>
    <p:sldId id="1210" r:id="rId23"/>
    <p:sldId id="1166" r:id="rId24"/>
    <p:sldId id="1169" r:id="rId25"/>
    <p:sldId id="1170" r:id="rId26"/>
    <p:sldId id="1173" r:id="rId27"/>
    <p:sldId id="1211" r:id="rId28"/>
    <p:sldId id="1171" r:id="rId29"/>
    <p:sldId id="1167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6390" autoAdjust="0"/>
  </p:normalViewPr>
  <p:slideViewPr>
    <p:cSldViewPr snapToGrid="0" snapToObjects="1">
      <p:cViewPr>
        <p:scale>
          <a:sx n="125" d="100"/>
          <a:sy n="125" d="100"/>
        </p:scale>
        <p:origin x="-2512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interSettings" Target="printerSettings/printerSettings1.bin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1/27/16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1/27/16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9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sz="1100" dirty="0">
                <a:latin typeface="Arial" pitchFamily="34" charset="0"/>
              </a:rPr>
              <a:t>010011010111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sz="1100" dirty="0">
                <a:latin typeface="Arial" pitchFamily="34" charset="0"/>
              </a:rPr>
              <a:t>01101111111010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09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1/27/16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1/27/16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1/27/16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1/27/16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1/27/16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1/27/16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1/27/16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1/27/16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1/27/16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1/27/16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1/27/16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1/27/16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5" Type="http://schemas.openxmlformats.org/officeDocument/2006/relationships/image" Target="../media/image13.emf"/><Relationship Id="rId6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</a:t>
            </a:r>
            <a:r>
              <a:rPr lang="en-US" sz="4000" dirty="0" smtClean="0">
                <a:solidFill>
                  <a:schemeClr val="tx1"/>
                </a:solidFill>
              </a:rPr>
              <a:t>8: Inference in Structured Prediction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sequence labeling</a:t>
            </a:r>
          </a:p>
          <a:p>
            <a:r>
              <a:rPr lang="en-US" sz="2400" dirty="0" smtClean="0"/>
              <a:t>syntax and syntactic parsing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>
            <a:off x="4399280" y="3393440"/>
            <a:ext cx="487680" cy="396240"/>
          </a:xfrm>
          <a:prstGeom prst="curvedConnector3">
            <a:avLst>
              <a:gd name="adj1" fmla="val 360417"/>
            </a:avLst>
          </a:prstGeom>
          <a:ln w="76200" cmpd="sng"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1065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sequence labeling</a:t>
            </a:r>
          </a:p>
          <a:p>
            <a:r>
              <a:rPr lang="en-US" sz="2400" dirty="0" smtClean="0"/>
              <a:t>neural </a:t>
            </a:r>
            <a:r>
              <a:rPr lang="en-US" sz="2400" dirty="0" smtClean="0"/>
              <a:t>network methods in NLP</a:t>
            </a:r>
          </a:p>
          <a:p>
            <a:r>
              <a:rPr lang="en-US" sz="2400" dirty="0"/>
              <a:t>syntax and syntactic parsing</a:t>
            </a:r>
          </a:p>
          <a:p>
            <a:r>
              <a:rPr lang="en-US" sz="2400" dirty="0" smtClean="0"/>
              <a:t>semantic </a:t>
            </a:r>
            <a:r>
              <a:rPr lang="en-US" sz="2400" dirty="0" smtClean="0"/>
              <a:t>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  <p:cxnSp>
        <p:nvCxnSpPr>
          <p:cNvPr id="6" name="Curved Connector 5"/>
          <p:cNvCxnSpPr/>
          <p:nvPr/>
        </p:nvCxnSpPr>
        <p:spPr>
          <a:xfrm rot="10800000" flipV="1">
            <a:off x="4450080" y="3383280"/>
            <a:ext cx="568960" cy="487680"/>
          </a:xfrm>
          <a:prstGeom prst="curvedConnector3">
            <a:avLst>
              <a:gd name="adj1" fmla="val -289286"/>
            </a:avLst>
          </a:prstGeom>
          <a:ln w="76200" cmpd="sng"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678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Applications of our Classifier Framework so far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1503"/>
              </p:ext>
            </p:extLst>
          </p:nvPr>
        </p:nvGraphicFramePr>
        <p:xfrm>
          <a:off x="132080" y="1071880"/>
          <a:ext cx="8717280" cy="4394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57680"/>
                <a:gridCol w="1635760"/>
                <a:gridCol w="2346960"/>
                <a:gridCol w="133096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space (     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size of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text classification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label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pre-defined, small label set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(e.g., {positive, negative})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2-10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word sense disambiguation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particular word (e.g.,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 with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its context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word sense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 sense inventory from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WordNet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2-30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learning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skip-gram word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</a:rPr>
                        <a:t>embeddings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word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word in the context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vocabulary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part-of-speech tagging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part-of-speech tags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all possible part-of-speech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tag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sequences with same length as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P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baseline="3000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1215729"/>
            <a:ext cx="203200" cy="241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60" y="1209718"/>
            <a:ext cx="203200" cy="241300"/>
          </a:xfrm>
          <a:prstGeom prst="rect">
            <a:avLst/>
          </a:prstGeom>
        </p:spPr>
      </p:pic>
      <p:sp>
        <p:nvSpPr>
          <p:cNvPr id="20" name="Donut 19"/>
          <p:cNvSpPr/>
          <p:nvPr/>
        </p:nvSpPr>
        <p:spPr>
          <a:xfrm>
            <a:off x="7426960" y="4318000"/>
            <a:ext cx="1422400" cy="1354797"/>
          </a:xfrm>
          <a:prstGeom prst="donut">
            <a:avLst>
              <a:gd name="adj" fmla="val 999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57601" y="3060283"/>
            <a:ext cx="5940959" cy="13849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none" lIns="365760" tIns="137160" rIns="365760" bIns="137160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exponential in size of input!</a:t>
            </a:r>
          </a:p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“structured prediction”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6117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1614270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943018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854400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2898" y="4934731"/>
            <a:ext cx="85656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smtClean="0">
                <a:latin typeface="Calibri"/>
                <a:cs typeface="Calibri"/>
              </a:rPr>
              <a:t>Some questioned if Tim Cook’s first product would be a breakaway hit for Apple.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3329" y="4182687"/>
            <a:ext cx="3465944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Named Entity Recognition</a:t>
            </a:r>
          </a:p>
        </p:txBody>
      </p:sp>
      <p:sp>
        <p:nvSpPr>
          <p:cNvPr id="8" name="Left Brace 7"/>
          <p:cNvSpPr/>
          <p:nvPr/>
        </p:nvSpPr>
        <p:spPr bwMode="auto">
          <a:xfrm rot="16200000">
            <a:off x="2730498" y="4881629"/>
            <a:ext cx="236682" cy="1021772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Left Brace 8"/>
          <p:cNvSpPr/>
          <p:nvPr/>
        </p:nvSpPr>
        <p:spPr bwMode="auto">
          <a:xfrm rot="16200000">
            <a:off x="8128009" y="5089440"/>
            <a:ext cx="219361" cy="611909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347647" y="5426569"/>
            <a:ext cx="1054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smtClean="0">
                <a:solidFill>
                  <a:srgbClr val="C50C0C"/>
                </a:solidFill>
                <a:latin typeface="Calibri"/>
                <a:cs typeface="Calibri"/>
              </a:rPr>
              <a:t>PERSON</a:t>
            </a:r>
            <a:endParaRPr lang="en-US" sz="2000" b="1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250797" y="5428882"/>
            <a:ext cx="18744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smtClean="0">
                <a:solidFill>
                  <a:srgbClr val="C50C0C"/>
                </a:solidFill>
                <a:latin typeface="Calibri"/>
                <a:cs typeface="Calibri"/>
              </a:rPr>
              <a:t>ORGANIZATION</a:t>
            </a:r>
            <a:endParaRPr lang="en-US" sz="2000" b="1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Autofit/>
          </a:bodyPr>
          <a:lstStyle/>
          <a:p>
            <a:r>
              <a:rPr lang="en-US" sz="2400" dirty="0" smtClean="0"/>
              <a:t>Simplest kind of structured prediction: Sequence Labeling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8293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Hidden Markov Model</a:t>
            </a:r>
            <a:r>
              <a:rPr lang="en-US" sz="3200" dirty="0"/>
              <a:t>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4053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744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>
            <a:off x="48698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/>
          <p:cNvCxnSpPr>
            <a:stCxn id="7" idx="6"/>
            <a:endCxn id="8" idx="2"/>
          </p:cNvCxnSpPr>
          <p:nvPr/>
        </p:nvCxnSpPr>
        <p:spPr bwMode="auto">
          <a:xfrm>
            <a:off x="2826334" y="151778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8" idx="6"/>
            <a:endCxn id="9" idx="2"/>
          </p:cNvCxnSpPr>
          <p:nvPr/>
        </p:nvCxnSpPr>
        <p:spPr bwMode="auto">
          <a:xfrm>
            <a:off x="42602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>
            <a:stCxn id="7" idx="4"/>
          </p:cNvCxnSpPr>
          <p:nvPr/>
        </p:nvCxnSpPr>
        <p:spPr bwMode="auto">
          <a:xfrm>
            <a:off x="2483434" y="186068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>
            <a:stCxn id="8" idx="4"/>
          </p:cNvCxnSpPr>
          <p:nvPr/>
        </p:nvCxnSpPr>
        <p:spPr bwMode="auto">
          <a:xfrm>
            <a:off x="3917374" y="186068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stCxn id="9" idx="4"/>
          </p:cNvCxnSpPr>
          <p:nvPr/>
        </p:nvCxnSpPr>
        <p:spPr bwMode="auto">
          <a:xfrm>
            <a:off x="5212774" y="186068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 17"/>
          <p:cNvSpPr/>
          <p:nvPr/>
        </p:nvSpPr>
        <p:spPr>
          <a:xfrm>
            <a:off x="61652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0" name="Straight Arrow Connector 19"/>
          <p:cNvCxnSpPr>
            <a:stCxn id="18" idx="4"/>
          </p:cNvCxnSpPr>
          <p:nvPr/>
        </p:nvCxnSpPr>
        <p:spPr bwMode="auto">
          <a:xfrm>
            <a:off x="6508174" y="186068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stCxn id="9" idx="6"/>
            <a:endCxn id="18" idx="2"/>
          </p:cNvCxnSpPr>
          <p:nvPr/>
        </p:nvCxnSpPr>
        <p:spPr bwMode="auto">
          <a:xfrm>
            <a:off x="55556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21673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1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275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2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29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3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83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y</a:t>
            </a:r>
            <a:r>
              <a:rPr lang="en-US" sz="2000" baseline="-25000" dirty="0" smtClean="0">
                <a:latin typeface="BKM-cmcsc10"/>
                <a:cs typeface="BKM-cmcsc10"/>
              </a:rPr>
              <a:t>4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673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1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14514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5790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8744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1698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3289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2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20202" y="230264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3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04528" y="231403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KM-cmmi12"/>
                <a:cs typeface="BKM-cmmi12"/>
              </a:rPr>
              <a:t>x</a:t>
            </a:r>
            <a:r>
              <a:rPr lang="en-US" sz="2000" baseline="-25000" dirty="0" smtClean="0">
                <a:latin typeface="BKM-cmcsc10"/>
                <a:cs typeface="BKM-cmcsc10"/>
              </a:rPr>
              <a:t>4</a:t>
            </a:r>
            <a:endParaRPr lang="en-US" sz="2400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0240" y="4407056"/>
            <a:ext cx="7630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ym typeface="Wingdings"/>
            </a:endParaRPr>
          </a:p>
          <a:p>
            <a:r>
              <a:rPr lang="en-US" sz="2000" b="1" dirty="0" smtClean="0">
                <a:sym typeface="Wingdings"/>
              </a:rPr>
              <a:t>transition parameters:</a:t>
            </a:r>
          </a:p>
          <a:p>
            <a:r>
              <a:rPr lang="en-US" sz="2000" b="1" dirty="0" smtClean="0">
                <a:sym typeface="Wingdings"/>
              </a:rPr>
              <a:t> </a:t>
            </a:r>
          </a:p>
          <a:p>
            <a:r>
              <a:rPr lang="en-US" sz="2000" b="1" dirty="0" smtClean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62" y="4711022"/>
            <a:ext cx="1892300" cy="36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66" y="5357340"/>
            <a:ext cx="1536700" cy="3810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775" y="3107603"/>
            <a:ext cx="5849165" cy="110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205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HMMs for Word Clustering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400" dirty="0" smtClean="0"/>
              <a:t>(Brown et al., 1992)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50240" y="3280519"/>
            <a:ext cx="76301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ym typeface="Wingdings"/>
              </a:rPr>
              <a:t>each                  is a cluster ID</a:t>
            </a:r>
          </a:p>
          <a:p>
            <a:r>
              <a:rPr lang="en-US" sz="2800" dirty="0" smtClean="0">
                <a:sym typeface="Wingdings"/>
              </a:rPr>
              <a:t>so, label space is</a:t>
            </a:r>
          </a:p>
          <a:p>
            <a:r>
              <a:rPr lang="en-US" sz="2800" dirty="0" smtClean="0">
                <a:sym typeface="Wingdings"/>
              </a:rPr>
              <a:t>simplifying assumption:</a:t>
            </a:r>
          </a:p>
          <a:p>
            <a:r>
              <a:rPr lang="en-US" sz="2800" dirty="0">
                <a:sym typeface="Wingdings"/>
              </a:rPr>
              <a:t>	</a:t>
            </a:r>
            <a:r>
              <a:rPr lang="en-US" sz="2800" dirty="0" smtClean="0">
                <a:sym typeface="Wingdings"/>
              </a:rPr>
              <a:t>each word is in exactly one cluster</a:t>
            </a:r>
            <a:endParaRPr lang="en-US" sz="2800" dirty="0">
              <a:sym typeface="Wingding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214053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35744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48698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0" name="Straight Arrow Connector 39"/>
          <p:cNvCxnSpPr>
            <a:stCxn id="37" idx="6"/>
            <a:endCxn id="38" idx="2"/>
          </p:cNvCxnSpPr>
          <p:nvPr/>
        </p:nvCxnSpPr>
        <p:spPr bwMode="auto">
          <a:xfrm>
            <a:off x="2826334" y="1607177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>
            <a:stCxn id="38" idx="6"/>
            <a:endCxn id="39" idx="2"/>
          </p:cNvCxnSpPr>
          <p:nvPr/>
        </p:nvCxnSpPr>
        <p:spPr bwMode="auto">
          <a:xfrm>
            <a:off x="4260274" y="1607177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Oval 41"/>
          <p:cNvSpPr/>
          <p:nvPr/>
        </p:nvSpPr>
        <p:spPr>
          <a:xfrm>
            <a:off x="2043542" y="2358797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3429001" y="2358797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825999" y="2358797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5" name="Straight Arrow Connector 44"/>
          <p:cNvCxnSpPr>
            <a:stCxn id="37" idx="4"/>
            <a:endCxn id="42" idx="0"/>
          </p:cNvCxnSpPr>
          <p:nvPr/>
        </p:nvCxnSpPr>
        <p:spPr bwMode="auto">
          <a:xfrm>
            <a:off x="2483434" y="1950077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/>
          <p:cNvCxnSpPr>
            <a:stCxn id="38" idx="4"/>
            <a:endCxn id="43" idx="0"/>
          </p:cNvCxnSpPr>
          <p:nvPr/>
        </p:nvCxnSpPr>
        <p:spPr bwMode="auto">
          <a:xfrm>
            <a:off x="3917374" y="1950077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stCxn id="39" idx="4"/>
            <a:endCxn id="44" idx="0"/>
          </p:cNvCxnSpPr>
          <p:nvPr/>
        </p:nvCxnSpPr>
        <p:spPr bwMode="auto">
          <a:xfrm>
            <a:off x="5212774" y="1950077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Oval 47"/>
          <p:cNvSpPr/>
          <p:nvPr/>
        </p:nvSpPr>
        <p:spPr>
          <a:xfrm>
            <a:off x="6165274" y="1264277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5888183" y="2358797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0" name="Straight Arrow Connector 49"/>
          <p:cNvCxnSpPr>
            <a:stCxn id="48" idx="4"/>
            <a:endCxn id="49" idx="0"/>
          </p:cNvCxnSpPr>
          <p:nvPr/>
        </p:nvCxnSpPr>
        <p:spPr bwMode="auto">
          <a:xfrm>
            <a:off x="6508174" y="1950077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Arrow Connector 50"/>
          <p:cNvCxnSpPr>
            <a:stCxn id="39" idx="6"/>
            <a:endCxn id="48" idx="2"/>
          </p:cNvCxnSpPr>
          <p:nvPr/>
        </p:nvCxnSpPr>
        <p:spPr bwMode="auto">
          <a:xfrm>
            <a:off x="5555674" y="1607177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" name="TextBox 51"/>
          <p:cNvSpPr txBox="1"/>
          <p:nvPr/>
        </p:nvSpPr>
        <p:spPr>
          <a:xfrm>
            <a:off x="2117447" y="2445908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for            president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1673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1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2758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2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92298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3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18384" y="1264277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4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084" y="3398734"/>
            <a:ext cx="110490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514" y="3800054"/>
            <a:ext cx="3086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11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HMMs for Word Clustering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2400" dirty="0" smtClean="0"/>
              <a:t>(Brown et al., 1992)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101600" y="1157287"/>
            <a:ext cx="88519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/>
              <a:buChar char="•"/>
            </a:pPr>
            <a:r>
              <a:rPr lang="en-US" sz="2800" dirty="0" smtClean="0">
                <a:sym typeface="Wingdings"/>
              </a:rPr>
              <a:t>given a set of sentences, how should we learn the parameters of our model?</a:t>
            </a:r>
          </a:p>
          <a:p>
            <a:pPr marL="284163" indent="-284163">
              <a:buFont typeface="Arial"/>
              <a:buChar char="•"/>
            </a:pPr>
            <a:endParaRPr lang="en-US" sz="2800" dirty="0" smtClean="0">
              <a:sym typeface="Wingdings"/>
            </a:endParaRPr>
          </a:p>
          <a:p>
            <a:pPr marL="284163" indent="-284163">
              <a:buFont typeface="Arial"/>
              <a:buChar char="•"/>
            </a:pPr>
            <a:r>
              <a:rPr lang="en-US" sz="2800" dirty="0" smtClean="0">
                <a:sym typeface="Wingdings"/>
              </a:rPr>
              <a:t>how abou</a:t>
            </a:r>
            <a:r>
              <a:rPr lang="en-US" sz="2800" dirty="0" smtClean="0">
                <a:sym typeface="Wingdings"/>
              </a:rPr>
              <a:t>t we use </a:t>
            </a:r>
            <a:r>
              <a:rPr lang="en-US" sz="2800" dirty="0" smtClean="0">
                <a:sym typeface="Wingdings"/>
              </a:rPr>
              <a:t>maximum likelihood estimation, e.g.:</a:t>
            </a:r>
          </a:p>
          <a:p>
            <a:pPr marL="284163" indent="-284163">
              <a:buFont typeface="Arial"/>
              <a:buChar char="•"/>
            </a:pPr>
            <a:endParaRPr lang="en-US" sz="2800" dirty="0" smtClean="0">
              <a:sym typeface="Wingdings"/>
            </a:endParaRPr>
          </a:p>
          <a:p>
            <a:pPr marL="284163" indent="-284163">
              <a:buFont typeface="Arial"/>
              <a:buChar char="•"/>
            </a:pPr>
            <a:endParaRPr lang="en-US" sz="2800" dirty="0">
              <a:sym typeface="Wingdings"/>
            </a:endParaRPr>
          </a:p>
          <a:p>
            <a:pPr marL="284163" indent="-284163">
              <a:buFont typeface="Arial"/>
              <a:buChar char="•"/>
            </a:pPr>
            <a:endParaRPr lang="en-US" sz="2800" dirty="0" smtClean="0">
              <a:sym typeface="Wingdings"/>
            </a:endParaRPr>
          </a:p>
          <a:p>
            <a:pPr marL="284163" indent="-284163">
              <a:buFont typeface="Arial"/>
              <a:buChar char="•"/>
            </a:pPr>
            <a:endParaRPr lang="en-US" sz="2800" dirty="0" smtClean="0">
              <a:sym typeface="Wingdings"/>
            </a:endParaRPr>
          </a:p>
          <a:p>
            <a:pPr marL="284163" indent="-284163">
              <a:buFont typeface="Arial"/>
              <a:buChar char="•"/>
            </a:pPr>
            <a:r>
              <a:rPr lang="en-US" sz="2800" dirty="0" smtClean="0">
                <a:sym typeface="Wingdings"/>
              </a:rPr>
              <a:t>problem: we don’t have any          ’s!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3104091"/>
            <a:ext cx="4787900" cy="1193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80" y="4599841"/>
            <a:ext cx="584200" cy="469900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 bwMode="auto">
          <a:xfrm flipV="1">
            <a:off x="5300980" y="3982721"/>
            <a:ext cx="957536" cy="61712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Box 56"/>
          <p:cNvSpPr txBox="1"/>
          <p:nvPr/>
        </p:nvSpPr>
        <p:spPr>
          <a:xfrm>
            <a:off x="101600" y="5200967"/>
            <a:ext cx="8851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Arial"/>
              <a:buChar char="•"/>
            </a:pPr>
            <a:r>
              <a:rPr lang="en-US" sz="2800" dirty="0" smtClean="0">
                <a:sym typeface="Wingdings"/>
              </a:rPr>
              <a:t>we only have a set of </a:t>
            </a:r>
            <a:r>
              <a:rPr lang="en-US" sz="2800" b="1" dirty="0" smtClean="0">
                <a:sym typeface="Wingdings"/>
              </a:rPr>
              <a:t>unlabeled </a:t>
            </a:r>
            <a:r>
              <a:rPr lang="en-US" sz="2800" dirty="0" smtClean="0">
                <a:sym typeface="Wingdings"/>
              </a:rPr>
              <a:t>sentences:</a:t>
            </a:r>
          </a:p>
          <a:p>
            <a:pPr marL="284163" indent="-284163">
              <a:buFont typeface="Arial"/>
              <a:buChar char="•"/>
            </a:pPr>
            <a:endParaRPr lang="en-US" sz="2800" dirty="0" smtClean="0">
              <a:sym typeface="Wingdings"/>
            </a:endParaRP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180" y="5291991"/>
            <a:ext cx="13462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226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6445"/>
            <a:ext cx="8229600" cy="2893795"/>
          </a:xfrm>
        </p:spPr>
        <p:txBody>
          <a:bodyPr/>
          <a:lstStyle/>
          <a:p>
            <a:r>
              <a:rPr lang="en-US" dirty="0" smtClean="0"/>
              <a:t>we want to maximize likelihood, but:</a:t>
            </a:r>
          </a:p>
          <a:p>
            <a:pPr lvl="1"/>
            <a:r>
              <a:rPr lang="en-US" dirty="0" smtClean="0"/>
              <a:t>our HMM defines</a:t>
            </a:r>
          </a:p>
          <a:p>
            <a:pPr lvl="1"/>
            <a:r>
              <a:rPr lang="en-US" dirty="0" smtClean="0"/>
              <a:t>our data only contains</a:t>
            </a:r>
          </a:p>
          <a:p>
            <a:r>
              <a:rPr lang="en-US" dirty="0" smtClean="0"/>
              <a:t>solution: marginalize out </a:t>
            </a:r>
          </a:p>
          <a:p>
            <a:r>
              <a:rPr lang="en-US" dirty="0" smtClean="0"/>
              <a:t>this idea underlies most unsupervised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380" y="993085"/>
            <a:ext cx="12319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1597605"/>
            <a:ext cx="241300" cy="20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560" y="2166565"/>
            <a:ext cx="241300" cy="279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4732919"/>
            <a:ext cx="5041900" cy="1231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3002491"/>
            <a:ext cx="4787900" cy="1193800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4833620" y="4013411"/>
            <a:ext cx="436880" cy="80243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47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6445"/>
            <a:ext cx="8229600" cy="2893795"/>
          </a:xfrm>
        </p:spPr>
        <p:txBody>
          <a:bodyPr/>
          <a:lstStyle/>
          <a:p>
            <a:r>
              <a:rPr lang="en-US" dirty="0" smtClean="0"/>
              <a:t>we want to maximize likelihood, but:</a:t>
            </a:r>
          </a:p>
          <a:p>
            <a:pPr lvl="1"/>
            <a:r>
              <a:rPr lang="en-US" dirty="0" smtClean="0"/>
              <a:t>our HMM defines</a:t>
            </a:r>
          </a:p>
          <a:p>
            <a:pPr lvl="1"/>
            <a:r>
              <a:rPr lang="en-US" dirty="0" smtClean="0"/>
              <a:t>our data only contains</a:t>
            </a:r>
          </a:p>
          <a:p>
            <a:r>
              <a:rPr lang="en-US" dirty="0" smtClean="0"/>
              <a:t>solution: marginalize out </a:t>
            </a:r>
          </a:p>
          <a:p>
            <a:r>
              <a:rPr lang="en-US" dirty="0" smtClean="0"/>
              <a:t>this idea underlies most unsupervised learning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380" y="993085"/>
            <a:ext cx="12319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1597605"/>
            <a:ext cx="241300" cy="20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560" y="2166565"/>
            <a:ext cx="241300" cy="279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4732919"/>
            <a:ext cx="5041900" cy="1231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0" y="3002491"/>
            <a:ext cx="4787900" cy="1193800"/>
          </a:xfrm>
          <a:prstGeom prst="rect">
            <a:avLst/>
          </a:prstGeom>
        </p:spPr>
      </p:pic>
      <p:sp>
        <p:nvSpPr>
          <p:cNvPr id="14" name="Down Arrow 13"/>
          <p:cNvSpPr/>
          <p:nvPr/>
        </p:nvSpPr>
        <p:spPr>
          <a:xfrm>
            <a:off x="4833620" y="4013411"/>
            <a:ext cx="436880" cy="80243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nut 11"/>
          <p:cNvSpPr/>
          <p:nvPr/>
        </p:nvSpPr>
        <p:spPr>
          <a:xfrm>
            <a:off x="4270959" y="4732919"/>
            <a:ext cx="1743761" cy="1623432"/>
          </a:xfrm>
          <a:prstGeom prst="donut">
            <a:avLst>
              <a:gd name="adj" fmla="val 999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41600" y="3503793"/>
            <a:ext cx="5110480" cy="13849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lIns="365760" tIns="137160" rIns="365760" bIns="137160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a sum over an exponentially-large set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4666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6445"/>
            <a:ext cx="8229600" cy="589099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learning requires a sum over an exponentially-large set (of all possible </a:t>
            </a:r>
            <a:r>
              <a:rPr lang="en-US" dirty="0" err="1" smtClean="0"/>
              <a:t>clusterings</a:t>
            </a:r>
            <a:r>
              <a:rPr lang="en-US" dirty="0" smtClean="0"/>
              <a:t> of the words)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it’s actually trivial for Brown clustering (why?)</a:t>
            </a:r>
          </a:p>
          <a:p>
            <a:r>
              <a:rPr lang="en-US" dirty="0" smtClean="0"/>
              <a:t>for any clustering, we can easily compute the log-likelihood of the data</a:t>
            </a:r>
          </a:p>
          <a:p>
            <a:r>
              <a:rPr lang="en-US" dirty="0" smtClean="0"/>
              <a:t>problem: there are too many possible </a:t>
            </a:r>
            <a:r>
              <a:rPr lang="en-US" dirty="0" err="1" smtClean="0"/>
              <a:t>clusterings</a:t>
            </a:r>
            <a:r>
              <a:rPr lang="en-US" dirty="0" smtClean="0"/>
              <a:t> to consider them all!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740" y="1756039"/>
            <a:ext cx="50419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13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 bwMode="auto">
          <a:xfrm>
            <a:off x="711200" y="1650543"/>
            <a:ext cx="7965440" cy="2701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i="0" dirty="0" smtClean="0"/>
              <a:t>greedy algorithm</a:t>
            </a:r>
            <a:r>
              <a:rPr lang="en-US" i="0" dirty="0" smtClean="0"/>
              <a:t>:</a:t>
            </a:r>
          </a:p>
          <a:p>
            <a:pPr marL="0" indent="0">
              <a:buFont typeface="Wingdings" pitchFamily="2" charset="2"/>
              <a:buNone/>
            </a:pPr>
            <a:r>
              <a:rPr lang="en-US" sz="2800" i="0" dirty="0"/>
              <a:t> </a:t>
            </a:r>
            <a:r>
              <a:rPr lang="en-US" sz="2800" i="0" dirty="0" smtClean="0"/>
              <a:t> </a:t>
            </a:r>
            <a:r>
              <a:rPr lang="en-US" sz="2800" i="0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800" i="0" dirty="0" smtClean="0"/>
              <a:t>  initialize each word as its own cluster</a:t>
            </a:r>
          </a:p>
          <a:p>
            <a:pPr marL="0" indent="0">
              <a:buNone/>
            </a:pPr>
            <a:r>
              <a:rPr lang="en-US" sz="2800" i="0" dirty="0"/>
              <a:t> </a:t>
            </a:r>
            <a:r>
              <a:rPr lang="en-US" sz="2800" i="0" dirty="0" smtClean="0"/>
              <a:t> </a:t>
            </a:r>
            <a:r>
              <a:rPr lang="en-US" sz="2800" i="0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800" i="0" dirty="0" smtClean="0"/>
              <a:t>  greedily merge clusters to improve data likelihood</a:t>
            </a:r>
          </a:p>
          <a:p>
            <a:pPr marL="0" indent="0">
              <a:buNone/>
            </a:pPr>
            <a:endParaRPr lang="en-US" sz="1600" i="0" dirty="0" smtClean="0"/>
          </a:p>
          <a:p>
            <a:pPr marL="0" indent="0">
              <a:buNone/>
            </a:pPr>
            <a:r>
              <a:rPr lang="en-US" i="0" dirty="0" smtClean="0"/>
              <a:t>outputs </a:t>
            </a:r>
            <a:r>
              <a:rPr lang="en-US" b="1" i="0" dirty="0" smtClean="0"/>
              <a:t>hierarchical </a:t>
            </a:r>
            <a:r>
              <a:rPr lang="en-US" i="0" dirty="0" smtClean="0"/>
              <a:t>clustering</a:t>
            </a:r>
            <a:endParaRPr lang="en-US" i="0" dirty="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87680" y="175493"/>
            <a:ext cx="8188960" cy="923330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600" i="0" dirty="0" smtClean="0">
                <a:latin typeface="Calibri"/>
                <a:cs typeface="Calibri"/>
              </a:rPr>
              <a:t>Algorithm for Brown Clustering</a:t>
            </a:r>
            <a:endParaRPr lang="en-US" sz="3200" i="0" dirty="0" smtClean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98198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Brown Clusters as vectors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by </a:t>
            </a:r>
            <a:r>
              <a:rPr lang="en-US" sz="2800" dirty="0"/>
              <a:t>tracing </a:t>
            </a:r>
            <a:r>
              <a:rPr lang="en-US" sz="2800" dirty="0" smtClean="0"/>
              <a:t>order </a:t>
            </a:r>
            <a:r>
              <a:rPr lang="en-US" sz="2800" dirty="0"/>
              <a:t>in which clusters are merged, </a:t>
            </a:r>
            <a:r>
              <a:rPr lang="en-US" sz="2800" dirty="0" smtClean="0"/>
              <a:t>we can build a </a:t>
            </a:r>
            <a:r>
              <a:rPr lang="en-US" sz="2800" dirty="0"/>
              <a:t>binary tree from bottom to </a:t>
            </a:r>
            <a:r>
              <a:rPr lang="en-US" sz="2800" dirty="0" smtClean="0"/>
              <a:t>top</a:t>
            </a:r>
          </a:p>
          <a:p>
            <a:r>
              <a:rPr lang="en-US" sz="2800" dirty="0" smtClean="0"/>
              <a:t>each word is represented by its binary string = path from root to leaf</a:t>
            </a:r>
          </a:p>
          <a:p>
            <a:r>
              <a:rPr lang="en-US" sz="2800" dirty="0" smtClean="0"/>
              <a:t>each intermediate node is a cluster </a:t>
            </a:r>
          </a:p>
          <a:p>
            <a:r>
              <a:rPr lang="en-US" sz="2800" i="1" dirty="0" smtClean="0"/>
              <a:t>chairman </a:t>
            </a:r>
            <a:r>
              <a:rPr lang="en-US" sz="2800" dirty="0" smtClean="0"/>
              <a:t>is 0010, “months” = 01, verbs = 1: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" y="4135120"/>
            <a:ext cx="8991600" cy="199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982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figured</a:t>
            </a:r>
            <a:endParaRPr lang="en-US" sz="2000" i="0" dirty="0"/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ate</a:t>
            </a:r>
            <a:endParaRPr lang="en-US" sz="2000" i="0" dirty="0"/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hated</a:t>
            </a:r>
            <a:endParaRPr lang="en-US" sz="2000" i="0" dirty="0"/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1805710" y="669636"/>
            <a:ext cx="1046017" cy="1237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306378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figured</a:t>
            </a:r>
            <a:endParaRPr lang="en-US" sz="2000" i="0" dirty="0"/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ate</a:t>
            </a:r>
            <a:endParaRPr lang="en-US" sz="2000" i="0" dirty="0"/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hated</a:t>
            </a:r>
            <a:endParaRPr lang="en-US" sz="2000" i="0" dirty="0"/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watchin</a:t>
            </a:r>
            <a:endParaRPr lang="en-US" sz="2000" i="0" dirty="0" smtClean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hearing</a:t>
            </a:r>
            <a:endParaRPr lang="en-US" sz="2000" i="0" dirty="0"/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liking</a:t>
            </a:r>
            <a:endParaRPr lang="en-US" sz="2000" i="0" dirty="0"/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 smtClean="0">
                <a:solidFill>
                  <a:srgbClr val="288CD2"/>
                </a:solidFill>
              </a:rPr>
              <a:t>…</a:t>
            </a:r>
            <a:endParaRPr lang="en-US" sz="2800" i="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578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figured</a:t>
            </a:r>
            <a:endParaRPr lang="en-US" sz="2000" i="0" dirty="0"/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ate</a:t>
            </a:r>
            <a:endParaRPr lang="en-US" sz="2000" i="0" dirty="0"/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hated</a:t>
            </a:r>
            <a:endParaRPr lang="en-US" sz="2000" i="0" dirty="0"/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watchin</a:t>
            </a:r>
            <a:endParaRPr lang="en-US" sz="2000" i="0" dirty="0" smtClean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hearing</a:t>
            </a:r>
            <a:endParaRPr lang="en-US" sz="2000" i="0" dirty="0"/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liking</a:t>
            </a:r>
            <a:endParaRPr lang="en-US" sz="2000" i="0" dirty="0"/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6315355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6730993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886870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7204357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262269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6326918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6883393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7422578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7740065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6800284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7435282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7620009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8042569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89462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unique</a:t>
            </a:r>
            <a:endParaRPr lang="en-US" sz="2000" i="0" dirty="0"/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7091229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rough</a:t>
            </a:r>
            <a:endParaRPr lang="en-US" sz="2000" i="0" dirty="0"/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6089086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common</a:t>
            </a:r>
            <a:endParaRPr lang="en-US" sz="2000" i="0" dirty="0"/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7726209" y="48260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8141847" y="48260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8297724" y="967520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8615211" y="967520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7673123" y="0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 smtClean="0">
                <a:solidFill>
                  <a:srgbClr val="288CD2"/>
                </a:solidFill>
              </a:rPr>
              <a:t>…</a:t>
            </a:r>
            <a:endParaRPr lang="en-US" sz="2800" i="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966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figured</a:t>
            </a:r>
            <a:endParaRPr lang="en-US" sz="2000" i="0" dirty="0"/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ate</a:t>
            </a:r>
            <a:endParaRPr lang="en-US" sz="2000" i="0" dirty="0"/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hated</a:t>
            </a:r>
            <a:endParaRPr lang="en-US" sz="2000" i="0" dirty="0"/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watchin</a:t>
            </a:r>
            <a:endParaRPr lang="en-US" sz="2000" i="0" dirty="0" smtClean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hearing</a:t>
            </a:r>
            <a:endParaRPr lang="en-US" sz="2000" i="0" dirty="0"/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liking</a:t>
            </a:r>
            <a:endParaRPr lang="en-US" sz="2000" i="0" dirty="0"/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6315355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6730993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886870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7204357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262269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6326918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6883393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7422578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7740065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6800284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7435282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7620009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8042569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89462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unique</a:t>
            </a:r>
            <a:endParaRPr lang="en-US" sz="2000" i="0" dirty="0"/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7091229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rough</a:t>
            </a:r>
            <a:endParaRPr lang="en-US" sz="2000" i="0" dirty="0"/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6089086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common</a:t>
            </a:r>
            <a:endParaRPr lang="en-US" sz="2000" i="0" dirty="0"/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7726209" y="48260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8141847" y="48260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8297724" y="967520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8615211" y="967520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7673123" y="0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 smtClean="0">
                <a:solidFill>
                  <a:srgbClr val="288CD2"/>
                </a:solidFill>
              </a:rPr>
              <a:t>…</a:t>
            </a:r>
            <a:endParaRPr lang="en-US" sz="2800" i="0" dirty="0">
              <a:solidFill>
                <a:srgbClr val="288CD2"/>
              </a:solidFill>
            </a:endParaRPr>
          </a:p>
        </p:txBody>
      </p:sp>
      <p:sp>
        <p:nvSpPr>
          <p:cNvPr id="70" name="Content Placeholder 2"/>
          <p:cNvSpPr txBox="1">
            <a:spLocks/>
          </p:cNvSpPr>
          <p:nvPr/>
        </p:nvSpPr>
        <p:spPr bwMode="auto">
          <a:xfrm>
            <a:off x="2389911" y="464125"/>
            <a:ext cx="1177636" cy="3902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400" i="0" dirty="0" smtClean="0">
                <a:solidFill>
                  <a:schemeClr val="bg1"/>
                </a:solidFill>
              </a:rPr>
              <a:t>verbs?</a:t>
            </a:r>
            <a:endParaRPr lang="en-US" sz="2400" i="0" dirty="0">
              <a:solidFill>
                <a:schemeClr val="bg1"/>
              </a:solidFill>
            </a:endParaRPr>
          </a:p>
        </p:txBody>
      </p:sp>
      <p:sp>
        <p:nvSpPr>
          <p:cNvPr id="71" name="Content Placeholder 2"/>
          <p:cNvSpPr txBox="1">
            <a:spLocks/>
          </p:cNvSpPr>
          <p:nvPr/>
        </p:nvSpPr>
        <p:spPr bwMode="auto">
          <a:xfrm>
            <a:off x="5784270" y="270162"/>
            <a:ext cx="1644072" cy="39023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400" i="0" dirty="0" smtClean="0">
                <a:solidFill>
                  <a:schemeClr val="bg1"/>
                </a:solidFill>
              </a:rPr>
              <a:t>adjectives?</a:t>
            </a:r>
            <a:endParaRPr lang="en-US" sz="24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9180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 bwMode="auto">
          <a:xfrm flipH="1">
            <a:off x="2851727" y="92364"/>
            <a:ext cx="427182" cy="56342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H="1">
            <a:off x="3537528" y="115685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2459182" y="669636"/>
            <a:ext cx="392547" cy="3925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>
            <a:off x="3953166" y="1168399"/>
            <a:ext cx="572653" cy="471055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2863273" y="658091"/>
            <a:ext cx="1073709" cy="49646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Straight Connector 24"/>
          <p:cNvCxnSpPr/>
          <p:nvPr/>
        </p:nvCxnSpPr>
        <p:spPr bwMode="auto">
          <a:xfrm flipH="1">
            <a:off x="1355438" y="1916545"/>
            <a:ext cx="445653" cy="5241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>
            <a:off x="1840338" y="1886537"/>
            <a:ext cx="457207" cy="3879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H="1">
            <a:off x="496453" y="2443018"/>
            <a:ext cx="838202" cy="44334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Straight Connector 27"/>
          <p:cNvCxnSpPr/>
          <p:nvPr/>
        </p:nvCxnSpPr>
        <p:spPr bwMode="auto">
          <a:xfrm>
            <a:off x="1350818" y="2436090"/>
            <a:ext cx="1020619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Connector 28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Content Placeholder 2"/>
          <p:cNvSpPr txBox="1">
            <a:spLocks/>
          </p:cNvSpPr>
          <p:nvPr/>
        </p:nvSpPr>
        <p:spPr bwMode="auto">
          <a:xfrm>
            <a:off x="2272145" y="3920833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found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checked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figured</a:t>
            </a:r>
            <a:endParaRPr lang="en-US" sz="2000" i="0" dirty="0"/>
          </a:p>
        </p:txBody>
      </p:sp>
      <p:cxnSp>
        <p:nvCxnSpPr>
          <p:cNvPr id="38" name="Straight Connector 37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Content Placeholder 2"/>
          <p:cNvSpPr txBox="1">
            <a:spLocks/>
          </p:cNvSpPr>
          <p:nvPr/>
        </p:nvSpPr>
        <p:spPr bwMode="auto">
          <a:xfrm>
            <a:off x="0" y="3911600"/>
            <a:ext cx="1050636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saw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peeped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saww</a:t>
            </a:r>
            <a:endParaRPr lang="en-US" sz="2000" i="0" dirty="0"/>
          </a:p>
        </p:txBody>
      </p:sp>
      <p:cxnSp>
        <p:nvCxnSpPr>
          <p:cNvPr id="40" name="Straight Connector 39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Content Placeholder 2"/>
          <p:cNvSpPr txBox="1">
            <a:spLocks/>
          </p:cNvSpPr>
          <p:nvPr/>
        </p:nvSpPr>
        <p:spPr bwMode="auto">
          <a:xfrm>
            <a:off x="1122214" y="3925453"/>
            <a:ext cx="1094513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bought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ate</a:t>
            </a:r>
            <a:endParaRPr lang="en-US" sz="2000" i="0" dirty="0"/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3302005" y="3911598"/>
            <a:ext cx="1087586" cy="951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missed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loved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hated</a:t>
            </a:r>
            <a:endParaRPr lang="en-US" sz="2000" i="0" dirty="0"/>
          </a:p>
        </p:txBody>
      </p:sp>
      <p:cxnSp>
        <p:nvCxnSpPr>
          <p:cNvPr id="52" name="Straight Connector 51"/>
          <p:cNvCxnSpPr/>
          <p:nvPr/>
        </p:nvCxnSpPr>
        <p:spPr bwMode="auto">
          <a:xfrm flipH="1">
            <a:off x="3126488" y="163715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Straight Connector 52"/>
          <p:cNvCxnSpPr/>
          <p:nvPr/>
        </p:nvCxnSpPr>
        <p:spPr bwMode="auto">
          <a:xfrm>
            <a:off x="3542126" y="1637158"/>
            <a:ext cx="822039" cy="441038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Connector 53"/>
          <p:cNvCxnSpPr>
            <a:endCxn id="62" idx="0"/>
          </p:cNvCxnSpPr>
          <p:nvPr/>
        </p:nvCxnSpPr>
        <p:spPr bwMode="auto">
          <a:xfrm flipH="1">
            <a:off x="4067457" y="2087432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/>
          <p:nvPr/>
        </p:nvCxnSpPr>
        <p:spPr bwMode="auto">
          <a:xfrm>
            <a:off x="4384944" y="2087432"/>
            <a:ext cx="706601" cy="48720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2507661" y="21474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watching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watchin</a:t>
            </a:r>
            <a:endParaRPr lang="en-US" sz="2000" i="0" dirty="0" smtClean="0"/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err="1" smtClean="0"/>
              <a:t>watchn</a:t>
            </a:r>
            <a:endParaRPr lang="en-US" sz="2000" i="0" dirty="0"/>
          </a:p>
        </p:txBody>
      </p:sp>
      <p:sp>
        <p:nvSpPr>
          <p:cNvPr id="62" name="Content Placeholder 2"/>
          <p:cNvSpPr txBox="1">
            <a:spLocks/>
          </p:cNvSpPr>
          <p:nvPr/>
        </p:nvSpPr>
        <p:spPr bwMode="auto">
          <a:xfrm>
            <a:off x="3491338" y="2576961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seeing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finding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hearing</a:t>
            </a:r>
            <a:endParaRPr lang="en-US" sz="2000" i="0" dirty="0"/>
          </a:p>
        </p:txBody>
      </p:sp>
      <p:sp>
        <p:nvSpPr>
          <p:cNvPr id="63" name="Content Placeholder 2"/>
          <p:cNvSpPr txBox="1">
            <a:spLocks/>
          </p:cNvSpPr>
          <p:nvPr/>
        </p:nvSpPr>
        <p:spPr bwMode="auto">
          <a:xfrm>
            <a:off x="4613569" y="2579270"/>
            <a:ext cx="1152237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loving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enjoying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liking</a:t>
            </a:r>
            <a:endParaRPr lang="en-US" sz="2000" i="0" dirty="0"/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6315355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6730993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6886870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7204357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6262269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6326918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6883393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7422578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7740065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6800284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7435282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7620009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8042569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89462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unique</a:t>
            </a:r>
            <a:endParaRPr lang="en-US" sz="2000" i="0" dirty="0"/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7091229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rough</a:t>
            </a:r>
            <a:endParaRPr lang="en-US" sz="2000" i="0" dirty="0"/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6089086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common</a:t>
            </a:r>
            <a:endParaRPr lang="en-US" sz="2000" i="0" dirty="0"/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7726209" y="48260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8141847" y="48260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Straight Connector 64"/>
          <p:cNvCxnSpPr/>
          <p:nvPr/>
        </p:nvCxnSpPr>
        <p:spPr bwMode="auto">
          <a:xfrm flipH="1">
            <a:off x="8297724" y="967520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Connector 65"/>
          <p:cNvCxnSpPr/>
          <p:nvPr/>
        </p:nvCxnSpPr>
        <p:spPr bwMode="auto">
          <a:xfrm>
            <a:off x="8615211" y="967520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7673123" y="0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1814947" y="1397000"/>
            <a:ext cx="390235" cy="4987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2020455" y="937507"/>
            <a:ext cx="637298" cy="48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800" i="0" dirty="0" smtClean="0">
                <a:solidFill>
                  <a:srgbClr val="288CD2"/>
                </a:solidFill>
              </a:rPr>
              <a:t>…</a:t>
            </a:r>
            <a:endParaRPr lang="en-US" sz="2800" i="0" dirty="0">
              <a:solidFill>
                <a:srgbClr val="288CD2"/>
              </a:solidFill>
            </a:endParaRPr>
          </a:p>
        </p:txBody>
      </p:sp>
      <p:cxnSp>
        <p:nvCxnSpPr>
          <p:cNvPr id="70" name="Straight Connector 69"/>
          <p:cNvCxnSpPr/>
          <p:nvPr/>
        </p:nvCxnSpPr>
        <p:spPr bwMode="auto">
          <a:xfrm flipH="1">
            <a:off x="1316183" y="2927927"/>
            <a:ext cx="1011383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>
            <a:off x="2366818" y="2909454"/>
            <a:ext cx="847436" cy="4779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Connector 71"/>
          <p:cNvCxnSpPr/>
          <p:nvPr/>
        </p:nvCxnSpPr>
        <p:spPr bwMode="auto">
          <a:xfrm flipH="1">
            <a:off x="2800928" y="3389745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Connector 72"/>
          <p:cNvCxnSpPr/>
          <p:nvPr/>
        </p:nvCxnSpPr>
        <p:spPr bwMode="auto">
          <a:xfrm>
            <a:off x="3216566" y="3389745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Straight Connector 73"/>
          <p:cNvCxnSpPr/>
          <p:nvPr/>
        </p:nvCxnSpPr>
        <p:spPr bwMode="auto">
          <a:xfrm>
            <a:off x="1313875" y="3415145"/>
            <a:ext cx="302489" cy="47567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Connector 74"/>
          <p:cNvCxnSpPr/>
          <p:nvPr/>
        </p:nvCxnSpPr>
        <p:spPr bwMode="auto">
          <a:xfrm flipH="1">
            <a:off x="635000" y="3403600"/>
            <a:ext cx="690421" cy="464127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Oval 75"/>
          <p:cNvSpPr/>
          <p:nvPr/>
        </p:nvSpPr>
        <p:spPr>
          <a:xfrm>
            <a:off x="196271" y="3856182"/>
            <a:ext cx="646547" cy="454886"/>
          </a:xfrm>
          <a:prstGeom prst="ellipse">
            <a:avLst/>
          </a:prstGeom>
          <a:ln w="57150" cmpd="sng">
            <a:solidFill>
              <a:srgbClr val="C50C0C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77" name="Straight Arrow Connector 76"/>
          <p:cNvCxnSpPr/>
          <p:nvPr/>
        </p:nvCxnSpPr>
        <p:spPr bwMode="auto">
          <a:xfrm flipV="1">
            <a:off x="3382818" y="3583709"/>
            <a:ext cx="690864" cy="1357746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Title 1"/>
          <p:cNvSpPr txBox="1">
            <a:spLocks/>
          </p:cNvSpPr>
          <p:nvPr/>
        </p:nvSpPr>
        <p:spPr bwMode="auto">
          <a:xfrm>
            <a:off x="484927" y="4953001"/>
            <a:ext cx="8254984" cy="83127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Gill Sans MT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800" i="0" dirty="0" smtClean="0">
                <a:solidFill>
                  <a:srgbClr val="C50C0C"/>
                </a:solidFill>
                <a:latin typeface="Calibri"/>
                <a:cs typeface="Calibri"/>
              </a:rPr>
              <a:t>could be verbs or nouns, but</a:t>
            </a:r>
          </a:p>
          <a:p>
            <a:pPr>
              <a:lnSpc>
                <a:spcPct val="80000"/>
              </a:lnSpc>
            </a:pPr>
            <a:r>
              <a:rPr lang="en-US" sz="2800" i="0" dirty="0" smtClean="0">
                <a:solidFill>
                  <a:srgbClr val="C50C0C"/>
                </a:solidFill>
                <a:latin typeface="Calibri"/>
                <a:cs typeface="Calibri"/>
              </a:rPr>
              <a:t>Brown clustering uses one-cluster-per-word constraint</a:t>
            </a:r>
            <a:endParaRPr lang="en-US" sz="2400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3560617" y="3045684"/>
            <a:ext cx="988291" cy="498770"/>
          </a:xfrm>
          <a:prstGeom prst="ellipse">
            <a:avLst/>
          </a:prstGeom>
          <a:ln w="57150" cmpd="sng">
            <a:solidFill>
              <a:srgbClr val="C50C0C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80" name="Straight Arrow Connector 79"/>
          <p:cNvCxnSpPr/>
          <p:nvPr/>
        </p:nvCxnSpPr>
        <p:spPr bwMode="auto">
          <a:xfrm flipH="1" flipV="1">
            <a:off x="752765" y="4271818"/>
            <a:ext cx="1660235" cy="773546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C50C0C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224599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 bwMode="auto">
          <a:xfrm flipH="1">
            <a:off x="1281536" y="531108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Straight Connector 34"/>
          <p:cNvCxnSpPr/>
          <p:nvPr/>
        </p:nvCxnSpPr>
        <p:spPr bwMode="auto">
          <a:xfrm>
            <a:off x="1697174" y="531108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/>
          <p:nvPr/>
        </p:nvCxnSpPr>
        <p:spPr bwMode="auto">
          <a:xfrm flipH="1">
            <a:off x="1853051" y="1016019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2170538" y="1016019"/>
            <a:ext cx="519565" cy="623440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" name="Straight Connector 41"/>
          <p:cNvCxnSpPr/>
          <p:nvPr/>
        </p:nvCxnSpPr>
        <p:spPr bwMode="auto">
          <a:xfrm>
            <a:off x="1228450" y="4849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Straight Connector 43"/>
          <p:cNvCxnSpPr/>
          <p:nvPr/>
        </p:nvCxnSpPr>
        <p:spPr bwMode="auto">
          <a:xfrm flipH="1">
            <a:off x="1293099" y="1537873"/>
            <a:ext cx="544930" cy="45949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Connector 45"/>
          <p:cNvCxnSpPr/>
          <p:nvPr/>
        </p:nvCxnSpPr>
        <p:spPr bwMode="auto">
          <a:xfrm>
            <a:off x="1849574" y="1537873"/>
            <a:ext cx="263252" cy="4825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Connector 46"/>
          <p:cNvCxnSpPr/>
          <p:nvPr/>
        </p:nvCxnSpPr>
        <p:spPr bwMode="auto">
          <a:xfrm flipH="1">
            <a:off x="2388759" y="1655636"/>
            <a:ext cx="305941" cy="48952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/>
          <p:nvPr/>
        </p:nvCxnSpPr>
        <p:spPr bwMode="auto">
          <a:xfrm>
            <a:off x="2706246" y="1655636"/>
            <a:ext cx="561126" cy="45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Straight Connector 50"/>
          <p:cNvCxnSpPr/>
          <p:nvPr/>
        </p:nvCxnSpPr>
        <p:spPr bwMode="auto">
          <a:xfrm flipH="1">
            <a:off x="1766465" y="2154399"/>
            <a:ext cx="630380" cy="46641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Straight Connector 55"/>
          <p:cNvCxnSpPr/>
          <p:nvPr/>
        </p:nvCxnSpPr>
        <p:spPr bwMode="auto">
          <a:xfrm>
            <a:off x="2401463" y="2170545"/>
            <a:ext cx="591145" cy="475676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Straight Connector 56"/>
          <p:cNvCxnSpPr/>
          <p:nvPr/>
        </p:nvCxnSpPr>
        <p:spPr bwMode="auto">
          <a:xfrm flipH="1">
            <a:off x="2586190" y="2662399"/>
            <a:ext cx="411015" cy="43178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Straight Connector 58"/>
          <p:cNvCxnSpPr/>
          <p:nvPr/>
        </p:nvCxnSpPr>
        <p:spPr bwMode="auto">
          <a:xfrm>
            <a:off x="3008750" y="2662399"/>
            <a:ext cx="420258" cy="45487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2955643" y="3158857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quick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simple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unique</a:t>
            </a:r>
            <a:endParaRPr lang="en-US" sz="2000" i="0" dirty="0"/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2057410" y="3149623"/>
            <a:ext cx="992908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short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tough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rough</a:t>
            </a:r>
            <a:endParaRPr lang="en-US" sz="2000" i="0" dirty="0"/>
          </a:p>
        </p:txBody>
      </p:sp>
      <p:sp>
        <p:nvSpPr>
          <p:cNvPr id="64" name="Content Placeholder 2"/>
          <p:cNvSpPr txBox="1">
            <a:spLocks/>
          </p:cNvSpPr>
          <p:nvPr/>
        </p:nvSpPr>
        <p:spPr bwMode="auto">
          <a:xfrm>
            <a:off x="1055267" y="2655472"/>
            <a:ext cx="1207654" cy="925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random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dirty</a:t>
            </a:r>
          </a:p>
          <a:p>
            <a:pPr marL="0" indent="0" algn="ctr">
              <a:lnSpc>
                <a:spcPct val="70000"/>
              </a:lnSpc>
              <a:buFont typeface="Wingdings" pitchFamily="2" charset="2"/>
              <a:buNone/>
            </a:pPr>
            <a:r>
              <a:rPr lang="en-US" sz="2000" i="0" dirty="0" smtClean="0"/>
              <a:t>common</a:t>
            </a:r>
            <a:endParaRPr lang="en-US" sz="2000" i="0" dirty="0"/>
          </a:p>
        </p:txBody>
      </p:sp>
      <p:cxnSp>
        <p:nvCxnSpPr>
          <p:cNvPr id="49" name="Straight Connector 48"/>
          <p:cNvCxnSpPr/>
          <p:nvPr/>
        </p:nvCxnSpPr>
        <p:spPr bwMode="auto">
          <a:xfrm flipH="1">
            <a:off x="5449456" y="519545"/>
            <a:ext cx="1073726" cy="427182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Straight Connector 49"/>
          <p:cNvCxnSpPr/>
          <p:nvPr/>
        </p:nvCxnSpPr>
        <p:spPr bwMode="auto">
          <a:xfrm>
            <a:off x="6548574" y="517246"/>
            <a:ext cx="1106062" cy="4756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Connector 66"/>
          <p:cNvCxnSpPr/>
          <p:nvPr/>
        </p:nvCxnSpPr>
        <p:spPr bwMode="auto">
          <a:xfrm>
            <a:off x="6079850" y="34639"/>
            <a:ext cx="447962" cy="459509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Connector 67"/>
          <p:cNvCxnSpPr/>
          <p:nvPr/>
        </p:nvCxnSpPr>
        <p:spPr bwMode="auto">
          <a:xfrm flipH="1">
            <a:off x="4883727" y="958282"/>
            <a:ext cx="558792" cy="450263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Connector 68"/>
          <p:cNvCxnSpPr/>
          <p:nvPr/>
        </p:nvCxnSpPr>
        <p:spPr bwMode="auto">
          <a:xfrm>
            <a:off x="5454065" y="958282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Connector 69"/>
          <p:cNvCxnSpPr/>
          <p:nvPr/>
        </p:nvCxnSpPr>
        <p:spPr bwMode="auto">
          <a:xfrm flipH="1">
            <a:off x="5502554" y="1445499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Straight Connector 70"/>
          <p:cNvCxnSpPr/>
          <p:nvPr/>
        </p:nvCxnSpPr>
        <p:spPr bwMode="auto">
          <a:xfrm>
            <a:off x="5929737" y="1445499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2" name="Content Placeholder 2"/>
          <p:cNvSpPr txBox="1">
            <a:spLocks/>
          </p:cNvSpPr>
          <p:nvPr/>
        </p:nvSpPr>
        <p:spPr bwMode="auto">
          <a:xfrm>
            <a:off x="5195455" y="2018164"/>
            <a:ext cx="588820" cy="1237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;)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:P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:-)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XD</a:t>
            </a:r>
          </a:p>
        </p:txBody>
      </p:sp>
      <p:sp>
        <p:nvSpPr>
          <p:cNvPr id="73" name="Content Placeholder 2"/>
          <p:cNvSpPr txBox="1">
            <a:spLocks/>
          </p:cNvSpPr>
          <p:nvPr/>
        </p:nvSpPr>
        <p:spPr bwMode="auto">
          <a:xfrm>
            <a:off x="4414991" y="1489385"/>
            <a:ext cx="757375" cy="1212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:D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^^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=D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*-*</a:t>
            </a:r>
          </a:p>
        </p:txBody>
      </p:sp>
      <p:sp>
        <p:nvSpPr>
          <p:cNvPr id="74" name="Content Placeholder 2"/>
          <p:cNvSpPr txBox="1">
            <a:spLocks/>
          </p:cNvSpPr>
          <p:nvPr/>
        </p:nvSpPr>
        <p:spPr bwMode="auto">
          <a:xfrm>
            <a:off x="5973625" y="1985834"/>
            <a:ext cx="992908" cy="1362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:</a:t>
            </a:r>
            <a:r>
              <a:rPr lang="en-US" sz="2000" i="0" dirty="0" smtClean="0">
                <a:latin typeface="+mj-lt"/>
              </a:rPr>
              <a:t>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(: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>
                <a:latin typeface="+mj-lt"/>
              </a:rPr>
              <a:t>=</a:t>
            </a:r>
            <a:r>
              <a:rPr lang="en-US" sz="2000" i="0" dirty="0" smtClean="0">
                <a:latin typeface="+mj-lt"/>
              </a:rPr>
              <a:t>)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  <a:sym typeface="Wingdings"/>
              </a:rPr>
              <a:t>:))</a:t>
            </a:r>
            <a:endParaRPr lang="en-US" sz="2000" i="0" dirty="0" smtClean="0">
              <a:latin typeface="+mj-lt"/>
            </a:endParaRPr>
          </a:p>
        </p:txBody>
      </p:sp>
      <p:sp>
        <p:nvSpPr>
          <p:cNvPr id="75" name="Content Placeholder 2"/>
          <p:cNvSpPr txBox="1">
            <a:spLocks/>
          </p:cNvSpPr>
          <p:nvPr/>
        </p:nvSpPr>
        <p:spPr bwMode="auto">
          <a:xfrm>
            <a:off x="6853390" y="1503234"/>
            <a:ext cx="778158" cy="1244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:o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err="1" smtClean="0">
                <a:latin typeface="+mj-lt"/>
              </a:rPr>
              <a:t>o_o</a:t>
            </a:r>
            <a:endParaRPr lang="en-US" sz="2000" i="0" dirty="0" smtClean="0">
              <a:latin typeface="+mj-lt"/>
            </a:endParaRP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&lt;&lt;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err="1" smtClean="0">
                <a:latin typeface="+mj-lt"/>
              </a:rPr>
              <a:t>o.o</a:t>
            </a:r>
            <a:endParaRPr lang="en-US" sz="2000" i="0" dirty="0" smtClean="0">
              <a:latin typeface="+mj-lt"/>
            </a:endParaRP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endParaRPr lang="en-US" sz="2000" i="0" dirty="0" smtClean="0">
              <a:latin typeface="+mj-lt"/>
            </a:endParaRPr>
          </a:p>
        </p:txBody>
      </p:sp>
      <p:cxnSp>
        <p:nvCxnSpPr>
          <p:cNvPr id="76" name="Straight Connector 75"/>
          <p:cNvCxnSpPr/>
          <p:nvPr/>
        </p:nvCxnSpPr>
        <p:spPr bwMode="auto">
          <a:xfrm flipH="1">
            <a:off x="7236682" y="1009081"/>
            <a:ext cx="404091" cy="473364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Straight Connector 76"/>
          <p:cNvCxnSpPr/>
          <p:nvPr/>
        </p:nvCxnSpPr>
        <p:spPr bwMode="auto">
          <a:xfrm>
            <a:off x="7663865" y="1009081"/>
            <a:ext cx="461838" cy="473351"/>
          </a:xfrm>
          <a:prstGeom prst="line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Content Placeholder 2"/>
          <p:cNvSpPr txBox="1">
            <a:spLocks/>
          </p:cNvSpPr>
          <p:nvPr/>
        </p:nvSpPr>
        <p:spPr bwMode="auto">
          <a:xfrm>
            <a:off x="7790884" y="1540179"/>
            <a:ext cx="778158" cy="149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:(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:/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-_-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r>
              <a:rPr lang="en-US" sz="2000" i="0" dirty="0" smtClean="0">
                <a:latin typeface="+mj-lt"/>
              </a:rPr>
              <a:t>-.-</a:t>
            </a:r>
          </a:p>
          <a:p>
            <a:pPr marL="0" indent="0" algn="ctr">
              <a:lnSpc>
                <a:spcPct val="90000"/>
              </a:lnSpc>
              <a:buFont typeface="Wingdings" pitchFamily="2" charset="2"/>
              <a:buNone/>
            </a:pPr>
            <a:endParaRPr lang="en-US" sz="2000" i="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18591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3595"/>
            <a:ext cx="8229600" cy="3239235"/>
          </a:xfrm>
        </p:spPr>
        <p:txBody>
          <a:bodyPr>
            <a:normAutofit/>
          </a:bodyPr>
          <a:lstStyle/>
          <a:p>
            <a:r>
              <a:rPr lang="en-US" dirty="0" smtClean="0"/>
              <a:t>though the summation is trivial for Brown clustering, in general we need to be able to compute summations over exponentially-large sets for sequence models and other structured prediction settings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62519"/>
            <a:ext cx="50419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91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Other Exponentially-Large 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57200" y="3117115"/>
            <a:ext cx="8229600" cy="3239235"/>
          </a:xfrm>
        </p:spPr>
        <p:txBody>
          <a:bodyPr>
            <a:normAutofit/>
          </a:bodyPr>
          <a:lstStyle/>
          <a:p>
            <a:r>
              <a:rPr lang="en-US" dirty="0" smtClean="0"/>
              <a:t>when output is a sequence (or other structure), this </a:t>
            </a:r>
            <a:r>
              <a:rPr lang="en-US" dirty="0" err="1" smtClean="0"/>
              <a:t>argmax</a:t>
            </a:r>
            <a:r>
              <a:rPr lang="en-US" dirty="0" smtClean="0"/>
              <a:t> requires iterating over an exponentially-large 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6138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Learning requires solving exponentially-hard problems too!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530626"/>
              </p:ext>
            </p:extLst>
          </p:nvPr>
        </p:nvGraphicFramePr>
        <p:xfrm>
          <a:off x="71119" y="1505775"/>
          <a:ext cx="8950961" cy="2928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40" y="2246327"/>
            <a:ext cx="5740400" cy="31688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440" y="3906403"/>
            <a:ext cx="3400796" cy="31993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198" y="3078363"/>
            <a:ext cx="6729202" cy="322804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 bwMode="auto">
          <a:xfrm flipV="1">
            <a:off x="4986623" y="2563207"/>
            <a:ext cx="1099217" cy="253065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Arrow Connector 25"/>
          <p:cNvCxnSpPr/>
          <p:nvPr/>
        </p:nvCxnSpPr>
        <p:spPr bwMode="auto">
          <a:xfrm flipV="1">
            <a:off x="5270236" y="3401168"/>
            <a:ext cx="1211844" cy="169269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 flipH="1" flipV="1">
            <a:off x="3677920" y="4266980"/>
            <a:ext cx="1097280" cy="82687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3056223" y="5154819"/>
            <a:ext cx="386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computing each of these terms requires iterating through every possible 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504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Inference in Structured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think of inference as “iterating over the output space”</a:t>
            </a:r>
          </a:p>
          <a:p>
            <a:r>
              <a:rPr lang="en-US" sz="2400" dirty="0" smtClean="0"/>
              <a:t>specific inference problems:</a:t>
            </a:r>
          </a:p>
          <a:p>
            <a:pPr lvl="1"/>
            <a:r>
              <a:rPr lang="en-US" sz="2000" dirty="0" smtClean="0"/>
              <a:t>computing </a:t>
            </a:r>
            <a:r>
              <a:rPr lang="en-US" sz="2000" dirty="0" err="1" smtClean="0"/>
              <a:t>argmax</a:t>
            </a:r>
            <a:r>
              <a:rPr lang="en-US" sz="2000" dirty="0" smtClean="0"/>
              <a:t> in classify() for classification of test data</a:t>
            </a:r>
          </a:p>
          <a:p>
            <a:pPr lvl="1"/>
            <a:r>
              <a:rPr lang="en-US" sz="2000" dirty="0" smtClean="0"/>
              <a:t>computing </a:t>
            </a:r>
            <a:r>
              <a:rPr lang="en-US" sz="2000" dirty="0" err="1" smtClean="0"/>
              <a:t>argmax</a:t>
            </a:r>
            <a:r>
              <a:rPr lang="en-US" sz="2000" dirty="0" smtClean="0"/>
              <a:t> in classify() or </a:t>
            </a:r>
            <a:r>
              <a:rPr lang="en-US" sz="2000" dirty="0" err="1" smtClean="0"/>
              <a:t>costClassify</a:t>
            </a:r>
            <a:r>
              <a:rPr lang="en-US" sz="2000" dirty="0" smtClean="0"/>
              <a:t>() for minimizing perceptron/hinge losses</a:t>
            </a:r>
          </a:p>
          <a:p>
            <a:pPr lvl="1"/>
            <a:r>
              <a:rPr lang="en-US" sz="2000" dirty="0" smtClean="0"/>
              <a:t>computing feature expectations when minimizing log loss (requires summing over outputs)</a:t>
            </a:r>
          </a:p>
          <a:p>
            <a:endParaRPr lang="en-US" sz="2400" dirty="0" smtClean="0"/>
          </a:p>
          <a:p>
            <a:r>
              <a:rPr lang="en-US" sz="2400" dirty="0" smtClean="0"/>
              <a:t>when </a:t>
            </a:r>
            <a:r>
              <a:rPr lang="en-US" sz="2400" dirty="0"/>
              <a:t>output space is exponentially-large (e.g., in structured prediction), we need to be clever about how we do this</a:t>
            </a:r>
          </a:p>
          <a:p>
            <a:endParaRPr lang="en-US" sz="2400" dirty="0" smtClean="0"/>
          </a:p>
          <a:p>
            <a:r>
              <a:rPr lang="en-US" sz="2400" dirty="0" smtClean="0"/>
              <a:t>today</a:t>
            </a:r>
            <a:r>
              <a:rPr lang="en-US" sz="2400" dirty="0"/>
              <a:t>, we’ll discuss </a:t>
            </a:r>
            <a:r>
              <a:rPr lang="en-US" sz="2400" b="1" dirty="0">
                <a:solidFill>
                  <a:srgbClr val="288CD2"/>
                </a:solidFill>
              </a:rPr>
              <a:t>dynamic programming </a:t>
            </a:r>
            <a:r>
              <a:rPr lang="en-US" sz="2400" dirty="0"/>
              <a:t>for inference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60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Dynamic Programming (DP)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392160" cy="505242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what is dynamic programming?</a:t>
            </a:r>
          </a:p>
          <a:p>
            <a:pPr lvl="1"/>
            <a:r>
              <a:rPr lang="en-US" sz="2400" dirty="0" smtClean="0"/>
              <a:t>a family of algorithms that break problems into smaller pieces and reuse solutions for those pieces</a:t>
            </a:r>
          </a:p>
          <a:p>
            <a:pPr lvl="1"/>
            <a:r>
              <a:rPr lang="en-US" sz="2400" dirty="0" smtClean="0"/>
              <a:t>only applicable when the problem has certain properties (</a:t>
            </a:r>
            <a:r>
              <a:rPr lang="en-US" sz="2400" b="1" dirty="0" smtClean="0">
                <a:solidFill>
                  <a:srgbClr val="288CD2"/>
                </a:solidFill>
              </a:rPr>
              <a:t>optimal substructure </a:t>
            </a:r>
            <a:r>
              <a:rPr lang="en-US" sz="2400" dirty="0" smtClean="0"/>
              <a:t>and </a:t>
            </a:r>
            <a:r>
              <a:rPr lang="en-US" sz="2400" b="1" dirty="0" smtClean="0">
                <a:solidFill>
                  <a:srgbClr val="288CD2"/>
                </a:solidFill>
              </a:rPr>
              <a:t>overlapping sub-problems</a:t>
            </a:r>
            <a:r>
              <a:rPr lang="en-US" sz="2400" dirty="0" smtClean="0"/>
              <a:t>)</a:t>
            </a:r>
          </a:p>
          <a:p>
            <a:endParaRPr lang="en-US" sz="2800" dirty="0" smtClean="0"/>
          </a:p>
          <a:p>
            <a:r>
              <a:rPr lang="en-US" sz="2800" dirty="0" smtClean="0"/>
              <a:t>in this class, we use DP to iterate over exponentially-large output spaces in polynomial time</a:t>
            </a:r>
          </a:p>
          <a:p>
            <a:r>
              <a:rPr lang="en-US" sz="2800" dirty="0"/>
              <a:t>we </a:t>
            </a:r>
            <a:r>
              <a:rPr lang="en-US" sz="2800" dirty="0" smtClean="0"/>
              <a:t>focus </a:t>
            </a:r>
            <a:r>
              <a:rPr lang="en-US" sz="2800" dirty="0"/>
              <a:t>on a particular type of DP algorithm: </a:t>
            </a:r>
            <a:r>
              <a:rPr lang="en-US" sz="2800" b="1" dirty="0" err="1">
                <a:solidFill>
                  <a:srgbClr val="288CD2"/>
                </a:solidFill>
              </a:rPr>
              <a:t>memoization</a:t>
            </a:r>
            <a:endParaRPr lang="en-US" sz="2800" b="1" dirty="0">
              <a:solidFill>
                <a:srgbClr val="288CD2"/>
              </a:solidFill>
            </a:endParaRPr>
          </a:p>
          <a:p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12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Implementing DP algorithms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even if your goal is to compute a sum or a max, focus first on </a:t>
            </a:r>
            <a:r>
              <a:rPr lang="en-US" b="1" dirty="0" smtClean="0">
                <a:solidFill>
                  <a:srgbClr val="288CD2"/>
                </a:solidFill>
              </a:rPr>
              <a:t>counting mode</a:t>
            </a:r>
            <a:r>
              <a:rPr lang="en-US" dirty="0" smtClean="0"/>
              <a:t> (count the number of unique outputs for an input)</a:t>
            </a:r>
          </a:p>
          <a:p>
            <a:r>
              <a:rPr lang="en-US" dirty="0" err="1" smtClean="0"/>
              <a:t>memoization</a:t>
            </a:r>
            <a:r>
              <a:rPr lang="en-US" dirty="0" smtClean="0"/>
              <a:t> = recursion + saving/reusing solutions</a:t>
            </a:r>
          </a:p>
          <a:p>
            <a:pPr lvl="1"/>
            <a:r>
              <a:rPr lang="en-US" dirty="0" smtClean="0"/>
              <a:t>start by defining recursive equations</a:t>
            </a:r>
          </a:p>
          <a:p>
            <a:pPr lvl="1"/>
            <a:r>
              <a:rPr lang="en-US" dirty="0" smtClean="0"/>
              <a:t>“</a:t>
            </a:r>
            <a:r>
              <a:rPr lang="en-US" dirty="0" err="1" smtClean="0">
                <a:solidFill>
                  <a:srgbClr val="288CD2"/>
                </a:solidFill>
              </a:rPr>
              <a:t>memoize</a:t>
            </a:r>
            <a:r>
              <a:rPr lang="en-US" dirty="0" smtClean="0"/>
              <a:t>” by creating a table to store all intermediate results from recursive equations, use them when requested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811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Implementing DP algorithms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even though we start with counting mode, we need to keep in mind how the model’s score function decomposes across parts of the outputs</a:t>
            </a:r>
          </a:p>
          <a:p>
            <a:pPr lvl="1"/>
            <a:r>
              <a:rPr lang="en-US" dirty="0" smtClean="0"/>
              <a:t>i.e., how “large” are the features?  how many items in the output sequence are needed to compute each feature?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define a function called </a:t>
            </a:r>
            <a:r>
              <a:rPr lang="en-US" dirty="0" err="1" smtClean="0">
                <a:solidFill>
                  <a:schemeClr val="bg1"/>
                </a:solidFill>
                <a:latin typeface="Courier New"/>
                <a:cs typeface="Courier New"/>
              </a:rPr>
              <a:t>partScore</a:t>
            </a:r>
            <a:r>
              <a:rPr lang="en-US" dirty="0" smtClean="0">
                <a:solidFill>
                  <a:schemeClr val="bg1"/>
                </a:solidFill>
              </a:rPr>
              <a:t> that computes all the features (for counting mode, this function will return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86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will now talk about dynamic programming on the whiteboard and implement some algorithms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786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6491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 smtClean="0"/>
              <a:t>Guide to designing/implementing DP algorithms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02640"/>
            <a:ext cx="8585200" cy="555371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rgbClr val="288CD2"/>
                </a:solidFill>
              </a:rPr>
              <a:t>write</a:t>
            </a:r>
            <a:r>
              <a:rPr lang="en-US" sz="2000" dirty="0" smtClean="0"/>
              <a:t> </a:t>
            </a:r>
            <a:r>
              <a:rPr lang="en-US" sz="2000" b="1" dirty="0" smtClean="0">
                <a:solidFill>
                  <a:srgbClr val="288CD2"/>
                </a:solidFill>
              </a:rPr>
              <a:t>down</a:t>
            </a:r>
            <a:r>
              <a:rPr lang="en-US" sz="2000" dirty="0" smtClean="0"/>
              <a:t> (or </a:t>
            </a:r>
            <a:r>
              <a:rPr lang="en-US" sz="2000" b="1" dirty="0" smtClean="0">
                <a:solidFill>
                  <a:srgbClr val="288CD2"/>
                </a:solidFill>
              </a:rPr>
              <a:t>draw</a:t>
            </a:r>
            <a:r>
              <a:rPr lang="en-US" sz="2000" dirty="0" smtClean="0"/>
              <a:t>) all possible outputs for some small input sizes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rgbClr val="288CD2"/>
                </a:solidFill>
              </a:rPr>
              <a:t>identify</a:t>
            </a:r>
            <a:r>
              <a:rPr lang="en-US" sz="2000" dirty="0" smtClean="0">
                <a:solidFill>
                  <a:srgbClr val="288CD2"/>
                </a:solidFill>
              </a:rPr>
              <a:t> </a:t>
            </a:r>
            <a:r>
              <a:rPr lang="en-US" sz="2000" dirty="0" err="1" smtClean="0"/>
              <a:t>subproblems</a:t>
            </a:r>
            <a:r>
              <a:rPr lang="en-US" sz="2000" dirty="0" smtClean="0"/>
              <a:t> that can be solved independently of the overall problem (and confirm that solutions can be reused)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rgbClr val="288CD2"/>
                </a:solidFill>
              </a:rPr>
              <a:t>write down </a:t>
            </a:r>
            <a:r>
              <a:rPr lang="en-US" sz="2000" dirty="0" smtClean="0"/>
              <a:t>recursive formulas on paper for counting the number of outputs given an input size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rgbClr val="288CD2"/>
                </a:solidFill>
              </a:rPr>
              <a:t>work out </a:t>
            </a:r>
            <a:r>
              <a:rPr lang="en-US" sz="2000" dirty="0" smtClean="0"/>
              <a:t>(by hand)</a:t>
            </a:r>
            <a:r>
              <a:rPr lang="en-US" sz="2000" b="1" dirty="0" smtClean="0">
                <a:solidFill>
                  <a:srgbClr val="288CD2"/>
                </a:solidFill>
              </a:rPr>
              <a:t> </a:t>
            </a:r>
            <a:r>
              <a:rPr lang="en-US" sz="2000" dirty="0" smtClean="0"/>
              <a:t>solutions to your formulas for small inputs, </a:t>
            </a:r>
            <a:r>
              <a:rPr lang="en-US" sz="2000" b="1" dirty="0" smtClean="0">
                <a:solidFill>
                  <a:srgbClr val="288CD2"/>
                </a:solidFill>
              </a:rPr>
              <a:t>confirm </a:t>
            </a:r>
            <a:r>
              <a:rPr lang="en-US" sz="2000" dirty="0" smtClean="0"/>
              <a:t>that counts match your drawings from step 1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rgbClr val="288CD2"/>
                </a:solidFill>
              </a:rPr>
              <a:t>implement</a:t>
            </a:r>
            <a:r>
              <a:rPr lang="en-US" sz="2000" dirty="0" smtClean="0">
                <a:solidFill>
                  <a:srgbClr val="288CD2"/>
                </a:solidFill>
              </a:rPr>
              <a:t> </a:t>
            </a:r>
            <a:r>
              <a:rPr lang="en-US" sz="2000" dirty="0" smtClean="0"/>
              <a:t>recursive formulas, </a:t>
            </a:r>
            <a:r>
              <a:rPr lang="en-US" sz="2000" b="1" dirty="0" smtClean="0">
                <a:solidFill>
                  <a:srgbClr val="288CD2"/>
                </a:solidFill>
              </a:rPr>
              <a:t>confirm</a:t>
            </a:r>
            <a:r>
              <a:rPr lang="en-US" sz="2000" dirty="0" smtClean="0">
                <a:solidFill>
                  <a:srgbClr val="288CD2"/>
                </a:solidFill>
              </a:rPr>
              <a:t> </a:t>
            </a:r>
            <a:r>
              <a:rPr lang="en-US" sz="2000" dirty="0" smtClean="0"/>
              <a:t>results match drawings, </a:t>
            </a:r>
            <a:r>
              <a:rPr lang="en-US" sz="2000" b="1" dirty="0" smtClean="0">
                <a:solidFill>
                  <a:srgbClr val="288CD2"/>
                </a:solidFill>
              </a:rPr>
              <a:t>compute</a:t>
            </a:r>
            <a:r>
              <a:rPr lang="en-US" sz="2000" dirty="0" smtClean="0">
                <a:solidFill>
                  <a:srgbClr val="288CD2"/>
                </a:solidFill>
              </a:rPr>
              <a:t> </a:t>
            </a:r>
            <a:r>
              <a:rPr lang="en-US" sz="2000" dirty="0" smtClean="0"/>
              <a:t>counts for larger input sizes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rgbClr val="288CD2"/>
                </a:solidFill>
              </a:rPr>
              <a:t>implement</a:t>
            </a:r>
            <a:r>
              <a:rPr lang="en-US" sz="2000" dirty="0" smtClean="0">
                <a:solidFill>
                  <a:srgbClr val="288CD2"/>
                </a:solidFill>
              </a:rPr>
              <a:t> </a:t>
            </a:r>
            <a:r>
              <a:rPr lang="en-US" sz="2000" dirty="0" err="1" smtClean="0"/>
              <a:t>memoization</a:t>
            </a:r>
            <a:r>
              <a:rPr lang="en-US" sz="2000" dirty="0" smtClean="0"/>
              <a:t> in your program: create a </a:t>
            </a:r>
            <a:r>
              <a:rPr lang="en-US" sz="2000" dirty="0" smtClean="0">
                <a:solidFill>
                  <a:srgbClr val="000000"/>
                </a:solidFill>
              </a:rPr>
              <a:t>table</a:t>
            </a:r>
            <a:r>
              <a:rPr lang="en-US" sz="2000" b="1" dirty="0" smtClean="0">
                <a:solidFill>
                  <a:srgbClr val="000000"/>
                </a:solidFill>
              </a:rPr>
              <a:t> </a:t>
            </a:r>
            <a:r>
              <a:rPr lang="en-US" sz="2000" dirty="0" smtClean="0"/>
              <a:t>T (e.g., a multi-dimensional array) indexed by </a:t>
            </a:r>
            <a:r>
              <a:rPr lang="en-US" sz="2000" dirty="0" smtClean="0">
                <a:solidFill>
                  <a:srgbClr val="000000"/>
                </a:solidFill>
              </a:rPr>
              <a:t>signatures </a:t>
            </a:r>
            <a:r>
              <a:rPr lang="en-US" sz="2000" dirty="0" smtClean="0"/>
              <a:t>of </a:t>
            </a:r>
            <a:r>
              <a:rPr lang="en-US" sz="2000" dirty="0" err="1" smtClean="0"/>
              <a:t>subproblems</a:t>
            </a:r>
            <a:r>
              <a:rPr lang="en-US" sz="2000" dirty="0" smtClean="0"/>
              <a:t>, save </a:t>
            </a:r>
            <a:r>
              <a:rPr lang="en-US" sz="2000" dirty="0" err="1" smtClean="0"/>
              <a:t>subproblem</a:t>
            </a:r>
            <a:r>
              <a:rPr lang="en-US" sz="2000" dirty="0" smtClean="0"/>
              <a:t> solutions after computing them, use them when possible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b="1" dirty="0" smtClean="0">
                <a:solidFill>
                  <a:srgbClr val="288CD2"/>
                </a:solidFill>
              </a:rPr>
              <a:t>confirm</a:t>
            </a:r>
            <a:r>
              <a:rPr lang="en-US" sz="2000" dirty="0" smtClean="0">
                <a:solidFill>
                  <a:srgbClr val="288CD2"/>
                </a:solidFill>
              </a:rPr>
              <a:t> </a:t>
            </a:r>
            <a:r>
              <a:rPr lang="en-US" sz="2000" dirty="0" smtClean="0"/>
              <a:t>that solutions computed by </a:t>
            </a:r>
            <a:r>
              <a:rPr lang="en-US" sz="2000" dirty="0" err="1" smtClean="0"/>
              <a:t>memoization</a:t>
            </a:r>
            <a:r>
              <a:rPr lang="en-US" sz="2000" dirty="0" smtClean="0"/>
              <a:t> match those computed by step 5 for larger input sizes (should be much faster to compute!)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smtClean="0"/>
              <a:t>finally, change the algorithm from counting to computing sum/max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708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Counting Sequences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# of binary sequences of length N</a:t>
            </a:r>
          </a:p>
          <a:p>
            <a:r>
              <a:rPr lang="en-US" dirty="0" smtClean="0"/>
              <a:t># of binary sequences of length N with no “00”</a:t>
            </a:r>
          </a:p>
          <a:p>
            <a:r>
              <a:rPr lang="en-US" dirty="0" smtClean="0"/>
              <a:t># of binary sequences of length N with no “010”</a:t>
            </a:r>
          </a:p>
          <a:p>
            <a:endParaRPr lang="en-US" dirty="0" smtClean="0"/>
          </a:p>
          <a:p>
            <a:r>
              <a:rPr lang="en-US" dirty="0" smtClean="0"/>
              <a:t># of binary sequences of length N that contain </a:t>
            </a:r>
            <a:r>
              <a:rPr lang="en-US" b="1" dirty="0" smtClean="0"/>
              <a:t>at least </a:t>
            </a:r>
            <a:r>
              <a:rPr lang="en-US" dirty="0"/>
              <a:t>3</a:t>
            </a:r>
            <a:r>
              <a:rPr lang="en-US" dirty="0" smtClean="0"/>
              <a:t> ones (not necessarily consecutive)</a:t>
            </a:r>
          </a:p>
          <a:p>
            <a:endParaRPr lang="en-US" dirty="0" smtClean="0"/>
          </a:p>
          <a:p>
            <a:r>
              <a:rPr lang="en-US" dirty="0"/>
              <a:t>implement max over binary sequences using </a:t>
            </a:r>
            <a:r>
              <a:rPr lang="en-US" dirty="0" err="1"/>
              <a:t>backpointers</a:t>
            </a:r>
            <a:r>
              <a:rPr lang="en-US" dirty="0"/>
              <a:t> (use a feature that counts instances of </a:t>
            </a:r>
            <a:r>
              <a:rPr lang="en-US" dirty="0" smtClean="0"/>
              <a:t>“01” </a:t>
            </a:r>
            <a:r>
              <a:rPr lang="en-US" dirty="0"/>
              <a:t>and give it a weight of </a:t>
            </a:r>
            <a:r>
              <a:rPr lang="en-US" dirty="0" smtClean="0"/>
              <a:t>1)</a:t>
            </a:r>
          </a:p>
          <a:p>
            <a:endParaRPr lang="en-US" dirty="0" smtClean="0"/>
          </a:p>
          <a:p>
            <a:pPr marL="342900" lvl="1" indent="-342900">
              <a:buFont typeface="Arial"/>
              <a:buChar char="•"/>
            </a:pPr>
            <a:r>
              <a:rPr lang="en-US" sz="3200" dirty="0"/>
              <a:t>extend </a:t>
            </a:r>
            <a:r>
              <a:rPr lang="en-US" sz="3200" dirty="0" smtClean="0"/>
              <a:t>any of the above to </a:t>
            </a:r>
            <a:r>
              <a:rPr lang="en-US" sz="3200" dirty="0"/>
              <a:t>sequences of any alphabet (not just binary)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230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50815</TotalTime>
  <Words>1572</Words>
  <Application>Microsoft Macintosh PowerPoint</Application>
  <PresentationFormat>On-screen Show (4:3)</PresentationFormat>
  <Paragraphs>394</Paragraphs>
  <Slides>29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TTIC 31190: Natural Language Processing</vt:lpstr>
      <vt:lpstr>Roadmap</vt:lpstr>
      <vt:lpstr>Roadmap</vt:lpstr>
      <vt:lpstr>Applications of our Classifier Framework so far</vt:lpstr>
      <vt:lpstr>Simplest kind of structured prediction: Sequence Labeling</vt:lpstr>
      <vt:lpstr>Hidden Markov Models</vt:lpstr>
      <vt:lpstr>HMMs for Word Clustering (Brown et al., 1992)</vt:lpstr>
      <vt:lpstr>HMMs for Word Clustering (Brown et al., 1992)</vt:lpstr>
      <vt:lpstr>PowerPoint Presentation</vt:lpstr>
      <vt:lpstr>PowerPoint Presentation</vt:lpstr>
      <vt:lpstr>PowerPoint Presentation</vt:lpstr>
      <vt:lpstr>PowerPoint Presentation</vt:lpstr>
      <vt:lpstr>Brown Clusters as 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Exponentially-Large Problems</vt:lpstr>
      <vt:lpstr>Learning requires solving exponentially-hard problems too!</vt:lpstr>
      <vt:lpstr>Inference in Structured Prediction</vt:lpstr>
      <vt:lpstr>Dynamic Programming (DP)</vt:lpstr>
      <vt:lpstr>Implementing DP algorithms</vt:lpstr>
      <vt:lpstr>Implementing DP algorithms</vt:lpstr>
      <vt:lpstr>Lab</vt:lpstr>
      <vt:lpstr>Guide to designing/implementing DP algorithms</vt:lpstr>
      <vt:lpstr>Counting Sequences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1597</cp:revision>
  <dcterms:created xsi:type="dcterms:W3CDTF">2015-08-31T18:15:35Z</dcterms:created>
  <dcterms:modified xsi:type="dcterms:W3CDTF">2016-01-28T03:37:08Z</dcterms:modified>
</cp:coreProperties>
</file>