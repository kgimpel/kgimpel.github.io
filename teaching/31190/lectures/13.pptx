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2"/>
  </p:notesMasterIdLst>
  <p:handoutMasterIdLst>
    <p:handoutMasterId r:id="rId103"/>
  </p:handoutMasterIdLst>
  <p:sldIdLst>
    <p:sldId id="256" r:id="rId2"/>
    <p:sldId id="1423" r:id="rId3"/>
    <p:sldId id="1421" r:id="rId4"/>
    <p:sldId id="1209" r:id="rId5"/>
    <p:sldId id="1370" r:id="rId6"/>
    <p:sldId id="1385" r:id="rId7"/>
    <p:sldId id="1386" r:id="rId8"/>
    <p:sldId id="1396" r:id="rId9"/>
    <p:sldId id="1446" r:id="rId10"/>
    <p:sldId id="1539" r:id="rId11"/>
    <p:sldId id="1449" r:id="rId12"/>
    <p:sldId id="1451" r:id="rId13"/>
    <p:sldId id="1450" r:id="rId14"/>
    <p:sldId id="1445" r:id="rId15"/>
    <p:sldId id="1453" r:id="rId16"/>
    <p:sldId id="1454" r:id="rId17"/>
    <p:sldId id="1455" r:id="rId18"/>
    <p:sldId id="1456" r:id="rId19"/>
    <p:sldId id="1457" r:id="rId20"/>
    <p:sldId id="1458" r:id="rId21"/>
    <p:sldId id="1459" r:id="rId22"/>
    <p:sldId id="1528" r:id="rId23"/>
    <p:sldId id="1529" r:id="rId24"/>
    <p:sldId id="1536" r:id="rId25"/>
    <p:sldId id="1527" r:id="rId26"/>
    <p:sldId id="1460" r:id="rId27"/>
    <p:sldId id="1540" r:id="rId28"/>
    <p:sldId id="1461" r:id="rId29"/>
    <p:sldId id="1541" r:id="rId30"/>
    <p:sldId id="1534" r:id="rId31"/>
    <p:sldId id="1542" r:id="rId32"/>
    <p:sldId id="1374" r:id="rId33"/>
    <p:sldId id="1425" r:id="rId34"/>
    <p:sldId id="1467" r:id="rId35"/>
    <p:sldId id="1468" r:id="rId36"/>
    <p:sldId id="1469" r:id="rId37"/>
    <p:sldId id="1552" r:id="rId38"/>
    <p:sldId id="1553" r:id="rId39"/>
    <p:sldId id="1554" r:id="rId40"/>
    <p:sldId id="1555" r:id="rId41"/>
    <p:sldId id="1573" r:id="rId42"/>
    <p:sldId id="1574" r:id="rId43"/>
    <p:sldId id="1556" r:id="rId44"/>
    <p:sldId id="1557" r:id="rId45"/>
    <p:sldId id="1562" r:id="rId46"/>
    <p:sldId id="1546" r:id="rId47"/>
    <p:sldId id="1545" r:id="rId48"/>
    <p:sldId id="1559" r:id="rId49"/>
    <p:sldId id="1548" r:id="rId50"/>
    <p:sldId id="1549" r:id="rId51"/>
    <p:sldId id="1550" r:id="rId52"/>
    <p:sldId id="1551" r:id="rId53"/>
    <p:sldId id="1584" r:id="rId54"/>
    <p:sldId id="1585" r:id="rId55"/>
    <p:sldId id="1586" r:id="rId56"/>
    <p:sldId id="1587" r:id="rId57"/>
    <p:sldId id="1588" r:id="rId58"/>
    <p:sldId id="1589" r:id="rId59"/>
    <p:sldId id="1590" r:id="rId60"/>
    <p:sldId id="1591" r:id="rId61"/>
    <p:sldId id="1592" r:id="rId62"/>
    <p:sldId id="1594" r:id="rId63"/>
    <p:sldId id="1593" r:id="rId64"/>
    <p:sldId id="1561" r:id="rId65"/>
    <p:sldId id="1560" r:id="rId66"/>
    <p:sldId id="1525" r:id="rId67"/>
    <p:sldId id="1484" r:id="rId68"/>
    <p:sldId id="1485" r:id="rId69"/>
    <p:sldId id="1499" r:id="rId70"/>
    <p:sldId id="1563" r:id="rId71"/>
    <p:sldId id="1564" r:id="rId72"/>
    <p:sldId id="1565" r:id="rId73"/>
    <p:sldId id="1502" r:id="rId74"/>
    <p:sldId id="1503" r:id="rId75"/>
    <p:sldId id="1504" r:id="rId76"/>
    <p:sldId id="1505" r:id="rId77"/>
    <p:sldId id="1506" r:id="rId78"/>
    <p:sldId id="1511" r:id="rId79"/>
    <p:sldId id="1512" r:id="rId80"/>
    <p:sldId id="1513" r:id="rId81"/>
    <p:sldId id="1514" r:id="rId82"/>
    <p:sldId id="1515" r:id="rId83"/>
    <p:sldId id="1516" r:id="rId84"/>
    <p:sldId id="1517" r:id="rId85"/>
    <p:sldId id="1518" r:id="rId86"/>
    <p:sldId id="1519" r:id="rId87"/>
    <p:sldId id="1520" r:id="rId88"/>
    <p:sldId id="1580" r:id="rId89"/>
    <p:sldId id="1581" r:id="rId90"/>
    <p:sldId id="1583" r:id="rId91"/>
    <p:sldId id="1566" r:id="rId92"/>
    <p:sldId id="1567" r:id="rId93"/>
    <p:sldId id="1568" r:id="rId94"/>
    <p:sldId id="1570" r:id="rId95"/>
    <p:sldId id="1571" r:id="rId96"/>
    <p:sldId id="1575" r:id="rId97"/>
    <p:sldId id="1576" r:id="rId98"/>
    <p:sldId id="1577" r:id="rId99"/>
    <p:sldId id="1578" r:id="rId100"/>
    <p:sldId id="1579" r:id="rId10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288CD2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7"/>
    <p:restoredTop sz="96419" autoAdjust="0"/>
  </p:normalViewPr>
  <p:slideViewPr>
    <p:cSldViewPr snapToGrid="0" snapToObjects="1">
      <p:cViewPr>
        <p:scale>
          <a:sx n="125" d="100"/>
          <a:sy n="125" d="100"/>
        </p:scale>
        <p:origin x="3992" y="1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handoutMaster" Target="handoutMasters/handoutMaster1.xml"/><Relationship Id="rId104" Type="http://schemas.openxmlformats.org/officeDocument/2006/relationships/presProps" Target="presProps.xml"/><Relationship Id="rId105" Type="http://schemas.openxmlformats.org/officeDocument/2006/relationships/viewProps" Target="viewProps.xml"/><Relationship Id="rId106" Type="http://schemas.openxmlformats.org/officeDocument/2006/relationships/theme" Target="theme/theme1.xml"/><Relationship Id="rId10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00" Type="http://schemas.openxmlformats.org/officeDocument/2006/relationships/slide" Target="slides/slide99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2/16/16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2/16/16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71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59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2/16/16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2/16/16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2/16/16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2/16/16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2/16/16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2/16/16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2/16/16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4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4" Type="http://schemas.openxmlformats.org/officeDocument/2006/relationships/image" Target="../media/image14.emf"/><Relationship Id="rId5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3" Type="http://schemas.openxmlformats.org/officeDocument/2006/relationships/image" Target="../media/image22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4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4" Type="http://schemas.openxmlformats.org/officeDocument/2006/relationships/image" Target="../media/image31.emf"/><Relationship Id="rId5" Type="http://schemas.openxmlformats.org/officeDocument/2006/relationships/image" Target="../media/image32.emf"/><Relationship Id="rId6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4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e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4" Type="http://schemas.openxmlformats.org/officeDocument/2006/relationships/image" Target="../media/image37.emf"/><Relationship Id="rId5" Type="http://schemas.openxmlformats.org/officeDocument/2006/relationships/image" Target="../media/image38.emf"/><Relationship Id="rId6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4" Type="http://schemas.openxmlformats.org/officeDocument/2006/relationships/image" Target="../media/image37.emf"/><Relationship Id="rId5" Type="http://schemas.openxmlformats.org/officeDocument/2006/relationships/image" Target="../media/image38.emf"/><Relationship Id="rId6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4" Type="http://schemas.openxmlformats.org/officeDocument/2006/relationships/image" Target="../media/image37.emf"/><Relationship Id="rId5" Type="http://schemas.openxmlformats.org/officeDocument/2006/relationships/image" Target="../media/image38.emf"/><Relationship Id="rId6" Type="http://schemas.openxmlformats.org/officeDocument/2006/relationships/image" Target="../media/image39.emf"/><Relationship Id="rId7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4" Type="http://schemas.openxmlformats.org/officeDocument/2006/relationships/image" Target="../media/image43.emf"/><Relationship Id="rId5" Type="http://schemas.openxmlformats.org/officeDocument/2006/relationships/image" Target="../media/image44.emf"/><Relationship Id="rId6" Type="http://schemas.openxmlformats.org/officeDocument/2006/relationships/image" Target="../media/image45.emf"/><Relationship Id="rId7" Type="http://schemas.openxmlformats.org/officeDocument/2006/relationships/image" Target="../media/image46.emf"/><Relationship Id="rId8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emf"/></Relationships>
</file>

<file path=ppt/slides/_rels/slide6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51.emf"/><Relationship Id="rId1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emf"/><Relationship Id="rId3" Type="http://schemas.openxmlformats.org/officeDocument/2006/relationships/image" Target="../media/image42.emf"/><Relationship Id="rId4" Type="http://schemas.openxmlformats.org/officeDocument/2006/relationships/image" Target="../media/image43.emf"/><Relationship Id="rId5" Type="http://schemas.openxmlformats.org/officeDocument/2006/relationships/image" Target="../media/image44.emf"/><Relationship Id="rId6" Type="http://schemas.openxmlformats.org/officeDocument/2006/relationships/image" Target="../media/image45.emf"/><Relationship Id="rId7" Type="http://schemas.openxmlformats.org/officeDocument/2006/relationships/image" Target="../media/image46.emf"/><Relationship Id="rId8" Type="http://schemas.openxmlformats.org/officeDocument/2006/relationships/image" Target="../media/image48.emf"/><Relationship Id="rId9" Type="http://schemas.openxmlformats.org/officeDocument/2006/relationships/image" Target="../media/image49.emf"/><Relationship Id="rId10" Type="http://schemas.openxmlformats.org/officeDocument/2006/relationships/image" Target="../media/image50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4" Type="http://schemas.openxmlformats.org/officeDocument/2006/relationships/image" Target="../media/image43.emf"/><Relationship Id="rId5" Type="http://schemas.openxmlformats.org/officeDocument/2006/relationships/image" Target="../media/image44.emf"/><Relationship Id="rId6" Type="http://schemas.openxmlformats.org/officeDocument/2006/relationships/image" Target="../media/image45.emf"/><Relationship Id="rId7" Type="http://schemas.openxmlformats.org/officeDocument/2006/relationships/image" Target="../media/image46.emf"/><Relationship Id="rId8" Type="http://schemas.openxmlformats.org/officeDocument/2006/relationships/image" Target="../media/image48.emf"/><Relationship Id="rId9" Type="http://schemas.openxmlformats.org/officeDocument/2006/relationships/image" Target="../media/image49.emf"/><Relationship Id="rId10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emf"/></Relationships>
</file>

<file path=ppt/slides/_rels/slide6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59.emf"/><Relationship Id="rId12" Type="http://schemas.openxmlformats.org/officeDocument/2006/relationships/image" Target="../media/image60.emf"/><Relationship Id="rId13" Type="http://schemas.openxmlformats.org/officeDocument/2006/relationships/image" Target="../media/image61.emf"/><Relationship Id="rId14" Type="http://schemas.openxmlformats.org/officeDocument/2006/relationships/image" Target="../media/image62.emf"/><Relationship Id="rId15" Type="http://schemas.openxmlformats.org/officeDocument/2006/relationships/image" Target="../media/image63.emf"/><Relationship Id="rId16" Type="http://schemas.openxmlformats.org/officeDocument/2006/relationships/image" Target="../media/image6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emf"/><Relationship Id="rId3" Type="http://schemas.openxmlformats.org/officeDocument/2006/relationships/image" Target="../media/image42.emf"/><Relationship Id="rId4" Type="http://schemas.openxmlformats.org/officeDocument/2006/relationships/image" Target="../media/image43.emf"/><Relationship Id="rId5" Type="http://schemas.openxmlformats.org/officeDocument/2006/relationships/image" Target="../media/image53.emf"/><Relationship Id="rId6" Type="http://schemas.openxmlformats.org/officeDocument/2006/relationships/image" Target="../media/image54.emf"/><Relationship Id="rId7" Type="http://schemas.openxmlformats.org/officeDocument/2006/relationships/image" Target="../media/image55.emf"/><Relationship Id="rId8" Type="http://schemas.openxmlformats.org/officeDocument/2006/relationships/image" Target="../media/image56.emf"/><Relationship Id="rId9" Type="http://schemas.openxmlformats.org/officeDocument/2006/relationships/image" Target="../media/image57.emf"/><Relationship Id="rId10" Type="http://schemas.openxmlformats.org/officeDocument/2006/relationships/image" Target="../media/image58.e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4" Type="http://schemas.openxmlformats.org/officeDocument/2006/relationships/image" Target="../media/image68.emf"/><Relationship Id="rId5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e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emf"/><Relationship Id="rId3" Type="http://schemas.openxmlformats.org/officeDocument/2006/relationships/image" Target="../media/image71.e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emf"/><Relationship Id="rId3" Type="http://schemas.openxmlformats.org/officeDocument/2006/relationships/image" Target="../media/image71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4" Type="http://schemas.openxmlformats.org/officeDocument/2006/relationships/image" Target="../media/image7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4" Type="http://schemas.openxmlformats.org/officeDocument/2006/relationships/image" Target="../media/image77.emf"/><Relationship Id="rId5" Type="http://schemas.openxmlformats.org/officeDocument/2006/relationships/image" Target="../media/image78.emf"/><Relationship Id="rId6" Type="http://schemas.openxmlformats.org/officeDocument/2006/relationships/image" Target="../media/image7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4" Type="http://schemas.openxmlformats.org/officeDocument/2006/relationships/image" Target="../media/image82.emf"/><Relationship Id="rId5" Type="http://schemas.openxmlformats.org/officeDocument/2006/relationships/image" Target="../media/image8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4" Type="http://schemas.openxmlformats.org/officeDocument/2006/relationships/image" Target="../media/image85.emf"/><Relationship Id="rId5" Type="http://schemas.openxmlformats.org/officeDocument/2006/relationships/image" Target="../media/image8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7" Type="http://schemas.openxmlformats.org/officeDocument/2006/relationships/image" Target="../media/image91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7" Type="http://schemas.openxmlformats.org/officeDocument/2006/relationships/image" Target="../media/image91.jpeg"/><Relationship Id="rId8" Type="http://schemas.openxmlformats.org/officeDocument/2006/relationships/image" Target="../media/image92.emf"/><Relationship Id="rId9" Type="http://schemas.openxmlformats.org/officeDocument/2006/relationships/image" Target="../media/image93.emf"/><Relationship Id="rId10" Type="http://schemas.openxmlformats.org/officeDocument/2006/relationships/image" Target="../media/image9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7" Type="http://schemas.openxmlformats.org/officeDocument/2006/relationships/image" Target="../media/image91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7" Type="http://schemas.openxmlformats.org/officeDocument/2006/relationships/image" Target="../media/image91.jpeg"/><Relationship Id="rId8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7" Type="http://schemas.openxmlformats.org/officeDocument/2006/relationships/image" Target="../media/image91.jpeg"/><Relationship Id="rId8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7" Type="http://schemas.openxmlformats.org/officeDocument/2006/relationships/image" Target="../media/image91.jpeg"/><Relationship Id="rId8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7" Type="http://schemas.openxmlformats.org/officeDocument/2006/relationships/image" Target="../media/image91.jpeg"/><Relationship Id="rId8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7" Type="http://schemas.openxmlformats.org/officeDocument/2006/relationships/image" Target="../media/image91.jpeg"/><Relationship Id="rId8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7" Type="http://schemas.openxmlformats.org/officeDocument/2006/relationships/image" Target="../media/image91.jpeg"/><Relationship Id="rId8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7" Type="http://schemas.openxmlformats.org/officeDocument/2006/relationships/image" Target="../media/image91.jpeg"/><Relationship Id="rId8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4" Type="http://schemas.openxmlformats.org/officeDocument/2006/relationships/image" Target="../media/image88.emf"/><Relationship Id="rId5" Type="http://schemas.openxmlformats.org/officeDocument/2006/relationships/image" Target="../media/image89.emf"/><Relationship Id="rId6" Type="http://schemas.openxmlformats.org/officeDocument/2006/relationships/image" Target="../media/image90.emf"/><Relationship Id="rId7" Type="http://schemas.openxmlformats.org/officeDocument/2006/relationships/image" Target="../media/image91.jpeg"/><Relationship Id="rId8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4" Type="http://schemas.openxmlformats.org/officeDocument/2006/relationships/image" Target="../media/image9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4" Type="http://schemas.openxmlformats.org/officeDocument/2006/relationships/image" Target="../media/image9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emf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Relationship Id="rId3" Type="http://schemas.openxmlformats.org/officeDocument/2006/relationships/image" Target="../media/image16.e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4" Type="http://schemas.openxmlformats.org/officeDocument/2006/relationships/image" Target="../media/image8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emf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emf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emf"/><Relationship Id="rId3" Type="http://schemas.openxmlformats.org/officeDocument/2006/relationships/image" Target="../media/image101.emf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emf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emf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 smtClean="0"/>
              <a:t>TTIC 31190:</a:t>
            </a:r>
            <a:br>
              <a:rPr lang="en-US" dirty="0" smtClean="0"/>
            </a:br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Winter 2016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13: 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Dependency Syntax/Parsing 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&amp; Review for Midterm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Announcement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 proposal due today</a:t>
            </a:r>
          </a:p>
          <a:p>
            <a:r>
              <a:rPr lang="en-US" dirty="0" smtClean="0"/>
              <a:t>email me to set up a 15-minute meeting next week to discuss your project proposal</a:t>
            </a:r>
          </a:p>
          <a:p>
            <a:r>
              <a:rPr lang="en-US" dirty="0" smtClean="0"/>
              <a:t>times posted on course webpage</a:t>
            </a:r>
          </a:p>
          <a:p>
            <a:r>
              <a:rPr lang="en-US" dirty="0" smtClean="0"/>
              <a:t>let me know if none of those work for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8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Announcement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midterm is Thursday, room #530</a:t>
            </a:r>
          </a:p>
          <a:p>
            <a:r>
              <a:rPr lang="en-US" dirty="0" smtClean="0"/>
              <a:t>closed-book, but you can bring an 8.5x11 sheet (though I don’t think you’ll need to)</a:t>
            </a:r>
          </a:p>
          <a:p>
            <a:r>
              <a:rPr lang="en-US" dirty="0" smtClean="0"/>
              <a:t>we will start at 10:35 am, finish at 11:50 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5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classification</a:t>
            </a:r>
          </a:p>
          <a:p>
            <a:r>
              <a:rPr lang="en-US" sz="2400" dirty="0" smtClean="0"/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/>
              <a:t>language modeling</a:t>
            </a:r>
          </a:p>
          <a:p>
            <a:r>
              <a:rPr lang="en-US" sz="2400" dirty="0" smtClean="0"/>
              <a:t>sequence labeling</a:t>
            </a:r>
          </a:p>
          <a:p>
            <a:r>
              <a:rPr lang="en-US" sz="2400" dirty="0" smtClean="0"/>
              <a:t>neural network methods in NLP</a:t>
            </a:r>
          </a:p>
          <a:p>
            <a:r>
              <a:rPr lang="en-US" sz="2400" dirty="0">
                <a:solidFill>
                  <a:srgbClr val="288CD2"/>
                </a:solidFill>
              </a:rPr>
              <a:t>syntax and syntactic parsing</a:t>
            </a:r>
          </a:p>
          <a:p>
            <a:r>
              <a:rPr lang="en-US" sz="2400" dirty="0" smtClean="0"/>
              <a:t>semantic 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7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Syntax?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rules, principles, processes that govern sentence structure of a language</a:t>
            </a:r>
          </a:p>
          <a:p>
            <a:r>
              <a:rPr lang="en-US" dirty="0" smtClean="0"/>
              <a:t>can differ widely among languages</a:t>
            </a:r>
          </a:p>
          <a:p>
            <a:r>
              <a:rPr lang="en-US" dirty="0" smtClean="0"/>
              <a:t>but every language has systematic structural principles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8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Constituent Parse (Bracketing/</a:t>
            </a:r>
            <a:r>
              <a:rPr lang="en-US" dirty="0">
                <a:sym typeface="Wingdings"/>
              </a:rPr>
              <a:t>Tree)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(S (NP the </a:t>
            </a:r>
            <a:r>
              <a:rPr lang="en-US" dirty="0"/>
              <a:t>man) </a:t>
            </a:r>
            <a:r>
              <a:rPr lang="en-US" dirty="0" smtClean="0"/>
              <a:t>(VP walked (PP to (NP the </a:t>
            </a:r>
            <a:r>
              <a:rPr lang="en-US" dirty="0"/>
              <a:t>park)))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954170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the man walked to the park</a:t>
            </a:r>
            <a:endParaRPr lang="en-US" sz="3600" dirty="0"/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97539" y="2420856"/>
            <a:ext cx="283663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Key:</a:t>
            </a:r>
          </a:p>
          <a:p>
            <a:r>
              <a:rPr lang="en-US" sz="2000" dirty="0" smtClean="0"/>
              <a:t>S = sentence</a:t>
            </a:r>
          </a:p>
          <a:p>
            <a:r>
              <a:rPr lang="en-US" sz="2000" dirty="0" smtClean="0"/>
              <a:t>NP = noun phrase</a:t>
            </a:r>
          </a:p>
          <a:p>
            <a:r>
              <a:rPr lang="en-US" sz="2000" dirty="0" smtClean="0"/>
              <a:t>VP = verb phrase</a:t>
            </a:r>
          </a:p>
          <a:p>
            <a:r>
              <a:rPr lang="en-US" sz="2000" dirty="0" smtClean="0"/>
              <a:t>PP = prepositional phrase</a:t>
            </a:r>
          </a:p>
          <a:p>
            <a:r>
              <a:rPr lang="en-US" sz="2000" dirty="0" smtClean="0"/>
              <a:t>DT = determiner</a:t>
            </a:r>
          </a:p>
          <a:p>
            <a:r>
              <a:rPr lang="en-US" sz="2000" dirty="0" smtClean="0"/>
              <a:t>NN = noun</a:t>
            </a:r>
          </a:p>
          <a:p>
            <a:r>
              <a:rPr lang="en-US" sz="2000" dirty="0" smtClean="0"/>
              <a:t>VBD = verb (past tense)</a:t>
            </a:r>
          </a:p>
          <a:p>
            <a:r>
              <a:rPr lang="en-US" sz="2000" dirty="0" smtClean="0"/>
              <a:t>IN = preposition</a:t>
            </a:r>
          </a:p>
          <a:p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440706" y="4589769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DT</a:t>
            </a:r>
            <a:endParaRPr lang="en-US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1304841" y="4589769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NN</a:t>
            </a:r>
            <a:endParaRPr lang="en-US" sz="2800" dirty="0"/>
          </a:p>
        </p:txBody>
      </p:sp>
      <p:sp>
        <p:nvSpPr>
          <p:cNvPr id="26" name="TextBox 25"/>
          <p:cNvSpPr txBox="1"/>
          <p:nvPr/>
        </p:nvSpPr>
        <p:spPr>
          <a:xfrm>
            <a:off x="2385975" y="4607538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VBD      IN    DT    NN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4892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Constituent Parse (Bracketing/</a:t>
            </a:r>
            <a:r>
              <a:rPr lang="en-US" dirty="0">
                <a:sym typeface="Wingdings"/>
              </a:rPr>
              <a:t>Tree)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(S (NP the </a:t>
            </a:r>
            <a:r>
              <a:rPr lang="en-US" dirty="0"/>
              <a:t>man) </a:t>
            </a:r>
            <a:r>
              <a:rPr lang="en-US" dirty="0" smtClean="0"/>
              <a:t>(VP walked (PP to (NP the </a:t>
            </a:r>
            <a:r>
              <a:rPr lang="en-US" dirty="0"/>
              <a:t>park)))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954170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the man walked to the park</a:t>
            </a:r>
            <a:endParaRPr lang="en-US" sz="3600" dirty="0"/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0706" y="4589769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DT</a:t>
            </a:r>
            <a:endParaRPr lang="en-US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1304841" y="4589769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NN</a:t>
            </a:r>
            <a:endParaRPr lang="en-US" sz="2800" dirty="0"/>
          </a:p>
        </p:txBody>
      </p:sp>
      <p:sp>
        <p:nvSpPr>
          <p:cNvPr id="26" name="TextBox 25"/>
          <p:cNvSpPr txBox="1"/>
          <p:nvPr/>
        </p:nvSpPr>
        <p:spPr>
          <a:xfrm>
            <a:off x="2385975" y="4607538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VBD      IN    DT    NN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5801360" y="4443828"/>
            <a:ext cx="2647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rgbClr val="FF6600"/>
                </a:solidFill>
              </a:rPr>
              <a:t>p</a:t>
            </a:r>
            <a:r>
              <a:rPr lang="en-US" sz="3600" b="1" dirty="0" err="1" smtClean="0">
                <a:solidFill>
                  <a:srgbClr val="FF6600"/>
                </a:solidFill>
              </a:rPr>
              <a:t>reterminals</a:t>
            </a:r>
            <a:endParaRPr lang="en-US" sz="3600" b="1" dirty="0">
              <a:solidFill>
                <a:srgbClr val="FF6600"/>
              </a:solidFill>
            </a:endParaRPr>
          </a:p>
        </p:txBody>
      </p:sp>
      <p:sp>
        <p:nvSpPr>
          <p:cNvPr id="27" name="Frame 26"/>
          <p:cNvSpPr/>
          <p:nvPr/>
        </p:nvSpPr>
        <p:spPr>
          <a:xfrm>
            <a:off x="396240" y="1538664"/>
            <a:ext cx="5365571" cy="3010464"/>
          </a:xfrm>
          <a:prstGeom prst="frame">
            <a:avLst>
              <a:gd name="adj1" fmla="val 2384"/>
            </a:avLst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53760" y="2886242"/>
            <a:ext cx="2747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 smtClean="0">
                <a:solidFill>
                  <a:srgbClr val="008000"/>
                </a:solidFill>
              </a:rPr>
              <a:t>nonterminals</a:t>
            </a:r>
            <a:endParaRPr lang="en-US" sz="3600" b="1" dirty="0">
              <a:solidFill>
                <a:srgbClr val="008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53760" y="5059678"/>
            <a:ext cx="2003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rgbClr val="BC0000"/>
                </a:solidFill>
              </a:rPr>
              <a:t>terminals</a:t>
            </a:r>
            <a:endParaRPr lang="en-US" sz="3600" b="1" dirty="0">
              <a:solidFill>
                <a:srgbClr val="BC0000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314960" y="4549128"/>
            <a:ext cx="5365571" cy="541031"/>
          </a:xfrm>
          <a:prstGeom prst="frame">
            <a:avLst>
              <a:gd name="adj1" fmla="val 8796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ame 28"/>
          <p:cNvSpPr/>
          <p:nvPr/>
        </p:nvSpPr>
        <p:spPr>
          <a:xfrm>
            <a:off x="396240" y="5090158"/>
            <a:ext cx="5365571" cy="479863"/>
          </a:xfrm>
          <a:prstGeom prst="frame">
            <a:avLst>
              <a:gd name="adj1" fmla="val 8796"/>
            </a:avLst>
          </a:prstGeom>
          <a:solidFill>
            <a:srgbClr val="BC0000"/>
          </a:solidFill>
          <a:ln>
            <a:solidFill>
              <a:srgbClr val="B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19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7" grpId="0" animBg="1"/>
      <p:bldP spid="28" grpId="0"/>
      <p:bldP spid="31" grpId="0"/>
      <p:bldP spid="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440" y="18998"/>
            <a:ext cx="4815840" cy="458522"/>
          </a:xfrm>
        </p:spPr>
        <p:txBody>
          <a:bodyPr>
            <a:noAutofit/>
          </a:bodyPr>
          <a:lstStyle/>
          <a:p>
            <a:r>
              <a:rPr lang="en-US" sz="2800" dirty="0" smtClean="0"/>
              <a:t>Penn Treebank </a:t>
            </a:r>
            <a:r>
              <a:rPr lang="en-US" sz="2800" dirty="0" err="1"/>
              <a:t>N</a:t>
            </a:r>
            <a:r>
              <a:rPr lang="en-US" sz="2800" dirty="0" err="1" smtClean="0"/>
              <a:t>onterminals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 descr="Screen Shot 2016-02-10 at 4.33.58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" t="1133" r="1924" b="-1"/>
          <a:stretch/>
        </p:blipFill>
        <p:spPr>
          <a:xfrm>
            <a:off x="132080" y="587190"/>
            <a:ext cx="4165600" cy="602696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5" name="Picture 4" descr="Screen Shot 2016-02-10 at 4.35.04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" r="1906" b="597"/>
          <a:stretch/>
        </p:blipFill>
        <p:spPr>
          <a:xfrm>
            <a:off x="4531360" y="587191"/>
            <a:ext cx="4521200" cy="60269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37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Probabilistic Context-Free Grammar (PCFG)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assign probabilities to rewrite rules:</a:t>
            </a:r>
          </a:p>
          <a:p>
            <a:pPr marL="457200" lvl="1" indent="0">
              <a:buNone/>
            </a:pPr>
            <a:r>
              <a:rPr lang="en-US" dirty="0" smtClean="0"/>
              <a:t>NP </a:t>
            </a:r>
            <a:r>
              <a:rPr lang="en-US" dirty="0" smtClean="0">
                <a:sym typeface="Wingdings"/>
              </a:rPr>
              <a:t> DT  NN	0.5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NP  NNS		0.3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NP  NP  PP	0.2</a:t>
            </a:r>
          </a:p>
          <a:p>
            <a:pPr marL="457200" lvl="1" indent="0">
              <a:buNone/>
            </a:pPr>
            <a:endParaRPr lang="en-US" dirty="0">
              <a:sym typeface="Wingdings"/>
            </a:endParaRP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NN  man		0.01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NN  park		0.0004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NN  walk		0.002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NN  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65041" y="1993483"/>
            <a:ext cx="420624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given a </a:t>
            </a:r>
            <a:r>
              <a:rPr lang="en-US" sz="2400" dirty="0" err="1" smtClean="0"/>
              <a:t>treebank</a:t>
            </a:r>
            <a:r>
              <a:rPr lang="en-US" sz="2400" dirty="0" smtClean="0"/>
              <a:t>, estimate these probabilities using MLE (“count and normalize”)</a:t>
            </a:r>
          </a:p>
        </p:txBody>
      </p:sp>
    </p:spTree>
    <p:extLst>
      <p:ext uri="{BB962C8B-B14F-4D97-AF65-F5344CB8AC3E}">
        <p14:creationId xmlns:p14="http://schemas.microsoft.com/office/powerpoint/2010/main" val="118062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well does a PCFG 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PCFG learned from the Penn Treebank with MLE gets about 73% F1 score</a:t>
            </a:r>
          </a:p>
          <a:p>
            <a:r>
              <a:rPr lang="en-US" dirty="0" smtClean="0"/>
              <a:t>state-of-the-art parsers are around 92%</a:t>
            </a:r>
          </a:p>
          <a:p>
            <a:r>
              <a:rPr lang="en-US" dirty="0" smtClean="0"/>
              <a:t>simple modifications can improve PCFGs:</a:t>
            </a:r>
          </a:p>
          <a:p>
            <a:pPr lvl="1"/>
            <a:r>
              <a:rPr lang="en-US" dirty="0" smtClean="0"/>
              <a:t>smoothing</a:t>
            </a:r>
          </a:p>
          <a:p>
            <a:pPr lvl="1"/>
            <a:r>
              <a:rPr lang="en-US" dirty="0" smtClean="0"/>
              <a:t>tree transformations (selective flattening)</a:t>
            </a:r>
          </a:p>
          <a:p>
            <a:pPr lvl="1"/>
            <a:r>
              <a:rPr lang="en-US" dirty="0" smtClean="0"/>
              <a:t>parent annotation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8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Parent Annotation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ym typeface="Wingdings"/>
              </a:rPr>
              <a:t>VP  V  NP  PP</a:t>
            </a:r>
          </a:p>
          <a:p>
            <a:pPr marL="0" indent="0">
              <a:buNone/>
            </a:pPr>
            <a:endParaRPr lang="en-US" dirty="0" smtClean="0">
              <a:sym typeface="Wingdings"/>
            </a:endParaRPr>
          </a:p>
          <a:p>
            <a:pPr marL="0" indent="0">
              <a:buNone/>
            </a:pPr>
            <a:endParaRPr lang="en-US" dirty="0">
              <a:sym typeface="Wingdings"/>
            </a:endParaRPr>
          </a:p>
          <a:p>
            <a:pPr marL="0" indent="0">
              <a:buNone/>
            </a:pPr>
            <a:r>
              <a:rPr lang="en-US" dirty="0" smtClean="0">
                <a:sym typeface="Wingdings"/>
              </a:rPr>
              <a:t>VP</a:t>
            </a:r>
            <a:r>
              <a:rPr lang="en-US" baseline="30000" dirty="0" smtClean="0">
                <a:sym typeface="Wingdings"/>
              </a:rPr>
              <a:t>S</a:t>
            </a:r>
            <a:r>
              <a:rPr lang="en-US" dirty="0" smtClean="0">
                <a:sym typeface="Wingdings"/>
              </a:rPr>
              <a:t>  V  NP</a:t>
            </a:r>
            <a:r>
              <a:rPr lang="en-US" baseline="30000" dirty="0" smtClean="0">
                <a:sym typeface="Wingdings"/>
              </a:rPr>
              <a:t>VP</a:t>
            </a:r>
            <a:r>
              <a:rPr lang="en-US" dirty="0" smtClean="0">
                <a:sym typeface="Wingdings"/>
              </a:rPr>
              <a:t>  PP</a:t>
            </a:r>
            <a:r>
              <a:rPr lang="en-US" baseline="30000" dirty="0" smtClean="0">
                <a:sym typeface="Wingdings"/>
              </a:rPr>
              <a:t>VP</a:t>
            </a:r>
          </a:p>
          <a:p>
            <a:pPr marL="0" indent="0">
              <a:buNone/>
            </a:pPr>
            <a:endParaRPr lang="en-US" baseline="30000" dirty="0">
              <a:sym typeface="Wingdings"/>
            </a:endParaRPr>
          </a:p>
          <a:p>
            <a:pPr marL="0" indent="0">
              <a:buNone/>
            </a:pPr>
            <a:r>
              <a:rPr lang="en-US" dirty="0" smtClean="0">
                <a:sym typeface="Wingdings"/>
              </a:rPr>
              <a:t>adds more information, but also fragments counts, making parameter estimates noisier (since we’re just using MLE)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1087120" y="2016760"/>
            <a:ext cx="426720" cy="5994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8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well does a PCFG 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PCFG learned from the Penn Treebank with MLE gets about 73% F1 score</a:t>
            </a:r>
          </a:p>
          <a:p>
            <a:r>
              <a:rPr lang="en-US" dirty="0" smtClean="0"/>
              <a:t>state-of-the-art parsers are around 92%</a:t>
            </a:r>
          </a:p>
          <a:p>
            <a:r>
              <a:rPr lang="en-US" dirty="0" smtClean="0"/>
              <a:t>simple modifications can improve PCFGs:</a:t>
            </a:r>
          </a:p>
          <a:p>
            <a:pPr lvl="1"/>
            <a:r>
              <a:rPr lang="en-US" dirty="0" smtClean="0"/>
              <a:t>smoothing</a:t>
            </a:r>
          </a:p>
          <a:p>
            <a:pPr lvl="1"/>
            <a:r>
              <a:rPr lang="en-US" dirty="0" smtClean="0"/>
              <a:t>tree transformations (selective flattening)</a:t>
            </a:r>
          </a:p>
          <a:p>
            <a:pPr lvl="1"/>
            <a:r>
              <a:rPr lang="en-US" dirty="0" smtClean="0"/>
              <a:t>parent annotation</a:t>
            </a:r>
          </a:p>
          <a:p>
            <a:pPr lvl="1"/>
            <a:r>
              <a:rPr lang="en-US" b="1" dirty="0" smtClean="0">
                <a:solidFill>
                  <a:srgbClr val="288CD2"/>
                </a:solidFill>
              </a:rPr>
              <a:t>lexicalization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2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31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Collins (1997)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 descr="Screen Shot 2016-02-15 at 10.21.5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" y="921966"/>
            <a:ext cx="8422640" cy="57423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126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38"/>
            <a:ext cx="8229600" cy="72683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Lexicalized PCFGs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 descr="Screen Shot 2016-02-15 at 10.27.0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80" y="786469"/>
            <a:ext cx="7117080" cy="4126160"/>
          </a:xfrm>
          <a:prstGeom prst="rect">
            <a:avLst/>
          </a:prstGeom>
        </p:spPr>
      </p:pic>
      <p:pic>
        <p:nvPicPr>
          <p:cNvPr id="6" name="Picture 5" descr="Screen Shot 2016-02-15 at 10.27.3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4602716"/>
            <a:ext cx="8321040" cy="2047639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 bwMode="auto">
          <a:xfrm flipH="1">
            <a:off x="4307796" y="1656080"/>
            <a:ext cx="1666284" cy="115159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/>
          <p:nvPr/>
        </p:nvCxnSpPr>
        <p:spPr bwMode="auto">
          <a:xfrm>
            <a:off x="6421076" y="1656080"/>
            <a:ext cx="0" cy="115159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695440" y="1656080"/>
            <a:ext cx="502876" cy="180183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5064760" y="942183"/>
            <a:ext cx="3622040" cy="707886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 smtClean="0"/>
              <a:t>nonterminals</a:t>
            </a:r>
            <a:r>
              <a:rPr lang="en-US" sz="2000" dirty="0" smtClean="0"/>
              <a:t> are decorated with </a:t>
            </a:r>
          </a:p>
          <a:p>
            <a:pPr algn="ctr"/>
            <a:r>
              <a:rPr lang="en-US" sz="2000" dirty="0" smtClean="0"/>
              <a:t>the </a:t>
            </a:r>
            <a:r>
              <a:rPr lang="en-US" sz="2000" b="1" dirty="0" smtClean="0">
                <a:solidFill>
                  <a:srgbClr val="288CD2"/>
                </a:solidFill>
              </a:rPr>
              <a:t>head</a:t>
            </a:r>
            <a:r>
              <a:rPr lang="en-US" sz="2000" dirty="0" smtClean="0"/>
              <a:t> word of the </a:t>
            </a:r>
            <a:r>
              <a:rPr lang="en-US" sz="2000" dirty="0" err="1" smtClean="0"/>
              <a:t>subtree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5900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Lexicalization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adds a lot more rules!</a:t>
            </a:r>
          </a:p>
          <a:p>
            <a:r>
              <a:rPr lang="en-US" dirty="0" smtClean="0"/>
              <a:t>many more parameters to estimate 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smtClean="0"/>
              <a:t> smoothing becomes much more important</a:t>
            </a:r>
          </a:p>
          <a:p>
            <a:pPr lvl="1"/>
            <a:r>
              <a:rPr lang="en-US" dirty="0" smtClean="0"/>
              <a:t>e.g., right</a:t>
            </a:r>
            <a:r>
              <a:rPr lang="en-US" dirty="0"/>
              <a:t>-hand side of </a:t>
            </a:r>
            <a:r>
              <a:rPr lang="en-US" dirty="0" smtClean="0"/>
              <a:t>rule might be factored into several steps</a:t>
            </a:r>
          </a:p>
          <a:p>
            <a:r>
              <a:rPr lang="en-US" dirty="0" smtClean="0"/>
              <a:t>but it’s worth it because head words are really useful for constituent parsing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7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Results (Collins, 1997)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 descr="Screen Shot 2016-02-15 at 10.36.48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778"/>
          <a:stretch/>
        </p:blipFill>
        <p:spPr>
          <a:xfrm>
            <a:off x="1717040" y="1925320"/>
            <a:ext cx="5323840" cy="180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8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Head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are heads decided?</a:t>
            </a:r>
          </a:p>
          <a:p>
            <a:r>
              <a:rPr lang="en-US" dirty="0" smtClean="0"/>
              <a:t>most researchers use deterministic head rules (</a:t>
            </a:r>
            <a:r>
              <a:rPr lang="en-US" dirty="0" err="1" smtClean="0"/>
              <a:t>Magerman</a:t>
            </a:r>
            <a:r>
              <a:rPr lang="en-US" dirty="0"/>
              <a:t>/</a:t>
            </a:r>
            <a:r>
              <a:rPr lang="en-US" dirty="0" smtClean="0"/>
              <a:t>Collins)</a:t>
            </a:r>
          </a:p>
          <a:p>
            <a:r>
              <a:rPr lang="en-US" dirty="0" smtClean="0"/>
              <a:t>for a PCFG rule A </a:t>
            </a:r>
            <a:r>
              <a:rPr lang="en-US" dirty="0" smtClean="0">
                <a:sym typeface="Wingdings"/>
              </a:rPr>
              <a:t> B</a:t>
            </a:r>
            <a:r>
              <a:rPr lang="en-US" baseline="-25000" dirty="0" smtClean="0">
                <a:sym typeface="Wingdings"/>
              </a:rPr>
              <a:t>1</a:t>
            </a:r>
            <a:r>
              <a:rPr lang="en-US" dirty="0" smtClean="0">
                <a:sym typeface="Wingdings"/>
              </a:rPr>
              <a:t> … B</a:t>
            </a:r>
            <a:r>
              <a:rPr lang="en-US" baseline="-25000" dirty="0" smtClean="0">
                <a:sym typeface="Wingdings"/>
              </a:rPr>
              <a:t>N</a:t>
            </a:r>
            <a:r>
              <a:rPr lang="en-US" dirty="0" smtClean="0">
                <a:sym typeface="Wingdings"/>
              </a:rPr>
              <a:t>, these head rules say which of </a:t>
            </a:r>
            <a:r>
              <a:rPr lang="en-US" dirty="0">
                <a:sym typeface="Wingdings"/>
              </a:rPr>
              <a:t>B</a:t>
            </a:r>
            <a:r>
              <a:rPr lang="en-US" baseline="-25000" dirty="0">
                <a:sym typeface="Wingdings"/>
              </a:rPr>
              <a:t>1</a:t>
            </a:r>
            <a:r>
              <a:rPr lang="en-US" dirty="0">
                <a:sym typeface="Wingdings"/>
              </a:rPr>
              <a:t> </a:t>
            </a:r>
            <a:r>
              <a:rPr lang="en-US" dirty="0" smtClean="0">
                <a:sym typeface="Wingdings"/>
              </a:rPr>
              <a:t>… B</a:t>
            </a:r>
            <a:r>
              <a:rPr lang="en-US" baseline="-25000" dirty="0" smtClean="0">
                <a:sym typeface="Wingdings"/>
              </a:rPr>
              <a:t>N </a:t>
            </a:r>
            <a:r>
              <a:rPr lang="en-US" dirty="0" smtClean="0">
                <a:sym typeface="Wingdings"/>
              </a:rPr>
              <a:t>is the head of the rule</a:t>
            </a:r>
          </a:p>
          <a:p>
            <a:r>
              <a:rPr lang="en-US" dirty="0" smtClean="0">
                <a:sym typeface="Wingdings"/>
              </a:rPr>
              <a:t>examples: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S  NP  </a:t>
            </a:r>
            <a:r>
              <a:rPr lang="en-US" u="sng" dirty="0" smtClean="0">
                <a:sym typeface="Wingdings"/>
              </a:rPr>
              <a:t>VP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VP  </a:t>
            </a:r>
            <a:r>
              <a:rPr lang="en-US" u="sng" dirty="0" smtClean="0">
                <a:sym typeface="Wingdings"/>
              </a:rPr>
              <a:t>VBD</a:t>
            </a:r>
            <a:r>
              <a:rPr lang="en-US" dirty="0" smtClean="0">
                <a:sym typeface="Wingdings"/>
              </a:rPr>
              <a:t>  NP  PP</a:t>
            </a:r>
          </a:p>
          <a:p>
            <a:pPr marL="457200" lvl="1" indent="0">
              <a:buNone/>
            </a:pPr>
            <a:r>
              <a:rPr lang="en-US" dirty="0" smtClean="0">
                <a:sym typeface="Wingdings"/>
              </a:rPr>
              <a:t>NP  DT  JJ  </a:t>
            </a:r>
            <a:r>
              <a:rPr lang="en-US" u="sng" dirty="0" smtClean="0">
                <a:sym typeface="Wingdings"/>
              </a:rPr>
              <a:t>NN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2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Head Annotation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 descr="Screen Shot 2016-02-15 at 10.55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381" y="1107440"/>
            <a:ext cx="5498173" cy="474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52640" y="6356350"/>
            <a:ext cx="17906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from Noah Smith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07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Lexical Head Annotation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 descr="Screen Shot 2016-02-15 at 10.56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516" y="1178560"/>
            <a:ext cx="5525290" cy="4714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52640" y="6356350"/>
            <a:ext cx="17906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from Noah Smith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3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Lexical Head Annotation </a:t>
            </a:r>
            <a:r>
              <a:rPr lang="en-US" sz="3600" dirty="0" smtClean="0">
                <a:sym typeface="Wingdings"/>
              </a:rPr>
              <a:t> Dependencies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 descr="Screen Shot 2016-02-15 at 10.57.4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897" y="1137920"/>
            <a:ext cx="5533264" cy="4779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1750" y="1137920"/>
            <a:ext cx="173913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</a:t>
            </a:r>
            <a:r>
              <a:rPr lang="en-US" sz="2400" b="1" dirty="0" smtClean="0"/>
              <a:t>emove </a:t>
            </a:r>
            <a:r>
              <a:rPr lang="en-US" sz="2400" b="1" dirty="0" err="1" smtClean="0"/>
              <a:t>nonlexical</a:t>
            </a:r>
            <a:r>
              <a:rPr lang="en-US" sz="2400" b="1" dirty="0" smtClean="0"/>
              <a:t> parts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152640" y="6356350"/>
            <a:ext cx="17906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from Noah Smith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85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ym typeface="Wingdings"/>
              </a:rPr>
              <a:t>Dependencies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1750" y="1137920"/>
            <a:ext cx="173913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merge redundant nodes: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152640" y="6356350"/>
            <a:ext cx="17906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from Noah Smith</a:t>
            </a:r>
            <a:endParaRPr lang="en-US" dirty="0"/>
          </a:p>
        </p:txBody>
      </p:sp>
      <p:pic>
        <p:nvPicPr>
          <p:cNvPr id="3" name="Picture 2" descr="Screen Shot 2016-02-15 at 11.00.3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960" y="1107439"/>
            <a:ext cx="4998720" cy="372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4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Screen Shot 2016-02-15 at 10.55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8" y="1268684"/>
            <a:ext cx="4228172" cy="3648756"/>
          </a:xfrm>
          <a:prstGeom prst="rect">
            <a:avLst/>
          </a:prstGeom>
        </p:spPr>
      </p:pic>
      <p:pic>
        <p:nvPicPr>
          <p:cNvPr id="6" name="Picture 5" descr="Screen Shot 2016-02-15 at 11.00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624" y="1268684"/>
            <a:ext cx="4344936" cy="3241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8320" y="508000"/>
            <a:ext cx="2891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constituent parse: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4960" y="513060"/>
            <a:ext cx="3012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dependency parse: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8845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 descr="Screen Shot 2016-02-15 at 10.55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8" y="1268684"/>
            <a:ext cx="4228172" cy="3648756"/>
          </a:xfrm>
          <a:prstGeom prst="rect">
            <a:avLst/>
          </a:prstGeom>
        </p:spPr>
      </p:pic>
      <p:pic>
        <p:nvPicPr>
          <p:cNvPr id="6" name="Picture 5" descr="Screen Shot 2016-02-15 at 11.00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624" y="1268684"/>
            <a:ext cx="4344936" cy="3241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8320" y="508000"/>
            <a:ext cx="2891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constituent parse: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22800" y="513060"/>
            <a:ext cx="4194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288CD2"/>
                </a:solidFill>
              </a:rPr>
              <a:t>labeled</a:t>
            </a:r>
            <a:r>
              <a:rPr lang="en-US" sz="2800" b="1" dirty="0" smtClean="0"/>
              <a:t> dependency parse: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04424" y="1827014"/>
            <a:ext cx="69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nsubj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682984" y="3137654"/>
            <a:ext cx="49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det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11580" y="2382798"/>
            <a:ext cx="6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dobj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466548" y="2770108"/>
            <a:ext cx="6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pobj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94664" y="3342640"/>
            <a:ext cx="49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det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998637" y="1827014"/>
            <a:ext cx="62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prep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065334" y="4893548"/>
            <a:ext cx="297573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 smtClean="0"/>
              <a:t>nsubj</a:t>
            </a:r>
            <a:r>
              <a:rPr lang="en-US" dirty="0" smtClean="0"/>
              <a:t> = “nominal subject”</a:t>
            </a:r>
          </a:p>
          <a:p>
            <a:r>
              <a:rPr lang="en-US" dirty="0" err="1" smtClean="0"/>
              <a:t>dobj</a:t>
            </a:r>
            <a:r>
              <a:rPr lang="en-US" dirty="0" smtClean="0"/>
              <a:t> = “direct object”</a:t>
            </a:r>
          </a:p>
          <a:p>
            <a:r>
              <a:rPr lang="en-US" dirty="0" smtClean="0"/>
              <a:t>prep = “preposition modifier”</a:t>
            </a:r>
          </a:p>
          <a:p>
            <a:r>
              <a:rPr lang="en-US" dirty="0" err="1" smtClean="0"/>
              <a:t>pobj</a:t>
            </a:r>
            <a:r>
              <a:rPr lang="en-US" dirty="0" smtClean="0"/>
              <a:t> = “object of preposition”</a:t>
            </a:r>
          </a:p>
          <a:p>
            <a:r>
              <a:rPr lang="en-US" dirty="0" err="1" smtClean="0"/>
              <a:t>det</a:t>
            </a:r>
            <a:r>
              <a:rPr lang="en-US" dirty="0" smtClean="0"/>
              <a:t> = “determiner”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 descr="Screen Shot 2016-02-15 at 10.55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8" y="1268684"/>
            <a:ext cx="4228172" cy="3648756"/>
          </a:xfrm>
          <a:prstGeom prst="rect">
            <a:avLst/>
          </a:prstGeom>
        </p:spPr>
      </p:pic>
      <p:pic>
        <p:nvPicPr>
          <p:cNvPr id="6" name="Picture 5" descr="Screen Shot 2016-02-15 at 11.00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624" y="1268684"/>
            <a:ext cx="4344936" cy="3241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8320" y="508000"/>
            <a:ext cx="2891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constituent parse: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22800" y="513060"/>
            <a:ext cx="4194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288CD2"/>
                </a:solidFill>
              </a:rPr>
              <a:t>labeled</a:t>
            </a:r>
            <a:r>
              <a:rPr lang="en-US" sz="2800" b="1" dirty="0" smtClean="0"/>
              <a:t> dependency parse: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04424" y="1827014"/>
            <a:ext cx="69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nsubj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682984" y="3137654"/>
            <a:ext cx="49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det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11580" y="2382798"/>
            <a:ext cx="6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dobj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466548" y="2770108"/>
            <a:ext cx="6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pobj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94664" y="3342640"/>
            <a:ext cx="49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det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998637" y="1827014"/>
            <a:ext cx="62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prep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065334" y="4893548"/>
            <a:ext cx="297573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 smtClean="0"/>
              <a:t>nsubj</a:t>
            </a:r>
            <a:r>
              <a:rPr lang="en-US" dirty="0" smtClean="0"/>
              <a:t> = “nominal subject”</a:t>
            </a:r>
          </a:p>
          <a:p>
            <a:r>
              <a:rPr lang="en-US" dirty="0" err="1" smtClean="0"/>
              <a:t>dobj</a:t>
            </a:r>
            <a:r>
              <a:rPr lang="en-US" dirty="0" smtClean="0"/>
              <a:t> = “direct object”</a:t>
            </a:r>
          </a:p>
          <a:p>
            <a:r>
              <a:rPr lang="en-US" dirty="0" smtClean="0"/>
              <a:t>prep = “preposition modifier”</a:t>
            </a:r>
          </a:p>
          <a:p>
            <a:r>
              <a:rPr lang="en-US" dirty="0" err="1" smtClean="0"/>
              <a:t>pobj</a:t>
            </a:r>
            <a:r>
              <a:rPr lang="en-US" dirty="0" smtClean="0"/>
              <a:t> = “object of preposition”</a:t>
            </a:r>
          </a:p>
          <a:p>
            <a:r>
              <a:rPr lang="en-US" dirty="0" err="1" smtClean="0"/>
              <a:t>det</a:t>
            </a:r>
            <a:r>
              <a:rPr lang="en-US" dirty="0" smtClean="0"/>
              <a:t> = “determiner”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707624" y="335174"/>
            <a:ext cx="4089356" cy="954107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288CD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captures some semantic relationships</a:t>
            </a:r>
            <a:endParaRPr lang="en-US" sz="2800" dirty="0"/>
          </a:p>
        </p:txBody>
      </p:sp>
      <p:cxnSp>
        <p:nvCxnSpPr>
          <p:cNvPr id="17" name="Straight Arrow Connector 16"/>
          <p:cNvCxnSpPr>
            <a:stCxn id="16" idx="2"/>
          </p:cNvCxnSpPr>
          <p:nvPr/>
        </p:nvCxnSpPr>
        <p:spPr bwMode="auto">
          <a:xfrm flipH="1">
            <a:off x="5065334" y="1289281"/>
            <a:ext cx="1686968" cy="53773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>
            <a:stCxn id="16" idx="2"/>
            <a:endCxn id="11" idx="0"/>
          </p:cNvCxnSpPr>
          <p:nvPr/>
        </p:nvCxnSpPr>
        <p:spPr bwMode="auto">
          <a:xfrm flipH="1">
            <a:off x="6513669" y="1289281"/>
            <a:ext cx="238633" cy="109351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7611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588"/>
            <a:ext cx="8229600" cy="5052424"/>
          </a:xfrm>
        </p:spPr>
        <p:txBody>
          <a:bodyPr/>
          <a:lstStyle/>
          <a:p>
            <a:r>
              <a:rPr lang="en-US" dirty="0" smtClean="0"/>
              <a:t>how (unlabeled) dependency trees are typically drawn:</a:t>
            </a:r>
          </a:p>
          <a:p>
            <a:pPr lvl="1"/>
            <a:r>
              <a:rPr lang="en-US" dirty="0" smtClean="0"/>
              <a:t>root of tree is represented by $ (“wall symbol”)</a:t>
            </a:r>
          </a:p>
          <a:p>
            <a:pPr lvl="1"/>
            <a:r>
              <a:rPr lang="en-US" dirty="0" smtClean="0"/>
              <a:t>arrows drawn entirely above (or below) sentence</a:t>
            </a:r>
          </a:p>
          <a:p>
            <a:pPr lvl="1"/>
            <a:r>
              <a:rPr lang="en-US" dirty="0" smtClean="0"/>
              <a:t>arrows are directed from child to parent (or from parent to child); you will see both in practice—don’t get confused!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6574"/>
          <a:stretch/>
        </p:blipFill>
        <p:spPr>
          <a:xfrm>
            <a:off x="3059545" y="3714690"/>
            <a:ext cx="3493655" cy="2235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745345" y="4578290"/>
            <a:ext cx="3048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10" idx="3"/>
          </p:cNvCxnSpPr>
          <p:nvPr/>
        </p:nvCxnSpPr>
        <p:spPr bwMode="auto">
          <a:xfrm>
            <a:off x="2500745" y="4911635"/>
            <a:ext cx="721360" cy="3118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/>
          <p:cNvSpPr txBox="1"/>
          <p:nvPr/>
        </p:nvSpPr>
        <p:spPr>
          <a:xfrm>
            <a:off x="675684" y="4711580"/>
            <a:ext cx="1825061" cy="400110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“wall” symbol</a:t>
            </a:r>
            <a:endParaRPr lang="en-US" sz="2000" dirty="0"/>
          </a:p>
        </p:txBody>
      </p:sp>
      <p:cxnSp>
        <p:nvCxnSpPr>
          <p:cNvPr id="13" name="Straight Arrow Connector 12"/>
          <p:cNvCxnSpPr>
            <a:stCxn id="10" idx="3"/>
          </p:cNvCxnSpPr>
          <p:nvPr/>
        </p:nvCxnSpPr>
        <p:spPr bwMode="auto">
          <a:xfrm flipV="1">
            <a:off x="2500745" y="4491930"/>
            <a:ext cx="721360" cy="41970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8678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6-02-15 at 11.03.2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37920"/>
            <a:ext cx="6917435" cy="43535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ym typeface="Wingdings"/>
              </a:rPr>
              <a:t>Crossing Dependencies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516880" y="1330960"/>
            <a:ext cx="3078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if dependencies cross (“</a:t>
            </a:r>
            <a:r>
              <a:rPr lang="en-US" sz="2400" dirty="0" err="1" smtClean="0"/>
              <a:t>nonprojective</a:t>
            </a:r>
            <a:r>
              <a:rPr lang="en-US" sz="2400" dirty="0" smtClean="0"/>
              <a:t>”), no longer corresponds to a PCFG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152640" y="6356350"/>
            <a:ext cx="17906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from Noah Smith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39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Projective vs. </a:t>
            </a:r>
            <a:r>
              <a:rPr lang="en-US" sz="2800" dirty="0" err="1" smtClean="0"/>
              <a:t>Nonprojective</a:t>
            </a:r>
            <a:r>
              <a:rPr lang="en-US" sz="2800" dirty="0" smtClean="0"/>
              <a:t> Dependency Parsing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English </a:t>
            </a:r>
            <a:r>
              <a:rPr lang="en-US" dirty="0" smtClean="0"/>
              <a:t>dependency </a:t>
            </a:r>
            <a:r>
              <a:rPr lang="en-US" dirty="0" err="1" smtClean="0"/>
              <a:t>treebanks</a:t>
            </a:r>
            <a:r>
              <a:rPr lang="en-US" dirty="0" smtClean="0"/>
              <a:t> are mostly </a:t>
            </a:r>
            <a:r>
              <a:rPr lang="en-US" dirty="0" smtClean="0"/>
              <a:t>projective</a:t>
            </a:r>
          </a:p>
          <a:p>
            <a:pPr lvl="1"/>
            <a:r>
              <a:rPr lang="en-US" dirty="0" smtClean="0"/>
              <a:t>but when focusing more </a:t>
            </a:r>
            <a:r>
              <a:rPr lang="en-US" dirty="0" smtClean="0"/>
              <a:t>on </a:t>
            </a:r>
            <a:r>
              <a:rPr lang="en-US" dirty="0" smtClean="0"/>
              <a:t>semantic relationships, </a:t>
            </a:r>
            <a:r>
              <a:rPr lang="en-US" dirty="0" smtClean="0"/>
              <a:t>often </a:t>
            </a:r>
            <a:r>
              <a:rPr lang="en-US" dirty="0" smtClean="0"/>
              <a:t>becomes more </a:t>
            </a:r>
            <a:r>
              <a:rPr lang="en-US" dirty="0" err="1" smtClean="0"/>
              <a:t>nonprojective</a:t>
            </a:r>
            <a:endParaRPr lang="en-US" dirty="0" smtClean="0"/>
          </a:p>
          <a:p>
            <a:r>
              <a:rPr lang="en-US" dirty="0" smtClean="0"/>
              <a:t>some (relatively) free word order languages, like Czech, are </a:t>
            </a:r>
            <a:r>
              <a:rPr lang="en-US" dirty="0" smtClean="0"/>
              <a:t>fairly </a:t>
            </a:r>
            <a:r>
              <a:rPr lang="en-US" dirty="0" err="1" smtClean="0"/>
              <a:t>nonprojective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nonprojective</a:t>
            </a:r>
            <a:r>
              <a:rPr lang="en-US" dirty="0" smtClean="0"/>
              <a:t> parsing can be formulated as a minimum spanning tree problem</a:t>
            </a:r>
          </a:p>
          <a:p>
            <a:r>
              <a:rPr lang="en-US" dirty="0" smtClean="0"/>
              <a:t>projective parsing cannot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Dependency Parsing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several widely-used algorithms</a:t>
            </a:r>
          </a:p>
          <a:p>
            <a:r>
              <a:rPr lang="en-US" dirty="0" smtClean="0"/>
              <a:t>different guarantees but similar performance in practice</a:t>
            </a:r>
          </a:p>
          <a:p>
            <a:r>
              <a:rPr lang="en-US" dirty="0" smtClean="0"/>
              <a:t>graph-based:</a:t>
            </a:r>
          </a:p>
          <a:p>
            <a:pPr lvl="1"/>
            <a:r>
              <a:rPr lang="en-US" dirty="0" smtClean="0"/>
              <a:t>dynamic programming (Eisner, 1997)</a:t>
            </a:r>
          </a:p>
          <a:p>
            <a:pPr lvl="1"/>
            <a:r>
              <a:rPr lang="en-US" dirty="0" smtClean="0"/>
              <a:t>minimum spanning tree (McDonald et al., 2005)</a:t>
            </a:r>
          </a:p>
          <a:p>
            <a:r>
              <a:rPr lang="en-US" dirty="0" smtClean="0"/>
              <a:t>transition-based:</a:t>
            </a:r>
          </a:p>
          <a:p>
            <a:pPr lvl="1"/>
            <a:r>
              <a:rPr lang="en-US" dirty="0" smtClean="0"/>
              <a:t>shift-reduce (</a:t>
            </a:r>
            <a:r>
              <a:rPr lang="en-US" dirty="0" err="1" smtClean="0"/>
              <a:t>Nivre</a:t>
            </a:r>
            <a:r>
              <a:rPr lang="en-US" dirty="0" smtClean="0"/>
              <a:t>, </a:t>
            </a:r>
            <a:r>
              <a:rPr lang="en-US" i="1" dirty="0" smtClean="0"/>
              <a:t>inter alia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3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Dependency Parsers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Stanford parser</a:t>
            </a:r>
          </a:p>
          <a:p>
            <a:r>
              <a:rPr lang="en-US" dirty="0" err="1" smtClean="0"/>
              <a:t>TurboParser</a:t>
            </a:r>
            <a:endParaRPr lang="en-US" dirty="0" smtClean="0"/>
          </a:p>
          <a:p>
            <a:r>
              <a:rPr lang="en-US" dirty="0" err="1" smtClean="0"/>
              <a:t>Joakim</a:t>
            </a:r>
            <a:r>
              <a:rPr lang="en-US" dirty="0" smtClean="0"/>
              <a:t> </a:t>
            </a:r>
            <a:r>
              <a:rPr lang="en-US" dirty="0" err="1" smtClean="0"/>
              <a:t>Nivre’s</a:t>
            </a:r>
            <a:r>
              <a:rPr lang="en-US" dirty="0" smtClean="0"/>
              <a:t> MALT parser</a:t>
            </a:r>
          </a:p>
          <a:p>
            <a:r>
              <a:rPr lang="en-US" dirty="0" smtClean="0"/>
              <a:t>Ryan McDonald’s MST parser</a:t>
            </a:r>
          </a:p>
          <a:p>
            <a:r>
              <a:rPr lang="en-US" dirty="0" smtClean="0"/>
              <a:t>and many </a:t>
            </a:r>
            <a:r>
              <a:rPr lang="en-US" dirty="0" smtClean="0"/>
              <a:t>others for many non-English languages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3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Complexity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constituent parsing: </a:t>
            </a:r>
            <a:r>
              <a:rPr lang="en-US" b="1" dirty="0" smtClean="0">
                <a:solidFill>
                  <a:srgbClr val="288CD2"/>
                </a:solidFill>
              </a:rPr>
              <a:t>O(Gn</a:t>
            </a:r>
            <a:r>
              <a:rPr lang="en-US" b="1" baseline="30000" dirty="0" smtClean="0">
                <a:solidFill>
                  <a:srgbClr val="288CD2"/>
                </a:solidFill>
              </a:rPr>
              <a:t>3</a:t>
            </a:r>
            <a:r>
              <a:rPr lang="en-US" b="1" dirty="0" smtClean="0">
                <a:solidFill>
                  <a:srgbClr val="288CD2"/>
                </a:solidFill>
              </a:rPr>
              <a:t>)</a:t>
            </a:r>
          </a:p>
          <a:p>
            <a:pPr lvl="1"/>
            <a:r>
              <a:rPr lang="en-US" dirty="0" smtClean="0"/>
              <a:t>parsing complexity depends on grammar structure (“grammar constant” G)</a:t>
            </a:r>
          </a:p>
          <a:p>
            <a:pPr lvl="1"/>
            <a:r>
              <a:rPr lang="en-US" dirty="0" smtClean="0"/>
              <a:t>since it has lots of nonterminal-only rules at the top of the tree, there are many rule probabilities to estimate</a:t>
            </a:r>
          </a:p>
          <a:p>
            <a:r>
              <a:rPr lang="en-US" dirty="0" smtClean="0"/>
              <a:t>dependency parsing: </a:t>
            </a:r>
            <a:r>
              <a:rPr lang="en-US" b="1" dirty="0" smtClean="0">
                <a:solidFill>
                  <a:srgbClr val="288CD2"/>
                </a:solidFill>
              </a:rPr>
              <a:t>O(n</a:t>
            </a:r>
            <a:r>
              <a:rPr lang="en-US" b="1" baseline="30000" dirty="0" smtClean="0">
                <a:solidFill>
                  <a:srgbClr val="288CD2"/>
                </a:solidFill>
              </a:rPr>
              <a:t>3</a:t>
            </a:r>
            <a:r>
              <a:rPr lang="en-US" b="1" dirty="0" smtClean="0">
                <a:solidFill>
                  <a:srgbClr val="288CD2"/>
                </a:solidFill>
              </a:rPr>
              <a:t>)</a:t>
            </a:r>
          </a:p>
          <a:p>
            <a:pPr lvl="1"/>
            <a:r>
              <a:rPr lang="en-US" dirty="0" smtClean="0"/>
              <a:t>operates directly on words, so parsing complexity has no grammar constant</a:t>
            </a:r>
          </a:p>
          <a:p>
            <a:pPr lvl="1"/>
            <a:r>
              <a:rPr lang="en-US" dirty="0" smtClean="0"/>
              <a:t>features designed on possible dependencies (pairs of words) and larger structures</a:t>
            </a:r>
          </a:p>
          <a:p>
            <a:pPr lvl="1"/>
            <a:r>
              <a:rPr lang="en-US" dirty="0" smtClean="0"/>
              <a:t>transition-based parsing algorithms are O(n), though not optimal; also, non-projective parsing is faster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3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Applications of Dependency Parsing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widely used for NLP tasks because:</a:t>
            </a:r>
          </a:p>
          <a:p>
            <a:pPr lvl="1"/>
            <a:r>
              <a:rPr lang="en-US" dirty="0" smtClean="0"/>
              <a:t>faster than constituent parsing</a:t>
            </a:r>
          </a:p>
          <a:p>
            <a:pPr lvl="1"/>
            <a:r>
              <a:rPr lang="en-US" dirty="0" smtClean="0"/>
              <a:t>captures more semantic information</a:t>
            </a:r>
          </a:p>
          <a:p>
            <a:r>
              <a:rPr lang="en-US" dirty="0" smtClean="0"/>
              <a:t>text classification (features on dependencies)</a:t>
            </a:r>
          </a:p>
          <a:p>
            <a:r>
              <a:rPr lang="en-US" dirty="0" smtClean="0"/>
              <a:t>syntax-based machine translation</a:t>
            </a:r>
          </a:p>
          <a:p>
            <a:r>
              <a:rPr lang="en-US" dirty="0" smtClean="0"/>
              <a:t>relation extraction</a:t>
            </a:r>
          </a:p>
          <a:p>
            <a:pPr lvl="1"/>
            <a:r>
              <a:rPr lang="en-US" dirty="0" smtClean="0"/>
              <a:t>e.g., extract relation between </a:t>
            </a:r>
            <a:r>
              <a:rPr lang="en-US" dirty="0"/>
              <a:t>Sam </a:t>
            </a:r>
            <a:r>
              <a:rPr lang="en-US" dirty="0" smtClean="0"/>
              <a:t>Smith and </a:t>
            </a:r>
            <a:r>
              <a:rPr lang="en-US" dirty="0" err="1" smtClean="0"/>
              <a:t>AITech</a:t>
            </a:r>
            <a:r>
              <a:rPr lang="en-US" dirty="0" smtClean="0"/>
              <a:t>:</a:t>
            </a:r>
          </a:p>
          <a:p>
            <a:pPr marL="457200" lvl="1" indent="0">
              <a:buNone/>
            </a:pPr>
            <a:r>
              <a:rPr lang="en-US" i="1" dirty="0" smtClean="0"/>
              <a:t>Sam Smith was named new CEO of </a:t>
            </a:r>
            <a:r>
              <a:rPr lang="en-US" i="1" dirty="0" err="1" smtClean="0"/>
              <a:t>AITech</a:t>
            </a:r>
            <a:r>
              <a:rPr lang="en-US" i="1" dirty="0" smtClean="0"/>
              <a:t>.</a:t>
            </a:r>
          </a:p>
          <a:p>
            <a:pPr lvl="1"/>
            <a:r>
              <a:rPr lang="en-US" dirty="0" smtClean="0"/>
              <a:t>use dependency path between </a:t>
            </a:r>
            <a:r>
              <a:rPr lang="en-US" i="1" dirty="0" smtClean="0"/>
              <a:t>Sam Smith </a:t>
            </a:r>
            <a:r>
              <a:rPr lang="en-US" dirty="0" smtClean="0"/>
              <a:t>and </a:t>
            </a:r>
            <a:r>
              <a:rPr lang="en-US" i="1" dirty="0" err="1" smtClean="0"/>
              <a:t>AITech</a:t>
            </a:r>
            <a:r>
              <a:rPr lang="en-US" i="1" dirty="0" smtClean="0"/>
              <a:t>:</a:t>
            </a:r>
            <a:endParaRPr lang="en-US" dirty="0"/>
          </a:p>
          <a:p>
            <a:pPr lvl="2"/>
            <a:r>
              <a:rPr lang="en-US" dirty="0" smtClean="0"/>
              <a:t>Smith </a:t>
            </a:r>
            <a:r>
              <a:rPr lang="en-US" dirty="0" smtClean="0">
                <a:sym typeface="Wingdings"/>
              </a:rPr>
              <a:t> named, named  CEO, CEO  of, of  </a:t>
            </a:r>
            <a:r>
              <a:rPr lang="en-US" dirty="0" err="1" smtClean="0">
                <a:sym typeface="Wingdings"/>
              </a:rPr>
              <a:t>AITech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1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Summary: two types of grammars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phrase structure / constituent grammars</a:t>
            </a:r>
          </a:p>
          <a:p>
            <a:pPr lvl="1"/>
            <a:r>
              <a:rPr lang="en-US" dirty="0" smtClean="0"/>
              <a:t>inspired mostly by Chomsky and others</a:t>
            </a:r>
          </a:p>
          <a:p>
            <a:pPr lvl="1"/>
            <a:r>
              <a:rPr lang="en-US" dirty="0" smtClean="0"/>
              <a:t>only appropriate for certain languages (e.g., English)</a:t>
            </a:r>
          </a:p>
          <a:p>
            <a:r>
              <a:rPr lang="en-US" dirty="0" smtClean="0"/>
              <a:t>dependency grammars </a:t>
            </a:r>
          </a:p>
          <a:p>
            <a:pPr lvl="1"/>
            <a:r>
              <a:rPr lang="en-US" dirty="0" smtClean="0"/>
              <a:t>closer to a semantic representation; some have made this more explicit</a:t>
            </a:r>
          </a:p>
          <a:p>
            <a:pPr lvl="1"/>
            <a:r>
              <a:rPr lang="en-US" dirty="0"/>
              <a:t>problematic for </a:t>
            </a:r>
            <a:r>
              <a:rPr lang="en-US" dirty="0" smtClean="0"/>
              <a:t>certain syntactic structures (e.g., conjunctions</a:t>
            </a:r>
            <a:r>
              <a:rPr lang="en-US" dirty="0"/>
              <a:t>, </a:t>
            </a:r>
            <a:r>
              <a:rPr lang="en-US" dirty="0" smtClean="0"/>
              <a:t>nesting of noun phrases, etc.)</a:t>
            </a:r>
            <a:endParaRPr lang="en-US" dirty="0" smtClean="0"/>
          </a:p>
          <a:p>
            <a:r>
              <a:rPr lang="en-US" dirty="0" smtClean="0"/>
              <a:t>both are widely used in NLP</a:t>
            </a:r>
          </a:p>
          <a:p>
            <a:r>
              <a:rPr lang="en-US" dirty="0" smtClean="0"/>
              <a:t>you can find constituent parsers and dependency parsers for several languages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6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8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288CD2"/>
                </a:solidFill>
              </a:rPr>
              <a:t>Modeling</a:t>
            </a:r>
            <a:r>
              <a:rPr lang="en-US" dirty="0" smtClean="0"/>
              <a:t>: How do we assign a score to an (</a:t>
            </a:r>
            <a:r>
              <a:rPr lang="en-US" i="1" dirty="0" err="1" smtClean="0"/>
              <a:t>x</a:t>
            </a:r>
            <a:r>
              <a:rPr lang="en-US" dirty="0" err="1" smtClean="0"/>
              <a:t>,</a:t>
            </a:r>
            <a:r>
              <a:rPr lang="en-US" i="1" dirty="0" err="1" smtClean="0"/>
              <a:t>y</a:t>
            </a:r>
            <a:r>
              <a:rPr lang="en-US" dirty="0" smtClean="0"/>
              <a:t>) pair using parameters    ?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876" y="4461932"/>
            <a:ext cx="204851" cy="2836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1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000"/>
                </a:solidFill>
              </a:rPr>
              <a:t>Inference</a:t>
            </a:r>
            <a:r>
              <a:rPr lang="en-US" dirty="0" smtClean="0"/>
              <a:t>: How do we efficiently search over the space of all labels?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1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Learning</a:t>
            </a:r>
            <a:r>
              <a:rPr lang="en-US" dirty="0" smtClean="0"/>
              <a:t>: How do we choose    ?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75" y="3204638"/>
            <a:ext cx="165100" cy="228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098" y="3966632"/>
            <a:ext cx="204851" cy="283639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3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0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Applications of our Classification Framework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288573" y="1189144"/>
            <a:ext cx="6547327" cy="193899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latin typeface="Calibri"/>
                <a:cs typeface="Calibri"/>
              </a:rPr>
              <a:t>text classification:</a:t>
            </a:r>
          </a:p>
          <a:p>
            <a:endParaRPr lang="en-US" sz="2400" i="0" dirty="0" smtClean="0">
              <a:latin typeface="Calibri"/>
              <a:cs typeface="Calibri"/>
            </a:endParaRPr>
          </a:p>
          <a:p>
            <a:endParaRPr lang="en-US" sz="2400" dirty="0">
              <a:latin typeface="Calibri"/>
              <a:cs typeface="Calibri"/>
            </a:endParaRPr>
          </a:p>
          <a:p>
            <a:endParaRPr lang="en-US" sz="2400" i="0" dirty="0" smtClean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 </a:t>
            </a:r>
            <a:endParaRPr lang="en-US" sz="2400" i="0" dirty="0">
              <a:latin typeface="Calibri"/>
              <a:cs typeface="Calibri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0" y="2014822"/>
            <a:ext cx="5575300" cy="673100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313934"/>
              </p:ext>
            </p:extLst>
          </p:nvPr>
        </p:nvGraphicFramePr>
        <p:xfrm>
          <a:off x="1841500" y="4074159"/>
          <a:ext cx="5171442" cy="1505034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4064000"/>
                <a:gridCol w="1107442"/>
              </a:tblGrid>
              <a:tr h="243841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x</a:t>
                      </a:r>
                      <a:endParaRPr lang="en-US" sz="1600" i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y</a:t>
                      </a:r>
                      <a:endParaRPr lang="en-US" sz="16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487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the hulk is an anger fueled monster with incredible strength and resistance to damage .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objective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487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in trying to be daring and original , it comes off as only occasionally satirical and never fresh .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subjective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20" y="3323319"/>
            <a:ext cx="203200" cy="241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19600" y="324330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 {objective, subjective}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46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Applications of our Classification Framework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288573" y="1189144"/>
            <a:ext cx="6547327" cy="193899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latin typeface="Calibri"/>
                <a:cs typeface="Calibri"/>
              </a:rPr>
              <a:t>word sense classifier for </a:t>
            </a:r>
            <a:r>
              <a:rPr lang="en-US" sz="2400" i="1" dirty="0" smtClean="0">
                <a:latin typeface="Calibri"/>
                <a:cs typeface="Calibri"/>
              </a:rPr>
              <a:t>bass</a:t>
            </a:r>
            <a:r>
              <a:rPr lang="en-US" sz="2400" i="0" dirty="0" smtClean="0">
                <a:latin typeface="Calibri"/>
                <a:cs typeface="Calibri"/>
              </a:rPr>
              <a:t>:</a:t>
            </a:r>
          </a:p>
          <a:p>
            <a:endParaRPr lang="en-US" sz="2400" i="0" dirty="0" smtClean="0">
              <a:latin typeface="Calibri"/>
              <a:cs typeface="Calibri"/>
            </a:endParaRPr>
          </a:p>
          <a:p>
            <a:endParaRPr lang="en-US" sz="2400" dirty="0">
              <a:latin typeface="Calibri"/>
              <a:cs typeface="Calibri"/>
            </a:endParaRPr>
          </a:p>
          <a:p>
            <a:endParaRPr lang="en-US" sz="2400" i="0" dirty="0" smtClean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 </a:t>
            </a:r>
            <a:endParaRPr lang="en-US" sz="2400" i="0" dirty="0">
              <a:latin typeface="Calibri"/>
              <a:cs typeface="Calibri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401093"/>
              </p:ext>
            </p:extLst>
          </p:nvPr>
        </p:nvGraphicFramePr>
        <p:xfrm>
          <a:off x="132080" y="4053839"/>
          <a:ext cx="4109720" cy="1505034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3229641"/>
                <a:gridCol w="880079"/>
              </a:tblGrid>
              <a:tr h="243841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x</a:t>
                      </a:r>
                      <a:endParaRPr lang="en-US" sz="1600" i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y</a:t>
                      </a:r>
                      <a:endParaRPr lang="en-US" sz="16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487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he’s a bass in the choir .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bass</a:t>
                      </a:r>
                      <a:r>
                        <a:rPr lang="en-US" sz="1600" baseline="-25000" dirty="0" smtClean="0"/>
                        <a:t>3</a:t>
                      </a:r>
                      <a:endParaRPr lang="en-US" sz="1600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487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our</a:t>
                      </a:r>
                      <a:r>
                        <a:rPr lang="en-US" sz="1600" baseline="0" dirty="0" smtClean="0"/>
                        <a:t> bass is line-caught from the Atlantic .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bass</a:t>
                      </a:r>
                      <a:r>
                        <a:rPr lang="en-US" sz="1600" baseline="-25000" dirty="0" smtClean="0"/>
                        <a:t>4</a:t>
                      </a:r>
                      <a:endParaRPr lang="en-US" sz="1600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889500" y="3243309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 {</a:t>
            </a:r>
            <a:r>
              <a:rPr lang="en-US" i="1" dirty="0" smtClean="0"/>
              <a:t>bass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i="1" dirty="0" smtClean="0"/>
              <a:t>bass</a:t>
            </a:r>
            <a:r>
              <a:rPr lang="en-US" baseline="-25000" dirty="0" smtClean="0"/>
              <a:t>2</a:t>
            </a:r>
            <a:r>
              <a:rPr lang="en-US" dirty="0" smtClean="0"/>
              <a:t>, …, </a:t>
            </a:r>
            <a:r>
              <a:rPr lang="en-US" i="1" dirty="0" smtClean="0"/>
              <a:t>bass</a:t>
            </a:r>
            <a:r>
              <a:rPr lang="en-US" baseline="-25000" dirty="0" smtClean="0"/>
              <a:t>8</a:t>
            </a:r>
            <a:r>
              <a:rPr lang="en-US" dirty="0" smtClean="0"/>
              <a:t>}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2035810"/>
            <a:ext cx="5994400" cy="673100"/>
          </a:xfrm>
          <a:prstGeom prst="rect">
            <a:avLst/>
          </a:prstGeom>
        </p:spPr>
      </p:pic>
      <p:pic>
        <p:nvPicPr>
          <p:cNvPr id="10" name="Picture 102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8" t="10483" r="40030" b="26189"/>
          <a:stretch/>
        </p:blipFill>
        <p:spPr bwMode="auto">
          <a:xfrm>
            <a:off x="4526281" y="3714115"/>
            <a:ext cx="4617719" cy="3007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800" y="3289300"/>
            <a:ext cx="6477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0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Applications of our Classification Framework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288573" y="1189144"/>
            <a:ext cx="6547327" cy="193899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latin typeface="Calibri"/>
                <a:cs typeface="Calibri"/>
              </a:rPr>
              <a:t>skip-gram model as a classifier:</a:t>
            </a:r>
          </a:p>
          <a:p>
            <a:endParaRPr lang="en-US" sz="2400" i="0" dirty="0" smtClean="0">
              <a:latin typeface="Calibri"/>
              <a:cs typeface="Calibri"/>
            </a:endParaRPr>
          </a:p>
          <a:p>
            <a:endParaRPr lang="en-US" sz="2400" dirty="0">
              <a:latin typeface="Calibri"/>
              <a:cs typeface="Calibri"/>
            </a:endParaRPr>
          </a:p>
          <a:p>
            <a:endParaRPr lang="en-US" sz="2400" i="0" dirty="0" smtClean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 </a:t>
            </a:r>
            <a:endParaRPr lang="en-US" sz="2400" i="0" dirty="0">
              <a:latin typeface="Calibri"/>
              <a:cs typeface="Calibri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718514"/>
              </p:ext>
            </p:extLst>
          </p:nvPr>
        </p:nvGraphicFramePr>
        <p:xfrm>
          <a:off x="894755" y="4004181"/>
          <a:ext cx="2316480" cy="1936368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1460500"/>
                <a:gridCol w="855980"/>
              </a:tblGrid>
              <a:tr h="305941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x</a:t>
                      </a:r>
                      <a:endParaRPr lang="en-US" sz="1600" i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y</a:t>
                      </a:r>
                      <a:endParaRPr lang="en-US" sz="16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36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agriculture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/>
                        <a:t>&lt;s&gt;</a:t>
                      </a:r>
                      <a:endParaRPr lang="en-US" sz="1600" i="0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36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agriculture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aseline="0" dirty="0" smtClean="0"/>
                        <a:t>is</a:t>
                      </a:r>
                      <a:endParaRPr lang="en-US" sz="1600" i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36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agriculture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/>
                        <a:t>the</a:t>
                      </a:r>
                      <a:endParaRPr lang="en-US" sz="1600" i="0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03420" y="3243309"/>
            <a:ext cx="2901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 </a:t>
            </a:r>
            <a:r>
              <a:rPr lang="en-US" sz="2000" i="1" dirty="0" smtClean="0"/>
              <a:t>V</a:t>
            </a:r>
            <a:r>
              <a:rPr lang="en-US" i="1" dirty="0" smtClean="0"/>
              <a:t>     </a:t>
            </a:r>
            <a:r>
              <a:rPr lang="en-US" dirty="0" smtClean="0"/>
              <a:t>(the entire vocabulary)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840" y="3343639"/>
            <a:ext cx="203200" cy="241300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020820" y="4419939"/>
            <a:ext cx="5064760" cy="1936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corpus (English Wikipedia):</a:t>
            </a:r>
          </a:p>
          <a:p>
            <a:pPr marL="0" indent="0">
              <a:buNone/>
            </a:pPr>
            <a:r>
              <a:rPr lang="en-US" sz="1800" i="1" dirty="0" smtClean="0"/>
              <a:t>agriculture </a:t>
            </a:r>
            <a:r>
              <a:rPr lang="en-US" sz="1800" i="1" dirty="0"/>
              <a:t>is the traditional mainstay of the </a:t>
            </a:r>
            <a:r>
              <a:rPr lang="en-US" sz="1800" i="1" dirty="0" err="1"/>
              <a:t>cambodian</a:t>
            </a:r>
            <a:r>
              <a:rPr lang="en-US" sz="1800" i="1" dirty="0"/>
              <a:t> economy </a:t>
            </a:r>
            <a:r>
              <a:rPr lang="en-US" sz="1800" i="1" dirty="0" smtClean="0"/>
              <a:t>.</a:t>
            </a:r>
          </a:p>
          <a:p>
            <a:pPr marL="0" indent="0">
              <a:buNone/>
            </a:pPr>
            <a:r>
              <a:rPr lang="en-US" sz="1800" i="1" dirty="0" smtClean="0"/>
              <a:t>but </a:t>
            </a:r>
            <a:r>
              <a:rPr lang="en-US" sz="1800" i="1" dirty="0" err="1"/>
              <a:t>benares</a:t>
            </a:r>
            <a:r>
              <a:rPr lang="en-US" sz="1800" i="1" dirty="0"/>
              <a:t> has been destroyed by an earthquake </a:t>
            </a:r>
            <a:r>
              <a:rPr lang="en-US" sz="1800" i="1" dirty="0" smtClean="0"/>
              <a:t>.</a:t>
            </a:r>
          </a:p>
          <a:p>
            <a:pPr marL="0" indent="0">
              <a:buNone/>
            </a:pPr>
            <a:r>
              <a:rPr lang="en-US" sz="1800" i="1" dirty="0" smtClean="0"/>
              <a:t>…</a:t>
            </a:r>
          </a:p>
          <a:p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016760"/>
            <a:ext cx="61595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8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4915" y="1614270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 smtClean="0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943018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854400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n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oun      </a:t>
            </a:r>
            <a:r>
              <a:rPr lang="en-US" sz="2000" i="0" dirty="0" err="1" smtClean="0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Autofit/>
          </a:bodyPr>
          <a:lstStyle/>
          <a:p>
            <a:r>
              <a:rPr lang="en-US" sz="2400" dirty="0" smtClean="0"/>
              <a:t>Simplest kind of structured prediction: Sequence Labeling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9279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2225855"/>
            <a:ext cx="850334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        O                    O              O     B-PERSON   I-PERSON      O          O                 O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questioned   if         Tim          Cook 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O              O         O                 O                 O        O     B-ORGANIZATION      O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hit    for            Apple              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13329" y="1564254"/>
            <a:ext cx="3465944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Named Entity Recognition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155374" y="4789138"/>
            <a:ext cx="190884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b="1" i="0" dirty="0" smtClean="0">
                <a:solidFill>
                  <a:srgbClr val="C50C0C"/>
                </a:solidFill>
                <a:latin typeface="Calibri"/>
                <a:cs typeface="Calibri"/>
              </a:rPr>
              <a:t>B = “begin”</a:t>
            </a:r>
          </a:p>
          <a:p>
            <a:pPr eaLnBrk="1" hangingPunct="1"/>
            <a:r>
              <a:rPr lang="en-US" sz="2400" b="1" dirty="0" smtClean="0">
                <a:solidFill>
                  <a:srgbClr val="C50C0C"/>
                </a:solidFill>
                <a:latin typeface="Calibri"/>
                <a:cs typeface="Calibri"/>
              </a:rPr>
              <a:t> I = “inside”</a:t>
            </a:r>
          </a:p>
          <a:p>
            <a:pPr eaLnBrk="1" hangingPunct="1"/>
            <a:r>
              <a:rPr lang="en-US" sz="2400" b="1" dirty="0">
                <a:solidFill>
                  <a:srgbClr val="C50C0C"/>
                </a:solidFill>
                <a:latin typeface="Calibri"/>
                <a:cs typeface="Calibri"/>
              </a:rPr>
              <a:t>O = “outside”</a:t>
            </a:r>
          </a:p>
          <a:p>
            <a:pPr eaLnBrk="1" hangingPunct="1"/>
            <a:endParaRPr lang="en-US" sz="2400" b="1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1210362"/>
          </a:xfrm>
        </p:spPr>
        <p:txBody>
          <a:bodyPr>
            <a:noAutofit/>
          </a:bodyPr>
          <a:lstStyle/>
          <a:p>
            <a:r>
              <a:rPr lang="en-US" sz="2800" dirty="0" smtClean="0"/>
              <a:t>Formulating segmentation tasks as sequence labeling via B-I-O labeling: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6293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Applications of our Classifier Framework so far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528777"/>
              </p:ext>
            </p:extLst>
          </p:nvPr>
        </p:nvGraphicFramePr>
        <p:xfrm>
          <a:off x="132080" y="1071880"/>
          <a:ext cx="871728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57680"/>
                <a:gridCol w="1635760"/>
                <a:gridCol w="2346960"/>
                <a:gridCol w="133096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task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input (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output (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output space (     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size of</a:t>
                      </a:r>
                      <a:endParaRPr lang="en-US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text classification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sentence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label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</a:t>
                      </a:r>
                      <a:r>
                        <a:rPr lang="en-US" i="1" baseline="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pre-defined, small label set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(e.g., {positive, negative})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2-10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word sense disambiguation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instance of a particular word (e.g.,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bass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 with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its context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word sense of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pre-defined sense inventory from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WordNet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for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bass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2-30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learning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skip-gram word </a:t>
                      </a:r>
                      <a:r>
                        <a:rPr lang="en-US" baseline="0" dirty="0" err="1" smtClean="0">
                          <a:solidFill>
                            <a:srgbClr val="000000"/>
                          </a:solidFill>
                        </a:rPr>
                        <a:t>embeddings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instance of a word in a corpus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word in the context of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 a corpus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vocabulary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part-of-speech tagging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sentence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part-of-speech tags for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all possible part-of-speech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tag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sequences with same length as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P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baseline="30000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baseline="3000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baseline="30000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endParaRPr lang="en-US" baseline="30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480" y="1215729"/>
            <a:ext cx="203200" cy="241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560" y="1209718"/>
            <a:ext cx="2032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6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Applications of Classifier Framework (continued)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928112"/>
              </p:ext>
            </p:extLst>
          </p:nvPr>
        </p:nvGraphicFramePr>
        <p:xfrm>
          <a:off x="132080" y="1071880"/>
          <a:ext cx="8717280" cy="4323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71600"/>
                <a:gridCol w="2153920"/>
                <a:gridCol w="2407920"/>
                <a:gridCol w="1442720"/>
              </a:tblGrid>
              <a:tr h="53234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task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input (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output (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output space (     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size of</a:t>
                      </a:r>
                      <a:endParaRPr lang="en-US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05298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named entity recognition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sentence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named entity labels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</a:t>
                      </a:r>
                      <a:r>
                        <a:rPr lang="en-US" i="1" baseline="0" dirty="0" smtClean="0">
                          <a:solidFill>
                            <a:srgbClr val="000000"/>
                          </a:solidFill>
                        </a:rPr>
                        <a:t>x </a:t>
                      </a:r>
                      <a:r>
                        <a:rPr lang="en-US" i="0" baseline="0" dirty="0" smtClean="0">
                          <a:solidFill>
                            <a:srgbClr val="000000"/>
                          </a:solidFill>
                        </a:rPr>
                        <a:t>(BIO tags)</a:t>
                      </a:r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all possible BIO label sequences with same length as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P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baseline="30000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baseline="3000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baseline="30000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endParaRPr lang="en-US" baseline="30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8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constituent parsing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sentence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constituent parse (labeled bracketing) of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 smtClean="0">
                          <a:solidFill>
                            <a:srgbClr val="000000"/>
                          </a:solidFill>
                        </a:rPr>
                        <a:t>all</a:t>
                      </a:r>
                      <a:r>
                        <a:rPr lang="en-US" i="0" baseline="0" dirty="0" smtClean="0">
                          <a:solidFill>
                            <a:srgbClr val="000000"/>
                          </a:solidFill>
                        </a:rPr>
                        <a:t> possible labeled </a:t>
                      </a:r>
                      <a:r>
                        <a:rPr lang="en-US" i="0" baseline="0" dirty="0" err="1" smtClean="0">
                          <a:solidFill>
                            <a:srgbClr val="000000"/>
                          </a:solidFill>
                        </a:rPr>
                        <a:t>bracketings</a:t>
                      </a:r>
                      <a:r>
                        <a:rPr lang="en-US" i="0" baseline="0" dirty="0" smtClean="0">
                          <a:solidFill>
                            <a:srgbClr val="000000"/>
                          </a:solidFill>
                        </a:rPr>
                        <a:t> of </a:t>
                      </a:r>
                      <a:r>
                        <a:rPr lang="en-US" i="1" baseline="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exponential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in length of </a:t>
                      </a:r>
                      <a:r>
                        <a:rPr lang="en-US" i="1" baseline="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 smtClean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(Catalan number)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8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dependency parsing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sentence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dependency parse (labeled directed spanning tree) of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all possible labeled directed spanning trees of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exponential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in length of </a:t>
                      </a:r>
                      <a:r>
                        <a:rPr lang="en-US" i="1" baseline="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840" y="1215729"/>
            <a:ext cx="203200" cy="241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560" y="1209718"/>
            <a:ext cx="2032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5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5760"/>
            <a:ext cx="8229600" cy="5760404"/>
          </a:xfrm>
        </p:spPr>
        <p:txBody>
          <a:bodyPr>
            <a:normAutofit/>
          </a:bodyPr>
          <a:lstStyle/>
          <a:p>
            <a:r>
              <a:rPr lang="en-US" dirty="0" smtClean="0"/>
              <a:t>each application draws from particular linguistic concepts and must address different kinds of linguistic ambiguity/variability:</a:t>
            </a:r>
          </a:p>
          <a:p>
            <a:pPr lvl="1"/>
            <a:r>
              <a:rPr lang="en-US" b="1" dirty="0" smtClean="0"/>
              <a:t>word sense</a:t>
            </a:r>
            <a:r>
              <a:rPr lang="en-US" dirty="0" smtClean="0"/>
              <a:t>: sense granularity, relationships among senses, word sense ambiguity</a:t>
            </a:r>
          </a:p>
          <a:p>
            <a:pPr lvl="1"/>
            <a:r>
              <a:rPr lang="en-US" b="1" dirty="0" smtClean="0"/>
              <a:t>word vectors</a:t>
            </a:r>
            <a:r>
              <a:rPr lang="en-US" dirty="0" smtClean="0"/>
              <a:t>: distributional properties, sense </a:t>
            </a:r>
            <a:r>
              <a:rPr lang="en-US" dirty="0" smtClean="0"/>
              <a:t>ambiguity, different kinds of similarity</a:t>
            </a:r>
            <a:endParaRPr lang="en-US" dirty="0" smtClean="0"/>
          </a:p>
          <a:p>
            <a:pPr lvl="1"/>
            <a:r>
              <a:rPr lang="en-US" b="1" dirty="0" smtClean="0"/>
              <a:t>part-of-speech</a:t>
            </a:r>
            <a:r>
              <a:rPr lang="en-US" dirty="0" smtClean="0"/>
              <a:t>: tag granularity, tag ambiguity</a:t>
            </a:r>
          </a:p>
          <a:p>
            <a:pPr lvl="1"/>
            <a:r>
              <a:rPr lang="en-US" b="1" dirty="0" smtClean="0"/>
              <a:t>parsing</a:t>
            </a:r>
            <a:r>
              <a:rPr lang="en-US" dirty="0" smtClean="0"/>
              <a:t>: constituent/dependency relationships, attachment &amp; coordination ambiguities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5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4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60"/>
            <a:ext cx="8229600" cy="619760"/>
          </a:xfrm>
        </p:spPr>
        <p:txBody>
          <a:bodyPr>
            <a:noAutofit/>
          </a:bodyPr>
          <a:lstStyle/>
          <a:p>
            <a:r>
              <a:rPr lang="en-US" sz="3600" dirty="0" smtClean="0"/>
              <a:t>model families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26160"/>
            <a:ext cx="8991600" cy="573659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linear </a:t>
            </a:r>
            <a:r>
              <a:rPr lang="en-US" dirty="0" smtClean="0"/>
              <a:t>models</a:t>
            </a:r>
          </a:p>
          <a:p>
            <a:pPr lvl="1"/>
            <a:r>
              <a:rPr lang="en-US" dirty="0" smtClean="0"/>
              <a:t>lots of freedom in defining features, though </a:t>
            </a:r>
            <a:r>
              <a:rPr lang="en-US" dirty="0" smtClean="0"/>
              <a:t>feature </a:t>
            </a:r>
            <a:r>
              <a:rPr lang="en-US" dirty="0" smtClean="0"/>
              <a:t>engineering required for best performance</a:t>
            </a:r>
          </a:p>
          <a:p>
            <a:pPr lvl="1"/>
            <a:r>
              <a:rPr lang="en-US" dirty="0" smtClean="0"/>
              <a:t>learning uses optimization of a loss function</a:t>
            </a:r>
          </a:p>
          <a:p>
            <a:pPr lvl="1"/>
            <a:r>
              <a:rPr lang="en-US" dirty="0" smtClean="0"/>
              <a:t>one can (try to) interpret learned feature weights</a:t>
            </a:r>
            <a:endParaRPr lang="en-US" dirty="0"/>
          </a:p>
          <a:p>
            <a:r>
              <a:rPr lang="en-US" dirty="0"/>
              <a:t>stochastic/generative models</a:t>
            </a:r>
          </a:p>
          <a:p>
            <a:pPr lvl="1"/>
            <a:r>
              <a:rPr lang="en-US" dirty="0"/>
              <a:t>linear models with simple “features” (counts of events)</a:t>
            </a:r>
          </a:p>
          <a:p>
            <a:pPr lvl="1"/>
            <a:r>
              <a:rPr lang="en-US" dirty="0"/>
              <a:t>learning is easy: count &amp; normalize (but smoothing needed)</a:t>
            </a:r>
          </a:p>
          <a:p>
            <a:pPr lvl="1"/>
            <a:r>
              <a:rPr lang="en-US" dirty="0"/>
              <a:t>easy to generate samples</a:t>
            </a:r>
          </a:p>
          <a:p>
            <a:r>
              <a:rPr lang="en-US" dirty="0" smtClean="0"/>
              <a:t>neural </a:t>
            </a:r>
            <a:r>
              <a:rPr lang="en-US" dirty="0" smtClean="0"/>
              <a:t>networks</a:t>
            </a:r>
          </a:p>
          <a:p>
            <a:pPr lvl="1"/>
            <a:r>
              <a:rPr lang="en-US" dirty="0" smtClean="0"/>
              <a:t>can usually get away with less feature engineering</a:t>
            </a:r>
          </a:p>
          <a:p>
            <a:pPr lvl="1"/>
            <a:r>
              <a:rPr lang="en-US" dirty="0" smtClean="0"/>
              <a:t>learning uses optimization of a loss function</a:t>
            </a:r>
          </a:p>
          <a:p>
            <a:pPr lvl="1"/>
            <a:r>
              <a:rPr lang="en-US" dirty="0" smtClean="0"/>
              <a:t>hard to interpret (though we try!), but often works best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7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special case of linear models: </a:t>
            </a:r>
            <a:br>
              <a:rPr lang="en-US" sz="3600" dirty="0" smtClean="0"/>
            </a:br>
            <a:r>
              <a:rPr lang="en-US" sz="3600" dirty="0" smtClean="0"/>
              <a:t>stochastic/generative </a:t>
            </a:r>
            <a:r>
              <a:rPr lang="en-US" sz="3600" dirty="0" smtClean="0"/>
              <a:t>models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411506"/>
              </p:ext>
            </p:extLst>
          </p:nvPr>
        </p:nvGraphicFramePr>
        <p:xfrm>
          <a:off x="132080" y="1071880"/>
          <a:ext cx="8859521" cy="3020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764"/>
                <a:gridCol w="2707945"/>
                <a:gridCol w="3615812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model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tasks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context expansion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-gram language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models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language modeling (for MT, ASR, etc.)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increase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n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hidden Markov models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part-of-speech tagging, named entity recognition,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word clustering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 smtClean="0">
                          <a:solidFill>
                            <a:srgbClr val="000000"/>
                          </a:solidFill>
                        </a:rPr>
                        <a:t>increase order of HMM (e.g., bigram HMM </a:t>
                      </a:r>
                      <a:r>
                        <a:rPr lang="en-US" i="0" dirty="0" smtClean="0">
                          <a:solidFill>
                            <a:srgbClr val="000000"/>
                          </a:solidFill>
                          <a:sym typeface="Wingdings"/>
                        </a:rPr>
                        <a:t> </a:t>
                      </a:r>
                      <a:r>
                        <a:rPr lang="en-US" i="0" dirty="0" smtClean="0">
                          <a:solidFill>
                            <a:srgbClr val="000000"/>
                          </a:solidFill>
                        </a:rPr>
                        <a:t>trigram</a:t>
                      </a:r>
                      <a:r>
                        <a:rPr lang="en-US" i="0" baseline="0" dirty="0" smtClean="0">
                          <a:solidFill>
                            <a:srgbClr val="000000"/>
                          </a:solidFill>
                        </a:rPr>
                        <a:t> HMM)</a:t>
                      </a:r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probabilistic context-free grammars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constituent parsing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increase size of rules, e.g., flattening, parent annotation, etc.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14961" y="4307840"/>
            <a:ext cx="82092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 smtClean="0"/>
              <a:t>all use MLE + smoothing (though probably different kinds of smoothing)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all assign probability to sentences (some assign probability jointly to pairs of &lt;sentence, something else&gt;)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all have the same trade-off of increasing “context” (feature size) and needing more data / better smoothing</a:t>
            </a:r>
          </a:p>
          <a:p>
            <a:pPr marL="342900" indent="-342900">
              <a:buFont typeface="Arial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022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5731"/>
            <a:ext cx="8229600" cy="5052424"/>
          </a:xfrm>
        </p:spPr>
        <p:txBody>
          <a:bodyPr/>
          <a:lstStyle/>
          <a:p>
            <a:r>
              <a:rPr lang="en-US" dirty="0" smtClean="0"/>
              <a:t>Two features: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where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>
                <a:solidFill>
                  <a:schemeClr val="bg1"/>
                </a:solidFill>
              </a:rPr>
              <a:t>What should the weights be?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417498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980" y="3555637"/>
            <a:ext cx="42164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108724"/>
            <a:ext cx="37973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4231"/>
            <a:ext cx="8229600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unigram binary template: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bigram binary template: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trigram </a:t>
            </a:r>
            <a:r>
              <a:rPr lang="en-US" dirty="0"/>
              <a:t>binary </a:t>
            </a:r>
            <a:r>
              <a:rPr lang="en-US" dirty="0" smtClean="0"/>
              <a:t>features</a:t>
            </a:r>
          </a:p>
          <a:p>
            <a:pPr marL="0" indent="0">
              <a:buNone/>
            </a:pPr>
            <a:r>
              <a:rPr lang="en-US" dirty="0" smtClean="0"/>
              <a:t>      …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1778000"/>
            <a:ext cx="5930900" cy="3683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895600"/>
            <a:ext cx="7226300" cy="3683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Higher-Order Binary Feature Templates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4355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Unigram </a:t>
            </a:r>
            <a:r>
              <a:rPr lang="en-US" sz="3600" b="1" dirty="0" smtClean="0">
                <a:solidFill>
                  <a:srgbClr val="000000"/>
                </a:solidFill>
              </a:rPr>
              <a:t>Count </a:t>
            </a:r>
            <a:r>
              <a:rPr lang="en-US" sz="3600" dirty="0" smtClean="0"/>
              <a:t>Features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631"/>
            <a:ext cx="8229600" cy="5052424"/>
          </a:xfrm>
        </p:spPr>
        <p:txBody>
          <a:bodyPr/>
          <a:lstStyle/>
          <a:p>
            <a:r>
              <a:rPr lang="en-US" dirty="0" smtClean="0"/>
              <a:t>a ``count’’ feature returns the count of a particular word in the text</a:t>
            </a:r>
          </a:p>
          <a:p>
            <a:r>
              <a:rPr lang="en-US" dirty="0" smtClean="0"/>
              <a:t>unigram count feature template: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2971800"/>
            <a:ext cx="65151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1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 Count Cutoffs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roblem: some features are extremely rare</a:t>
            </a:r>
          </a:p>
          <a:p>
            <a:r>
              <a:rPr lang="en-US" dirty="0"/>
              <a:t>s</a:t>
            </a:r>
            <a:r>
              <a:rPr lang="en-US" dirty="0" smtClean="0"/>
              <a:t>olution: only keep features that appear at least </a:t>
            </a:r>
            <a:r>
              <a:rPr lang="en-US" i="1" dirty="0" smtClean="0"/>
              <a:t>k</a:t>
            </a:r>
            <a:r>
              <a:rPr lang="en-US" dirty="0" smtClean="0"/>
              <a:t> times in the training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2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58"/>
            <a:ext cx="8229600" cy="726831"/>
          </a:xfrm>
        </p:spPr>
        <p:txBody>
          <a:bodyPr>
            <a:noAutofit/>
          </a:bodyPr>
          <a:lstStyle/>
          <a:p>
            <a:r>
              <a:rPr lang="en-US" sz="3600" dirty="0" smtClean="0"/>
              <a:t>2-transformation (1-layer) network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821"/>
            <a:ext cx="8229600" cy="2907609"/>
          </a:xfrm>
        </p:spPr>
        <p:txBody>
          <a:bodyPr>
            <a:normAutofit/>
          </a:bodyPr>
          <a:lstStyle/>
          <a:p>
            <a:r>
              <a:rPr lang="en-US" dirty="0" smtClean="0"/>
              <a:t>we’ll call this a “2-transformation” neural network, or a “1-layer” neural network</a:t>
            </a:r>
          </a:p>
          <a:p>
            <a:r>
              <a:rPr lang="en-US" dirty="0" smtClean="0"/>
              <a:t>input vector is </a:t>
            </a:r>
          </a:p>
          <a:p>
            <a:r>
              <a:rPr lang="en-US" dirty="0" smtClean="0"/>
              <a:t>score vector is</a:t>
            </a:r>
          </a:p>
          <a:p>
            <a:r>
              <a:rPr lang="en-US" dirty="0" smtClean="0"/>
              <a:t>one hidden vector           (“hidden layer”)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78000" y="2821837"/>
            <a:ext cx="2171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vector of label scores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120" y="4631466"/>
            <a:ext cx="273050" cy="22993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653075"/>
            <a:ext cx="4114800" cy="7493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610" y="867749"/>
            <a:ext cx="4178300" cy="7493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5213028"/>
            <a:ext cx="229870" cy="245195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V="1">
            <a:off x="2225040" y="2213007"/>
            <a:ext cx="339090" cy="60883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640" y="5654040"/>
            <a:ext cx="6096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9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1</a:t>
            </a:r>
            <a:r>
              <a:rPr lang="en-US" sz="2800" dirty="0" smtClean="0"/>
              <a:t>-layer neural network for sentiment classification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" y="3235325"/>
            <a:ext cx="4597400" cy="977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40" y="1877865"/>
            <a:ext cx="4114800" cy="749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014265"/>
            <a:ext cx="4178300" cy="74930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1107440" y="2496662"/>
            <a:ext cx="45722" cy="94294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22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128016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 smtClean="0"/>
              <a:t>ikr</a:t>
            </a:r>
            <a:r>
              <a:rPr lang="en-US" dirty="0" smtClean="0"/>
              <a:t>  </a:t>
            </a:r>
            <a:r>
              <a:rPr lang="en-US" dirty="0" err="1" smtClean="0"/>
              <a:t>smh</a:t>
            </a:r>
            <a:r>
              <a:rPr lang="en-US" dirty="0" smtClean="0"/>
              <a:t>  he  asked  fir  </a:t>
            </a:r>
            <a:r>
              <a:rPr lang="en-US" dirty="0" err="1" smtClean="0"/>
              <a:t>yo</a:t>
            </a:r>
            <a:r>
              <a:rPr lang="en-US" dirty="0" smtClean="0"/>
              <a:t>  last  name  so  he  can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 smtClean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 smtClean="0">
                <a:solidFill>
                  <a:srgbClr val="288CD2"/>
                </a:solidFill>
              </a:rPr>
              <a:t>intj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adj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other                     verb    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det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noun               pronoun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Neural Networks for Twitter Part-of-Speech Tagging</a:t>
            </a:r>
            <a:endParaRPr lang="en-US" sz="3200" dirty="0"/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rame 1"/>
          <p:cNvSpPr/>
          <p:nvPr/>
        </p:nvSpPr>
        <p:spPr>
          <a:xfrm>
            <a:off x="4216400" y="685800"/>
            <a:ext cx="721360" cy="1498600"/>
          </a:xfrm>
          <a:prstGeom prst="frame">
            <a:avLst>
              <a:gd name="adj1" fmla="val 40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20" y="59944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5283200" y="68580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/>
          <p:cNvSpPr/>
          <p:nvPr/>
        </p:nvSpPr>
        <p:spPr>
          <a:xfrm rot="16200000">
            <a:off x="4364917" y="2840917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870960" y="3778488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last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28" name="Left Brace 27"/>
          <p:cNvSpPr/>
          <p:nvPr/>
        </p:nvSpPr>
        <p:spPr>
          <a:xfrm rot="16200000">
            <a:off x="2922197" y="2830757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392243" y="3768328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513080" y="2223770"/>
            <a:ext cx="8229600" cy="2033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 smtClean="0"/>
              <a:t>let’s use the center word + two words to the right: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2862580"/>
            <a:ext cx="5257800" cy="368300"/>
          </a:xfrm>
          <a:prstGeom prst="rect">
            <a:avLst/>
          </a:prstGeom>
        </p:spPr>
      </p:pic>
      <p:sp>
        <p:nvSpPr>
          <p:cNvPr id="23" name="Left Brace 22"/>
          <p:cNvSpPr/>
          <p:nvPr/>
        </p:nvSpPr>
        <p:spPr>
          <a:xfrm rot="16200000">
            <a:off x="5877504" y="2795197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419107" y="3768328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name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513080" y="4354194"/>
            <a:ext cx="8229600" cy="183324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 smtClean="0"/>
              <a:t>if </a:t>
            </a:r>
            <a:r>
              <a:rPr lang="en-US" sz="2800" i="1" dirty="0" smtClean="0"/>
              <a:t>name</a:t>
            </a:r>
            <a:r>
              <a:rPr lang="en-US" sz="2800" dirty="0" smtClean="0"/>
              <a:t> is to the right of </a:t>
            </a:r>
            <a:r>
              <a:rPr lang="en-US" sz="2800" i="1" dirty="0" err="1" smtClean="0"/>
              <a:t>yo</a:t>
            </a:r>
            <a:r>
              <a:rPr lang="en-US" sz="2800" dirty="0" smtClean="0"/>
              <a:t>, then </a:t>
            </a:r>
            <a:r>
              <a:rPr lang="en-US" sz="2800" i="1" dirty="0" err="1" smtClean="0"/>
              <a:t>yo</a:t>
            </a:r>
            <a:r>
              <a:rPr lang="en-US" sz="2800" dirty="0" smtClean="0"/>
              <a:t> is probably a form of </a:t>
            </a:r>
            <a:r>
              <a:rPr lang="en-US" sz="2800" i="1" dirty="0" smtClean="0"/>
              <a:t>your</a:t>
            </a:r>
          </a:p>
          <a:p>
            <a:pPr>
              <a:lnSpc>
                <a:spcPct val="110000"/>
              </a:lnSpc>
            </a:pPr>
            <a:r>
              <a:rPr lang="en-US" sz="2800" dirty="0" smtClean="0"/>
              <a:t>but our </a:t>
            </a:r>
            <a:r>
              <a:rPr lang="en-US" sz="2800" b="1" i="1" dirty="0" smtClean="0"/>
              <a:t>x</a:t>
            </a:r>
            <a:r>
              <a:rPr lang="en-US" sz="2800" dirty="0" smtClean="0"/>
              <a:t> above uses separate dimensions for each position!</a:t>
            </a:r>
          </a:p>
          <a:p>
            <a:pPr lvl="1">
              <a:lnSpc>
                <a:spcPct val="110000"/>
              </a:lnSpc>
            </a:pPr>
            <a:r>
              <a:rPr lang="en-US" sz="2400" dirty="0" smtClean="0"/>
              <a:t>i.e., </a:t>
            </a:r>
            <a:r>
              <a:rPr lang="en-US" sz="2400" i="1" dirty="0" smtClean="0"/>
              <a:t>name </a:t>
            </a:r>
            <a:r>
              <a:rPr lang="en-US" sz="2400" dirty="0" smtClean="0"/>
              <a:t>is two words to the right</a:t>
            </a:r>
          </a:p>
          <a:p>
            <a:pPr lvl="1">
              <a:lnSpc>
                <a:spcPct val="110000"/>
              </a:lnSpc>
            </a:pPr>
            <a:r>
              <a:rPr lang="en-US" sz="2400" dirty="0" smtClean="0"/>
              <a:t>what if </a:t>
            </a:r>
            <a:r>
              <a:rPr lang="en-US" sz="2400" i="1" dirty="0" smtClean="0"/>
              <a:t>name </a:t>
            </a:r>
            <a:r>
              <a:rPr lang="en-US" sz="2400" dirty="0" smtClean="0"/>
              <a:t>is one word to the right?  </a:t>
            </a:r>
          </a:p>
        </p:txBody>
      </p:sp>
    </p:spTree>
    <p:extLst>
      <p:ext uri="{BB962C8B-B14F-4D97-AF65-F5344CB8AC3E}">
        <p14:creationId xmlns:p14="http://schemas.microsoft.com/office/powerpoint/2010/main" val="42616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64917" y="254627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70960" y="3483846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last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9" name="Left Brace 8"/>
          <p:cNvSpPr/>
          <p:nvPr/>
        </p:nvSpPr>
        <p:spPr>
          <a:xfrm rot="16200000">
            <a:off x="2922197" y="253611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92243" y="3473686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2567938"/>
            <a:ext cx="5257800" cy="368300"/>
          </a:xfrm>
          <a:prstGeom prst="rect">
            <a:avLst/>
          </a:prstGeom>
        </p:spPr>
      </p:pic>
      <p:sp>
        <p:nvSpPr>
          <p:cNvPr id="12" name="Left Brace 11"/>
          <p:cNvSpPr/>
          <p:nvPr/>
        </p:nvSpPr>
        <p:spPr>
          <a:xfrm rot="16200000">
            <a:off x="5877504" y="2500555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19107" y="3473686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name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345" y="4777740"/>
            <a:ext cx="2222500" cy="21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6" y="117602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306" y="1037826"/>
            <a:ext cx="80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= “feature map”, has an entry for each word position in context window / sentence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660" y="4363720"/>
            <a:ext cx="2095500" cy="2159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6314" y="4046220"/>
            <a:ext cx="16764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3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Pooling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64917" y="254627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70960" y="3483846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last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9" name="Left Brace 8"/>
          <p:cNvSpPr/>
          <p:nvPr/>
        </p:nvSpPr>
        <p:spPr>
          <a:xfrm rot="16200000">
            <a:off x="2922197" y="253611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92243" y="3473686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2567938"/>
            <a:ext cx="5257800" cy="368300"/>
          </a:xfrm>
          <a:prstGeom prst="rect">
            <a:avLst/>
          </a:prstGeom>
        </p:spPr>
      </p:pic>
      <p:sp>
        <p:nvSpPr>
          <p:cNvPr id="12" name="Left Brace 11"/>
          <p:cNvSpPr/>
          <p:nvPr/>
        </p:nvSpPr>
        <p:spPr>
          <a:xfrm rot="16200000">
            <a:off x="5877504" y="2500555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19107" y="3473686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name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345" y="4777740"/>
            <a:ext cx="2222500" cy="21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6" y="117602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306" y="1037826"/>
            <a:ext cx="80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= “feature map”, has an entry for each word position in context window / sentence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660" y="4363720"/>
            <a:ext cx="2095500" cy="2159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6314" y="4046220"/>
            <a:ext cx="1676400" cy="2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8006" y="1677906"/>
            <a:ext cx="7527071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</a:t>
            </a:r>
            <a:r>
              <a:rPr lang="en-US" sz="2800" dirty="0" smtClean="0"/>
              <a:t>ow do we convert this into a fixed-length vector?</a:t>
            </a:r>
          </a:p>
          <a:p>
            <a:r>
              <a:rPr lang="en-US" sz="2800" dirty="0" smtClean="0"/>
              <a:t>use </a:t>
            </a:r>
            <a:r>
              <a:rPr lang="en-US" sz="2800" b="1" dirty="0" smtClean="0">
                <a:solidFill>
                  <a:srgbClr val="288CD2"/>
                </a:solidFill>
              </a:rPr>
              <a:t>pooling</a:t>
            </a:r>
            <a:r>
              <a:rPr lang="en-US" sz="2800" dirty="0" smtClean="0"/>
              <a:t>: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max-pooling: returns maximum value in 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average</a:t>
            </a:r>
            <a:r>
              <a:rPr lang="en-US" sz="2800" dirty="0"/>
              <a:t> </a:t>
            </a:r>
            <a:r>
              <a:rPr lang="en-US" sz="2800" dirty="0" smtClean="0"/>
              <a:t>pooling: returns average of values in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471" y="2773676"/>
            <a:ext cx="177800" cy="1778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671" y="3190234"/>
            <a:ext cx="1778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7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Pooling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58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64917" y="254627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70960" y="3483846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last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9" name="Left Brace 8"/>
          <p:cNvSpPr/>
          <p:nvPr/>
        </p:nvSpPr>
        <p:spPr>
          <a:xfrm rot="16200000">
            <a:off x="2922197" y="253611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92243" y="3473686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2567938"/>
            <a:ext cx="5257800" cy="368300"/>
          </a:xfrm>
          <a:prstGeom prst="rect">
            <a:avLst/>
          </a:prstGeom>
        </p:spPr>
      </p:pic>
      <p:sp>
        <p:nvSpPr>
          <p:cNvPr id="12" name="Left Brace 11"/>
          <p:cNvSpPr/>
          <p:nvPr/>
        </p:nvSpPr>
        <p:spPr>
          <a:xfrm rot="16200000">
            <a:off x="5877504" y="2500555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19107" y="3473686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name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345" y="4777740"/>
            <a:ext cx="2222500" cy="21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6" y="117602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306" y="1037826"/>
            <a:ext cx="80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= “feature map”, has an entry for each word position in context window / sentence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660" y="4363720"/>
            <a:ext cx="2095500" cy="2159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6314" y="4046220"/>
            <a:ext cx="1676400" cy="2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8006" y="1677906"/>
            <a:ext cx="7527071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</a:t>
            </a:r>
            <a:r>
              <a:rPr lang="en-US" sz="2800" dirty="0" smtClean="0"/>
              <a:t>ow do we convert this into a fixed-length vector?</a:t>
            </a:r>
          </a:p>
          <a:p>
            <a:r>
              <a:rPr lang="en-US" sz="2800" dirty="0" smtClean="0"/>
              <a:t>use </a:t>
            </a:r>
            <a:r>
              <a:rPr lang="en-US" sz="2800" b="1" dirty="0" smtClean="0">
                <a:solidFill>
                  <a:srgbClr val="288CD2"/>
                </a:solidFill>
              </a:rPr>
              <a:t>pooling</a:t>
            </a:r>
            <a:r>
              <a:rPr lang="en-US" sz="2800" dirty="0" smtClean="0"/>
              <a:t>: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max-pooling: returns maximum value in 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average</a:t>
            </a:r>
            <a:r>
              <a:rPr lang="en-US" sz="2800" dirty="0"/>
              <a:t> </a:t>
            </a:r>
            <a:r>
              <a:rPr lang="en-US" sz="2800" dirty="0" smtClean="0"/>
              <a:t>pooling: returns average of values in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471" y="2773676"/>
            <a:ext cx="177800" cy="1778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671" y="3190234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6886" y="4344906"/>
            <a:ext cx="7525142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smtClean="0"/>
              <a:t>then, this single filter       produces a single feature </a:t>
            </a:r>
          </a:p>
          <a:p>
            <a:r>
              <a:rPr lang="en-US" sz="2800" dirty="0" smtClean="0"/>
              <a:t>value (the output of some kind of pooling).</a:t>
            </a:r>
          </a:p>
          <a:p>
            <a:r>
              <a:rPr lang="en-US" sz="2800" dirty="0" smtClean="0"/>
              <a:t>in practice, we use many filters of many different </a:t>
            </a:r>
          </a:p>
          <a:p>
            <a:r>
              <a:rPr lang="en-US" sz="2800" dirty="0" smtClean="0"/>
              <a:t>lengths (e.g., </a:t>
            </a:r>
            <a:r>
              <a:rPr lang="en-US" sz="2800" i="1" dirty="0" smtClean="0"/>
              <a:t>n</a:t>
            </a:r>
            <a:r>
              <a:rPr lang="en-US" sz="2800" dirty="0" smtClean="0"/>
              <a:t>-grams rather than words).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2080" y="4566786"/>
            <a:ext cx="334010" cy="21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8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Convolutional Neural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512386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convolutional neural networks (</a:t>
            </a:r>
            <a:r>
              <a:rPr lang="en-US" b="1" dirty="0" err="1" smtClean="0">
                <a:solidFill>
                  <a:srgbClr val="288CD2"/>
                </a:solidFill>
              </a:rPr>
              <a:t>convnets</a:t>
            </a:r>
            <a:r>
              <a:rPr lang="en-US" b="1" dirty="0" smtClean="0">
                <a:solidFill>
                  <a:srgbClr val="288CD2"/>
                </a:solidFill>
              </a:rPr>
              <a:t> </a:t>
            </a:r>
            <a:r>
              <a:rPr lang="en-US" dirty="0" smtClean="0"/>
              <a:t>or </a:t>
            </a:r>
            <a:r>
              <a:rPr lang="en-US" b="1" dirty="0" smtClean="0">
                <a:solidFill>
                  <a:srgbClr val="288CD2"/>
                </a:solidFill>
              </a:rPr>
              <a:t>CNNs</a:t>
            </a:r>
            <a:r>
              <a:rPr lang="en-US" dirty="0" smtClean="0"/>
              <a:t>) use filters that are “convolved with” (matched against all positions of) the input</a:t>
            </a:r>
          </a:p>
          <a:p>
            <a:r>
              <a:rPr lang="en-US" dirty="0" smtClean="0"/>
              <a:t>think </a:t>
            </a:r>
            <a:r>
              <a:rPr lang="en-US" dirty="0" smtClean="0"/>
              <a:t>of convolution as “perform the same operation everywhere on the input in some systematic order”</a:t>
            </a:r>
          </a:p>
          <a:p>
            <a:r>
              <a:rPr lang="en-US" dirty="0" smtClean="0"/>
              <a:t>“convolutional layer” = set of filters that are convolved with the input vector (whether </a:t>
            </a:r>
            <a:r>
              <a:rPr lang="en-US" b="1" i="1" dirty="0" smtClean="0"/>
              <a:t>x</a:t>
            </a:r>
            <a:r>
              <a:rPr lang="en-US" dirty="0" smtClean="0"/>
              <a:t> or hidden vector)</a:t>
            </a:r>
          </a:p>
          <a:p>
            <a:r>
              <a:rPr lang="en-US" dirty="0" smtClean="0"/>
              <a:t>could be followed by more convolutional layers, or by a type of pooling</a:t>
            </a:r>
          </a:p>
          <a:p>
            <a:r>
              <a:rPr lang="en-US" dirty="0" smtClean="0"/>
              <a:t>often used in NLP to convert a sentence into a feature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7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Recurrent Neural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59986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59062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60448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404205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404205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75490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657760"/>
            <a:ext cx="2309" cy="9421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74566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648524"/>
            <a:ext cx="2310" cy="9421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7572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660069"/>
            <a:ext cx="3" cy="9444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2103578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2092031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2090877"/>
            <a:ext cx="558800" cy="2159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9872" y="3888505"/>
            <a:ext cx="546100" cy="3048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9964" y="3889659"/>
            <a:ext cx="546100" cy="2794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0" y="3912750"/>
            <a:ext cx="254000" cy="27940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7324" y="1036781"/>
            <a:ext cx="5372100" cy="558800"/>
          </a:xfrm>
          <a:prstGeom prst="rect">
            <a:avLst/>
          </a:prstGeom>
        </p:spPr>
      </p:pic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0" y="3744642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784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Autofit/>
          </a:bodyPr>
          <a:lstStyle/>
          <a:p>
            <a:r>
              <a:rPr lang="en-US" sz="2400" dirty="0" smtClean="0"/>
              <a:t>Long Short-Term Memory (LSTM) Recurrent Neural Networks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63698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62774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6416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89911" y="411480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04856" y="410556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42892" y="41078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2575300">
            <a:off x="3385128" y="434802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5153892" y="433878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32728" y="343362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70765" y="343593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1900" y="934712"/>
            <a:ext cx="6667500" cy="55880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638" y="4004536"/>
            <a:ext cx="20320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5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Backward &amp; Bidirectional LSTMs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4151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40588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4197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6" idx="2"/>
            <a:endCxn id="5" idx="6"/>
          </p:cNvCxnSpPr>
          <p:nvPr/>
        </p:nvCxnSpPr>
        <p:spPr bwMode="auto">
          <a:xfrm flipH="1">
            <a:off x="3198094" y="385731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7" idx="2"/>
            <a:endCxn id="6" idx="6"/>
          </p:cNvCxnSpPr>
          <p:nvPr/>
        </p:nvCxnSpPr>
        <p:spPr bwMode="auto">
          <a:xfrm flipH="1" flipV="1">
            <a:off x="5036129" y="385731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9165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81936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9072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81013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91882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82167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226518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225364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225248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9183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9091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9229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33" idx="2"/>
            <a:endCxn id="5" idx="5"/>
          </p:cNvCxnSpPr>
          <p:nvPr/>
        </p:nvCxnSpPr>
        <p:spPr bwMode="auto">
          <a:xfrm flipH="1" flipV="1">
            <a:off x="3065874" y="4185762"/>
            <a:ext cx="1069706" cy="117478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4" idx="2"/>
            <a:endCxn id="6" idx="5"/>
          </p:cNvCxnSpPr>
          <p:nvPr/>
        </p:nvCxnSpPr>
        <p:spPr bwMode="auto">
          <a:xfrm flipH="1" flipV="1">
            <a:off x="4903909" y="4176525"/>
            <a:ext cx="1058160" cy="119787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431798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430874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432260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520699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520815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523124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77765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78805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76611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98333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97409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98795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89911" y="446115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04856" y="445191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42892" y="445422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8134411">
            <a:off x="3258127" y="472900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8239212">
            <a:off x="5130802" y="477749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32728" y="377997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70765" y="378228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334818" y="696734"/>
            <a:ext cx="8555182" cy="1107996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bidirectional: </a:t>
            </a:r>
          </a:p>
          <a:p>
            <a:pPr lvl="1" eaLnBrk="1" hangingPunct="1"/>
            <a:r>
              <a:rPr lang="en-US" sz="2000" i="0" dirty="0" smtClean="0">
                <a:latin typeface="Calibri"/>
                <a:cs typeface="Calibri"/>
              </a:rPr>
              <a:t>if shallow, just use forward and backward LSTMs in parallel, concatenate </a:t>
            </a:r>
          </a:p>
          <a:p>
            <a:pPr lvl="1" eaLnBrk="1" hangingPunct="1"/>
            <a:r>
              <a:rPr lang="en-US" sz="2000" i="0" dirty="0" smtClean="0">
                <a:latin typeface="Calibri"/>
                <a:cs typeface="Calibri"/>
              </a:rPr>
              <a:t>final two hidden vectors, feed to </a:t>
            </a:r>
            <a:r>
              <a:rPr lang="en-US" sz="2000" i="0" dirty="0" err="1" smtClean="0">
                <a:latin typeface="Calibri"/>
                <a:cs typeface="Calibri"/>
              </a:rPr>
              <a:t>softmax</a:t>
            </a:r>
            <a:endParaRPr lang="en-US" sz="1600" i="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718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87745"/>
            <a:ext cx="2193635" cy="1182256"/>
          </a:xfrm>
        </p:spPr>
        <p:txBody>
          <a:bodyPr/>
          <a:lstStyle/>
          <a:p>
            <a:r>
              <a:rPr lang="en-US" sz="3200" dirty="0" smtClean="0"/>
              <a:t>Deep LSTM</a:t>
            </a:r>
            <a:br>
              <a:rPr lang="en-US" sz="3200" dirty="0" smtClean="0"/>
            </a:br>
            <a:r>
              <a:rPr lang="en-US" sz="3200" dirty="0" smtClean="0"/>
              <a:t>(2-layer)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318339" y="1602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56374" y="1593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82863" y="1607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221197" y="2044700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59232" y="2044700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320648" y="21934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69768" y="1122203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58684" y="21010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607803" y="1112967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82866" y="2216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34292" y="1124512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493" y="568021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521" y="556474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430" y="555320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320648" y="29902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58683" y="298105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85172" y="29949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23506" y="2363909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61541" y="2377764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69768" y="2505366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607803" y="2496129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34292" y="25099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tangle 35"/>
          <p:cNvSpPr/>
          <p:nvPr/>
        </p:nvSpPr>
        <p:spPr>
          <a:xfrm>
            <a:off x="2413014" y="122844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27959" y="121920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65995" y="12330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413014" y="259081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27959" y="25815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65995" y="2583885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2575300">
            <a:off x="3408231" y="288175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5176995" y="287251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55831" y="1967356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93868" y="1969667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2320648" y="43757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4158683" y="436648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985172" y="438034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2" name="Straight Arrow Connector 61"/>
          <p:cNvCxnSpPr>
            <a:stCxn id="59" idx="6"/>
            <a:endCxn id="60" idx="2"/>
          </p:cNvCxnSpPr>
          <p:nvPr/>
        </p:nvCxnSpPr>
        <p:spPr bwMode="auto">
          <a:xfrm flipV="1">
            <a:off x="3223506" y="4817918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Straight Arrow Connector 62"/>
          <p:cNvCxnSpPr>
            <a:stCxn id="60" idx="6"/>
            <a:endCxn id="61" idx="2"/>
          </p:cNvCxnSpPr>
          <p:nvPr/>
        </p:nvCxnSpPr>
        <p:spPr bwMode="auto">
          <a:xfrm>
            <a:off x="5061541" y="4817918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/>
          <p:cNvCxnSpPr>
            <a:endCxn id="59" idx="0"/>
          </p:cNvCxnSpPr>
          <p:nvPr/>
        </p:nvCxnSpPr>
        <p:spPr bwMode="auto">
          <a:xfrm flipH="1">
            <a:off x="2772077" y="3895421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Arrow Connector 64"/>
          <p:cNvCxnSpPr>
            <a:endCxn id="60" idx="0"/>
          </p:cNvCxnSpPr>
          <p:nvPr/>
        </p:nvCxnSpPr>
        <p:spPr bwMode="auto">
          <a:xfrm flipH="1">
            <a:off x="4610112" y="3886185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>
            <a:endCxn id="61" idx="0"/>
          </p:cNvCxnSpPr>
          <p:nvPr/>
        </p:nvCxnSpPr>
        <p:spPr bwMode="auto">
          <a:xfrm flipH="1">
            <a:off x="6436601" y="3897730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Oval 66"/>
          <p:cNvSpPr/>
          <p:nvPr/>
        </p:nvSpPr>
        <p:spPr>
          <a:xfrm>
            <a:off x="2322957" y="5763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4160992" y="5754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5987481" y="5768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70" name="Straight Arrow Connector 69"/>
          <p:cNvCxnSpPr>
            <a:stCxn id="67" idx="6"/>
            <a:endCxn id="60" idx="3"/>
          </p:cNvCxnSpPr>
          <p:nvPr/>
        </p:nvCxnSpPr>
        <p:spPr bwMode="auto">
          <a:xfrm flipV="1">
            <a:off x="3225815" y="5137127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Arrow Connector 70"/>
          <p:cNvCxnSpPr>
            <a:stCxn id="68" idx="6"/>
            <a:endCxn id="61" idx="3"/>
          </p:cNvCxnSpPr>
          <p:nvPr/>
        </p:nvCxnSpPr>
        <p:spPr bwMode="auto">
          <a:xfrm flipV="1">
            <a:off x="5063850" y="5150982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Arrow Connector 71"/>
          <p:cNvCxnSpPr>
            <a:stCxn id="59" idx="4"/>
            <a:endCxn id="67" idx="0"/>
          </p:cNvCxnSpPr>
          <p:nvPr/>
        </p:nvCxnSpPr>
        <p:spPr bwMode="auto">
          <a:xfrm>
            <a:off x="2772077" y="52785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Arrow Connector 72"/>
          <p:cNvCxnSpPr>
            <a:stCxn id="60" idx="4"/>
            <a:endCxn id="68" idx="0"/>
          </p:cNvCxnSpPr>
          <p:nvPr/>
        </p:nvCxnSpPr>
        <p:spPr bwMode="auto">
          <a:xfrm>
            <a:off x="4610112" y="5269347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Arrow Connector 73"/>
          <p:cNvCxnSpPr>
            <a:stCxn id="61" idx="4"/>
            <a:endCxn id="69" idx="0"/>
          </p:cNvCxnSpPr>
          <p:nvPr/>
        </p:nvCxnSpPr>
        <p:spPr bwMode="auto">
          <a:xfrm>
            <a:off x="6436601" y="5283202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Rectangle 80"/>
          <p:cNvSpPr/>
          <p:nvPr/>
        </p:nvSpPr>
        <p:spPr>
          <a:xfrm>
            <a:off x="2415323" y="40016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230268" y="399242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068304" y="400628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415323" y="5364031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230268" y="535479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6068304" y="535710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7" name="Rectangle 86"/>
          <p:cNvSpPr/>
          <p:nvPr/>
        </p:nvSpPr>
        <p:spPr>
          <a:xfrm rot="2575300">
            <a:off x="3410540" y="565497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8" name="Rectangle 87"/>
          <p:cNvSpPr/>
          <p:nvPr/>
        </p:nvSpPr>
        <p:spPr>
          <a:xfrm rot="2575300">
            <a:off x="5179304" y="564573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9" name="Rectangle 88"/>
          <p:cNvSpPr/>
          <p:nvPr/>
        </p:nvSpPr>
        <p:spPr>
          <a:xfrm rot="5400000">
            <a:off x="3258140" y="4740574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0" name="Rectangle 89"/>
          <p:cNvSpPr/>
          <p:nvPr/>
        </p:nvSpPr>
        <p:spPr>
          <a:xfrm rot="5400000">
            <a:off x="5096177" y="4742885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209" y="1854197"/>
            <a:ext cx="520700" cy="355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818" y="1841500"/>
            <a:ext cx="508000" cy="381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6817" y="4577773"/>
            <a:ext cx="508000" cy="381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4209" y="4625109"/>
            <a:ext cx="520700" cy="355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9636" y="4636654"/>
            <a:ext cx="241300" cy="355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9246" y="1865744"/>
            <a:ext cx="228600" cy="355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8482" y="3274291"/>
            <a:ext cx="266700" cy="3556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6936" y="6045200"/>
            <a:ext cx="279400" cy="3556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4600" y="6033655"/>
            <a:ext cx="546100" cy="3556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6056" y="6032500"/>
            <a:ext cx="546100" cy="3810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0691" y="3238500"/>
            <a:ext cx="546100" cy="3810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4600" y="3262745"/>
            <a:ext cx="546100" cy="355600"/>
          </a:xfrm>
          <a:prstGeom prst="rect">
            <a:avLst/>
          </a:prstGeom>
        </p:spPr>
      </p:pic>
      <p:sp>
        <p:nvSpPr>
          <p:cNvPr id="37" name="Left Brace 36"/>
          <p:cNvSpPr/>
          <p:nvPr/>
        </p:nvSpPr>
        <p:spPr bwMode="auto">
          <a:xfrm>
            <a:off x="1720273" y="1524000"/>
            <a:ext cx="484909" cy="2401454"/>
          </a:xfrm>
          <a:prstGeom prst="leftBrace">
            <a:avLst>
              <a:gd name="adj1" fmla="val 41666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1" name="Title 1"/>
          <p:cNvSpPr txBox="1">
            <a:spLocks/>
          </p:cNvSpPr>
          <p:nvPr/>
        </p:nvSpPr>
        <p:spPr bwMode="auto">
          <a:xfrm>
            <a:off x="221672" y="2389905"/>
            <a:ext cx="1521690" cy="61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3200" i="0" dirty="0" smtClean="0"/>
              <a:t>layer 1</a:t>
            </a:r>
            <a:endParaRPr lang="en-US" sz="3200" i="0" dirty="0"/>
          </a:p>
        </p:txBody>
      </p:sp>
      <p:sp>
        <p:nvSpPr>
          <p:cNvPr id="92" name="Title 1"/>
          <p:cNvSpPr txBox="1">
            <a:spLocks/>
          </p:cNvSpPr>
          <p:nvPr/>
        </p:nvSpPr>
        <p:spPr bwMode="auto">
          <a:xfrm>
            <a:off x="177800" y="5128484"/>
            <a:ext cx="1521690" cy="61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3200" i="0" dirty="0" smtClean="0"/>
              <a:t>layer 2</a:t>
            </a:r>
            <a:endParaRPr lang="en-US" sz="3200" i="0" dirty="0"/>
          </a:p>
        </p:txBody>
      </p:sp>
      <p:sp>
        <p:nvSpPr>
          <p:cNvPr id="93" name="Left Brace 92"/>
          <p:cNvSpPr/>
          <p:nvPr/>
        </p:nvSpPr>
        <p:spPr bwMode="auto">
          <a:xfrm>
            <a:off x="1711036" y="4285671"/>
            <a:ext cx="484909" cy="2401454"/>
          </a:xfrm>
          <a:prstGeom prst="leftBrace">
            <a:avLst>
              <a:gd name="adj1" fmla="val 41666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143232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Recursive Neural Networks for NLP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5489"/>
            <a:ext cx="8229600" cy="240699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first, run a constituent parser on the sentence</a:t>
            </a:r>
          </a:p>
          <a:p>
            <a:r>
              <a:rPr lang="en-US" dirty="0" smtClean="0"/>
              <a:t>convert the constituent tree to a binary tree (each rewrite has exactly two children)</a:t>
            </a:r>
          </a:p>
          <a:p>
            <a:r>
              <a:rPr lang="en-US" dirty="0" smtClean="0"/>
              <a:t>construct vector for sentence recursively at each rewrite (“split point”):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64</a:t>
            </a:fld>
            <a:endParaRPr lang="en-US"/>
          </a:p>
        </p:txBody>
      </p:sp>
      <p:pic>
        <p:nvPicPr>
          <p:cNvPr id="6" name="Picture 5" descr="Screen Shot 2016-02-10 at 11.22.1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040" y="3332480"/>
            <a:ext cx="6004560" cy="319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2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3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Cost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940"/>
            <a:ext cx="8229600" cy="5052424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288CD2"/>
                </a:solidFill>
              </a:rPr>
              <a:t>cost function</a:t>
            </a:r>
            <a:r>
              <a:rPr lang="en-US" sz="2400" dirty="0" smtClean="0"/>
              <a:t>: scores output against a gold standard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should reflect the evaluation metric for your task</a:t>
            </a:r>
          </a:p>
          <a:p>
            <a:endParaRPr lang="en-US" sz="2400" dirty="0" smtClean="0"/>
          </a:p>
          <a:p>
            <a:r>
              <a:rPr lang="en-US" sz="2400" dirty="0" smtClean="0"/>
              <a:t>usual conventions:</a:t>
            </a:r>
            <a:endParaRPr lang="en-US" sz="2400" dirty="0"/>
          </a:p>
          <a:p>
            <a:r>
              <a:rPr lang="en-US" sz="2400" dirty="0" smtClean="0">
                <a:solidFill>
                  <a:schemeClr val="bg1"/>
                </a:solidFill>
              </a:rPr>
              <a:t>for classification, what cost should we use?</a:t>
            </a:r>
          </a:p>
          <a:p>
            <a:r>
              <a:rPr lang="en-US" sz="2400" dirty="0"/>
              <a:t>for classification, what cost should we use</a:t>
            </a:r>
            <a:r>
              <a:rPr lang="en-US" sz="2400" dirty="0" smtClean="0"/>
              <a:t>?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1587500"/>
            <a:ext cx="2552700" cy="31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440" y="3219450"/>
            <a:ext cx="1752600" cy="317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300" y="3206750"/>
            <a:ext cx="2984500" cy="33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3220" y="4737100"/>
            <a:ext cx="27686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1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Empirical</a:t>
            </a:r>
            <a:r>
              <a:rPr lang="en-US" sz="3600" dirty="0" smtClean="0"/>
              <a:t> Risk Minimization</a:t>
            </a:r>
            <a:br>
              <a:rPr lang="en-US" sz="3600" dirty="0" smtClean="0"/>
            </a:br>
            <a:r>
              <a:rPr lang="en-US" sz="2700" dirty="0" smtClean="0"/>
              <a:t>(</a:t>
            </a:r>
            <a:r>
              <a:rPr lang="en-US" sz="2700" dirty="0" err="1" smtClean="0"/>
              <a:t>Vapnik</a:t>
            </a:r>
            <a:r>
              <a:rPr lang="en-US" sz="2700" dirty="0" smtClean="0"/>
              <a:t> et al.)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67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replace expectation with sum over examples: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" y="1943100"/>
            <a:ext cx="5537200" cy="5588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 bwMode="auto">
          <a:xfrm>
            <a:off x="3656851" y="2501900"/>
            <a:ext cx="0" cy="95798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3657600"/>
            <a:ext cx="53594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6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Empirical</a:t>
            </a:r>
            <a:r>
              <a:rPr lang="en-US" sz="3600" dirty="0" smtClean="0"/>
              <a:t> Risk Minimization</a:t>
            </a:r>
            <a:br>
              <a:rPr lang="en-US" sz="3600" dirty="0" smtClean="0"/>
            </a:br>
            <a:r>
              <a:rPr lang="en-US" sz="2700" dirty="0" smtClean="0"/>
              <a:t>(</a:t>
            </a:r>
            <a:r>
              <a:rPr lang="en-US" sz="2700" dirty="0" err="1" smtClean="0"/>
              <a:t>Vapnik</a:t>
            </a:r>
            <a:r>
              <a:rPr lang="en-US" sz="2700" dirty="0" smtClean="0"/>
              <a:t> et al.)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68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replace expectation with sum over examples: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" y="1943100"/>
            <a:ext cx="5537200" cy="5588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 bwMode="auto">
          <a:xfrm>
            <a:off x="3656851" y="2501900"/>
            <a:ext cx="0" cy="95798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3657600"/>
            <a:ext cx="5359400" cy="939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84300" y="4875867"/>
            <a:ext cx="6451600" cy="1077218"/>
          </a:xfrm>
          <a:prstGeom prst="rect">
            <a:avLst/>
          </a:prstGeom>
          <a:solidFill>
            <a:srgbClr val="BC0000"/>
          </a:solidFill>
          <a:ln w="3175" cmpd="sng">
            <a:solidFill>
              <a:srgbClr val="FFFFF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problem: NP-hard even for binary classification with linear models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9223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398"/>
            <a:ext cx="9144000" cy="726831"/>
          </a:xfrm>
        </p:spPr>
        <p:txBody>
          <a:bodyPr>
            <a:noAutofit/>
          </a:bodyPr>
          <a:lstStyle/>
          <a:p>
            <a:r>
              <a:rPr lang="en-US" sz="2800" dirty="0" smtClean="0"/>
              <a:t>Empirical Risk Minimization with Surrogate Loss Functions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69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123358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799699"/>
            <a:ext cx="1028700" cy="355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859377"/>
            <a:ext cx="4114800" cy="939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89400" y="4389828"/>
            <a:ext cx="3911600" cy="1569660"/>
          </a:xfrm>
          <a:prstGeom prst="rect">
            <a:avLst/>
          </a:prstGeom>
          <a:solidFill>
            <a:srgbClr val="288CD2"/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many possible loss functions to consider optimizing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 flipV="1">
            <a:off x="4770592" y="3581400"/>
            <a:ext cx="639608" cy="9271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2421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70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-1" y="1071880"/>
          <a:ext cx="9144001" cy="430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81"/>
                <a:gridCol w="5486400"/>
                <a:gridCol w="235712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loss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where used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intractable, but underlies “direct error minimization”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 algorithm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(Rosenblatt, 1958)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support vector machines, other large-margin algorithms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logistic regression, conditional random fields, maximum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entropy models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l="32819"/>
          <a:stretch/>
        </p:blipFill>
        <p:spPr>
          <a:xfrm>
            <a:off x="1509656" y="2692400"/>
            <a:ext cx="4336528" cy="44243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rcRect l="27111"/>
          <a:stretch/>
        </p:blipFill>
        <p:spPr>
          <a:xfrm>
            <a:off x="1402079" y="3618408"/>
            <a:ext cx="5323841" cy="39728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45252"/>
          <a:stretch/>
        </p:blipFill>
        <p:spPr>
          <a:xfrm>
            <a:off x="2641600" y="1866900"/>
            <a:ext cx="2631440" cy="2996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1096" y="4399458"/>
            <a:ext cx="4870824" cy="974165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 bwMode="auto">
          <a:xfrm flipV="1">
            <a:off x="1402079" y="4724400"/>
            <a:ext cx="873761" cy="105664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884" y="5720080"/>
            <a:ext cx="4890396" cy="75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4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6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(Sub)gradients of Losses for Linear Models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71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-1" y="1071880"/>
          <a:ext cx="8950961" cy="375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828"/>
                <a:gridCol w="7459133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entry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of (sub)gradient of loss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linear model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not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subdifferentiable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 general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2637604"/>
            <a:ext cx="5740400" cy="3168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902960"/>
            <a:ext cx="7081520" cy="5227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" y="5222240"/>
            <a:ext cx="4669526" cy="5227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078" y="3469640"/>
            <a:ext cx="6729202" cy="32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6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(Sub)gradients of Losses for Linear Models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72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-1" y="1071880"/>
          <a:ext cx="8950961" cy="375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828"/>
                <a:gridCol w="7459133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entry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of (sub)gradient of loss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linear model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not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subdifferentiable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 general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2637604"/>
            <a:ext cx="5740400" cy="3168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320" y="4297680"/>
            <a:ext cx="3400796" cy="3199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320" y="5886450"/>
            <a:ext cx="4330700" cy="368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8320" y="4789779"/>
            <a:ext cx="583184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expectation of feature value with respect to distribution over </a:t>
            </a:r>
            <a:r>
              <a:rPr lang="en-US" i="1" dirty="0" smtClean="0"/>
              <a:t>y</a:t>
            </a:r>
            <a:r>
              <a:rPr lang="en-US" dirty="0" smtClean="0"/>
              <a:t> (where distribution is defined by theta)</a:t>
            </a:r>
          </a:p>
          <a:p>
            <a:endParaRPr lang="en-US" sz="900" dirty="0" smtClean="0"/>
          </a:p>
          <a:p>
            <a:r>
              <a:rPr lang="en-US" dirty="0" smtClean="0"/>
              <a:t>alternative notation: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078" y="3469640"/>
            <a:ext cx="6729202" cy="3228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35760" y="2448560"/>
            <a:ext cx="1391920" cy="2341219"/>
          </a:xfrm>
          <a:prstGeom prst="rect">
            <a:avLst/>
          </a:prstGeom>
          <a:noFill/>
          <a:ln w="5715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7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47749" y="6061106"/>
            <a:ext cx="28829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five possible outputs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6" name="Left Brace 25"/>
          <p:cNvSpPr/>
          <p:nvPr/>
        </p:nvSpPr>
        <p:spPr>
          <a:xfrm rot="16200000">
            <a:off x="2209800" y="4241800"/>
            <a:ext cx="482600" cy="3124200"/>
          </a:xfrm>
          <a:prstGeom prst="leftBrace">
            <a:avLst>
              <a:gd name="adj1" fmla="val 5307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98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74</a:t>
            </a:fld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solidFill>
              <a:srgbClr val="BC000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4226582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4696482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870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047749" y="6061106"/>
            <a:ext cx="28829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five possible outputs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5" name="Left Brace 24"/>
          <p:cNvSpPr/>
          <p:nvPr/>
        </p:nvSpPr>
        <p:spPr>
          <a:xfrm rot="16200000">
            <a:off x="2209800" y="4241800"/>
            <a:ext cx="482600" cy="3124200"/>
          </a:xfrm>
          <a:prstGeom prst="leftBrace">
            <a:avLst>
              <a:gd name="adj1" fmla="val 5307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4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75</a:t>
            </a:fld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solidFill>
              <a:srgbClr val="BC000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4226582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4696482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70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8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76</a:t>
            </a:fld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solidFill>
              <a:srgbClr val="BC000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4226582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4696482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70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849" y="3879850"/>
            <a:ext cx="1435100" cy="3175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4400" y="4912382"/>
            <a:ext cx="1435100" cy="317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506" y="4378982"/>
            <a:ext cx="14351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0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17145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492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78</a:t>
            </a:fld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54" y="673100"/>
            <a:ext cx="7226300" cy="495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432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3784600" y="1168400"/>
            <a:ext cx="254000" cy="25908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54" y="673100"/>
            <a:ext cx="7226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" name="Left Brace 22"/>
          <p:cNvSpPr/>
          <p:nvPr/>
        </p:nvSpPr>
        <p:spPr>
          <a:xfrm rot="16200000">
            <a:off x="6593277" y="36123"/>
            <a:ext cx="482600" cy="272175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0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54" y="673100"/>
            <a:ext cx="7226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" name="Left Brace 22"/>
          <p:cNvSpPr/>
          <p:nvPr/>
        </p:nvSpPr>
        <p:spPr>
          <a:xfrm rot="16200000">
            <a:off x="6593277" y="36123"/>
            <a:ext cx="482600" cy="272175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2489200" y="1638300"/>
            <a:ext cx="4343400" cy="12827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784600" y="1168400"/>
            <a:ext cx="254000" cy="25908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20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54" y="673100"/>
            <a:ext cx="7226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" name="Left Brace 22"/>
          <p:cNvSpPr/>
          <p:nvPr/>
        </p:nvSpPr>
        <p:spPr>
          <a:xfrm rot="16200000">
            <a:off x="6593277" y="36123"/>
            <a:ext cx="482600" cy="272175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2489200" y="1638300"/>
            <a:ext cx="4343400" cy="12827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784600" y="1168400"/>
            <a:ext cx="254000" cy="25908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75200" y="2890391"/>
            <a:ext cx="3911600" cy="5847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learning?</a:t>
            </a:r>
          </a:p>
        </p:txBody>
      </p:sp>
    </p:spTree>
    <p:extLst>
      <p:ext uri="{BB962C8B-B14F-4D97-AF65-F5344CB8AC3E}">
        <p14:creationId xmlns:p14="http://schemas.microsoft.com/office/powerpoint/2010/main" val="425014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076700"/>
            <a:ext cx="444500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340100"/>
            <a:ext cx="444500" cy="187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460051"/>
            <a:ext cx="444500" cy="7596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251200"/>
            <a:ext cx="444500" cy="1968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54" y="673100"/>
            <a:ext cx="7226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75200" y="2890391"/>
            <a:ext cx="3911600" cy="15696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learning: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gold standard will have highest score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53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83</a:t>
            </a:fld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535632"/>
            <a:ext cx="8851900" cy="48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52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26162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" y="535632"/>
            <a:ext cx="8851900" cy="481484"/>
          </a:xfrm>
          <a:prstGeom prst="rect">
            <a:avLst/>
          </a:prstGeom>
        </p:spPr>
      </p:pic>
      <p:sp>
        <p:nvSpPr>
          <p:cNvPr id="28" name="Left Brace 27"/>
          <p:cNvSpPr/>
          <p:nvPr/>
        </p:nvSpPr>
        <p:spPr>
          <a:xfrm rot="16200000">
            <a:off x="6635750" y="-984251"/>
            <a:ext cx="482600" cy="4279900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314700" y="1017116"/>
            <a:ext cx="469900" cy="2742084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62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26162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" y="535632"/>
            <a:ext cx="8851900" cy="481484"/>
          </a:xfrm>
          <a:prstGeom prst="rect">
            <a:avLst/>
          </a:prstGeom>
        </p:spPr>
      </p:pic>
      <p:sp>
        <p:nvSpPr>
          <p:cNvPr id="28" name="Left Brace 27"/>
          <p:cNvSpPr/>
          <p:nvPr/>
        </p:nvSpPr>
        <p:spPr>
          <a:xfrm rot="16200000">
            <a:off x="6635750" y="-984251"/>
            <a:ext cx="482600" cy="4279900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314700" y="1017116"/>
            <a:ext cx="469900" cy="2742084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8" idx="1"/>
            <a:endCxn id="21" idx="0"/>
          </p:cNvCxnSpPr>
          <p:nvPr/>
        </p:nvCxnSpPr>
        <p:spPr>
          <a:xfrm flipH="1">
            <a:off x="1143000" y="1396999"/>
            <a:ext cx="5734050" cy="1041401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56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26162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" y="535632"/>
            <a:ext cx="8851900" cy="481484"/>
          </a:xfrm>
          <a:prstGeom prst="rect">
            <a:avLst/>
          </a:prstGeom>
        </p:spPr>
      </p:pic>
      <p:sp>
        <p:nvSpPr>
          <p:cNvPr id="28" name="Left Brace 27"/>
          <p:cNvSpPr/>
          <p:nvPr/>
        </p:nvSpPr>
        <p:spPr>
          <a:xfrm rot="16200000">
            <a:off x="6635750" y="-984251"/>
            <a:ext cx="482600" cy="4279900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314700" y="1017116"/>
            <a:ext cx="469900" cy="2742084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8" idx="1"/>
            <a:endCxn id="21" idx="0"/>
          </p:cNvCxnSpPr>
          <p:nvPr/>
        </p:nvCxnSpPr>
        <p:spPr>
          <a:xfrm flipH="1">
            <a:off x="1143000" y="1396999"/>
            <a:ext cx="5734050" cy="1041401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75200" y="2890391"/>
            <a:ext cx="3911600" cy="5847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learning?</a:t>
            </a:r>
          </a:p>
        </p:txBody>
      </p:sp>
    </p:spTree>
    <p:extLst>
      <p:ext uri="{BB962C8B-B14F-4D97-AF65-F5344CB8AC3E}">
        <p14:creationId xmlns:p14="http://schemas.microsoft.com/office/powerpoint/2010/main" val="249233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937000"/>
            <a:ext cx="444500" cy="1282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2890391"/>
            <a:ext cx="444500" cy="232930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946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0353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" y="535632"/>
            <a:ext cx="8851900" cy="4814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75200" y="2890391"/>
            <a:ext cx="3911600" cy="2554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learning: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score of gold standard will be higher than </a:t>
            </a:r>
            <a:r>
              <a:rPr lang="en-US" sz="3200" dirty="0" err="1" smtClean="0">
                <a:solidFill>
                  <a:schemeClr val="bg1"/>
                </a:solidFill>
                <a:cs typeface="Calibri"/>
              </a:rPr>
              <a:t>score+cost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of all others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877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398"/>
            <a:ext cx="9144000" cy="726831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88CD2"/>
                </a:solidFill>
              </a:rPr>
              <a:t>Regularized</a:t>
            </a:r>
            <a:r>
              <a:rPr lang="en-US" sz="3200" dirty="0" smtClean="0"/>
              <a:t> Empirical Risk Minimization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88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87089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93894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505059"/>
            <a:ext cx="1028700" cy="355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10486" y="3781646"/>
            <a:ext cx="2235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regularization term</a:t>
            </a:r>
          </a:p>
        </p:txBody>
      </p:sp>
      <p:sp>
        <p:nvSpPr>
          <p:cNvPr id="14" name="Left Brace 13"/>
          <p:cNvSpPr/>
          <p:nvPr/>
        </p:nvSpPr>
        <p:spPr>
          <a:xfrm rot="16200000">
            <a:off x="6970624" y="3230019"/>
            <a:ext cx="292920" cy="660400"/>
          </a:xfrm>
          <a:prstGeom prst="leftBrace">
            <a:avLst>
              <a:gd name="adj1" fmla="val 6485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521" y="2702560"/>
            <a:ext cx="5384800" cy="93980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6705600" y="2306320"/>
            <a:ext cx="193040" cy="71120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27606" y="1505062"/>
            <a:ext cx="2235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regularization strength</a:t>
            </a:r>
          </a:p>
        </p:txBody>
      </p:sp>
    </p:spTree>
    <p:extLst>
      <p:ext uri="{BB962C8B-B14F-4D97-AF65-F5344CB8AC3E}">
        <p14:creationId xmlns:p14="http://schemas.microsoft.com/office/powerpoint/2010/main" val="47043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Regularization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0560"/>
            <a:ext cx="8412480" cy="399288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most common: penalize large parameter values</a:t>
            </a:r>
          </a:p>
          <a:p>
            <a:r>
              <a:rPr lang="en-US" dirty="0" smtClean="0"/>
              <a:t>intuition: large parameters might be instances of </a:t>
            </a:r>
            <a:r>
              <a:rPr lang="en-US" dirty="0" err="1" smtClean="0"/>
              <a:t>overfitting</a:t>
            </a:r>
            <a:endParaRPr lang="en-US" dirty="0" smtClean="0"/>
          </a:p>
          <a:p>
            <a:r>
              <a:rPr lang="en-US" dirty="0" smtClean="0"/>
              <a:t>examples:</a:t>
            </a:r>
          </a:p>
          <a:p>
            <a:pPr marL="457200" lvl="1" indent="0">
              <a:buNone/>
            </a:pPr>
            <a:r>
              <a:rPr lang="en-US" b="1" i="1" dirty="0" smtClean="0">
                <a:solidFill>
                  <a:srgbClr val="288CD2"/>
                </a:solidFill>
              </a:rPr>
              <a:t>L</a:t>
            </a:r>
            <a:r>
              <a:rPr lang="en-US" b="1" i="1" baseline="-25000" dirty="0" smtClean="0">
                <a:solidFill>
                  <a:srgbClr val="288CD2"/>
                </a:solidFill>
              </a:rPr>
              <a:t>2</a:t>
            </a:r>
            <a:r>
              <a:rPr lang="en-US" dirty="0" smtClean="0">
                <a:solidFill>
                  <a:srgbClr val="288CD2"/>
                </a:solidFill>
              </a:rPr>
              <a:t> </a:t>
            </a:r>
            <a:r>
              <a:rPr lang="en-US" b="1" dirty="0" smtClean="0">
                <a:solidFill>
                  <a:srgbClr val="288CD2"/>
                </a:solidFill>
              </a:rPr>
              <a:t>regularization</a:t>
            </a:r>
            <a:r>
              <a:rPr lang="en-US" dirty="0" smtClean="0"/>
              <a:t>:</a:t>
            </a:r>
          </a:p>
          <a:p>
            <a:pPr marL="457200" lvl="1" indent="0">
              <a:buNone/>
            </a:pPr>
            <a:r>
              <a:rPr lang="en-US" sz="2200" dirty="0" smtClean="0"/>
              <a:t>(also called </a:t>
            </a:r>
            <a:r>
              <a:rPr lang="en-US" sz="2200" dirty="0" err="1" smtClean="0"/>
              <a:t>Tikhonov</a:t>
            </a:r>
            <a:r>
              <a:rPr lang="en-US" sz="2200" dirty="0" smtClean="0"/>
              <a:t> regularization </a:t>
            </a:r>
          </a:p>
          <a:p>
            <a:pPr marL="457200" lvl="1" indent="0">
              <a:buNone/>
            </a:pPr>
            <a:r>
              <a:rPr lang="en-US" sz="2200" dirty="0" smtClean="0"/>
              <a:t>or ridge regression)</a:t>
            </a:r>
          </a:p>
          <a:p>
            <a:pPr marL="457200" lvl="1" indent="0">
              <a:buNone/>
            </a:pPr>
            <a:r>
              <a:rPr lang="en-US" b="1" i="1" dirty="0" smtClean="0">
                <a:solidFill>
                  <a:srgbClr val="288CD2"/>
                </a:solidFill>
              </a:rPr>
              <a:t>L</a:t>
            </a:r>
            <a:r>
              <a:rPr lang="en-US" b="1" i="1" baseline="-25000" dirty="0" smtClean="0">
                <a:solidFill>
                  <a:srgbClr val="288CD2"/>
                </a:solidFill>
              </a:rPr>
              <a:t>1</a:t>
            </a:r>
            <a:r>
              <a:rPr lang="en-US" b="1" dirty="0" smtClean="0">
                <a:solidFill>
                  <a:srgbClr val="288CD2"/>
                </a:solidFill>
              </a:rPr>
              <a:t> regularization</a:t>
            </a:r>
            <a:r>
              <a:rPr lang="en-US" dirty="0" smtClean="0"/>
              <a:t>:</a:t>
            </a:r>
          </a:p>
          <a:p>
            <a:pPr marL="457200" lvl="1" indent="0">
              <a:buNone/>
            </a:pPr>
            <a:r>
              <a:rPr lang="en-US" sz="2200" dirty="0" smtClean="0"/>
              <a:t>(also called basis pursuit or LASSO)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21" y="898229"/>
            <a:ext cx="5384800" cy="939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340" y="3896360"/>
            <a:ext cx="3136900" cy="673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340" y="4975860"/>
            <a:ext cx="32639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4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Dropout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7238"/>
            <a:ext cx="8229600" cy="2351407"/>
          </a:xfrm>
        </p:spPr>
        <p:txBody>
          <a:bodyPr/>
          <a:lstStyle/>
          <a:p>
            <a:r>
              <a:rPr lang="en-US" dirty="0" smtClean="0"/>
              <a:t>popular regularization method for neural networks</a:t>
            </a:r>
          </a:p>
          <a:p>
            <a:r>
              <a:rPr lang="en-US" dirty="0" smtClean="0"/>
              <a:t>randomly “drop out” (set to zero) some of the vector entries in the layers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90</a:t>
            </a:fld>
            <a:endParaRPr lang="en-US"/>
          </a:p>
        </p:txBody>
      </p:sp>
      <p:pic>
        <p:nvPicPr>
          <p:cNvPr id="5" name="Picture 4" descr="dropou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113" y="3128645"/>
            <a:ext cx="4348232" cy="323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2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Exponentially-Large </a:t>
            </a:r>
            <a:r>
              <a:rPr lang="en-US" sz="3600" dirty="0" smtClean="0"/>
              <a:t>Search </a:t>
            </a:r>
            <a:r>
              <a:rPr lang="en-US" sz="3600" dirty="0" smtClean="0"/>
              <a:t>Problems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3117115"/>
            <a:ext cx="8229600" cy="3239235"/>
          </a:xfrm>
        </p:spPr>
        <p:txBody>
          <a:bodyPr>
            <a:normAutofit/>
          </a:bodyPr>
          <a:lstStyle/>
          <a:p>
            <a:r>
              <a:rPr lang="en-US" dirty="0" smtClean="0"/>
              <a:t>when output is a sequence </a:t>
            </a:r>
            <a:r>
              <a:rPr lang="en-US" dirty="0" smtClean="0"/>
              <a:t>or tree, </a:t>
            </a:r>
            <a:r>
              <a:rPr lang="en-US" dirty="0" smtClean="0"/>
              <a:t>this </a:t>
            </a:r>
            <a:r>
              <a:rPr lang="en-US" dirty="0" err="1" smtClean="0"/>
              <a:t>argmax</a:t>
            </a:r>
            <a:r>
              <a:rPr lang="en-US" dirty="0" smtClean="0"/>
              <a:t> requires iterating over an exponentially-large 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59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Learning requires solving exponentially-hard problems too!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93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71119" y="1505775"/>
          <a:ext cx="8950961" cy="292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828"/>
                <a:gridCol w="7459133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loss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entry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of (sub)gradient of loss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linear model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40" y="2246327"/>
            <a:ext cx="5740400" cy="3168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440" y="3906403"/>
            <a:ext cx="3400796" cy="31993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198" y="3078363"/>
            <a:ext cx="6729202" cy="322804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 bwMode="auto">
          <a:xfrm flipV="1">
            <a:off x="4986623" y="2563207"/>
            <a:ext cx="1099217" cy="253065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/>
          <p:cNvCxnSpPr/>
          <p:nvPr/>
        </p:nvCxnSpPr>
        <p:spPr bwMode="auto">
          <a:xfrm flipV="1">
            <a:off x="5270236" y="3401168"/>
            <a:ext cx="1211844" cy="169269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/>
          <p:nvPr/>
        </p:nvCxnSpPr>
        <p:spPr bwMode="auto">
          <a:xfrm flipH="1" flipV="1">
            <a:off x="3677920" y="4266980"/>
            <a:ext cx="1097280" cy="82687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3056223" y="5154819"/>
            <a:ext cx="386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computing each of these terms requires iterating through every possible 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5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Dynamic Programming (DP)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392160" cy="505242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what is dynamic programming?</a:t>
            </a:r>
          </a:p>
          <a:p>
            <a:pPr lvl="1"/>
            <a:r>
              <a:rPr lang="en-US" sz="2400" dirty="0" smtClean="0"/>
              <a:t>a family of algorithms that break problems into smaller pieces and reuse solutions for those pieces</a:t>
            </a:r>
          </a:p>
          <a:p>
            <a:pPr lvl="1"/>
            <a:r>
              <a:rPr lang="en-US" sz="2400" dirty="0" smtClean="0"/>
              <a:t>only applicable when the problem has certain properties (</a:t>
            </a:r>
            <a:r>
              <a:rPr lang="en-US" sz="2400" b="1" dirty="0" smtClean="0">
                <a:solidFill>
                  <a:srgbClr val="288CD2"/>
                </a:solidFill>
              </a:rPr>
              <a:t>optimal substructure </a:t>
            </a:r>
            <a:r>
              <a:rPr lang="en-US" sz="2400" dirty="0" smtClean="0"/>
              <a:t>and </a:t>
            </a:r>
            <a:r>
              <a:rPr lang="en-US" sz="2400" b="1" dirty="0" smtClean="0">
                <a:solidFill>
                  <a:srgbClr val="288CD2"/>
                </a:solidFill>
              </a:rPr>
              <a:t>overlapping sub-problems</a:t>
            </a:r>
            <a:r>
              <a:rPr lang="en-US" sz="2400" dirty="0" smtClean="0"/>
              <a:t>)</a:t>
            </a:r>
          </a:p>
          <a:p>
            <a:endParaRPr lang="en-US" sz="2800" dirty="0" smtClean="0"/>
          </a:p>
          <a:p>
            <a:r>
              <a:rPr lang="en-US" sz="2800" dirty="0" smtClean="0"/>
              <a:t>in this class, we use DP to iterate over exponentially-large output spaces in polynomial time</a:t>
            </a:r>
          </a:p>
          <a:p>
            <a:r>
              <a:rPr lang="en-US" sz="2800" dirty="0"/>
              <a:t>we </a:t>
            </a:r>
            <a:r>
              <a:rPr lang="en-US" sz="2800" dirty="0" smtClean="0"/>
              <a:t>focus </a:t>
            </a:r>
            <a:r>
              <a:rPr lang="en-US" sz="2800" dirty="0"/>
              <a:t>on a particular type of DP algorithm: </a:t>
            </a:r>
            <a:r>
              <a:rPr lang="en-US" sz="2800" b="1" dirty="0" err="1">
                <a:solidFill>
                  <a:srgbClr val="288CD2"/>
                </a:solidFill>
              </a:rPr>
              <a:t>memoization</a:t>
            </a:r>
            <a:endParaRPr lang="en-US" sz="2800" b="1" dirty="0">
              <a:solidFill>
                <a:srgbClr val="288CD2"/>
              </a:solidFill>
            </a:endParaRPr>
          </a:p>
          <a:p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9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Implementing DP algorithms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even if your goal is to compute a sum or a max, focus first on </a:t>
            </a:r>
            <a:r>
              <a:rPr lang="en-US" b="1" dirty="0" smtClean="0">
                <a:solidFill>
                  <a:srgbClr val="288CD2"/>
                </a:solidFill>
              </a:rPr>
              <a:t>counting mode</a:t>
            </a:r>
            <a:r>
              <a:rPr lang="en-US" dirty="0" smtClean="0"/>
              <a:t> (count the number of unique outputs for an input)</a:t>
            </a:r>
          </a:p>
          <a:p>
            <a:r>
              <a:rPr lang="en-US" dirty="0" err="1" smtClean="0"/>
              <a:t>memoization</a:t>
            </a:r>
            <a:r>
              <a:rPr lang="en-US" dirty="0" smtClean="0"/>
              <a:t> = recursion + saving/reusing solutions</a:t>
            </a:r>
          </a:p>
          <a:p>
            <a:pPr lvl="1"/>
            <a:r>
              <a:rPr lang="en-US" dirty="0" smtClean="0"/>
              <a:t>start by defining recursive equations</a:t>
            </a:r>
          </a:p>
          <a:p>
            <a:pPr lvl="1"/>
            <a:r>
              <a:rPr lang="en-US" dirty="0" smtClean="0"/>
              <a:t>“</a:t>
            </a:r>
            <a:r>
              <a:rPr lang="en-US" dirty="0" err="1" smtClean="0">
                <a:solidFill>
                  <a:srgbClr val="288CD2"/>
                </a:solidFill>
              </a:rPr>
              <a:t>memoize</a:t>
            </a:r>
            <a:r>
              <a:rPr lang="en-US" dirty="0" smtClean="0"/>
              <a:t>” by creating a table to store all intermediate results from recursive equations, use them when requested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5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Inference in HMMs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1040469"/>
            <a:ext cx="8310880" cy="864889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110907"/>
            <a:ext cx="8229600" cy="377173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since the output is a sequence, </a:t>
            </a:r>
            <a:r>
              <a:rPr lang="en-US" dirty="0"/>
              <a:t>this </a:t>
            </a:r>
            <a:r>
              <a:rPr lang="en-US" dirty="0" err="1"/>
              <a:t>argmax</a:t>
            </a:r>
            <a:r>
              <a:rPr lang="en-US" dirty="0"/>
              <a:t> requires iterating over an exponentially-large </a:t>
            </a:r>
            <a:r>
              <a:rPr lang="en-US" dirty="0" smtClean="0"/>
              <a:t>set</a:t>
            </a:r>
          </a:p>
          <a:p>
            <a:endParaRPr lang="en-US" dirty="0" smtClean="0"/>
          </a:p>
          <a:p>
            <a:r>
              <a:rPr lang="en-US" dirty="0" smtClean="0"/>
              <a:t>last week we talked about using dynamic programming (DP) to solve these problems</a:t>
            </a:r>
          </a:p>
          <a:p>
            <a:endParaRPr lang="en-US" dirty="0" smtClean="0"/>
          </a:p>
          <a:p>
            <a:r>
              <a:rPr lang="en-US" dirty="0" smtClean="0"/>
              <a:t>for HMMs (and other sequence models), the for solving this is called the </a:t>
            </a:r>
            <a:r>
              <a:rPr lang="en-US" b="1" dirty="0" smtClean="0">
                <a:solidFill>
                  <a:srgbClr val="288CD2"/>
                </a:solidFill>
              </a:rPr>
              <a:t>Viterbi algorithm</a:t>
            </a:r>
            <a:endParaRPr lang="en-US" b="1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Viterbi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009"/>
            <a:ext cx="8229600" cy="5052424"/>
          </a:xfrm>
        </p:spPr>
        <p:txBody>
          <a:bodyPr/>
          <a:lstStyle/>
          <a:p>
            <a:r>
              <a:rPr lang="en-US" dirty="0" smtClean="0"/>
              <a:t>recursive equations + </a:t>
            </a:r>
            <a:r>
              <a:rPr lang="en-US" dirty="0" err="1" smtClean="0"/>
              <a:t>memoization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8649"/>
          <a:stretch/>
        </p:blipFill>
        <p:spPr>
          <a:xfrm>
            <a:off x="1206500" y="2994660"/>
            <a:ext cx="6731000" cy="38862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 bwMode="auto">
          <a:xfrm>
            <a:off x="1300480" y="2311400"/>
            <a:ext cx="203200" cy="61214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1206500" y="3957320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574542"/>
            <a:ext cx="6942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base case: 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returns probability of sequence starting with label </a:t>
            </a:r>
            <a:r>
              <a:rPr lang="en-US" sz="2000" i="1" dirty="0" smtClean="0">
                <a:solidFill>
                  <a:srgbClr val="288CD2"/>
                </a:solidFill>
              </a:rPr>
              <a:t>y</a:t>
            </a:r>
            <a:r>
              <a:rPr lang="en-US" sz="2000" dirty="0" smtClean="0">
                <a:solidFill>
                  <a:srgbClr val="288CD2"/>
                </a:solidFill>
              </a:rPr>
              <a:t> for first word</a:t>
            </a:r>
            <a:endParaRPr lang="en-US" sz="2000" dirty="0">
              <a:solidFill>
                <a:srgbClr val="288CD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28" y="4446508"/>
            <a:ext cx="5209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recursive case: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computes probability of max-probability label sequence that ends with label </a:t>
            </a:r>
            <a:r>
              <a:rPr lang="en-US" sz="2000" i="1" dirty="0" smtClean="0">
                <a:solidFill>
                  <a:srgbClr val="288CD2"/>
                </a:solidFill>
              </a:rPr>
              <a:t>y</a:t>
            </a:r>
            <a:r>
              <a:rPr lang="en-US" sz="2000" dirty="0" smtClean="0">
                <a:solidFill>
                  <a:srgbClr val="288CD2"/>
                </a:solidFill>
              </a:rPr>
              <a:t> at position </a:t>
            </a:r>
            <a:r>
              <a:rPr lang="en-US" sz="2000" i="1" dirty="0" smtClean="0">
                <a:solidFill>
                  <a:srgbClr val="288CD2"/>
                </a:solidFill>
              </a:rPr>
              <a:t>m</a:t>
            </a:r>
            <a:endParaRPr lang="en-US" sz="2000" i="1" dirty="0">
              <a:solidFill>
                <a:srgbClr val="288CD2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43784"/>
          <a:stretch/>
        </p:blipFill>
        <p:spPr>
          <a:xfrm>
            <a:off x="1206500" y="3556000"/>
            <a:ext cx="6731000" cy="528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3680" y="5747378"/>
            <a:ext cx="2065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final value is in: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340" y="5829988"/>
            <a:ext cx="21971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2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Viterbi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7078"/>
            <a:ext cx="8229600" cy="109609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space and time complexity?</a:t>
            </a:r>
          </a:p>
          <a:p>
            <a:r>
              <a:rPr lang="en-US" dirty="0" smtClean="0"/>
              <a:t>can be read off from the recursive equations: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98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330960" y="3682395"/>
            <a:ext cx="358128" cy="62187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863171"/>
            <a:ext cx="829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space complexity: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size of </a:t>
            </a:r>
            <a:r>
              <a:rPr lang="en-US" sz="2000" dirty="0" err="1" smtClean="0">
                <a:solidFill>
                  <a:srgbClr val="288CD2"/>
                </a:solidFill>
              </a:rPr>
              <a:t>memoization</a:t>
            </a:r>
            <a:r>
              <a:rPr lang="en-US" sz="2000" dirty="0" smtClean="0">
                <a:solidFill>
                  <a:srgbClr val="288CD2"/>
                </a:solidFill>
              </a:rPr>
              <a:t> table, which is # of unique indices of recursive equations</a:t>
            </a:r>
            <a:endParaRPr lang="en-US" sz="2000" dirty="0">
              <a:solidFill>
                <a:srgbClr val="288CD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4688" y="4984988"/>
            <a:ext cx="5209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so, space complexity is O(|</a:t>
            </a:r>
            <a:r>
              <a:rPr lang="en-US" sz="2400" b="1" i="1" dirty="0" smtClean="0">
                <a:solidFill>
                  <a:srgbClr val="288CD2"/>
                </a:solidFill>
              </a:rPr>
              <a:t>x</a:t>
            </a:r>
            <a:r>
              <a:rPr lang="en-US" sz="2400" b="1" dirty="0" smtClean="0">
                <a:solidFill>
                  <a:srgbClr val="288CD2"/>
                </a:solidFill>
              </a:rPr>
              <a:t>| |</a:t>
            </a:r>
            <a:r>
              <a:rPr lang="en-US" sz="2400" b="1" i="1" dirty="0" smtClean="0">
                <a:solidFill>
                  <a:srgbClr val="288CD2"/>
                </a:solidFill>
              </a:rPr>
              <a:t>L</a:t>
            </a:r>
            <a:r>
              <a:rPr lang="en-US" sz="2400" b="1" dirty="0" smtClean="0">
                <a:solidFill>
                  <a:srgbClr val="288CD2"/>
                </a:solidFill>
              </a:rPr>
              <a:t>|)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43784"/>
          <a:stretch/>
        </p:blipFill>
        <p:spPr>
          <a:xfrm>
            <a:off x="1206500" y="4304268"/>
            <a:ext cx="6731000" cy="528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0528" y="3000950"/>
            <a:ext cx="1229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length of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4688" y="2990790"/>
            <a:ext cx="1247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number of labels</a:t>
            </a: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2065008" y="3682395"/>
            <a:ext cx="434352" cy="64874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Box 20"/>
          <p:cNvSpPr txBox="1"/>
          <p:nvPr/>
        </p:nvSpPr>
        <p:spPr>
          <a:xfrm>
            <a:off x="174115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288CD2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20779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Viterbi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7078"/>
            <a:ext cx="8229600" cy="109609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space and </a:t>
            </a:r>
            <a:r>
              <a:rPr lang="en-US" b="1" dirty="0" smtClean="0"/>
              <a:t>time </a:t>
            </a:r>
            <a:r>
              <a:rPr lang="en-US" dirty="0" smtClean="0"/>
              <a:t>complexity?</a:t>
            </a:r>
          </a:p>
          <a:p>
            <a:r>
              <a:rPr lang="en-US" dirty="0" smtClean="0"/>
              <a:t>can be read off from the recursive equations: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99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330960" y="3682395"/>
            <a:ext cx="358128" cy="62187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863171"/>
            <a:ext cx="829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time complexity: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size of </a:t>
            </a:r>
            <a:r>
              <a:rPr lang="en-US" sz="2000" dirty="0" err="1" smtClean="0">
                <a:solidFill>
                  <a:srgbClr val="288CD2"/>
                </a:solidFill>
              </a:rPr>
              <a:t>memoization</a:t>
            </a:r>
            <a:r>
              <a:rPr lang="en-US" sz="2000" dirty="0" smtClean="0">
                <a:solidFill>
                  <a:srgbClr val="288CD2"/>
                </a:solidFill>
              </a:rPr>
              <a:t> table * complexity of computing each entry</a:t>
            </a:r>
            <a:endParaRPr lang="en-US" sz="2000" dirty="0">
              <a:solidFill>
                <a:srgbClr val="288CD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4688" y="4984988"/>
            <a:ext cx="691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so, time complexity is O(|</a:t>
            </a:r>
            <a:r>
              <a:rPr lang="en-US" sz="2400" b="1" i="1" dirty="0" smtClean="0">
                <a:solidFill>
                  <a:srgbClr val="288CD2"/>
                </a:solidFill>
              </a:rPr>
              <a:t>x</a:t>
            </a:r>
            <a:r>
              <a:rPr lang="en-US" sz="2400" b="1" dirty="0" smtClean="0">
                <a:solidFill>
                  <a:srgbClr val="288CD2"/>
                </a:solidFill>
              </a:rPr>
              <a:t>| |</a:t>
            </a:r>
            <a:r>
              <a:rPr lang="en-US" sz="2400" b="1" i="1" dirty="0" smtClean="0">
                <a:solidFill>
                  <a:srgbClr val="288CD2"/>
                </a:solidFill>
              </a:rPr>
              <a:t>L</a:t>
            </a:r>
            <a:r>
              <a:rPr lang="en-US" sz="2400" b="1" dirty="0" smtClean="0">
                <a:solidFill>
                  <a:srgbClr val="288CD2"/>
                </a:solidFill>
              </a:rPr>
              <a:t>| |</a:t>
            </a:r>
            <a:r>
              <a:rPr lang="en-US" sz="2400" b="1" i="1" dirty="0">
                <a:solidFill>
                  <a:srgbClr val="288CD2"/>
                </a:solidFill>
              </a:rPr>
              <a:t>L</a:t>
            </a:r>
            <a:r>
              <a:rPr lang="en-US" sz="2400" b="1" dirty="0">
                <a:solidFill>
                  <a:srgbClr val="288CD2"/>
                </a:solidFill>
              </a:rPr>
              <a:t>|</a:t>
            </a:r>
            <a:r>
              <a:rPr lang="en-US" sz="2400" b="1" dirty="0" smtClean="0">
                <a:solidFill>
                  <a:srgbClr val="288CD2"/>
                </a:solidFill>
              </a:rPr>
              <a:t>) = O(</a:t>
            </a:r>
            <a:r>
              <a:rPr lang="en-US" sz="2400" b="1" dirty="0">
                <a:solidFill>
                  <a:srgbClr val="288CD2"/>
                </a:solidFill>
              </a:rPr>
              <a:t>|</a:t>
            </a:r>
            <a:r>
              <a:rPr lang="en-US" sz="2400" b="1" i="1" dirty="0">
                <a:solidFill>
                  <a:srgbClr val="288CD2"/>
                </a:solidFill>
              </a:rPr>
              <a:t>x</a:t>
            </a:r>
            <a:r>
              <a:rPr lang="en-US" sz="2400" b="1" dirty="0">
                <a:solidFill>
                  <a:srgbClr val="288CD2"/>
                </a:solidFill>
              </a:rPr>
              <a:t>| |</a:t>
            </a:r>
            <a:r>
              <a:rPr lang="en-US" sz="2400" b="1" i="1" dirty="0">
                <a:solidFill>
                  <a:srgbClr val="288CD2"/>
                </a:solidFill>
              </a:rPr>
              <a:t>L</a:t>
            </a:r>
            <a:r>
              <a:rPr lang="en-US" sz="2400" b="1" dirty="0" smtClean="0">
                <a:solidFill>
                  <a:srgbClr val="288CD2"/>
                </a:solidFill>
              </a:rPr>
              <a:t>|</a:t>
            </a:r>
            <a:r>
              <a:rPr lang="en-US" sz="2400" b="1" baseline="30000" dirty="0" smtClean="0">
                <a:solidFill>
                  <a:srgbClr val="288CD2"/>
                </a:solidFill>
              </a:rPr>
              <a:t>2</a:t>
            </a:r>
            <a:r>
              <a:rPr lang="en-US" sz="2400" b="1" dirty="0" smtClean="0">
                <a:solidFill>
                  <a:srgbClr val="288CD2"/>
                </a:solidFill>
              </a:rPr>
              <a:t>)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43784"/>
          <a:stretch/>
        </p:blipFill>
        <p:spPr>
          <a:xfrm>
            <a:off x="1206500" y="4304268"/>
            <a:ext cx="6731000" cy="528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0528" y="3000950"/>
            <a:ext cx="1229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length of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4688" y="2990790"/>
            <a:ext cx="1247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number of labels</a:t>
            </a: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2065008" y="3682395"/>
            <a:ext cx="434352" cy="64874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Box 20"/>
          <p:cNvSpPr txBox="1"/>
          <p:nvPr/>
        </p:nvSpPr>
        <p:spPr>
          <a:xfrm>
            <a:off x="174115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288CD2"/>
                </a:solidFill>
              </a:rPr>
              <a:t>*</a:t>
            </a:r>
          </a:p>
        </p:txBody>
      </p:sp>
      <p:cxnSp>
        <p:nvCxnSpPr>
          <p:cNvPr id="18" name="Straight Arrow Connector 17"/>
          <p:cNvCxnSpPr/>
          <p:nvPr/>
        </p:nvCxnSpPr>
        <p:spPr bwMode="auto">
          <a:xfrm flipH="1">
            <a:off x="3074664" y="3708836"/>
            <a:ext cx="1324616" cy="63858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Box 18"/>
          <p:cNvSpPr txBox="1"/>
          <p:nvPr/>
        </p:nvSpPr>
        <p:spPr>
          <a:xfrm>
            <a:off x="3796024" y="2972434"/>
            <a:ext cx="3061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each entry requires iterating through the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707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288CD2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34859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Feature Locality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288CD2"/>
                </a:solidFill>
              </a:rPr>
              <a:t>feature locality</a:t>
            </a:r>
            <a:r>
              <a:rPr lang="en-US" dirty="0" smtClean="0"/>
              <a:t>: </a:t>
            </a:r>
            <a:r>
              <a:rPr lang="en-US" dirty="0"/>
              <a:t>how “big” are your features?</a:t>
            </a:r>
          </a:p>
          <a:p>
            <a:r>
              <a:rPr lang="en-US" dirty="0" smtClean="0"/>
              <a:t>when designing efficient inference algorithms (whether w/ DP or other methods), we need to be mindful of this</a:t>
            </a:r>
            <a:endParaRPr lang="en-US" b="1" dirty="0" smtClean="0">
              <a:solidFill>
                <a:srgbClr val="288CD2"/>
              </a:solidFill>
            </a:endParaRPr>
          </a:p>
          <a:p>
            <a:r>
              <a:rPr lang="en-US" dirty="0" smtClean="0"/>
              <a:t>features can be arbitrarily big in terms of the </a:t>
            </a:r>
            <a:r>
              <a:rPr lang="en-US" dirty="0" smtClean="0"/>
              <a:t>input, but not in </a:t>
            </a:r>
            <a:r>
              <a:rPr lang="en-US" dirty="0" smtClean="0"/>
              <a:t>terms of the </a:t>
            </a:r>
            <a:r>
              <a:rPr lang="en-US" i="1" dirty="0" smtClean="0"/>
              <a:t>output</a:t>
            </a:r>
            <a:r>
              <a:rPr lang="en-US" dirty="0" smtClean="0"/>
              <a:t>!</a:t>
            </a:r>
            <a:endParaRPr lang="en-US" dirty="0" smtClean="0"/>
          </a:p>
          <a:p>
            <a:r>
              <a:rPr lang="en-US" dirty="0" smtClean="0"/>
              <a:t>the features in HMMs are small in both the input and output sequences (only two pieces at a time)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9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63478</TotalTime>
  <Words>3591</Words>
  <Application>Microsoft Macintosh PowerPoint</Application>
  <PresentationFormat>On-screen Show (4:3)</PresentationFormat>
  <Paragraphs>760</Paragraphs>
  <Slides>100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6" baseType="lpstr">
      <vt:lpstr>Calibri</vt:lpstr>
      <vt:lpstr>Times New Roman</vt:lpstr>
      <vt:lpstr>TIMES-ROMAN</vt:lpstr>
      <vt:lpstr>Wingdings</vt:lpstr>
      <vt:lpstr>Arial</vt:lpstr>
      <vt:lpstr>Office Theme</vt:lpstr>
      <vt:lpstr>TTIC 31190: Natural Language Processing</vt:lpstr>
      <vt:lpstr>Announcement</vt:lpstr>
      <vt:lpstr>Announcement</vt:lpstr>
      <vt:lpstr>Roadmap</vt:lpstr>
      <vt:lpstr>What is Syntax?</vt:lpstr>
      <vt:lpstr>Constituent Parse (Bracketing/Tree)</vt:lpstr>
      <vt:lpstr>Constituent Parse (Bracketing/Tree)</vt:lpstr>
      <vt:lpstr>Penn Treebank Nonterminals</vt:lpstr>
      <vt:lpstr>Probabilistic Context-Free Grammar (PCFG)</vt:lpstr>
      <vt:lpstr>How well does a PCFG work?</vt:lpstr>
      <vt:lpstr>Parent Annotation</vt:lpstr>
      <vt:lpstr>How well does a PCFG work?</vt:lpstr>
      <vt:lpstr>Collins (1997)</vt:lpstr>
      <vt:lpstr>Lexicalized PCFGs</vt:lpstr>
      <vt:lpstr>Lexicalization</vt:lpstr>
      <vt:lpstr>Results (Collins, 1997)</vt:lpstr>
      <vt:lpstr>Head Rules</vt:lpstr>
      <vt:lpstr>Head Annotation</vt:lpstr>
      <vt:lpstr>Lexical Head Annotation</vt:lpstr>
      <vt:lpstr>Lexical Head Annotation  Dependencies</vt:lpstr>
      <vt:lpstr>Dependencies</vt:lpstr>
      <vt:lpstr>PowerPoint Presentation</vt:lpstr>
      <vt:lpstr>PowerPoint Presentation</vt:lpstr>
      <vt:lpstr>PowerPoint Presentation</vt:lpstr>
      <vt:lpstr>PowerPoint Presentation</vt:lpstr>
      <vt:lpstr>Crossing Dependencies</vt:lpstr>
      <vt:lpstr>Projective vs. Nonprojective Dependency Parsing</vt:lpstr>
      <vt:lpstr>Dependency Parsing</vt:lpstr>
      <vt:lpstr>Dependency Parsers</vt:lpstr>
      <vt:lpstr>Complexity Comparison</vt:lpstr>
      <vt:lpstr>Applications of Dependency Parsing</vt:lpstr>
      <vt:lpstr>Summary: two types of grammars</vt:lpstr>
      <vt:lpstr>Review</vt:lpstr>
      <vt:lpstr>Modeling, Inference, Learning</vt:lpstr>
      <vt:lpstr>Modeling, Inference, Learning</vt:lpstr>
      <vt:lpstr>Modeling, Inference, Learning</vt:lpstr>
      <vt:lpstr>Applications</vt:lpstr>
      <vt:lpstr>Applications of our Classification Framework</vt:lpstr>
      <vt:lpstr>Applications of our Classification Framework</vt:lpstr>
      <vt:lpstr>Applications of our Classification Framework</vt:lpstr>
      <vt:lpstr>Simplest kind of structured prediction: Sequence Labeling</vt:lpstr>
      <vt:lpstr>Formulating segmentation tasks as sequence labeling via B-I-O labeling:</vt:lpstr>
      <vt:lpstr>Applications of our Classifier Framework so far</vt:lpstr>
      <vt:lpstr>Applications of Classifier Framework (continued)</vt:lpstr>
      <vt:lpstr>PowerPoint Presentation</vt:lpstr>
      <vt:lpstr>Modeling</vt:lpstr>
      <vt:lpstr>model families</vt:lpstr>
      <vt:lpstr>special case of linear models:  stochastic/generative models</vt:lpstr>
      <vt:lpstr>Feature Engineering for Text Classification</vt:lpstr>
      <vt:lpstr>Higher-Order Binary Feature Templates</vt:lpstr>
      <vt:lpstr>Unigram Count Features</vt:lpstr>
      <vt:lpstr>Feature Count Cutoffs</vt:lpstr>
      <vt:lpstr>2-transformation (1-layer) network</vt:lpstr>
      <vt:lpstr>1-layer neural network for sentiment classification</vt:lpstr>
      <vt:lpstr>Neural Networks for Twitter Part-of-Speech Tagging</vt:lpstr>
      <vt:lpstr>Convolution</vt:lpstr>
      <vt:lpstr>Pooling</vt:lpstr>
      <vt:lpstr>Pooling</vt:lpstr>
      <vt:lpstr>Convolutional Neural Networks</vt:lpstr>
      <vt:lpstr>Recurrent Neural Networks</vt:lpstr>
      <vt:lpstr>Long Short-Term Memory (LSTM) Recurrent Neural Networks</vt:lpstr>
      <vt:lpstr>Backward &amp; Bidirectional LSTMs</vt:lpstr>
      <vt:lpstr>Deep LSTM (2-layer)</vt:lpstr>
      <vt:lpstr>Recursive Neural Networks for NLP</vt:lpstr>
      <vt:lpstr>Learning</vt:lpstr>
      <vt:lpstr>Cost Functions</vt:lpstr>
      <vt:lpstr>Empirical Risk Minimization (Vapnik et al.)</vt:lpstr>
      <vt:lpstr>Empirical Risk Minimization (Vapnik et al.)</vt:lpstr>
      <vt:lpstr>Empirical Risk Minimization with Surrogate Loss Functions</vt:lpstr>
      <vt:lpstr>Loss Functions</vt:lpstr>
      <vt:lpstr>(Sub)gradients of Losses for Linear Models</vt:lpstr>
      <vt:lpstr>(Sub)gradients of Losses for Linear Models</vt:lpstr>
      <vt:lpstr>Visualization</vt:lpstr>
      <vt:lpstr>Visualization</vt:lpstr>
      <vt:lpstr>Visualization</vt:lpstr>
      <vt:lpstr>Visualization</vt:lpstr>
      <vt:lpstr>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Regularized Empirical Risk Minimization</vt:lpstr>
      <vt:lpstr>Regularization Terms</vt:lpstr>
      <vt:lpstr>Dropout</vt:lpstr>
      <vt:lpstr>Inference</vt:lpstr>
      <vt:lpstr>Exponentially-Large Search Problems</vt:lpstr>
      <vt:lpstr>Learning requires solving exponentially-hard problems too!</vt:lpstr>
      <vt:lpstr>Dynamic Programming (DP)</vt:lpstr>
      <vt:lpstr>Implementing DP algorithms</vt:lpstr>
      <vt:lpstr>Inference in HMMs</vt:lpstr>
      <vt:lpstr>Viterbi Algorithm</vt:lpstr>
      <vt:lpstr>Viterbi Algorithm</vt:lpstr>
      <vt:lpstr>Viterbi Algorithm</vt:lpstr>
      <vt:lpstr>Feature Locality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2134</cp:revision>
  <cp:lastPrinted>2016-02-15T18:10:03Z</cp:lastPrinted>
  <dcterms:created xsi:type="dcterms:W3CDTF">2015-08-31T18:15:35Z</dcterms:created>
  <dcterms:modified xsi:type="dcterms:W3CDTF">2016-02-16T16:29:33Z</dcterms:modified>
</cp:coreProperties>
</file>