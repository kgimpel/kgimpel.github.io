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handoutMasterIdLst>
    <p:handoutMasterId r:id="rId67"/>
  </p:handoutMasterIdLst>
  <p:sldIdLst>
    <p:sldId id="256" r:id="rId2"/>
    <p:sldId id="1180" r:id="rId3"/>
    <p:sldId id="1364" r:id="rId4"/>
    <p:sldId id="1413" r:id="rId5"/>
    <p:sldId id="520" r:id="rId6"/>
    <p:sldId id="1237" r:id="rId7"/>
    <p:sldId id="1230" r:id="rId8"/>
    <p:sldId id="1235" r:id="rId9"/>
    <p:sldId id="1313" r:id="rId10"/>
    <p:sldId id="1314" r:id="rId11"/>
    <p:sldId id="1315" r:id="rId12"/>
    <p:sldId id="1365" r:id="rId13"/>
    <p:sldId id="1366" r:id="rId14"/>
    <p:sldId id="1367" r:id="rId15"/>
    <p:sldId id="1369" r:id="rId16"/>
    <p:sldId id="1374" r:id="rId17"/>
    <p:sldId id="1373" r:id="rId18"/>
    <p:sldId id="1372" r:id="rId19"/>
    <p:sldId id="1370" r:id="rId20"/>
    <p:sldId id="1385" r:id="rId21"/>
    <p:sldId id="1375" r:id="rId22"/>
    <p:sldId id="1376" r:id="rId23"/>
    <p:sldId id="1383" r:id="rId24"/>
    <p:sldId id="1377" r:id="rId25"/>
    <p:sldId id="1379" r:id="rId26"/>
    <p:sldId id="1380" r:id="rId27"/>
    <p:sldId id="1381" r:id="rId28"/>
    <p:sldId id="1382" r:id="rId29"/>
    <p:sldId id="1330" r:id="rId30"/>
    <p:sldId id="1386" r:id="rId31"/>
    <p:sldId id="1387" r:id="rId32"/>
    <p:sldId id="1388" r:id="rId33"/>
    <p:sldId id="1389" r:id="rId34"/>
    <p:sldId id="1390" r:id="rId35"/>
    <p:sldId id="1391" r:id="rId36"/>
    <p:sldId id="1392" r:id="rId37"/>
    <p:sldId id="1337" r:id="rId38"/>
    <p:sldId id="1393" r:id="rId39"/>
    <p:sldId id="1339" r:id="rId40"/>
    <p:sldId id="1395" r:id="rId41"/>
    <p:sldId id="1394" r:id="rId42"/>
    <p:sldId id="1342" r:id="rId43"/>
    <p:sldId id="1396" r:id="rId44"/>
    <p:sldId id="1397" r:id="rId45"/>
    <p:sldId id="1345" r:id="rId46"/>
    <p:sldId id="1429" r:id="rId47"/>
    <p:sldId id="1430" r:id="rId48"/>
    <p:sldId id="1410" r:id="rId49"/>
    <p:sldId id="1428" r:id="rId50"/>
    <p:sldId id="1425" r:id="rId51"/>
    <p:sldId id="1426" r:id="rId52"/>
    <p:sldId id="1427" r:id="rId53"/>
    <p:sldId id="1415" r:id="rId54"/>
    <p:sldId id="1358" r:id="rId55"/>
    <p:sldId id="1363" r:id="rId56"/>
    <p:sldId id="1418" r:id="rId57"/>
    <p:sldId id="1419" r:id="rId58"/>
    <p:sldId id="1420" r:id="rId59"/>
    <p:sldId id="1424" r:id="rId60"/>
    <p:sldId id="1421" r:id="rId61"/>
    <p:sldId id="1422" r:id="rId62"/>
    <p:sldId id="1423" r:id="rId63"/>
    <p:sldId id="1416" r:id="rId64"/>
    <p:sldId id="1431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006E2C"/>
    <a:srgbClr val="BC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92"/>
    <p:restoredTop sz="89747" autoAdjust="0"/>
  </p:normalViewPr>
  <p:slideViewPr>
    <p:cSldViewPr snapToGrid="0" snapToObjects="1">
      <p:cViewPr varScale="1">
        <p:scale>
          <a:sx n="117" d="100"/>
          <a:sy n="117" d="100"/>
        </p:scale>
        <p:origin x="14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4/25/18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4/25/18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{cat}(\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}(w_1),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}(w_2))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}(w_1)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78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{h}_t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{W}^{(h)}\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 \right)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86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{h}_t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with o gates: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{h}_t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{o}_t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output gate computation: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{o}_{t} = \sigma\left(\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{W}^{(xo)}\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{W}^{(ho)}\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{W}^{(co)}\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{b}^{(o)} 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{o}_{t+1}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gateless cell update: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{W}^{(xc)}\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{b}^{(c)} 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input gate: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}_{t+1}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input gate computation: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}_{t} = \sigma\left(\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{W}^{(xi)}\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{W}^{(hi)}\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{W}^{(ci)}\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)} 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cell update with input gates: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}_t\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{W}^{(xc)}\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{b}^{(c)} 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{h}_t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{W}^{(h)}\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 \right)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505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{h}_t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with o gates: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{h}_t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{o}_t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output gate computation: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{o}_{t} = \sigma\left(\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{W}^{(xo)}\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{W}^{(ho)}\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{W}^{(co)}\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{b}^{(o)} 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{o}_{t+1}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gateless cell update: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{W}^{(xc)}\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{b}^{(c)} 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input gate: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}_{t+1}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input gate computation: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}_{t} = \sigma\left(\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{W}^{(xi)}\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{W}^{(hi)}\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{W}^{(ci)}\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)} 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cell update with input gates: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}_t\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{W}^{(xc)}\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{b}^{(c)} 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{h}_t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{W}^{(h)}\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 \right)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30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{h}_t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with o gates: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{h}_t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{o}_t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output gate computation: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{o}_{t} = \sigma\left(\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{W}^{(xo)}\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{W}^{(ho)}\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{W}^{(co)}\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{b}^{(o)} 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{o}_{t+1}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gateless cell update: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{W}^{(xc)}\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{b}^{(c)} 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input gate: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}_{t+1}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input gate computation: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}_{t} = \sigma\left(\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{W}^{(xi)}\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{W}^{(hi)}\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{W}^{(ci)}\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)} 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cell update with input gates: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}_t\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{W}^{(xc)}\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{b}^{(c)} 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{h}_t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{W}^{(h)}\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 \right)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23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cell update with forget: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{f}_{t}\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{W}^{(xc)}\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{b}^{(c)} \right)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13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forget gate comp: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{f}_{t} = \sigma\left(\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{f})} \right)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40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%nlp18:lstm1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{f}_{t}\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}_{t}\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{W}^{(xc)}\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{x}_t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{h}_{t-1}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{b}^{(c)} \right)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{h}_t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{o}_t\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{c}_{t})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11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%nlp18:rvnn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{fell})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{apart})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{h}_1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{it})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{h}_5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{h}_4 = g\left(\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{h}_2\\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{h}_3 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{h}_5 = g\left(\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{h}_1\\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{h}_4 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{b}\right)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531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%nlp18:rvnn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{fell})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{apart})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{h}_1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{it})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{h}_5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{h}_4 = g\left(\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{h}_2\\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{h}_3 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{h}_5 = g\left(\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{h}_1\\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{h}_4 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{b}\right)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19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 =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 = [0.4 \,\,... \,\, 0.9 \,\,\,\, 0.2 \,\,... \,\, 0.7 \,\,\,\, 0.3 \,\, ... \,\, 0.6]^\top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{w}\in\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{R}^d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%c_1 = g\left(\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{x}_{1:d} + b\right)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%c_2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{x}_{d+1:2d}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%c_3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{x}_{2d+1:3d}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83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4/25/18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4/25/18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4/25/18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4/25/18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4/25/18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4/25/18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4/25/18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4/25/18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4/25/18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4/25/18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4/25/18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4/25/18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9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Relationship Id="rId9" Type="http://schemas.openxmlformats.org/officeDocument/2006/relationships/image" Target="../media/image16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0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0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0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4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3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2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3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2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0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Relationship Id="rId14" Type="http://schemas.openxmlformats.org/officeDocument/2006/relationships/image" Target="../media/image24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2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0.emf"/><Relationship Id="rId5" Type="http://schemas.openxmlformats.org/officeDocument/2006/relationships/image" Target="../media/image13.emf"/><Relationship Id="rId15" Type="http://schemas.openxmlformats.org/officeDocument/2006/relationships/image" Target="../media/image24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Relationship Id="rId14" Type="http://schemas.openxmlformats.org/officeDocument/2006/relationships/image" Target="../media/image23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5.emf"/><Relationship Id="rId2" Type="http://schemas.openxmlformats.org/officeDocument/2006/relationships/image" Target="../media/image10.emf"/><Relationship Id="rId16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0.emf"/><Relationship Id="rId5" Type="http://schemas.openxmlformats.org/officeDocument/2006/relationships/image" Target="../media/image13.emf"/><Relationship Id="rId15" Type="http://schemas.openxmlformats.org/officeDocument/2006/relationships/image" Target="../media/image2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Relationship Id="rId14" Type="http://schemas.openxmlformats.org/officeDocument/2006/relationships/image" Target="../media/image22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2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0.emf"/><Relationship Id="rId5" Type="http://schemas.openxmlformats.org/officeDocument/2006/relationships/image" Target="../media/image13.emf"/><Relationship Id="rId15" Type="http://schemas.openxmlformats.org/officeDocument/2006/relationships/image" Target="../media/image24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Relationship Id="rId14" Type="http://schemas.openxmlformats.org/officeDocument/2006/relationships/image" Target="../media/image23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2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7.emf"/><Relationship Id="rId5" Type="http://schemas.openxmlformats.org/officeDocument/2006/relationships/image" Target="../media/image13.emf"/><Relationship Id="rId15" Type="http://schemas.openxmlformats.org/officeDocument/2006/relationships/image" Target="../media/image24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Relationship Id="rId14" Type="http://schemas.openxmlformats.org/officeDocument/2006/relationships/image" Target="../media/image23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2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7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5.emf"/><Relationship Id="rId5" Type="http://schemas.openxmlformats.org/officeDocument/2006/relationships/image" Target="../media/image13.emf"/><Relationship Id="rId15" Type="http://schemas.openxmlformats.org/officeDocument/2006/relationships/image" Target="../media/image24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Relationship Id="rId14" Type="http://schemas.openxmlformats.org/officeDocument/2006/relationships/image" Target="../media/image23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2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7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5.emf"/><Relationship Id="rId5" Type="http://schemas.openxmlformats.org/officeDocument/2006/relationships/image" Target="../media/image13.emf"/><Relationship Id="rId15" Type="http://schemas.openxmlformats.org/officeDocument/2006/relationships/image" Target="../media/image24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Relationship Id="rId14" Type="http://schemas.openxmlformats.org/officeDocument/2006/relationships/image" Target="../media/image23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2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7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5.emf"/><Relationship Id="rId5" Type="http://schemas.openxmlformats.org/officeDocument/2006/relationships/image" Target="../media/image13.emf"/><Relationship Id="rId15" Type="http://schemas.openxmlformats.org/officeDocument/2006/relationships/image" Target="../media/image24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Relationship Id="rId14" Type="http://schemas.openxmlformats.org/officeDocument/2006/relationships/image" Target="../media/image23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30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9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8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30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9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8.emf"/><Relationship Id="rId5" Type="http://schemas.openxmlformats.org/officeDocument/2006/relationships/image" Target="../media/image13.emf"/><Relationship Id="rId15" Type="http://schemas.openxmlformats.org/officeDocument/2006/relationships/image" Target="../media/image21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Relationship Id="rId14" Type="http://schemas.openxmlformats.org/officeDocument/2006/relationships/image" Target="../media/image31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29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12" Type="http://schemas.openxmlformats.org/officeDocument/2006/relationships/image" Target="../media/image2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11" Type="http://schemas.openxmlformats.org/officeDocument/2006/relationships/image" Target="../media/image19.emf"/><Relationship Id="rId5" Type="http://schemas.openxmlformats.org/officeDocument/2006/relationships/image" Target="../media/image12.emf"/><Relationship Id="rId15" Type="http://schemas.openxmlformats.org/officeDocument/2006/relationships/image" Target="../media/image32.emf"/><Relationship Id="rId10" Type="http://schemas.openxmlformats.org/officeDocument/2006/relationships/image" Target="../media/image18.emf"/><Relationship Id="rId4" Type="http://schemas.openxmlformats.org/officeDocument/2006/relationships/image" Target="../media/image11.emf"/><Relationship Id="rId9" Type="http://schemas.openxmlformats.org/officeDocument/2006/relationships/image" Target="../media/image17.emf"/><Relationship Id="rId14" Type="http://schemas.openxmlformats.org/officeDocument/2006/relationships/image" Target="../media/image30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29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12" Type="http://schemas.openxmlformats.org/officeDocument/2006/relationships/image" Target="../media/image2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11" Type="http://schemas.openxmlformats.org/officeDocument/2006/relationships/image" Target="../media/image19.emf"/><Relationship Id="rId5" Type="http://schemas.openxmlformats.org/officeDocument/2006/relationships/image" Target="../media/image12.emf"/><Relationship Id="rId10" Type="http://schemas.openxmlformats.org/officeDocument/2006/relationships/image" Target="../media/image18.emf"/><Relationship Id="rId4" Type="http://schemas.openxmlformats.org/officeDocument/2006/relationships/image" Target="../media/image11.emf"/><Relationship Id="rId9" Type="http://schemas.openxmlformats.org/officeDocument/2006/relationships/image" Target="../media/image17.emf"/><Relationship Id="rId14" Type="http://schemas.openxmlformats.org/officeDocument/2006/relationships/image" Target="../media/image30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29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12" Type="http://schemas.openxmlformats.org/officeDocument/2006/relationships/image" Target="../media/image28.emf"/><Relationship Id="rId17" Type="http://schemas.openxmlformats.org/officeDocument/2006/relationships/image" Target="../media/image24.emf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11" Type="http://schemas.openxmlformats.org/officeDocument/2006/relationships/image" Target="../media/image19.emf"/><Relationship Id="rId5" Type="http://schemas.openxmlformats.org/officeDocument/2006/relationships/image" Target="../media/image12.emf"/><Relationship Id="rId15" Type="http://schemas.openxmlformats.org/officeDocument/2006/relationships/image" Target="../media/image22.emf"/><Relationship Id="rId10" Type="http://schemas.openxmlformats.org/officeDocument/2006/relationships/image" Target="../media/image18.emf"/><Relationship Id="rId4" Type="http://schemas.openxmlformats.org/officeDocument/2006/relationships/image" Target="../media/image11.emf"/><Relationship Id="rId9" Type="http://schemas.openxmlformats.org/officeDocument/2006/relationships/image" Target="../media/image17.emf"/><Relationship Id="rId14" Type="http://schemas.openxmlformats.org/officeDocument/2006/relationships/image" Target="../media/image30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34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33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34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12" Type="http://schemas.openxmlformats.org/officeDocument/2006/relationships/image" Target="../media/image3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11" Type="http://schemas.openxmlformats.org/officeDocument/2006/relationships/image" Target="../media/image19.emf"/><Relationship Id="rId5" Type="http://schemas.openxmlformats.org/officeDocument/2006/relationships/image" Target="../media/image12.emf"/><Relationship Id="rId10" Type="http://schemas.openxmlformats.org/officeDocument/2006/relationships/image" Target="../media/image18.emf"/><Relationship Id="rId4" Type="http://schemas.openxmlformats.org/officeDocument/2006/relationships/image" Target="../media/image11.emf"/><Relationship Id="rId9" Type="http://schemas.openxmlformats.org/officeDocument/2006/relationships/image" Target="../media/image17.emf"/><Relationship Id="rId14" Type="http://schemas.openxmlformats.org/officeDocument/2006/relationships/image" Target="../media/image35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34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12" Type="http://schemas.openxmlformats.org/officeDocument/2006/relationships/image" Target="../media/image3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11" Type="http://schemas.openxmlformats.org/officeDocument/2006/relationships/image" Target="../media/image19.emf"/><Relationship Id="rId5" Type="http://schemas.openxmlformats.org/officeDocument/2006/relationships/image" Target="../media/image12.emf"/><Relationship Id="rId10" Type="http://schemas.openxmlformats.org/officeDocument/2006/relationships/image" Target="../media/image18.emf"/><Relationship Id="rId4" Type="http://schemas.openxmlformats.org/officeDocument/2006/relationships/image" Target="../media/image11.emf"/><Relationship Id="rId9" Type="http://schemas.openxmlformats.org/officeDocument/2006/relationships/image" Target="../media/image17.emf"/><Relationship Id="rId14" Type="http://schemas.openxmlformats.org/officeDocument/2006/relationships/image" Target="../media/image36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3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34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33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image" Target="../media/image19.emf"/><Relationship Id="rId3" Type="http://schemas.openxmlformats.org/officeDocument/2006/relationships/image" Target="../media/image37.emf"/><Relationship Id="rId7" Type="http://schemas.openxmlformats.org/officeDocument/2006/relationships/image" Target="../media/image12.emf"/><Relationship Id="rId12" Type="http://schemas.openxmlformats.org/officeDocument/2006/relationships/image" Target="../media/image1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11" Type="http://schemas.openxmlformats.org/officeDocument/2006/relationships/image" Target="../media/image17.emf"/><Relationship Id="rId5" Type="http://schemas.openxmlformats.org/officeDocument/2006/relationships/image" Target="../media/image10.emf"/><Relationship Id="rId10" Type="http://schemas.openxmlformats.org/officeDocument/2006/relationships/image" Target="../media/image15.emf"/><Relationship Id="rId4" Type="http://schemas.openxmlformats.org/officeDocument/2006/relationships/image" Target="../media/image38.emf"/><Relationship Id="rId9" Type="http://schemas.openxmlformats.org/officeDocument/2006/relationships/image" Target="../media/image14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3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8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10" Type="http://schemas.openxmlformats.org/officeDocument/2006/relationships/image" Target="../media/image19.emf"/><Relationship Id="rId4" Type="http://schemas.openxmlformats.org/officeDocument/2006/relationships/image" Target="../media/image12.emf"/><Relationship Id="rId9" Type="http://schemas.openxmlformats.org/officeDocument/2006/relationships/image" Target="../media/image18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13" Type="http://schemas.openxmlformats.org/officeDocument/2006/relationships/image" Target="../media/image47.emf"/><Relationship Id="rId3" Type="http://schemas.openxmlformats.org/officeDocument/2006/relationships/image" Target="../media/image11.emf"/><Relationship Id="rId7" Type="http://schemas.openxmlformats.org/officeDocument/2006/relationships/image" Target="../media/image41.emf"/><Relationship Id="rId12" Type="http://schemas.openxmlformats.org/officeDocument/2006/relationships/image" Target="../media/image46.emf"/><Relationship Id="rId2" Type="http://schemas.openxmlformats.org/officeDocument/2006/relationships/image" Target="../media/image10.emf"/><Relationship Id="rId16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emf"/><Relationship Id="rId11" Type="http://schemas.openxmlformats.org/officeDocument/2006/relationships/image" Target="../media/image45.emf"/><Relationship Id="rId5" Type="http://schemas.openxmlformats.org/officeDocument/2006/relationships/image" Target="../media/image39.emf"/><Relationship Id="rId15" Type="http://schemas.openxmlformats.org/officeDocument/2006/relationships/image" Target="../media/image49.emf"/><Relationship Id="rId10" Type="http://schemas.openxmlformats.org/officeDocument/2006/relationships/image" Target="../media/image44.emf"/><Relationship Id="rId4" Type="http://schemas.openxmlformats.org/officeDocument/2006/relationships/image" Target="../media/image12.emf"/><Relationship Id="rId9" Type="http://schemas.openxmlformats.org/officeDocument/2006/relationships/image" Target="../media/image43.emf"/><Relationship Id="rId14" Type="http://schemas.openxmlformats.org/officeDocument/2006/relationships/image" Target="../media/image48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13" Type="http://schemas.openxmlformats.org/officeDocument/2006/relationships/image" Target="../media/image47.emf"/><Relationship Id="rId3" Type="http://schemas.openxmlformats.org/officeDocument/2006/relationships/image" Target="../media/image11.emf"/><Relationship Id="rId7" Type="http://schemas.openxmlformats.org/officeDocument/2006/relationships/image" Target="../media/image41.emf"/><Relationship Id="rId12" Type="http://schemas.openxmlformats.org/officeDocument/2006/relationships/image" Target="../media/image46.emf"/><Relationship Id="rId2" Type="http://schemas.openxmlformats.org/officeDocument/2006/relationships/image" Target="../media/image10.emf"/><Relationship Id="rId16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emf"/><Relationship Id="rId11" Type="http://schemas.openxmlformats.org/officeDocument/2006/relationships/image" Target="../media/image45.emf"/><Relationship Id="rId5" Type="http://schemas.openxmlformats.org/officeDocument/2006/relationships/image" Target="../media/image39.emf"/><Relationship Id="rId15" Type="http://schemas.openxmlformats.org/officeDocument/2006/relationships/image" Target="../media/image49.emf"/><Relationship Id="rId10" Type="http://schemas.openxmlformats.org/officeDocument/2006/relationships/image" Target="../media/image44.emf"/><Relationship Id="rId4" Type="http://schemas.openxmlformats.org/officeDocument/2006/relationships/image" Target="../media/image12.emf"/><Relationship Id="rId9" Type="http://schemas.openxmlformats.org/officeDocument/2006/relationships/image" Target="../media/image43.emf"/><Relationship Id="rId14" Type="http://schemas.openxmlformats.org/officeDocument/2006/relationships/image" Target="../media/image48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10" Type="http://schemas.openxmlformats.org/officeDocument/2006/relationships/image" Target="../media/image59.emf"/><Relationship Id="rId4" Type="http://schemas.openxmlformats.org/officeDocument/2006/relationships/image" Target="../media/image53.emf"/><Relationship Id="rId9" Type="http://schemas.openxmlformats.org/officeDocument/2006/relationships/image" Target="../media/image58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11" Type="http://schemas.openxmlformats.org/officeDocument/2006/relationships/image" Target="../media/image61.emf"/><Relationship Id="rId5" Type="http://schemas.openxmlformats.org/officeDocument/2006/relationships/image" Target="../media/image54.emf"/><Relationship Id="rId10" Type="http://schemas.openxmlformats.org/officeDocument/2006/relationships/image" Target="../media/image60.emf"/><Relationship Id="rId4" Type="http://schemas.openxmlformats.org/officeDocument/2006/relationships/image" Target="../media/image53.emf"/><Relationship Id="rId9" Type="http://schemas.openxmlformats.org/officeDocument/2006/relationships/image" Target="../media/image58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image" Target="../media/image53.emf"/><Relationship Id="rId7" Type="http://schemas.openxmlformats.org/officeDocument/2006/relationships/image" Target="../media/image57.emf"/><Relationship Id="rId12" Type="http://schemas.openxmlformats.org/officeDocument/2006/relationships/image" Target="../media/image6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emf"/><Relationship Id="rId11" Type="http://schemas.openxmlformats.org/officeDocument/2006/relationships/image" Target="../media/image62.emf"/><Relationship Id="rId5" Type="http://schemas.openxmlformats.org/officeDocument/2006/relationships/image" Target="../media/image55.emf"/><Relationship Id="rId10" Type="http://schemas.openxmlformats.org/officeDocument/2006/relationships/image" Target="../media/image61.emf"/><Relationship Id="rId4" Type="http://schemas.openxmlformats.org/officeDocument/2006/relationships/image" Target="../media/image54.emf"/><Relationship Id="rId9" Type="http://schemas.openxmlformats.org/officeDocument/2006/relationships/image" Target="../media/image60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54.emf"/><Relationship Id="rId7" Type="http://schemas.openxmlformats.org/officeDocument/2006/relationships/image" Target="../media/image58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emf"/><Relationship Id="rId11" Type="http://schemas.openxmlformats.org/officeDocument/2006/relationships/image" Target="../media/image63.emf"/><Relationship Id="rId5" Type="http://schemas.openxmlformats.org/officeDocument/2006/relationships/image" Target="../media/image56.emf"/><Relationship Id="rId10" Type="http://schemas.openxmlformats.org/officeDocument/2006/relationships/image" Target="../media/image62.emf"/><Relationship Id="rId4" Type="http://schemas.openxmlformats.org/officeDocument/2006/relationships/image" Target="../media/image55.emf"/><Relationship Id="rId9" Type="http://schemas.openxmlformats.org/officeDocument/2006/relationships/image" Target="../media/image61.e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emf"/><Relationship Id="rId4" Type="http://schemas.openxmlformats.org/officeDocument/2006/relationships/image" Target="../media/image65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emf"/><Relationship Id="rId5" Type="http://schemas.openxmlformats.org/officeDocument/2006/relationships/image" Target="../media/image68.emf"/><Relationship Id="rId4" Type="http://schemas.openxmlformats.org/officeDocument/2006/relationships/image" Target="../media/image66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7" Type="http://schemas.openxmlformats.org/officeDocument/2006/relationships/image" Target="../media/image69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emf"/><Relationship Id="rId5" Type="http://schemas.openxmlformats.org/officeDocument/2006/relationships/image" Target="../media/image68.emf"/><Relationship Id="rId4" Type="http://schemas.openxmlformats.org/officeDocument/2006/relationships/image" Target="../media/image66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7" Type="http://schemas.openxmlformats.org/officeDocument/2006/relationships/image" Target="../media/image70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emf"/><Relationship Id="rId5" Type="http://schemas.openxmlformats.org/officeDocument/2006/relationships/image" Target="../media/image68.emf"/><Relationship Id="rId4" Type="http://schemas.openxmlformats.org/officeDocument/2006/relationships/image" Target="../media/image66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7" Type="http://schemas.openxmlformats.org/officeDocument/2006/relationships/image" Target="../media/image71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emf"/><Relationship Id="rId5" Type="http://schemas.openxmlformats.org/officeDocument/2006/relationships/image" Target="../media/image68.emf"/><Relationship Id="rId4" Type="http://schemas.openxmlformats.org/officeDocument/2006/relationships/image" Target="../media/image66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7" Type="http://schemas.openxmlformats.org/officeDocument/2006/relationships/image" Target="../media/image71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emf"/><Relationship Id="rId5" Type="http://schemas.openxmlformats.org/officeDocument/2006/relationships/image" Target="../media/image68.emf"/><Relationship Id="rId4" Type="http://schemas.openxmlformats.org/officeDocument/2006/relationships/image" Target="../media/image66.e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image" Target="../media/image64.emf"/><Relationship Id="rId7" Type="http://schemas.openxmlformats.org/officeDocument/2006/relationships/image" Target="../media/image71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emf"/><Relationship Id="rId5" Type="http://schemas.openxmlformats.org/officeDocument/2006/relationships/image" Target="../media/image68.emf"/><Relationship Id="rId4" Type="http://schemas.openxmlformats.org/officeDocument/2006/relationships/image" Target="../media/image66.e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/>
              <a:t>TTIC 31190:</a:t>
            </a:r>
            <a:br>
              <a:rPr lang="en-US" dirty="0"/>
            </a:br>
            <a:r>
              <a:rPr lang="en-US" dirty="0"/>
              <a:t>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4036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>
                <a:solidFill>
                  <a:schemeClr val="tx1"/>
                </a:solidFill>
              </a:rPr>
              <a:t>Spring 2018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Lecture 10: </a:t>
            </a:r>
          </a:p>
          <a:p>
            <a:r>
              <a:rPr lang="en-US" sz="4000" dirty="0">
                <a:solidFill>
                  <a:schemeClr val="tx1"/>
                </a:solidFill>
              </a:rPr>
              <a:t>Recurrent, Recursive, and Convolutional Neural Networks in NLP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 2 due Monday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1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A21E-A132-7D44-8ED5-84134579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6FFB4-3545-F54C-B55B-6C270DF5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proposal details have been posted (see main course page or assignments page)</a:t>
            </a:r>
          </a:p>
          <a:p>
            <a:r>
              <a:rPr lang="en-US" dirty="0"/>
              <a:t>due May 9</a:t>
            </a:r>
          </a:p>
          <a:p>
            <a:r>
              <a:rPr lang="en-US" dirty="0"/>
              <a:t>groups of 2-3 are ok (but think about how you will divide up the work, especially with 3)</a:t>
            </a:r>
          </a:p>
          <a:p>
            <a:r>
              <a:rPr lang="en-US" dirty="0"/>
              <a:t>let me know if you’re still looking for a partner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09366-620D-FC40-8B86-032EAD7C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5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89DA-3BDF-4A41-AA93-DDFF9435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BEAC2-9A9A-FF4F-8876-AB6A6C58D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report due Wednesday, June 6</a:t>
            </a:r>
          </a:p>
          <a:p>
            <a:r>
              <a:rPr lang="en-US" dirty="0"/>
              <a:t>for graduating students, due May 30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FFC84-61AA-AE41-AD28-9D392DB6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0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/>
              <a:t>words, morphology, lexical semantics</a:t>
            </a:r>
          </a:p>
          <a:p>
            <a:r>
              <a:rPr lang="en-US" sz="2400" dirty="0"/>
              <a:t>text classification</a:t>
            </a:r>
          </a:p>
          <a:p>
            <a:r>
              <a:rPr lang="en-US" sz="2400" dirty="0"/>
              <a:t>language modeling</a:t>
            </a:r>
          </a:p>
          <a:p>
            <a:r>
              <a:rPr lang="en-US" sz="2400" dirty="0"/>
              <a:t>word </a:t>
            </a:r>
            <a:r>
              <a:rPr lang="en-US" sz="2400" dirty="0" err="1"/>
              <a:t>embeddings</a:t>
            </a:r>
            <a:endParaRPr lang="en-US" sz="2400" dirty="0"/>
          </a:p>
          <a:p>
            <a:r>
              <a:rPr lang="en-US" sz="2400" dirty="0">
                <a:solidFill>
                  <a:srgbClr val="288CD2"/>
                </a:solidFill>
              </a:rPr>
              <a:t>recurrent/recursive/convolutional networks in NLP</a:t>
            </a:r>
          </a:p>
          <a:p>
            <a:r>
              <a:rPr lang="en-US" sz="2400" dirty="0"/>
              <a:t>sequence labeling, HMMs, dynamic programming</a:t>
            </a:r>
          </a:p>
          <a:p>
            <a:r>
              <a:rPr lang="en-US" sz="2400" dirty="0"/>
              <a:t>syntax and syntactic parsing</a:t>
            </a:r>
          </a:p>
          <a:p>
            <a:r>
              <a:rPr lang="en-US" sz="2400" dirty="0"/>
              <a:t>semantics, compositionality, semantic parsing</a:t>
            </a:r>
          </a:p>
          <a:p>
            <a:r>
              <a:rPr lang="en-US" sz="2400" dirty="0"/>
              <a:t>machine translation and other NLP tasks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9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word2vec Score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skip-gram: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CBOW: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69" y="3599579"/>
            <a:ext cx="5829300" cy="927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69" y="1850043"/>
            <a:ext cx="4241800" cy="381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083193"/>
              </p:ext>
            </p:extLst>
          </p:nvPr>
        </p:nvGraphicFramePr>
        <p:xfrm>
          <a:off x="1032415" y="4803843"/>
          <a:ext cx="69088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7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inputs (</a:t>
                      </a:r>
                      <a:r>
                        <a:rPr lang="en-US" sz="2000" b="1" i="1" dirty="0"/>
                        <a:t>x</a:t>
                      </a:r>
                      <a:r>
                        <a:rPr lang="en-US" sz="2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outputs (</a:t>
                      </a:r>
                      <a:r>
                        <a:rPr lang="en-US" sz="2000" b="0" i="1" dirty="0"/>
                        <a:t>y</a:t>
                      </a:r>
                      <a:r>
                        <a:rPr lang="en-US" sz="2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{&lt;s&gt;, is, the, traditional}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agriculture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79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{&lt;s&gt;,</a:t>
                      </a:r>
                      <a:r>
                        <a:rPr lang="en-US" sz="2000" baseline="0"/>
                        <a:t> agriculture, the, traditional}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7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{agriculture, is, traditional, mainstay}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020071"/>
              </p:ext>
            </p:extLst>
          </p:nvPr>
        </p:nvGraphicFramePr>
        <p:xfrm>
          <a:off x="5911024" y="1275437"/>
          <a:ext cx="296160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0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8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inputs (</a:t>
                      </a:r>
                      <a:r>
                        <a:rPr lang="en-US" sz="1800" b="0" i="1" dirty="0"/>
                        <a:t>x</a:t>
                      </a:r>
                      <a:r>
                        <a:rPr lang="en-US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outputs (</a:t>
                      </a:r>
                      <a:r>
                        <a:rPr lang="en-US" sz="1800" b="0" i="1" dirty="0"/>
                        <a:t>y</a:t>
                      </a:r>
                      <a:r>
                        <a:rPr lang="en-US" sz="1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agriculture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&lt;s&gt;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8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agriculture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8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agriculture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921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A844FED-DA7C-664C-BB36-FEEB35AFBD66}"/>
              </a:ext>
            </a:extLst>
          </p:cNvPr>
          <p:cNvCxnSpPr>
            <a:cxnSpLocks/>
            <a:stCxn id="29" idx="2"/>
            <a:endCxn id="46" idx="6"/>
          </p:cNvCxnSpPr>
          <p:nvPr/>
        </p:nvCxnSpPr>
        <p:spPr bwMode="auto">
          <a:xfrm flipV="1">
            <a:off x="3839241" y="2938363"/>
            <a:ext cx="229030" cy="110734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A844FED-DA7C-664C-BB36-FEEB35AFBD66}"/>
              </a:ext>
            </a:extLst>
          </p:cNvPr>
          <p:cNvCxnSpPr>
            <a:cxnSpLocks/>
            <a:stCxn id="29" idx="1"/>
            <a:endCxn id="64" idx="6"/>
          </p:cNvCxnSpPr>
          <p:nvPr/>
        </p:nvCxnSpPr>
        <p:spPr bwMode="auto">
          <a:xfrm flipV="1">
            <a:off x="3920063" y="2938363"/>
            <a:ext cx="881038" cy="11408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A844FED-DA7C-664C-BB36-FEEB35AFBD66}"/>
              </a:ext>
            </a:extLst>
          </p:cNvPr>
          <p:cNvCxnSpPr>
            <a:cxnSpLocks/>
            <a:stCxn id="26" idx="2"/>
            <a:endCxn id="46" idx="6"/>
          </p:cNvCxnSpPr>
          <p:nvPr/>
        </p:nvCxnSpPr>
        <p:spPr bwMode="auto">
          <a:xfrm flipH="1" flipV="1">
            <a:off x="4068271" y="2938363"/>
            <a:ext cx="913970" cy="110734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A844FED-DA7C-664C-BB36-FEEB35AFBD66}"/>
              </a:ext>
            </a:extLst>
          </p:cNvPr>
          <p:cNvCxnSpPr>
            <a:cxnSpLocks/>
            <a:stCxn id="26" idx="2"/>
            <a:endCxn id="64" idx="6"/>
          </p:cNvCxnSpPr>
          <p:nvPr/>
        </p:nvCxnSpPr>
        <p:spPr bwMode="auto">
          <a:xfrm flipH="1" flipV="1">
            <a:off x="4801101" y="2938363"/>
            <a:ext cx="181140" cy="110734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A844FED-DA7C-664C-BB36-FEEB35AFBD66}"/>
              </a:ext>
            </a:extLst>
          </p:cNvPr>
          <p:cNvCxnSpPr>
            <a:cxnSpLocks/>
            <a:stCxn id="26" idx="6"/>
            <a:endCxn id="51" idx="2"/>
          </p:cNvCxnSpPr>
          <p:nvPr/>
        </p:nvCxnSpPr>
        <p:spPr bwMode="auto">
          <a:xfrm flipH="1">
            <a:off x="2645128" y="4274306"/>
            <a:ext cx="2337113" cy="12907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A844FED-DA7C-664C-BB36-FEEB35AFBD66}"/>
              </a:ext>
            </a:extLst>
          </p:cNvPr>
          <p:cNvCxnSpPr>
            <a:cxnSpLocks/>
            <a:stCxn id="26" idx="6"/>
            <a:endCxn id="9" idx="2"/>
          </p:cNvCxnSpPr>
          <p:nvPr/>
        </p:nvCxnSpPr>
        <p:spPr bwMode="auto">
          <a:xfrm flipH="1">
            <a:off x="4448841" y="4274306"/>
            <a:ext cx="533400" cy="12907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A844FED-DA7C-664C-BB36-FEEB35AFBD66}"/>
              </a:ext>
            </a:extLst>
          </p:cNvPr>
          <p:cNvCxnSpPr>
            <a:cxnSpLocks/>
            <a:stCxn id="12" idx="2"/>
            <a:endCxn id="29" idx="6"/>
          </p:cNvCxnSpPr>
          <p:nvPr/>
        </p:nvCxnSpPr>
        <p:spPr bwMode="auto">
          <a:xfrm flipV="1">
            <a:off x="3305841" y="4274306"/>
            <a:ext cx="533400" cy="12907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A844FED-DA7C-664C-BB36-FEEB35AFBD66}"/>
              </a:ext>
            </a:extLst>
          </p:cNvPr>
          <p:cNvCxnSpPr>
            <a:cxnSpLocks/>
            <a:stCxn id="34" idx="3"/>
            <a:endCxn id="29" idx="7"/>
          </p:cNvCxnSpPr>
          <p:nvPr/>
        </p:nvCxnSpPr>
        <p:spPr bwMode="auto">
          <a:xfrm flipH="1" flipV="1">
            <a:off x="3920063" y="4240828"/>
            <a:ext cx="2061762" cy="13493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A844FED-DA7C-664C-BB36-FEEB35AFBD66}"/>
              </a:ext>
            </a:extLst>
          </p:cNvPr>
          <p:cNvCxnSpPr>
            <a:cxnSpLocks/>
            <a:stCxn id="26" idx="7"/>
            <a:endCxn id="31" idx="3"/>
          </p:cNvCxnSpPr>
          <p:nvPr/>
        </p:nvCxnSpPr>
        <p:spPr bwMode="auto">
          <a:xfrm>
            <a:off x="5063063" y="4240828"/>
            <a:ext cx="2061762" cy="13493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A844FED-DA7C-664C-BB36-FEEB35AFBD66}"/>
              </a:ext>
            </a:extLst>
          </p:cNvPr>
          <p:cNvCxnSpPr>
            <a:cxnSpLocks/>
            <a:stCxn id="54" idx="2"/>
            <a:endCxn id="29" idx="5"/>
          </p:cNvCxnSpPr>
          <p:nvPr/>
        </p:nvCxnSpPr>
        <p:spPr bwMode="auto">
          <a:xfrm flipV="1">
            <a:off x="1502128" y="4240828"/>
            <a:ext cx="2256291" cy="132423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A Simple Neural Text Classification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265" y="935960"/>
            <a:ext cx="8710367" cy="1688899"/>
          </a:xfrm>
        </p:spPr>
        <p:txBody>
          <a:bodyPr>
            <a:normAutofit/>
          </a:bodyPr>
          <a:lstStyle/>
          <a:p>
            <a:r>
              <a:rPr lang="en-US" dirty="0"/>
              <a:t>represent </a:t>
            </a:r>
            <a:r>
              <a:rPr lang="en-US" b="1" i="1" dirty="0"/>
              <a:t>x</a:t>
            </a:r>
            <a:r>
              <a:rPr lang="en-US" dirty="0"/>
              <a:t> by averaging its word </a:t>
            </a:r>
            <a:r>
              <a:rPr lang="en-US" dirty="0" err="1"/>
              <a:t>embeddings</a:t>
            </a:r>
            <a:endParaRPr lang="en-US" dirty="0"/>
          </a:p>
          <a:p>
            <a:r>
              <a:rPr lang="en-US" dirty="0"/>
              <a:t>output is a score vector over all possible labels: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 rot="5400000">
            <a:off x="3686841" y="4841162"/>
            <a:ext cx="381000" cy="1676400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Oval 8"/>
          <p:cNvSpPr/>
          <p:nvPr/>
        </p:nvSpPr>
        <p:spPr>
          <a:xfrm rot="5400000">
            <a:off x="4334541" y="556506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0" name="Oval 9"/>
          <p:cNvSpPr/>
          <p:nvPr/>
        </p:nvSpPr>
        <p:spPr>
          <a:xfrm rot="5400000">
            <a:off x="3953541" y="556506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1" name="Oval 10"/>
          <p:cNvSpPr/>
          <p:nvPr/>
        </p:nvSpPr>
        <p:spPr>
          <a:xfrm rot="5400000">
            <a:off x="3572541" y="556506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2" name="Oval 11"/>
          <p:cNvSpPr/>
          <p:nvPr/>
        </p:nvSpPr>
        <p:spPr>
          <a:xfrm rot="5400000">
            <a:off x="3191541" y="556506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Right Brace 48">
            <a:extLst>
              <a:ext uri="{FF2B5EF4-FFF2-40B4-BE49-F238E27FC236}">
                <a16:creationId xmlns:a16="http://schemas.microsoft.com/office/drawing/2014/main" id="{AF74E93E-68A7-D54C-9C6A-AF358F78E008}"/>
              </a:ext>
            </a:extLst>
          </p:cNvPr>
          <p:cNvSpPr/>
          <p:nvPr/>
        </p:nvSpPr>
        <p:spPr>
          <a:xfrm rot="5400000">
            <a:off x="1871437" y="5131025"/>
            <a:ext cx="406400" cy="1768652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90B8EB6-3816-B94A-B441-40ED5A4D5C40}"/>
              </a:ext>
            </a:extLst>
          </p:cNvPr>
          <p:cNvSpPr/>
          <p:nvPr/>
        </p:nvSpPr>
        <p:spPr>
          <a:xfrm rot="5400000">
            <a:off x="1883128" y="4841162"/>
            <a:ext cx="381000" cy="1676400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0801311-3F09-AC4A-8400-AFF7389EFA23}"/>
              </a:ext>
            </a:extLst>
          </p:cNvPr>
          <p:cNvSpPr/>
          <p:nvPr/>
        </p:nvSpPr>
        <p:spPr>
          <a:xfrm rot="5400000">
            <a:off x="2530828" y="556506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6BC56C5-E473-9D4B-A7DB-B52BE91D1132}"/>
              </a:ext>
            </a:extLst>
          </p:cNvPr>
          <p:cNvSpPr/>
          <p:nvPr/>
        </p:nvSpPr>
        <p:spPr>
          <a:xfrm rot="5400000">
            <a:off x="2149828" y="556506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AAD2E7C-2046-B946-94C0-EC1019B6C684}"/>
              </a:ext>
            </a:extLst>
          </p:cNvPr>
          <p:cNvSpPr/>
          <p:nvPr/>
        </p:nvSpPr>
        <p:spPr>
          <a:xfrm rot="5400000">
            <a:off x="1768828" y="556506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34C4E78-BF1B-A24B-AFBD-372755F0BD86}"/>
              </a:ext>
            </a:extLst>
          </p:cNvPr>
          <p:cNvSpPr/>
          <p:nvPr/>
        </p:nvSpPr>
        <p:spPr>
          <a:xfrm rot="5400000">
            <a:off x="1387828" y="556506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ight Brace 54">
            <a:extLst>
              <a:ext uri="{FF2B5EF4-FFF2-40B4-BE49-F238E27FC236}">
                <a16:creationId xmlns:a16="http://schemas.microsoft.com/office/drawing/2014/main" id="{F588974D-8955-6648-8AD7-B52A675963C8}"/>
              </a:ext>
            </a:extLst>
          </p:cNvPr>
          <p:cNvSpPr/>
          <p:nvPr/>
        </p:nvSpPr>
        <p:spPr>
          <a:xfrm rot="5400000">
            <a:off x="3673357" y="5132111"/>
            <a:ext cx="406400" cy="1768652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 rot="5400000">
            <a:off x="4220241" y="3321806"/>
            <a:ext cx="381000" cy="16764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 rot="5400000">
            <a:off x="4867941" y="4045706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7" name="Oval 26"/>
          <p:cNvSpPr/>
          <p:nvPr/>
        </p:nvSpPr>
        <p:spPr>
          <a:xfrm rot="5400000">
            <a:off x="4486941" y="4045706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8" name="Oval 27"/>
          <p:cNvSpPr/>
          <p:nvPr/>
        </p:nvSpPr>
        <p:spPr>
          <a:xfrm rot="5400000">
            <a:off x="4105941" y="4045706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9" name="Oval 28"/>
          <p:cNvSpPr/>
          <p:nvPr/>
        </p:nvSpPr>
        <p:spPr>
          <a:xfrm rot="5400000">
            <a:off x="3724941" y="4045706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Rounded Rectangle 29"/>
          <p:cNvSpPr/>
          <p:nvPr/>
        </p:nvSpPr>
        <p:spPr>
          <a:xfrm rot="5400000">
            <a:off x="6443647" y="4832821"/>
            <a:ext cx="381000" cy="1676400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1" name="Oval 30"/>
          <p:cNvSpPr/>
          <p:nvPr/>
        </p:nvSpPr>
        <p:spPr>
          <a:xfrm rot="5400000">
            <a:off x="7091347" y="555672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2" name="Oval 31"/>
          <p:cNvSpPr/>
          <p:nvPr/>
        </p:nvSpPr>
        <p:spPr>
          <a:xfrm rot="5400000">
            <a:off x="6710347" y="555672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 rot="5400000">
            <a:off x="6329347" y="555672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 rot="5400000">
            <a:off x="5948347" y="555672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97781" y="5346642"/>
            <a:ext cx="432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F588974D-8955-6648-8AD7-B52A675963C8}"/>
              </a:ext>
            </a:extLst>
          </p:cNvPr>
          <p:cNvSpPr/>
          <p:nvPr/>
        </p:nvSpPr>
        <p:spPr>
          <a:xfrm rot="5400000">
            <a:off x="6430887" y="5166095"/>
            <a:ext cx="406400" cy="1768652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712" y="6318245"/>
            <a:ext cx="1206500" cy="3683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000" y="6310653"/>
            <a:ext cx="1206500" cy="3683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647" y="6310653"/>
            <a:ext cx="1257300" cy="3683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867941" y="4274306"/>
            <a:ext cx="432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sp>
        <p:nvSpPr>
          <p:cNvPr id="41" name="Rounded Rectangle 40"/>
          <p:cNvSpPr/>
          <p:nvPr/>
        </p:nvSpPr>
        <p:spPr>
          <a:xfrm rot="5400000">
            <a:off x="4241817" y="2193317"/>
            <a:ext cx="381000" cy="126149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Oval 43"/>
          <p:cNvSpPr/>
          <p:nvPr/>
        </p:nvSpPr>
        <p:spPr>
          <a:xfrm rot="5400000">
            <a:off x="4334971" y="270976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Oval 45"/>
          <p:cNvSpPr/>
          <p:nvPr/>
        </p:nvSpPr>
        <p:spPr>
          <a:xfrm rot="5400000">
            <a:off x="3953971" y="270976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4" name="Oval 63"/>
          <p:cNvSpPr/>
          <p:nvPr/>
        </p:nvSpPr>
        <p:spPr>
          <a:xfrm rot="5400000">
            <a:off x="4686801" y="270976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460822FE-36D7-7640-8734-CCB7301C52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4131" y="2709763"/>
            <a:ext cx="203180" cy="23220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506" y="3734672"/>
            <a:ext cx="3670300" cy="99060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506" y="2633562"/>
            <a:ext cx="2057400" cy="38100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6506" y="3054350"/>
            <a:ext cx="29083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72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encoder: a function to represent a word sequence as a vector</a:t>
            </a:r>
          </a:p>
          <a:p>
            <a:r>
              <a:rPr lang="en-US" dirty="0"/>
              <a:t>simplest: average word </a:t>
            </a:r>
            <a:r>
              <a:rPr lang="en-US" dirty="0" err="1"/>
              <a:t>embeddings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many other functions possible!</a:t>
            </a:r>
          </a:p>
          <a:p>
            <a:r>
              <a:rPr lang="en-US" dirty="0"/>
              <a:t>lots of recent work on developing better ways to encode word sequences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765" y="2909649"/>
            <a:ext cx="36703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1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Recurrent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Input is a sequence: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59986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59062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60448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4042057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4042057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75490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657760"/>
            <a:ext cx="2309" cy="9421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74566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648524"/>
            <a:ext cx="2310" cy="9421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7572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660069"/>
            <a:ext cx="3" cy="9444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0" y="3744642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31ABA71-34EE-0F4D-B292-D4FB9A037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18" y="2129822"/>
            <a:ext cx="584200" cy="1905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CB5C9EC-9A1E-5A4F-93AF-F9D2918F4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27" y="2117122"/>
            <a:ext cx="584200" cy="2159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D203F72-87DD-A749-B60D-7DDDEF242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22" y="2104597"/>
            <a:ext cx="266700" cy="19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9212B1-8F6C-6A4B-9B18-ECE91F198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937" y="3903713"/>
            <a:ext cx="279400" cy="27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A7E77D-FA6A-9246-A4BE-4D4D8AB92E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860" y="3889659"/>
            <a:ext cx="584200" cy="292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B7059E-C815-1047-B5F6-6F09D20834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741" y="3892827"/>
            <a:ext cx="5842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57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Recurrent Neural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59986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59062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60448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4042057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4042057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75490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657760"/>
            <a:ext cx="2309" cy="9421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74566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648524"/>
            <a:ext cx="2310" cy="9421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7572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660069"/>
            <a:ext cx="3" cy="9444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0" y="3744642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0086B20-1636-814D-B7EC-74D5732A3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2129822"/>
            <a:ext cx="584200" cy="1905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3AE016A-5023-2242-A5A1-3DD177C22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27" y="2117122"/>
            <a:ext cx="584200" cy="2159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8BD132F-743A-5441-A403-EB615A76C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422" y="2104597"/>
            <a:ext cx="266700" cy="1905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8937" y="3903713"/>
            <a:ext cx="279400" cy="2794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4860" y="3889659"/>
            <a:ext cx="584200" cy="2921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3741" y="3892827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721762-121F-C54F-9E2E-8238C6554E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6600" y="955379"/>
            <a:ext cx="51308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66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Long Short-Term Memory Networks (gateless)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83128" y="3213551"/>
            <a:ext cx="2075869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“memory cell”</a:t>
            </a:r>
            <a:endParaRPr lang="en-US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18" y="1930429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27" y="1930429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22" y="1930429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937" y="4868733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860" y="4868733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741" y="4868733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3741" y="3423221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5627" y="3423221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4551" y="3423221"/>
            <a:ext cx="2413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9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Long Short-Term Memory Networks (gateless)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18" y="1930429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27" y="1930429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22" y="1930429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937" y="4868733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860" y="4868733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741" y="4868733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3741" y="3423221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5627" y="3423221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4551" y="3423221"/>
            <a:ext cx="241300" cy="2032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E987A2DF-1680-4E4D-A685-E2BEDAAD80E2}"/>
              </a:ext>
            </a:extLst>
          </p:cNvPr>
          <p:cNvSpPr/>
          <p:nvPr/>
        </p:nvSpPr>
        <p:spPr>
          <a:xfrm>
            <a:off x="137672" y="4562769"/>
            <a:ext cx="2052781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137CF4-4818-454F-A158-659D3AE917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147" y="4789830"/>
            <a:ext cx="18415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31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Long Short-Term Memory Networks (gateless)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18" y="1930429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27" y="1930429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22" y="1930429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937" y="4868733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860" y="4868733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741" y="4868733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3741" y="3423221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5627" y="3423221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4551" y="3423221"/>
            <a:ext cx="241300" cy="2032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E987A2DF-1680-4E4D-A685-E2BEDAAD80E2}"/>
              </a:ext>
            </a:extLst>
          </p:cNvPr>
          <p:cNvSpPr/>
          <p:nvPr/>
        </p:nvSpPr>
        <p:spPr>
          <a:xfrm>
            <a:off x="137672" y="4562769"/>
            <a:ext cx="2052781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137CF4-4818-454F-A158-659D3AE917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147" y="4789830"/>
            <a:ext cx="1841500" cy="317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9C5489-C10D-1647-BD4A-148E0A332D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3650" y="889060"/>
            <a:ext cx="6616700" cy="5715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A4EB954F-80EA-A541-AB88-0FE5307AEEAC}"/>
              </a:ext>
            </a:extLst>
          </p:cNvPr>
          <p:cNvSpPr/>
          <p:nvPr/>
        </p:nvSpPr>
        <p:spPr>
          <a:xfrm>
            <a:off x="1088570" y="773545"/>
            <a:ext cx="6977743" cy="76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1546702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Long Short-Term Memory Networks (gateless)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18" y="1930429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27" y="1930429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22" y="1930429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937" y="4868733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860" y="4868733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741" y="4868733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3741" y="3423221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5627" y="3423221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4551" y="3423221"/>
            <a:ext cx="241300" cy="2032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E987A2DF-1680-4E4D-A685-E2BEDAAD80E2}"/>
              </a:ext>
            </a:extLst>
          </p:cNvPr>
          <p:cNvSpPr/>
          <p:nvPr/>
        </p:nvSpPr>
        <p:spPr>
          <a:xfrm>
            <a:off x="137672" y="4562769"/>
            <a:ext cx="2052781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137CF4-4818-454F-A158-659D3AE917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147" y="4789830"/>
            <a:ext cx="1841500" cy="317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9C5489-C10D-1647-BD4A-148E0A332D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3650" y="889060"/>
            <a:ext cx="6616700" cy="5715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A4EB954F-80EA-A541-AB88-0FE5307AEEAC}"/>
              </a:ext>
            </a:extLst>
          </p:cNvPr>
          <p:cNvSpPr/>
          <p:nvPr/>
        </p:nvSpPr>
        <p:spPr>
          <a:xfrm>
            <a:off x="1088570" y="773545"/>
            <a:ext cx="6977743" cy="76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078474D-CFAF-D845-8606-A1E368AA5A18}"/>
              </a:ext>
            </a:extLst>
          </p:cNvPr>
          <p:cNvSpPr/>
          <p:nvPr/>
        </p:nvSpPr>
        <p:spPr>
          <a:xfrm>
            <a:off x="80819" y="770248"/>
            <a:ext cx="8279410" cy="4999182"/>
          </a:xfrm>
          <a:prstGeom prst="rect">
            <a:avLst/>
          </a:prstGeom>
          <a:solidFill>
            <a:schemeClr val="bg1">
              <a:alpha val="64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EA4039-FC44-C34C-B985-0279C577F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091" y="1465537"/>
            <a:ext cx="6419273" cy="3496342"/>
          </a:xfrm>
          <a:prstGeom prst="rect">
            <a:avLst/>
          </a:prstGeom>
          <a:solidFill>
            <a:schemeClr val="bg1"/>
          </a:solidFill>
          <a:ln w="57150" cmpd="sng">
            <a:solidFill>
              <a:srgbClr val="C50C0C"/>
            </a:solidFill>
            <a:miter lim="800000"/>
            <a:headEnd/>
            <a:tailEnd/>
          </a:ln>
          <a:extLst/>
        </p:spPr>
        <p:txBody>
          <a:bodyPr wrap="square" lIns="274320" tIns="45720" rIns="182880" bIns="13716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800" i="0" dirty="0">
                <a:solidFill>
                  <a:srgbClr val="C50C0C"/>
                </a:solidFill>
                <a:latin typeface="Calibri"/>
                <a:cs typeface="Calibri"/>
              </a:rPr>
              <a:t>Experiment: text classification</a:t>
            </a:r>
          </a:p>
          <a:p>
            <a:pPr marL="342900" indent="-342900" eaLnBrk="1" hangingPunct="1">
              <a:lnSpc>
                <a:spcPct val="110000"/>
              </a:lnSpc>
              <a:buFont typeface="Arial"/>
              <a:buChar char="•"/>
            </a:pPr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Stanford Sentiment Treebank</a:t>
            </a:r>
          </a:p>
          <a:p>
            <a:pPr marL="738188" lvl="1" indent="-276225" eaLnBrk="1" hangingPunct="1">
              <a:lnSpc>
                <a:spcPct val="110000"/>
              </a:lnSpc>
              <a:buFont typeface="Arial"/>
              <a:buChar char="•"/>
            </a:pPr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binary classification (positive/negative)</a:t>
            </a:r>
          </a:p>
          <a:p>
            <a:pPr marL="342900" indent="-342900" eaLnBrk="1" hangingPunct="1">
              <a:lnSpc>
                <a:spcPct val="110000"/>
              </a:lnSpc>
              <a:buFont typeface="Arial"/>
              <a:buChar char="•"/>
            </a:pPr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25-dim word vectors</a:t>
            </a:r>
          </a:p>
          <a:p>
            <a:pPr marL="342900" indent="-342900" eaLnBrk="1" hangingPunct="1">
              <a:lnSpc>
                <a:spcPct val="110000"/>
              </a:lnSpc>
              <a:buFont typeface="Arial"/>
              <a:buChar char="•"/>
            </a:pPr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50-dim cell/hidden vectors</a:t>
            </a:r>
          </a:p>
          <a:p>
            <a:pPr marL="342900" indent="-342900" eaLnBrk="1" hangingPunct="1">
              <a:lnSpc>
                <a:spcPct val="110000"/>
              </a:lnSpc>
              <a:buFont typeface="Arial"/>
              <a:buChar char="•"/>
            </a:pPr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classification layer on </a:t>
            </a:r>
            <a:r>
              <a:rPr lang="en-US" sz="2400" b="1" i="0" dirty="0">
                <a:solidFill>
                  <a:srgbClr val="C50C0C"/>
                </a:solidFill>
                <a:latin typeface="Calibri"/>
                <a:cs typeface="Calibri"/>
              </a:rPr>
              <a:t>final</a:t>
            </a:r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 hidden vector</a:t>
            </a:r>
          </a:p>
          <a:p>
            <a:pPr marL="342900" indent="-342900" eaLnBrk="1" hangingPunct="1">
              <a:lnSpc>
                <a:spcPct val="110000"/>
              </a:lnSpc>
              <a:buFont typeface="Arial"/>
              <a:buChar char="•"/>
            </a:pPr>
            <a:r>
              <a:rPr lang="en-US" sz="2400" i="0" dirty="0" err="1">
                <a:solidFill>
                  <a:srgbClr val="C50C0C"/>
                </a:solidFill>
                <a:latin typeface="Calibri"/>
                <a:cs typeface="Calibri"/>
              </a:rPr>
              <a:t>AdaGrad</a:t>
            </a:r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, 10 epochs, mini-batch size 10</a:t>
            </a:r>
          </a:p>
          <a:p>
            <a:pPr marL="342900" indent="-342900" eaLnBrk="1" hangingPunct="1">
              <a:lnSpc>
                <a:spcPct val="110000"/>
              </a:lnSpc>
              <a:buFont typeface="Arial"/>
              <a:buChar char="•"/>
            </a:pPr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early stopping on </a:t>
            </a:r>
            <a:r>
              <a:rPr lang="en-US" sz="2400" i="0" dirty="0" err="1">
                <a:solidFill>
                  <a:srgbClr val="C50C0C"/>
                </a:solidFill>
                <a:latin typeface="Calibri"/>
                <a:cs typeface="Calibri"/>
              </a:rPr>
              <a:t>dev</a:t>
            </a:r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 set</a:t>
            </a:r>
          </a:p>
        </p:txBody>
      </p:sp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41C90980-FB4C-CC43-98D4-6B214C7544F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250551" y="2346045"/>
          <a:ext cx="1531803" cy="104141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31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303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7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88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Output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51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Output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13F64BA-877D-964A-AC8E-0BC878C0DE01}"/>
              </a:ext>
            </a:extLst>
          </p:cNvPr>
          <p:cNvSpPr/>
          <p:nvPr/>
        </p:nvSpPr>
        <p:spPr>
          <a:xfrm>
            <a:off x="4033654" y="4430490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57802D-E83E-3944-B1DF-D9F7D050C969}"/>
              </a:ext>
            </a:extLst>
          </p:cNvPr>
          <p:cNvSpPr/>
          <p:nvPr/>
        </p:nvSpPr>
        <p:spPr>
          <a:xfrm>
            <a:off x="5848599" y="442125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414D17-19EA-A849-820F-D3A220274A1B}"/>
              </a:ext>
            </a:extLst>
          </p:cNvPr>
          <p:cNvSpPr/>
          <p:nvPr/>
        </p:nvSpPr>
        <p:spPr>
          <a:xfrm>
            <a:off x="7686635" y="4423562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7C6F69F-3F56-E14E-BEF8-DF050DCB53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5475" y="4420009"/>
            <a:ext cx="571500" cy="2159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A2CFDEB-1D2A-1349-B2B9-62F60479644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2152" y="4426359"/>
            <a:ext cx="571500" cy="2032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33BAAC1-BA01-0147-B5FD-9E6920E819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41940" y="4428664"/>
            <a:ext cx="2540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840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Output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13F64BA-877D-964A-AC8E-0BC878C0DE01}"/>
              </a:ext>
            </a:extLst>
          </p:cNvPr>
          <p:cNvSpPr/>
          <p:nvPr/>
        </p:nvSpPr>
        <p:spPr>
          <a:xfrm>
            <a:off x="4033654" y="4430490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57802D-E83E-3944-B1DF-D9F7D050C969}"/>
              </a:ext>
            </a:extLst>
          </p:cNvPr>
          <p:cNvSpPr/>
          <p:nvPr/>
        </p:nvSpPr>
        <p:spPr>
          <a:xfrm>
            <a:off x="5848599" y="442125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414D17-19EA-A849-820F-D3A220274A1B}"/>
              </a:ext>
            </a:extLst>
          </p:cNvPr>
          <p:cNvSpPr/>
          <p:nvPr/>
        </p:nvSpPr>
        <p:spPr>
          <a:xfrm>
            <a:off x="7686635" y="4423562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Down Arrow 51">
            <a:extLst>
              <a:ext uri="{FF2B5EF4-FFF2-40B4-BE49-F238E27FC236}">
                <a16:creationId xmlns:a16="http://schemas.microsoft.com/office/drawing/2014/main" id="{A12E1403-C03E-E24C-9B1B-C351C3A0A6BC}"/>
              </a:ext>
            </a:extLst>
          </p:cNvPr>
          <p:cNvSpPr/>
          <p:nvPr/>
        </p:nvSpPr>
        <p:spPr>
          <a:xfrm>
            <a:off x="1439612" y="3093849"/>
            <a:ext cx="334818" cy="611909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6F6ABA3-30CA-944F-9113-A0714E64C559}"/>
              </a:ext>
            </a:extLst>
          </p:cNvPr>
          <p:cNvSpPr/>
          <p:nvPr/>
        </p:nvSpPr>
        <p:spPr>
          <a:xfrm>
            <a:off x="561284" y="2330693"/>
            <a:ext cx="2052781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68072E7-4EC1-E646-990F-0BAC89CB3B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9759" y="2557754"/>
            <a:ext cx="1841500" cy="3175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4F85E19-A6CC-364B-9F1B-DA0FE9C6A2E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5475" y="4420009"/>
            <a:ext cx="571500" cy="2159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3FB4260-DAA7-2A41-B91F-F27A0D22125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22152" y="4426359"/>
            <a:ext cx="571500" cy="2032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7649EDF-5556-6440-82B1-E93FB8D2116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1940" y="4428664"/>
            <a:ext cx="2540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63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Output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13F64BA-877D-964A-AC8E-0BC878C0DE01}"/>
              </a:ext>
            </a:extLst>
          </p:cNvPr>
          <p:cNvSpPr/>
          <p:nvPr/>
        </p:nvSpPr>
        <p:spPr>
          <a:xfrm>
            <a:off x="4033654" y="4430490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57802D-E83E-3944-B1DF-D9F7D050C969}"/>
              </a:ext>
            </a:extLst>
          </p:cNvPr>
          <p:cNvSpPr/>
          <p:nvPr/>
        </p:nvSpPr>
        <p:spPr>
          <a:xfrm>
            <a:off x="5848599" y="442125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414D17-19EA-A849-820F-D3A220274A1B}"/>
              </a:ext>
            </a:extLst>
          </p:cNvPr>
          <p:cNvSpPr/>
          <p:nvPr/>
        </p:nvSpPr>
        <p:spPr>
          <a:xfrm>
            <a:off x="7686635" y="4423562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D079A9-2BD1-B348-9969-B672C5394B48}"/>
              </a:ext>
            </a:extLst>
          </p:cNvPr>
          <p:cNvSpPr/>
          <p:nvPr/>
        </p:nvSpPr>
        <p:spPr>
          <a:xfrm>
            <a:off x="206827" y="3708070"/>
            <a:ext cx="2819405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Down Arrow 51">
            <a:extLst>
              <a:ext uri="{FF2B5EF4-FFF2-40B4-BE49-F238E27FC236}">
                <a16:creationId xmlns:a16="http://schemas.microsoft.com/office/drawing/2014/main" id="{A12E1403-C03E-E24C-9B1B-C351C3A0A6BC}"/>
              </a:ext>
            </a:extLst>
          </p:cNvPr>
          <p:cNvSpPr/>
          <p:nvPr/>
        </p:nvSpPr>
        <p:spPr>
          <a:xfrm>
            <a:off x="1439612" y="3093849"/>
            <a:ext cx="334818" cy="611909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6F6ABA3-30CA-944F-9113-A0714E64C559}"/>
              </a:ext>
            </a:extLst>
          </p:cNvPr>
          <p:cNvSpPr/>
          <p:nvPr/>
        </p:nvSpPr>
        <p:spPr>
          <a:xfrm>
            <a:off x="561284" y="2330693"/>
            <a:ext cx="2052781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68072E7-4EC1-E646-990F-0BAC89CB3B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9759" y="2557754"/>
            <a:ext cx="1841500" cy="3175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144F0685-2CF6-8A49-9904-16EAEA3C33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5862" y="3927930"/>
            <a:ext cx="2527300" cy="3175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4058888-5B09-E44E-A168-13F36E5882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5475" y="4420009"/>
            <a:ext cx="571500" cy="2159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442C79F-CEC9-FC43-9AEE-5BE38F280B1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2152" y="4426359"/>
            <a:ext cx="571500" cy="2032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B86954F-4F69-8B46-B9BF-47559AA11D0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1940" y="4428664"/>
            <a:ext cx="2540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11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Output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13F64BA-877D-964A-AC8E-0BC878C0DE01}"/>
              </a:ext>
            </a:extLst>
          </p:cNvPr>
          <p:cNvSpPr/>
          <p:nvPr/>
        </p:nvSpPr>
        <p:spPr>
          <a:xfrm>
            <a:off x="4033654" y="4430490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57802D-E83E-3944-B1DF-D9F7D050C969}"/>
              </a:ext>
            </a:extLst>
          </p:cNvPr>
          <p:cNvSpPr/>
          <p:nvPr/>
        </p:nvSpPr>
        <p:spPr>
          <a:xfrm>
            <a:off x="5848599" y="442125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414D17-19EA-A849-820F-D3A220274A1B}"/>
              </a:ext>
            </a:extLst>
          </p:cNvPr>
          <p:cNvSpPr/>
          <p:nvPr/>
        </p:nvSpPr>
        <p:spPr>
          <a:xfrm>
            <a:off x="7686635" y="4423562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D079A9-2BD1-B348-9969-B672C5394B48}"/>
              </a:ext>
            </a:extLst>
          </p:cNvPr>
          <p:cNvSpPr/>
          <p:nvPr/>
        </p:nvSpPr>
        <p:spPr>
          <a:xfrm>
            <a:off x="206827" y="3708070"/>
            <a:ext cx="2819405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Down Arrow 51">
            <a:extLst>
              <a:ext uri="{FF2B5EF4-FFF2-40B4-BE49-F238E27FC236}">
                <a16:creationId xmlns:a16="http://schemas.microsoft.com/office/drawing/2014/main" id="{A12E1403-C03E-E24C-9B1B-C351C3A0A6BC}"/>
              </a:ext>
            </a:extLst>
          </p:cNvPr>
          <p:cNvSpPr/>
          <p:nvPr/>
        </p:nvSpPr>
        <p:spPr>
          <a:xfrm>
            <a:off x="1439612" y="3093849"/>
            <a:ext cx="334818" cy="611909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6F6ABA3-30CA-944F-9113-A0714E64C559}"/>
              </a:ext>
            </a:extLst>
          </p:cNvPr>
          <p:cNvSpPr/>
          <p:nvPr/>
        </p:nvSpPr>
        <p:spPr>
          <a:xfrm>
            <a:off x="561284" y="2330693"/>
            <a:ext cx="2052781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68072E7-4EC1-E646-990F-0BAC89CB3B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9759" y="2557754"/>
            <a:ext cx="1841500" cy="3175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144F0685-2CF6-8A49-9904-16EAEA3C33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5862" y="3927930"/>
            <a:ext cx="2527300" cy="317500"/>
          </a:xfrm>
          <a:prstGeom prst="rect">
            <a:avLst/>
          </a:prstGeom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06CE30A-5869-D247-846A-9D2D49FB46BD}"/>
              </a:ext>
            </a:extLst>
          </p:cNvPr>
          <p:cNvCxnSpPr/>
          <p:nvPr/>
        </p:nvCxnSpPr>
        <p:spPr bwMode="auto">
          <a:xfrm flipV="1">
            <a:off x="944837" y="4245430"/>
            <a:ext cx="624497" cy="97211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314382A-E14D-F347-8A71-7EE1BC78D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35" y="4920135"/>
            <a:ext cx="2409397" cy="1292661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BC0000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this is </a:t>
            </a:r>
            <a:r>
              <a:rPr lang="en-US" sz="2400" i="0" dirty="0" err="1">
                <a:solidFill>
                  <a:srgbClr val="C50C0C"/>
                </a:solidFill>
                <a:latin typeface="Calibri"/>
                <a:cs typeface="Calibri"/>
              </a:rPr>
              <a:t>pointwise</a:t>
            </a:r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 multiplication!    </a:t>
            </a:r>
          </a:p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   is a vector</a:t>
            </a:r>
            <a:endParaRPr lang="en-US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FABACE-AD04-984C-8DC1-49813F94B95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837" y="5882140"/>
            <a:ext cx="254000" cy="2032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D531E1D-792E-9547-8795-8FC6EB1E1FA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5475" y="4420009"/>
            <a:ext cx="571500" cy="2159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EBB103B8-56E6-6C4F-AF98-89B191A940F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22152" y="4426359"/>
            <a:ext cx="571500" cy="2032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193536B-5356-804E-8FE4-DC147B93BA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41940" y="4428664"/>
            <a:ext cx="2540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93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Output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13F64BA-877D-964A-AC8E-0BC878C0DE01}"/>
              </a:ext>
            </a:extLst>
          </p:cNvPr>
          <p:cNvSpPr/>
          <p:nvPr/>
        </p:nvSpPr>
        <p:spPr>
          <a:xfrm>
            <a:off x="4033654" y="4430490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57802D-E83E-3944-B1DF-D9F7D050C969}"/>
              </a:ext>
            </a:extLst>
          </p:cNvPr>
          <p:cNvSpPr/>
          <p:nvPr/>
        </p:nvSpPr>
        <p:spPr>
          <a:xfrm>
            <a:off x="5848599" y="442125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414D17-19EA-A849-820F-D3A220274A1B}"/>
              </a:ext>
            </a:extLst>
          </p:cNvPr>
          <p:cNvSpPr/>
          <p:nvPr/>
        </p:nvSpPr>
        <p:spPr>
          <a:xfrm>
            <a:off x="7686635" y="4423562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D079A9-2BD1-B348-9969-B672C5394B48}"/>
              </a:ext>
            </a:extLst>
          </p:cNvPr>
          <p:cNvSpPr/>
          <p:nvPr/>
        </p:nvSpPr>
        <p:spPr>
          <a:xfrm>
            <a:off x="206827" y="3708070"/>
            <a:ext cx="2819405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6F6ABA3-30CA-944F-9113-A0714E64C559}"/>
              </a:ext>
            </a:extLst>
          </p:cNvPr>
          <p:cNvSpPr/>
          <p:nvPr/>
        </p:nvSpPr>
        <p:spPr>
          <a:xfrm>
            <a:off x="561284" y="2330693"/>
            <a:ext cx="2052781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68072E7-4EC1-E646-990F-0BAC89CB3B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9759" y="2557754"/>
            <a:ext cx="1841500" cy="3175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144F0685-2CF6-8A49-9904-16EAEA3C33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5862" y="3927930"/>
            <a:ext cx="2527300" cy="3175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D8B2AAD-D4C7-C547-8D4B-D5B9431F9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152" y="4780906"/>
            <a:ext cx="3580421" cy="1661993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BC0000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BC0000"/>
                </a:solidFill>
                <a:latin typeface="Calibri"/>
                <a:cs typeface="Calibri"/>
              </a:rPr>
              <a:t>output gate affects how much “information” is transmitted from cell vector to hidden vector</a:t>
            </a:r>
          </a:p>
        </p:txBody>
      </p:sp>
      <p:sp>
        <p:nvSpPr>
          <p:cNvPr id="60" name="Down Arrow 59">
            <a:extLst>
              <a:ext uri="{FF2B5EF4-FFF2-40B4-BE49-F238E27FC236}">
                <a16:creationId xmlns:a16="http://schemas.microsoft.com/office/drawing/2014/main" id="{90D6C378-D20D-2B49-86EE-8E1C892CD181}"/>
              </a:ext>
            </a:extLst>
          </p:cNvPr>
          <p:cNvSpPr/>
          <p:nvPr/>
        </p:nvSpPr>
        <p:spPr>
          <a:xfrm>
            <a:off x="1439612" y="3093849"/>
            <a:ext cx="334818" cy="611909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DF28788-9A59-9443-B0E9-0D8FC6CFE5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5475" y="4420009"/>
            <a:ext cx="571500" cy="2159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83549FA-A44D-514C-B9DC-A490C971351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2152" y="4426359"/>
            <a:ext cx="571500" cy="2032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47710085-C0BB-A54F-8F74-746345107F0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1940" y="4428664"/>
            <a:ext cx="2540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11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Output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13F64BA-877D-964A-AC8E-0BC878C0DE01}"/>
              </a:ext>
            </a:extLst>
          </p:cNvPr>
          <p:cNvSpPr/>
          <p:nvPr/>
        </p:nvSpPr>
        <p:spPr>
          <a:xfrm>
            <a:off x="4033654" y="4430490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57802D-E83E-3944-B1DF-D9F7D050C969}"/>
              </a:ext>
            </a:extLst>
          </p:cNvPr>
          <p:cNvSpPr/>
          <p:nvPr/>
        </p:nvSpPr>
        <p:spPr>
          <a:xfrm>
            <a:off x="5848599" y="442125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414D17-19EA-A849-820F-D3A220274A1B}"/>
              </a:ext>
            </a:extLst>
          </p:cNvPr>
          <p:cNvSpPr/>
          <p:nvPr/>
        </p:nvSpPr>
        <p:spPr>
          <a:xfrm>
            <a:off x="7686635" y="4423562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B4A1A6-BA96-C443-99B5-7F46608DFC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0150" y="944779"/>
            <a:ext cx="6743700" cy="571500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2FBF527D-42FF-B945-83ED-761FCB578746}"/>
              </a:ext>
            </a:extLst>
          </p:cNvPr>
          <p:cNvSpPr/>
          <p:nvPr/>
        </p:nvSpPr>
        <p:spPr>
          <a:xfrm>
            <a:off x="4896422" y="5889905"/>
            <a:ext cx="2819405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8CFE4FA5-426B-B44D-B3FC-7243B6F1473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5457" y="6109765"/>
            <a:ext cx="2527300" cy="3175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D855652-7635-7745-8B2E-19016555298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5475" y="4420009"/>
            <a:ext cx="571500" cy="2159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ABD7F2F1-7357-6E42-8A4C-BCA93038C0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2152" y="4426359"/>
            <a:ext cx="571500" cy="2032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BD1F764F-3E92-3D4C-B010-15798765AE9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1940" y="4428664"/>
            <a:ext cx="2540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8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Output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13F64BA-877D-964A-AC8E-0BC878C0DE01}"/>
              </a:ext>
            </a:extLst>
          </p:cNvPr>
          <p:cNvSpPr/>
          <p:nvPr/>
        </p:nvSpPr>
        <p:spPr>
          <a:xfrm>
            <a:off x="4033654" y="4430490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57802D-E83E-3944-B1DF-D9F7D050C969}"/>
              </a:ext>
            </a:extLst>
          </p:cNvPr>
          <p:cNvSpPr/>
          <p:nvPr/>
        </p:nvSpPr>
        <p:spPr>
          <a:xfrm>
            <a:off x="5848599" y="442125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414D17-19EA-A849-820F-D3A220274A1B}"/>
              </a:ext>
            </a:extLst>
          </p:cNvPr>
          <p:cNvSpPr/>
          <p:nvPr/>
        </p:nvSpPr>
        <p:spPr>
          <a:xfrm>
            <a:off x="7686635" y="4423562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D079A9-2BD1-B348-9969-B672C5394B48}"/>
              </a:ext>
            </a:extLst>
          </p:cNvPr>
          <p:cNvSpPr/>
          <p:nvPr/>
        </p:nvSpPr>
        <p:spPr>
          <a:xfrm>
            <a:off x="4896422" y="5889905"/>
            <a:ext cx="2819405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44F0685-2CF6-8A49-9904-16EAEA3C33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5457" y="6109765"/>
            <a:ext cx="2527300" cy="31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B4A1A6-BA96-C443-99B5-7F46608DFC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0150" y="944779"/>
            <a:ext cx="6743700" cy="571500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A7E985B-222F-8145-B9F5-FF2CF9AD0979}"/>
              </a:ext>
            </a:extLst>
          </p:cNvPr>
          <p:cNvCxnSpPr/>
          <p:nvPr/>
        </p:nvCxnSpPr>
        <p:spPr bwMode="auto">
          <a:xfrm flipH="1" flipV="1">
            <a:off x="5987475" y="1393704"/>
            <a:ext cx="1235363" cy="124690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92F9DB9-61B0-A745-AD7D-CF6592593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5840" y="2518213"/>
            <a:ext cx="1408545" cy="923330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BC0000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diagonal matrix</a:t>
            </a:r>
            <a:endParaRPr lang="en-US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A636A5B-A466-4E47-B883-A2C47F65BFB9}"/>
              </a:ext>
            </a:extLst>
          </p:cNvPr>
          <p:cNvCxnSpPr>
            <a:cxnSpLocks/>
          </p:cNvCxnSpPr>
          <p:nvPr/>
        </p:nvCxnSpPr>
        <p:spPr bwMode="auto">
          <a:xfrm flipV="1">
            <a:off x="1513614" y="1393704"/>
            <a:ext cx="456700" cy="56686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FD227A0-E071-E44E-9D74-ADE1F0C13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040" y="1927321"/>
            <a:ext cx="2616428" cy="1292661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BC0000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logistic sigmoid, so output ranges from 0 to 1</a:t>
            </a:r>
            <a:endParaRPr lang="en-US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860FC09-3C6D-5B4C-A8F4-01F7F362E43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5475" y="4420009"/>
            <a:ext cx="571500" cy="2159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B01B04E-02A1-7043-B9BD-E7AB67E25CD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2152" y="4426359"/>
            <a:ext cx="571500" cy="2032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F1BA61D-7239-C74E-95C3-4FB2B6C5C29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1940" y="4428664"/>
            <a:ext cx="2540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37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Output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13F64BA-877D-964A-AC8E-0BC878C0DE01}"/>
              </a:ext>
            </a:extLst>
          </p:cNvPr>
          <p:cNvSpPr/>
          <p:nvPr/>
        </p:nvSpPr>
        <p:spPr>
          <a:xfrm>
            <a:off x="4033654" y="4430490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57802D-E83E-3944-B1DF-D9F7D050C969}"/>
              </a:ext>
            </a:extLst>
          </p:cNvPr>
          <p:cNvSpPr/>
          <p:nvPr/>
        </p:nvSpPr>
        <p:spPr>
          <a:xfrm>
            <a:off x="5848599" y="442125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414D17-19EA-A849-820F-D3A220274A1B}"/>
              </a:ext>
            </a:extLst>
          </p:cNvPr>
          <p:cNvSpPr/>
          <p:nvPr/>
        </p:nvSpPr>
        <p:spPr>
          <a:xfrm>
            <a:off x="7686635" y="4423562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D079A9-2BD1-B348-9969-B672C5394B48}"/>
              </a:ext>
            </a:extLst>
          </p:cNvPr>
          <p:cNvSpPr/>
          <p:nvPr/>
        </p:nvSpPr>
        <p:spPr>
          <a:xfrm>
            <a:off x="4896422" y="5889905"/>
            <a:ext cx="2819405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44F0685-2CF6-8A49-9904-16EAEA3C33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5457" y="6109765"/>
            <a:ext cx="2527300" cy="31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B4A1A6-BA96-C443-99B5-7F46608DFC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0150" y="944779"/>
            <a:ext cx="6743700" cy="5715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7AA9FDBE-EFCD-894C-A450-DD861FFA1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68" y="2625325"/>
            <a:ext cx="3515191" cy="1661993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BC0000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BC0000"/>
                </a:solidFill>
                <a:latin typeface="Calibri"/>
                <a:cs typeface="Calibri"/>
              </a:rPr>
              <a:t>output gate is a function of current observation, previous hidden vector, and current cell vector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DE696345-85D9-FC4E-B7B6-7330404BAFC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5475" y="4420009"/>
            <a:ext cx="571500" cy="2159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C4FCCEB-4EA8-AC46-8EBC-5E3A9E43106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2152" y="4426359"/>
            <a:ext cx="571500" cy="2032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3F538C80-E3F4-AB48-9325-8F582CA92D1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1940" y="4428664"/>
            <a:ext cx="2540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73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Output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13F64BA-877D-964A-AC8E-0BC878C0DE01}"/>
              </a:ext>
            </a:extLst>
          </p:cNvPr>
          <p:cNvSpPr/>
          <p:nvPr/>
        </p:nvSpPr>
        <p:spPr>
          <a:xfrm>
            <a:off x="4033654" y="4430490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57802D-E83E-3944-B1DF-D9F7D050C969}"/>
              </a:ext>
            </a:extLst>
          </p:cNvPr>
          <p:cNvSpPr/>
          <p:nvPr/>
        </p:nvSpPr>
        <p:spPr>
          <a:xfrm>
            <a:off x="5848599" y="442125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414D17-19EA-A849-820F-D3A220274A1B}"/>
              </a:ext>
            </a:extLst>
          </p:cNvPr>
          <p:cNvSpPr/>
          <p:nvPr/>
        </p:nvSpPr>
        <p:spPr>
          <a:xfrm>
            <a:off x="7686635" y="4423562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D079A9-2BD1-B348-9969-B672C5394B48}"/>
              </a:ext>
            </a:extLst>
          </p:cNvPr>
          <p:cNvSpPr/>
          <p:nvPr/>
        </p:nvSpPr>
        <p:spPr>
          <a:xfrm>
            <a:off x="4896422" y="5889905"/>
            <a:ext cx="2819405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44F0685-2CF6-8A49-9904-16EAEA3C33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5457" y="6109765"/>
            <a:ext cx="2527300" cy="31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B4A1A6-BA96-C443-99B5-7F46608DFC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0150" y="944779"/>
            <a:ext cx="6743700" cy="5715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B44ED5CA-6092-D74C-B6A3-B8441B100C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5475" y="4420009"/>
            <a:ext cx="571500" cy="2159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38732BB-23E9-1B45-BC16-DC5E1DE7D0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2152" y="4426359"/>
            <a:ext cx="571500" cy="2032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FBFE6F06-25D7-7C4A-AAB1-EF2DFF42FE8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1940" y="4428664"/>
            <a:ext cx="254000" cy="2032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B6753EAE-825F-6241-9AD5-51E68EDEC945}"/>
              </a:ext>
            </a:extLst>
          </p:cNvPr>
          <p:cNvSpPr/>
          <p:nvPr/>
        </p:nvSpPr>
        <p:spPr>
          <a:xfrm>
            <a:off x="1077686" y="932762"/>
            <a:ext cx="7999188" cy="5819758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FBCF04-ED16-F84D-841E-EF82D4C5A74A}"/>
              </a:ext>
            </a:extLst>
          </p:cNvPr>
          <p:cNvSpPr txBox="1"/>
          <p:nvPr/>
        </p:nvSpPr>
        <p:spPr>
          <a:xfrm>
            <a:off x="1952500" y="5222643"/>
            <a:ext cx="5240778" cy="1508105"/>
          </a:xfrm>
          <a:prstGeom prst="rect">
            <a:avLst/>
          </a:prstGeom>
          <a:solidFill>
            <a:srgbClr val="C70000"/>
          </a:solidFill>
          <a:ln>
            <a:solidFill>
              <a:schemeClr val="tx1"/>
            </a:solidFill>
          </a:ln>
        </p:spPr>
        <p:txBody>
          <a:bodyPr wrap="none" lIns="274320" tIns="137160" rIns="274320" bIns="137160" rtlCol="0" anchor="ctr">
            <a:spAutoFit/>
          </a:bodyPr>
          <a:lstStyle/>
          <a:p>
            <a:pPr algn="ctr"/>
            <a:r>
              <a:rPr lang="en-US" sz="4000" i="0" dirty="0">
                <a:solidFill>
                  <a:schemeClr val="bg1"/>
                </a:solidFill>
                <a:latin typeface="Calibri"/>
                <a:cs typeface="Calibri"/>
              </a:rPr>
              <a:t>What’s being learned?</a:t>
            </a:r>
          </a:p>
          <a:p>
            <a:pPr algn="ctr"/>
            <a:r>
              <a:rPr lang="en-US" sz="4000" i="0" dirty="0">
                <a:solidFill>
                  <a:schemeClr val="bg1"/>
                </a:solidFill>
                <a:latin typeface="Calibri"/>
                <a:cs typeface="Calibri"/>
              </a:rPr>
              <a:t>(demo)</a:t>
            </a: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0E536B35-6E6A-4649-B829-44DC5899D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346593"/>
              </p:ext>
            </p:extLst>
          </p:nvPr>
        </p:nvGraphicFramePr>
        <p:xfrm>
          <a:off x="359562" y="2395022"/>
          <a:ext cx="2955635" cy="155978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82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acc.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67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Input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94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Input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364AB87-9B82-A844-94C6-F7A9F3386ADD}"/>
              </a:ext>
            </a:extLst>
          </p:cNvPr>
          <p:cNvSpPr/>
          <p:nvPr/>
        </p:nvSpPr>
        <p:spPr>
          <a:xfrm>
            <a:off x="4037611" y="295336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E19321-9A93-E348-8164-3C97804C42F2}"/>
              </a:ext>
            </a:extLst>
          </p:cNvPr>
          <p:cNvSpPr/>
          <p:nvPr/>
        </p:nvSpPr>
        <p:spPr>
          <a:xfrm>
            <a:off x="5852556" y="294413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443C068-AD7F-0344-97D3-62840D88B855}"/>
              </a:ext>
            </a:extLst>
          </p:cNvPr>
          <p:cNvSpPr/>
          <p:nvPr/>
        </p:nvSpPr>
        <p:spPr>
          <a:xfrm>
            <a:off x="7690592" y="295798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0A04043-56AF-5546-BE50-0C446C813494}"/>
              </a:ext>
            </a:extLst>
          </p:cNvPr>
          <p:cNvSpPr/>
          <p:nvPr/>
        </p:nvSpPr>
        <p:spPr>
          <a:xfrm rot="2575300">
            <a:off x="5032828" y="46644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317C94-3AFD-2F43-B5B9-67994CCEC320}"/>
              </a:ext>
            </a:extLst>
          </p:cNvPr>
          <p:cNvSpPr/>
          <p:nvPr/>
        </p:nvSpPr>
        <p:spPr>
          <a:xfrm rot="2575300">
            <a:off x="6801592" y="465516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DEBCD-493C-1D46-992A-1D979EDC92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9872" y="2886402"/>
            <a:ext cx="177800" cy="27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4A8C6-AFDF-9D4C-8F75-F16AB30B5B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5399" y="4192936"/>
            <a:ext cx="177800" cy="279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1D0DA5-6BB5-8E48-A173-FA59BF503A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5690" y="2899011"/>
            <a:ext cx="482600" cy="279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657C1B-4888-964C-9611-503326A6EA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6361" y="2901149"/>
            <a:ext cx="482600" cy="2921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EDCB008-06B1-9D4D-ABFF-65362832AB6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37450" y="4094635"/>
            <a:ext cx="4826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7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364AB87-9B82-A844-94C6-F7A9F3386ADD}"/>
              </a:ext>
            </a:extLst>
          </p:cNvPr>
          <p:cNvSpPr/>
          <p:nvPr/>
        </p:nvSpPr>
        <p:spPr>
          <a:xfrm>
            <a:off x="4037611" y="295336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E19321-9A93-E348-8164-3C97804C42F2}"/>
              </a:ext>
            </a:extLst>
          </p:cNvPr>
          <p:cNvSpPr/>
          <p:nvPr/>
        </p:nvSpPr>
        <p:spPr>
          <a:xfrm>
            <a:off x="5852556" y="294413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443C068-AD7F-0344-97D3-62840D88B855}"/>
              </a:ext>
            </a:extLst>
          </p:cNvPr>
          <p:cNvSpPr/>
          <p:nvPr/>
        </p:nvSpPr>
        <p:spPr>
          <a:xfrm>
            <a:off x="7690592" y="295798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0A04043-56AF-5546-BE50-0C446C813494}"/>
              </a:ext>
            </a:extLst>
          </p:cNvPr>
          <p:cNvSpPr/>
          <p:nvPr/>
        </p:nvSpPr>
        <p:spPr>
          <a:xfrm rot="2575300">
            <a:off x="5032828" y="46644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317C94-3AFD-2F43-B5B9-67994CCEC320}"/>
              </a:ext>
            </a:extLst>
          </p:cNvPr>
          <p:cNvSpPr/>
          <p:nvPr/>
        </p:nvSpPr>
        <p:spPr>
          <a:xfrm rot="2575300">
            <a:off x="6801592" y="465516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DEBCD-493C-1D46-992A-1D979EDC92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9872" y="2886402"/>
            <a:ext cx="177800" cy="27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4A8C6-AFDF-9D4C-8F75-F16AB30B5B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5399" y="4192936"/>
            <a:ext cx="177800" cy="279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1D0DA5-6BB5-8E48-A173-FA59BF503A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5690" y="2899011"/>
            <a:ext cx="482600" cy="279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657C1B-4888-964C-9611-503326A6EA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6361" y="2901149"/>
            <a:ext cx="482600" cy="292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D794DD4-5F9C-A647-9A83-8010CA7A525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417" y="1185473"/>
            <a:ext cx="7226300" cy="5715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EDCB008-06B1-9D4D-ABFF-65362832AB6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37450" y="4094635"/>
            <a:ext cx="482600" cy="2921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F88BBCD-EE68-9F4A-BEDD-448A0A2142C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0972" y="146051"/>
            <a:ext cx="6616700" cy="57150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DA6852AF-F3B0-5343-B1DF-A16443B0BBEB}"/>
              </a:ext>
            </a:extLst>
          </p:cNvPr>
          <p:cNvSpPr/>
          <p:nvPr/>
        </p:nvSpPr>
        <p:spPr>
          <a:xfrm>
            <a:off x="65892" y="30536"/>
            <a:ext cx="6977743" cy="76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6BA0347-D7C6-AC45-BBA7-89986BE30D76}"/>
              </a:ext>
            </a:extLst>
          </p:cNvPr>
          <p:cNvSpPr/>
          <p:nvPr/>
        </p:nvSpPr>
        <p:spPr>
          <a:xfrm>
            <a:off x="65892" y="1084962"/>
            <a:ext cx="7425234" cy="76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Down Arrow 53">
            <a:extLst>
              <a:ext uri="{FF2B5EF4-FFF2-40B4-BE49-F238E27FC236}">
                <a16:creationId xmlns:a16="http://schemas.microsoft.com/office/drawing/2014/main" id="{872B1E41-276B-7E44-9DDF-6961F277BB51}"/>
              </a:ext>
            </a:extLst>
          </p:cNvPr>
          <p:cNvSpPr/>
          <p:nvPr/>
        </p:nvSpPr>
        <p:spPr>
          <a:xfrm>
            <a:off x="622731" y="796909"/>
            <a:ext cx="334818" cy="291251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839B67-46E6-D74A-AF0C-979C2F96D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513" y="3409688"/>
            <a:ext cx="3515191" cy="1661993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0000FF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00FF"/>
                </a:solidFill>
                <a:latin typeface="Calibri"/>
                <a:cs typeface="Calibri"/>
              </a:rPr>
              <a:t>input gate controls how much cell is affected by current observation and previous hidden vector</a:t>
            </a:r>
          </a:p>
        </p:txBody>
      </p:sp>
    </p:spTree>
    <p:extLst>
      <p:ext uri="{BB962C8B-B14F-4D97-AF65-F5344CB8AC3E}">
        <p14:creationId xmlns:p14="http://schemas.microsoft.com/office/powerpoint/2010/main" val="90303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Input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364AB87-9B82-A844-94C6-F7A9F3386ADD}"/>
              </a:ext>
            </a:extLst>
          </p:cNvPr>
          <p:cNvSpPr/>
          <p:nvPr/>
        </p:nvSpPr>
        <p:spPr>
          <a:xfrm>
            <a:off x="4037611" y="295336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E19321-9A93-E348-8164-3C97804C42F2}"/>
              </a:ext>
            </a:extLst>
          </p:cNvPr>
          <p:cNvSpPr/>
          <p:nvPr/>
        </p:nvSpPr>
        <p:spPr>
          <a:xfrm>
            <a:off x="5852556" y="294413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443C068-AD7F-0344-97D3-62840D88B855}"/>
              </a:ext>
            </a:extLst>
          </p:cNvPr>
          <p:cNvSpPr/>
          <p:nvPr/>
        </p:nvSpPr>
        <p:spPr>
          <a:xfrm>
            <a:off x="7690592" y="295798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0A04043-56AF-5546-BE50-0C446C813494}"/>
              </a:ext>
            </a:extLst>
          </p:cNvPr>
          <p:cNvSpPr/>
          <p:nvPr/>
        </p:nvSpPr>
        <p:spPr>
          <a:xfrm rot="2575300">
            <a:off x="5032828" y="46644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317C94-3AFD-2F43-B5B9-67994CCEC320}"/>
              </a:ext>
            </a:extLst>
          </p:cNvPr>
          <p:cNvSpPr/>
          <p:nvPr/>
        </p:nvSpPr>
        <p:spPr>
          <a:xfrm rot="2575300">
            <a:off x="6801592" y="465516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DEBCD-493C-1D46-992A-1D979EDC92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9872" y="2886402"/>
            <a:ext cx="177800" cy="27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4A8C6-AFDF-9D4C-8F75-F16AB30B5B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5399" y="4192936"/>
            <a:ext cx="177800" cy="279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1D0DA5-6BB5-8E48-A173-FA59BF503A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5690" y="2899011"/>
            <a:ext cx="482600" cy="279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657C1B-4888-964C-9611-503326A6EAC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6361" y="2901149"/>
            <a:ext cx="482600" cy="2921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EDCB008-06B1-9D4D-ABFF-65362832AB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37450" y="4094635"/>
            <a:ext cx="482600" cy="292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E7F1BE7-3562-E741-9841-EDD53A412E7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9350" y="1007988"/>
            <a:ext cx="6845300" cy="5715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CE1D2D4-7213-B246-8189-4C0A9578E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513" y="2577405"/>
            <a:ext cx="3515191" cy="1661993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0000FF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00FF"/>
                </a:solidFill>
                <a:latin typeface="Calibri"/>
                <a:cs typeface="Calibri"/>
              </a:rPr>
              <a:t>input gate is a function of current observation, previous hidden vector, and previous cell vector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3E49E47-A727-664B-BDAD-4193F19B1058}"/>
              </a:ext>
            </a:extLst>
          </p:cNvPr>
          <p:cNvCxnSpPr/>
          <p:nvPr/>
        </p:nvCxnSpPr>
        <p:spPr bwMode="auto">
          <a:xfrm flipH="1" flipV="1">
            <a:off x="5911273" y="1513450"/>
            <a:ext cx="1235363" cy="124690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89D4333-E718-3846-B6AF-EDD942337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5208" y="2568061"/>
            <a:ext cx="1408545" cy="923330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0000FF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00FF"/>
                </a:solidFill>
                <a:latin typeface="Calibri"/>
                <a:cs typeface="Calibri"/>
              </a:rPr>
              <a:t>diagonal matrix</a:t>
            </a:r>
            <a:endParaRPr lang="en-US" i="0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298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93277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Output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1" name="Title 1"/>
          <p:cNvSpPr txBox="1">
            <a:spLocks/>
          </p:cNvSpPr>
          <p:nvPr/>
        </p:nvSpPr>
        <p:spPr bwMode="auto">
          <a:xfrm>
            <a:off x="304800" y="422550"/>
            <a:ext cx="8534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i="0" dirty="0"/>
              <a:t>Input Gates</a:t>
            </a:r>
          </a:p>
        </p:txBody>
      </p:sp>
      <p:cxnSp>
        <p:nvCxnSpPr>
          <p:cNvPr id="53" name="Straight Arrow Connector 52"/>
          <p:cNvCxnSpPr/>
          <p:nvPr/>
        </p:nvCxnSpPr>
        <p:spPr bwMode="auto">
          <a:xfrm flipH="1" flipV="1">
            <a:off x="6246107" y="1639442"/>
            <a:ext cx="1200726" cy="92363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/>
          <p:nvPr/>
        </p:nvCxnSpPr>
        <p:spPr bwMode="auto">
          <a:xfrm flipH="1">
            <a:off x="6303834" y="2759350"/>
            <a:ext cx="1142999" cy="95827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7331375" y="2347630"/>
            <a:ext cx="1650998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latin typeface="Calibri"/>
                <a:cs typeface="Calibri"/>
              </a:rPr>
              <a:t>difference</a:t>
            </a:r>
            <a:endParaRPr lang="en-US" i="0" dirty="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6D5E91-47FA-4745-A988-720A23F92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22" y="1161324"/>
            <a:ext cx="6845300" cy="571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12AD4B-2DFC-E844-800B-0A45DB00C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33" y="3611735"/>
            <a:ext cx="67437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623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Input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364AB87-9B82-A844-94C6-F7A9F3386ADD}"/>
              </a:ext>
            </a:extLst>
          </p:cNvPr>
          <p:cNvSpPr/>
          <p:nvPr/>
        </p:nvSpPr>
        <p:spPr>
          <a:xfrm>
            <a:off x="4037611" y="295336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E19321-9A93-E348-8164-3C97804C42F2}"/>
              </a:ext>
            </a:extLst>
          </p:cNvPr>
          <p:cNvSpPr/>
          <p:nvPr/>
        </p:nvSpPr>
        <p:spPr>
          <a:xfrm>
            <a:off x="5852556" y="294413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443C068-AD7F-0344-97D3-62840D88B855}"/>
              </a:ext>
            </a:extLst>
          </p:cNvPr>
          <p:cNvSpPr/>
          <p:nvPr/>
        </p:nvSpPr>
        <p:spPr>
          <a:xfrm>
            <a:off x="7690592" y="295798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0A04043-56AF-5546-BE50-0C446C813494}"/>
              </a:ext>
            </a:extLst>
          </p:cNvPr>
          <p:cNvSpPr/>
          <p:nvPr/>
        </p:nvSpPr>
        <p:spPr>
          <a:xfrm rot="2575300">
            <a:off x="5032828" y="46644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317C94-3AFD-2F43-B5B9-67994CCEC320}"/>
              </a:ext>
            </a:extLst>
          </p:cNvPr>
          <p:cNvSpPr/>
          <p:nvPr/>
        </p:nvSpPr>
        <p:spPr>
          <a:xfrm rot="2575300">
            <a:off x="6801592" y="465516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DEBCD-493C-1D46-992A-1D979EDC92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9872" y="2886402"/>
            <a:ext cx="177800" cy="27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4A8C6-AFDF-9D4C-8F75-F16AB30B5B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5399" y="4192936"/>
            <a:ext cx="177800" cy="279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1D0DA5-6BB5-8E48-A173-FA59BF503A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5690" y="2899011"/>
            <a:ext cx="482600" cy="279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657C1B-4888-964C-9611-503326A6EAC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6361" y="2901149"/>
            <a:ext cx="482600" cy="2921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EDCB008-06B1-9D4D-ABFF-65362832AB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37450" y="4094635"/>
            <a:ext cx="482600" cy="2921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90CEE140-C185-9C44-A6CE-86518E05291B}"/>
              </a:ext>
            </a:extLst>
          </p:cNvPr>
          <p:cNvSpPr/>
          <p:nvPr/>
        </p:nvSpPr>
        <p:spPr>
          <a:xfrm>
            <a:off x="1171536" y="987193"/>
            <a:ext cx="7850908" cy="4999182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66694098-FB19-0B43-AFEC-49E7D00CA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631852"/>
              </p:ext>
            </p:extLst>
          </p:nvPr>
        </p:nvGraphicFramePr>
        <p:xfrm>
          <a:off x="461490" y="1768697"/>
          <a:ext cx="2955634" cy="20781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82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acc.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gates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282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Input and Output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364AB87-9B82-A844-94C6-F7A9F3386ADD}"/>
              </a:ext>
            </a:extLst>
          </p:cNvPr>
          <p:cNvSpPr/>
          <p:nvPr/>
        </p:nvSpPr>
        <p:spPr>
          <a:xfrm>
            <a:off x="4037611" y="295336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E19321-9A93-E348-8164-3C97804C42F2}"/>
              </a:ext>
            </a:extLst>
          </p:cNvPr>
          <p:cNvSpPr/>
          <p:nvPr/>
        </p:nvSpPr>
        <p:spPr>
          <a:xfrm>
            <a:off x="5852556" y="294413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443C068-AD7F-0344-97D3-62840D88B855}"/>
              </a:ext>
            </a:extLst>
          </p:cNvPr>
          <p:cNvSpPr/>
          <p:nvPr/>
        </p:nvSpPr>
        <p:spPr>
          <a:xfrm>
            <a:off x="7690592" y="295798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0A04043-56AF-5546-BE50-0C446C813494}"/>
              </a:ext>
            </a:extLst>
          </p:cNvPr>
          <p:cNvSpPr/>
          <p:nvPr/>
        </p:nvSpPr>
        <p:spPr>
          <a:xfrm rot="2575300">
            <a:off x="5032828" y="46644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317C94-3AFD-2F43-B5B9-67994CCEC320}"/>
              </a:ext>
            </a:extLst>
          </p:cNvPr>
          <p:cNvSpPr/>
          <p:nvPr/>
        </p:nvSpPr>
        <p:spPr>
          <a:xfrm rot="2575300">
            <a:off x="6801592" y="465516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DEBCD-493C-1D46-992A-1D979EDC92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9872" y="2886402"/>
            <a:ext cx="177800" cy="27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4A8C6-AFDF-9D4C-8F75-F16AB30B5B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5399" y="4192936"/>
            <a:ext cx="177800" cy="279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1D0DA5-6BB5-8E48-A173-FA59BF503A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5690" y="2899011"/>
            <a:ext cx="482600" cy="279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657C1B-4888-964C-9611-503326A6EAC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6361" y="2901149"/>
            <a:ext cx="482600" cy="2921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EDCB008-06B1-9D4D-ABFF-65362832AB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37450" y="4094635"/>
            <a:ext cx="482600" cy="29210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F788B83A-650F-9E41-9D2D-BBE76B5C07CC}"/>
              </a:ext>
            </a:extLst>
          </p:cNvPr>
          <p:cNvSpPr/>
          <p:nvPr/>
        </p:nvSpPr>
        <p:spPr>
          <a:xfrm>
            <a:off x="4033654" y="4430490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F89187B-B600-A24C-8E1A-C1123FE64192}"/>
              </a:ext>
            </a:extLst>
          </p:cNvPr>
          <p:cNvSpPr/>
          <p:nvPr/>
        </p:nvSpPr>
        <p:spPr>
          <a:xfrm>
            <a:off x="5826827" y="442125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B097226-7AD8-2042-AA96-74DBC32594B8}"/>
              </a:ext>
            </a:extLst>
          </p:cNvPr>
          <p:cNvSpPr/>
          <p:nvPr/>
        </p:nvSpPr>
        <p:spPr>
          <a:xfrm>
            <a:off x="7686635" y="4423562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82FB301-C15B-314B-A031-F6CE30AF7CC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06361" y="4409123"/>
            <a:ext cx="571500" cy="2159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ECF521-547D-5A45-909E-1E20ACAAE5F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05193" y="4415473"/>
            <a:ext cx="571500" cy="203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CB7BD98-A464-F64B-A46F-E7ED6B0A952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8396" y="4428664"/>
            <a:ext cx="254000" cy="2032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228DFCE0-3C5E-7644-9179-4D1F49068E58}"/>
              </a:ext>
            </a:extLst>
          </p:cNvPr>
          <p:cNvSpPr/>
          <p:nvPr/>
        </p:nvSpPr>
        <p:spPr>
          <a:xfrm>
            <a:off x="1171536" y="987193"/>
            <a:ext cx="7850908" cy="4999182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05A1F973-030A-0248-B43F-17D1CBD22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230348"/>
              </p:ext>
            </p:extLst>
          </p:nvPr>
        </p:nvGraphicFramePr>
        <p:xfrm>
          <a:off x="97971" y="1464029"/>
          <a:ext cx="3765382" cy="259653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06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4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acc.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gates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&amp; output gates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13973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Forget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542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Forget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682F835-7D3D-CC43-B72C-49BB7E48F99D}"/>
              </a:ext>
            </a:extLst>
          </p:cNvPr>
          <p:cNvSpPr/>
          <p:nvPr/>
        </p:nvSpPr>
        <p:spPr>
          <a:xfrm rot="5400000">
            <a:off x="4885422" y="3759140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D39DD87-83B7-4340-A5A1-E6730C971D6F}"/>
              </a:ext>
            </a:extLst>
          </p:cNvPr>
          <p:cNvSpPr/>
          <p:nvPr/>
        </p:nvSpPr>
        <p:spPr>
          <a:xfrm rot="5400000">
            <a:off x="6723459" y="3761451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8C7AC1-42AE-454E-BB2C-7BC0BF47BD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8402" y="3152447"/>
            <a:ext cx="190500" cy="27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E2BAD0-CA5C-9449-842F-C8528750F5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7098" y="3151902"/>
            <a:ext cx="4953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82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Forget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682F835-7D3D-CC43-B72C-49BB7E48F99D}"/>
              </a:ext>
            </a:extLst>
          </p:cNvPr>
          <p:cNvSpPr/>
          <p:nvPr/>
        </p:nvSpPr>
        <p:spPr>
          <a:xfrm rot="5400000">
            <a:off x="4885422" y="3759140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D39DD87-83B7-4340-A5A1-E6730C971D6F}"/>
              </a:ext>
            </a:extLst>
          </p:cNvPr>
          <p:cNvSpPr/>
          <p:nvPr/>
        </p:nvSpPr>
        <p:spPr>
          <a:xfrm rot="5400000">
            <a:off x="6723459" y="3761451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8C7AC1-42AE-454E-BB2C-7BC0BF47BDD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8402" y="3152447"/>
            <a:ext cx="190500" cy="27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E2BAD0-CA5C-9449-842F-C8528750F5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7098" y="3151902"/>
            <a:ext cx="495300" cy="2921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08A10B7-B46C-6142-B9AB-BDA1C5F76C84}"/>
              </a:ext>
            </a:extLst>
          </p:cNvPr>
          <p:cNvSpPr/>
          <p:nvPr/>
        </p:nvSpPr>
        <p:spPr>
          <a:xfrm>
            <a:off x="674913" y="894287"/>
            <a:ext cx="7777018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ACEC7AC-41DF-E244-86AE-234BD8C7EE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8850" y="977979"/>
            <a:ext cx="7226300" cy="5715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38F3205-2281-5B47-A261-0D800C639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513" y="3409688"/>
            <a:ext cx="3320159" cy="1661993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00B050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E2C"/>
                </a:solidFill>
                <a:latin typeface="Calibri"/>
                <a:cs typeface="Calibri"/>
              </a:rPr>
              <a:t>forget gate controls how much “information” is kept from the previous cell vector</a:t>
            </a:r>
          </a:p>
        </p:txBody>
      </p:sp>
    </p:spTree>
    <p:extLst>
      <p:ext uri="{BB962C8B-B14F-4D97-AF65-F5344CB8AC3E}">
        <p14:creationId xmlns:p14="http://schemas.microsoft.com/office/powerpoint/2010/main" val="64757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Forget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682F835-7D3D-CC43-B72C-49BB7E48F99D}"/>
              </a:ext>
            </a:extLst>
          </p:cNvPr>
          <p:cNvSpPr/>
          <p:nvPr/>
        </p:nvSpPr>
        <p:spPr>
          <a:xfrm rot="5400000">
            <a:off x="4885422" y="3759140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D39DD87-83B7-4340-A5A1-E6730C971D6F}"/>
              </a:ext>
            </a:extLst>
          </p:cNvPr>
          <p:cNvSpPr/>
          <p:nvPr/>
        </p:nvSpPr>
        <p:spPr>
          <a:xfrm rot="5400000">
            <a:off x="6723459" y="3761451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8C7AC1-42AE-454E-BB2C-7BC0BF47BDD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8402" y="3152447"/>
            <a:ext cx="190500" cy="27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E2BAD0-CA5C-9449-842F-C8528750F5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7098" y="3151902"/>
            <a:ext cx="495300" cy="2921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C404774-E381-344E-8108-EE209E44453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9500" y="964786"/>
            <a:ext cx="6985000" cy="5715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1A346D4-1503-684F-B346-013C91F77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302" y="2625325"/>
            <a:ext cx="3320159" cy="1661993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00B050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E2C"/>
                </a:solidFill>
                <a:latin typeface="Calibri"/>
                <a:cs typeface="Calibri"/>
              </a:rPr>
              <a:t>forget gate depends on current observation, previous hidden vector, and previous cell vector</a:t>
            </a:r>
          </a:p>
        </p:txBody>
      </p:sp>
    </p:spTree>
    <p:extLst>
      <p:ext uri="{BB962C8B-B14F-4D97-AF65-F5344CB8AC3E}">
        <p14:creationId xmlns:p14="http://schemas.microsoft.com/office/powerpoint/2010/main" val="79659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Adding Forget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6A7C606-A5A8-AB4E-93C3-D33C518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EE8D08-52C1-B047-9FCB-17AEA630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078367-B944-8A4A-A515-4671EE09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153DB0-2260-834C-B301-C437DE76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FEF93B-D3D2-5649-86D8-02AAA25AC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08F937-EE73-FD49-864F-F80549925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68CBE-AA48-DE44-BF30-F739C2E1C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880E18-28EB-C049-9ACB-B9A6CC797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2F1829-DC1E-4A49-8F51-168C848DF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682F835-7D3D-CC43-B72C-49BB7E48F99D}"/>
              </a:ext>
            </a:extLst>
          </p:cNvPr>
          <p:cNvSpPr/>
          <p:nvPr/>
        </p:nvSpPr>
        <p:spPr>
          <a:xfrm rot="5400000">
            <a:off x="4885422" y="3759140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D39DD87-83B7-4340-A5A1-E6730C971D6F}"/>
              </a:ext>
            </a:extLst>
          </p:cNvPr>
          <p:cNvSpPr/>
          <p:nvPr/>
        </p:nvSpPr>
        <p:spPr>
          <a:xfrm rot="5400000">
            <a:off x="6723459" y="3761451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8C7AC1-42AE-454E-BB2C-7BC0BF47BD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8402" y="3152447"/>
            <a:ext cx="190500" cy="27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E2BAD0-CA5C-9449-842F-C8528750F5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7098" y="3151902"/>
            <a:ext cx="495300" cy="2921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C404774-E381-344E-8108-EE209E4445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9500" y="964786"/>
            <a:ext cx="6985000" cy="5715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9B57A225-9FB4-0247-9BE6-EABBF8DA9BB1}"/>
              </a:ext>
            </a:extLst>
          </p:cNvPr>
          <p:cNvSpPr/>
          <p:nvPr/>
        </p:nvSpPr>
        <p:spPr>
          <a:xfrm>
            <a:off x="835892" y="837541"/>
            <a:ext cx="7850908" cy="4999182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6E1D2F98-BCFE-6C45-AC6C-08A6B768A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982374"/>
              </p:ext>
            </p:extLst>
          </p:nvPr>
        </p:nvGraphicFramePr>
        <p:xfrm>
          <a:off x="362342" y="2312269"/>
          <a:ext cx="3117271" cy="259653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247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acc.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gates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forget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7894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All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28FA3D-223A-B448-B724-B84862AC4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25" y="1018940"/>
            <a:ext cx="7823200" cy="571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CFCB34-F3B6-B64F-BA96-497F624C9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40" y="5146319"/>
            <a:ext cx="2527300" cy="317500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61118559-5611-3B41-B53E-354181D23AE7}"/>
              </a:ext>
            </a:extLst>
          </p:cNvPr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6E24ABE-533B-DF44-977D-1B6A4BB8411E}"/>
              </a:ext>
            </a:extLst>
          </p:cNvPr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832F758-4BEC-A04E-9EA3-B451279101EE}"/>
              </a:ext>
            </a:extLst>
          </p:cNvPr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3B3859B-92E3-A14E-BD55-68C11311C78A}"/>
              </a:ext>
            </a:extLst>
          </p:cNvPr>
          <p:cNvCxnSpPr>
            <a:stCxn id="50" idx="6"/>
            <a:endCxn id="58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ED323BC-3C7E-C649-812E-D7E4274D9C5A}"/>
              </a:ext>
            </a:extLst>
          </p:cNvPr>
          <p:cNvCxnSpPr>
            <a:stCxn id="58" idx="6"/>
            <a:endCxn id="59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EBB74CB9-36EA-E64B-9627-273E774A5041}"/>
              </a:ext>
            </a:extLst>
          </p:cNvPr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5D629B9-50CC-A649-90E5-F046F1D506F1}"/>
              </a:ext>
            </a:extLst>
          </p:cNvPr>
          <p:cNvCxnSpPr>
            <a:stCxn id="62" idx="4"/>
            <a:endCxn id="50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42A1E8DE-8011-1644-8DD4-F13F615D7655}"/>
              </a:ext>
            </a:extLst>
          </p:cNvPr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477F000-6FE3-F041-BBC1-50A8EB812698}"/>
              </a:ext>
            </a:extLst>
          </p:cNvPr>
          <p:cNvCxnSpPr>
            <a:stCxn id="64" idx="4"/>
            <a:endCxn id="58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9A67EDDF-9C74-EC46-9BEF-B76F9918F885}"/>
              </a:ext>
            </a:extLst>
          </p:cNvPr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8682B04-551C-2845-8160-605DD1670BB3}"/>
              </a:ext>
            </a:extLst>
          </p:cNvPr>
          <p:cNvCxnSpPr>
            <a:stCxn id="66" idx="4"/>
            <a:endCxn id="59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C229B82A-E75C-A54A-8C17-CB5A599653FE}"/>
              </a:ext>
            </a:extLst>
          </p:cNvPr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ABF355C-8EB6-4944-930F-0B87669DD727}"/>
              </a:ext>
            </a:extLst>
          </p:cNvPr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A14038B-038D-B340-A569-7DD2E52F2BAA}"/>
              </a:ext>
            </a:extLst>
          </p:cNvPr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397EA12-D3DD-6A46-95DF-FCDB08FA1311}"/>
              </a:ext>
            </a:extLst>
          </p:cNvPr>
          <p:cNvCxnSpPr>
            <a:stCxn id="68" idx="6"/>
            <a:endCxn id="58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20EB60B-189B-8843-9975-A7C0378131E3}"/>
              </a:ext>
            </a:extLst>
          </p:cNvPr>
          <p:cNvCxnSpPr>
            <a:stCxn id="69" idx="6"/>
            <a:endCxn id="59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43A4954-7149-C340-9D53-78758C843784}"/>
              </a:ext>
            </a:extLst>
          </p:cNvPr>
          <p:cNvCxnSpPr>
            <a:stCxn id="50" idx="4"/>
            <a:endCxn id="6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D0F7D8A-ACC9-B04F-B4CE-3D058ECDA670}"/>
              </a:ext>
            </a:extLst>
          </p:cNvPr>
          <p:cNvCxnSpPr>
            <a:stCxn id="58" idx="4"/>
            <a:endCxn id="69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A1E76B2-FACA-2942-9908-AFAF628D794D}"/>
              </a:ext>
            </a:extLst>
          </p:cNvPr>
          <p:cNvCxnSpPr>
            <a:stCxn id="59" idx="4"/>
            <a:endCxn id="70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6" name="Picture 75">
            <a:extLst>
              <a:ext uri="{FF2B5EF4-FFF2-40B4-BE49-F238E27FC236}">
                <a16:creationId xmlns:a16="http://schemas.microsoft.com/office/drawing/2014/main" id="{614048B3-E99A-474C-93C0-DE3C6F2DA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3D96FBE3-5122-0547-BD1D-DDF7C3906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4B6553F4-643C-314F-BDDF-4E1C5D4F1F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D0D20083-C456-DD47-B16A-3663CBED0A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0EA0A288-6442-784A-952F-F9B32F5A97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26444F15-1639-1741-B867-DCC5A9B862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74D21395-27F6-DC45-A730-BAE2922C0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78715D7E-115D-684C-8726-2DF72621B60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FE1CEFDA-B7E1-2942-B54D-F2B1BA3DBA3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AC1E2988-2E33-224C-A1CE-EB8FDC8760F1}"/>
              </a:ext>
            </a:extLst>
          </p:cNvPr>
          <p:cNvSpPr/>
          <p:nvPr/>
        </p:nvSpPr>
        <p:spPr>
          <a:xfrm>
            <a:off x="4037611" y="295336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944E62E-903F-6141-BCAB-F4512F4700BA}"/>
              </a:ext>
            </a:extLst>
          </p:cNvPr>
          <p:cNvSpPr/>
          <p:nvPr/>
        </p:nvSpPr>
        <p:spPr>
          <a:xfrm>
            <a:off x="5852556" y="294413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430425B-BA52-AF48-BB9E-F6B1D787DD2A}"/>
              </a:ext>
            </a:extLst>
          </p:cNvPr>
          <p:cNvSpPr/>
          <p:nvPr/>
        </p:nvSpPr>
        <p:spPr>
          <a:xfrm>
            <a:off x="7690592" y="295798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BCAAF20-6C72-9141-9F74-6264472E1D95}"/>
              </a:ext>
            </a:extLst>
          </p:cNvPr>
          <p:cNvSpPr/>
          <p:nvPr/>
        </p:nvSpPr>
        <p:spPr>
          <a:xfrm rot="2575300">
            <a:off x="5032828" y="46644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6EC33FD-F95B-8A4D-B37C-D3B0C35B270E}"/>
              </a:ext>
            </a:extLst>
          </p:cNvPr>
          <p:cNvSpPr/>
          <p:nvPr/>
        </p:nvSpPr>
        <p:spPr>
          <a:xfrm rot="2575300">
            <a:off x="6801592" y="465516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6322B8F-263A-6E40-8B2E-571478C5B0E1}"/>
              </a:ext>
            </a:extLst>
          </p:cNvPr>
          <p:cNvSpPr/>
          <p:nvPr/>
        </p:nvSpPr>
        <p:spPr>
          <a:xfrm>
            <a:off x="4033654" y="4430490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1AAD9CB-67CC-F646-8BA6-C5291F44356C}"/>
              </a:ext>
            </a:extLst>
          </p:cNvPr>
          <p:cNvSpPr/>
          <p:nvPr/>
        </p:nvSpPr>
        <p:spPr>
          <a:xfrm>
            <a:off x="5826827" y="442125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FE2A28F-C0CF-EF44-A371-84E4A7F53326}"/>
              </a:ext>
            </a:extLst>
          </p:cNvPr>
          <p:cNvSpPr/>
          <p:nvPr/>
        </p:nvSpPr>
        <p:spPr>
          <a:xfrm>
            <a:off x="7686635" y="4423562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B4FFD5E-FFA6-9542-ADD2-AA160170B571}"/>
              </a:ext>
            </a:extLst>
          </p:cNvPr>
          <p:cNvSpPr/>
          <p:nvPr/>
        </p:nvSpPr>
        <p:spPr>
          <a:xfrm rot="5400000">
            <a:off x="4885422" y="3759140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E42801C-9F2D-1A47-92FE-9DD48D7D4C3E}"/>
              </a:ext>
            </a:extLst>
          </p:cNvPr>
          <p:cNvSpPr/>
          <p:nvPr/>
        </p:nvSpPr>
        <p:spPr>
          <a:xfrm rot="5400000">
            <a:off x="6723459" y="3761451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2963843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All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1118559-5611-3B41-B53E-354181D23AE7}"/>
              </a:ext>
            </a:extLst>
          </p:cNvPr>
          <p:cNvSpPr/>
          <p:nvPr/>
        </p:nvSpPr>
        <p:spPr>
          <a:xfrm>
            <a:off x="3938979" y="33844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6E24ABE-533B-DF44-977D-1B6A4BB8411E}"/>
              </a:ext>
            </a:extLst>
          </p:cNvPr>
          <p:cNvSpPr/>
          <p:nvPr/>
        </p:nvSpPr>
        <p:spPr>
          <a:xfrm>
            <a:off x="5777014" y="337522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832F758-4BEC-A04E-9EA3-B451279101EE}"/>
              </a:ext>
            </a:extLst>
          </p:cNvPr>
          <p:cNvSpPr/>
          <p:nvPr/>
        </p:nvSpPr>
        <p:spPr>
          <a:xfrm>
            <a:off x="7603503" y="338907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3B3859B-92E3-A14E-BD55-68C11311C78A}"/>
              </a:ext>
            </a:extLst>
          </p:cNvPr>
          <p:cNvCxnSpPr>
            <a:stCxn id="50" idx="6"/>
            <a:endCxn id="58" idx="2"/>
          </p:cNvCxnSpPr>
          <p:nvPr/>
        </p:nvCxnSpPr>
        <p:spPr bwMode="auto">
          <a:xfrm flipV="1">
            <a:off x="4841837" y="3826652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ED323BC-3C7E-C649-812E-D7E4274D9C5A}"/>
              </a:ext>
            </a:extLst>
          </p:cNvPr>
          <p:cNvCxnSpPr>
            <a:stCxn id="58" idx="6"/>
            <a:endCxn id="59" idx="2"/>
          </p:cNvCxnSpPr>
          <p:nvPr/>
        </p:nvCxnSpPr>
        <p:spPr bwMode="auto">
          <a:xfrm>
            <a:off x="6679872" y="3826652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EBB74CB9-36EA-E64B-9627-273E774A5041}"/>
              </a:ext>
            </a:extLst>
          </p:cNvPr>
          <p:cNvSpPr/>
          <p:nvPr/>
        </p:nvSpPr>
        <p:spPr>
          <a:xfrm>
            <a:off x="3941288" y="188584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5D629B9-50CC-A649-90E5-F046F1D506F1}"/>
              </a:ext>
            </a:extLst>
          </p:cNvPr>
          <p:cNvCxnSpPr>
            <a:stCxn id="62" idx="4"/>
            <a:endCxn id="50" idx="0"/>
          </p:cNvCxnSpPr>
          <p:nvPr/>
        </p:nvCxnSpPr>
        <p:spPr bwMode="auto">
          <a:xfrm flipH="1">
            <a:off x="4390408" y="2788705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42A1E8DE-8011-1644-8DD4-F13F615D7655}"/>
              </a:ext>
            </a:extLst>
          </p:cNvPr>
          <p:cNvSpPr/>
          <p:nvPr/>
        </p:nvSpPr>
        <p:spPr>
          <a:xfrm>
            <a:off x="5779324" y="18766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477F000-6FE3-F041-BBC1-50A8EB812698}"/>
              </a:ext>
            </a:extLst>
          </p:cNvPr>
          <p:cNvCxnSpPr>
            <a:stCxn id="64" idx="4"/>
            <a:endCxn id="58" idx="0"/>
          </p:cNvCxnSpPr>
          <p:nvPr/>
        </p:nvCxnSpPr>
        <p:spPr bwMode="auto">
          <a:xfrm flipH="1">
            <a:off x="6228443" y="2779469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9A67EDDF-9C74-EC46-9BEF-B76F9918F885}"/>
              </a:ext>
            </a:extLst>
          </p:cNvPr>
          <p:cNvSpPr/>
          <p:nvPr/>
        </p:nvSpPr>
        <p:spPr>
          <a:xfrm>
            <a:off x="7603506" y="18881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8682B04-551C-2845-8160-605DD1670BB3}"/>
              </a:ext>
            </a:extLst>
          </p:cNvPr>
          <p:cNvCxnSpPr>
            <a:stCxn id="66" idx="4"/>
            <a:endCxn id="59" idx="0"/>
          </p:cNvCxnSpPr>
          <p:nvPr/>
        </p:nvCxnSpPr>
        <p:spPr bwMode="auto">
          <a:xfrm flipH="1">
            <a:off x="8054932" y="2791014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C229B82A-E75C-A54A-8C17-CB5A599653FE}"/>
              </a:ext>
            </a:extLst>
          </p:cNvPr>
          <p:cNvSpPr/>
          <p:nvPr/>
        </p:nvSpPr>
        <p:spPr>
          <a:xfrm>
            <a:off x="3941288" y="48876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ABF355C-8EB6-4944-930F-0B87669DD727}"/>
              </a:ext>
            </a:extLst>
          </p:cNvPr>
          <p:cNvSpPr/>
          <p:nvPr/>
        </p:nvSpPr>
        <p:spPr>
          <a:xfrm>
            <a:off x="5779323" y="48784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A14038B-038D-B340-A569-7DD2E52F2BAA}"/>
              </a:ext>
            </a:extLst>
          </p:cNvPr>
          <p:cNvSpPr/>
          <p:nvPr/>
        </p:nvSpPr>
        <p:spPr>
          <a:xfrm>
            <a:off x="7605812" y="489231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397EA12-D3DD-6A46-95DF-FCDB08FA1311}"/>
              </a:ext>
            </a:extLst>
          </p:cNvPr>
          <p:cNvCxnSpPr>
            <a:stCxn id="68" idx="6"/>
            <a:endCxn id="58" idx="3"/>
          </p:cNvCxnSpPr>
          <p:nvPr/>
        </p:nvCxnSpPr>
        <p:spPr bwMode="auto">
          <a:xfrm flipV="1">
            <a:off x="4844146" y="4145861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20EB60B-189B-8843-9975-A7C0378131E3}"/>
              </a:ext>
            </a:extLst>
          </p:cNvPr>
          <p:cNvCxnSpPr>
            <a:stCxn id="69" idx="6"/>
            <a:endCxn id="59" idx="3"/>
          </p:cNvCxnSpPr>
          <p:nvPr/>
        </p:nvCxnSpPr>
        <p:spPr bwMode="auto">
          <a:xfrm flipV="1">
            <a:off x="6682181" y="4159716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43A4954-7149-C340-9D53-78758C843784}"/>
              </a:ext>
            </a:extLst>
          </p:cNvPr>
          <p:cNvCxnSpPr>
            <a:stCxn id="50" idx="4"/>
            <a:endCxn id="68" idx="0"/>
          </p:cNvCxnSpPr>
          <p:nvPr/>
        </p:nvCxnSpPr>
        <p:spPr bwMode="auto">
          <a:xfrm>
            <a:off x="4390408" y="4287318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D0F7D8A-ACC9-B04F-B4CE-3D058ECDA670}"/>
              </a:ext>
            </a:extLst>
          </p:cNvPr>
          <p:cNvCxnSpPr>
            <a:stCxn id="58" idx="4"/>
            <a:endCxn id="69" idx="0"/>
          </p:cNvCxnSpPr>
          <p:nvPr/>
        </p:nvCxnSpPr>
        <p:spPr bwMode="auto">
          <a:xfrm>
            <a:off x="6228443" y="4278081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A1E76B2-FACA-2942-9908-AFAF628D794D}"/>
              </a:ext>
            </a:extLst>
          </p:cNvPr>
          <p:cNvCxnSpPr>
            <a:stCxn id="59" idx="4"/>
            <a:endCxn id="70" idx="0"/>
          </p:cNvCxnSpPr>
          <p:nvPr/>
        </p:nvCxnSpPr>
        <p:spPr bwMode="auto">
          <a:xfrm>
            <a:off x="8054932" y="4291936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6" name="Picture 75">
            <a:extLst>
              <a:ext uri="{FF2B5EF4-FFF2-40B4-BE49-F238E27FC236}">
                <a16:creationId xmlns:a16="http://schemas.microsoft.com/office/drawing/2014/main" id="{614048B3-E99A-474C-93C0-DE3C6F2DA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61" y="2246115"/>
            <a:ext cx="584200" cy="1905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3D96FBE3-5122-0547-BD1D-DDF7C3906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70" y="2246115"/>
            <a:ext cx="584200" cy="2159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4B6553F4-643C-314F-BDDF-4E1C5D4F1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65" y="2246115"/>
            <a:ext cx="266700" cy="1905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D0D20083-C456-DD47-B16A-3663CBED0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80" y="5184419"/>
            <a:ext cx="279400" cy="2794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0EA0A288-6442-784A-952F-F9B32F5A97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603" y="5184419"/>
            <a:ext cx="584200" cy="2921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26444F15-1639-1741-B867-DCC5A9B862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484" y="5184419"/>
            <a:ext cx="584200" cy="2794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74D21395-27F6-DC45-A730-BAE2922C0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484" y="3738907"/>
            <a:ext cx="558800" cy="2032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78715D7E-115D-684C-8726-2DF72621B6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370" y="3738907"/>
            <a:ext cx="546100" cy="2159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FE1CEFDA-B7E1-2942-B54D-F2B1BA3DBA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294" y="3738907"/>
            <a:ext cx="241300" cy="203200"/>
          </a:xfrm>
          <a:prstGeom prst="rect">
            <a:avLst/>
          </a:prstGeom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AC1E2988-2E33-224C-A1CE-EB8FDC8760F1}"/>
              </a:ext>
            </a:extLst>
          </p:cNvPr>
          <p:cNvSpPr/>
          <p:nvPr/>
        </p:nvSpPr>
        <p:spPr>
          <a:xfrm>
            <a:off x="4037611" y="295336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944E62E-903F-6141-BCAB-F4512F4700BA}"/>
              </a:ext>
            </a:extLst>
          </p:cNvPr>
          <p:cNvSpPr/>
          <p:nvPr/>
        </p:nvSpPr>
        <p:spPr>
          <a:xfrm>
            <a:off x="5852556" y="294413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430425B-BA52-AF48-BB9E-F6B1D787DD2A}"/>
              </a:ext>
            </a:extLst>
          </p:cNvPr>
          <p:cNvSpPr/>
          <p:nvPr/>
        </p:nvSpPr>
        <p:spPr>
          <a:xfrm>
            <a:off x="7690592" y="295798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BCAAF20-6C72-9141-9F74-6264472E1D95}"/>
              </a:ext>
            </a:extLst>
          </p:cNvPr>
          <p:cNvSpPr/>
          <p:nvPr/>
        </p:nvSpPr>
        <p:spPr>
          <a:xfrm rot="2575300">
            <a:off x="5032828" y="46644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6EC33FD-F95B-8A4D-B37C-D3B0C35B270E}"/>
              </a:ext>
            </a:extLst>
          </p:cNvPr>
          <p:cNvSpPr/>
          <p:nvPr/>
        </p:nvSpPr>
        <p:spPr>
          <a:xfrm rot="2575300">
            <a:off x="6801592" y="465516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6B8A7D19-DD60-D241-919C-93E6D26318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5399" y="4192936"/>
            <a:ext cx="177800" cy="279400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A6322B8F-263A-6E40-8B2E-571478C5B0E1}"/>
              </a:ext>
            </a:extLst>
          </p:cNvPr>
          <p:cNvSpPr/>
          <p:nvPr/>
        </p:nvSpPr>
        <p:spPr>
          <a:xfrm>
            <a:off x="4033654" y="4430490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1AAD9CB-67CC-F646-8BA6-C5291F44356C}"/>
              </a:ext>
            </a:extLst>
          </p:cNvPr>
          <p:cNvSpPr/>
          <p:nvPr/>
        </p:nvSpPr>
        <p:spPr>
          <a:xfrm>
            <a:off x="5826827" y="442125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FE2A28F-C0CF-EF44-A371-84E4A7F53326}"/>
              </a:ext>
            </a:extLst>
          </p:cNvPr>
          <p:cNvSpPr/>
          <p:nvPr/>
        </p:nvSpPr>
        <p:spPr>
          <a:xfrm>
            <a:off x="7686635" y="4423562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81E0AC37-8E7D-CD4F-83CD-9581E3B6C5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5193" y="4415473"/>
            <a:ext cx="571500" cy="203200"/>
          </a:xfrm>
          <a:prstGeom prst="rect">
            <a:avLst/>
          </a:prstGeom>
        </p:spPr>
      </p:pic>
      <p:sp>
        <p:nvSpPr>
          <p:cNvPr id="101" name="Rectangle 100">
            <a:extLst>
              <a:ext uri="{FF2B5EF4-FFF2-40B4-BE49-F238E27FC236}">
                <a16:creationId xmlns:a16="http://schemas.microsoft.com/office/drawing/2014/main" id="{FB4FFD5E-FFA6-9542-ADD2-AA160170B571}"/>
              </a:ext>
            </a:extLst>
          </p:cNvPr>
          <p:cNvSpPr/>
          <p:nvPr/>
        </p:nvSpPr>
        <p:spPr>
          <a:xfrm rot="5400000">
            <a:off x="4885422" y="3759140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E42801C-9F2D-1A47-92FE-9DD48D7D4C3E}"/>
              </a:ext>
            </a:extLst>
          </p:cNvPr>
          <p:cNvSpPr/>
          <p:nvPr/>
        </p:nvSpPr>
        <p:spPr>
          <a:xfrm rot="5400000">
            <a:off x="6723459" y="3761451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8C22407-0A77-5749-9302-D36C86C05515}"/>
              </a:ext>
            </a:extLst>
          </p:cNvPr>
          <p:cNvSpPr/>
          <p:nvPr/>
        </p:nvSpPr>
        <p:spPr>
          <a:xfrm>
            <a:off x="2491629" y="1227475"/>
            <a:ext cx="6280234" cy="4999182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47C812BC-6D22-8344-9D0C-638786E76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22832"/>
              </p:ext>
            </p:extLst>
          </p:nvPr>
        </p:nvGraphicFramePr>
        <p:xfrm>
          <a:off x="336188" y="1234223"/>
          <a:ext cx="4698860" cy="467003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88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acc.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gates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&amp; output gates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forget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input &amp; forget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gates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forget &amp;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input, forget, 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4221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Backward LSTMs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4151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40588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41974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6" idx="2"/>
            <a:endCxn id="5" idx="6"/>
          </p:cNvCxnSpPr>
          <p:nvPr/>
        </p:nvCxnSpPr>
        <p:spPr bwMode="auto">
          <a:xfrm flipH="1">
            <a:off x="3198094" y="385731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7" idx="2"/>
            <a:endCxn id="6" idx="6"/>
          </p:cNvCxnSpPr>
          <p:nvPr/>
        </p:nvCxnSpPr>
        <p:spPr bwMode="auto">
          <a:xfrm flipH="1" flipV="1">
            <a:off x="5036129" y="385731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9165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81936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90727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81013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91882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82167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2297545" y="49183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9091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9229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33" idx="2"/>
            <a:endCxn id="5" idx="5"/>
          </p:cNvCxnSpPr>
          <p:nvPr/>
        </p:nvCxnSpPr>
        <p:spPr bwMode="auto">
          <a:xfrm flipH="1" flipV="1">
            <a:off x="3065874" y="4185762"/>
            <a:ext cx="1069706" cy="117478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4" idx="2"/>
            <a:endCxn id="6" idx="5"/>
          </p:cNvCxnSpPr>
          <p:nvPr/>
        </p:nvCxnSpPr>
        <p:spPr bwMode="auto">
          <a:xfrm flipH="1" flipV="1">
            <a:off x="4903909" y="4176525"/>
            <a:ext cx="1058160" cy="119787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431798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430874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432260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Rectangle 35"/>
          <p:cNvSpPr/>
          <p:nvPr/>
        </p:nvSpPr>
        <p:spPr>
          <a:xfrm>
            <a:off x="2389911" y="298333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97409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98795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89911" y="446115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04856" y="445191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42892" y="445422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8134411">
            <a:off x="3258127" y="472900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8239212">
            <a:off x="5130802" y="477749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32728" y="3779972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70765" y="3782283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A433994-4DDE-C641-9186-E2C18720E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880" y="2278773"/>
            <a:ext cx="584200" cy="1905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BFFA70C6-32BA-A14A-AA47-2E0C1234F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089" y="2278773"/>
            <a:ext cx="584200" cy="2159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CB1C01B-48FF-D54D-811C-F0B841952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884" y="2278773"/>
            <a:ext cx="266700" cy="1905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40DE788-7905-2F49-82C8-A5177AD9F0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399" y="5217077"/>
            <a:ext cx="279400" cy="2794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D7871BFD-21B5-D344-9AEB-C53D111454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8322" y="5217077"/>
            <a:ext cx="584200" cy="2921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0B4A20F-8B51-0446-B1E6-2A5E7CFBC7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7203" y="5217077"/>
            <a:ext cx="584200" cy="2794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4B627551-5F3B-694B-88FA-D135DF39AE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7203" y="3771565"/>
            <a:ext cx="558800" cy="2032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CBB00F0-4774-AE4B-89A3-509E7D0C50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089" y="3771565"/>
            <a:ext cx="546100" cy="2159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5CDEC39-309A-2C44-98A8-B696A8B58D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8013" y="3771565"/>
            <a:ext cx="2413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984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Backward LSTMs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4151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40588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41974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6" idx="2"/>
            <a:endCxn id="5" idx="6"/>
          </p:cNvCxnSpPr>
          <p:nvPr/>
        </p:nvCxnSpPr>
        <p:spPr bwMode="auto">
          <a:xfrm flipH="1">
            <a:off x="3198094" y="385731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7" idx="2"/>
            <a:endCxn id="6" idx="6"/>
          </p:cNvCxnSpPr>
          <p:nvPr/>
        </p:nvCxnSpPr>
        <p:spPr bwMode="auto">
          <a:xfrm flipH="1" flipV="1">
            <a:off x="5036129" y="385731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9165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81936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90727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81013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91882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82167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2297545" y="49183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9091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9229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33" idx="2"/>
            <a:endCxn id="5" idx="5"/>
          </p:cNvCxnSpPr>
          <p:nvPr/>
        </p:nvCxnSpPr>
        <p:spPr bwMode="auto">
          <a:xfrm flipH="1" flipV="1">
            <a:off x="3065874" y="4185762"/>
            <a:ext cx="1069706" cy="117478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4" idx="2"/>
            <a:endCxn id="6" idx="5"/>
          </p:cNvCxnSpPr>
          <p:nvPr/>
        </p:nvCxnSpPr>
        <p:spPr bwMode="auto">
          <a:xfrm flipH="1" flipV="1">
            <a:off x="4903909" y="4176525"/>
            <a:ext cx="1058160" cy="119787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431798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430874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432260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Rectangle 35"/>
          <p:cNvSpPr/>
          <p:nvPr/>
        </p:nvSpPr>
        <p:spPr>
          <a:xfrm>
            <a:off x="2389911" y="298333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97409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98795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89911" y="446115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04856" y="445191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42892" y="445422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8134411">
            <a:off x="3258127" y="472900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8239212">
            <a:off x="5130802" y="477749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32728" y="3779972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70765" y="3782283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A433994-4DDE-C641-9186-E2C18720E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880" y="2278773"/>
            <a:ext cx="584200" cy="1905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BFFA70C6-32BA-A14A-AA47-2E0C1234F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089" y="2278773"/>
            <a:ext cx="584200" cy="2159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CB1C01B-48FF-D54D-811C-F0B841952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884" y="2278773"/>
            <a:ext cx="266700" cy="1905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40DE788-7905-2F49-82C8-A5177AD9F0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399" y="5217077"/>
            <a:ext cx="279400" cy="2794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D7871BFD-21B5-D344-9AEB-C53D111454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8322" y="5217077"/>
            <a:ext cx="584200" cy="2921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0B4A20F-8B51-0446-B1E6-2A5E7CFBC7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7203" y="5217077"/>
            <a:ext cx="584200" cy="2794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4B627551-5F3B-694B-88FA-D135DF39AE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7203" y="3771565"/>
            <a:ext cx="558800" cy="2032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CBB00F0-4774-AE4B-89A3-509E7D0C50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089" y="3771565"/>
            <a:ext cx="546100" cy="2159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5CDEC39-309A-2C44-98A8-B696A8B58D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8013" y="3771565"/>
            <a:ext cx="241300" cy="2032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350B4FFA-756B-9545-A091-63233C7A4F2F}"/>
              </a:ext>
            </a:extLst>
          </p:cNvPr>
          <p:cNvSpPr/>
          <p:nvPr/>
        </p:nvSpPr>
        <p:spPr>
          <a:xfrm>
            <a:off x="1803649" y="1227475"/>
            <a:ext cx="6280234" cy="4999182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4DC3935-2B6C-E740-BE13-3874E896E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245545"/>
              </p:ext>
            </p:extLst>
          </p:nvPr>
        </p:nvGraphicFramePr>
        <p:xfrm>
          <a:off x="438731" y="1664860"/>
          <a:ext cx="6574586" cy="311491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087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8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forward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backward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83.7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gates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forget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83.4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input, forget, 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3440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Bidirectional LSTMs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334818" y="696734"/>
            <a:ext cx="8555182" cy="1107996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latin typeface="Calibri"/>
                <a:cs typeface="Calibri"/>
              </a:rPr>
              <a:t>bidirectional: </a:t>
            </a:r>
          </a:p>
          <a:p>
            <a:pPr lvl="1" eaLnBrk="1" hangingPunct="1"/>
            <a:r>
              <a:rPr lang="en-US" sz="2000" i="0" dirty="0">
                <a:latin typeface="Calibri"/>
                <a:cs typeface="Calibri"/>
              </a:rPr>
              <a:t>if shallow, just use forward and backward LSTMs in parallel, concatenate </a:t>
            </a:r>
          </a:p>
          <a:p>
            <a:pPr lvl="1" eaLnBrk="1" hangingPunct="1"/>
            <a:r>
              <a:rPr lang="en-US" sz="2000" i="0" dirty="0">
                <a:latin typeface="Calibri"/>
                <a:cs typeface="Calibri"/>
              </a:rPr>
              <a:t>final two hidden vectors, feed to </a:t>
            </a:r>
            <a:r>
              <a:rPr lang="en-US" sz="2000" i="0" dirty="0" err="1">
                <a:latin typeface="Calibri"/>
                <a:cs typeface="Calibri"/>
              </a:rPr>
              <a:t>softmax</a:t>
            </a:r>
            <a:endParaRPr lang="en-US" sz="1600" i="0" dirty="0">
              <a:latin typeface="Calibri"/>
              <a:cs typeface="Calibri"/>
            </a:endParaRP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2D894DF-2490-874D-AF71-31BB56C39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734808"/>
              </p:ext>
            </p:extLst>
          </p:nvPr>
        </p:nvGraphicFramePr>
        <p:xfrm>
          <a:off x="438731" y="2024089"/>
          <a:ext cx="8324273" cy="311491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087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8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9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forward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backward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bidirectional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81.5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83.7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gates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83.9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forget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83.4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83.1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input, forget, 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74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87744"/>
            <a:ext cx="2193635" cy="1343891"/>
          </a:xfrm>
        </p:spPr>
        <p:txBody>
          <a:bodyPr/>
          <a:lstStyle/>
          <a:p>
            <a:r>
              <a:rPr lang="en-US" sz="3200" dirty="0"/>
              <a:t>LSTM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318339" y="16025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56374" y="159327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82863" y="16071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221197" y="2044700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59232" y="2044700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320648" y="21934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69768" y="1122203"/>
            <a:ext cx="2309" cy="4803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58684" y="21010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607803" y="1112967"/>
            <a:ext cx="2310" cy="4803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82866" y="2216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34292" y="1124512"/>
            <a:ext cx="3" cy="4826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2320648" y="29902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58683" y="298105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85172" y="29949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23506" y="2363909"/>
            <a:ext cx="1065088" cy="107781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61541" y="2377764"/>
            <a:ext cx="1053542" cy="105471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69768" y="2505366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607803" y="2496129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34292" y="2509984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Rectangle 35"/>
          <p:cNvSpPr/>
          <p:nvPr/>
        </p:nvSpPr>
        <p:spPr>
          <a:xfrm>
            <a:off x="2413014" y="122844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27959" y="121920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65995" y="123306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413014" y="259081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27959" y="25815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65995" y="2583885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2575300">
            <a:off x="3408231" y="288175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2575300">
            <a:off x="5176995" y="287251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55831" y="1967356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93868" y="1969667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FB230850-28F5-7948-BD85-1C242FAF6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020" y="593471"/>
            <a:ext cx="584200" cy="1905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29237698-0322-F741-9D1D-489744377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229" y="593471"/>
            <a:ext cx="584200" cy="2159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CF9A0F00-0CA6-004F-B1E6-6B3888190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024" y="593471"/>
            <a:ext cx="266700" cy="1905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B7883C55-8B0F-0042-AF34-7A3AF8844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1539" y="3303177"/>
            <a:ext cx="279400" cy="2794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DA870337-27DF-D440-82CF-07F4DFF14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7462" y="3303177"/>
            <a:ext cx="584200" cy="2921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F3C2350-9B4A-484C-A712-C1D3B755CC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6343" y="3303177"/>
            <a:ext cx="584200" cy="2794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9AFB0235-BC3A-124A-BC49-5586527A8C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6343" y="1955638"/>
            <a:ext cx="558800" cy="2032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90B7BD14-A57D-DE45-A05A-A619A2FCE6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0001" y="1955638"/>
            <a:ext cx="546100" cy="2159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5B552B61-4BEA-474E-921C-14BF038EC8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7153" y="1955638"/>
            <a:ext cx="2413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620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87744"/>
            <a:ext cx="2193635" cy="1343891"/>
          </a:xfrm>
        </p:spPr>
        <p:txBody>
          <a:bodyPr>
            <a:normAutofit/>
          </a:bodyPr>
          <a:lstStyle/>
          <a:p>
            <a:r>
              <a:rPr lang="en-US" sz="3200" dirty="0"/>
              <a:t>Deep LSTM</a:t>
            </a:r>
            <a:br>
              <a:rPr lang="en-US" sz="3200" dirty="0"/>
            </a:br>
            <a:r>
              <a:rPr lang="en-US" sz="3200" dirty="0"/>
              <a:t>(2-layer)</a:t>
            </a:r>
          </a:p>
        </p:txBody>
      </p:sp>
      <p:sp>
        <p:nvSpPr>
          <p:cNvPr id="5" name="Oval 4"/>
          <p:cNvSpPr/>
          <p:nvPr/>
        </p:nvSpPr>
        <p:spPr>
          <a:xfrm>
            <a:off x="2318339" y="16025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56374" y="159327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82863" y="16071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221197" y="2044700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59232" y="2044700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320648" y="21934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69768" y="1122203"/>
            <a:ext cx="2309" cy="4803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58684" y="21010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607803" y="1112967"/>
            <a:ext cx="2310" cy="4803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82866" y="2216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34292" y="1124512"/>
            <a:ext cx="3" cy="4826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2320648" y="29902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58683" y="298105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85172" y="29949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23506" y="2363909"/>
            <a:ext cx="1065088" cy="107781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61541" y="2377764"/>
            <a:ext cx="1053542" cy="105471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69768" y="2505366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607803" y="2496129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34292" y="2509984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Rectangle 35"/>
          <p:cNvSpPr/>
          <p:nvPr/>
        </p:nvSpPr>
        <p:spPr>
          <a:xfrm>
            <a:off x="2413014" y="122844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27959" y="121920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65995" y="123306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413014" y="259081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27959" y="25815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65995" y="2583885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2575300">
            <a:off x="3408231" y="288175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2575300">
            <a:off x="5176995" y="287251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55831" y="1967356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93868" y="1969667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FB230850-28F5-7948-BD85-1C242FAF6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020" y="593471"/>
            <a:ext cx="584200" cy="1905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29237698-0322-F741-9D1D-489744377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229" y="593471"/>
            <a:ext cx="584200" cy="2159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CF9A0F00-0CA6-004F-B1E6-6B3888190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024" y="593471"/>
            <a:ext cx="266700" cy="190500"/>
          </a:xfrm>
          <a:prstGeom prst="rect">
            <a:avLst/>
          </a:prstGeom>
        </p:spPr>
      </p:pic>
      <p:sp>
        <p:nvSpPr>
          <p:cNvPr id="43" name="Slide Number Placeholder 3">
            <a:extLst>
              <a:ext uri="{FF2B5EF4-FFF2-40B4-BE49-F238E27FC236}">
                <a16:creationId xmlns:a16="http://schemas.microsoft.com/office/drawing/2014/main" id="{DA01CD78-07D6-1542-B57F-24458CE58672}"/>
              </a:ext>
            </a:extLst>
          </p:cNvPr>
          <p:cNvSpPr txBox="1">
            <a:spLocks/>
          </p:cNvSpPr>
          <p:nvPr/>
        </p:nvSpPr>
        <p:spPr>
          <a:xfrm>
            <a:off x="6804730" y="641350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F820A7-D46B-46D8-A3CF-66A8CEAA457D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BD04CF7-29EC-6743-855A-DA9684C19A08}"/>
              </a:ext>
            </a:extLst>
          </p:cNvPr>
          <p:cNvSpPr/>
          <p:nvPr/>
        </p:nvSpPr>
        <p:spPr>
          <a:xfrm>
            <a:off x="2320648" y="43757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2B6D227-791A-E444-91D8-D49A231A9D41}"/>
              </a:ext>
            </a:extLst>
          </p:cNvPr>
          <p:cNvSpPr/>
          <p:nvPr/>
        </p:nvSpPr>
        <p:spPr>
          <a:xfrm>
            <a:off x="4158683" y="436648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CCF170B-E5B0-9C47-805F-896E2A3F8886}"/>
              </a:ext>
            </a:extLst>
          </p:cNvPr>
          <p:cNvSpPr/>
          <p:nvPr/>
        </p:nvSpPr>
        <p:spPr>
          <a:xfrm>
            <a:off x="5985172" y="438034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A9B0362-B590-554F-B2BA-1679B8887BE6}"/>
              </a:ext>
            </a:extLst>
          </p:cNvPr>
          <p:cNvCxnSpPr>
            <a:stCxn id="44" idx="6"/>
            <a:endCxn id="45" idx="2"/>
          </p:cNvCxnSpPr>
          <p:nvPr/>
        </p:nvCxnSpPr>
        <p:spPr bwMode="auto">
          <a:xfrm flipV="1">
            <a:off x="3223506" y="4817918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F63A839-B83D-5C4B-B746-A01BA988107C}"/>
              </a:ext>
            </a:extLst>
          </p:cNvPr>
          <p:cNvCxnSpPr>
            <a:stCxn id="45" idx="6"/>
            <a:endCxn id="48" idx="2"/>
          </p:cNvCxnSpPr>
          <p:nvPr/>
        </p:nvCxnSpPr>
        <p:spPr bwMode="auto">
          <a:xfrm>
            <a:off x="5061541" y="4817918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C6D4AAF-2676-F045-99AB-57EBEAD21512}"/>
              </a:ext>
            </a:extLst>
          </p:cNvPr>
          <p:cNvCxnSpPr>
            <a:endCxn id="44" idx="0"/>
          </p:cNvCxnSpPr>
          <p:nvPr/>
        </p:nvCxnSpPr>
        <p:spPr bwMode="auto">
          <a:xfrm flipH="1">
            <a:off x="2772077" y="3895421"/>
            <a:ext cx="2309" cy="4803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506F717-3BD7-A040-A614-BE95BB1D5280}"/>
              </a:ext>
            </a:extLst>
          </p:cNvPr>
          <p:cNvCxnSpPr>
            <a:endCxn id="45" idx="0"/>
          </p:cNvCxnSpPr>
          <p:nvPr/>
        </p:nvCxnSpPr>
        <p:spPr bwMode="auto">
          <a:xfrm flipH="1">
            <a:off x="4610112" y="3886185"/>
            <a:ext cx="2310" cy="4803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9B9B763-37D2-0345-8B5D-E07CC9B8D3A4}"/>
              </a:ext>
            </a:extLst>
          </p:cNvPr>
          <p:cNvCxnSpPr>
            <a:endCxn id="48" idx="0"/>
          </p:cNvCxnSpPr>
          <p:nvPr/>
        </p:nvCxnSpPr>
        <p:spPr bwMode="auto">
          <a:xfrm flipH="1">
            <a:off x="6436601" y="3897730"/>
            <a:ext cx="3" cy="4826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2AFBED54-6996-6F4C-9094-C4D65B904F35}"/>
              </a:ext>
            </a:extLst>
          </p:cNvPr>
          <p:cNvSpPr/>
          <p:nvPr/>
        </p:nvSpPr>
        <p:spPr>
          <a:xfrm>
            <a:off x="2322957" y="57635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8F7ED15-615E-BA4B-B2FF-C6BB0B5C7B7B}"/>
              </a:ext>
            </a:extLst>
          </p:cNvPr>
          <p:cNvSpPr/>
          <p:nvPr/>
        </p:nvSpPr>
        <p:spPr>
          <a:xfrm>
            <a:off x="4160992" y="575427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3D5B7A4-1B5A-8F44-80D2-3215327D5041}"/>
              </a:ext>
            </a:extLst>
          </p:cNvPr>
          <p:cNvSpPr/>
          <p:nvPr/>
        </p:nvSpPr>
        <p:spPr>
          <a:xfrm>
            <a:off x="5987481" y="57681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F863A63-9AFE-994C-82DF-9A4A07CA2599}"/>
              </a:ext>
            </a:extLst>
          </p:cNvPr>
          <p:cNvCxnSpPr>
            <a:stCxn id="61" idx="6"/>
            <a:endCxn id="45" idx="3"/>
          </p:cNvCxnSpPr>
          <p:nvPr/>
        </p:nvCxnSpPr>
        <p:spPr bwMode="auto">
          <a:xfrm flipV="1">
            <a:off x="3225815" y="5137127"/>
            <a:ext cx="1065088" cy="107781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9AD1945-E935-5249-A15F-683082E05801}"/>
              </a:ext>
            </a:extLst>
          </p:cNvPr>
          <p:cNvCxnSpPr>
            <a:stCxn id="62" idx="6"/>
            <a:endCxn id="48" idx="3"/>
          </p:cNvCxnSpPr>
          <p:nvPr/>
        </p:nvCxnSpPr>
        <p:spPr bwMode="auto">
          <a:xfrm flipV="1">
            <a:off x="5063850" y="5150982"/>
            <a:ext cx="1053542" cy="105471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A7D8031-1148-554F-AA94-8BBB49D84E02}"/>
              </a:ext>
            </a:extLst>
          </p:cNvPr>
          <p:cNvCxnSpPr>
            <a:stCxn id="44" idx="4"/>
            <a:endCxn id="61" idx="0"/>
          </p:cNvCxnSpPr>
          <p:nvPr/>
        </p:nvCxnSpPr>
        <p:spPr bwMode="auto">
          <a:xfrm>
            <a:off x="2772077" y="5278584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17681A9-7ABF-0A4C-B449-CC543D2AFA9F}"/>
              </a:ext>
            </a:extLst>
          </p:cNvPr>
          <p:cNvCxnSpPr>
            <a:stCxn id="45" idx="4"/>
            <a:endCxn id="62" idx="0"/>
          </p:cNvCxnSpPr>
          <p:nvPr/>
        </p:nvCxnSpPr>
        <p:spPr bwMode="auto">
          <a:xfrm>
            <a:off x="4610112" y="5269347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7F11424-D741-984A-902C-1812157715D3}"/>
              </a:ext>
            </a:extLst>
          </p:cNvPr>
          <p:cNvCxnSpPr>
            <a:stCxn id="48" idx="4"/>
            <a:endCxn id="63" idx="0"/>
          </p:cNvCxnSpPr>
          <p:nvPr/>
        </p:nvCxnSpPr>
        <p:spPr bwMode="auto">
          <a:xfrm>
            <a:off x="6436601" y="5283202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C9B237C7-F079-D245-8984-01CD1670EEA6}"/>
              </a:ext>
            </a:extLst>
          </p:cNvPr>
          <p:cNvSpPr/>
          <p:nvPr/>
        </p:nvSpPr>
        <p:spPr>
          <a:xfrm>
            <a:off x="2415323" y="400166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87797A5-4C9A-3044-B572-0A08282754CB}"/>
              </a:ext>
            </a:extLst>
          </p:cNvPr>
          <p:cNvSpPr/>
          <p:nvPr/>
        </p:nvSpPr>
        <p:spPr>
          <a:xfrm>
            <a:off x="4230268" y="399242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FB0FA4F-4910-DA4D-A124-8112127088C4}"/>
              </a:ext>
            </a:extLst>
          </p:cNvPr>
          <p:cNvSpPr/>
          <p:nvPr/>
        </p:nvSpPr>
        <p:spPr>
          <a:xfrm>
            <a:off x="6068304" y="4006280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19B4485-0D71-D541-BB6F-55FAB2B6C2C3}"/>
              </a:ext>
            </a:extLst>
          </p:cNvPr>
          <p:cNvSpPr/>
          <p:nvPr/>
        </p:nvSpPr>
        <p:spPr>
          <a:xfrm>
            <a:off x="2415323" y="5364031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6FA9CBA-336E-5940-A3EF-47F7E80A26BA}"/>
              </a:ext>
            </a:extLst>
          </p:cNvPr>
          <p:cNvSpPr/>
          <p:nvPr/>
        </p:nvSpPr>
        <p:spPr>
          <a:xfrm>
            <a:off x="4230268" y="535479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93B524B-9DBF-924C-B190-E10CE66F04E6}"/>
              </a:ext>
            </a:extLst>
          </p:cNvPr>
          <p:cNvSpPr/>
          <p:nvPr/>
        </p:nvSpPr>
        <p:spPr>
          <a:xfrm>
            <a:off x="6068304" y="535710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0717F22-AD16-7C4A-9933-B568090A957E}"/>
              </a:ext>
            </a:extLst>
          </p:cNvPr>
          <p:cNvSpPr/>
          <p:nvPr/>
        </p:nvSpPr>
        <p:spPr>
          <a:xfrm rot="2575300">
            <a:off x="3410540" y="565497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41D23A5-2287-F941-A0B6-3B152ECA5123}"/>
              </a:ext>
            </a:extLst>
          </p:cNvPr>
          <p:cNvSpPr/>
          <p:nvPr/>
        </p:nvSpPr>
        <p:spPr>
          <a:xfrm rot="2575300">
            <a:off x="5179304" y="564573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3A6C2AC-0F4E-E74D-9435-895976E4CD1E}"/>
              </a:ext>
            </a:extLst>
          </p:cNvPr>
          <p:cNvSpPr/>
          <p:nvPr/>
        </p:nvSpPr>
        <p:spPr>
          <a:xfrm rot="5400000">
            <a:off x="3258140" y="4740574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02E1370-BFE7-C344-A580-947E4A8796CB}"/>
              </a:ext>
            </a:extLst>
          </p:cNvPr>
          <p:cNvSpPr/>
          <p:nvPr/>
        </p:nvSpPr>
        <p:spPr>
          <a:xfrm rot="5400000">
            <a:off x="5096177" y="4742885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4" name="Left Brace 93">
            <a:extLst>
              <a:ext uri="{FF2B5EF4-FFF2-40B4-BE49-F238E27FC236}">
                <a16:creationId xmlns:a16="http://schemas.microsoft.com/office/drawing/2014/main" id="{D6064410-9D92-C543-BB20-8A158ABDC1E1}"/>
              </a:ext>
            </a:extLst>
          </p:cNvPr>
          <p:cNvSpPr/>
          <p:nvPr/>
        </p:nvSpPr>
        <p:spPr bwMode="auto">
          <a:xfrm>
            <a:off x="1720273" y="1524000"/>
            <a:ext cx="484909" cy="2401454"/>
          </a:xfrm>
          <a:prstGeom prst="leftBrace">
            <a:avLst>
              <a:gd name="adj1" fmla="val 41666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5" name="Title 1">
            <a:extLst>
              <a:ext uri="{FF2B5EF4-FFF2-40B4-BE49-F238E27FC236}">
                <a16:creationId xmlns:a16="http://schemas.microsoft.com/office/drawing/2014/main" id="{94DAC4B4-EAA5-BC4D-B29D-016E0AF6ECC1}"/>
              </a:ext>
            </a:extLst>
          </p:cNvPr>
          <p:cNvSpPr txBox="1">
            <a:spLocks/>
          </p:cNvSpPr>
          <p:nvPr/>
        </p:nvSpPr>
        <p:spPr bwMode="auto">
          <a:xfrm>
            <a:off x="221672" y="2389905"/>
            <a:ext cx="1521690" cy="61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3200" i="0" dirty="0"/>
              <a:t>layer 1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9B8F878D-2859-6D46-89B6-1CC67FE74B9A}"/>
              </a:ext>
            </a:extLst>
          </p:cNvPr>
          <p:cNvSpPr txBox="1">
            <a:spLocks/>
          </p:cNvSpPr>
          <p:nvPr/>
        </p:nvSpPr>
        <p:spPr bwMode="auto">
          <a:xfrm>
            <a:off x="177800" y="5128484"/>
            <a:ext cx="1521690" cy="61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3200" i="0" dirty="0"/>
              <a:t>layer 2</a:t>
            </a:r>
          </a:p>
        </p:txBody>
      </p:sp>
      <p:sp>
        <p:nvSpPr>
          <p:cNvPr id="97" name="Left Brace 96">
            <a:extLst>
              <a:ext uri="{FF2B5EF4-FFF2-40B4-BE49-F238E27FC236}">
                <a16:creationId xmlns:a16="http://schemas.microsoft.com/office/drawing/2014/main" id="{FCA0FB24-2A40-CA49-AF19-767E43D4A14F}"/>
              </a:ext>
            </a:extLst>
          </p:cNvPr>
          <p:cNvSpPr/>
          <p:nvPr/>
        </p:nvSpPr>
        <p:spPr bwMode="auto">
          <a:xfrm>
            <a:off x="1711036" y="4285671"/>
            <a:ext cx="484909" cy="2401454"/>
          </a:xfrm>
          <a:prstGeom prst="leftBrace">
            <a:avLst>
              <a:gd name="adj1" fmla="val 41666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2155A2-2A7D-2A48-A673-F8FCD6D7CF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153" y="3248332"/>
            <a:ext cx="292100" cy="368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815B96-B5CF-5E48-BF2A-2A93C3BCCA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153" y="6008279"/>
            <a:ext cx="304800" cy="368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7A0433-D773-2F41-A73C-86CE7FD2CD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0897" y="6008279"/>
            <a:ext cx="584200" cy="368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C75B86-209A-0941-94CC-670E99EF93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9076" y="3244928"/>
            <a:ext cx="584200" cy="368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344D3D-3379-5548-A441-D2B974493B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9591" y="3251176"/>
            <a:ext cx="584200" cy="381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3B647E-7011-DD4A-982B-48A8ECB953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6933" y="6012815"/>
            <a:ext cx="584200" cy="381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CD3CEAD-7923-FC4F-9DB9-1DCD9F929C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4147" y="4620903"/>
            <a:ext cx="546100" cy="381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7C6E13-5D4C-BC43-A35C-E1EA52E91C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4147" y="1855141"/>
            <a:ext cx="546100" cy="381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916196-DBFE-314A-9575-0A9D2332E4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16420" y="1831103"/>
            <a:ext cx="558800" cy="368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1D137A-E8C7-514A-AB9F-2F0E3C2647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2553" y="1828338"/>
            <a:ext cx="254000" cy="3683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69C4E17-05CD-A142-9CA5-344A73E3A64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95317" y="4627253"/>
            <a:ext cx="266700" cy="3683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41185F1-4B19-1B4D-8518-C9CE4C2926D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05378" y="4607980"/>
            <a:ext cx="558800" cy="36830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3A1B5A66-BC4F-C34E-9176-683295611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6529" y="181938"/>
            <a:ext cx="3133108" cy="1477328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>
                <a:latin typeface="Calibri"/>
                <a:cs typeface="Calibri"/>
              </a:rPr>
              <a:t>use hidden vectors from layer 1 as inputs to layer 2</a:t>
            </a:r>
          </a:p>
        </p:txBody>
      </p:sp>
    </p:spTree>
    <p:extLst>
      <p:ext uri="{BB962C8B-B14F-4D97-AF65-F5344CB8AC3E}">
        <p14:creationId xmlns:p14="http://schemas.microsoft.com/office/powerpoint/2010/main" val="104883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87744"/>
            <a:ext cx="2193635" cy="1343891"/>
          </a:xfrm>
        </p:spPr>
        <p:txBody>
          <a:bodyPr>
            <a:normAutofit/>
          </a:bodyPr>
          <a:lstStyle/>
          <a:p>
            <a:r>
              <a:rPr lang="en-US" sz="3200" dirty="0"/>
              <a:t>Deep LSTM</a:t>
            </a:r>
            <a:br>
              <a:rPr lang="en-US" sz="3200" dirty="0"/>
            </a:br>
            <a:r>
              <a:rPr lang="en-US" sz="3200" dirty="0"/>
              <a:t>(2-layer)</a:t>
            </a:r>
          </a:p>
        </p:txBody>
      </p:sp>
      <p:sp>
        <p:nvSpPr>
          <p:cNvPr id="5" name="Oval 4"/>
          <p:cNvSpPr/>
          <p:nvPr/>
        </p:nvSpPr>
        <p:spPr>
          <a:xfrm>
            <a:off x="2318339" y="16025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56374" y="159327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82863" y="16071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221197" y="2044700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59232" y="2044700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320648" y="21934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69768" y="1122203"/>
            <a:ext cx="2309" cy="4803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58684" y="21010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607803" y="1112967"/>
            <a:ext cx="2310" cy="4803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82866" y="2216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34292" y="1124512"/>
            <a:ext cx="3" cy="4826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27"/>
          <p:cNvSpPr/>
          <p:nvPr/>
        </p:nvSpPr>
        <p:spPr>
          <a:xfrm>
            <a:off x="2320648" y="29902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58683" y="298105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85172" y="29949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23506" y="2363909"/>
            <a:ext cx="1065088" cy="107781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61541" y="2377764"/>
            <a:ext cx="1053542" cy="105471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69768" y="2505366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607803" y="2496129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34292" y="2509984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Rectangle 35"/>
          <p:cNvSpPr/>
          <p:nvPr/>
        </p:nvSpPr>
        <p:spPr>
          <a:xfrm>
            <a:off x="2413014" y="122844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27959" y="121920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65995" y="123306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413014" y="259081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27959" y="25815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65995" y="2583885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2575300">
            <a:off x="3408231" y="288175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2575300">
            <a:off x="5176995" y="287251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55831" y="1967356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93868" y="1969667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FB230850-28F5-7948-BD85-1C242FAF6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020" y="593471"/>
            <a:ext cx="584200" cy="1905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29237698-0322-F741-9D1D-489744377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229" y="593471"/>
            <a:ext cx="584200" cy="2159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CF9A0F00-0CA6-004F-B1E6-6B3888190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024" y="593471"/>
            <a:ext cx="266700" cy="190500"/>
          </a:xfrm>
          <a:prstGeom prst="rect">
            <a:avLst/>
          </a:prstGeom>
        </p:spPr>
      </p:pic>
      <p:sp>
        <p:nvSpPr>
          <p:cNvPr id="43" name="Slide Number Placeholder 3">
            <a:extLst>
              <a:ext uri="{FF2B5EF4-FFF2-40B4-BE49-F238E27FC236}">
                <a16:creationId xmlns:a16="http://schemas.microsoft.com/office/drawing/2014/main" id="{DA01CD78-07D6-1542-B57F-24458CE58672}"/>
              </a:ext>
            </a:extLst>
          </p:cNvPr>
          <p:cNvSpPr txBox="1">
            <a:spLocks/>
          </p:cNvSpPr>
          <p:nvPr/>
        </p:nvSpPr>
        <p:spPr>
          <a:xfrm>
            <a:off x="6804730" y="641350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F820A7-D46B-46D8-A3CF-66A8CEAA457D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BD04CF7-29EC-6743-855A-DA9684C19A08}"/>
              </a:ext>
            </a:extLst>
          </p:cNvPr>
          <p:cNvSpPr/>
          <p:nvPr/>
        </p:nvSpPr>
        <p:spPr>
          <a:xfrm>
            <a:off x="2320648" y="43757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2B6D227-791A-E444-91D8-D49A231A9D41}"/>
              </a:ext>
            </a:extLst>
          </p:cNvPr>
          <p:cNvSpPr/>
          <p:nvPr/>
        </p:nvSpPr>
        <p:spPr>
          <a:xfrm>
            <a:off x="4158683" y="436648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CCF170B-E5B0-9C47-805F-896E2A3F8886}"/>
              </a:ext>
            </a:extLst>
          </p:cNvPr>
          <p:cNvSpPr/>
          <p:nvPr/>
        </p:nvSpPr>
        <p:spPr>
          <a:xfrm>
            <a:off x="5985172" y="438034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A9B0362-B590-554F-B2BA-1679B8887BE6}"/>
              </a:ext>
            </a:extLst>
          </p:cNvPr>
          <p:cNvCxnSpPr>
            <a:stCxn id="44" idx="6"/>
            <a:endCxn id="45" idx="2"/>
          </p:cNvCxnSpPr>
          <p:nvPr/>
        </p:nvCxnSpPr>
        <p:spPr bwMode="auto">
          <a:xfrm flipV="1">
            <a:off x="3223506" y="4817918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F63A839-B83D-5C4B-B746-A01BA988107C}"/>
              </a:ext>
            </a:extLst>
          </p:cNvPr>
          <p:cNvCxnSpPr>
            <a:stCxn id="45" idx="6"/>
            <a:endCxn id="48" idx="2"/>
          </p:cNvCxnSpPr>
          <p:nvPr/>
        </p:nvCxnSpPr>
        <p:spPr bwMode="auto">
          <a:xfrm>
            <a:off x="5061541" y="4817918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C6D4AAF-2676-F045-99AB-57EBEAD21512}"/>
              </a:ext>
            </a:extLst>
          </p:cNvPr>
          <p:cNvCxnSpPr>
            <a:endCxn id="44" idx="0"/>
          </p:cNvCxnSpPr>
          <p:nvPr/>
        </p:nvCxnSpPr>
        <p:spPr bwMode="auto">
          <a:xfrm flipH="1">
            <a:off x="2772077" y="3895421"/>
            <a:ext cx="2309" cy="4803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506F717-3BD7-A040-A614-BE95BB1D5280}"/>
              </a:ext>
            </a:extLst>
          </p:cNvPr>
          <p:cNvCxnSpPr>
            <a:endCxn id="45" idx="0"/>
          </p:cNvCxnSpPr>
          <p:nvPr/>
        </p:nvCxnSpPr>
        <p:spPr bwMode="auto">
          <a:xfrm flipH="1">
            <a:off x="4610112" y="3886185"/>
            <a:ext cx="2310" cy="4803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9B9B763-37D2-0345-8B5D-E07CC9B8D3A4}"/>
              </a:ext>
            </a:extLst>
          </p:cNvPr>
          <p:cNvCxnSpPr>
            <a:endCxn id="48" idx="0"/>
          </p:cNvCxnSpPr>
          <p:nvPr/>
        </p:nvCxnSpPr>
        <p:spPr bwMode="auto">
          <a:xfrm flipH="1">
            <a:off x="6436601" y="3897730"/>
            <a:ext cx="3" cy="4826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2AFBED54-6996-6F4C-9094-C4D65B904F35}"/>
              </a:ext>
            </a:extLst>
          </p:cNvPr>
          <p:cNvSpPr/>
          <p:nvPr/>
        </p:nvSpPr>
        <p:spPr>
          <a:xfrm>
            <a:off x="2322957" y="57635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8F7ED15-615E-BA4B-B2FF-C6BB0B5C7B7B}"/>
              </a:ext>
            </a:extLst>
          </p:cNvPr>
          <p:cNvSpPr/>
          <p:nvPr/>
        </p:nvSpPr>
        <p:spPr>
          <a:xfrm>
            <a:off x="4160992" y="575427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3D5B7A4-1B5A-8F44-80D2-3215327D5041}"/>
              </a:ext>
            </a:extLst>
          </p:cNvPr>
          <p:cNvSpPr/>
          <p:nvPr/>
        </p:nvSpPr>
        <p:spPr>
          <a:xfrm>
            <a:off x="5987481" y="57681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F863A63-9AFE-994C-82DF-9A4A07CA2599}"/>
              </a:ext>
            </a:extLst>
          </p:cNvPr>
          <p:cNvCxnSpPr>
            <a:stCxn id="61" idx="6"/>
            <a:endCxn id="45" idx="3"/>
          </p:cNvCxnSpPr>
          <p:nvPr/>
        </p:nvCxnSpPr>
        <p:spPr bwMode="auto">
          <a:xfrm flipV="1">
            <a:off x="3225815" y="5137127"/>
            <a:ext cx="1065088" cy="107781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9AD1945-E935-5249-A15F-683082E05801}"/>
              </a:ext>
            </a:extLst>
          </p:cNvPr>
          <p:cNvCxnSpPr>
            <a:stCxn id="62" idx="6"/>
            <a:endCxn id="48" idx="3"/>
          </p:cNvCxnSpPr>
          <p:nvPr/>
        </p:nvCxnSpPr>
        <p:spPr bwMode="auto">
          <a:xfrm flipV="1">
            <a:off x="5063850" y="5150982"/>
            <a:ext cx="1053542" cy="105471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A7D8031-1148-554F-AA94-8BBB49D84E02}"/>
              </a:ext>
            </a:extLst>
          </p:cNvPr>
          <p:cNvCxnSpPr>
            <a:stCxn id="44" idx="4"/>
            <a:endCxn id="61" idx="0"/>
          </p:cNvCxnSpPr>
          <p:nvPr/>
        </p:nvCxnSpPr>
        <p:spPr bwMode="auto">
          <a:xfrm>
            <a:off x="2772077" y="5278584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17681A9-7ABF-0A4C-B449-CC543D2AFA9F}"/>
              </a:ext>
            </a:extLst>
          </p:cNvPr>
          <p:cNvCxnSpPr>
            <a:stCxn id="45" idx="4"/>
            <a:endCxn id="62" idx="0"/>
          </p:cNvCxnSpPr>
          <p:nvPr/>
        </p:nvCxnSpPr>
        <p:spPr bwMode="auto">
          <a:xfrm>
            <a:off x="4610112" y="5269347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7F11424-D741-984A-902C-1812157715D3}"/>
              </a:ext>
            </a:extLst>
          </p:cNvPr>
          <p:cNvCxnSpPr>
            <a:stCxn id="48" idx="4"/>
            <a:endCxn id="63" idx="0"/>
          </p:cNvCxnSpPr>
          <p:nvPr/>
        </p:nvCxnSpPr>
        <p:spPr bwMode="auto">
          <a:xfrm>
            <a:off x="6436601" y="5283202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C9B237C7-F079-D245-8984-01CD1670EEA6}"/>
              </a:ext>
            </a:extLst>
          </p:cNvPr>
          <p:cNvSpPr/>
          <p:nvPr/>
        </p:nvSpPr>
        <p:spPr>
          <a:xfrm>
            <a:off x="2415323" y="400166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87797A5-4C9A-3044-B572-0A08282754CB}"/>
              </a:ext>
            </a:extLst>
          </p:cNvPr>
          <p:cNvSpPr/>
          <p:nvPr/>
        </p:nvSpPr>
        <p:spPr>
          <a:xfrm>
            <a:off x="4230268" y="399242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FB0FA4F-4910-DA4D-A124-8112127088C4}"/>
              </a:ext>
            </a:extLst>
          </p:cNvPr>
          <p:cNvSpPr/>
          <p:nvPr/>
        </p:nvSpPr>
        <p:spPr>
          <a:xfrm>
            <a:off x="6068304" y="4006280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19B4485-0D71-D541-BB6F-55FAB2B6C2C3}"/>
              </a:ext>
            </a:extLst>
          </p:cNvPr>
          <p:cNvSpPr/>
          <p:nvPr/>
        </p:nvSpPr>
        <p:spPr>
          <a:xfrm>
            <a:off x="2415323" y="5364031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6FA9CBA-336E-5940-A3EF-47F7E80A26BA}"/>
              </a:ext>
            </a:extLst>
          </p:cNvPr>
          <p:cNvSpPr/>
          <p:nvPr/>
        </p:nvSpPr>
        <p:spPr>
          <a:xfrm>
            <a:off x="4230268" y="535479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93B524B-9DBF-924C-B190-E10CE66F04E6}"/>
              </a:ext>
            </a:extLst>
          </p:cNvPr>
          <p:cNvSpPr/>
          <p:nvPr/>
        </p:nvSpPr>
        <p:spPr>
          <a:xfrm>
            <a:off x="6068304" y="535710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0717F22-AD16-7C4A-9933-B568090A957E}"/>
              </a:ext>
            </a:extLst>
          </p:cNvPr>
          <p:cNvSpPr/>
          <p:nvPr/>
        </p:nvSpPr>
        <p:spPr>
          <a:xfrm rot="2575300">
            <a:off x="3410540" y="565497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41D23A5-2287-F941-A0B6-3B152ECA5123}"/>
              </a:ext>
            </a:extLst>
          </p:cNvPr>
          <p:cNvSpPr/>
          <p:nvPr/>
        </p:nvSpPr>
        <p:spPr>
          <a:xfrm rot="2575300">
            <a:off x="5179304" y="564573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3A6C2AC-0F4E-E74D-9435-895976E4CD1E}"/>
              </a:ext>
            </a:extLst>
          </p:cNvPr>
          <p:cNvSpPr/>
          <p:nvPr/>
        </p:nvSpPr>
        <p:spPr>
          <a:xfrm rot="5400000">
            <a:off x="3258140" y="4740574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02E1370-BFE7-C344-A580-947E4A8796CB}"/>
              </a:ext>
            </a:extLst>
          </p:cNvPr>
          <p:cNvSpPr/>
          <p:nvPr/>
        </p:nvSpPr>
        <p:spPr>
          <a:xfrm rot="5400000">
            <a:off x="5096177" y="4742885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4" name="Left Brace 93">
            <a:extLst>
              <a:ext uri="{FF2B5EF4-FFF2-40B4-BE49-F238E27FC236}">
                <a16:creationId xmlns:a16="http://schemas.microsoft.com/office/drawing/2014/main" id="{D6064410-9D92-C543-BB20-8A158ABDC1E1}"/>
              </a:ext>
            </a:extLst>
          </p:cNvPr>
          <p:cNvSpPr/>
          <p:nvPr/>
        </p:nvSpPr>
        <p:spPr bwMode="auto">
          <a:xfrm>
            <a:off x="1720273" y="1524000"/>
            <a:ext cx="484909" cy="2401454"/>
          </a:xfrm>
          <a:prstGeom prst="leftBrace">
            <a:avLst>
              <a:gd name="adj1" fmla="val 41666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5" name="Title 1">
            <a:extLst>
              <a:ext uri="{FF2B5EF4-FFF2-40B4-BE49-F238E27FC236}">
                <a16:creationId xmlns:a16="http://schemas.microsoft.com/office/drawing/2014/main" id="{94DAC4B4-EAA5-BC4D-B29D-016E0AF6ECC1}"/>
              </a:ext>
            </a:extLst>
          </p:cNvPr>
          <p:cNvSpPr txBox="1">
            <a:spLocks/>
          </p:cNvSpPr>
          <p:nvPr/>
        </p:nvSpPr>
        <p:spPr bwMode="auto">
          <a:xfrm>
            <a:off x="221672" y="2389905"/>
            <a:ext cx="1521690" cy="61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3200" i="0" dirty="0"/>
              <a:t>layer 1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9B8F878D-2859-6D46-89B6-1CC67FE74B9A}"/>
              </a:ext>
            </a:extLst>
          </p:cNvPr>
          <p:cNvSpPr txBox="1">
            <a:spLocks/>
          </p:cNvSpPr>
          <p:nvPr/>
        </p:nvSpPr>
        <p:spPr bwMode="auto">
          <a:xfrm>
            <a:off x="177800" y="5128484"/>
            <a:ext cx="1521690" cy="61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3200" i="0" dirty="0"/>
              <a:t>layer 2</a:t>
            </a:r>
          </a:p>
        </p:txBody>
      </p:sp>
      <p:sp>
        <p:nvSpPr>
          <p:cNvPr id="97" name="Left Brace 96">
            <a:extLst>
              <a:ext uri="{FF2B5EF4-FFF2-40B4-BE49-F238E27FC236}">
                <a16:creationId xmlns:a16="http://schemas.microsoft.com/office/drawing/2014/main" id="{FCA0FB24-2A40-CA49-AF19-767E43D4A14F}"/>
              </a:ext>
            </a:extLst>
          </p:cNvPr>
          <p:cNvSpPr/>
          <p:nvPr/>
        </p:nvSpPr>
        <p:spPr bwMode="auto">
          <a:xfrm>
            <a:off x="1711036" y="4285671"/>
            <a:ext cx="484909" cy="2401454"/>
          </a:xfrm>
          <a:prstGeom prst="leftBrace">
            <a:avLst>
              <a:gd name="adj1" fmla="val 41666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2155A2-2A7D-2A48-A673-F8FCD6D7CF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153" y="3248332"/>
            <a:ext cx="292100" cy="368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815B96-B5CF-5E48-BF2A-2A93C3BCCA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153" y="6008279"/>
            <a:ext cx="304800" cy="368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7A0433-D773-2F41-A73C-86CE7FD2CD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0897" y="6008279"/>
            <a:ext cx="584200" cy="368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C75B86-209A-0941-94CC-670E99EF93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9076" y="3244928"/>
            <a:ext cx="584200" cy="368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344D3D-3379-5548-A441-D2B974493B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9591" y="3251176"/>
            <a:ext cx="584200" cy="381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3B647E-7011-DD4A-982B-48A8ECB953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6933" y="6012815"/>
            <a:ext cx="584200" cy="381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CD3CEAD-7923-FC4F-9DB9-1DCD9F929C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4147" y="4620903"/>
            <a:ext cx="546100" cy="381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7C6E13-5D4C-BC43-A35C-E1EA52E91C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4147" y="1855141"/>
            <a:ext cx="546100" cy="381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916196-DBFE-314A-9575-0A9D2332E4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16420" y="1831103"/>
            <a:ext cx="558800" cy="368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1D137A-E8C7-514A-AB9F-2F0E3C2647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2553" y="1828338"/>
            <a:ext cx="254000" cy="3683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69C4E17-05CD-A142-9CA5-344A73E3A64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95317" y="4627253"/>
            <a:ext cx="266700" cy="3683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41185F1-4B19-1B4D-8518-C9CE4C2926D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05378" y="4607980"/>
            <a:ext cx="558800" cy="368300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18EDEA57-2016-3048-B5D7-BB1858CDDD06}"/>
              </a:ext>
            </a:extLst>
          </p:cNvPr>
          <p:cNvSpPr/>
          <p:nvPr/>
        </p:nvSpPr>
        <p:spPr>
          <a:xfrm>
            <a:off x="11549" y="127000"/>
            <a:ext cx="7042724" cy="6730999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F8691D7C-EE20-CF41-98D3-EEC21351D70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112819" y="833587"/>
          <a:ext cx="6603998" cy="259653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3167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75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shallow (50)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75">
                <a:tc vMerge="1"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deep (30, 30)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80.8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75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input, forget, output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shallow (50)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375">
                <a:tc vMerge="1"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deep (30, 30)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~85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1382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Deep Bidirectional LSTMs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334818" y="789067"/>
            <a:ext cx="8555182" cy="923330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 i="0" dirty="0">
                <a:latin typeface="Calibri"/>
                <a:cs typeface="Calibri"/>
              </a:rPr>
              <a:t>concatenate hidden vectors of forward &amp; backward LSTMs, connect each entry to forward and backward hidden vectors in next layer</a:t>
            </a:r>
          </a:p>
        </p:txBody>
      </p:sp>
    </p:spTree>
    <p:extLst>
      <p:ext uri="{BB962C8B-B14F-4D97-AF65-F5344CB8AC3E}">
        <p14:creationId xmlns:p14="http://schemas.microsoft.com/office/powerpoint/2010/main" val="21528552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D489-8F8A-024A-A263-4DF9B905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Gated Recurrent Units (GRU)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CA405-C447-B54C-AACC-E95DDB81D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2694564"/>
          </a:xfrm>
        </p:spPr>
        <p:txBody>
          <a:bodyPr/>
          <a:lstStyle/>
          <a:p>
            <a:r>
              <a:rPr lang="en-US" dirty="0"/>
              <a:t>alternative to LSTMs, fewer parameters, generally works pretty well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18D56-5F07-C347-AA13-D4007B9C7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364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D489-8F8A-024A-A263-4DF9B905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Gated Recurrent Units (GRU)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CA405-C447-B54C-AACC-E95DDB81D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2694564"/>
          </a:xfrm>
        </p:spPr>
        <p:txBody>
          <a:bodyPr/>
          <a:lstStyle/>
          <a:p>
            <a:r>
              <a:rPr lang="en-US" dirty="0"/>
              <a:t>alternative to LSTMs, fewer parameters, generally works pretty well</a:t>
            </a:r>
          </a:p>
          <a:p>
            <a:r>
              <a:rPr lang="en-US" dirty="0"/>
              <a:t>uses “reset” and “update” gates instead of LSTM gates: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18D56-5F07-C347-AA13-D4007B9C7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F32BA-8AFD-C34C-91B0-2B78EB9C6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3837517"/>
            <a:ext cx="8242300" cy="317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1EFA9C-C32B-684B-9517-75909F8DD750}"/>
              </a:ext>
            </a:extLst>
          </p:cNvPr>
          <p:cNvSpPr txBox="1"/>
          <p:nvPr/>
        </p:nvSpPr>
        <p:spPr>
          <a:xfrm>
            <a:off x="2163642" y="5066211"/>
            <a:ext cx="145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update gate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B5E419-F764-6040-943C-86701219C5E5}"/>
              </a:ext>
            </a:extLst>
          </p:cNvPr>
          <p:cNvSpPr txBox="1"/>
          <p:nvPr/>
        </p:nvSpPr>
        <p:spPr>
          <a:xfrm>
            <a:off x="5444566" y="5055628"/>
            <a:ext cx="1236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reset gate</a:t>
            </a:r>
            <a:endParaRPr lang="en-US" sz="2000" b="1" i="1" dirty="0">
              <a:solidFill>
                <a:srgbClr val="288CD2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852D4D-8B63-CC4E-89EE-C206F4440E8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010154" y="4174971"/>
            <a:ext cx="699179" cy="89124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173BF1-F8FC-4947-BE6C-CDF8D02B09FE}"/>
              </a:ext>
            </a:extLst>
          </p:cNvPr>
          <p:cNvCxnSpPr>
            <a:cxnSpLocks/>
          </p:cNvCxnSpPr>
          <p:nvPr/>
        </p:nvCxnSpPr>
        <p:spPr bwMode="auto">
          <a:xfrm flipV="1">
            <a:off x="3143483" y="4155017"/>
            <a:ext cx="607252" cy="91119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0DBD24-E447-1B45-A91F-2BB6B58D2F72}"/>
              </a:ext>
            </a:extLst>
          </p:cNvPr>
          <p:cNvCxnSpPr>
            <a:cxnSpLocks/>
          </p:cNvCxnSpPr>
          <p:nvPr/>
        </p:nvCxnSpPr>
        <p:spPr bwMode="auto">
          <a:xfrm flipV="1">
            <a:off x="6066007" y="4174457"/>
            <a:ext cx="607252" cy="91119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41684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Recursive Neural Networks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2512"/>
            <a:ext cx="8229600" cy="1898126"/>
          </a:xfrm>
        </p:spPr>
        <p:txBody>
          <a:bodyPr/>
          <a:lstStyle/>
          <a:p>
            <a:r>
              <a:rPr lang="en-US" dirty="0"/>
              <a:t>run a syntactic parser on the sentence</a:t>
            </a:r>
          </a:p>
          <a:p>
            <a:r>
              <a:rPr lang="en-US" dirty="0"/>
              <a:t>construct vector recursively at each split point: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6D7955-C25C-A340-834F-B178AA9A6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1179026"/>
            <a:ext cx="508000" cy="15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1153CA-CB7F-2B4A-86CA-7BFA8C636166}"/>
              </a:ext>
            </a:extLst>
          </p:cNvPr>
          <p:cNvSpPr txBox="1"/>
          <p:nvPr/>
        </p:nvSpPr>
        <p:spPr>
          <a:xfrm>
            <a:off x="2382718" y="996645"/>
            <a:ext cx="1558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it fell apart</a:t>
            </a:r>
          </a:p>
        </p:txBody>
      </p:sp>
    </p:spTree>
    <p:extLst>
      <p:ext uri="{BB962C8B-B14F-4D97-AF65-F5344CB8AC3E}">
        <p14:creationId xmlns:p14="http://schemas.microsoft.com/office/powerpoint/2010/main" val="3488672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Recursive Neural Networks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2512"/>
            <a:ext cx="8229600" cy="1898126"/>
          </a:xfrm>
        </p:spPr>
        <p:txBody>
          <a:bodyPr/>
          <a:lstStyle/>
          <a:p>
            <a:r>
              <a:rPr lang="en-US" dirty="0"/>
              <a:t>run a syntactic parser on the sentence</a:t>
            </a:r>
          </a:p>
          <a:p>
            <a:r>
              <a:rPr lang="en-US" dirty="0"/>
              <a:t>construct vector recursively at each split point: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6D7955-C25C-A340-834F-B178AA9A6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540" y="1179026"/>
            <a:ext cx="508000" cy="15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1153CA-CB7F-2B4A-86CA-7BFA8C636166}"/>
              </a:ext>
            </a:extLst>
          </p:cNvPr>
          <p:cNvSpPr txBox="1"/>
          <p:nvPr/>
        </p:nvSpPr>
        <p:spPr>
          <a:xfrm>
            <a:off x="2382718" y="996645"/>
            <a:ext cx="1558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it fell apart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A9B9AA-E26C-C445-BDC6-49F9F2A0F611}"/>
              </a:ext>
            </a:extLst>
          </p:cNvPr>
          <p:cNvCxnSpPr>
            <a:cxnSpLocks/>
          </p:cNvCxnSpPr>
          <p:nvPr/>
        </p:nvCxnSpPr>
        <p:spPr bwMode="auto">
          <a:xfrm flipV="1">
            <a:off x="1291066" y="3526016"/>
            <a:ext cx="622441" cy="62987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2CF7C42-516F-3F48-8CC0-5304C0CF901E}"/>
              </a:ext>
            </a:extLst>
          </p:cNvPr>
          <p:cNvSpPr/>
          <p:nvPr/>
        </p:nvSpPr>
        <p:spPr>
          <a:xfrm>
            <a:off x="1813277" y="280787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2CF02D-808F-3D42-A9EC-339E1939387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36688" y="3504840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C6E3812B-2A6B-2D4B-9B2F-6466A5463229}"/>
              </a:ext>
            </a:extLst>
          </p:cNvPr>
          <p:cNvSpPr/>
          <p:nvPr/>
        </p:nvSpPr>
        <p:spPr>
          <a:xfrm>
            <a:off x="3141965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ABF8F4-69AB-5944-923E-21FFFEC1971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939975" y="4735164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196B6D-4CD2-6542-AC18-FD27DB39DB33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6688" y="4735164"/>
            <a:ext cx="598962" cy="60611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4E8B9A3-1307-AC4B-9723-E05B7EF8AFF4}"/>
              </a:ext>
            </a:extLst>
          </p:cNvPr>
          <p:cNvSpPr/>
          <p:nvPr/>
        </p:nvSpPr>
        <p:spPr>
          <a:xfrm>
            <a:off x="1833097" y="51733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33825A3-8703-104F-95D3-D8595360FC4F}"/>
              </a:ext>
            </a:extLst>
          </p:cNvPr>
          <p:cNvSpPr/>
          <p:nvPr/>
        </p:nvSpPr>
        <p:spPr>
          <a:xfrm>
            <a:off x="4516232" y="511678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A4B6D59-BFE1-AB42-B2C5-8901DCBAD2B5}"/>
              </a:ext>
            </a:extLst>
          </p:cNvPr>
          <p:cNvSpPr/>
          <p:nvPr/>
        </p:nvSpPr>
        <p:spPr>
          <a:xfrm>
            <a:off x="486254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4F3E9E-ACE5-5B4E-B039-427FC1C1C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958030"/>
            <a:ext cx="977900" cy="317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1BBD84-B10D-0747-A2F5-326153999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868" y="6174526"/>
            <a:ext cx="1206500" cy="317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B8B6879-223F-EE4A-8138-0F6A6554C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5808" y="6122257"/>
            <a:ext cx="1485900" cy="317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393E6FD-B78D-834B-8DB5-DE13839FDC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34" y="4307195"/>
            <a:ext cx="292100" cy="2667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D236E6-A710-8D4F-90C2-6801FAB423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1477" y="5499670"/>
            <a:ext cx="304800" cy="2667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06B9250-A6A6-4B45-9ED9-BCA3DEB688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6358" y="5428509"/>
            <a:ext cx="304800" cy="2794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5E83156-487E-4748-9523-55C5249D31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5026" y="3806903"/>
            <a:ext cx="17653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0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Recursive Neural Networks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2512"/>
            <a:ext cx="8229600" cy="1898126"/>
          </a:xfrm>
        </p:spPr>
        <p:txBody>
          <a:bodyPr/>
          <a:lstStyle/>
          <a:p>
            <a:r>
              <a:rPr lang="en-US" dirty="0"/>
              <a:t>run a syntactic parser on the sentence</a:t>
            </a:r>
          </a:p>
          <a:p>
            <a:r>
              <a:rPr lang="en-US" dirty="0"/>
              <a:t>construct vector recursively at each split point: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6D7955-C25C-A340-834F-B178AA9A6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540" y="1179026"/>
            <a:ext cx="508000" cy="15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1153CA-CB7F-2B4A-86CA-7BFA8C636166}"/>
              </a:ext>
            </a:extLst>
          </p:cNvPr>
          <p:cNvSpPr txBox="1"/>
          <p:nvPr/>
        </p:nvSpPr>
        <p:spPr>
          <a:xfrm>
            <a:off x="2382718" y="996645"/>
            <a:ext cx="1558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it fell apart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A9B9AA-E26C-C445-BDC6-49F9F2A0F611}"/>
              </a:ext>
            </a:extLst>
          </p:cNvPr>
          <p:cNvCxnSpPr>
            <a:cxnSpLocks/>
          </p:cNvCxnSpPr>
          <p:nvPr/>
        </p:nvCxnSpPr>
        <p:spPr bwMode="auto">
          <a:xfrm flipV="1">
            <a:off x="1291066" y="3526016"/>
            <a:ext cx="622441" cy="62987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2CF7C42-516F-3F48-8CC0-5304C0CF901E}"/>
              </a:ext>
            </a:extLst>
          </p:cNvPr>
          <p:cNvSpPr/>
          <p:nvPr/>
        </p:nvSpPr>
        <p:spPr>
          <a:xfrm>
            <a:off x="1813277" y="280787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2CF02D-808F-3D42-A9EC-339E1939387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36688" y="3504840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C6E3812B-2A6B-2D4B-9B2F-6466A5463229}"/>
              </a:ext>
            </a:extLst>
          </p:cNvPr>
          <p:cNvSpPr/>
          <p:nvPr/>
        </p:nvSpPr>
        <p:spPr>
          <a:xfrm>
            <a:off x="3141965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ABF8F4-69AB-5944-923E-21FFFEC1971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939975" y="4735164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196B6D-4CD2-6542-AC18-FD27DB39DB33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6688" y="4735164"/>
            <a:ext cx="598962" cy="60611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4E8B9A3-1307-AC4B-9723-E05B7EF8AFF4}"/>
              </a:ext>
            </a:extLst>
          </p:cNvPr>
          <p:cNvSpPr/>
          <p:nvPr/>
        </p:nvSpPr>
        <p:spPr>
          <a:xfrm>
            <a:off x="1833097" y="51733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33825A3-8703-104F-95D3-D8595360FC4F}"/>
              </a:ext>
            </a:extLst>
          </p:cNvPr>
          <p:cNvSpPr/>
          <p:nvPr/>
        </p:nvSpPr>
        <p:spPr>
          <a:xfrm>
            <a:off x="4516232" y="511678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A4B6D59-BFE1-AB42-B2C5-8901DCBAD2B5}"/>
              </a:ext>
            </a:extLst>
          </p:cNvPr>
          <p:cNvSpPr/>
          <p:nvPr/>
        </p:nvSpPr>
        <p:spPr>
          <a:xfrm>
            <a:off x="486254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4F3E9E-ACE5-5B4E-B039-427FC1C1C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958030"/>
            <a:ext cx="977900" cy="317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1BBD84-B10D-0747-A2F5-326153999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868" y="6174526"/>
            <a:ext cx="1206500" cy="317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B8B6879-223F-EE4A-8138-0F6A6554C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5808" y="6122257"/>
            <a:ext cx="1485900" cy="317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393E6FD-B78D-834B-8DB5-DE13839FDC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34" y="4307195"/>
            <a:ext cx="292100" cy="2667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D236E6-A710-8D4F-90C2-6801FAB423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1477" y="5499670"/>
            <a:ext cx="304800" cy="2667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06B9250-A6A6-4B45-9ED9-BCA3DEB688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6358" y="5428509"/>
            <a:ext cx="304800" cy="279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094E379-04BD-A64E-A2CD-09E7E9EFA7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4757" y="4014447"/>
            <a:ext cx="3073400" cy="76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119DF70-4EF7-484E-BD7C-DF4FD3FDAF9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64496" y="4302299"/>
            <a:ext cx="3048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656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Recursive Neural Networks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2512"/>
            <a:ext cx="8229600" cy="1898126"/>
          </a:xfrm>
        </p:spPr>
        <p:txBody>
          <a:bodyPr/>
          <a:lstStyle/>
          <a:p>
            <a:r>
              <a:rPr lang="en-US" dirty="0"/>
              <a:t>run a syntactic parser on the sentence</a:t>
            </a:r>
          </a:p>
          <a:p>
            <a:r>
              <a:rPr lang="en-US" dirty="0"/>
              <a:t>construct vector recursively at each split point: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6D7955-C25C-A340-834F-B178AA9A6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1179026"/>
            <a:ext cx="508000" cy="15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1153CA-CB7F-2B4A-86CA-7BFA8C636166}"/>
              </a:ext>
            </a:extLst>
          </p:cNvPr>
          <p:cNvSpPr txBox="1"/>
          <p:nvPr/>
        </p:nvSpPr>
        <p:spPr>
          <a:xfrm>
            <a:off x="2382718" y="996645"/>
            <a:ext cx="1558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it fell apart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A9B9AA-E26C-C445-BDC6-49F9F2A0F611}"/>
              </a:ext>
            </a:extLst>
          </p:cNvPr>
          <p:cNvCxnSpPr>
            <a:cxnSpLocks/>
          </p:cNvCxnSpPr>
          <p:nvPr/>
        </p:nvCxnSpPr>
        <p:spPr bwMode="auto">
          <a:xfrm flipV="1">
            <a:off x="1291066" y="3526016"/>
            <a:ext cx="622441" cy="62987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2CF7C42-516F-3F48-8CC0-5304C0CF901E}"/>
              </a:ext>
            </a:extLst>
          </p:cNvPr>
          <p:cNvSpPr/>
          <p:nvPr/>
        </p:nvSpPr>
        <p:spPr>
          <a:xfrm>
            <a:off x="1813277" y="280787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2CF02D-808F-3D42-A9EC-339E1939387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36688" y="3504840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C6E3812B-2A6B-2D4B-9B2F-6466A5463229}"/>
              </a:ext>
            </a:extLst>
          </p:cNvPr>
          <p:cNvSpPr/>
          <p:nvPr/>
        </p:nvSpPr>
        <p:spPr>
          <a:xfrm>
            <a:off x="3141965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ABF8F4-69AB-5944-923E-21FFFEC1971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939975" y="4735164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196B6D-4CD2-6542-AC18-FD27DB39DB33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6688" y="4735164"/>
            <a:ext cx="598962" cy="60611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4E8B9A3-1307-AC4B-9723-E05B7EF8AFF4}"/>
              </a:ext>
            </a:extLst>
          </p:cNvPr>
          <p:cNvSpPr/>
          <p:nvPr/>
        </p:nvSpPr>
        <p:spPr>
          <a:xfrm>
            <a:off x="1833097" y="51733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33825A3-8703-104F-95D3-D8595360FC4F}"/>
              </a:ext>
            </a:extLst>
          </p:cNvPr>
          <p:cNvSpPr/>
          <p:nvPr/>
        </p:nvSpPr>
        <p:spPr>
          <a:xfrm>
            <a:off x="4516232" y="511678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A4B6D59-BFE1-AB42-B2C5-8901DCBAD2B5}"/>
              </a:ext>
            </a:extLst>
          </p:cNvPr>
          <p:cNvSpPr/>
          <p:nvPr/>
        </p:nvSpPr>
        <p:spPr>
          <a:xfrm>
            <a:off x="486254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4F3E9E-ACE5-5B4E-B039-427FC1C1C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958030"/>
            <a:ext cx="977900" cy="317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1BBD84-B10D-0747-A2F5-326153999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868" y="6174526"/>
            <a:ext cx="1206500" cy="317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B8B6879-223F-EE4A-8138-0F6A6554C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5808" y="6122257"/>
            <a:ext cx="1485900" cy="317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393E6FD-B78D-834B-8DB5-DE13839FDC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34" y="4307195"/>
            <a:ext cx="292100" cy="2667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D236E6-A710-8D4F-90C2-6801FAB423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1477" y="5499670"/>
            <a:ext cx="304800" cy="2667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06B9250-A6A6-4B45-9ED9-BCA3DEB688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6358" y="5428509"/>
            <a:ext cx="304800" cy="279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094E379-04BD-A64E-A2CD-09E7E9EFA7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4757" y="4014447"/>
            <a:ext cx="3073400" cy="76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119DF70-4EF7-484E-BD7C-DF4FD3FDAF9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4496" y="4302299"/>
            <a:ext cx="304800" cy="2667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6E656C7-504B-164A-8214-271CBE6E7B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4543" y="3129089"/>
            <a:ext cx="304800" cy="279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AE032CB-2AB7-544C-A9FD-26535FB2CE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1849" y="2886086"/>
            <a:ext cx="30734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068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Recursive Neural Networks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5996"/>
            <a:ext cx="8229600" cy="1785039"/>
          </a:xfrm>
          <a:ln w="28575">
            <a:solidFill>
              <a:srgbClr val="288CD2"/>
            </a:solidFill>
          </a:ln>
        </p:spPr>
        <p:txBody>
          <a:bodyPr anchor="ctr"/>
          <a:lstStyle/>
          <a:p>
            <a:r>
              <a:rPr lang="en-US" dirty="0"/>
              <a:t>same parameters used at every split point</a:t>
            </a:r>
          </a:p>
          <a:p>
            <a:r>
              <a:rPr lang="en-US" dirty="0"/>
              <a:t>order of children matters (different weights used for left and right child)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52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A9B9AA-E26C-C445-BDC6-49F9F2A0F611}"/>
              </a:ext>
            </a:extLst>
          </p:cNvPr>
          <p:cNvCxnSpPr>
            <a:cxnSpLocks/>
          </p:cNvCxnSpPr>
          <p:nvPr/>
        </p:nvCxnSpPr>
        <p:spPr bwMode="auto">
          <a:xfrm flipV="1">
            <a:off x="1291066" y="3526016"/>
            <a:ext cx="622441" cy="62987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2CF7C42-516F-3F48-8CC0-5304C0CF901E}"/>
              </a:ext>
            </a:extLst>
          </p:cNvPr>
          <p:cNvSpPr/>
          <p:nvPr/>
        </p:nvSpPr>
        <p:spPr>
          <a:xfrm>
            <a:off x="1813277" y="280787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2CF02D-808F-3D42-A9EC-339E1939387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36688" y="3504840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C6E3812B-2A6B-2D4B-9B2F-6466A5463229}"/>
              </a:ext>
            </a:extLst>
          </p:cNvPr>
          <p:cNvSpPr/>
          <p:nvPr/>
        </p:nvSpPr>
        <p:spPr>
          <a:xfrm>
            <a:off x="3141965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ABF8F4-69AB-5944-923E-21FFFEC1971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939975" y="4735164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196B6D-4CD2-6542-AC18-FD27DB39DB33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6688" y="4735164"/>
            <a:ext cx="598962" cy="60611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4E8B9A3-1307-AC4B-9723-E05B7EF8AFF4}"/>
              </a:ext>
            </a:extLst>
          </p:cNvPr>
          <p:cNvSpPr/>
          <p:nvPr/>
        </p:nvSpPr>
        <p:spPr>
          <a:xfrm>
            <a:off x="1833097" y="51733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33825A3-8703-104F-95D3-D8595360FC4F}"/>
              </a:ext>
            </a:extLst>
          </p:cNvPr>
          <p:cNvSpPr/>
          <p:nvPr/>
        </p:nvSpPr>
        <p:spPr>
          <a:xfrm>
            <a:off x="4516232" y="511678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A4B6D59-BFE1-AB42-B2C5-8901DCBAD2B5}"/>
              </a:ext>
            </a:extLst>
          </p:cNvPr>
          <p:cNvSpPr/>
          <p:nvPr/>
        </p:nvSpPr>
        <p:spPr>
          <a:xfrm>
            <a:off x="486254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4F3E9E-ACE5-5B4E-B039-427FC1C1C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958030"/>
            <a:ext cx="977900" cy="317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1BBD84-B10D-0747-A2F5-326153999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868" y="6174526"/>
            <a:ext cx="1206500" cy="317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B8B6879-223F-EE4A-8138-0F6A6554C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808" y="6122257"/>
            <a:ext cx="1485900" cy="317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393E6FD-B78D-834B-8DB5-DE13839FD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034" y="4307195"/>
            <a:ext cx="292100" cy="2667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D236E6-A710-8D4F-90C2-6801FAB42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1477" y="5499670"/>
            <a:ext cx="304800" cy="2667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06B9250-A6A6-4B45-9ED9-BCA3DEB688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358" y="5428509"/>
            <a:ext cx="304800" cy="279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094E379-04BD-A64E-A2CD-09E7E9EFA7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4757" y="4014447"/>
            <a:ext cx="3073400" cy="76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119DF70-4EF7-484E-BD7C-DF4FD3FDAF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4496" y="4302299"/>
            <a:ext cx="304800" cy="2667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6E656C7-504B-164A-8214-271CBE6E7B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4543" y="3129089"/>
            <a:ext cx="304800" cy="279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AE032CB-2AB7-544C-A9FD-26535FB2CE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1849" y="2886086"/>
            <a:ext cx="30734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589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5123860"/>
          </a:xfrm>
        </p:spPr>
        <p:txBody>
          <a:bodyPr>
            <a:normAutofit/>
          </a:bodyPr>
          <a:lstStyle/>
          <a:p>
            <a:r>
              <a:rPr lang="en-US" dirty="0"/>
              <a:t>convolutional neural networks (</a:t>
            </a:r>
            <a:r>
              <a:rPr lang="en-US" b="1" dirty="0" err="1">
                <a:solidFill>
                  <a:srgbClr val="288CD2"/>
                </a:solidFill>
              </a:rPr>
              <a:t>convnets</a:t>
            </a:r>
            <a:r>
              <a:rPr lang="en-US" b="1" dirty="0">
                <a:solidFill>
                  <a:srgbClr val="288CD2"/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rgbClr val="288CD2"/>
                </a:solidFill>
              </a:rPr>
              <a:t>CNNs</a:t>
            </a:r>
            <a:r>
              <a:rPr lang="en-US" dirty="0"/>
              <a:t>) use </a:t>
            </a:r>
            <a:r>
              <a:rPr lang="en-US" b="1" dirty="0">
                <a:solidFill>
                  <a:srgbClr val="288CD2"/>
                </a:solidFill>
              </a:rPr>
              <a:t>filters</a:t>
            </a:r>
            <a:r>
              <a:rPr lang="en-US" dirty="0"/>
              <a:t> that are “convolved with” (matched against all positions of) the input</a:t>
            </a:r>
          </a:p>
          <a:p>
            <a:r>
              <a:rPr lang="en-US" dirty="0"/>
              <a:t>informally, think of convolution as “perform the same operation everywhere on the input in some systematic order”</a:t>
            </a:r>
          </a:p>
          <a:p>
            <a:r>
              <a:rPr lang="en-US" dirty="0"/>
              <a:t>CNNs are often used in NLP to convert a sentence into a feature 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4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1073740"/>
            <a:ext cx="8778240" cy="5052424"/>
          </a:xfrm>
        </p:spPr>
        <p:txBody>
          <a:bodyPr/>
          <a:lstStyle/>
          <a:p>
            <a:r>
              <a:rPr lang="en-US" dirty="0"/>
              <a:t>for now, think of a filter as a vector in the word vector space</a:t>
            </a:r>
          </a:p>
          <a:p>
            <a:r>
              <a:rPr lang="en-US" dirty="0"/>
              <a:t>the filter matches a particular region of the space</a:t>
            </a:r>
          </a:p>
          <a:p>
            <a:r>
              <a:rPr lang="en-US" dirty="0"/>
              <a:t>“match” = “has high dot product with”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684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55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661B22B-9AC7-934F-8AD4-3AD04C381ACE}"/>
              </a:ext>
            </a:extLst>
          </p:cNvPr>
          <p:cNvSpPr txBox="1"/>
          <p:nvPr/>
        </p:nvSpPr>
        <p:spPr>
          <a:xfrm>
            <a:off x="1232926" y="3651964"/>
            <a:ext cx="3941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consider a single convolutional filter</a:t>
            </a:r>
            <a:endParaRPr lang="en-US" sz="2000" i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4159CBC-8ED6-264C-8507-6AEB0ACF6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561" y="3656172"/>
            <a:ext cx="1003300" cy="304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C605EEB-4BBE-E349-AAB0-74F1FCBE1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2ADC6F5-06ED-9E4B-A674-1C709524016D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</p:spTree>
    <p:extLst>
      <p:ext uri="{BB962C8B-B14F-4D97-AF65-F5344CB8AC3E}">
        <p14:creationId xmlns:p14="http://schemas.microsoft.com/office/powerpoint/2010/main" val="991857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2" grpId="0" animBg="1"/>
      <p:bldP spid="14" grpId="0"/>
      <p:bldP spid="1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4813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56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97D713-A0B3-4248-BE4B-27C70E86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B9A15A-A0B8-0640-B9FA-E08665EC0171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D2178E-40EB-3F49-BE00-272C735E8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001" y="3436789"/>
            <a:ext cx="1701800" cy="190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9473D8-D0E4-9E45-8858-CC875F46BC6F}"/>
              </a:ext>
            </a:extLst>
          </p:cNvPr>
          <p:cNvSpPr txBox="1"/>
          <p:nvPr/>
        </p:nvSpPr>
        <p:spPr>
          <a:xfrm>
            <a:off x="1251950" y="629242"/>
            <a:ext cx="668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compute dot product of filter and each word vector:</a:t>
            </a:r>
            <a:endParaRPr lang="en-US" sz="2400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51A0C0-FA60-3A48-9509-384A98648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876" y="1691321"/>
            <a:ext cx="2540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5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4813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57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97D713-A0B3-4248-BE4B-27C70E86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B9A15A-A0B8-0640-B9FA-E08665EC0171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D2178E-40EB-3F49-BE00-272C735E8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001" y="3436789"/>
            <a:ext cx="1701800" cy="190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9473D8-D0E4-9E45-8858-CC875F46BC6F}"/>
              </a:ext>
            </a:extLst>
          </p:cNvPr>
          <p:cNvSpPr txBox="1"/>
          <p:nvPr/>
        </p:nvSpPr>
        <p:spPr>
          <a:xfrm>
            <a:off x="1251950" y="629242"/>
            <a:ext cx="668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compute dot product of filter and each word vector:</a:t>
            </a:r>
            <a:endParaRPr lang="en-US" sz="24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E0FB3-7F0A-1F4D-BACD-EBE9F3F626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442" y="3947271"/>
            <a:ext cx="2159000" cy="215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51A0C0-FA60-3A48-9509-384A98648E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5540" y="1691321"/>
            <a:ext cx="2540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4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4813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58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97D713-A0B3-4248-BE4B-27C70E86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B9A15A-A0B8-0640-B9FA-E08665EC0171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D2178E-40EB-3F49-BE00-272C735E8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001" y="3436789"/>
            <a:ext cx="1701800" cy="190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9473D8-D0E4-9E45-8858-CC875F46BC6F}"/>
              </a:ext>
            </a:extLst>
          </p:cNvPr>
          <p:cNvSpPr txBox="1"/>
          <p:nvPr/>
        </p:nvSpPr>
        <p:spPr>
          <a:xfrm>
            <a:off x="1251950" y="629242"/>
            <a:ext cx="668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compute dot product of filter and each word vector:</a:t>
            </a:r>
            <a:endParaRPr lang="en-US" sz="24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E0FB3-7F0A-1F4D-BACD-EBE9F3F626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442" y="3947271"/>
            <a:ext cx="2159000" cy="215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51A0C0-FA60-3A48-9509-384A98648E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8675" y="1691321"/>
            <a:ext cx="254000" cy="139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544AFB-A999-F344-A5DE-D25584692F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9025" y="4465305"/>
            <a:ext cx="22733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1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4813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59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97D713-A0B3-4248-BE4B-27C70E86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B9A15A-A0B8-0640-B9FA-E08665EC0171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D2178E-40EB-3F49-BE00-272C735E8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001" y="3436789"/>
            <a:ext cx="1701800" cy="190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4E0FB3-7F0A-1F4D-BACD-EBE9F3F626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442" y="3947271"/>
            <a:ext cx="2159000" cy="215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544AFB-A999-F344-A5DE-D25584692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9025" y="4465305"/>
            <a:ext cx="2273300" cy="2159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CFDBAE0-6FB4-9645-9E46-630624536BC9}"/>
              </a:ext>
            </a:extLst>
          </p:cNvPr>
          <p:cNvSpPr txBox="1"/>
          <p:nvPr/>
        </p:nvSpPr>
        <p:spPr>
          <a:xfrm>
            <a:off x="748591" y="4932540"/>
            <a:ext cx="7751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Note: it’s common to add a bias </a:t>
            </a:r>
            <a:r>
              <a:rPr lang="en-US" sz="2400" i="1" dirty="0"/>
              <a:t>b</a:t>
            </a:r>
            <a:r>
              <a:rPr lang="en-US" sz="2400" dirty="0"/>
              <a:t> and use a nonlinearity </a:t>
            </a:r>
            <a:r>
              <a:rPr lang="en-US" sz="2400" i="1" dirty="0"/>
              <a:t>g: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3584F7-EB1D-7441-97A7-F0ECDB47DC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6592" y="5557777"/>
            <a:ext cx="2679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430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4813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60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97D713-A0B3-4248-BE4B-27C70E86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B9A15A-A0B8-0640-B9FA-E08665EC0171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D2178E-40EB-3F49-BE00-272C735E8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001" y="3436789"/>
            <a:ext cx="1701800" cy="190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4E0FB3-7F0A-1F4D-BACD-EBE9F3F626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442" y="3947271"/>
            <a:ext cx="2159000" cy="215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544AFB-A999-F344-A5DE-D25584692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9025" y="4465305"/>
            <a:ext cx="2273300" cy="215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25A842-4AC5-2748-8E4F-D2D74A0B7D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250" y="5137035"/>
            <a:ext cx="139700" cy="152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CFDBAE0-6FB4-9645-9E46-630624536BC9}"/>
              </a:ext>
            </a:extLst>
          </p:cNvPr>
          <p:cNvSpPr txBox="1"/>
          <p:nvPr/>
        </p:nvSpPr>
        <p:spPr>
          <a:xfrm>
            <a:off x="748592" y="4966405"/>
            <a:ext cx="79971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 “feature map” for this filter, </a:t>
            </a:r>
          </a:p>
          <a:p>
            <a:r>
              <a:rPr lang="en-US" sz="2400" dirty="0"/>
              <a:t>   has an entry for each position in input (in this case, 3 entries)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3939868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481322"/>
          </a:xfrm>
        </p:spPr>
        <p:txBody>
          <a:bodyPr>
            <a:noAutofit/>
          </a:bodyPr>
          <a:lstStyle/>
          <a:p>
            <a:r>
              <a:rPr lang="en-US" sz="3600" dirty="0"/>
              <a:t>Pooling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61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97D713-A0B3-4248-BE4B-27C70E86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B9A15A-A0B8-0640-B9FA-E08665EC0171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D2178E-40EB-3F49-BE00-272C735E8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001" y="3436789"/>
            <a:ext cx="1701800" cy="190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4E0FB3-7F0A-1F4D-BACD-EBE9F3F626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442" y="3947271"/>
            <a:ext cx="2159000" cy="215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544AFB-A999-F344-A5DE-D25584692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9025" y="4465305"/>
            <a:ext cx="2273300" cy="2159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51791C-36D1-0343-9E1A-10ABC35344A0}"/>
              </a:ext>
            </a:extLst>
          </p:cNvPr>
          <p:cNvSpPr txBox="1"/>
          <p:nvPr/>
        </p:nvSpPr>
        <p:spPr>
          <a:xfrm>
            <a:off x="768006" y="1677906"/>
            <a:ext cx="7527071" cy="1815882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how do we convert this into a fixed-length vector?</a:t>
            </a:r>
          </a:p>
          <a:p>
            <a:r>
              <a:rPr lang="en-US" sz="2800" dirty="0"/>
              <a:t>use </a:t>
            </a:r>
            <a:r>
              <a:rPr lang="en-US" sz="2800" b="1" dirty="0">
                <a:solidFill>
                  <a:srgbClr val="288CD2"/>
                </a:solidFill>
              </a:rPr>
              <a:t>pooling</a:t>
            </a:r>
            <a:r>
              <a:rPr lang="en-US" sz="2800" dirty="0"/>
              <a:t>:</a:t>
            </a:r>
          </a:p>
          <a:p>
            <a:r>
              <a:rPr lang="en-US" sz="2800" dirty="0"/>
              <a:t>	max-pooling: returns maximum value in </a:t>
            </a:r>
          </a:p>
          <a:p>
            <a:r>
              <a:rPr lang="en-US" sz="2800" dirty="0"/>
              <a:t>	average pooling: returns average of values in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10026A4-7A4A-2048-9978-4CB319900E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6330" y="2735976"/>
            <a:ext cx="168867" cy="1842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36E1C98-ADEC-F04B-802D-C7EF6F3E2E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0598" y="3164466"/>
            <a:ext cx="168867" cy="18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0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481322"/>
          </a:xfrm>
        </p:spPr>
        <p:txBody>
          <a:bodyPr>
            <a:noAutofit/>
          </a:bodyPr>
          <a:lstStyle/>
          <a:p>
            <a:r>
              <a:rPr lang="en-US" sz="3600" dirty="0"/>
              <a:t>Pooling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62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97D713-A0B3-4248-BE4B-27C70E86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B9A15A-A0B8-0640-B9FA-E08665EC0171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D2178E-40EB-3F49-BE00-272C735E8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001" y="3436789"/>
            <a:ext cx="1701800" cy="190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4E0FB3-7F0A-1F4D-BACD-EBE9F3F626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442" y="3947271"/>
            <a:ext cx="2159000" cy="215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544AFB-A999-F344-A5DE-D25584692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9025" y="4465305"/>
            <a:ext cx="2273300" cy="2159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51791C-36D1-0343-9E1A-10ABC35344A0}"/>
              </a:ext>
            </a:extLst>
          </p:cNvPr>
          <p:cNvSpPr txBox="1"/>
          <p:nvPr/>
        </p:nvSpPr>
        <p:spPr>
          <a:xfrm>
            <a:off x="768006" y="1677906"/>
            <a:ext cx="7527071" cy="1815882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how do we convert this into a fixed-length vector?</a:t>
            </a:r>
          </a:p>
          <a:p>
            <a:r>
              <a:rPr lang="en-US" sz="2800" dirty="0"/>
              <a:t>use </a:t>
            </a:r>
            <a:r>
              <a:rPr lang="en-US" sz="2800" b="1" dirty="0">
                <a:solidFill>
                  <a:srgbClr val="288CD2"/>
                </a:solidFill>
              </a:rPr>
              <a:t>pooling</a:t>
            </a:r>
            <a:r>
              <a:rPr lang="en-US" sz="2800" dirty="0"/>
              <a:t>:</a:t>
            </a:r>
          </a:p>
          <a:p>
            <a:r>
              <a:rPr lang="en-US" sz="2800" dirty="0"/>
              <a:t>	max-pooling: returns maximum value in </a:t>
            </a:r>
          </a:p>
          <a:p>
            <a:r>
              <a:rPr lang="en-US" sz="2800" dirty="0"/>
              <a:t>	average pooling: returns average of values in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10026A4-7A4A-2048-9978-4CB319900E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6330" y="2735976"/>
            <a:ext cx="168867" cy="1842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36E1C98-ADEC-F04B-802D-C7EF6F3E2E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0598" y="3164466"/>
            <a:ext cx="168867" cy="1842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8F3AA7F-C072-9B44-9F0D-6A9E2FBA6C0A}"/>
              </a:ext>
            </a:extLst>
          </p:cNvPr>
          <p:cNvSpPr txBox="1"/>
          <p:nvPr/>
        </p:nvSpPr>
        <p:spPr>
          <a:xfrm>
            <a:off x="696886" y="4344906"/>
            <a:ext cx="7525142" cy="1815882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then, this single filter      produces a single feature </a:t>
            </a:r>
          </a:p>
          <a:p>
            <a:r>
              <a:rPr lang="en-US" sz="2800" dirty="0"/>
              <a:t>value (the output of some kind of pooling).</a:t>
            </a:r>
          </a:p>
          <a:p>
            <a:r>
              <a:rPr lang="en-US" sz="2800" dirty="0"/>
              <a:t>in practice, we use many filters of many different </a:t>
            </a:r>
          </a:p>
          <a:p>
            <a:r>
              <a:rPr lang="en-US" sz="2800" dirty="0"/>
              <a:t>lengths (e.g., </a:t>
            </a:r>
            <a:r>
              <a:rPr lang="en-US" sz="2800" i="1" dirty="0"/>
              <a:t>n</a:t>
            </a:r>
            <a:r>
              <a:rPr lang="en-US" sz="2800" dirty="0"/>
              <a:t>-grams rather than words).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400D483-B28C-6245-90DD-A55E122F69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2322" y="4575826"/>
            <a:ext cx="268678" cy="14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65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512386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“convolutional layer” = set of filters that are convolved with the input vector (whether </a:t>
            </a:r>
            <a:r>
              <a:rPr lang="en-US" b="1" i="1" dirty="0"/>
              <a:t>x</a:t>
            </a:r>
            <a:r>
              <a:rPr lang="en-US" dirty="0"/>
              <a:t> or hidden vector)</a:t>
            </a:r>
          </a:p>
          <a:p>
            <a:endParaRPr lang="en-US" dirty="0"/>
          </a:p>
          <a:p>
            <a:r>
              <a:rPr lang="en-US" dirty="0"/>
              <a:t>could be followed by more convolutional layers, or by a type of pooling</a:t>
            </a:r>
          </a:p>
          <a:p>
            <a:endParaRPr lang="en-US" dirty="0"/>
          </a:p>
          <a:p>
            <a:r>
              <a:rPr lang="en-US" dirty="0"/>
              <a:t>filters of varying n-gram lengths commonly used (1- to 5-grams)</a:t>
            </a:r>
          </a:p>
          <a:p>
            <a:endParaRPr lang="en-US" dirty="0"/>
          </a:p>
          <a:p>
            <a:r>
              <a:rPr lang="en-US" dirty="0"/>
              <a:t>CNNs commonly used for character-level processing; filters look at character n-grams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0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525F5-7AEE-454F-9E13-071FAC2EE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1C387-BA1F-FE47-9587-B552B661B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4F8A4-C9A8-B340-9522-912C4EA9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02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4"/>
        </a:lnRef>
        <a:fillRef idx="0">
          <a:schemeClr val="accent4"/>
        </a:fillRef>
        <a:effectRef idx="0">
          <a:schemeClr val="accent4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43139</TotalTime>
  <Words>3199</Words>
  <Application>Microsoft Macintosh PowerPoint</Application>
  <PresentationFormat>On-screen Show (4:3)</PresentationFormat>
  <Paragraphs>492</Paragraphs>
  <Slides>64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Arial</vt:lpstr>
      <vt:lpstr>Calibri</vt:lpstr>
      <vt:lpstr>Times New Roman</vt:lpstr>
      <vt:lpstr>TIMES-ROMAN</vt:lpstr>
      <vt:lpstr>Office Theme</vt:lpstr>
      <vt:lpstr>TTIC 31190: Natural Language Processing</vt:lpstr>
      <vt:lpstr>Assignment 2 due Monday</vt:lpstr>
      <vt:lpstr>Project Proposal</vt:lpstr>
      <vt:lpstr>Project</vt:lpstr>
      <vt:lpstr>Roadmap</vt:lpstr>
      <vt:lpstr>word2vec Score Functions</vt:lpstr>
      <vt:lpstr>A Simple Neural Text Classification Model</vt:lpstr>
      <vt:lpstr>Encoders</vt:lpstr>
      <vt:lpstr>Recurrent Neural Networks</vt:lpstr>
      <vt:lpstr>Recurrent Neural Networks</vt:lpstr>
      <vt:lpstr>Long Short-Term Memory Networks (gateless)</vt:lpstr>
      <vt:lpstr>Long Short-Term Memory Networks (gateless)</vt:lpstr>
      <vt:lpstr>Long Short-Term Memory Networks (gateless)</vt:lpstr>
      <vt:lpstr>Long Short-Term Memory Networks (gateless)</vt:lpstr>
      <vt:lpstr>Adding Output Gates</vt:lpstr>
      <vt:lpstr>Adding Output Gates</vt:lpstr>
      <vt:lpstr>Adding Output Gates</vt:lpstr>
      <vt:lpstr>Adding Output Gates</vt:lpstr>
      <vt:lpstr>Adding Output Gates</vt:lpstr>
      <vt:lpstr>Adding Output Gates</vt:lpstr>
      <vt:lpstr>Adding Output Gates</vt:lpstr>
      <vt:lpstr>Adding Output Gates</vt:lpstr>
      <vt:lpstr>Adding Output Gates</vt:lpstr>
      <vt:lpstr>Adding Output Gates</vt:lpstr>
      <vt:lpstr>Adding Input Gates</vt:lpstr>
      <vt:lpstr>Adding Input Gates</vt:lpstr>
      <vt:lpstr>PowerPoint Presentation</vt:lpstr>
      <vt:lpstr>Input Gates</vt:lpstr>
      <vt:lpstr>Output Gates</vt:lpstr>
      <vt:lpstr>Input Gates</vt:lpstr>
      <vt:lpstr>Input and Output Gates</vt:lpstr>
      <vt:lpstr>Adding Forget Gates</vt:lpstr>
      <vt:lpstr>Adding Forget Gates</vt:lpstr>
      <vt:lpstr>Adding Forget Gates</vt:lpstr>
      <vt:lpstr>Adding Forget Gates</vt:lpstr>
      <vt:lpstr>Adding Forget Gates</vt:lpstr>
      <vt:lpstr>All Gates</vt:lpstr>
      <vt:lpstr>All Gates</vt:lpstr>
      <vt:lpstr>Backward LSTMs</vt:lpstr>
      <vt:lpstr>Backward LSTMs</vt:lpstr>
      <vt:lpstr>Bidirectional LSTMs</vt:lpstr>
      <vt:lpstr>LSTM </vt:lpstr>
      <vt:lpstr>Deep LSTM (2-layer)</vt:lpstr>
      <vt:lpstr>Deep LSTM (2-layer)</vt:lpstr>
      <vt:lpstr>Deep Bidirectional LSTMs</vt:lpstr>
      <vt:lpstr>Gated Recurrent Units (GRU)</vt:lpstr>
      <vt:lpstr>Gated Recurrent Units (GRU)</vt:lpstr>
      <vt:lpstr>Recursive Neural Networks for NLP</vt:lpstr>
      <vt:lpstr>Recursive Neural Networks for NLP</vt:lpstr>
      <vt:lpstr>Recursive Neural Networks for NLP</vt:lpstr>
      <vt:lpstr>Recursive Neural Networks for NLP</vt:lpstr>
      <vt:lpstr>Recursive Neural Networks for NLP</vt:lpstr>
      <vt:lpstr>Convolutional Neural Networks</vt:lpstr>
      <vt:lpstr>Filters</vt:lpstr>
      <vt:lpstr>Convolution</vt:lpstr>
      <vt:lpstr>Convolution</vt:lpstr>
      <vt:lpstr>Convolution</vt:lpstr>
      <vt:lpstr>Convolution</vt:lpstr>
      <vt:lpstr>Convolution</vt:lpstr>
      <vt:lpstr>Convolution</vt:lpstr>
      <vt:lpstr>Pooling</vt:lpstr>
      <vt:lpstr>Pooling</vt:lpstr>
      <vt:lpstr>Convolutional Neural Networks</vt:lpstr>
      <vt:lpstr>PowerPoint Presentation</vt:lpstr>
    </vt:vector>
  </TitlesOfParts>
  <Company/>
  <LinksUpToDate>false</LinksUpToDate>
  <SharedDoc>false</SharedDoc>
  <HyperlinksChanged>false</HyperlinksChanged>
  <AppVersion>16.0011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Microsoft Office User</cp:lastModifiedBy>
  <cp:revision>706</cp:revision>
  <dcterms:created xsi:type="dcterms:W3CDTF">2015-08-31T18:15:35Z</dcterms:created>
  <dcterms:modified xsi:type="dcterms:W3CDTF">2018-04-25T22:33:12Z</dcterms:modified>
</cp:coreProperties>
</file>