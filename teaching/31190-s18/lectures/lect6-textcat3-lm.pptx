
<file path=[Content_Types].xml><?xml version="1.0" encoding="utf-8"?>
<Types xmlns="http://schemas.openxmlformats.org/package/2006/content-types">
  <Default Extension="xml" ContentType="application/xml"/>
  <Default Extension="jpeg" ContentType="image/jpeg"/>
  <Default Extension="jpg" ContentType="image/jpeg"/>
  <Default Extension="emf" ContentType="image/x-emf"/>
  <Default Extension="rels" ContentType="application/vnd.openxmlformats-package.relationships+xml"/>
  <Default Extension="vml" ContentType="application/vnd.openxmlformats-officedocument.vmlDrawing"/>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embeddings/oleObject1.bin" ContentType="application/vnd.openxmlformats-officedocument.oleObject"/>
  <Override PartName="/ppt/notesSlides/notesSlide19.xml" ContentType="application/vnd.openxmlformats-officedocument.presentationml.notesSlide+xml"/>
  <Override PartName="/ppt/embeddings/oleObject2.bin" ContentType="application/vnd.openxmlformats-officedocument.oleObject"/>
  <Override PartName="/ppt/embeddings/oleObject3.bin" ContentType="application/vnd.openxmlformats-officedocument.oleObject"/>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0"/>
  </p:notesMasterIdLst>
  <p:handoutMasterIdLst>
    <p:handoutMasterId r:id="rId71"/>
  </p:handoutMasterIdLst>
  <p:sldIdLst>
    <p:sldId id="256" r:id="rId2"/>
    <p:sldId id="710" r:id="rId3"/>
    <p:sldId id="722" r:id="rId4"/>
    <p:sldId id="711" r:id="rId5"/>
    <p:sldId id="520" r:id="rId6"/>
    <p:sldId id="528" r:id="rId7"/>
    <p:sldId id="261" r:id="rId8"/>
    <p:sldId id="717" r:id="rId9"/>
    <p:sldId id="298" r:id="rId10"/>
    <p:sldId id="716" r:id="rId11"/>
    <p:sldId id="825" r:id="rId12"/>
    <p:sldId id="759" r:id="rId13"/>
    <p:sldId id="762" r:id="rId14"/>
    <p:sldId id="724" r:id="rId15"/>
    <p:sldId id="726" r:id="rId16"/>
    <p:sldId id="727" r:id="rId17"/>
    <p:sldId id="738" r:id="rId18"/>
    <p:sldId id="746" r:id="rId19"/>
    <p:sldId id="749" r:id="rId20"/>
    <p:sldId id="740" r:id="rId21"/>
    <p:sldId id="752" r:id="rId22"/>
    <p:sldId id="750" r:id="rId23"/>
    <p:sldId id="751" r:id="rId24"/>
    <p:sldId id="744" r:id="rId25"/>
    <p:sldId id="753" r:id="rId26"/>
    <p:sldId id="728" r:id="rId27"/>
    <p:sldId id="729" r:id="rId28"/>
    <p:sldId id="704" r:id="rId29"/>
    <p:sldId id="707" r:id="rId30"/>
    <p:sldId id="705" r:id="rId31"/>
    <p:sldId id="702" r:id="rId32"/>
    <p:sldId id="701" r:id="rId33"/>
    <p:sldId id="712" r:id="rId34"/>
    <p:sldId id="706" r:id="rId35"/>
    <p:sldId id="714" r:id="rId36"/>
    <p:sldId id="715" r:id="rId37"/>
    <p:sldId id="734" r:id="rId38"/>
    <p:sldId id="737" r:id="rId39"/>
    <p:sldId id="736" r:id="rId40"/>
    <p:sldId id="730" r:id="rId41"/>
    <p:sldId id="731" r:id="rId42"/>
    <p:sldId id="732" r:id="rId43"/>
    <p:sldId id="733" r:id="rId44"/>
    <p:sldId id="763" r:id="rId45"/>
    <p:sldId id="764" r:id="rId46"/>
    <p:sldId id="765" r:id="rId47"/>
    <p:sldId id="758" r:id="rId48"/>
    <p:sldId id="718" r:id="rId49"/>
    <p:sldId id="719" r:id="rId50"/>
    <p:sldId id="720" r:id="rId51"/>
    <p:sldId id="768" r:id="rId52"/>
    <p:sldId id="826" r:id="rId53"/>
    <p:sldId id="766" r:id="rId54"/>
    <p:sldId id="769" r:id="rId55"/>
    <p:sldId id="770" r:id="rId56"/>
    <p:sldId id="771" r:id="rId57"/>
    <p:sldId id="772" r:id="rId58"/>
    <p:sldId id="827" r:id="rId59"/>
    <p:sldId id="773" r:id="rId60"/>
    <p:sldId id="774" r:id="rId61"/>
    <p:sldId id="775" r:id="rId62"/>
    <p:sldId id="776" r:id="rId63"/>
    <p:sldId id="777" r:id="rId64"/>
    <p:sldId id="778" r:id="rId65"/>
    <p:sldId id="779" r:id="rId66"/>
    <p:sldId id="780" r:id="rId67"/>
    <p:sldId id="781" r:id="rId68"/>
    <p:sldId id="782" r:id="rId6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88CD2"/>
    <a:srgbClr val="BC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243"/>
    <p:restoredTop sz="89718" autoAdjust="0"/>
  </p:normalViewPr>
  <p:slideViewPr>
    <p:cSldViewPr snapToGrid="0" snapToObjects="1">
      <p:cViewPr varScale="1">
        <p:scale>
          <a:sx n="66" d="100"/>
          <a:sy n="66" d="100"/>
        </p:scale>
        <p:origin x="-2040"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70" Type="http://schemas.openxmlformats.org/officeDocument/2006/relationships/notesMaster" Target="notesMasters/notesMaster1.xml"/><Relationship Id="rId71" Type="http://schemas.openxmlformats.org/officeDocument/2006/relationships/handoutMaster" Target="handoutMasters/handoutMaster1.xml"/><Relationship Id="rId72" Type="http://schemas.openxmlformats.org/officeDocument/2006/relationships/printerSettings" Target="printerSettings/printerSettings1.bin"/><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73" Type="http://schemas.openxmlformats.org/officeDocument/2006/relationships/presProps" Target="presProps.xml"/><Relationship Id="rId74" Type="http://schemas.openxmlformats.org/officeDocument/2006/relationships/viewProps" Target="viewProps.xml"/><Relationship Id="rId75" Type="http://schemas.openxmlformats.org/officeDocument/2006/relationships/theme" Target="theme/theme1.xml"/><Relationship Id="rId76" Type="http://schemas.openxmlformats.org/officeDocument/2006/relationships/tableStyles" Target="tableStyles.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7.emf"/><Relationship Id="rId2" Type="http://schemas.openxmlformats.org/officeDocument/2006/relationships/image" Target="../media/image4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8664593-8E4E-8747-9BDB-DA84BDED518C}" type="datetime1">
              <a:rPr lang="en-US" smtClean="0"/>
              <a:t>4/11/18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02E5790-10E5-C04B-864A-21F4E57B9FCF}" type="slidenum">
              <a:rPr lang="en-US" smtClean="0"/>
              <a:t>‹#›</a:t>
            </a:fld>
            <a:endParaRPr lang="en-US"/>
          </a:p>
        </p:txBody>
      </p:sp>
    </p:spTree>
    <p:extLst>
      <p:ext uri="{BB962C8B-B14F-4D97-AF65-F5344CB8AC3E}">
        <p14:creationId xmlns:p14="http://schemas.microsoft.com/office/powerpoint/2010/main" val="132104023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AA541DB-7577-ED4C-AF0A-388D8C680A39}" type="datetime1">
              <a:rPr lang="en-US" smtClean="0"/>
              <a:t>4/11/18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91B48C7-8E5C-9640-8445-8A9544EEA549}" type="slidenum">
              <a:rPr lang="en-US" smtClean="0"/>
              <a:t>‹#›</a:t>
            </a:fld>
            <a:endParaRPr lang="en-US"/>
          </a:p>
        </p:txBody>
      </p:sp>
    </p:spTree>
    <p:extLst>
      <p:ext uri="{BB962C8B-B14F-4D97-AF65-F5344CB8AC3E}">
        <p14:creationId xmlns:p14="http://schemas.microsoft.com/office/powerpoint/2010/main" val="3819633048"/>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renewcommand</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vec</a:t>
            </a:r>
            <a:r>
              <a:rPr lang="en-US" sz="1200" kern="1200" dirty="0">
                <a:solidFill>
                  <a:schemeClr val="tx1"/>
                </a:solidFill>
                <a:effectLst/>
                <a:latin typeface="+mn-lt"/>
                <a:ea typeface="+mn-ea"/>
                <a:cs typeface="+mn-cs"/>
              </a:rPr>
              <a:t>}[1]{\</a:t>
            </a:r>
            <a:r>
              <a:rPr lang="en-US" sz="1200" kern="1200" dirty="0" err="1">
                <a:solidFill>
                  <a:schemeClr val="tx1"/>
                </a:solidFill>
                <a:effectLst/>
                <a:latin typeface="+mn-lt"/>
                <a:ea typeface="+mn-ea"/>
                <a:cs typeface="+mn-cs"/>
              </a:rPr>
              <a:t>boldsymbol</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mathbf</a:t>
            </a:r>
            <a:r>
              <a:rPr lang="en-US" sz="1200" kern="1200" dirty="0">
                <a:solidFill>
                  <a:schemeClr val="tx1"/>
                </a:solidFill>
                <a:effectLst/>
                <a:latin typeface="+mn-lt"/>
                <a:ea typeface="+mn-ea"/>
                <a:cs typeface="+mn-cs"/>
              </a:rPr>
              <a:t>{#1}}}</a:t>
            </a:r>
          </a:p>
          <a:p>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mathrm</a:t>
            </a:r>
            <a:r>
              <a:rPr lang="en-US" sz="1200" kern="1200" dirty="0">
                <a:solidFill>
                  <a:schemeClr val="tx1"/>
                </a:solidFill>
                <a:effectLst/>
                <a:latin typeface="+mn-lt"/>
                <a:ea typeface="+mn-ea"/>
                <a:cs typeface="+mn-cs"/>
              </a:rPr>
              <a:t>{score}(\</a:t>
            </a:r>
            <a:r>
              <a:rPr lang="en-US" sz="1200" kern="1200" dirty="0" err="1">
                <a:solidFill>
                  <a:schemeClr val="tx1"/>
                </a:solidFill>
                <a:effectLst/>
                <a:latin typeface="+mn-lt"/>
                <a:ea typeface="+mn-ea"/>
                <a:cs typeface="+mn-cs"/>
              </a:rPr>
              <a:t>vect</a:t>
            </a:r>
            <a:r>
              <a:rPr lang="en-US" sz="1200" kern="1200" dirty="0">
                <a:solidFill>
                  <a:schemeClr val="tx1"/>
                </a:solidFill>
                <a:effectLst/>
                <a:latin typeface="+mn-lt"/>
                <a:ea typeface="+mn-ea"/>
                <a:cs typeface="+mn-cs"/>
              </a:rPr>
              <a:t>{x},y,\</a:t>
            </a:r>
            <a:r>
              <a:rPr lang="en-US" sz="1200" kern="1200" dirty="0" err="1">
                <a:solidFill>
                  <a:schemeClr val="tx1"/>
                </a:solidFill>
                <a:effectLst/>
                <a:latin typeface="+mn-lt"/>
                <a:ea typeface="+mn-ea"/>
                <a:cs typeface="+mn-cs"/>
              </a:rPr>
              <a:t>vec</a:t>
            </a:r>
            <a:r>
              <a:rPr lang="en-US" sz="1200" kern="1200" dirty="0">
                <a:solidFill>
                  <a:schemeClr val="tx1"/>
                </a:solidFill>
                <a:effectLst/>
                <a:latin typeface="+mn-lt"/>
                <a:ea typeface="+mn-ea"/>
                <a:cs typeface="+mn-cs"/>
              </a:rPr>
              <a:t>{w}) = \</a:t>
            </a:r>
            <a:r>
              <a:rPr lang="en-US" sz="1200" kern="1200" dirty="0" err="1">
                <a:solidFill>
                  <a:schemeClr val="tx1"/>
                </a:solidFill>
                <a:effectLst/>
                <a:latin typeface="+mn-lt"/>
                <a:ea typeface="+mn-ea"/>
                <a:cs typeface="+mn-cs"/>
              </a:rPr>
              <a:t>vec</a:t>
            </a:r>
            <a:r>
              <a:rPr lang="en-US" sz="1200" kern="1200" dirty="0">
                <a:solidFill>
                  <a:schemeClr val="tx1"/>
                </a:solidFill>
                <a:effectLst/>
                <a:latin typeface="+mn-lt"/>
                <a:ea typeface="+mn-ea"/>
                <a:cs typeface="+mn-cs"/>
              </a:rPr>
              <a:t>{w}^\top \</a:t>
            </a:r>
            <a:r>
              <a:rPr lang="en-US" sz="1200" kern="1200" dirty="0" err="1">
                <a:solidFill>
                  <a:schemeClr val="tx1"/>
                </a:solidFill>
                <a:effectLst/>
                <a:latin typeface="+mn-lt"/>
                <a:ea typeface="+mn-ea"/>
                <a:cs typeface="+mn-cs"/>
              </a:rPr>
              <a:t>vec</a:t>
            </a:r>
            <a:r>
              <a:rPr lang="en-US" sz="1200" kern="1200" dirty="0">
                <a:solidFill>
                  <a:schemeClr val="tx1"/>
                </a:solidFill>
                <a:effectLst/>
                <a:latin typeface="+mn-lt"/>
                <a:ea typeface="+mn-ea"/>
                <a:cs typeface="+mn-cs"/>
              </a:rPr>
              <a:t>{f}(\</a:t>
            </a:r>
            <a:r>
              <a:rPr lang="en-US" sz="1200" kern="1200" dirty="0" err="1">
                <a:solidFill>
                  <a:schemeClr val="tx1"/>
                </a:solidFill>
                <a:effectLst/>
                <a:latin typeface="+mn-lt"/>
                <a:ea typeface="+mn-ea"/>
                <a:cs typeface="+mn-cs"/>
              </a:rPr>
              <a:t>vect</a:t>
            </a:r>
            <a:r>
              <a:rPr lang="en-US" sz="1200" kern="1200" dirty="0">
                <a:solidFill>
                  <a:schemeClr val="tx1"/>
                </a:solidFill>
                <a:effectLst/>
                <a:latin typeface="+mn-lt"/>
                <a:ea typeface="+mn-ea"/>
                <a:cs typeface="+mn-cs"/>
              </a:rPr>
              <a:t>{x},y) = \</a:t>
            </a:r>
            <a:r>
              <a:rPr lang="en-US" sz="1200" kern="1200" dirty="0" err="1">
                <a:solidFill>
                  <a:schemeClr val="tx1"/>
                </a:solidFill>
                <a:effectLst/>
                <a:latin typeface="+mn-lt"/>
                <a:ea typeface="+mn-ea"/>
                <a:cs typeface="+mn-cs"/>
              </a:rPr>
              <a:t>sum_i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theta_i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f_i</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vect</a:t>
            </a:r>
            <a:r>
              <a:rPr lang="en-US" sz="1200" kern="1200" dirty="0">
                <a:solidFill>
                  <a:schemeClr val="tx1"/>
                </a:solidFill>
                <a:effectLst/>
                <a:latin typeface="+mn-lt"/>
                <a:ea typeface="+mn-ea"/>
                <a:cs typeface="+mn-cs"/>
              </a:rPr>
              <a:t>{x},y)</a:t>
            </a:r>
          </a:p>
          <a:p>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nonumber</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491B48C7-8E5C-9640-8445-8A9544EEA549}" type="slidenum">
              <a:rPr lang="en-US" smtClean="0"/>
              <a:t>8</a:t>
            </a:fld>
            <a:endParaRPr lang="en-US"/>
          </a:p>
        </p:txBody>
      </p:sp>
    </p:spTree>
    <p:extLst>
      <p:ext uri="{BB962C8B-B14F-4D97-AF65-F5344CB8AC3E}">
        <p14:creationId xmlns:p14="http://schemas.microsoft.com/office/powerpoint/2010/main" val="16896389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circle is one translation, all are for a single </a:t>
            </a:r>
            <a:r>
              <a:rPr lang="en-US" baseline="0" dirty="0" smtClean="0"/>
              <a:t>input sentence in our training data.</a:t>
            </a:r>
          </a:p>
          <a:p>
            <a:r>
              <a:rPr lang="en-US" baseline="0" dirty="0" smtClean="0"/>
              <a:t>Horizontal bands correspond to different derivations of the same translation; same BLEU score, different model scores. </a:t>
            </a:r>
          </a:p>
          <a:p>
            <a:r>
              <a:rPr lang="en-US" baseline="0" dirty="0" smtClean="0"/>
              <a:t>Our MT system outputs the translation that is farthest to the right. By changing the weights of our model, we move translations left or right. We can’t move them up or down. </a:t>
            </a:r>
          </a:p>
          <a:p>
            <a:r>
              <a:rPr lang="en-US" baseline="0" dirty="0" smtClean="0"/>
              <a:t>The goal of training is to change the parameters so that, on average, our system’s predictions for all input sentences are translations with high BLEU scores.</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17</a:t>
            </a:fld>
            <a:endParaRPr lang="en-US"/>
          </a:p>
        </p:txBody>
      </p:sp>
    </p:spTree>
    <p:extLst>
      <p:ext uri="{BB962C8B-B14F-4D97-AF65-F5344CB8AC3E}">
        <p14:creationId xmlns:p14="http://schemas.microsoft.com/office/powerpoint/2010/main" val="1533906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circle is one translation, all are for a single </a:t>
            </a:r>
            <a:r>
              <a:rPr lang="en-US" baseline="0" dirty="0" smtClean="0"/>
              <a:t>input sentence in our training data.</a:t>
            </a:r>
          </a:p>
          <a:p>
            <a:r>
              <a:rPr lang="en-US" baseline="0" dirty="0" smtClean="0"/>
              <a:t>Horizontal bands correspond to different derivations of the same translation; same BLEU score, different model scores. </a:t>
            </a:r>
          </a:p>
          <a:p>
            <a:r>
              <a:rPr lang="en-US" baseline="0" dirty="0" smtClean="0"/>
              <a:t>Our MT system outputs the translation that is farthest to the right. By changing the weights of our model, we move translations left or right. We can’t move them up or down. </a:t>
            </a:r>
          </a:p>
          <a:p>
            <a:r>
              <a:rPr lang="en-US" baseline="0" dirty="0" smtClean="0"/>
              <a:t>The goal of training is to change the parameters so that, on average, our system’s predictions for all input sentences are translations with high BLEU scores.</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18</a:t>
            </a:fld>
            <a:endParaRPr lang="en-US"/>
          </a:p>
        </p:txBody>
      </p:sp>
    </p:spTree>
    <p:extLst>
      <p:ext uri="{BB962C8B-B14F-4D97-AF65-F5344CB8AC3E}">
        <p14:creationId xmlns:p14="http://schemas.microsoft.com/office/powerpoint/2010/main" val="1533906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19</a:t>
            </a:fld>
            <a:endParaRPr lang="en-US"/>
          </a:p>
        </p:txBody>
      </p:sp>
    </p:spTree>
    <p:extLst>
      <p:ext uri="{BB962C8B-B14F-4D97-AF65-F5344CB8AC3E}">
        <p14:creationId xmlns:p14="http://schemas.microsoft.com/office/powerpoint/2010/main" val="6323781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circle is one translation, all are for a single </a:t>
            </a:r>
            <a:r>
              <a:rPr lang="en-US" baseline="0" dirty="0" smtClean="0"/>
              <a:t>input sentence in our training data.</a:t>
            </a:r>
          </a:p>
          <a:p>
            <a:r>
              <a:rPr lang="en-US" baseline="0" dirty="0" smtClean="0"/>
              <a:t>Horizontal bands correspond to different derivations of the same translation; same BLEU score, different model scores. </a:t>
            </a:r>
          </a:p>
          <a:p>
            <a:r>
              <a:rPr lang="en-US" baseline="0" dirty="0" smtClean="0"/>
              <a:t>Our MT system outputs the translation that is farthest to the right. By changing the weights of our model, we move translations left or right. We can’t move them up or down. </a:t>
            </a:r>
          </a:p>
          <a:p>
            <a:r>
              <a:rPr lang="en-US" baseline="0" dirty="0" smtClean="0"/>
              <a:t>The goal of training is to change the parameters so that, on average, our system’s predictions for all input sentences are translations with high BLEU scores.</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20</a:t>
            </a:fld>
            <a:endParaRPr lang="en-US"/>
          </a:p>
        </p:txBody>
      </p:sp>
    </p:spTree>
    <p:extLst>
      <p:ext uri="{BB962C8B-B14F-4D97-AF65-F5344CB8AC3E}">
        <p14:creationId xmlns:p14="http://schemas.microsoft.com/office/powerpoint/2010/main" val="13693837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circle is one translation, all are for a single </a:t>
            </a:r>
            <a:r>
              <a:rPr lang="en-US" baseline="0" dirty="0" smtClean="0"/>
              <a:t>input sentence in our training data.</a:t>
            </a:r>
          </a:p>
          <a:p>
            <a:r>
              <a:rPr lang="en-US" baseline="0" dirty="0" smtClean="0"/>
              <a:t>Horizontal bands correspond to different derivations of the same translation; same BLEU score, different model scores. </a:t>
            </a:r>
          </a:p>
          <a:p>
            <a:r>
              <a:rPr lang="en-US" baseline="0" dirty="0" smtClean="0"/>
              <a:t>Our MT system outputs the translation that is farthest to the right. By changing the weights of our model, we move translations left or right. We can’t move them up or down. </a:t>
            </a:r>
          </a:p>
          <a:p>
            <a:r>
              <a:rPr lang="en-US" baseline="0" dirty="0" smtClean="0"/>
              <a:t>The goal of training is to change the parameters so that, on average, our system’s predictions for all input sentences are translations with high BLEU scores.</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21</a:t>
            </a:fld>
            <a:endParaRPr lang="en-US"/>
          </a:p>
        </p:txBody>
      </p:sp>
    </p:spTree>
    <p:extLst>
      <p:ext uri="{BB962C8B-B14F-4D97-AF65-F5344CB8AC3E}">
        <p14:creationId xmlns:p14="http://schemas.microsoft.com/office/powerpoint/2010/main" val="13693837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circle is one translation, all are for a single </a:t>
            </a:r>
            <a:r>
              <a:rPr lang="en-US" baseline="0" dirty="0" smtClean="0"/>
              <a:t>input sentence in our training data.</a:t>
            </a:r>
          </a:p>
          <a:p>
            <a:r>
              <a:rPr lang="en-US" baseline="0" dirty="0" smtClean="0"/>
              <a:t>Horizontal bands correspond to different derivations of the same translation; same BLEU score, different model scores. </a:t>
            </a:r>
          </a:p>
          <a:p>
            <a:r>
              <a:rPr lang="en-US" baseline="0" dirty="0" smtClean="0"/>
              <a:t>Our MT system outputs the translation that is farthest to the right. By changing the weights of our model, we move translations left or right. We can’t move them up or down. </a:t>
            </a:r>
          </a:p>
          <a:p>
            <a:r>
              <a:rPr lang="en-US" baseline="0" dirty="0" smtClean="0"/>
              <a:t>The goal of training is to change the parameters so that, on average, our system’s predictions for all input sentences are translations with high BLEU scores.</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22</a:t>
            </a:fld>
            <a:endParaRPr lang="en-US"/>
          </a:p>
        </p:txBody>
      </p:sp>
    </p:spTree>
    <p:extLst>
      <p:ext uri="{BB962C8B-B14F-4D97-AF65-F5344CB8AC3E}">
        <p14:creationId xmlns:p14="http://schemas.microsoft.com/office/powerpoint/2010/main" val="18954533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circle is one translation, all are for a single </a:t>
            </a:r>
            <a:r>
              <a:rPr lang="en-US" baseline="0" dirty="0" smtClean="0"/>
              <a:t>input sentence in our training data.</a:t>
            </a:r>
          </a:p>
          <a:p>
            <a:r>
              <a:rPr lang="en-US" baseline="0" dirty="0" smtClean="0"/>
              <a:t>Horizontal bands correspond to different derivations of the same translation; same BLEU score, different model scores. </a:t>
            </a:r>
          </a:p>
          <a:p>
            <a:r>
              <a:rPr lang="en-US" baseline="0" dirty="0" smtClean="0"/>
              <a:t>Our MT system outputs the translation that is farthest to the right. By changing the weights of our model, we move translations left or right. We can’t move them up or down. </a:t>
            </a:r>
          </a:p>
          <a:p>
            <a:r>
              <a:rPr lang="en-US" baseline="0" dirty="0" smtClean="0"/>
              <a:t>The goal of training is to change the parameters so that, on average, our system’s predictions for all input sentences are translations with high BLEU scores.</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23</a:t>
            </a:fld>
            <a:endParaRPr lang="en-US"/>
          </a:p>
        </p:txBody>
      </p:sp>
    </p:spTree>
    <p:extLst>
      <p:ext uri="{BB962C8B-B14F-4D97-AF65-F5344CB8AC3E}">
        <p14:creationId xmlns:p14="http://schemas.microsoft.com/office/powerpoint/2010/main" val="18954533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24</a:t>
            </a:fld>
            <a:endParaRPr lang="en-US"/>
          </a:p>
        </p:txBody>
      </p:sp>
    </p:spTree>
    <p:extLst>
      <p:ext uri="{BB962C8B-B14F-4D97-AF65-F5344CB8AC3E}">
        <p14:creationId xmlns:p14="http://schemas.microsoft.com/office/powerpoint/2010/main" val="6323781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25</a:t>
            </a:fld>
            <a:endParaRPr lang="en-US"/>
          </a:p>
        </p:txBody>
      </p:sp>
    </p:spTree>
    <p:extLst>
      <p:ext uri="{BB962C8B-B14F-4D97-AF65-F5344CB8AC3E}">
        <p14:creationId xmlns:p14="http://schemas.microsoft.com/office/powerpoint/2010/main" val="6323781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44</a:t>
            </a:fld>
            <a:endParaRPr lang="en-US"/>
          </a:p>
        </p:txBody>
      </p:sp>
    </p:spTree>
    <p:extLst>
      <p:ext uri="{BB962C8B-B14F-4D97-AF65-F5344CB8AC3E}">
        <p14:creationId xmlns:p14="http://schemas.microsoft.com/office/powerpoint/2010/main" val="6323781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45</a:t>
            </a:fld>
            <a:endParaRPr lang="en-US"/>
          </a:p>
        </p:txBody>
      </p:sp>
    </p:spTree>
    <p:extLst>
      <p:ext uri="{BB962C8B-B14F-4D97-AF65-F5344CB8AC3E}">
        <p14:creationId xmlns:p14="http://schemas.microsoft.com/office/powerpoint/2010/main" val="15149057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46</a:t>
            </a:fld>
            <a:endParaRPr lang="en-US"/>
          </a:p>
        </p:txBody>
      </p:sp>
    </p:spTree>
    <p:extLst>
      <p:ext uri="{BB962C8B-B14F-4D97-AF65-F5344CB8AC3E}">
        <p14:creationId xmlns:p14="http://schemas.microsoft.com/office/powerpoint/2010/main" val="15149057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E357E1AA-3B5C-7144-BCE2-DB2BE2D704A0}" type="slidenum">
              <a:rPr lang="en-US"/>
              <a:pPr/>
              <a:t>59</a:t>
            </a:fld>
            <a:endParaRPr lang="en-US"/>
          </a:p>
        </p:txBody>
      </p:sp>
      <p:sp>
        <p:nvSpPr>
          <p:cNvPr id="64515" name="Rectangle 2"/>
          <p:cNvSpPr>
            <a:spLocks noGrp="1" noRot="1" noChangeAspect="1" noChangeArrowheads="1"/>
          </p:cNvSpPr>
          <p:nvPr>
            <p:ph type="sldImg"/>
          </p:nvPr>
        </p:nvSpPr>
        <p:spPr>
          <a:solidFill>
            <a:srgbClr val="FFFFFF"/>
          </a:solidFill>
          <a:ln/>
        </p:spPr>
      </p:sp>
      <p:sp>
        <p:nvSpPr>
          <p:cNvPr id="64516"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extLst>
      <p:ext uri="{BB962C8B-B14F-4D97-AF65-F5344CB8AC3E}">
        <p14:creationId xmlns:p14="http://schemas.microsoft.com/office/powerpoint/2010/main" val="1048526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92223D22-0F96-2447-8062-54A2324D8AD1}" type="slidenum">
              <a:rPr lang="en-US"/>
              <a:pPr/>
              <a:t>60</a:t>
            </a:fld>
            <a:endParaRPr lang="en-US"/>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8146343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DAAAF750-AC54-8649-86DE-2549480B55BA}" type="slidenum">
              <a:rPr lang="en-US"/>
              <a:pPr/>
              <a:t>61</a:t>
            </a:fld>
            <a:endParaRPr lang="en-US"/>
          </a:p>
        </p:txBody>
      </p:sp>
      <p:sp>
        <p:nvSpPr>
          <p:cNvPr id="68611" name="Rectangle 2"/>
          <p:cNvSpPr>
            <a:spLocks noGrp="1" noRot="1" noChangeAspect="1" noChangeArrowheads="1"/>
          </p:cNvSpPr>
          <p:nvPr>
            <p:ph type="sldImg"/>
          </p:nvPr>
        </p:nvSpPr>
        <p:spPr>
          <a:solidFill>
            <a:srgbClr val="FFFFFF"/>
          </a:solidFill>
          <a:ln/>
        </p:spPr>
      </p:sp>
      <p:sp>
        <p:nvSpPr>
          <p:cNvPr id="68612"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dirty="0"/>
          </a:p>
        </p:txBody>
      </p:sp>
    </p:spTree>
    <p:extLst>
      <p:ext uri="{BB962C8B-B14F-4D97-AF65-F5344CB8AC3E}">
        <p14:creationId xmlns:p14="http://schemas.microsoft.com/office/powerpoint/2010/main" val="13434579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C24D5933-64A4-6347-B6F5-7474C2DA1EC7}" type="slidenum">
              <a:rPr lang="en-US"/>
              <a:pPr/>
              <a:t>62</a:t>
            </a:fld>
            <a:endParaRPr lang="en-US"/>
          </a:p>
        </p:txBody>
      </p:sp>
      <p:sp>
        <p:nvSpPr>
          <p:cNvPr id="70659" name="Rectangle 2"/>
          <p:cNvSpPr>
            <a:spLocks noGrp="1" noRot="1" noChangeAspect="1" noChangeArrowheads="1"/>
          </p:cNvSpPr>
          <p:nvPr>
            <p:ph type="sldImg"/>
          </p:nvPr>
        </p:nvSpPr>
        <p:spPr>
          <a:solidFill>
            <a:srgbClr val="FFFFFF"/>
          </a:solidFill>
          <a:ln/>
        </p:spPr>
      </p:sp>
      <p:sp>
        <p:nvSpPr>
          <p:cNvPr id="70660"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extLst>
      <p:ext uri="{BB962C8B-B14F-4D97-AF65-F5344CB8AC3E}">
        <p14:creationId xmlns:p14="http://schemas.microsoft.com/office/powerpoint/2010/main" val="8088085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FDB5D5E7-7ECC-C547-B760-70A49FF3CCB1}" type="slidenum">
              <a:rPr lang="en-US"/>
              <a:pPr/>
              <a:t>63</a:t>
            </a:fld>
            <a:endParaRPr lang="en-US"/>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536687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16C90346-8C42-B949-9ED1-59E585D457E3}" type="slidenum">
              <a:rPr lang="en-US"/>
              <a:pPr/>
              <a:t>64</a:t>
            </a:fld>
            <a:endParaRPr lang="en-US"/>
          </a:p>
        </p:txBody>
      </p:sp>
      <p:sp>
        <p:nvSpPr>
          <p:cNvPr id="76803" name="Rectangle 2"/>
          <p:cNvSpPr>
            <a:spLocks noGrp="1" noRot="1" noChangeAspect="1" noChangeArrowheads="1"/>
          </p:cNvSpPr>
          <p:nvPr>
            <p:ph type="sldImg"/>
          </p:nvPr>
        </p:nvSpPr>
        <p:spPr>
          <a:solidFill>
            <a:srgbClr val="FFFFFF"/>
          </a:solidFill>
          <a:ln/>
        </p:spPr>
      </p:sp>
      <p:sp>
        <p:nvSpPr>
          <p:cNvPr id="7680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extLst>
      <p:ext uri="{BB962C8B-B14F-4D97-AF65-F5344CB8AC3E}">
        <p14:creationId xmlns:p14="http://schemas.microsoft.com/office/powerpoint/2010/main" val="6490227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16C90346-8C42-B949-9ED1-59E585D457E3}" type="slidenum">
              <a:rPr lang="en-US"/>
              <a:pPr/>
              <a:t>65</a:t>
            </a:fld>
            <a:endParaRPr lang="en-US"/>
          </a:p>
        </p:txBody>
      </p:sp>
      <p:sp>
        <p:nvSpPr>
          <p:cNvPr id="76803" name="Rectangle 2"/>
          <p:cNvSpPr>
            <a:spLocks noGrp="1" noRot="1" noChangeAspect="1" noChangeArrowheads="1"/>
          </p:cNvSpPr>
          <p:nvPr>
            <p:ph type="sldImg"/>
          </p:nvPr>
        </p:nvSpPr>
        <p:spPr>
          <a:solidFill>
            <a:srgbClr val="FFFFFF"/>
          </a:solidFill>
          <a:ln/>
        </p:spPr>
      </p:sp>
      <p:sp>
        <p:nvSpPr>
          <p:cNvPr id="7680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extLst>
      <p:ext uri="{BB962C8B-B14F-4D97-AF65-F5344CB8AC3E}">
        <p14:creationId xmlns:p14="http://schemas.microsoft.com/office/powerpoint/2010/main" val="6080349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7F1DC5F2-6B6E-FD48-8039-2DB790B32523}" type="slidenum">
              <a:rPr lang="en-US"/>
              <a:pPr/>
              <a:t>66</a:t>
            </a:fld>
            <a:endParaRPr lang="en-US"/>
          </a:p>
        </p:txBody>
      </p:sp>
      <p:sp>
        <p:nvSpPr>
          <p:cNvPr id="78851" name="Rectangle 2"/>
          <p:cNvSpPr>
            <a:spLocks noGrp="1" noRot="1" noChangeAspect="1" noChangeArrowheads="1"/>
          </p:cNvSpPr>
          <p:nvPr>
            <p:ph type="sldImg"/>
          </p:nvPr>
        </p:nvSpPr>
        <p:spPr>
          <a:solidFill>
            <a:srgbClr val="FFFFFF"/>
          </a:solidFill>
          <a:ln/>
        </p:spPr>
      </p:sp>
      <p:sp>
        <p:nvSpPr>
          <p:cNvPr id="78852"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extLst>
      <p:ext uri="{BB962C8B-B14F-4D97-AF65-F5344CB8AC3E}">
        <p14:creationId xmlns:p14="http://schemas.microsoft.com/office/powerpoint/2010/main" val="19531979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7F1DC5F2-6B6E-FD48-8039-2DB790B32523}" type="slidenum">
              <a:rPr lang="en-US"/>
              <a:pPr/>
              <a:t>67</a:t>
            </a:fld>
            <a:endParaRPr lang="en-US"/>
          </a:p>
        </p:txBody>
      </p:sp>
      <p:sp>
        <p:nvSpPr>
          <p:cNvPr id="78851" name="Rectangle 2"/>
          <p:cNvSpPr>
            <a:spLocks noGrp="1" noRot="1" noChangeAspect="1" noChangeArrowheads="1"/>
          </p:cNvSpPr>
          <p:nvPr>
            <p:ph type="sldImg"/>
          </p:nvPr>
        </p:nvSpPr>
        <p:spPr>
          <a:solidFill>
            <a:srgbClr val="FFFFFF"/>
          </a:solidFill>
          <a:ln/>
        </p:spPr>
      </p:sp>
      <p:sp>
        <p:nvSpPr>
          <p:cNvPr id="78852"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extLst>
      <p:ext uri="{BB962C8B-B14F-4D97-AF65-F5344CB8AC3E}">
        <p14:creationId xmlns:p14="http://schemas.microsoft.com/office/powerpoint/2010/main" val="6827366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7F1DC5F2-6B6E-FD48-8039-2DB790B32523}" type="slidenum">
              <a:rPr lang="en-US"/>
              <a:pPr/>
              <a:t>68</a:t>
            </a:fld>
            <a:endParaRPr lang="en-US"/>
          </a:p>
        </p:txBody>
      </p:sp>
      <p:sp>
        <p:nvSpPr>
          <p:cNvPr id="78851" name="Rectangle 2"/>
          <p:cNvSpPr>
            <a:spLocks noGrp="1" noRot="1" noChangeAspect="1" noChangeArrowheads="1"/>
          </p:cNvSpPr>
          <p:nvPr>
            <p:ph type="sldImg"/>
          </p:nvPr>
        </p:nvSpPr>
        <p:spPr>
          <a:solidFill>
            <a:srgbClr val="FFFFFF"/>
          </a:solidFill>
          <a:ln/>
        </p:spPr>
      </p:sp>
      <p:sp>
        <p:nvSpPr>
          <p:cNvPr id="78852"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extLst>
      <p:ext uri="{BB962C8B-B14F-4D97-AF65-F5344CB8AC3E}">
        <p14:creationId xmlns:p14="http://schemas.microsoft.com/office/powerpoint/2010/main" val="19162378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AACD7B2-AEA0-D043-916D-6794629D2DCA}" type="datetime1">
              <a:rPr lang="en-US" smtClean="0"/>
              <a:t>4/11/18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1981399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6D68728-3264-AF4F-9CE5-FA0C8D0912D9}" type="datetime1">
              <a:rPr lang="en-US" smtClean="0"/>
              <a:t>4/11/18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4262946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2B400C-B81F-7045-98E0-E0086ED4BE98}" type="datetime1">
              <a:rPr lang="en-US" smtClean="0"/>
              <a:t>4/11/18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727455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9F1F27A-F732-8B4A-9B27-686442D49E4C}" type="datetime1">
              <a:rPr lang="en-US" smtClean="0"/>
              <a:t>4/11/18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2725305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7171ED0-786B-FC43-99CE-2369D6469C8C}" type="datetime1">
              <a:rPr lang="en-US" smtClean="0"/>
              <a:t>4/11/18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4014311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AF05BA2-5204-E043-BD0E-95E8A7C0A256}" type="datetime1">
              <a:rPr lang="en-US" smtClean="0"/>
              <a:t>4/11/18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2679377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FB0B10-84AC-A845-8EBB-B973F6A52188}" type="datetime1">
              <a:rPr lang="en-US" smtClean="0"/>
              <a:t>4/11/18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3516817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613713-D95F-9C47-88D3-6BB1CDB9F1E4}" type="datetime1">
              <a:rPr lang="en-US" smtClean="0"/>
              <a:t>4/11/18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2327095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66023A-8A28-1649-91E1-905AF24D9B1C}" type="datetime1">
              <a:rPr lang="en-US" smtClean="0"/>
              <a:t>4/11/18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2860087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1BA977-597A-F949-8426-B66CA967B053}" type="datetime1">
              <a:rPr lang="en-US" smtClean="0"/>
              <a:t>4/11/18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2347859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614735-0AB7-1A46-9AC6-2D030CB4F2E1}" type="datetime1">
              <a:rPr lang="en-US" smtClean="0"/>
              <a:t>4/11/18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2459855591"/>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71398"/>
            <a:ext cx="8229600" cy="72683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073740"/>
            <a:ext cx="8229600" cy="50524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EB2050-0557-6041-8605-A9AD7CC206C9}" type="datetime1">
              <a:rPr lang="en-US" smtClean="0"/>
              <a:t>4/11/18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FF3AF9-2D61-8E40-AE3D-8390D801ED2C}" type="slidenum">
              <a:rPr lang="en-US" smtClean="0"/>
              <a:t>‹#›</a:t>
            </a:fld>
            <a:endParaRPr lang="en-US" dirty="0"/>
          </a:p>
        </p:txBody>
      </p:sp>
    </p:spTree>
    <p:extLst>
      <p:ext uri="{BB962C8B-B14F-4D97-AF65-F5344CB8AC3E}">
        <p14:creationId xmlns:p14="http://schemas.microsoft.com/office/powerpoint/2010/main" val="19961579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emf"/><Relationship Id="rId3" Type="http://schemas.openxmlformats.org/officeDocument/2006/relationships/image" Target="../media/image2.emf"/></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4" Type="http://schemas.openxmlformats.org/officeDocument/2006/relationships/image" Target="../media/image4.emf"/><Relationship Id="rId5" Type="http://schemas.openxmlformats.org/officeDocument/2006/relationships/image" Target="../media/image5.emf"/><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4" Type="http://schemas.openxmlformats.org/officeDocument/2006/relationships/image" Target="../media/image1.emf"/><Relationship Id="rId5" Type="http://schemas.openxmlformats.org/officeDocument/2006/relationships/image" Target="../media/image8.emf"/><Relationship Id="rId1" Type="http://schemas.openxmlformats.org/officeDocument/2006/relationships/slideLayout" Target="../slideLayouts/slideLayout2.xml"/><Relationship Id="rId2" Type="http://schemas.openxmlformats.org/officeDocument/2006/relationships/image" Target="../media/image6.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emf"/></Relationships>
</file>

<file path=ppt/slides/_rels/slide12.xml.rels><?xml version="1.0" encoding="UTF-8" standalone="yes"?>
<Relationships xmlns="http://schemas.openxmlformats.org/package/2006/relationships"><Relationship Id="rId3" Type="http://schemas.openxmlformats.org/officeDocument/2006/relationships/image" Target="../media/image11.emf"/><Relationship Id="rId4" Type="http://schemas.openxmlformats.org/officeDocument/2006/relationships/image" Target="../media/image12.emf"/><Relationship Id="rId5" Type="http://schemas.openxmlformats.org/officeDocument/2006/relationships/image" Target="../media/image13.emf"/><Relationship Id="rId6" Type="http://schemas.openxmlformats.org/officeDocument/2006/relationships/image" Target="../media/image14.emf"/><Relationship Id="rId1" Type="http://schemas.openxmlformats.org/officeDocument/2006/relationships/slideLayout" Target="../slideLayouts/slideLayout2.xml"/><Relationship Id="rId2" Type="http://schemas.openxmlformats.org/officeDocument/2006/relationships/image" Target="../media/image10.emf"/></Relationships>
</file>

<file path=ppt/slides/_rels/slide13.xml.rels><?xml version="1.0" encoding="UTF-8" standalone="yes"?>
<Relationships xmlns="http://schemas.openxmlformats.org/package/2006/relationships"><Relationship Id="rId3" Type="http://schemas.openxmlformats.org/officeDocument/2006/relationships/image" Target="../media/image11.emf"/><Relationship Id="rId4" Type="http://schemas.openxmlformats.org/officeDocument/2006/relationships/image" Target="../media/image12.emf"/><Relationship Id="rId5" Type="http://schemas.openxmlformats.org/officeDocument/2006/relationships/image" Target="../media/image13.emf"/><Relationship Id="rId6" Type="http://schemas.openxmlformats.org/officeDocument/2006/relationships/image" Target="../media/image14.emf"/><Relationship Id="rId7" Type="http://schemas.openxmlformats.org/officeDocument/2006/relationships/image" Target="../media/image15.jpeg"/><Relationship Id="rId8" Type="http://schemas.openxmlformats.org/officeDocument/2006/relationships/image" Target="../media/image16.emf"/><Relationship Id="rId9" Type="http://schemas.openxmlformats.org/officeDocument/2006/relationships/image" Target="../media/image17.emf"/><Relationship Id="rId10" Type="http://schemas.openxmlformats.org/officeDocument/2006/relationships/image" Target="../media/image18.emf"/><Relationship Id="rId1" Type="http://schemas.openxmlformats.org/officeDocument/2006/relationships/slideLayout" Target="../slideLayouts/slideLayout2.xml"/><Relationship Id="rId2" Type="http://schemas.openxmlformats.org/officeDocument/2006/relationships/image" Target="../media/image10.emf"/></Relationships>
</file>

<file path=ppt/slides/_rels/slide14.xml.rels><?xml version="1.0" encoding="UTF-8" standalone="yes"?>
<Relationships xmlns="http://schemas.openxmlformats.org/package/2006/relationships"><Relationship Id="rId3" Type="http://schemas.openxmlformats.org/officeDocument/2006/relationships/image" Target="../media/image11.emf"/><Relationship Id="rId4" Type="http://schemas.openxmlformats.org/officeDocument/2006/relationships/image" Target="../media/image12.emf"/><Relationship Id="rId5" Type="http://schemas.openxmlformats.org/officeDocument/2006/relationships/image" Target="../media/image13.emf"/><Relationship Id="rId6" Type="http://schemas.openxmlformats.org/officeDocument/2006/relationships/image" Target="../media/image14.emf"/><Relationship Id="rId7" Type="http://schemas.openxmlformats.org/officeDocument/2006/relationships/image" Target="../media/image15.jpeg"/><Relationship Id="rId8" Type="http://schemas.openxmlformats.org/officeDocument/2006/relationships/image" Target="../media/image19.emf"/><Relationship Id="rId1" Type="http://schemas.openxmlformats.org/officeDocument/2006/relationships/slideLayout" Target="../slideLayouts/slideLayout2.xml"/><Relationship Id="rId2" Type="http://schemas.openxmlformats.org/officeDocument/2006/relationships/image" Target="../media/image10.emf"/></Relationships>
</file>

<file path=ppt/slides/_rels/slide15.xml.rels><?xml version="1.0" encoding="UTF-8" standalone="yes"?>
<Relationships xmlns="http://schemas.openxmlformats.org/package/2006/relationships"><Relationship Id="rId3" Type="http://schemas.openxmlformats.org/officeDocument/2006/relationships/image" Target="../media/image11.emf"/><Relationship Id="rId4" Type="http://schemas.openxmlformats.org/officeDocument/2006/relationships/image" Target="../media/image12.emf"/><Relationship Id="rId5" Type="http://schemas.openxmlformats.org/officeDocument/2006/relationships/image" Target="../media/image13.emf"/><Relationship Id="rId6" Type="http://schemas.openxmlformats.org/officeDocument/2006/relationships/image" Target="../media/image14.emf"/><Relationship Id="rId7" Type="http://schemas.openxmlformats.org/officeDocument/2006/relationships/image" Target="../media/image15.jpeg"/><Relationship Id="rId8" Type="http://schemas.openxmlformats.org/officeDocument/2006/relationships/image" Target="../media/image19.emf"/><Relationship Id="rId1" Type="http://schemas.openxmlformats.org/officeDocument/2006/relationships/slideLayout" Target="../slideLayouts/slideLayout2.xml"/><Relationship Id="rId2" Type="http://schemas.openxmlformats.org/officeDocument/2006/relationships/image" Target="../media/image10.emf"/></Relationships>
</file>

<file path=ppt/slides/_rels/slide16.xml.rels><?xml version="1.0" encoding="UTF-8" standalone="yes"?>
<Relationships xmlns="http://schemas.openxmlformats.org/package/2006/relationships"><Relationship Id="rId3" Type="http://schemas.openxmlformats.org/officeDocument/2006/relationships/image" Target="../media/image11.emf"/><Relationship Id="rId4" Type="http://schemas.openxmlformats.org/officeDocument/2006/relationships/image" Target="../media/image12.emf"/><Relationship Id="rId5" Type="http://schemas.openxmlformats.org/officeDocument/2006/relationships/image" Target="../media/image13.emf"/><Relationship Id="rId6" Type="http://schemas.openxmlformats.org/officeDocument/2006/relationships/image" Target="../media/image14.emf"/><Relationship Id="rId7" Type="http://schemas.openxmlformats.org/officeDocument/2006/relationships/image" Target="../media/image15.jpeg"/><Relationship Id="rId8" Type="http://schemas.openxmlformats.org/officeDocument/2006/relationships/image" Target="../media/image19.emf"/><Relationship Id="rId1" Type="http://schemas.openxmlformats.org/officeDocument/2006/relationships/slideLayout" Target="../slideLayouts/slideLayout2.xml"/><Relationship Id="rId2" Type="http://schemas.openxmlformats.org/officeDocument/2006/relationships/image" Target="../media/image10.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20.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20.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20.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20.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0.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21.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21.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20.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0.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emf"/><Relationship Id="rId3" Type="http://schemas.openxmlformats.org/officeDocument/2006/relationships/image" Target="../media/image22.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emf"/><Relationship Id="rId3" Type="http://schemas.openxmlformats.org/officeDocument/2006/relationships/image" Target="../media/image19.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emf"/><Relationship Id="rId3" Type="http://schemas.openxmlformats.org/officeDocument/2006/relationships/image" Target="../media/image24.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emf"/><Relationship Id="rId3" Type="http://schemas.openxmlformats.org/officeDocument/2006/relationships/image" Target="../media/image24.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emf"/><Relationship Id="rId3" Type="http://schemas.openxmlformats.org/officeDocument/2006/relationships/image" Target="../media/image24.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emf"/><Relationship Id="rId3" Type="http://schemas.openxmlformats.org/officeDocument/2006/relationships/image" Target="../media/image25.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emf"/><Relationship Id="rId3" Type="http://schemas.openxmlformats.org/officeDocument/2006/relationships/image" Target="../media/image25.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emf"/><Relationship Id="rId3" Type="http://schemas.openxmlformats.org/officeDocument/2006/relationships/image" Target="../media/image25.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emf"/><Relationship Id="rId3" Type="http://schemas.openxmlformats.org/officeDocument/2006/relationships/image" Target="../media/image26.emf"/></Relationships>
</file>

<file path=ppt/slides/_rels/slide35.xml.rels><?xml version="1.0" encoding="UTF-8" standalone="yes"?>
<Relationships xmlns="http://schemas.openxmlformats.org/package/2006/relationships"><Relationship Id="rId3" Type="http://schemas.openxmlformats.org/officeDocument/2006/relationships/image" Target="../media/image26.emf"/><Relationship Id="rId4" Type="http://schemas.openxmlformats.org/officeDocument/2006/relationships/image" Target="../media/image27.emf"/><Relationship Id="rId1" Type="http://schemas.openxmlformats.org/officeDocument/2006/relationships/slideLayout" Target="../slideLayouts/slideLayout2.xml"/><Relationship Id="rId2" Type="http://schemas.openxmlformats.org/officeDocument/2006/relationships/image" Target="../media/image23.emf"/></Relationships>
</file>

<file path=ppt/slides/_rels/slide36.xml.rels><?xml version="1.0" encoding="UTF-8" standalone="yes"?>
<Relationships xmlns="http://schemas.openxmlformats.org/package/2006/relationships"><Relationship Id="rId3" Type="http://schemas.openxmlformats.org/officeDocument/2006/relationships/image" Target="../media/image26.emf"/><Relationship Id="rId4" Type="http://schemas.openxmlformats.org/officeDocument/2006/relationships/image" Target="../media/image28.emf"/><Relationship Id="rId1" Type="http://schemas.openxmlformats.org/officeDocument/2006/relationships/slideLayout" Target="../slideLayouts/slideLayout2.xml"/><Relationship Id="rId2" Type="http://schemas.openxmlformats.org/officeDocument/2006/relationships/image" Target="../media/image23.emf"/></Relationships>
</file>

<file path=ppt/slides/_rels/slide37.xml.rels><?xml version="1.0" encoding="UTF-8" standalone="yes"?>
<Relationships xmlns="http://schemas.openxmlformats.org/package/2006/relationships"><Relationship Id="rId3" Type="http://schemas.openxmlformats.org/officeDocument/2006/relationships/image" Target="../media/image30.emf"/><Relationship Id="rId4" Type="http://schemas.openxmlformats.org/officeDocument/2006/relationships/image" Target="../media/image28.emf"/><Relationship Id="rId1" Type="http://schemas.openxmlformats.org/officeDocument/2006/relationships/slideLayout" Target="../slideLayouts/slideLayout2.xml"/><Relationship Id="rId2" Type="http://schemas.openxmlformats.org/officeDocument/2006/relationships/image" Target="../media/image29.emf"/></Relationships>
</file>

<file path=ppt/slides/_rels/slide38.xml.rels><?xml version="1.0" encoding="UTF-8" standalone="yes"?>
<Relationships xmlns="http://schemas.openxmlformats.org/package/2006/relationships"><Relationship Id="rId3" Type="http://schemas.openxmlformats.org/officeDocument/2006/relationships/image" Target="../media/image30.emf"/><Relationship Id="rId4" Type="http://schemas.openxmlformats.org/officeDocument/2006/relationships/image" Target="../media/image31.emf"/><Relationship Id="rId5" Type="http://schemas.openxmlformats.org/officeDocument/2006/relationships/image" Target="../media/image28.emf"/><Relationship Id="rId1" Type="http://schemas.openxmlformats.org/officeDocument/2006/relationships/slideLayout" Target="../slideLayouts/slideLayout2.xml"/><Relationship Id="rId2" Type="http://schemas.openxmlformats.org/officeDocument/2006/relationships/image" Target="../media/image29.emf"/></Relationships>
</file>

<file path=ppt/slides/_rels/slide39.xml.rels><?xml version="1.0" encoding="UTF-8" standalone="yes"?>
<Relationships xmlns="http://schemas.openxmlformats.org/package/2006/relationships"><Relationship Id="rId3" Type="http://schemas.openxmlformats.org/officeDocument/2006/relationships/image" Target="../media/image30.emf"/><Relationship Id="rId4" Type="http://schemas.openxmlformats.org/officeDocument/2006/relationships/image" Target="../media/image31.emf"/><Relationship Id="rId5" Type="http://schemas.openxmlformats.org/officeDocument/2006/relationships/image" Target="../media/image28.emf"/><Relationship Id="rId1" Type="http://schemas.openxmlformats.org/officeDocument/2006/relationships/slideLayout" Target="../slideLayouts/slideLayout2.xml"/><Relationship Id="rId2" Type="http://schemas.openxmlformats.org/officeDocument/2006/relationships/image" Target="../media/image29.emf"/></Relationships>
</file>

<file path=ppt/slides/_rels/slide40.xml.rels><?xml version="1.0" encoding="UTF-8" standalone="yes"?>
<Relationships xmlns="http://schemas.openxmlformats.org/package/2006/relationships"><Relationship Id="rId3" Type="http://schemas.openxmlformats.org/officeDocument/2006/relationships/image" Target="../media/image11.emf"/><Relationship Id="rId4" Type="http://schemas.openxmlformats.org/officeDocument/2006/relationships/image" Target="../media/image12.emf"/><Relationship Id="rId5" Type="http://schemas.openxmlformats.org/officeDocument/2006/relationships/image" Target="../media/image13.emf"/><Relationship Id="rId6" Type="http://schemas.openxmlformats.org/officeDocument/2006/relationships/image" Target="../media/image14.emf"/><Relationship Id="rId7" Type="http://schemas.openxmlformats.org/officeDocument/2006/relationships/image" Target="../media/image15.jpeg"/><Relationship Id="rId8" Type="http://schemas.openxmlformats.org/officeDocument/2006/relationships/image" Target="../media/image32.emf"/><Relationship Id="rId1" Type="http://schemas.openxmlformats.org/officeDocument/2006/relationships/slideLayout" Target="../slideLayouts/slideLayout2.xml"/><Relationship Id="rId2" Type="http://schemas.openxmlformats.org/officeDocument/2006/relationships/image" Target="../media/image10.emf"/></Relationships>
</file>

<file path=ppt/slides/_rels/slide41.xml.rels><?xml version="1.0" encoding="UTF-8" standalone="yes"?>
<Relationships xmlns="http://schemas.openxmlformats.org/package/2006/relationships"><Relationship Id="rId3" Type="http://schemas.openxmlformats.org/officeDocument/2006/relationships/image" Target="../media/image11.emf"/><Relationship Id="rId4" Type="http://schemas.openxmlformats.org/officeDocument/2006/relationships/image" Target="../media/image12.emf"/><Relationship Id="rId5" Type="http://schemas.openxmlformats.org/officeDocument/2006/relationships/image" Target="../media/image13.emf"/><Relationship Id="rId6" Type="http://schemas.openxmlformats.org/officeDocument/2006/relationships/image" Target="../media/image14.emf"/><Relationship Id="rId7" Type="http://schemas.openxmlformats.org/officeDocument/2006/relationships/image" Target="../media/image15.jpeg"/><Relationship Id="rId8" Type="http://schemas.openxmlformats.org/officeDocument/2006/relationships/image" Target="../media/image32.emf"/><Relationship Id="rId1" Type="http://schemas.openxmlformats.org/officeDocument/2006/relationships/slideLayout" Target="../slideLayouts/slideLayout2.xml"/><Relationship Id="rId2" Type="http://schemas.openxmlformats.org/officeDocument/2006/relationships/image" Target="../media/image10.emf"/></Relationships>
</file>

<file path=ppt/slides/_rels/slide42.xml.rels><?xml version="1.0" encoding="UTF-8" standalone="yes"?>
<Relationships xmlns="http://schemas.openxmlformats.org/package/2006/relationships"><Relationship Id="rId3" Type="http://schemas.openxmlformats.org/officeDocument/2006/relationships/image" Target="../media/image11.emf"/><Relationship Id="rId4" Type="http://schemas.openxmlformats.org/officeDocument/2006/relationships/image" Target="../media/image12.emf"/><Relationship Id="rId5" Type="http://schemas.openxmlformats.org/officeDocument/2006/relationships/image" Target="../media/image13.emf"/><Relationship Id="rId6" Type="http://schemas.openxmlformats.org/officeDocument/2006/relationships/image" Target="../media/image14.emf"/><Relationship Id="rId7" Type="http://schemas.openxmlformats.org/officeDocument/2006/relationships/image" Target="../media/image15.jpeg"/><Relationship Id="rId8" Type="http://schemas.openxmlformats.org/officeDocument/2006/relationships/image" Target="../media/image32.emf"/><Relationship Id="rId1" Type="http://schemas.openxmlformats.org/officeDocument/2006/relationships/slideLayout" Target="../slideLayouts/slideLayout2.xml"/><Relationship Id="rId2" Type="http://schemas.openxmlformats.org/officeDocument/2006/relationships/image" Target="../media/image10.emf"/></Relationships>
</file>

<file path=ppt/slides/_rels/slide43.xml.rels><?xml version="1.0" encoding="UTF-8" standalone="yes"?>
<Relationships xmlns="http://schemas.openxmlformats.org/package/2006/relationships"><Relationship Id="rId3" Type="http://schemas.openxmlformats.org/officeDocument/2006/relationships/image" Target="../media/image11.emf"/><Relationship Id="rId4" Type="http://schemas.openxmlformats.org/officeDocument/2006/relationships/image" Target="../media/image12.emf"/><Relationship Id="rId5" Type="http://schemas.openxmlformats.org/officeDocument/2006/relationships/image" Target="../media/image13.emf"/><Relationship Id="rId6" Type="http://schemas.openxmlformats.org/officeDocument/2006/relationships/image" Target="../media/image14.emf"/><Relationship Id="rId7" Type="http://schemas.openxmlformats.org/officeDocument/2006/relationships/image" Target="../media/image15.jpeg"/><Relationship Id="rId8" Type="http://schemas.openxmlformats.org/officeDocument/2006/relationships/image" Target="../media/image32.emf"/><Relationship Id="rId1" Type="http://schemas.openxmlformats.org/officeDocument/2006/relationships/slideLayout" Target="../slideLayouts/slideLayout2.xml"/><Relationship Id="rId2" Type="http://schemas.openxmlformats.org/officeDocument/2006/relationships/image" Target="../media/image10.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20.e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20.e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20.e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emf"/><Relationship Id="rId3" Type="http://schemas.openxmlformats.org/officeDocument/2006/relationships/image" Target="../media/image23.e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e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emf"/><Relationship Id="rId3" Type="http://schemas.openxmlformats.org/officeDocument/2006/relationships/image" Target="../media/image34.emf"/></Relationships>
</file>

<file path=ppt/slides/_rels/slide50.xml.rels><?xml version="1.0" encoding="UTF-8" standalone="yes"?>
<Relationships xmlns="http://schemas.openxmlformats.org/package/2006/relationships"><Relationship Id="rId3" Type="http://schemas.openxmlformats.org/officeDocument/2006/relationships/image" Target="../media/image35.emf"/><Relationship Id="rId4" Type="http://schemas.openxmlformats.org/officeDocument/2006/relationships/image" Target="../media/image34.emf"/><Relationship Id="rId1" Type="http://schemas.openxmlformats.org/officeDocument/2006/relationships/slideLayout" Target="../slideLayouts/slideLayout2.xml"/><Relationship Id="rId2" Type="http://schemas.openxmlformats.org/officeDocument/2006/relationships/image" Target="../media/image33.e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e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e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e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jpe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9.png"/></Relationships>
</file>

<file path=ppt/slides/_rels/slide59.xml.rels><?xml version="1.0" encoding="UTF-8" standalone="yes"?>
<Relationships xmlns="http://schemas.openxmlformats.org/package/2006/relationships"><Relationship Id="rId3" Type="http://schemas.openxmlformats.org/officeDocument/2006/relationships/image" Target="../media/image40.emf"/><Relationship Id="rId4" Type="http://schemas.openxmlformats.org/officeDocument/2006/relationships/image" Target="../media/image41.emf"/><Relationship Id="rId5" Type="http://schemas.openxmlformats.org/officeDocument/2006/relationships/image" Target="../media/image42.emf"/><Relationship Id="rId6" Type="http://schemas.openxmlformats.org/officeDocument/2006/relationships/image" Target="../media/image43.emf"/><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2.em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4.e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5.emf"/></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18.xml"/><Relationship Id="rId4" Type="http://schemas.openxmlformats.org/officeDocument/2006/relationships/oleObject" Target="../embeddings/oleObject1.bin"/><Relationship Id="rId5" Type="http://schemas.openxmlformats.org/officeDocument/2006/relationships/image" Target="../media/image46.emf"/><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19.xml"/><Relationship Id="rId4" Type="http://schemas.openxmlformats.org/officeDocument/2006/relationships/oleObject" Target="../embeddings/oleObject2.bin"/><Relationship Id="rId5" Type="http://schemas.openxmlformats.org/officeDocument/2006/relationships/image" Target="../media/image47.emf"/><Relationship Id="rId6" Type="http://schemas.openxmlformats.org/officeDocument/2006/relationships/oleObject" Target="../embeddings/oleObject3.bin"/><Relationship Id="rId7" Type="http://schemas.openxmlformats.org/officeDocument/2006/relationships/image" Target="../media/image48.emf"/><Relationship Id="rId8" Type="http://schemas.openxmlformats.org/officeDocument/2006/relationships/image" Target="../media/image49.jpg"/><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50.emf"/></Relationships>
</file>

<file path=ppt/slides/_rels/slide66.xml.rels><?xml version="1.0" encoding="UTF-8" standalone="yes"?>
<Relationships xmlns="http://schemas.openxmlformats.org/package/2006/relationships"><Relationship Id="rId3" Type="http://schemas.openxmlformats.org/officeDocument/2006/relationships/image" Target="../media/image51.png"/><Relationship Id="rId4" Type="http://schemas.openxmlformats.org/officeDocument/2006/relationships/image" Target="../media/image52.emf"/><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67.xml.rels><?xml version="1.0" encoding="UTF-8" standalone="yes"?>
<Relationships xmlns="http://schemas.openxmlformats.org/package/2006/relationships"><Relationship Id="rId3" Type="http://schemas.openxmlformats.org/officeDocument/2006/relationships/image" Target="../media/image51.png"/><Relationship Id="rId4" Type="http://schemas.openxmlformats.org/officeDocument/2006/relationships/image" Target="../media/image53.emf"/><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90525"/>
            <a:ext cx="7772400" cy="1470025"/>
          </a:xfrm>
        </p:spPr>
        <p:txBody>
          <a:bodyPr/>
          <a:lstStyle/>
          <a:p>
            <a:r>
              <a:rPr lang="en-US" dirty="0"/>
              <a:t>TTIC 31190:</a:t>
            </a:r>
            <a:br>
              <a:rPr lang="en-US" dirty="0"/>
            </a:br>
            <a:r>
              <a:rPr lang="en-US" dirty="0"/>
              <a:t>Natural Language Processing</a:t>
            </a:r>
          </a:p>
        </p:txBody>
      </p:sp>
      <p:sp>
        <p:nvSpPr>
          <p:cNvPr id="3" name="Subtitle 2"/>
          <p:cNvSpPr>
            <a:spLocks noGrp="1"/>
          </p:cNvSpPr>
          <p:nvPr>
            <p:ph type="subTitle" idx="1"/>
          </p:nvPr>
        </p:nvSpPr>
        <p:spPr>
          <a:xfrm>
            <a:off x="1371600" y="1993900"/>
            <a:ext cx="6400800" cy="3403600"/>
          </a:xfrm>
        </p:spPr>
        <p:txBody>
          <a:bodyPr>
            <a:normAutofit fontScale="85000" lnSpcReduction="20000"/>
          </a:bodyPr>
          <a:lstStyle/>
          <a:p>
            <a:r>
              <a:rPr lang="en-US" dirty="0">
                <a:solidFill>
                  <a:schemeClr val="tx1"/>
                </a:solidFill>
              </a:rPr>
              <a:t>Kevin Gimpel</a:t>
            </a:r>
          </a:p>
          <a:p>
            <a:r>
              <a:rPr lang="en-US" dirty="0">
                <a:solidFill>
                  <a:schemeClr val="tx1"/>
                </a:solidFill>
              </a:rPr>
              <a:t>Spring 2018</a:t>
            </a:r>
          </a:p>
          <a:p>
            <a:endParaRPr lang="en-US" dirty="0">
              <a:solidFill>
                <a:schemeClr val="tx1"/>
              </a:solidFill>
            </a:endParaRPr>
          </a:p>
          <a:p>
            <a:endParaRPr lang="en-US" dirty="0">
              <a:solidFill>
                <a:schemeClr val="tx1"/>
              </a:solidFill>
            </a:endParaRPr>
          </a:p>
          <a:p>
            <a:r>
              <a:rPr lang="en-US" sz="4000" dirty="0">
                <a:solidFill>
                  <a:schemeClr val="tx1"/>
                </a:solidFill>
              </a:rPr>
              <a:t>Lecture </a:t>
            </a:r>
            <a:r>
              <a:rPr lang="en-US" sz="4000" dirty="0" smtClean="0">
                <a:solidFill>
                  <a:schemeClr val="tx1"/>
                </a:solidFill>
              </a:rPr>
              <a:t>6: </a:t>
            </a:r>
          </a:p>
          <a:p>
            <a:r>
              <a:rPr lang="en-US" sz="4000" dirty="0" smtClean="0">
                <a:solidFill>
                  <a:schemeClr val="tx1"/>
                </a:solidFill>
              </a:rPr>
              <a:t>Learning for Classification; </a:t>
            </a:r>
          </a:p>
          <a:p>
            <a:r>
              <a:rPr lang="en-US" sz="4000" dirty="0" smtClean="0">
                <a:solidFill>
                  <a:schemeClr val="tx1"/>
                </a:solidFill>
              </a:rPr>
              <a:t>Language Modeling</a:t>
            </a:r>
            <a:endParaRPr lang="en-US" sz="4000" dirty="0">
              <a:solidFill>
                <a:schemeClr val="tx1"/>
              </a:solidFill>
            </a:endParaRPr>
          </a:p>
        </p:txBody>
      </p:sp>
      <p:sp>
        <p:nvSpPr>
          <p:cNvPr id="4" name="Slide Number Placeholder 3"/>
          <p:cNvSpPr>
            <a:spLocks noGrp="1"/>
          </p:cNvSpPr>
          <p:nvPr>
            <p:ph type="sldNum" sz="quarter" idx="12"/>
          </p:nvPr>
        </p:nvSpPr>
        <p:spPr/>
        <p:txBody>
          <a:bodyPr/>
          <a:lstStyle/>
          <a:p>
            <a:fld id="{3CFF3AF9-2D61-8E40-AE3D-8390D801ED2C}" type="slidenum">
              <a:rPr lang="en-US" smtClean="0"/>
              <a:t>1</a:t>
            </a:fld>
            <a:endParaRPr lang="en-US"/>
          </a:p>
        </p:txBody>
      </p:sp>
    </p:spTree>
    <p:extLst>
      <p:ext uri="{BB962C8B-B14F-4D97-AF65-F5344CB8AC3E}">
        <p14:creationId xmlns:p14="http://schemas.microsoft.com/office/powerpoint/2010/main" val="3376820314"/>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normAutofit/>
          </a:bodyPr>
          <a:lstStyle/>
          <a:p>
            <a:r>
              <a:rPr lang="en-US" dirty="0" smtClean="0"/>
              <a:t>assignment 1 due today</a:t>
            </a:r>
          </a:p>
          <a:p>
            <a:r>
              <a:rPr lang="en-US" dirty="0"/>
              <a:t>questions?</a:t>
            </a:r>
          </a:p>
          <a:p>
            <a:r>
              <a:rPr lang="en-US" dirty="0" smtClean="0"/>
              <a:t>if you want to use late day(s), state that on your report</a:t>
            </a:r>
          </a:p>
          <a:p>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2</a:t>
            </a:fld>
            <a:endParaRPr lang="en-US"/>
          </a:p>
        </p:txBody>
      </p:sp>
    </p:spTree>
    <p:extLst>
      <p:ext uri="{BB962C8B-B14F-4D97-AF65-F5344CB8AC3E}">
        <p14:creationId xmlns:p14="http://schemas.microsoft.com/office/powerpoint/2010/main" val="4077606923"/>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normAutofit/>
          </a:bodyPr>
          <a:lstStyle/>
          <a:p>
            <a:r>
              <a:rPr lang="en-US" dirty="0" smtClean="0"/>
              <a:t>assignment 2 will be posted tomorrow</a:t>
            </a:r>
          </a:p>
          <a:p>
            <a:endParaRPr lang="en-US" dirty="0"/>
          </a:p>
          <a:p>
            <a:r>
              <a:rPr lang="en-US" dirty="0" smtClean="0"/>
              <a:t>start thinking about your project, who you might want to work with, etc.</a:t>
            </a:r>
          </a:p>
        </p:txBody>
      </p:sp>
      <p:sp>
        <p:nvSpPr>
          <p:cNvPr id="4" name="Slide Number Placeholder 3"/>
          <p:cNvSpPr>
            <a:spLocks noGrp="1"/>
          </p:cNvSpPr>
          <p:nvPr>
            <p:ph type="sldNum" sz="quarter" idx="12"/>
          </p:nvPr>
        </p:nvSpPr>
        <p:spPr/>
        <p:txBody>
          <a:bodyPr/>
          <a:lstStyle/>
          <a:p>
            <a:fld id="{3CFF3AF9-2D61-8E40-AE3D-8390D801ED2C}" type="slidenum">
              <a:rPr lang="en-US" smtClean="0"/>
              <a:t>3</a:t>
            </a:fld>
            <a:endParaRPr lang="en-US"/>
          </a:p>
        </p:txBody>
      </p:sp>
    </p:spTree>
    <p:extLst>
      <p:ext uri="{BB962C8B-B14F-4D97-AF65-F5344CB8AC3E}">
        <p14:creationId xmlns:p14="http://schemas.microsoft.com/office/powerpoint/2010/main" val="150446177"/>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lstStyle/>
          <a:p>
            <a:r>
              <a:rPr lang="en-US" dirty="0" smtClean="0"/>
              <a:t>short quiz at start of class Wed., April 18</a:t>
            </a:r>
            <a:r>
              <a:rPr lang="en-US" baseline="30000" dirty="0" smtClean="0"/>
              <a:t>th</a:t>
            </a:r>
            <a:endParaRPr lang="en-US" dirty="0" smtClean="0"/>
          </a:p>
          <a:p>
            <a:r>
              <a:rPr lang="en-US" dirty="0" smtClean="0"/>
              <a:t>covering material up to </a:t>
            </a:r>
            <a:r>
              <a:rPr lang="en-US" dirty="0" smtClean="0"/>
              <a:t>and including Mon., April 9</a:t>
            </a:r>
            <a:r>
              <a:rPr lang="en-US" baseline="30000" dirty="0" smtClean="0"/>
              <a:t>th</a:t>
            </a:r>
            <a:endParaRPr lang="en-US" dirty="0" smtClean="0"/>
          </a:p>
          <a:p>
            <a:r>
              <a:rPr lang="en-US" dirty="0" smtClean="0"/>
              <a:t>don’t stress about it</a:t>
            </a:r>
          </a:p>
          <a:p>
            <a:r>
              <a:rPr lang="en-US" dirty="0" smtClean="0"/>
              <a:t>grading will be check-minus/check/check-plus</a:t>
            </a:r>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4</a:t>
            </a:fld>
            <a:endParaRPr lang="en-US"/>
          </a:p>
        </p:txBody>
      </p:sp>
    </p:spTree>
    <p:extLst>
      <p:ext uri="{BB962C8B-B14F-4D97-AF65-F5344CB8AC3E}">
        <p14:creationId xmlns:p14="http://schemas.microsoft.com/office/powerpoint/2010/main" val="379429537"/>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Roadmap</a:t>
            </a:r>
          </a:p>
        </p:txBody>
      </p:sp>
      <p:sp>
        <p:nvSpPr>
          <p:cNvPr id="3" name="Content Placeholder 2"/>
          <p:cNvSpPr>
            <a:spLocks noGrp="1"/>
          </p:cNvSpPr>
          <p:nvPr>
            <p:ph idx="1"/>
          </p:nvPr>
        </p:nvSpPr>
        <p:spPr>
          <a:xfrm>
            <a:off x="457200" y="926661"/>
            <a:ext cx="8229600" cy="5052424"/>
          </a:xfrm>
        </p:spPr>
        <p:txBody>
          <a:bodyPr>
            <a:noAutofit/>
          </a:bodyPr>
          <a:lstStyle/>
          <a:p>
            <a:r>
              <a:rPr lang="en-US" sz="2400" dirty="0"/>
              <a:t>words, morphology, lexical semantics</a:t>
            </a:r>
          </a:p>
          <a:p>
            <a:r>
              <a:rPr lang="en-US" sz="2400" dirty="0">
                <a:solidFill>
                  <a:srgbClr val="288CD2"/>
                </a:solidFill>
              </a:rPr>
              <a:t>text classification</a:t>
            </a:r>
          </a:p>
          <a:p>
            <a:r>
              <a:rPr lang="en-US" sz="2400" dirty="0"/>
              <a:t>simple neural methods for NLP</a:t>
            </a:r>
          </a:p>
          <a:p>
            <a:r>
              <a:rPr lang="en-US" sz="2400" dirty="0"/>
              <a:t>language modeling and word </a:t>
            </a:r>
            <a:r>
              <a:rPr lang="en-US" sz="2400" dirty="0" err="1"/>
              <a:t>embeddings</a:t>
            </a:r>
            <a:endParaRPr lang="en-US" sz="2400" dirty="0"/>
          </a:p>
          <a:p>
            <a:r>
              <a:rPr lang="en-US" sz="2400" dirty="0"/>
              <a:t>recurrent/recursive/convolutional networks in NLP</a:t>
            </a:r>
          </a:p>
          <a:p>
            <a:r>
              <a:rPr lang="en-US" sz="2400" dirty="0"/>
              <a:t>sequence labeling, HMMs, dynamic programming</a:t>
            </a:r>
          </a:p>
          <a:p>
            <a:r>
              <a:rPr lang="en-US" sz="2400" dirty="0"/>
              <a:t>syntax and syntactic parsing</a:t>
            </a:r>
          </a:p>
          <a:p>
            <a:r>
              <a:rPr lang="en-US" sz="2400" dirty="0"/>
              <a:t>semantics, compositionality, semantic parsing</a:t>
            </a:r>
          </a:p>
          <a:p>
            <a:r>
              <a:rPr lang="en-US" sz="2400" dirty="0"/>
              <a:t>machine translation and other NLP tasks</a:t>
            </a:r>
          </a:p>
          <a:p>
            <a:endParaRPr lang="en-US" sz="2400" dirty="0"/>
          </a:p>
        </p:txBody>
      </p:sp>
      <p:sp>
        <p:nvSpPr>
          <p:cNvPr id="4" name="Slide Number Placeholder 3"/>
          <p:cNvSpPr>
            <a:spLocks noGrp="1"/>
          </p:cNvSpPr>
          <p:nvPr>
            <p:ph type="sldNum" sz="quarter" idx="12"/>
          </p:nvPr>
        </p:nvSpPr>
        <p:spPr/>
        <p:txBody>
          <a:bodyPr/>
          <a:lstStyle/>
          <a:p>
            <a:fld id="{3CFF3AF9-2D61-8E40-AE3D-8390D801ED2C}" type="slidenum">
              <a:rPr lang="en-US" smtClean="0"/>
              <a:t>5</a:t>
            </a:fld>
            <a:endParaRPr lang="en-US"/>
          </a:p>
        </p:txBody>
      </p:sp>
    </p:spTree>
    <p:extLst>
      <p:ext uri="{BB962C8B-B14F-4D97-AF65-F5344CB8AC3E}">
        <p14:creationId xmlns:p14="http://schemas.microsoft.com/office/powerpoint/2010/main" val="3621199103"/>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Text Classification</a:t>
            </a:r>
          </a:p>
        </p:txBody>
      </p:sp>
      <p:sp>
        <p:nvSpPr>
          <p:cNvPr id="3" name="Content Placeholder 2"/>
          <p:cNvSpPr>
            <a:spLocks noGrp="1"/>
          </p:cNvSpPr>
          <p:nvPr>
            <p:ph idx="1"/>
          </p:nvPr>
        </p:nvSpPr>
        <p:spPr>
          <a:xfrm>
            <a:off x="457200" y="926661"/>
            <a:ext cx="8229600" cy="5052424"/>
          </a:xfrm>
        </p:spPr>
        <p:txBody>
          <a:bodyPr>
            <a:noAutofit/>
          </a:bodyPr>
          <a:lstStyle/>
          <a:p>
            <a:r>
              <a:rPr lang="en-US" dirty="0"/>
              <a:t>datasets</a:t>
            </a:r>
          </a:p>
          <a:p>
            <a:r>
              <a:rPr lang="en-US" dirty="0">
                <a:solidFill>
                  <a:srgbClr val="288CD2"/>
                </a:solidFill>
              </a:rPr>
              <a:t>classification</a:t>
            </a:r>
          </a:p>
          <a:p>
            <a:pPr lvl="1"/>
            <a:r>
              <a:rPr lang="en-US" dirty="0"/>
              <a:t>modeling</a:t>
            </a:r>
          </a:p>
          <a:p>
            <a:pPr lvl="1"/>
            <a:r>
              <a:rPr lang="en-US" dirty="0"/>
              <a:t>inference</a:t>
            </a:r>
          </a:p>
          <a:p>
            <a:pPr lvl="1"/>
            <a:r>
              <a:rPr lang="en-US" dirty="0"/>
              <a:t>learning</a:t>
            </a:r>
          </a:p>
        </p:txBody>
      </p:sp>
      <p:sp>
        <p:nvSpPr>
          <p:cNvPr id="4" name="Slide Number Placeholder 3"/>
          <p:cNvSpPr>
            <a:spLocks noGrp="1"/>
          </p:cNvSpPr>
          <p:nvPr>
            <p:ph type="sldNum" sz="quarter" idx="12"/>
          </p:nvPr>
        </p:nvSpPr>
        <p:spPr/>
        <p:txBody>
          <a:bodyPr/>
          <a:lstStyle/>
          <a:p>
            <a:fld id="{3CFF3AF9-2D61-8E40-AE3D-8390D801ED2C}" type="slidenum">
              <a:rPr lang="en-US" smtClean="0"/>
              <a:t>6</a:t>
            </a:fld>
            <a:endParaRPr lang="en-US"/>
          </a:p>
        </p:txBody>
      </p:sp>
    </p:spTree>
    <p:extLst>
      <p:ext uri="{BB962C8B-B14F-4D97-AF65-F5344CB8AC3E}">
        <p14:creationId xmlns:p14="http://schemas.microsoft.com/office/powerpoint/2010/main" val="3236699585"/>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Classifier</a:t>
            </a:r>
            <a:r>
              <a:rPr lang="en-US" dirty="0"/>
              <a:t>s</a:t>
            </a:r>
          </a:p>
        </p:txBody>
      </p:sp>
      <p:sp>
        <p:nvSpPr>
          <p:cNvPr id="3" name="Content Placeholder 2"/>
          <p:cNvSpPr>
            <a:spLocks noGrp="1"/>
          </p:cNvSpPr>
          <p:nvPr>
            <p:ph idx="1"/>
          </p:nvPr>
        </p:nvSpPr>
        <p:spPr>
          <a:xfrm>
            <a:off x="355600" y="1073740"/>
            <a:ext cx="8585200" cy="4145960"/>
          </a:xfrm>
        </p:spPr>
        <p:txBody>
          <a:bodyPr>
            <a:normAutofit/>
          </a:bodyPr>
          <a:lstStyle/>
          <a:p>
            <a:r>
              <a:rPr lang="en-US" dirty="0" smtClean="0"/>
              <a:t>one </a:t>
            </a:r>
            <a:r>
              <a:rPr lang="en-US" dirty="0"/>
              <a:t>simple </a:t>
            </a:r>
            <a:r>
              <a:rPr lang="en-US" dirty="0" smtClean="0"/>
              <a:t>type:</a:t>
            </a:r>
            <a:endParaRPr lang="en-US" dirty="0"/>
          </a:p>
          <a:p>
            <a:pPr lvl="1"/>
            <a:r>
              <a:rPr lang="en-US" dirty="0"/>
              <a:t>for any input </a:t>
            </a:r>
            <a:r>
              <a:rPr lang="en-US" b="1" i="1" dirty="0">
                <a:cs typeface="Monotype Corsiva"/>
              </a:rPr>
              <a:t>x</a:t>
            </a:r>
            <a:r>
              <a:rPr lang="en-US" dirty="0"/>
              <a:t>, assign a score to each label </a:t>
            </a:r>
            <a:r>
              <a:rPr lang="en-US" i="1" dirty="0" smtClean="0">
                <a:cs typeface="Century Schoolbook"/>
              </a:rPr>
              <a:t>y</a:t>
            </a:r>
            <a:endParaRPr lang="en-US" dirty="0">
              <a:cs typeface="Century Schoolbook"/>
            </a:endParaRPr>
          </a:p>
          <a:p>
            <a:pPr marL="457200" lvl="1" indent="0">
              <a:buNone/>
            </a:pPr>
            <a:endParaRPr lang="en-US" dirty="0"/>
          </a:p>
          <a:p>
            <a:pPr marL="457200" lvl="1" indent="0">
              <a:buNone/>
            </a:pPr>
            <a:endParaRPr lang="en-US" dirty="0"/>
          </a:p>
          <a:p>
            <a:pPr lvl="1"/>
            <a:r>
              <a:rPr lang="en-US" dirty="0"/>
              <a:t>classify by choosing highest-scoring label:</a:t>
            </a:r>
          </a:p>
        </p:txBody>
      </p:sp>
      <p:sp>
        <p:nvSpPr>
          <p:cNvPr id="8" name="Slide Number Placeholder 7"/>
          <p:cNvSpPr>
            <a:spLocks noGrp="1"/>
          </p:cNvSpPr>
          <p:nvPr>
            <p:ph type="sldNum" sz="quarter" idx="12"/>
          </p:nvPr>
        </p:nvSpPr>
        <p:spPr/>
        <p:txBody>
          <a:bodyPr/>
          <a:lstStyle/>
          <a:p>
            <a:fld id="{3CFF3AF9-2D61-8E40-AE3D-8390D801ED2C}" type="slidenum">
              <a:rPr lang="en-US" smtClean="0"/>
              <a:t>7</a:t>
            </a:fld>
            <a:endParaRPr lang="en-US"/>
          </a:p>
        </p:txBody>
      </p:sp>
      <p:pic>
        <p:nvPicPr>
          <p:cNvPr id="10" name="Picture 9">
            <a:extLst>
              <a:ext uri="{FF2B5EF4-FFF2-40B4-BE49-F238E27FC236}">
                <a16:creationId xmlns="" xmlns:a16="http://schemas.microsoft.com/office/drawing/2014/main" id="{56C8D43C-5181-4744-A185-274A9C167B58}"/>
              </a:ext>
            </a:extLst>
          </p:cNvPr>
          <p:cNvPicPr>
            <a:picLocks noChangeAspect="1"/>
          </p:cNvPicPr>
          <p:nvPr/>
        </p:nvPicPr>
        <p:blipFill>
          <a:blip r:embed="rId2"/>
          <a:stretch>
            <a:fillRect/>
          </a:stretch>
        </p:blipFill>
        <p:spPr>
          <a:xfrm>
            <a:off x="966818" y="4060054"/>
            <a:ext cx="6903590" cy="698882"/>
          </a:xfrm>
          <a:prstGeom prst="rect">
            <a:avLst/>
          </a:prstGeom>
        </p:spPr>
      </p:pic>
      <p:pic>
        <p:nvPicPr>
          <p:cNvPr id="4" name="Picture 3">
            <a:extLst>
              <a:ext uri="{FF2B5EF4-FFF2-40B4-BE49-F238E27FC236}">
                <a16:creationId xmlns="" xmlns:a16="http://schemas.microsoft.com/office/drawing/2014/main" id="{45D46CF7-F27B-3F40-BF46-860208812D41}"/>
              </a:ext>
            </a:extLst>
          </p:cNvPr>
          <p:cNvPicPr>
            <a:picLocks noChangeAspect="1"/>
          </p:cNvPicPr>
          <p:nvPr/>
        </p:nvPicPr>
        <p:blipFill>
          <a:blip r:embed="rId3"/>
          <a:stretch>
            <a:fillRect/>
          </a:stretch>
        </p:blipFill>
        <p:spPr>
          <a:xfrm>
            <a:off x="3041857" y="2533443"/>
            <a:ext cx="2558796" cy="445008"/>
          </a:xfrm>
          <a:prstGeom prst="rect">
            <a:avLst/>
          </a:prstGeom>
        </p:spPr>
      </p:pic>
    </p:spTree>
    <p:extLst>
      <p:ext uri="{BB962C8B-B14F-4D97-AF65-F5344CB8AC3E}">
        <p14:creationId xmlns:p14="http://schemas.microsoft.com/office/powerpoint/2010/main" val="3390329912"/>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Linear Models</a:t>
            </a:r>
          </a:p>
        </p:txBody>
      </p:sp>
      <p:sp>
        <p:nvSpPr>
          <p:cNvPr id="3" name="Content Placeholder 2"/>
          <p:cNvSpPr>
            <a:spLocks noGrp="1"/>
          </p:cNvSpPr>
          <p:nvPr>
            <p:ph idx="1"/>
          </p:nvPr>
        </p:nvSpPr>
        <p:spPr/>
        <p:txBody>
          <a:bodyPr>
            <a:normAutofit/>
          </a:bodyPr>
          <a:lstStyle/>
          <a:p>
            <a:r>
              <a:rPr lang="en-US" dirty="0"/>
              <a:t>parameters are arranged in a vector</a:t>
            </a:r>
          </a:p>
          <a:p>
            <a:r>
              <a:rPr lang="en-US" dirty="0"/>
              <a:t>score function is linear in      :</a:t>
            </a:r>
          </a:p>
          <a:p>
            <a:endParaRPr lang="en-US" dirty="0"/>
          </a:p>
          <a:p>
            <a:endParaRPr lang="en-US" dirty="0"/>
          </a:p>
          <a:p>
            <a:r>
              <a:rPr lang="en-US" b="1" i="1" dirty="0"/>
              <a:t>   </a:t>
            </a:r>
            <a:r>
              <a:rPr lang="en-US" dirty="0"/>
              <a:t>: vector of feature functions</a:t>
            </a:r>
          </a:p>
        </p:txBody>
      </p:sp>
      <p:sp>
        <p:nvSpPr>
          <p:cNvPr id="7" name="Slide Number Placeholder 6"/>
          <p:cNvSpPr>
            <a:spLocks noGrp="1"/>
          </p:cNvSpPr>
          <p:nvPr>
            <p:ph type="sldNum" sz="quarter" idx="12"/>
          </p:nvPr>
        </p:nvSpPr>
        <p:spPr/>
        <p:txBody>
          <a:bodyPr/>
          <a:lstStyle/>
          <a:p>
            <a:fld id="{3CFF3AF9-2D61-8E40-AE3D-8390D801ED2C}" type="slidenum">
              <a:rPr lang="en-US" smtClean="0"/>
              <a:t>8</a:t>
            </a:fld>
            <a:endParaRPr lang="en-US"/>
          </a:p>
        </p:txBody>
      </p:sp>
      <p:pic>
        <p:nvPicPr>
          <p:cNvPr id="9" name="Picture 8">
            <a:extLst>
              <a:ext uri="{FF2B5EF4-FFF2-40B4-BE49-F238E27FC236}">
                <a16:creationId xmlns="" xmlns:a16="http://schemas.microsoft.com/office/drawing/2014/main" id="{CE860707-DDDD-1442-86DA-7113C2F6096E}"/>
              </a:ext>
            </a:extLst>
          </p:cNvPr>
          <p:cNvPicPr>
            <a:picLocks noChangeAspect="1"/>
          </p:cNvPicPr>
          <p:nvPr/>
        </p:nvPicPr>
        <p:blipFill>
          <a:blip r:embed="rId3"/>
          <a:stretch>
            <a:fillRect/>
          </a:stretch>
        </p:blipFill>
        <p:spPr>
          <a:xfrm>
            <a:off x="1765300" y="2536845"/>
            <a:ext cx="5763320" cy="676900"/>
          </a:xfrm>
          <a:prstGeom prst="rect">
            <a:avLst/>
          </a:prstGeom>
        </p:spPr>
      </p:pic>
      <p:pic>
        <p:nvPicPr>
          <p:cNvPr id="10" name="Picture 9">
            <a:extLst>
              <a:ext uri="{FF2B5EF4-FFF2-40B4-BE49-F238E27FC236}">
                <a16:creationId xmlns="" xmlns:a16="http://schemas.microsoft.com/office/drawing/2014/main" id="{4CD838FB-0AC4-D148-BC2C-D3ACB82C6F0F}"/>
              </a:ext>
            </a:extLst>
          </p:cNvPr>
          <p:cNvPicPr>
            <a:picLocks noChangeAspect="1"/>
          </p:cNvPicPr>
          <p:nvPr/>
        </p:nvPicPr>
        <p:blipFill>
          <a:blip r:embed="rId4"/>
          <a:stretch>
            <a:fillRect/>
          </a:stretch>
        </p:blipFill>
        <p:spPr>
          <a:xfrm>
            <a:off x="6900672" y="1327404"/>
            <a:ext cx="341376" cy="199136"/>
          </a:xfrm>
          <a:prstGeom prst="rect">
            <a:avLst/>
          </a:prstGeom>
        </p:spPr>
      </p:pic>
      <p:pic>
        <p:nvPicPr>
          <p:cNvPr id="12" name="Picture 11">
            <a:extLst>
              <a:ext uri="{FF2B5EF4-FFF2-40B4-BE49-F238E27FC236}">
                <a16:creationId xmlns="" xmlns:a16="http://schemas.microsoft.com/office/drawing/2014/main" id="{754DB0B6-41DC-8E4B-86AE-2BA0FA6B2556}"/>
              </a:ext>
            </a:extLst>
          </p:cNvPr>
          <p:cNvPicPr>
            <a:picLocks noChangeAspect="1"/>
          </p:cNvPicPr>
          <p:nvPr/>
        </p:nvPicPr>
        <p:blipFill>
          <a:blip r:embed="rId5"/>
          <a:stretch>
            <a:fillRect/>
          </a:stretch>
        </p:blipFill>
        <p:spPr>
          <a:xfrm>
            <a:off x="902970" y="3552444"/>
            <a:ext cx="175260" cy="321310"/>
          </a:xfrm>
          <a:prstGeom prst="rect">
            <a:avLst/>
          </a:prstGeom>
        </p:spPr>
      </p:pic>
      <p:pic>
        <p:nvPicPr>
          <p:cNvPr id="13" name="Picture 12">
            <a:extLst>
              <a:ext uri="{FF2B5EF4-FFF2-40B4-BE49-F238E27FC236}">
                <a16:creationId xmlns="" xmlns:a16="http://schemas.microsoft.com/office/drawing/2014/main" id="{71055FF3-1DC1-DF40-922D-BB61B42DB6BB}"/>
              </a:ext>
            </a:extLst>
          </p:cNvPr>
          <p:cNvPicPr>
            <a:picLocks noChangeAspect="1"/>
          </p:cNvPicPr>
          <p:nvPr/>
        </p:nvPicPr>
        <p:blipFill>
          <a:blip r:embed="rId4"/>
          <a:stretch>
            <a:fillRect/>
          </a:stretch>
        </p:blipFill>
        <p:spPr>
          <a:xfrm>
            <a:off x="5169408" y="1916664"/>
            <a:ext cx="341376" cy="199136"/>
          </a:xfrm>
          <a:prstGeom prst="rect">
            <a:avLst/>
          </a:prstGeom>
        </p:spPr>
      </p:pic>
    </p:spTree>
    <p:extLst>
      <p:ext uri="{BB962C8B-B14F-4D97-AF65-F5344CB8AC3E}">
        <p14:creationId xmlns:p14="http://schemas.microsoft.com/office/powerpoint/2010/main" val="1504516047"/>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Modeling, Inference, Learning</a:t>
            </a:r>
          </a:p>
        </p:txBody>
      </p:sp>
      <p:sp>
        <p:nvSpPr>
          <p:cNvPr id="3" name="Content Placeholder 2"/>
          <p:cNvSpPr>
            <a:spLocks noGrp="1"/>
          </p:cNvSpPr>
          <p:nvPr>
            <p:ph idx="1"/>
          </p:nvPr>
        </p:nvSpPr>
        <p:spPr>
          <a:xfrm>
            <a:off x="457200" y="3781344"/>
            <a:ext cx="8229600" cy="1938419"/>
          </a:xfrm>
        </p:spPr>
        <p:txBody>
          <a:bodyPr>
            <a:normAutofit/>
          </a:bodyPr>
          <a:lstStyle/>
          <a:p>
            <a:r>
              <a:rPr lang="en-US" b="1" dirty="0">
                <a:solidFill>
                  <a:srgbClr val="FF0000"/>
                </a:solidFill>
              </a:rPr>
              <a:t>Learning</a:t>
            </a:r>
            <a:r>
              <a:rPr lang="en-US" dirty="0"/>
              <a:t>: How do we choose the weights </a:t>
            </a:r>
            <a:r>
              <a:rPr lang="en-US" b="1" i="1" dirty="0"/>
              <a:t>w</a:t>
            </a:r>
            <a:r>
              <a:rPr lang="en-US" dirty="0"/>
              <a:t>?</a:t>
            </a:r>
          </a:p>
          <a:p>
            <a:endParaRPr lang="en-US" dirty="0"/>
          </a:p>
        </p:txBody>
      </p:sp>
      <p:cxnSp>
        <p:nvCxnSpPr>
          <p:cNvPr id="16" name="Straight Arrow Connector 15"/>
          <p:cNvCxnSpPr/>
          <p:nvPr/>
        </p:nvCxnSpPr>
        <p:spPr bwMode="auto">
          <a:xfrm flipH="1">
            <a:off x="5151076" y="1253197"/>
            <a:ext cx="304800" cy="914400"/>
          </a:xfrm>
          <a:prstGeom prst="straightConnector1">
            <a:avLst/>
          </a:prstGeom>
          <a:solidFill>
            <a:schemeClr val="accent1"/>
          </a:solidFill>
          <a:ln w="44450" cap="rnd" cmpd="sng" algn="ctr">
            <a:solidFill>
              <a:srgbClr val="288CD2"/>
            </a:solidFill>
            <a:prstDash val="solid"/>
            <a:round/>
            <a:headEnd type="none" w="med" len="me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TextBox 16"/>
          <p:cNvSpPr txBox="1"/>
          <p:nvPr/>
        </p:nvSpPr>
        <p:spPr>
          <a:xfrm>
            <a:off x="4562946" y="1214933"/>
            <a:ext cx="4252336" cy="461665"/>
          </a:xfrm>
          <a:prstGeom prst="rect">
            <a:avLst/>
          </a:prstGeom>
          <a:solidFill>
            <a:schemeClr val="bg1"/>
          </a:solidFill>
          <a:ln w="57150">
            <a:solidFill>
              <a:srgbClr val="288CD2"/>
            </a:solidFill>
          </a:ln>
          <a:effectLst>
            <a:softEdge rad="50800"/>
          </a:effectLst>
        </p:spPr>
        <p:txBody>
          <a:bodyPr wrap="none" rtlCol="0">
            <a:spAutoFit/>
          </a:bodyPr>
          <a:lstStyle/>
          <a:p>
            <a:r>
              <a:rPr lang="en-US" sz="2400" b="1" i="0" dirty="0">
                <a:solidFill>
                  <a:srgbClr val="288CD2"/>
                </a:solidFill>
                <a:latin typeface="Calibri"/>
                <a:cs typeface="Calibri"/>
              </a:rPr>
              <a:t>modeling</a:t>
            </a:r>
            <a:r>
              <a:rPr lang="en-US" sz="2400" i="0" dirty="0">
                <a:solidFill>
                  <a:srgbClr val="288CD2"/>
                </a:solidFill>
                <a:latin typeface="Calibri"/>
                <a:cs typeface="Calibri"/>
              </a:rPr>
              <a:t>: define  </a:t>
            </a:r>
            <a:r>
              <a:rPr lang="en-US" sz="2400" i="0" dirty="0">
                <a:solidFill>
                  <a:srgbClr val="FFFFFF"/>
                </a:solidFill>
                <a:latin typeface="Calibri"/>
                <a:cs typeface="Calibri"/>
              </a:rPr>
              <a:t>score </a:t>
            </a:r>
            <a:r>
              <a:rPr lang="en-US" sz="2400" i="0" dirty="0">
                <a:solidFill>
                  <a:srgbClr val="288CD2"/>
                </a:solidFill>
                <a:latin typeface="Calibri"/>
                <a:cs typeface="Calibri"/>
              </a:rPr>
              <a:t>function</a:t>
            </a:r>
          </a:p>
        </p:txBody>
      </p:sp>
      <p:pic>
        <p:nvPicPr>
          <p:cNvPr id="18" name="Picture 17"/>
          <p:cNvPicPr>
            <a:picLocks noChangeAspect="1"/>
          </p:cNvPicPr>
          <p:nvPr/>
        </p:nvPicPr>
        <p:blipFill>
          <a:blip r:embed="rId2"/>
          <a:stretch>
            <a:fillRect/>
          </a:stretch>
        </p:blipFill>
        <p:spPr>
          <a:xfrm>
            <a:off x="6883383" y="1422405"/>
            <a:ext cx="647700" cy="152400"/>
          </a:xfrm>
          <a:prstGeom prst="rect">
            <a:avLst/>
          </a:prstGeom>
        </p:spPr>
      </p:pic>
      <p:cxnSp>
        <p:nvCxnSpPr>
          <p:cNvPr id="21" name="Straight Arrow Connector 20"/>
          <p:cNvCxnSpPr/>
          <p:nvPr/>
        </p:nvCxnSpPr>
        <p:spPr bwMode="auto">
          <a:xfrm>
            <a:off x="3699925" y="1676598"/>
            <a:ext cx="338667" cy="490999"/>
          </a:xfrm>
          <a:prstGeom prst="straightConnector1">
            <a:avLst/>
          </a:prstGeom>
          <a:solidFill>
            <a:schemeClr val="accent1"/>
          </a:solidFill>
          <a:ln w="44450" cap="rnd" cmpd="sng" algn="ctr">
            <a:solidFill>
              <a:srgbClr val="008000"/>
            </a:solidFill>
            <a:prstDash val="solid"/>
            <a:round/>
            <a:headEnd type="none" w="med" len="me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TextBox 21"/>
          <p:cNvSpPr txBox="1"/>
          <p:nvPr/>
        </p:nvSpPr>
        <p:spPr>
          <a:xfrm>
            <a:off x="1045609" y="1214933"/>
            <a:ext cx="3315782" cy="461665"/>
          </a:xfrm>
          <a:prstGeom prst="rect">
            <a:avLst/>
          </a:prstGeom>
          <a:solidFill>
            <a:schemeClr val="bg1"/>
          </a:solidFill>
          <a:ln w="57150">
            <a:solidFill>
              <a:srgbClr val="008000"/>
            </a:solidFill>
          </a:ln>
          <a:effectLst>
            <a:softEdge rad="50800"/>
          </a:effectLst>
        </p:spPr>
        <p:txBody>
          <a:bodyPr wrap="none" rtlCol="0">
            <a:spAutoFit/>
          </a:bodyPr>
          <a:lstStyle/>
          <a:p>
            <a:r>
              <a:rPr lang="en-US" sz="2400" b="1" dirty="0">
                <a:solidFill>
                  <a:srgbClr val="008000"/>
                </a:solidFill>
                <a:latin typeface="Calibri"/>
                <a:cs typeface="Calibri"/>
              </a:rPr>
              <a:t>inference</a:t>
            </a:r>
            <a:r>
              <a:rPr lang="en-US" sz="2400" i="0" dirty="0">
                <a:solidFill>
                  <a:srgbClr val="008000"/>
                </a:solidFill>
                <a:latin typeface="Calibri"/>
                <a:cs typeface="Calibri"/>
              </a:rPr>
              <a:t>: solve              </a:t>
            </a:r>
            <a:r>
              <a:rPr lang="en-US" sz="2400" i="0" dirty="0">
                <a:solidFill>
                  <a:schemeClr val="bg1"/>
                </a:solidFill>
                <a:latin typeface="Calibri"/>
                <a:cs typeface="Calibri"/>
              </a:rPr>
              <a:t>_</a:t>
            </a:r>
            <a:r>
              <a:rPr lang="en-US" sz="2400" i="0" dirty="0">
                <a:solidFill>
                  <a:srgbClr val="008000"/>
                </a:solidFill>
                <a:latin typeface="Calibri"/>
                <a:cs typeface="Calibri"/>
              </a:rPr>
              <a:t> </a:t>
            </a:r>
          </a:p>
        </p:txBody>
      </p:sp>
      <p:pic>
        <p:nvPicPr>
          <p:cNvPr id="23" name="Picture 22"/>
          <p:cNvPicPr>
            <a:picLocks noChangeAspect="1"/>
          </p:cNvPicPr>
          <p:nvPr/>
        </p:nvPicPr>
        <p:blipFill>
          <a:blip r:embed="rId3"/>
          <a:stretch>
            <a:fillRect/>
          </a:stretch>
        </p:blipFill>
        <p:spPr>
          <a:xfrm>
            <a:off x="3204625" y="1414131"/>
            <a:ext cx="990600" cy="215900"/>
          </a:xfrm>
          <a:prstGeom prst="rect">
            <a:avLst/>
          </a:prstGeom>
        </p:spPr>
      </p:pic>
      <p:sp>
        <p:nvSpPr>
          <p:cNvPr id="4" name="Slide Number Placeholder 3"/>
          <p:cNvSpPr>
            <a:spLocks noGrp="1"/>
          </p:cNvSpPr>
          <p:nvPr>
            <p:ph type="sldNum" sz="quarter" idx="12"/>
          </p:nvPr>
        </p:nvSpPr>
        <p:spPr/>
        <p:txBody>
          <a:bodyPr/>
          <a:lstStyle/>
          <a:p>
            <a:fld id="{3CFF3AF9-2D61-8E40-AE3D-8390D801ED2C}" type="slidenum">
              <a:rPr lang="en-US" smtClean="0"/>
              <a:t>9</a:t>
            </a:fld>
            <a:endParaRPr lang="en-US"/>
          </a:p>
        </p:txBody>
      </p:sp>
      <p:pic>
        <p:nvPicPr>
          <p:cNvPr id="24" name="Picture 23">
            <a:extLst>
              <a:ext uri="{FF2B5EF4-FFF2-40B4-BE49-F238E27FC236}">
                <a16:creationId xmlns="" xmlns:a16="http://schemas.microsoft.com/office/drawing/2014/main" id="{3A7C2899-69A8-4241-AC9E-0C5A9ACB9D6E}"/>
              </a:ext>
            </a:extLst>
          </p:cNvPr>
          <p:cNvPicPr>
            <a:picLocks noChangeAspect="1"/>
          </p:cNvPicPr>
          <p:nvPr/>
        </p:nvPicPr>
        <p:blipFill>
          <a:blip r:embed="rId4"/>
          <a:stretch>
            <a:fillRect/>
          </a:stretch>
        </p:blipFill>
        <p:spPr>
          <a:xfrm>
            <a:off x="1305146" y="2187112"/>
            <a:ext cx="5143500" cy="520700"/>
          </a:xfrm>
          <a:prstGeom prst="rect">
            <a:avLst/>
          </a:prstGeom>
        </p:spPr>
      </p:pic>
      <p:cxnSp>
        <p:nvCxnSpPr>
          <p:cNvPr id="25" name="Straight Arrow Connector 24">
            <a:extLst>
              <a:ext uri="{FF2B5EF4-FFF2-40B4-BE49-F238E27FC236}">
                <a16:creationId xmlns="" xmlns:a16="http://schemas.microsoft.com/office/drawing/2014/main" id="{98270859-B3C3-664D-9748-3C7C4A1CFACE}"/>
              </a:ext>
            </a:extLst>
          </p:cNvPr>
          <p:cNvCxnSpPr/>
          <p:nvPr/>
        </p:nvCxnSpPr>
        <p:spPr bwMode="auto">
          <a:xfrm flipV="1">
            <a:off x="5907224" y="2527564"/>
            <a:ext cx="283613" cy="659972"/>
          </a:xfrm>
          <a:prstGeom prst="straightConnector1">
            <a:avLst/>
          </a:prstGeom>
          <a:solidFill>
            <a:schemeClr val="accent1"/>
          </a:solidFill>
          <a:ln w="44450" cap="rnd" cmpd="sng" algn="ctr">
            <a:solidFill>
              <a:srgbClr val="FF0000"/>
            </a:solidFill>
            <a:prstDash val="solid"/>
            <a:round/>
            <a:headEnd type="none" w="med" len="me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TextBox 25">
            <a:extLst>
              <a:ext uri="{FF2B5EF4-FFF2-40B4-BE49-F238E27FC236}">
                <a16:creationId xmlns="" xmlns:a16="http://schemas.microsoft.com/office/drawing/2014/main" id="{4532883D-CC44-794C-BC83-08DFFAAB3019}"/>
              </a:ext>
            </a:extLst>
          </p:cNvPr>
          <p:cNvSpPr txBox="1"/>
          <p:nvPr/>
        </p:nvSpPr>
        <p:spPr>
          <a:xfrm>
            <a:off x="5366668" y="3056704"/>
            <a:ext cx="2560316" cy="461665"/>
          </a:xfrm>
          <a:prstGeom prst="rect">
            <a:avLst/>
          </a:prstGeom>
          <a:solidFill>
            <a:schemeClr val="bg1"/>
          </a:solidFill>
          <a:ln w="57150">
            <a:solidFill>
              <a:srgbClr val="FF0000"/>
            </a:solidFill>
          </a:ln>
          <a:effectLst>
            <a:softEdge rad="50800"/>
          </a:effectLst>
        </p:spPr>
        <p:txBody>
          <a:bodyPr wrap="none" rtlCol="0">
            <a:spAutoFit/>
          </a:bodyPr>
          <a:lstStyle/>
          <a:p>
            <a:r>
              <a:rPr lang="en-US" sz="2400" b="1" dirty="0">
                <a:solidFill>
                  <a:srgbClr val="FF0000"/>
                </a:solidFill>
                <a:latin typeface="Calibri"/>
                <a:cs typeface="Calibri"/>
              </a:rPr>
              <a:t>l</a:t>
            </a:r>
            <a:r>
              <a:rPr lang="en-US" sz="2400" b="1" i="0" dirty="0">
                <a:solidFill>
                  <a:srgbClr val="FF0000"/>
                </a:solidFill>
                <a:latin typeface="Calibri"/>
                <a:cs typeface="Calibri"/>
              </a:rPr>
              <a:t>earning</a:t>
            </a:r>
            <a:r>
              <a:rPr lang="en-US" sz="2400" i="0" dirty="0">
                <a:solidFill>
                  <a:srgbClr val="FF0000"/>
                </a:solidFill>
                <a:latin typeface="Calibri"/>
                <a:cs typeface="Calibri"/>
              </a:rPr>
              <a:t>: choose  </a:t>
            </a:r>
            <a:r>
              <a:rPr lang="en-US" sz="2400" i="0" dirty="0">
                <a:solidFill>
                  <a:schemeClr val="bg1"/>
                </a:solidFill>
                <a:latin typeface="Calibri"/>
                <a:cs typeface="Calibri"/>
              </a:rPr>
              <a:t>_</a:t>
            </a:r>
            <a:endParaRPr lang="en-US" sz="2400" i="0" dirty="0">
              <a:solidFill>
                <a:srgbClr val="FF0000"/>
              </a:solidFill>
              <a:latin typeface="Calibri"/>
              <a:cs typeface="Calibri"/>
            </a:endParaRPr>
          </a:p>
        </p:txBody>
      </p:sp>
      <p:pic>
        <p:nvPicPr>
          <p:cNvPr id="27" name="Picture 26">
            <a:extLst>
              <a:ext uri="{FF2B5EF4-FFF2-40B4-BE49-F238E27FC236}">
                <a16:creationId xmlns="" xmlns:a16="http://schemas.microsoft.com/office/drawing/2014/main" id="{11140D70-99E4-C945-833A-2E618C2FFC38}"/>
              </a:ext>
            </a:extLst>
          </p:cNvPr>
          <p:cNvPicPr>
            <a:picLocks noChangeAspect="1"/>
          </p:cNvPicPr>
          <p:nvPr/>
        </p:nvPicPr>
        <p:blipFill>
          <a:blip r:embed="rId5"/>
          <a:stretch>
            <a:fillRect/>
          </a:stretch>
        </p:blipFill>
        <p:spPr>
          <a:xfrm>
            <a:off x="7574280" y="3253501"/>
            <a:ext cx="228600" cy="139700"/>
          </a:xfrm>
          <a:prstGeom prst="rect">
            <a:avLst/>
          </a:prstGeom>
        </p:spPr>
      </p:pic>
    </p:spTree>
    <p:extLst>
      <p:ext uri="{BB962C8B-B14F-4D97-AF65-F5344CB8AC3E}">
        <p14:creationId xmlns:p14="http://schemas.microsoft.com/office/powerpoint/2010/main" val="2671225209"/>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FF3AF9-2D61-8E40-AE3D-8390D801ED2C}" type="slidenum">
              <a:rPr lang="en-US" smtClean="0"/>
              <a:t>10</a:t>
            </a:fld>
            <a:endParaRPr lang="en-US" dirty="0"/>
          </a:p>
        </p:txBody>
      </p:sp>
      <p:sp>
        <p:nvSpPr>
          <p:cNvPr id="11" name="Title 1"/>
          <p:cNvSpPr>
            <a:spLocks noGrp="1"/>
          </p:cNvSpPr>
          <p:nvPr>
            <p:ph type="title"/>
          </p:nvPr>
        </p:nvSpPr>
        <p:spPr>
          <a:xfrm>
            <a:off x="457200" y="260298"/>
            <a:ext cx="8229600" cy="726831"/>
          </a:xfrm>
        </p:spPr>
        <p:txBody>
          <a:bodyPr>
            <a:normAutofit/>
          </a:bodyPr>
          <a:lstStyle/>
          <a:p>
            <a:r>
              <a:rPr lang="en-US" sz="3600" dirty="0" smtClean="0"/>
              <a:t>Regularized </a:t>
            </a:r>
            <a:r>
              <a:rPr lang="en-US" sz="3600" dirty="0" smtClean="0">
                <a:solidFill>
                  <a:srgbClr val="000000"/>
                </a:solidFill>
              </a:rPr>
              <a:t>Empirical </a:t>
            </a:r>
            <a:r>
              <a:rPr lang="en-US" sz="3600" dirty="0" smtClean="0"/>
              <a:t>Risk Minimization</a:t>
            </a:r>
            <a:endParaRPr lang="en-US" sz="3600" dirty="0"/>
          </a:p>
        </p:txBody>
      </p:sp>
      <p:pic>
        <p:nvPicPr>
          <p:cNvPr id="3" name="Picture 2"/>
          <p:cNvPicPr>
            <a:picLocks noChangeAspect="1"/>
          </p:cNvPicPr>
          <p:nvPr/>
        </p:nvPicPr>
        <p:blipFill>
          <a:blip r:embed="rId2"/>
          <a:stretch>
            <a:fillRect/>
          </a:stretch>
        </p:blipFill>
        <p:spPr>
          <a:xfrm>
            <a:off x="1514261" y="2564490"/>
            <a:ext cx="5715000" cy="939800"/>
          </a:xfrm>
          <a:prstGeom prst="rect">
            <a:avLst/>
          </a:prstGeom>
        </p:spPr>
      </p:pic>
      <p:sp>
        <p:nvSpPr>
          <p:cNvPr id="10" name="TextBox 9"/>
          <p:cNvSpPr txBox="1"/>
          <p:nvPr/>
        </p:nvSpPr>
        <p:spPr>
          <a:xfrm>
            <a:off x="5780782" y="3495116"/>
            <a:ext cx="2235199" cy="830997"/>
          </a:xfrm>
          <a:prstGeom prst="rect">
            <a:avLst/>
          </a:prstGeom>
          <a:noFill/>
        </p:spPr>
        <p:txBody>
          <a:bodyPr wrap="square" rtlCol="0">
            <a:spAutoFit/>
          </a:bodyPr>
          <a:lstStyle/>
          <a:p>
            <a:pPr algn="ctr"/>
            <a:r>
              <a:rPr lang="en-US" sz="2400" b="1" dirty="0" smtClean="0">
                <a:solidFill>
                  <a:srgbClr val="288CD2"/>
                </a:solidFill>
              </a:rPr>
              <a:t>regularization term</a:t>
            </a:r>
          </a:p>
        </p:txBody>
      </p:sp>
      <p:sp>
        <p:nvSpPr>
          <p:cNvPr id="12" name="Left Brace 11"/>
          <p:cNvSpPr/>
          <p:nvPr/>
        </p:nvSpPr>
        <p:spPr>
          <a:xfrm rot="16200000">
            <a:off x="6737973" y="2959938"/>
            <a:ext cx="292921" cy="735581"/>
          </a:xfrm>
          <a:prstGeom prst="leftBrace">
            <a:avLst>
              <a:gd name="adj1" fmla="val 64855"/>
              <a:gd name="adj2" fmla="val 50000"/>
            </a:avLst>
          </a:prstGeom>
          <a:ln>
            <a:solidFill>
              <a:srgbClr val="288CD2"/>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3" name="Straight Arrow Connector 12"/>
          <p:cNvCxnSpPr/>
          <p:nvPr/>
        </p:nvCxnSpPr>
        <p:spPr>
          <a:xfrm flipH="1">
            <a:off x="6475896" y="2401955"/>
            <a:ext cx="455574" cy="437115"/>
          </a:xfrm>
          <a:prstGeom prst="straightConnector1">
            <a:avLst/>
          </a:prstGeom>
          <a:ln w="38100">
            <a:solidFill>
              <a:srgbClr val="288CD2"/>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976227" y="1570958"/>
            <a:ext cx="2235199" cy="830997"/>
          </a:xfrm>
          <a:prstGeom prst="rect">
            <a:avLst/>
          </a:prstGeom>
          <a:noFill/>
        </p:spPr>
        <p:txBody>
          <a:bodyPr wrap="square" rtlCol="0">
            <a:spAutoFit/>
          </a:bodyPr>
          <a:lstStyle/>
          <a:p>
            <a:pPr algn="ctr"/>
            <a:r>
              <a:rPr lang="en-US" sz="2400" b="1" dirty="0" smtClean="0">
                <a:solidFill>
                  <a:srgbClr val="288CD2"/>
                </a:solidFill>
              </a:rPr>
              <a:t>regularization strength</a:t>
            </a:r>
          </a:p>
        </p:txBody>
      </p:sp>
      <p:cxnSp>
        <p:nvCxnSpPr>
          <p:cNvPr id="16" name="Straight Arrow Connector 15"/>
          <p:cNvCxnSpPr/>
          <p:nvPr/>
        </p:nvCxnSpPr>
        <p:spPr>
          <a:xfrm>
            <a:off x="3755034" y="2047404"/>
            <a:ext cx="355309" cy="791666"/>
          </a:xfrm>
          <a:prstGeom prst="straightConnector1">
            <a:avLst/>
          </a:prstGeom>
          <a:ln w="38100">
            <a:solidFill>
              <a:srgbClr val="288CD2"/>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637434" y="1538691"/>
            <a:ext cx="2235199" cy="461665"/>
          </a:xfrm>
          <a:prstGeom prst="rect">
            <a:avLst/>
          </a:prstGeom>
          <a:noFill/>
        </p:spPr>
        <p:txBody>
          <a:bodyPr wrap="square" rtlCol="0">
            <a:spAutoFit/>
          </a:bodyPr>
          <a:lstStyle/>
          <a:p>
            <a:pPr algn="ctr"/>
            <a:r>
              <a:rPr lang="en-US" sz="2400" b="1" dirty="0" smtClean="0">
                <a:solidFill>
                  <a:srgbClr val="288CD2"/>
                </a:solidFill>
              </a:rPr>
              <a:t>surrogate loss</a:t>
            </a:r>
          </a:p>
        </p:txBody>
      </p:sp>
    </p:spTree>
    <p:extLst>
      <p:ext uri="{BB962C8B-B14F-4D97-AF65-F5344CB8AC3E}">
        <p14:creationId xmlns:p14="http://schemas.microsoft.com/office/powerpoint/2010/main" val="793565954"/>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FF3AF9-2D61-8E40-AE3D-8390D801ED2C}" type="slidenum">
              <a:rPr lang="en-US" smtClean="0"/>
              <a:t>11</a:t>
            </a:fld>
            <a:endParaRPr lang="en-US" dirty="0"/>
          </a:p>
        </p:txBody>
      </p:sp>
      <p:sp>
        <p:nvSpPr>
          <p:cNvPr id="11" name="Title 1"/>
          <p:cNvSpPr>
            <a:spLocks noGrp="1"/>
          </p:cNvSpPr>
          <p:nvPr>
            <p:ph type="title"/>
          </p:nvPr>
        </p:nvSpPr>
        <p:spPr>
          <a:xfrm>
            <a:off x="457200" y="260298"/>
            <a:ext cx="8229600" cy="726831"/>
          </a:xfrm>
        </p:spPr>
        <p:txBody>
          <a:bodyPr>
            <a:normAutofit/>
          </a:bodyPr>
          <a:lstStyle/>
          <a:p>
            <a:r>
              <a:rPr lang="en-US" sz="3600" dirty="0" smtClean="0"/>
              <a:t>Regularized </a:t>
            </a:r>
            <a:r>
              <a:rPr lang="en-US" sz="3600" dirty="0" smtClean="0">
                <a:solidFill>
                  <a:srgbClr val="000000"/>
                </a:solidFill>
              </a:rPr>
              <a:t>Empirical </a:t>
            </a:r>
            <a:r>
              <a:rPr lang="en-US" sz="3600" dirty="0" smtClean="0"/>
              <a:t>Risk Minimization</a:t>
            </a:r>
            <a:endParaRPr lang="en-US" sz="3600" dirty="0"/>
          </a:p>
        </p:txBody>
      </p:sp>
      <p:pic>
        <p:nvPicPr>
          <p:cNvPr id="3" name="Picture 2"/>
          <p:cNvPicPr>
            <a:picLocks noChangeAspect="1"/>
          </p:cNvPicPr>
          <p:nvPr/>
        </p:nvPicPr>
        <p:blipFill>
          <a:blip r:embed="rId2"/>
          <a:stretch>
            <a:fillRect/>
          </a:stretch>
        </p:blipFill>
        <p:spPr>
          <a:xfrm>
            <a:off x="1360989" y="1973244"/>
            <a:ext cx="5715000" cy="939800"/>
          </a:xfrm>
          <a:prstGeom prst="rect">
            <a:avLst/>
          </a:prstGeom>
        </p:spPr>
      </p:pic>
      <p:sp>
        <p:nvSpPr>
          <p:cNvPr id="10" name="TextBox 9"/>
          <p:cNvSpPr txBox="1"/>
          <p:nvPr/>
        </p:nvSpPr>
        <p:spPr>
          <a:xfrm>
            <a:off x="5135588" y="3495097"/>
            <a:ext cx="3661842" cy="1569660"/>
          </a:xfrm>
          <a:prstGeom prst="rect">
            <a:avLst/>
          </a:prstGeom>
          <a:noFill/>
        </p:spPr>
        <p:txBody>
          <a:bodyPr wrap="square" rtlCol="0">
            <a:spAutoFit/>
          </a:bodyPr>
          <a:lstStyle/>
          <a:p>
            <a:pPr algn="ctr"/>
            <a:r>
              <a:rPr lang="en-US" sz="2400" b="1" dirty="0" smtClean="0">
                <a:solidFill>
                  <a:srgbClr val="BC0000"/>
                </a:solidFill>
              </a:rPr>
              <a:t>encourages model to be “simpler” in the hope that this will help it to generalize to new data</a:t>
            </a:r>
          </a:p>
        </p:txBody>
      </p:sp>
      <p:cxnSp>
        <p:nvCxnSpPr>
          <p:cNvPr id="16" name="Straight Arrow Connector 15"/>
          <p:cNvCxnSpPr/>
          <p:nvPr/>
        </p:nvCxnSpPr>
        <p:spPr>
          <a:xfrm flipV="1">
            <a:off x="3424107" y="2726208"/>
            <a:ext cx="648403" cy="744513"/>
          </a:xfrm>
          <a:prstGeom prst="straightConnector1">
            <a:avLst/>
          </a:prstGeom>
          <a:ln w="38100">
            <a:solidFill>
              <a:srgbClr val="BC0000"/>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751615" y="3470721"/>
            <a:ext cx="2790092" cy="1200328"/>
          </a:xfrm>
          <a:prstGeom prst="rect">
            <a:avLst/>
          </a:prstGeom>
          <a:noFill/>
        </p:spPr>
        <p:txBody>
          <a:bodyPr wrap="square" rtlCol="0">
            <a:spAutoFit/>
          </a:bodyPr>
          <a:lstStyle/>
          <a:p>
            <a:pPr algn="ctr"/>
            <a:r>
              <a:rPr lang="en-US" sz="2400" b="1" dirty="0" smtClean="0">
                <a:solidFill>
                  <a:srgbClr val="BC0000"/>
                </a:solidFill>
              </a:rPr>
              <a:t>encourages model to fit the training data well</a:t>
            </a:r>
          </a:p>
        </p:txBody>
      </p:sp>
      <p:cxnSp>
        <p:nvCxnSpPr>
          <p:cNvPr id="14" name="Straight Arrow Connector 13"/>
          <p:cNvCxnSpPr/>
          <p:nvPr/>
        </p:nvCxnSpPr>
        <p:spPr>
          <a:xfrm flipH="1" flipV="1">
            <a:off x="6546672" y="2726208"/>
            <a:ext cx="208005" cy="744513"/>
          </a:xfrm>
          <a:prstGeom prst="straightConnector1">
            <a:avLst/>
          </a:prstGeom>
          <a:ln w="38100">
            <a:solidFill>
              <a:srgbClr val="BC0000"/>
            </a:solidFill>
            <a:tailEnd type="triangle" w="lg" len="lg"/>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23565030"/>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Visualization</a:t>
            </a:r>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12</a:t>
            </a:fld>
            <a:endParaRPr lang="en-US"/>
          </a:p>
        </p:txBody>
      </p:sp>
      <p:sp>
        <p:nvSpPr>
          <p:cNvPr id="5" name="Rectangle 4"/>
          <p:cNvSpPr/>
          <p:nvPr/>
        </p:nvSpPr>
        <p:spPr>
          <a:xfrm>
            <a:off x="920750" y="3429000"/>
            <a:ext cx="444500" cy="17907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p:nvSpPr>
        <p:spPr>
          <a:xfrm>
            <a:off x="1581150" y="4305300"/>
            <a:ext cx="4445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p:cNvSpPr/>
          <p:nvPr/>
        </p:nvSpPr>
        <p:spPr>
          <a:xfrm>
            <a:off x="2235200" y="3009900"/>
            <a:ext cx="444500" cy="22098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2870200" y="4724400"/>
            <a:ext cx="444500" cy="4953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3530600" y="3924300"/>
            <a:ext cx="444500" cy="1295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 name="Straight Arrow Connector 10"/>
          <p:cNvCxnSpPr/>
          <p:nvPr/>
        </p:nvCxnSpPr>
        <p:spPr>
          <a:xfrm flipV="1">
            <a:off x="660400" y="2176804"/>
            <a:ext cx="0" cy="3042896"/>
          </a:xfrm>
          <a:prstGeom prst="straightConnector1">
            <a:avLst/>
          </a:prstGeom>
          <a:ln w="44450" cmpd="sng">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rot="16200000">
            <a:off x="-88901" y="2967335"/>
            <a:ext cx="825501" cy="400110"/>
          </a:xfrm>
          <a:prstGeom prst="rect">
            <a:avLst/>
          </a:prstGeom>
          <a:noFill/>
          <a:ln w="3175" cmpd="sng">
            <a:noFill/>
          </a:ln>
          <a:effectLst/>
        </p:spPr>
        <p:txBody>
          <a:bodyPr wrap="square" rtlCol="0">
            <a:spAutoFit/>
          </a:bodyPr>
          <a:lstStyle/>
          <a:p>
            <a:pPr algn="ctr"/>
            <a:r>
              <a:rPr lang="en-US" sz="2000" dirty="0" smtClean="0">
                <a:solidFill>
                  <a:srgbClr val="000000"/>
                </a:solidFill>
                <a:cs typeface="Calibri"/>
              </a:rPr>
              <a:t>score</a:t>
            </a:r>
            <a:endParaRPr lang="en-US" sz="2000" dirty="0" smtClean="0">
              <a:solidFill>
                <a:srgbClr val="000000"/>
              </a:solidFill>
              <a:latin typeface="Calibri"/>
              <a:cs typeface="Calibri"/>
            </a:endParaRPr>
          </a:p>
        </p:txBody>
      </p:sp>
      <p:pic>
        <p:nvPicPr>
          <p:cNvPr id="14" name="Picture 13"/>
          <p:cNvPicPr>
            <a:picLocks noChangeAspect="1"/>
          </p:cNvPicPr>
          <p:nvPr/>
        </p:nvPicPr>
        <p:blipFill>
          <a:blip r:embed="rId2"/>
          <a:stretch>
            <a:fillRect/>
          </a:stretch>
        </p:blipFill>
        <p:spPr>
          <a:xfrm>
            <a:off x="996950" y="5397500"/>
            <a:ext cx="254000" cy="203200"/>
          </a:xfrm>
          <a:prstGeom prst="rect">
            <a:avLst/>
          </a:prstGeom>
        </p:spPr>
      </p:pic>
      <p:pic>
        <p:nvPicPr>
          <p:cNvPr id="15" name="Picture 14"/>
          <p:cNvPicPr>
            <a:picLocks noChangeAspect="1"/>
          </p:cNvPicPr>
          <p:nvPr/>
        </p:nvPicPr>
        <p:blipFill>
          <a:blip r:embed="rId3"/>
          <a:stretch>
            <a:fillRect/>
          </a:stretch>
        </p:blipFill>
        <p:spPr>
          <a:xfrm>
            <a:off x="1670050" y="5397500"/>
            <a:ext cx="254000" cy="203200"/>
          </a:xfrm>
          <a:prstGeom prst="rect">
            <a:avLst/>
          </a:prstGeom>
        </p:spPr>
      </p:pic>
      <p:pic>
        <p:nvPicPr>
          <p:cNvPr id="16" name="Picture 15"/>
          <p:cNvPicPr>
            <a:picLocks noChangeAspect="1"/>
          </p:cNvPicPr>
          <p:nvPr/>
        </p:nvPicPr>
        <p:blipFill>
          <a:blip r:embed="rId4"/>
          <a:stretch>
            <a:fillRect/>
          </a:stretch>
        </p:blipFill>
        <p:spPr>
          <a:xfrm>
            <a:off x="2311400" y="5397500"/>
            <a:ext cx="266700" cy="203200"/>
          </a:xfrm>
          <a:prstGeom prst="rect">
            <a:avLst/>
          </a:prstGeom>
        </p:spPr>
      </p:pic>
      <p:pic>
        <p:nvPicPr>
          <p:cNvPr id="17" name="Picture 16"/>
          <p:cNvPicPr>
            <a:picLocks noChangeAspect="1"/>
          </p:cNvPicPr>
          <p:nvPr/>
        </p:nvPicPr>
        <p:blipFill>
          <a:blip r:embed="rId5"/>
          <a:stretch>
            <a:fillRect/>
          </a:stretch>
        </p:blipFill>
        <p:spPr>
          <a:xfrm>
            <a:off x="2946400" y="5397500"/>
            <a:ext cx="266700" cy="203200"/>
          </a:xfrm>
          <a:prstGeom prst="rect">
            <a:avLst/>
          </a:prstGeom>
        </p:spPr>
      </p:pic>
      <p:pic>
        <p:nvPicPr>
          <p:cNvPr id="18" name="Picture 17"/>
          <p:cNvPicPr>
            <a:picLocks noChangeAspect="1"/>
          </p:cNvPicPr>
          <p:nvPr/>
        </p:nvPicPr>
        <p:blipFill>
          <a:blip r:embed="rId6"/>
          <a:stretch>
            <a:fillRect/>
          </a:stretch>
        </p:blipFill>
        <p:spPr>
          <a:xfrm>
            <a:off x="3606800" y="5397500"/>
            <a:ext cx="254000" cy="203200"/>
          </a:xfrm>
          <a:prstGeom prst="rect">
            <a:avLst/>
          </a:prstGeom>
        </p:spPr>
      </p:pic>
      <p:sp>
        <p:nvSpPr>
          <p:cNvPr id="25" name="TextBox 24"/>
          <p:cNvSpPr txBox="1"/>
          <p:nvPr/>
        </p:nvSpPr>
        <p:spPr>
          <a:xfrm>
            <a:off x="1047749" y="6061106"/>
            <a:ext cx="2882901" cy="400110"/>
          </a:xfrm>
          <a:prstGeom prst="rect">
            <a:avLst/>
          </a:prstGeom>
          <a:noFill/>
          <a:ln w="3175" cmpd="sng">
            <a:noFill/>
          </a:ln>
          <a:effectLst/>
        </p:spPr>
        <p:txBody>
          <a:bodyPr wrap="square" rtlCol="0">
            <a:spAutoFit/>
          </a:bodyPr>
          <a:lstStyle/>
          <a:p>
            <a:pPr algn="ctr"/>
            <a:r>
              <a:rPr lang="en-US" sz="2000" dirty="0" smtClean="0">
                <a:solidFill>
                  <a:srgbClr val="000000"/>
                </a:solidFill>
                <a:cs typeface="Calibri"/>
              </a:rPr>
              <a:t>five possible outputs</a:t>
            </a:r>
            <a:endParaRPr lang="en-US" sz="2000" dirty="0" smtClean="0">
              <a:solidFill>
                <a:srgbClr val="000000"/>
              </a:solidFill>
              <a:latin typeface="Calibri"/>
              <a:cs typeface="Calibri"/>
            </a:endParaRPr>
          </a:p>
        </p:txBody>
      </p:sp>
      <p:sp>
        <p:nvSpPr>
          <p:cNvPr id="26" name="Left Brace 25"/>
          <p:cNvSpPr/>
          <p:nvPr/>
        </p:nvSpPr>
        <p:spPr>
          <a:xfrm rot="16200000">
            <a:off x="2209800" y="4241800"/>
            <a:ext cx="482600" cy="3124200"/>
          </a:xfrm>
          <a:prstGeom prst="leftBrace">
            <a:avLst>
              <a:gd name="adj1" fmla="val 53070"/>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TextBox 18"/>
          <p:cNvSpPr txBox="1"/>
          <p:nvPr/>
        </p:nvSpPr>
        <p:spPr>
          <a:xfrm>
            <a:off x="2039490" y="849513"/>
            <a:ext cx="5003800" cy="523220"/>
          </a:xfrm>
          <a:prstGeom prst="rect">
            <a:avLst/>
          </a:prstGeom>
          <a:noFill/>
          <a:ln w="3175" cmpd="sng">
            <a:noFill/>
          </a:ln>
          <a:effectLst/>
        </p:spPr>
        <p:txBody>
          <a:bodyPr wrap="square" rtlCol="0">
            <a:spAutoFit/>
          </a:bodyPr>
          <a:lstStyle/>
          <a:p>
            <a:pPr algn="ctr"/>
            <a:r>
              <a:rPr lang="en-US" sz="2800" dirty="0" smtClean="0">
                <a:solidFill>
                  <a:srgbClr val="000000"/>
                </a:solidFill>
                <a:cs typeface="Calibri"/>
              </a:rPr>
              <a:t>for a single input </a:t>
            </a:r>
            <a:r>
              <a:rPr lang="en-US" sz="2800" b="1" i="1" dirty="0" smtClean="0">
                <a:solidFill>
                  <a:srgbClr val="000000"/>
                </a:solidFill>
                <a:cs typeface="Calibri"/>
              </a:rPr>
              <a:t>x</a:t>
            </a:r>
            <a:endParaRPr lang="en-US" sz="2800" b="1" i="1" dirty="0" smtClean="0">
              <a:solidFill>
                <a:srgbClr val="000000"/>
              </a:solidFill>
              <a:latin typeface="Calibri"/>
              <a:cs typeface="Calibri"/>
            </a:endParaRPr>
          </a:p>
        </p:txBody>
      </p:sp>
    </p:spTree>
    <p:extLst>
      <p:ext uri="{BB962C8B-B14F-4D97-AF65-F5344CB8AC3E}">
        <p14:creationId xmlns:p14="http://schemas.microsoft.com/office/powerpoint/2010/main" val="248209432"/>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Visualization</a:t>
            </a:r>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13</a:t>
            </a:fld>
            <a:endParaRPr lang="en-US"/>
          </a:p>
        </p:txBody>
      </p:sp>
      <p:cxnSp>
        <p:nvCxnSpPr>
          <p:cNvPr id="11" name="Straight Arrow Connector 10"/>
          <p:cNvCxnSpPr/>
          <p:nvPr/>
        </p:nvCxnSpPr>
        <p:spPr>
          <a:xfrm flipV="1">
            <a:off x="660400" y="2176804"/>
            <a:ext cx="0" cy="3042896"/>
          </a:xfrm>
          <a:prstGeom prst="straightConnector1">
            <a:avLst/>
          </a:prstGeom>
          <a:ln w="44450" cmpd="sng">
            <a:solidFill>
              <a:srgbClr val="BC00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rot="16200000">
            <a:off x="-88901" y="2967335"/>
            <a:ext cx="825501" cy="400110"/>
          </a:xfrm>
          <a:prstGeom prst="rect">
            <a:avLst/>
          </a:prstGeom>
          <a:noFill/>
          <a:ln w="3175" cmpd="sng">
            <a:noFill/>
          </a:ln>
          <a:effectLst/>
        </p:spPr>
        <p:txBody>
          <a:bodyPr wrap="square" rtlCol="0">
            <a:spAutoFit/>
          </a:bodyPr>
          <a:lstStyle/>
          <a:p>
            <a:pPr algn="ctr"/>
            <a:r>
              <a:rPr lang="en-US" sz="2000" dirty="0" smtClean="0">
                <a:solidFill>
                  <a:srgbClr val="000000"/>
                </a:solidFill>
                <a:cs typeface="Calibri"/>
              </a:rPr>
              <a:t>cost</a:t>
            </a:r>
            <a:endParaRPr lang="en-US" sz="2000" dirty="0" smtClean="0">
              <a:solidFill>
                <a:srgbClr val="000000"/>
              </a:solidFill>
              <a:latin typeface="Calibri"/>
              <a:cs typeface="Calibri"/>
            </a:endParaRPr>
          </a:p>
        </p:txBody>
      </p:sp>
      <p:pic>
        <p:nvPicPr>
          <p:cNvPr id="14" name="Picture 13"/>
          <p:cNvPicPr>
            <a:picLocks noChangeAspect="1"/>
          </p:cNvPicPr>
          <p:nvPr/>
        </p:nvPicPr>
        <p:blipFill>
          <a:blip r:embed="rId2"/>
          <a:stretch>
            <a:fillRect/>
          </a:stretch>
        </p:blipFill>
        <p:spPr>
          <a:xfrm>
            <a:off x="996950" y="5397500"/>
            <a:ext cx="254000" cy="203200"/>
          </a:xfrm>
          <a:prstGeom prst="rect">
            <a:avLst/>
          </a:prstGeom>
        </p:spPr>
      </p:pic>
      <p:pic>
        <p:nvPicPr>
          <p:cNvPr id="15" name="Picture 14"/>
          <p:cNvPicPr>
            <a:picLocks noChangeAspect="1"/>
          </p:cNvPicPr>
          <p:nvPr/>
        </p:nvPicPr>
        <p:blipFill>
          <a:blip r:embed="rId3"/>
          <a:stretch>
            <a:fillRect/>
          </a:stretch>
        </p:blipFill>
        <p:spPr>
          <a:xfrm>
            <a:off x="1670050" y="5397500"/>
            <a:ext cx="254000" cy="203200"/>
          </a:xfrm>
          <a:prstGeom prst="rect">
            <a:avLst/>
          </a:prstGeom>
        </p:spPr>
      </p:pic>
      <p:pic>
        <p:nvPicPr>
          <p:cNvPr id="16" name="Picture 15"/>
          <p:cNvPicPr>
            <a:picLocks noChangeAspect="1"/>
          </p:cNvPicPr>
          <p:nvPr/>
        </p:nvPicPr>
        <p:blipFill>
          <a:blip r:embed="rId4"/>
          <a:stretch>
            <a:fillRect/>
          </a:stretch>
        </p:blipFill>
        <p:spPr>
          <a:xfrm>
            <a:off x="2311400" y="5397500"/>
            <a:ext cx="266700" cy="203200"/>
          </a:xfrm>
          <a:prstGeom prst="rect">
            <a:avLst/>
          </a:prstGeom>
        </p:spPr>
      </p:pic>
      <p:pic>
        <p:nvPicPr>
          <p:cNvPr id="17" name="Picture 16"/>
          <p:cNvPicPr>
            <a:picLocks noChangeAspect="1"/>
          </p:cNvPicPr>
          <p:nvPr/>
        </p:nvPicPr>
        <p:blipFill>
          <a:blip r:embed="rId5"/>
          <a:stretch>
            <a:fillRect/>
          </a:stretch>
        </p:blipFill>
        <p:spPr>
          <a:xfrm>
            <a:off x="2946400" y="5397500"/>
            <a:ext cx="266700" cy="203200"/>
          </a:xfrm>
          <a:prstGeom prst="rect">
            <a:avLst/>
          </a:prstGeom>
        </p:spPr>
      </p:pic>
      <p:pic>
        <p:nvPicPr>
          <p:cNvPr id="18" name="Picture 17"/>
          <p:cNvPicPr>
            <a:picLocks noChangeAspect="1"/>
          </p:cNvPicPr>
          <p:nvPr/>
        </p:nvPicPr>
        <p:blipFill>
          <a:blip r:embed="rId6"/>
          <a:stretch>
            <a:fillRect/>
          </a:stretch>
        </p:blipFill>
        <p:spPr>
          <a:xfrm>
            <a:off x="3606800" y="5397500"/>
            <a:ext cx="254000" cy="203200"/>
          </a:xfrm>
          <a:prstGeom prst="rect">
            <a:avLst/>
          </a:prstGeom>
        </p:spPr>
      </p:pic>
      <p:sp>
        <p:nvSpPr>
          <p:cNvPr id="21" name="Rectangle 20"/>
          <p:cNvSpPr/>
          <p:nvPr/>
        </p:nvSpPr>
        <p:spPr>
          <a:xfrm>
            <a:off x="920750" y="4226582"/>
            <a:ext cx="444500" cy="990600"/>
          </a:xfrm>
          <a:prstGeom prst="rect">
            <a:avLst/>
          </a:prstGeom>
          <a:gradFill flip="none" rotWithShape="1">
            <a:gsLst>
              <a:gs pos="0">
                <a:srgbClr val="FF0000"/>
              </a:gs>
              <a:gs pos="100000">
                <a:srgbClr val="BC0000"/>
              </a:gs>
              <a:gs pos="0">
                <a:srgbClr val="FF0000"/>
              </a:gs>
            </a:gsLst>
            <a:lin ang="5400000" scaled="0"/>
            <a:tileRect/>
          </a:gra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581150" y="4696482"/>
            <a:ext cx="444500" cy="520700"/>
          </a:xfrm>
          <a:prstGeom prst="rect">
            <a:avLst/>
          </a:prstGeom>
          <a:gradFill flip="none" rotWithShape="1">
            <a:gsLst>
              <a:gs pos="0">
                <a:srgbClr val="FF0000"/>
              </a:gs>
              <a:gs pos="100000">
                <a:srgbClr val="BC0000"/>
              </a:gs>
              <a:gs pos="0">
                <a:srgbClr val="FF0000"/>
              </a:gs>
            </a:gsLst>
            <a:lin ang="5400000" scaled="0"/>
            <a:tileRect/>
          </a:gra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p:nvSpPr>
        <p:spPr>
          <a:xfrm>
            <a:off x="2235200" y="3924300"/>
            <a:ext cx="444500" cy="1295400"/>
          </a:xfrm>
          <a:prstGeom prst="rect">
            <a:avLst/>
          </a:prstGeom>
          <a:gradFill flip="none" rotWithShape="1">
            <a:gsLst>
              <a:gs pos="0">
                <a:srgbClr val="FF0000"/>
              </a:gs>
              <a:gs pos="100000">
                <a:srgbClr val="BC0000"/>
              </a:gs>
              <a:gs pos="0">
                <a:srgbClr val="FF0000"/>
              </a:gs>
            </a:gsLst>
            <a:lin ang="5400000" scaled="0"/>
            <a:tileRect/>
          </a:gra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9" name="Picture 18" descr="smiley-face-clip-art-emotions-RidMBKdi9.jpeg"/>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67102" y="5676899"/>
            <a:ext cx="550333" cy="550333"/>
          </a:xfrm>
          <a:prstGeom prst="rect">
            <a:avLst/>
          </a:prstGeom>
        </p:spPr>
      </p:pic>
      <p:sp>
        <p:nvSpPr>
          <p:cNvPr id="27" name="TextBox 26"/>
          <p:cNvSpPr txBox="1"/>
          <p:nvPr/>
        </p:nvSpPr>
        <p:spPr>
          <a:xfrm>
            <a:off x="2946400" y="6293787"/>
            <a:ext cx="1628806" cy="400110"/>
          </a:xfrm>
          <a:prstGeom prst="rect">
            <a:avLst/>
          </a:prstGeom>
          <a:solidFill>
            <a:schemeClr val="tx1"/>
          </a:solidFill>
          <a:ln w="3175" cmpd="sng">
            <a:noFill/>
          </a:ln>
          <a:effectLst/>
        </p:spPr>
        <p:txBody>
          <a:bodyPr wrap="square" rtlCol="0" anchor="ctr">
            <a:spAutoFit/>
          </a:bodyPr>
          <a:lstStyle/>
          <a:p>
            <a:pPr algn="ctr"/>
            <a:r>
              <a:rPr lang="en-US" sz="2000" dirty="0" smtClean="0">
                <a:solidFill>
                  <a:srgbClr val="FFFF00"/>
                </a:solidFill>
                <a:cs typeface="Calibri"/>
              </a:rPr>
              <a:t>gold standard</a:t>
            </a:r>
            <a:endParaRPr lang="en-US" sz="2000" dirty="0" smtClean="0">
              <a:solidFill>
                <a:srgbClr val="FFFF00"/>
              </a:solidFill>
              <a:latin typeface="Calibri"/>
              <a:cs typeface="Calibri"/>
            </a:endParaRPr>
          </a:p>
        </p:txBody>
      </p:sp>
      <p:sp>
        <p:nvSpPr>
          <p:cNvPr id="28" name="Rectangle 27"/>
          <p:cNvSpPr/>
          <p:nvPr/>
        </p:nvSpPr>
        <p:spPr>
          <a:xfrm>
            <a:off x="2870200" y="3924300"/>
            <a:ext cx="444500" cy="1295400"/>
          </a:xfrm>
          <a:prstGeom prst="rect">
            <a:avLst/>
          </a:prstGeom>
          <a:gradFill flip="none" rotWithShape="1">
            <a:gsLst>
              <a:gs pos="0">
                <a:srgbClr val="FF0000"/>
              </a:gs>
              <a:gs pos="100000">
                <a:srgbClr val="BC0000"/>
              </a:gs>
              <a:gs pos="0">
                <a:srgbClr val="FF0000"/>
              </a:gs>
            </a:gsLst>
            <a:lin ang="5400000" scaled="0"/>
            <a:tileRect/>
          </a:gra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9" name="Picture 28"/>
          <p:cNvPicPr>
            <a:picLocks noChangeAspect="1"/>
          </p:cNvPicPr>
          <p:nvPr/>
        </p:nvPicPr>
        <p:blipFill>
          <a:blip r:embed="rId8"/>
          <a:stretch>
            <a:fillRect/>
          </a:stretch>
        </p:blipFill>
        <p:spPr>
          <a:xfrm>
            <a:off x="450849" y="3879850"/>
            <a:ext cx="1435100" cy="317500"/>
          </a:xfrm>
          <a:prstGeom prst="rect">
            <a:avLst/>
          </a:prstGeom>
        </p:spPr>
      </p:pic>
      <p:pic>
        <p:nvPicPr>
          <p:cNvPr id="30" name="Picture 29"/>
          <p:cNvPicPr>
            <a:picLocks noChangeAspect="1"/>
          </p:cNvPicPr>
          <p:nvPr/>
        </p:nvPicPr>
        <p:blipFill>
          <a:blip r:embed="rId9"/>
          <a:stretch>
            <a:fillRect/>
          </a:stretch>
        </p:blipFill>
        <p:spPr>
          <a:xfrm>
            <a:off x="3454400" y="4912382"/>
            <a:ext cx="1435100" cy="317500"/>
          </a:xfrm>
          <a:prstGeom prst="rect">
            <a:avLst/>
          </a:prstGeom>
        </p:spPr>
      </p:pic>
      <p:pic>
        <p:nvPicPr>
          <p:cNvPr id="3" name="Picture 2"/>
          <p:cNvPicPr>
            <a:picLocks noChangeAspect="1"/>
          </p:cNvPicPr>
          <p:nvPr/>
        </p:nvPicPr>
        <p:blipFill>
          <a:blip r:embed="rId10"/>
          <a:stretch>
            <a:fillRect/>
          </a:stretch>
        </p:blipFill>
        <p:spPr>
          <a:xfrm>
            <a:off x="1133506" y="4378982"/>
            <a:ext cx="1435100" cy="317500"/>
          </a:xfrm>
          <a:prstGeom prst="rect">
            <a:avLst/>
          </a:prstGeom>
        </p:spPr>
      </p:pic>
      <p:sp>
        <p:nvSpPr>
          <p:cNvPr id="20" name="TextBox 19"/>
          <p:cNvSpPr txBox="1"/>
          <p:nvPr/>
        </p:nvSpPr>
        <p:spPr>
          <a:xfrm>
            <a:off x="2039490" y="849513"/>
            <a:ext cx="5003800" cy="523220"/>
          </a:xfrm>
          <a:prstGeom prst="rect">
            <a:avLst/>
          </a:prstGeom>
          <a:noFill/>
          <a:ln w="3175" cmpd="sng">
            <a:noFill/>
          </a:ln>
          <a:effectLst/>
        </p:spPr>
        <p:txBody>
          <a:bodyPr wrap="square" rtlCol="0">
            <a:spAutoFit/>
          </a:bodyPr>
          <a:lstStyle/>
          <a:p>
            <a:pPr algn="ctr"/>
            <a:r>
              <a:rPr lang="en-US" sz="2800" dirty="0" smtClean="0">
                <a:solidFill>
                  <a:srgbClr val="000000"/>
                </a:solidFill>
                <a:cs typeface="Calibri"/>
              </a:rPr>
              <a:t>for a single input </a:t>
            </a:r>
            <a:r>
              <a:rPr lang="en-US" sz="2800" b="1" i="1" dirty="0" smtClean="0">
                <a:solidFill>
                  <a:srgbClr val="000000"/>
                </a:solidFill>
                <a:cs typeface="Calibri"/>
              </a:rPr>
              <a:t>x</a:t>
            </a:r>
            <a:endParaRPr lang="en-US" sz="2800" b="1" i="1" dirty="0" smtClean="0">
              <a:solidFill>
                <a:srgbClr val="000000"/>
              </a:solidFill>
              <a:latin typeface="Calibri"/>
              <a:cs typeface="Calibri"/>
            </a:endParaRPr>
          </a:p>
        </p:txBody>
      </p:sp>
    </p:spTree>
    <p:extLst>
      <p:ext uri="{BB962C8B-B14F-4D97-AF65-F5344CB8AC3E}">
        <p14:creationId xmlns:p14="http://schemas.microsoft.com/office/powerpoint/2010/main" val="3741728957"/>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FF3AF9-2D61-8E40-AE3D-8390D801ED2C}" type="slidenum">
              <a:rPr lang="en-US" smtClean="0"/>
              <a:t>14</a:t>
            </a:fld>
            <a:endParaRPr lang="en-US"/>
          </a:p>
        </p:txBody>
      </p:sp>
      <p:sp>
        <p:nvSpPr>
          <p:cNvPr id="5" name="Rectangle 4"/>
          <p:cNvSpPr/>
          <p:nvPr/>
        </p:nvSpPr>
        <p:spPr>
          <a:xfrm>
            <a:off x="920750" y="3429000"/>
            <a:ext cx="444500" cy="17907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p:nvSpPr>
        <p:spPr>
          <a:xfrm>
            <a:off x="1581150" y="4305300"/>
            <a:ext cx="4445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p:cNvSpPr/>
          <p:nvPr/>
        </p:nvSpPr>
        <p:spPr>
          <a:xfrm>
            <a:off x="2235200" y="3009900"/>
            <a:ext cx="444500" cy="22098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2870200" y="4724400"/>
            <a:ext cx="444500" cy="4953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3530600" y="3924300"/>
            <a:ext cx="444500" cy="1295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 name="Straight Arrow Connector 10"/>
          <p:cNvCxnSpPr/>
          <p:nvPr/>
        </p:nvCxnSpPr>
        <p:spPr>
          <a:xfrm flipV="1">
            <a:off x="660400" y="2176804"/>
            <a:ext cx="0" cy="3042896"/>
          </a:xfrm>
          <a:prstGeom prst="straightConnector1">
            <a:avLst/>
          </a:prstGeom>
          <a:ln w="44450" cmpd="sng">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rot="16200000">
            <a:off x="-88901" y="2967335"/>
            <a:ext cx="825501" cy="400110"/>
          </a:xfrm>
          <a:prstGeom prst="rect">
            <a:avLst/>
          </a:prstGeom>
          <a:noFill/>
          <a:ln w="3175" cmpd="sng">
            <a:noFill/>
          </a:ln>
          <a:effectLst/>
        </p:spPr>
        <p:txBody>
          <a:bodyPr wrap="square" rtlCol="0">
            <a:spAutoFit/>
          </a:bodyPr>
          <a:lstStyle/>
          <a:p>
            <a:pPr algn="ctr"/>
            <a:r>
              <a:rPr lang="en-US" sz="2000" dirty="0" smtClean="0">
                <a:solidFill>
                  <a:srgbClr val="000000"/>
                </a:solidFill>
                <a:cs typeface="Calibri"/>
              </a:rPr>
              <a:t>score</a:t>
            </a:r>
            <a:endParaRPr lang="en-US" sz="2000" dirty="0" smtClean="0">
              <a:solidFill>
                <a:srgbClr val="000000"/>
              </a:solidFill>
              <a:latin typeface="Calibri"/>
              <a:cs typeface="Calibri"/>
            </a:endParaRPr>
          </a:p>
        </p:txBody>
      </p:sp>
      <p:pic>
        <p:nvPicPr>
          <p:cNvPr id="14" name="Picture 13"/>
          <p:cNvPicPr>
            <a:picLocks noChangeAspect="1"/>
          </p:cNvPicPr>
          <p:nvPr/>
        </p:nvPicPr>
        <p:blipFill>
          <a:blip r:embed="rId2"/>
          <a:stretch>
            <a:fillRect/>
          </a:stretch>
        </p:blipFill>
        <p:spPr>
          <a:xfrm>
            <a:off x="996950" y="5397500"/>
            <a:ext cx="254000" cy="203200"/>
          </a:xfrm>
          <a:prstGeom prst="rect">
            <a:avLst/>
          </a:prstGeom>
        </p:spPr>
      </p:pic>
      <p:pic>
        <p:nvPicPr>
          <p:cNvPr id="15" name="Picture 14"/>
          <p:cNvPicPr>
            <a:picLocks noChangeAspect="1"/>
          </p:cNvPicPr>
          <p:nvPr/>
        </p:nvPicPr>
        <p:blipFill>
          <a:blip r:embed="rId3"/>
          <a:stretch>
            <a:fillRect/>
          </a:stretch>
        </p:blipFill>
        <p:spPr>
          <a:xfrm>
            <a:off x="1670050" y="5397500"/>
            <a:ext cx="254000" cy="203200"/>
          </a:xfrm>
          <a:prstGeom prst="rect">
            <a:avLst/>
          </a:prstGeom>
        </p:spPr>
      </p:pic>
      <p:pic>
        <p:nvPicPr>
          <p:cNvPr id="16" name="Picture 15"/>
          <p:cNvPicPr>
            <a:picLocks noChangeAspect="1"/>
          </p:cNvPicPr>
          <p:nvPr/>
        </p:nvPicPr>
        <p:blipFill>
          <a:blip r:embed="rId4"/>
          <a:stretch>
            <a:fillRect/>
          </a:stretch>
        </p:blipFill>
        <p:spPr>
          <a:xfrm>
            <a:off x="2311400" y="5397500"/>
            <a:ext cx="266700" cy="203200"/>
          </a:xfrm>
          <a:prstGeom prst="rect">
            <a:avLst/>
          </a:prstGeom>
        </p:spPr>
      </p:pic>
      <p:pic>
        <p:nvPicPr>
          <p:cNvPr id="17" name="Picture 16"/>
          <p:cNvPicPr>
            <a:picLocks noChangeAspect="1"/>
          </p:cNvPicPr>
          <p:nvPr/>
        </p:nvPicPr>
        <p:blipFill>
          <a:blip r:embed="rId5"/>
          <a:stretch>
            <a:fillRect/>
          </a:stretch>
        </p:blipFill>
        <p:spPr>
          <a:xfrm>
            <a:off x="2946400" y="5397500"/>
            <a:ext cx="266700" cy="203200"/>
          </a:xfrm>
          <a:prstGeom prst="rect">
            <a:avLst/>
          </a:prstGeom>
        </p:spPr>
      </p:pic>
      <p:pic>
        <p:nvPicPr>
          <p:cNvPr id="18" name="Picture 17"/>
          <p:cNvPicPr>
            <a:picLocks noChangeAspect="1"/>
          </p:cNvPicPr>
          <p:nvPr/>
        </p:nvPicPr>
        <p:blipFill>
          <a:blip r:embed="rId6"/>
          <a:stretch>
            <a:fillRect/>
          </a:stretch>
        </p:blipFill>
        <p:spPr>
          <a:xfrm>
            <a:off x="3606800" y="5397500"/>
            <a:ext cx="254000" cy="203200"/>
          </a:xfrm>
          <a:prstGeom prst="rect">
            <a:avLst/>
          </a:prstGeom>
        </p:spPr>
      </p:pic>
      <p:pic>
        <p:nvPicPr>
          <p:cNvPr id="13" name="Picture 12" descr="smiley-face-clip-art-emotions-RidMBKdi9.jpeg"/>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67102" y="5676899"/>
            <a:ext cx="550333" cy="550333"/>
          </a:xfrm>
          <a:prstGeom prst="rect">
            <a:avLst/>
          </a:prstGeom>
        </p:spPr>
      </p:pic>
      <p:sp>
        <p:nvSpPr>
          <p:cNvPr id="20" name="TextBox 19"/>
          <p:cNvSpPr txBox="1"/>
          <p:nvPr/>
        </p:nvSpPr>
        <p:spPr>
          <a:xfrm>
            <a:off x="2946400" y="6293787"/>
            <a:ext cx="1628806" cy="400110"/>
          </a:xfrm>
          <a:prstGeom prst="rect">
            <a:avLst/>
          </a:prstGeom>
          <a:solidFill>
            <a:schemeClr val="tx1"/>
          </a:solidFill>
          <a:ln w="3175" cmpd="sng">
            <a:noFill/>
          </a:ln>
          <a:effectLst/>
        </p:spPr>
        <p:txBody>
          <a:bodyPr wrap="square" rtlCol="0" anchor="ctr">
            <a:spAutoFit/>
          </a:bodyPr>
          <a:lstStyle/>
          <a:p>
            <a:pPr algn="ctr"/>
            <a:r>
              <a:rPr lang="en-US" sz="2000" dirty="0" smtClean="0">
                <a:solidFill>
                  <a:srgbClr val="FFFF00"/>
                </a:solidFill>
                <a:cs typeface="Calibri"/>
              </a:rPr>
              <a:t>gold standard</a:t>
            </a:r>
            <a:endParaRPr lang="en-US" sz="2000" dirty="0" smtClean="0">
              <a:solidFill>
                <a:srgbClr val="FFFF00"/>
              </a:solidFill>
              <a:latin typeface="Calibri"/>
              <a:cs typeface="Calibri"/>
            </a:endParaRPr>
          </a:p>
        </p:txBody>
      </p:sp>
      <p:cxnSp>
        <p:nvCxnSpPr>
          <p:cNvPr id="25" name="Straight Arrow Connector 24"/>
          <p:cNvCxnSpPr/>
          <p:nvPr/>
        </p:nvCxnSpPr>
        <p:spPr>
          <a:xfrm flipH="1">
            <a:off x="3784600" y="1168400"/>
            <a:ext cx="254000" cy="2590800"/>
          </a:xfrm>
          <a:prstGeom prst="straightConnector1">
            <a:avLst/>
          </a:prstGeom>
          <a:ln w="57150" cmpd="sng">
            <a:solidFill>
              <a:schemeClr val="tx1"/>
            </a:solidFill>
            <a:headEnd type="none"/>
            <a:tailEnd type="triangle" w="lg" len="lg"/>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64351" y="186035"/>
            <a:ext cx="2515349" cy="461665"/>
          </a:xfrm>
          <a:prstGeom prst="rect">
            <a:avLst/>
          </a:prstGeom>
          <a:noFill/>
          <a:ln w="3175" cmpd="sng">
            <a:noFill/>
          </a:ln>
          <a:effectLst/>
        </p:spPr>
        <p:txBody>
          <a:bodyPr wrap="square" rtlCol="0">
            <a:spAutoFit/>
          </a:bodyPr>
          <a:lstStyle/>
          <a:p>
            <a:pPr algn="ctr"/>
            <a:r>
              <a:rPr lang="en-US" sz="2400" dirty="0" smtClean="0">
                <a:solidFill>
                  <a:srgbClr val="000000"/>
                </a:solidFill>
                <a:cs typeface="Calibri"/>
              </a:rPr>
              <a:t>perceptron loss:</a:t>
            </a:r>
            <a:endParaRPr lang="en-US" sz="2400" dirty="0" smtClean="0">
              <a:solidFill>
                <a:srgbClr val="000000"/>
              </a:solidFill>
              <a:latin typeface="Calibri"/>
              <a:cs typeface="Calibri"/>
            </a:endParaRPr>
          </a:p>
        </p:txBody>
      </p:sp>
      <p:sp>
        <p:nvSpPr>
          <p:cNvPr id="23" name="Left Brace 22"/>
          <p:cNvSpPr/>
          <p:nvPr/>
        </p:nvSpPr>
        <p:spPr>
          <a:xfrm rot="16200000">
            <a:off x="6593277" y="36123"/>
            <a:ext cx="482600" cy="2721754"/>
          </a:xfrm>
          <a:prstGeom prst="leftBrace">
            <a:avLst>
              <a:gd name="adj1" fmla="val 53070"/>
              <a:gd name="adj2" fmla="val 50000"/>
            </a:avLst>
          </a:prstGeom>
          <a:noFill/>
          <a:ln w="57150" cmpd="sng">
            <a:solidFill>
              <a:schemeClr val="tx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24" name="Picture 23"/>
          <p:cNvPicPr>
            <a:picLocks noChangeAspect="1"/>
          </p:cNvPicPr>
          <p:nvPr/>
        </p:nvPicPr>
        <p:blipFill>
          <a:blip r:embed="rId8"/>
          <a:stretch>
            <a:fillRect/>
          </a:stretch>
        </p:blipFill>
        <p:spPr>
          <a:xfrm>
            <a:off x="742804" y="770226"/>
            <a:ext cx="7429500" cy="495300"/>
          </a:xfrm>
          <a:prstGeom prst="rect">
            <a:avLst/>
          </a:prstGeom>
        </p:spPr>
      </p:pic>
    </p:spTree>
    <p:extLst>
      <p:ext uri="{BB962C8B-B14F-4D97-AF65-F5344CB8AC3E}">
        <p14:creationId xmlns:p14="http://schemas.microsoft.com/office/powerpoint/2010/main" val="2903037383"/>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FF3AF9-2D61-8E40-AE3D-8390D801ED2C}" type="slidenum">
              <a:rPr lang="en-US" smtClean="0"/>
              <a:t>15</a:t>
            </a:fld>
            <a:endParaRPr lang="en-US"/>
          </a:p>
        </p:txBody>
      </p:sp>
      <p:sp>
        <p:nvSpPr>
          <p:cNvPr id="5" name="Rectangle 4"/>
          <p:cNvSpPr/>
          <p:nvPr/>
        </p:nvSpPr>
        <p:spPr>
          <a:xfrm>
            <a:off x="920750" y="3429000"/>
            <a:ext cx="444500" cy="17907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p:nvSpPr>
        <p:spPr>
          <a:xfrm>
            <a:off x="1581150" y="4305300"/>
            <a:ext cx="4445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p:cNvSpPr/>
          <p:nvPr/>
        </p:nvSpPr>
        <p:spPr>
          <a:xfrm>
            <a:off x="2235200" y="3009900"/>
            <a:ext cx="444500" cy="22098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2870200" y="4724400"/>
            <a:ext cx="444500" cy="4953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3530600" y="3924300"/>
            <a:ext cx="444500" cy="1295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 name="Straight Arrow Connector 10"/>
          <p:cNvCxnSpPr/>
          <p:nvPr/>
        </p:nvCxnSpPr>
        <p:spPr>
          <a:xfrm flipV="1">
            <a:off x="660400" y="2176804"/>
            <a:ext cx="0" cy="3042896"/>
          </a:xfrm>
          <a:prstGeom prst="straightConnector1">
            <a:avLst/>
          </a:prstGeom>
          <a:ln w="44450" cmpd="sng">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rot="16200000">
            <a:off x="-88901" y="2967335"/>
            <a:ext cx="825501" cy="400110"/>
          </a:xfrm>
          <a:prstGeom prst="rect">
            <a:avLst/>
          </a:prstGeom>
          <a:noFill/>
          <a:ln w="3175" cmpd="sng">
            <a:noFill/>
          </a:ln>
          <a:effectLst/>
        </p:spPr>
        <p:txBody>
          <a:bodyPr wrap="square" rtlCol="0">
            <a:spAutoFit/>
          </a:bodyPr>
          <a:lstStyle/>
          <a:p>
            <a:pPr algn="ctr"/>
            <a:r>
              <a:rPr lang="en-US" sz="2000" dirty="0" smtClean="0">
                <a:solidFill>
                  <a:srgbClr val="000000"/>
                </a:solidFill>
                <a:cs typeface="Calibri"/>
              </a:rPr>
              <a:t>score</a:t>
            </a:r>
            <a:endParaRPr lang="en-US" sz="2000" dirty="0" smtClean="0">
              <a:solidFill>
                <a:srgbClr val="000000"/>
              </a:solidFill>
              <a:latin typeface="Calibri"/>
              <a:cs typeface="Calibri"/>
            </a:endParaRPr>
          </a:p>
        </p:txBody>
      </p:sp>
      <p:pic>
        <p:nvPicPr>
          <p:cNvPr id="14" name="Picture 13"/>
          <p:cNvPicPr>
            <a:picLocks noChangeAspect="1"/>
          </p:cNvPicPr>
          <p:nvPr/>
        </p:nvPicPr>
        <p:blipFill>
          <a:blip r:embed="rId2"/>
          <a:stretch>
            <a:fillRect/>
          </a:stretch>
        </p:blipFill>
        <p:spPr>
          <a:xfrm>
            <a:off x="996950" y="5397500"/>
            <a:ext cx="254000" cy="203200"/>
          </a:xfrm>
          <a:prstGeom prst="rect">
            <a:avLst/>
          </a:prstGeom>
        </p:spPr>
      </p:pic>
      <p:pic>
        <p:nvPicPr>
          <p:cNvPr id="15" name="Picture 14"/>
          <p:cNvPicPr>
            <a:picLocks noChangeAspect="1"/>
          </p:cNvPicPr>
          <p:nvPr/>
        </p:nvPicPr>
        <p:blipFill>
          <a:blip r:embed="rId3"/>
          <a:stretch>
            <a:fillRect/>
          </a:stretch>
        </p:blipFill>
        <p:spPr>
          <a:xfrm>
            <a:off x="1670050" y="5397500"/>
            <a:ext cx="254000" cy="203200"/>
          </a:xfrm>
          <a:prstGeom prst="rect">
            <a:avLst/>
          </a:prstGeom>
        </p:spPr>
      </p:pic>
      <p:pic>
        <p:nvPicPr>
          <p:cNvPr id="16" name="Picture 15"/>
          <p:cNvPicPr>
            <a:picLocks noChangeAspect="1"/>
          </p:cNvPicPr>
          <p:nvPr/>
        </p:nvPicPr>
        <p:blipFill>
          <a:blip r:embed="rId4"/>
          <a:stretch>
            <a:fillRect/>
          </a:stretch>
        </p:blipFill>
        <p:spPr>
          <a:xfrm>
            <a:off x="2311400" y="5397500"/>
            <a:ext cx="266700" cy="203200"/>
          </a:xfrm>
          <a:prstGeom prst="rect">
            <a:avLst/>
          </a:prstGeom>
        </p:spPr>
      </p:pic>
      <p:pic>
        <p:nvPicPr>
          <p:cNvPr id="17" name="Picture 16"/>
          <p:cNvPicPr>
            <a:picLocks noChangeAspect="1"/>
          </p:cNvPicPr>
          <p:nvPr/>
        </p:nvPicPr>
        <p:blipFill>
          <a:blip r:embed="rId5"/>
          <a:stretch>
            <a:fillRect/>
          </a:stretch>
        </p:blipFill>
        <p:spPr>
          <a:xfrm>
            <a:off x="2946400" y="5397500"/>
            <a:ext cx="266700" cy="203200"/>
          </a:xfrm>
          <a:prstGeom prst="rect">
            <a:avLst/>
          </a:prstGeom>
        </p:spPr>
      </p:pic>
      <p:pic>
        <p:nvPicPr>
          <p:cNvPr id="18" name="Picture 17"/>
          <p:cNvPicPr>
            <a:picLocks noChangeAspect="1"/>
          </p:cNvPicPr>
          <p:nvPr/>
        </p:nvPicPr>
        <p:blipFill>
          <a:blip r:embed="rId6"/>
          <a:stretch>
            <a:fillRect/>
          </a:stretch>
        </p:blipFill>
        <p:spPr>
          <a:xfrm>
            <a:off x="3606800" y="5397500"/>
            <a:ext cx="254000" cy="203200"/>
          </a:xfrm>
          <a:prstGeom prst="rect">
            <a:avLst/>
          </a:prstGeom>
        </p:spPr>
      </p:pic>
      <p:pic>
        <p:nvPicPr>
          <p:cNvPr id="13" name="Picture 12" descr="smiley-face-clip-art-emotions-RidMBKdi9.jpeg"/>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67102" y="5676899"/>
            <a:ext cx="550333" cy="550333"/>
          </a:xfrm>
          <a:prstGeom prst="rect">
            <a:avLst/>
          </a:prstGeom>
        </p:spPr>
      </p:pic>
      <p:sp>
        <p:nvSpPr>
          <p:cNvPr id="20" name="TextBox 19"/>
          <p:cNvSpPr txBox="1"/>
          <p:nvPr/>
        </p:nvSpPr>
        <p:spPr>
          <a:xfrm>
            <a:off x="2946400" y="6293787"/>
            <a:ext cx="1628806" cy="400110"/>
          </a:xfrm>
          <a:prstGeom prst="rect">
            <a:avLst/>
          </a:prstGeom>
          <a:solidFill>
            <a:schemeClr val="tx1"/>
          </a:solidFill>
          <a:ln w="3175" cmpd="sng">
            <a:noFill/>
          </a:ln>
          <a:effectLst/>
        </p:spPr>
        <p:txBody>
          <a:bodyPr wrap="square" rtlCol="0" anchor="ctr">
            <a:spAutoFit/>
          </a:bodyPr>
          <a:lstStyle/>
          <a:p>
            <a:pPr algn="ctr"/>
            <a:r>
              <a:rPr lang="en-US" sz="2000" dirty="0" smtClean="0">
                <a:solidFill>
                  <a:srgbClr val="FFFF00"/>
                </a:solidFill>
                <a:cs typeface="Calibri"/>
              </a:rPr>
              <a:t>gold standard</a:t>
            </a:r>
            <a:endParaRPr lang="en-US" sz="2000" dirty="0" smtClean="0">
              <a:solidFill>
                <a:srgbClr val="FFFF00"/>
              </a:solidFill>
              <a:latin typeface="Calibri"/>
              <a:cs typeface="Calibri"/>
            </a:endParaRPr>
          </a:p>
        </p:txBody>
      </p:sp>
      <p:sp>
        <p:nvSpPr>
          <p:cNvPr id="21" name="TextBox 20"/>
          <p:cNvSpPr txBox="1"/>
          <p:nvPr/>
        </p:nvSpPr>
        <p:spPr>
          <a:xfrm>
            <a:off x="164351" y="186035"/>
            <a:ext cx="2515349" cy="461665"/>
          </a:xfrm>
          <a:prstGeom prst="rect">
            <a:avLst/>
          </a:prstGeom>
          <a:noFill/>
          <a:ln w="3175" cmpd="sng">
            <a:noFill/>
          </a:ln>
          <a:effectLst/>
        </p:spPr>
        <p:txBody>
          <a:bodyPr wrap="square" rtlCol="0">
            <a:spAutoFit/>
          </a:bodyPr>
          <a:lstStyle/>
          <a:p>
            <a:pPr algn="ctr"/>
            <a:r>
              <a:rPr lang="en-US" sz="2400" dirty="0" smtClean="0">
                <a:solidFill>
                  <a:srgbClr val="000000"/>
                </a:solidFill>
                <a:cs typeface="Calibri"/>
              </a:rPr>
              <a:t>perceptron loss:</a:t>
            </a:r>
            <a:endParaRPr lang="en-US" sz="2400" dirty="0" smtClean="0">
              <a:solidFill>
                <a:srgbClr val="000000"/>
              </a:solidFill>
              <a:latin typeface="Calibri"/>
              <a:cs typeface="Calibri"/>
            </a:endParaRPr>
          </a:p>
        </p:txBody>
      </p:sp>
      <p:sp>
        <p:nvSpPr>
          <p:cNvPr id="23" name="Left Brace 22"/>
          <p:cNvSpPr/>
          <p:nvPr/>
        </p:nvSpPr>
        <p:spPr>
          <a:xfrm rot="16200000">
            <a:off x="6593277" y="36123"/>
            <a:ext cx="482600" cy="2721754"/>
          </a:xfrm>
          <a:prstGeom prst="leftBrace">
            <a:avLst>
              <a:gd name="adj1" fmla="val 53070"/>
              <a:gd name="adj2" fmla="val 50000"/>
            </a:avLst>
          </a:prstGeom>
          <a:noFill/>
          <a:ln w="57150" cmpd="sng">
            <a:solidFill>
              <a:schemeClr val="tx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2" name="Straight Arrow Connector 21"/>
          <p:cNvCxnSpPr/>
          <p:nvPr/>
        </p:nvCxnSpPr>
        <p:spPr>
          <a:xfrm flipH="1">
            <a:off x="2489200" y="1638300"/>
            <a:ext cx="4343400" cy="1282700"/>
          </a:xfrm>
          <a:prstGeom prst="straightConnector1">
            <a:avLst/>
          </a:prstGeom>
          <a:ln w="57150" cmpd="sng">
            <a:solidFill>
              <a:schemeClr val="tx1"/>
            </a:solidFill>
            <a:headEnd type="none"/>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p:nvPr/>
        </p:nvCxnSpPr>
        <p:spPr>
          <a:xfrm flipH="1">
            <a:off x="3784600" y="1168400"/>
            <a:ext cx="254000" cy="2590800"/>
          </a:xfrm>
          <a:prstGeom prst="straightConnector1">
            <a:avLst/>
          </a:prstGeom>
          <a:ln w="57150" cmpd="sng">
            <a:solidFill>
              <a:schemeClr val="tx1"/>
            </a:solidFill>
            <a:headEnd type="none"/>
            <a:tailEnd type="triangle" w="lg" len="lg"/>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775200" y="2890391"/>
            <a:ext cx="3911600" cy="584776"/>
          </a:xfrm>
          <a:prstGeom prst="rect">
            <a:avLst/>
          </a:prstGeom>
          <a:solidFill>
            <a:schemeClr val="tx1">
              <a:lumMod val="65000"/>
              <a:lumOff val="35000"/>
            </a:schemeClr>
          </a:solidFill>
          <a:ln w="3175" cmpd="sng">
            <a:noFill/>
          </a:ln>
          <a:effectLst/>
        </p:spPr>
        <p:txBody>
          <a:bodyPr wrap="square" rtlCol="0">
            <a:spAutoFit/>
          </a:bodyPr>
          <a:lstStyle/>
          <a:p>
            <a:pPr algn="ctr"/>
            <a:r>
              <a:rPr lang="en-US" sz="3200" b="1" dirty="0" smtClean="0">
                <a:solidFill>
                  <a:schemeClr val="bg1"/>
                </a:solidFill>
                <a:cs typeface="Calibri"/>
              </a:rPr>
              <a:t>effect of learning?</a:t>
            </a:r>
          </a:p>
        </p:txBody>
      </p:sp>
      <p:pic>
        <p:nvPicPr>
          <p:cNvPr id="25" name="Picture 24"/>
          <p:cNvPicPr>
            <a:picLocks noChangeAspect="1"/>
          </p:cNvPicPr>
          <p:nvPr/>
        </p:nvPicPr>
        <p:blipFill>
          <a:blip r:embed="rId8"/>
          <a:stretch>
            <a:fillRect/>
          </a:stretch>
        </p:blipFill>
        <p:spPr>
          <a:xfrm>
            <a:off x="742804" y="770226"/>
            <a:ext cx="7429500" cy="495300"/>
          </a:xfrm>
          <a:prstGeom prst="rect">
            <a:avLst/>
          </a:prstGeom>
        </p:spPr>
      </p:pic>
    </p:spTree>
    <p:extLst>
      <p:ext uri="{BB962C8B-B14F-4D97-AF65-F5344CB8AC3E}">
        <p14:creationId xmlns:p14="http://schemas.microsoft.com/office/powerpoint/2010/main" val="2441946718"/>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FF3AF9-2D61-8E40-AE3D-8390D801ED2C}" type="slidenum">
              <a:rPr lang="en-US" smtClean="0"/>
              <a:t>16</a:t>
            </a:fld>
            <a:endParaRPr lang="en-US"/>
          </a:p>
        </p:txBody>
      </p:sp>
      <p:sp>
        <p:nvSpPr>
          <p:cNvPr id="5" name="Rectangle 4"/>
          <p:cNvSpPr/>
          <p:nvPr/>
        </p:nvSpPr>
        <p:spPr>
          <a:xfrm>
            <a:off x="920750" y="3429000"/>
            <a:ext cx="444500" cy="17907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p:nvSpPr>
        <p:spPr>
          <a:xfrm>
            <a:off x="1581150" y="4076700"/>
            <a:ext cx="444500" cy="1143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p:cNvSpPr/>
          <p:nvPr/>
        </p:nvSpPr>
        <p:spPr>
          <a:xfrm>
            <a:off x="2235200" y="3340100"/>
            <a:ext cx="444500" cy="18796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2870200" y="4460051"/>
            <a:ext cx="444500" cy="75964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3530600" y="3251200"/>
            <a:ext cx="444500" cy="19685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 name="Straight Arrow Connector 10"/>
          <p:cNvCxnSpPr/>
          <p:nvPr/>
        </p:nvCxnSpPr>
        <p:spPr>
          <a:xfrm flipV="1">
            <a:off x="660400" y="2176804"/>
            <a:ext cx="0" cy="3042896"/>
          </a:xfrm>
          <a:prstGeom prst="straightConnector1">
            <a:avLst/>
          </a:prstGeom>
          <a:ln w="44450" cmpd="sng">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rot="16200000">
            <a:off x="-88901" y="2967335"/>
            <a:ext cx="825501" cy="400110"/>
          </a:xfrm>
          <a:prstGeom prst="rect">
            <a:avLst/>
          </a:prstGeom>
          <a:noFill/>
          <a:ln w="3175" cmpd="sng">
            <a:noFill/>
          </a:ln>
          <a:effectLst/>
        </p:spPr>
        <p:txBody>
          <a:bodyPr wrap="square" rtlCol="0">
            <a:spAutoFit/>
          </a:bodyPr>
          <a:lstStyle/>
          <a:p>
            <a:pPr algn="ctr"/>
            <a:r>
              <a:rPr lang="en-US" sz="2000" dirty="0" smtClean="0">
                <a:solidFill>
                  <a:srgbClr val="000000"/>
                </a:solidFill>
                <a:cs typeface="Calibri"/>
              </a:rPr>
              <a:t>score</a:t>
            </a:r>
            <a:endParaRPr lang="en-US" sz="2000" dirty="0" smtClean="0">
              <a:solidFill>
                <a:srgbClr val="000000"/>
              </a:solidFill>
              <a:latin typeface="Calibri"/>
              <a:cs typeface="Calibri"/>
            </a:endParaRPr>
          </a:p>
        </p:txBody>
      </p:sp>
      <p:pic>
        <p:nvPicPr>
          <p:cNvPr id="14" name="Picture 13"/>
          <p:cNvPicPr>
            <a:picLocks noChangeAspect="1"/>
          </p:cNvPicPr>
          <p:nvPr/>
        </p:nvPicPr>
        <p:blipFill>
          <a:blip r:embed="rId2"/>
          <a:stretch>
            <a:fillRect/>
          </a:stretch>
        </p:blipFill>
        <p:spPr>
          <a:xfrm>
            <a:off x="996950" y="5397500"/>
            <a:ext cx="254000" cy="203200"/>
          </a:xfrm>
          <a:prstGeom prst="rect">
            <a:avLst/>
          </a:prstGeom>
        </p:spPr>
      </p:pic>
      <p:pic>
        <p:nvPicPr>
          <p:cNvPr id="15" name="Picture 14"/>
          <p:cNvPicPr>
            <a:picLocks noChangeAspect="1"/>
          </p:cNvPicPr>
          <p:nvPr/>
        </p:nvPicPr>
        <p:blipFill>
          <a:blip r:embed="rId3"/>
          <a:stretch>
            <a:fillRect/>
          </a:stretch>
        </p:blipFill>
        <p:spPr>
          <a:xfrm>
            <a:off x="1670050" y="5397500"/>
            <a:ext cx="254000" cy="203200"/>
          </a:xfrm>
          <a:prstGeom prst="rect">
            <a:avLst/>
          </a:prstGeom>
        </p:spPr>
      </p:pic>
      <p:pic>
        <p:nvPicPr>
          <p:cNvPr id="16" name="Picture 15"/>
          <p:cNvPicPr>
            <a:picLocks noChangeAspect="1"/>
          </p:cNvPicPr>
          <p:nvPr/>
        </p:nvPicPr>
        <p:blipFill>
          <a:blip r:embed="rId4"/>
          <a:stretch>
            <a:fillRect/>
          </a:stretch>
        </p:blipFill>
        <p:spPr>
          <a:xfrm>
            <a:off x="2311400" y="5397500"/>
            <a:ext cx="266700" cy="203200"/>
          </a:xfrm>
          <a:prstGeom prst="rect">
            <a:avLst/>
          </a:prstGeom>
        </p:spPr>
      </p:pic>
      <p:pic>
        <p:nvPicPr>
          <p:cNvPr id="17" name="Picture 16"/>
          <p:cNvPicPr>
            <a:picLocks noChangeAspect="1"/>
          </p:cNvPicPr>
          <p:nvPr/>
        </p:nvPicPr>
        <p:blipFill>
          <a:blip r:embed="rId5"/>
          <a:stretch>
            <a:fillRect/>
          </a:stretch>
        </p:blipFill>
        <p:spPr>
          <a:xfrm>
            <a:off x="2946400" y="5397500"/>
            <a:ext cx="266700" cy="203200"/>
          </a:xfrm>
          <a:prstGeom prst="rect">
            <a:avLst/>
          </a:prstGeom>
        </p:spPr>
      </p:pic>
      <p:pic>
        <p:nvPicPr>
          <p:cNvPr id="18" name="Picture 17"/>
          <p:cNvPicPr>
            <a:picLocks noChangeAspect="1"/>
          </p:cNvPicPr>
          <p:nvPr/>
        </p:nvPicPr>
        <p:blipFill>
          <a:blip r:embed="rId6"/>
          <a:stretch>
            <a:fillRect/>
          </a:stretch>
        </p:blipFill>
        <p:spPr>
          <a:xfrm>
            <a:off x="3606800" y="5397500"/>
            <a:ext cx="254000" cy="203200"/>
          </a:xfrm>
          <a:prstGeom prst="rect">
            <a:avLst/>
          </a:prstGeom>
        </p:spPr>
      </p:pic>
      <p:pic>
        <p:nvPicPr>
          <p:cNvPr id="13" name="Picture 12" descr="smiley-face-clip-art-emotions-RidMBKdi9.jpeg"/>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67102" y="5676899"/>
            <a:ext cx="550333" cy="550333"/>
          </a:xfrm>
          <a:prstGeom prst="rect">
            <a:avLst/>
          </a:prstGeom>
        </p:spPr>
      </p:pic>
      <p:sp>
        <p:nvSpPr>
          <p:cNvPr id="20" name="TextBox 19"/>
          <p:cNvSpPr txBox="1"/>
          <p:nvPr/>
        </p:nvSpPr>
        <p:spPr>
          <a:xfrm>
            <a:off x="2946400" y="6293787"/>
            <a:ext cx="1628806" cy="400110"/>
          </a:xfrm>
          <a:prstGeom prst="rect">
            <a:avLst/>
          </a:prstGeom>
          <a:solidFill>
            <a:schemeClr val="tx1"/>
          </a:solidFill>
          <a:ln w="3175" cmpd="sng">
            <a:noFill/>
          </a:ln>
          <a:effectLst/>
        </p:spPr>
        <p:txBody>
          <a:bodyPr wrap="square" rtlCol="0" anchor="ctr">
            <a:spAutoFit/>
          </a:bodyPr>
          <a:lstStyle/>
          <a:p>
            <a:pPr algn="ctr"/>
            <a:r>
              <a:rPr lang="en-US" sz="2000" dirty="0" smtClean="0">
                <a:solidFill>
                  <a:srgbClr val="FFFF00"/>
                </a:solidFill>
                <a:cs typeface="Calibri"/>
              </a:rPr>
              <a:t>gold standard</a:t>
            </a:r>
            <a:endParaRPr lang="en-US" sz="2000" dirty="0" smtClean="0">
              <a:solidFill>
                <a:srgbClr val="FFFF00"/>
              </a:solidFill>
              <a:latin typeface="Calibri"/>
              <a:cs typeface="Calibri"/>
            </a:endParaRPr>
          </a:p>
        </p:txBody>
      </p:sp>
      <p:sp>
        <p:nvSpPr>
          <p:cNvPr id="21" name="TextBox 20"/>
          <p:cNvSpPr txBox="1"/>
          <p:nvPr/>
        </p:nvSpPr>
        <p:spPr>
          <a:xfrm>
            <a:off x="164351" y="186035"/>
            <a:ext cx="2515349" cy="461665"/>
          </a:xfrm>
          <a:prstGeom prst="rect">
            <a:avLst/>
          </a:prstGeom>
          <a:noFill/>
          <a:ln w="3175" cmpd="sng">
            <a:noFill/>
          </a:ln>
          <a:effectLst/>
        </p:spPr>
        <p:txBody>
          <a:bodyPr wrap="square" rtlCol="0">
            <a:spAutoFit/>
          </a:bodyPr>
          <a:lstStyle/>
          <a:p>
            <a:pPr algn="ctr"/>
            <a:r>
              <a:rPr lang="en-US" sz="2400" dirty="0" smtClean="0">
                <a:solidFill>
                  <a:srgbClr val="000000"/>
                </a:solidFill>
                <a:cs typeface="Calibri"/>
              </a:rPr>
              <a:t>perceptron loss:</a:t>
            </a:r>
            <a:endParaRPr lang="en-US" sz="2400" dirty="0" smtClean="0">
              <a:solidFill>
                <a:srgbClr val="000000"/>
              </a:solidFill>
              <a:latin typeface="Calibri"/>
              <a:cs typeface="Calibri"/>
            </a:endParaRPr>
          </a:p>
        </p:txBody>
      </p:sp>
      <p:sp>
        <p:nvSpPr>
          <p:cNvPr id="24" name="TextBox 23"/>
          <p:cNvSpPr txBox="1"/>
          <p:nvPr/>
        </p:nvSpPr>
        <p:spPr>
          <a:xfrm>
            <a:off x="4775200" y="2890391"/>
            <a:ext cx="3911600" cy="1569660"/>
          </a:xfrm>
          <a:prstGeom prst="rect">
            <a:avLst/>
          </a:prstGeom>
          <a:solidFill>
            <a:schemeClr val="tx1">
              <a:lumMod val="65000"/>
              <a:lumOff val="35000"/>
            </a:schemeClr>
          </a:solidFill>
          <a:ln w="3175" cmpd="sng">
            <a:noFill/>
          </a:ln>
          <a:effectLst/>
        </p:spPr>
        <p:txBody>
          <a:bodyPr wrap="square" rtlCol="0">
            <a:spAutoFit/>
          </a:bodyPr>
          <a:lstStyle/>
          <a:p>
            <a:pPr algn="ctr"/>
            <a:r>
              <a:rPr lang="en-US" sz="3200" b="1" dirty="0" smtClean="0">
                <a:solidFill>
                  <a:schemeClr val="bg1"/>
                </a:solidFill>
                <a:cs typeface="Calibri"/>
              </a:rPr>
              <a:t>effect of learning:</a:t>
            </a:r>
          </a:p>
          <a:p>
            <a:pPr algn="ctr"/>
            <a:r>
              <a:rPr lang="en-US" sz="3200" dirty="0" smtClean="0">
                <a:solidFill>
                  <a:schemeClr val="bg1"/>
                </a:solidFill>
                <a:cs typeface="Calibri"/>
              </a:rPr>
              <a:t>gold standard will have highest score</a:t>
            </a:r>
            <a:endParaRPr lang="en-US" sz="3200" dirty="0" smtClean="0">
              <a:solidFill>
                <a:schemeClr val="bg1"/>
              </a:solidFill>
              <a:latin typeface="Calibri"/>
              <a:cs typeface="Calibri"/>
            </a:endParaRPr>
          </a:p>
        </p:txBody>
      </p:sp>
      <p:pic>
        <p:nvPicPr>
          <p:cNvPr id="23" name="Picture 22"/>
          <p:cNvPicPr>
            <a:picLocks noChangeAspect="1"/>
          </p:cNvPicPr>
          <p:nvPr/>
        </p:nvPicPr>
        <p:blipFill>
          <a:blip r:embed="rId8"/>
          <a:stretch>
            <a:fillRect/>
          </a:stretch>
        </p:blipFill>
        <p:spPr>
          <a:xfrm>
            <a:off x="742804" y="770226"/>
            <a:ext cx="7429500" cy="495300"/>
          </a:xfrm>
          <a:prstGeom prst="rect">
            <a:avLst/>
          </a:prstGeom>
        </p:spPr>
      </p:pic>
    </p:spTree>
    <p:extLst>
      <p:ext uri="{BB962C8B-B14F-4D97-AF65-F5344CB8AC3E}">
        <p14:creationId xmlns:p14="http://schemas.microsoft.com/office/powerpoint/2010/main" val="3151463445"/>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3917930" y="6219102"/>
            <a:ext cx="1512091" cy="461665"/>
          </a:xfrm>
          <a:prstGeom prst="rect">
            <a:avLst/>
          </a:prstGeom>
          <a:solidFill>
            <a:srgbClr val="FFFFFF"/>
          </a:solidFill>
          <a:ln w="3175" cmpd="sng">
            <a:noFill/>
          </a:ln>
          <a:effectLst/>
        </p:spPr>
        <p:txBody>
          <a:bodyPr wrap="square" rtlCol="0" anchor="ctr">
            <a:spAutoFit/>
          </a:bodyPr>
          <a:lstStyle/>
          <a:p>
            <a:pPr algn="ctr"/>
            <a:r>
              <a:rPr lang="en-US" sz="2400" dirty="0" smtClean="0">
                <a:solidFill>
                  <a:srgbClr val="000000"/>
                </a:solidFill>
                <a:cs typeface="Calibri"/>
              </a:rPr>
              <a:t>score</a:t>
            </a:r>
            <a:endParaRPr lang="en-US" sz="2400" dirty="0" smtClean="0">
              <a:solidFill>
                <a:srgbClr val="000000"/>
              </a:solidFill>
              <a:latin typeface="Calibri"/>
              <a:cs typeface="Calibri"/>
            </a:endParaRPr>
          </a:p>
        </p:txBody>
      </p:sp>
      <p:sp>
        <p:nvSpPr>
          <p:cNvPr id="2" name="Rectangle 1"/>
          <p:cNvSpPr/>
          <p:nvPr/>
        </p:nvSpPr>
        <p:spPr>
          <a:xfrm>
            <a:off x="130504" y="1521547"/>
            <a:ext cx="536433" cy="108424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TextBox 6"/>
          <p:cNvSpPr txBox="1"/>
          <p:nvPr/>
        </p:nvSpPr>
        <p:spPr>
          <a:xfrm rot="16200000">
            <a:off x="-265794" y="2046760"/>
            <a:ext cx="1512091" cy="461665"/>
          </a:xfrm>
          <a:prstGeom prst="rect">
            <a:avLst/>
          </a:prstGeom>
          <a:solidFill>
            <a:srgbClr val="FFFFFF"/>
          </a:solidFill>
          <a:ln w="3175" cmpd="sng">
            <a:noFill/>
          </a:ln>
          <a:effectLst/>
        </p:spPr>
        <p:txBody>
          <a:bodyPr wrap="square" rtlCol="0" anchor="ctr">
            <a:spAutoFit/>
          </a:bodyPr>
          <a:lstStyle/>
          <a:p>
            <a:pPr algn="ctr"/>
            <a:r>
              <a:rPr lang="en-US" sz="2400" dirty="0" smtClean="0">
                <a:solidFill>
                  <a:srgbClr val="000000"/>
                </a:solidFill>
                <a:cs typeface="Calibri"/>
              </a:rPr>
              <a:t>-cost</a:t>
            </a:r>
            <a:endParaRPr lang="en-US" sz="2400" dirty="0" smtClean="0">
              <a:solidFill>
                <a:srgbClr val="000000"/>
              </a:solidFill>
              <a:latin typeface="Calibri"/>
              <a:cs typeface="Calibri"/>
            </a:endParaRPr>
          </a:p>
        </p:txBody>
      </p:sp>
      <p:sp>
        <p:nvSpPr>
          <p:cNvPr id="8" name="Oval 7"/>
          <p:cNvSpPr/>
          <p:nvPr/>
        </p:nvSpPr>
        <p:spPr>
          <a:xfrm>
            <a:off x="2660265" y="1368590"/>
            <a:ext cx="109476" cy="109476"/>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itle 1"/>
          <p:cNvSpPr>
            <a:spLocks noGrp="1"/>
          </p:cNvSpPr>
          <p:nvPr>
            <p:ph type="title"/>
          </p:nvPr>
        </p:nvSpPr>
        <p:spPr>
          <a:xfrm>
            <a:off x="304800" y="98538"/>
            <a:ext cx="8534400" cy="892062"/>
          </a:xfrm>
        </p:spPr>
        <p:txBody>
          <a:bodyPr>
            <a:normAutofit fontScale="90000"/>
          </a:bodyPr>
          <a:lstStyle/>
          <a:p>
            <a:r>
              <a:rPr lang="en-US" sz="3600" dirty="0" smtClean="0"/>
              <a:t>Visualization for </a:t>
            </a:r>
            <a:r>
              <a:rPr lang="en-US" sz="3600" dirty="0"/>
              <a:t>a single </a:t>
            </a:r>
            <a:r>
              <a:rPr lang="en-US" sz="3600" b="1" i="1" dirty="0" smtClean="0"/>
              <a:t>x</a:t>
            </a:r>
            <a:r>
              <a:rPr lang="en-US" sz="3600" dirty="0" smtClean="0"/>
              <a:t>:</a:t>
            </a:r>
            <a:r>
              <a:rPr lang="en-US" sz="3100" b="1" i="1" dirty="0" smtClean="0"/>
              <a:t/>
            </a:r>
            <a:br>
              <a:rPr lang="en-US" sz="3100" b="1" i="1" dirty="0" smtClean="0"/>
            </a:br>
            <a:r>
              <a:rPr lang="en-US" sz="3100" dirty="0" smtClean="0"/>
              <a:t>each point is a possible </a:t>
            </a:r>
            <a:r>
              <a:rPr lang="en-US" sz="3100" i="1" dirty="0" smtClean="0"/>
              <a:t>y</a:t>
            </a:r>
            <a:endParaRPr lang="en-US" sz="2000" b="1" i="1" dirty="0">
              <a:solidFill>
                <a:srgbClr val="0062AC"/>
              </a:solidFill>
            </a:endParaRPr>
          </a:p>
        </p:txBody>
      </p:sp>
    </p:spTree>
    <p:extLst>
      <p:ext uri="{BB962C8B-B14F-4D97-AF65-F5344CB8AC3E}">
        <p14:creationId xmlns:p14="http://schemas.microsoft.com/office/powerpoint/2010/main" val="2207910305"/>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3917930" y="6219102"/>
            <a:ext cx="1512091" cy="461665"/>
          </a:xfrm>
          <a:prstGeom prst="rect">
            <a:avLst/>
          </a:prstGeom>
          <a:solidFill>
            <a:srgbClr val="FFFFFF"/>
          </a:solidFill>
          <a:ln w="3175" cmpd="sng">
            <a:noFill/>
          </a:ln>
          <a:effectLst/>
        </p:spPr>
        <p:txBody>
          <a:bodyPr wrap="square" rtlCol="0" anchor="ctr">
            <a:spAutoFit/>
          </a:bodyPr>
          <a:lstStyle/>
          <a:p>
            <a:pPr algn="ctr"/>
            <a:r>
              <a:rPr lang="en-US" sz="2400" dirty="0" smtClean="0">
                <a:solidFill>
                  <a:srgbClr val="000000"/>
                </a:solidFill>
                <a:cs typeface="Calibri"/>
              </a:rPr>
              <a:t>score</a:t>
            </a:r>
            <a:endParaRPr lang="en-US" sz="2400" dirty="0" smtClean="0">
              <a:solidFill>
                <a:srgbClr val="000000"/>
              </a:solidFill>
              <a:latin typeface="Calibri"/>
              <a:cs typeface="Calibri"/>
            </a:endParaRPr>
          </a:p>
        </p:txBody>
      </p:sp>
      <p:sp>
        <p:nvSpPr>
          <p:cNvPr id="2" name="Rectangle 1"/>
          <p:cNvSpPr/>
          <p:nvPr/>
        </p:nvSpPr>
        <p:spPr>
          <a:xfrm>
            <a:off x="130504" y="1521547"/>
            <a:ext cx="536433" cy="108424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TextBox 6"/>
          <p:cNvSpPr txBox="1"/>
          <p:nvPr/>
        </p:nvSpPr>
        <p:spPr>
          <a:xfrm rot="16200000">
            <a:off x="-265794" y="2046760"/>
            <a:ext cx="1512091" cy="461665"/>
          </a:xfrm>
          <a:prstGeom prst="rect">
            <a:avLst/>
          </a:prstGeom>
          <a:solidFill>
            <a:srgbClr val="FFFFFF"/>
          </a:solidFill>
          <a:ln w="3175" cmpd="sng">
            <a:noFill/>
          </a:ln>
          <a:effectLst/>
        </p:spPr>
        <p:txBody>
          <a:bodyPr wrap="square" rtlCol="0" anchor="ctr">
            <a:spAutoFit/>
          </a:bodyPr>
          <a:lstStyle/>
          <a:p>
            <a:pPr algn="ctr"/>
            <a:r>
              <a:rPr lang="en-US" sz="2400" dirty="0" smtClean="0">
                <a:solidFill>
                  <a:srgbClr val="000000"/>
                </a:solidFill>
                <a:cs typeface="Calibri"/>
              </a:rPr>
              <a:t>-cost</a:t>
            </a:r>
            <a:endParaRPr lang="en-US" sz="2400" dirty="0" smtClean="0">
              <a:solidFill>
                <a:srgbClr val="000000"/>
              </a:solidFill>
              <a:latin typeface="Calibri"/>
              <a:cs typeface="Calibri"/>
            </a:endParaRPr>
          </a:p>
        </p:txBody>
      </p:sp>
      <p:sp>
        <p:nvSpPr>
          <p:cNvPr id="6" name="TextBox 5"/>
          <p:cNvSpPr txBox="1">
            <a:spLocks noChangeArrowheads="1"/>
          </p:cNvSpPr>
          <p:nvPr/>
        </p:nvSpPr>
        <p:spPr bwMode="auto">
          <a:xfrm>
            <a:off x="5814906" y="3671057"/>
            <a:ext cx="212505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2000" dirty="0" smtClean="0">
                <a:solidFill>
                  <a:srgbClr val="C00000"/>
                </a:solidFill>
                <a:latin typeface="Calibri"/>
                <a:cs typeface="Calibri"/>
              </a:rPr>
              <a:t>prediction</a:t>
            </a:r>
          </a:p>
          <a:p>
            <a:pPr eaLnBrk="1" hangingPunct="1"/>
            <a:r>
              <a:rPr lang="en-US" sz="2000" dirty="0" smtClean="0">
                <a:solidFill>
                  <a:srgbClr val="C00000"/>
                </a:solidFill>
                <a:latin typeface="Calibri"/>
                <a:cs typeface="Calibri"/>
              </a:rPr>
              <a:t>(output of classify)</a:t>
            </a:r>
            <a:endParaRPr lang="en-US" sz="2000" dirty="0">
              <a:solidFill>
                <a:srgbClr val="C00000"/>
              </a:solidFill>
              <a:latin typeface="Calibri"/>
              <a:cs typeface="Calibri"/>
            </a:endParaRPr>
          </a:p>
        </p:txBody>
      </p:sp>
      <p:cxnSp>
        <p:nvCxnSpPr>
          <p:cNvPr id="8" name="Straight Arrow Connector 7"/>
          <p:cNvCxnSpPr/>
          <p:nvPr/>
        </p:nvCxnSpPr>
        <p:spPr>
          <a:xfrm flipH="1" flipV="1">
            <a:off x="5431204" y="3473370"/>
            <a:ext cx="384574" cy="375657"/>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9" name="Oval 8"/>
          <p:cNvSpPr/>
          <p:nvPr/>
        </p:nvSpPr>
        <p:spPr>
          <a:xfrm>
            <a:off x="2660265" y="1368590"/>
            <a:ext cx="109476" cy="109476"/>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itle 1"/>
          <p:cNvSpPr>
            <a:spLocks noGrp="1"/>
          </p:cNvSpPr>
          <p:nvPr>
            <p:ph type="title"/>
          </p:nvPr>
        </p:nvSpPr>
        <p:spPr>
          <a:xfrm>
            <a:off x="304800" y="98538"/>
            <a:ext cx="8534400" cy="892062"/>
          </a:xfrm>
        </p:spPr>
        <p:txBody>
          <a:bodyPr>
            <a:normAutofit fontScale="90000"/>
          </a:bodyPr>
          <a:lstStyle/>
          <a:p>
            <a:r>
              <a:rPr lang="en-US" sz="3600" dirty="0" smtClean="0"/>
              <a:t>Visualization for </a:t>
            </a:r>
            <a:r>
              <a:rPr lang="en-US" sz="3600" dirty="0"/>
              <a:t>a single </a:t>
            </a:r>
            <a:r>
              <a:rPr lang="en-US" sz="3600" b="1" i="1" dirty="0" smtClean="0"/>
              <a:t>x</a:t>
            </a:r>
            <a:r>
              <a:rPr lang="en-US" sz="3600" dirty="0" smtClean="0"/>
              <a:t>:</a:t>
            </a:r>
            <a:r>
              <a:rPr lang="en-US" sz="3100" b="1" i="1" dirty="0" smtClean="0"/>
              <a:t/>
            </a:r>
            <a:br>
              <a:rPr lang="en-US" sz="3100" b="1" i="1" dirty="0" smtClean="0"/>
            </a:br>
            <a:r>
              <a:rPr lang="en-US" sz="3100" dirty="0" smtClean="0"/>
              <a:t>each point is a possible </a:t>
            </a:r>
            <a:r>
              <a:rPr lang="en-US" sz="3100" i="1" dirty="0" smtClean="0"/>
              <a:t>y</a:t>
            </a:r>
            <a:endParaRPr lang="en-US" sz="2000" b="1" i="1" dirty="0">
              <a:solidFill>
                <a:srgbClr val="0062AC"/>
              </a:solidFill>
            </a:endParaRPr>
          </a:p>
        </p:txBody>
      </p:sp>
    </p:spTree>
    <p:extLst>
      <p:ext uri="{BB962C8B-B14F-4D97-AF65-F5344CB8AC3E}">
        <p14:creationId xmlns:p14="http://schemas.microsoft.com/office/powerpoint/2010/main" val="3930962711"/>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12"/>
          <p:cNvSpPr/>
          <p:nvPr/>
        </p:nvSpPr>
        <p:spPr>
          <a:xfrm>
            <a:off x="5011271" y="27368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2" name="5-Point Star 1"/>
          <p:cNvSpPr/>
          <p:nvPr/>
        </p:nvSpPr>
        <p:spPr>
          <a:xfrm>
            <a:off x="2620833" y="1316176"/>
            <a:ext cx="207818" cy="207818"/>
          </a:xfrm>
          <a:prstGeom prst="star5">
            <a:avLst/>
          </a:prstGeom>
          <a:solidFill>
            <a:schemeClr val="tx1"/>
          </a:solidFill>
          <a:ln>
            <a:solidFill>
              <a:schemeClr val="tx1"/>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7" name="TextBox 6"/>
          <p:cNvSpPr txBox="1">
            <a:spLocks noChangeArrowheads="1"/>
          </p:cNvSpPr>
          <p:nvPr/>
        </p:nvSpPr>
        <p:spPr bwMode="auto">
          <a:xfrm>
            <a:off x="1056640" y="1245980"/>
            <a:ext cx="161175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32A031"/>
                </a:solidFill>
                <a:latin typeface="Calibri"/>
                <a:cs typeface="Calibri"/>
              </a:rPr>
              <a:t>gold standard</a:t>
            </a:r>
            <a:endParaRPr lang="en-US" sz="2000" dirty="0">
              <a:solidFill>
                <a:srgbClr val="32A031"/>
              </a:solidFill>
              <a:latin typeface="Calibri"/>
              <a:cs typeface="Calibri"/>
            </a:endParaRPr>
          </a:p>
        </p:txBody>
      </p:sp>
      <p:sp>
        <p:nvSpPr>
          <p:cNvPr id="8" name="TextBox 7"/>
          <p:cNvSpPr txBox="1"/>
          <p:nvPr/>
        </p:nvSpPr>
        <p:spPr>
          <a:xfrm>
            <a:off x="3917930" y="6219102"/>
            <a:ext cx="1512091" cy="461665"/>
          </a:xfrm>
          <a:prstGeom prst="rect">
            <a:avLst/>
          </a:prstGeom>
          <a:solidFill>
            <a:srgbClr val="FFFFFF"/>
          </a:solidFill>
          <a:ln w="3175" cmpd="sng">
            <a:noFill/>
          </a:ln>
          <a:effectLst/>
        </p:spPr>
        <p:txBody>
          <a:bodyPr wrap="square" rtlCol="0" anchor="ctr">
            <a:spAutoFit/>
          </a:bodyPr>
          <a:lstStyle/>
          <a:p>
            <a:pPr algn="ctr"/>
            <a:r>
              <a:rPr lang="en-US" sz="2400" dirty="0" smtClean="0">
                <a:solidFill>
                  <a:srgbClr val="000000"/>
                </a:solidFill>
                <a:cs typeface="Calibri"/>
              </a:rPr>
              <a:t>score</a:t>
            </a:r>
            <a:endParaRPr lang="en-US" sz="2400" dirty="0" smtClean="0">
              <a:solidFill>
                <a:srgbClr val="000000"/>
              </a:solidFill>
              <a:latin typeface="Calibri"/>
              <a:cs typeface="Calibri"/>
            </a:endParaRPr>
          </a:p>
        </p:txBody>
      </p:sp>
      <p:sp>
        <p:nvSpPr>
          <p:cNvPr id="9" name="Rectangle 8"/>
          <p:cNvSpPr/>
          <p:nvPr/>
        </p:nvSpPr>
        <p:spPr>
          <a:xfrm>
            <a:off x="130504" y="1521547"/>
            <a:ext cx="536433" cy="108424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p:cNvSpPr txBox="1"/>
          <p:nvPr/>
        </p:nvSpPr>
        <p:spPr>
          <a:xfrm rot="16200000">
            <a:off x="-265794" y="2046760"/>
            <a:ext cx="1512091" cy="461665"/>
          </a:xfrm>
          <a:prstGeom prst="rect">
            <a:avLst/>
          </a:prstGeom>
          <a:solidFill>
            <a:srgbClr val="FFFFFF"/>
          </a:solidFill>
          <a:ln w="3175" cmpd="sng">
            <a:noFill/>
          </a:ln>
          <a:effectLst/>
        </p:spPr>
        <p:txBody>
          <a:bodyPr wrap="square" rtlCol="0" anchor="ctr">
            <a:spAutoFit/>
          </a:bodyPr>
          <a:lstStyle/>
          <a:p>
            <a:pPr algn="ctr"/>
            <a:r>
              <a:rPr lang="en-US" sz="2400" dirty="0" smtClean="0">
                <a:solidFill>
                  <a:srgbClr val="000000"/>
                </a:solidFill>
                <a:cs typeface="Calibri"/>
              </a:rPr>
              <a:t>-cost</a:t>
            </a:r>
            <a:endParaRPr lang="en-US" sz="2400" dirty="0" smtClean="0">
              <a:solidFill>
                <a:srgbClr val="000000"/>
              </a:solidFill>
              <a:latin typeface="Calibri"/>
              <a:cs typeface="Calibri"/>
            </a:endParaRPr>
          </a:p>
        </p:txBody>
      </p:sp>
      <p:sp>
        <p:nvSpPr>
          <p:cNvPr id="11" name="TextBox 10"/>
          <p:cNvSpPr txBox="1">
            <a:spLocks noChangeArrowheads="1"/>
          </p:cNvSpPr>
          <p:nvPr/>
        </p:nvSpPr>
        <p:spPr bwMode="auto">
          <a:xfrm>
            <a:off x="5814906" y="3671057"/>
            <a:ext cx="212505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2000" dirty="0" smtClean="0">
                <a:solidFill>
                  <a:srgbClr val="C00000"/>
                </a:solidFill>
                <a:latin typeface="Calibri"/>
                <a:cs typeface="Calibri"/>
              </a:rPr>
              <a:t>prediction</a:t>
            </a:r>
          </a:p>
          <a:p>
            <a:pPr eaLnBrk="1" hangingPunct="1"/>
            <a:r>
              <a:rPr lang="en-US" sz="2000" dirty="0" smtClean="0">
                <a:solidFill>
                  <a:srgbClr val="C00000"/>
                </a:solidFill>
                <a:latin typeface="Calibri"/>
                <a:cs typeface="Calibri"/>
              </a:rPr>
              <a:t>(output of classify)</a:t>
            </a:r>
            <a:endParaRPr lang="en-US" sz="2000" dirty="0">
              <a:solidFill>
                <a:srgbClr val="C00000"/>
              </a:solidFill>
              <a:latin typeface="Calibri"/>
              <a:cs typeface="Calibri"/>
            </a:endParaRPr>
          </a:p>
        </p:txBody>
      </p:sp>
      <p:cxnSp>
        <p:nvCxnSpPr>
          <p:cNvPr id="12" name="Straight Arrow Connector 11"/>
          <p:cNvCxnSpPr/>
          <p:nvPr/>
        </p:nvCxnSpPr>
        <p:spPr>
          <a:xfrm flipH="1" flipV="1">
            <a:off x="5431204" y="3473370"/>
            <a:ext cx="384574" cy="375657"/>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4" name="Title 1"/>
          <p:cNvSpPr>
            <a:spLocks noGrp="1"/>
          </p:cNvSpPr>
          <p:nvPr>
            <p:ph type="title"/>
          </p:nvPr>
        </p:nvSpPr>
        <p:spPr>
          <a:xfrm>
            <a:off x="304800" y="98538"/>
            <a:ext cx="8534400" cy="892062"/>
          </a:xfrm>
        </p:spPr>
        <p:txBody>
          <a:bodyPr>
            <a:normAutofit fontScale="90000"/>
          </a:bodyPr>
          <a:lstStyle/>
          <a:p>
            <a:r>
              <a:rPr lang="en-US" sz="3600" dirty="0" smtClean="0"/>
              <a:t>Visualization for </a:t>
            </a:r>
            <a:r>
              <a:rPr lang="en-US" sz="3600" dirty="0"/>
              <a:t>a single </a:t>
            </a:r>
            <a:r>
              <a:rPr lang="en-US" sz="3600" b="1" i="1" dirty="0" smtClean="0"/>
              <a:t>x</a:t>
            </a:r>
            <a:r>
              <a:rPr lang="en-US" sz="3600" dirty="0" smtClean="0"/>
              <a:t>:</a:t>
            </a:r>
            <a:r>
              <a:rPr lang="en-US" sz="3100" b="1" i="1" dirty="0" smtClean="0"/>
              <a:t/>
            </a:r>
            <a:br>
              <a:rPr lang="en-US" sz="3100" b="1" i="1" dirty="0" smtClean="0"/>
            </a:br>
            <a:r>
              <a:rPr lang="en-US" sz="3100" dirty="0" smtClean="0"/>
              <a:t>each point is a possible </a:t>
            </a:r>
            <a:r>
              <a:rPr lang="en-US" sz="3100" i="1" dirty="0" smtClean="0"/>
              <a:t>y</a:t>
            </a:r>
            <a:endParaRPr lang="en-US" sz="2000" b="1" i="1" dirty="0">
              <a:solidFill>
                <a:srgbClr val="0062AC"/>
              </a:solidFill>
            </a:endParaRPr>
          </a:p>
        </p:txBody>
      </p:sp>
    </p:spTree>
    <p:extLst>
      <p:ext uri="{BB962C8B-B14F-4D97-AF65-F5344CB8AC3E}">
        <p14:creationId xmlns:p14="http://schemas.microsoft.com/office/powerpoint/2010/main" val="1543423176"/>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11"/>
          <p:cNvSpPr txBox="1">
            <a:spLocks noChangeArrowheads="1"/>
          </p:cNvSpPr>
          <p:nvPr/>
        </p:nvSpPr>
        <p:spPr bwMode="auto">
          <a:xfrm>
            <a:off x="4876800" y="1231900"/>
            <a:ext cx="4131887" cy="1200329"/>
          </a:xfrm>
          <a:prstGeom prst="rect">
            <a:avLst/>
          </a:prstGeom>
          <a:solidFill>
            <a:schemeClr val="tx1"/>
          </a:solidFill>
          <a:ln w="9525">
            <a:solidFill>
              <a:srgbClr val="000000"/>
            </a:solidFill>
            <a:miter lim="800000"/>
            <a:headEnd/>
            <a:tailEnd/>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3600" b="1" i="0" dirty="0" smtClean="0">
                <a:solidFill>
                  <a:srgbClr val="FFFF00"/>
                </a:solidFill>
                <a:latin typeface="Calibri"/>
                <a:cs typeface="Calibri"/>
              </a:rPr>
              <a:t>learning moves points in this plot</a:t>
            </a:r>
            <a:endParaRPr lang="en-US" sz="3600" b="1" i="0" dirty="0">
              <a:solidFill>
                <a:srgbClr val="FFFF00"/>
              </a:solidFill>
              <a:latin typeface="Calibri"/>
              <a:cs typeface="Calibri"/>
            </a:endParaRPr>
          </a:p>
        </p:txBody>
      </p:sp>
      <p:sp>
        <p:nvSpPr>
          <p:cNvPr id="8" name="TextBox 7"/>
          <p:cNvSpPr txBox="1"/>
          <p:nvPr/>
        </p:nvSpPr>
        <p:spPr>
          <a:xfrm>
            <a:off x="3917930" y="6219102"/>
            <a:ext cx="1512091" cy="461665"/>
          </a:xfrm>
          <a:prstGeom prst="rect">
            <a:avLst/>
          </a:prstGeom>
          <a:solidFill>
            <a:srgbClr val="FFFFFF"/>
          </a:solidFill>
          <a:ln w="3175" cmpd="sng">
            <a:noFill/>
          </a:ln>
          <a:effectLst/>
        </p:spPr>
        <p:txBody>
          <a:bodyPr wrap="square" rtlCol="0" anchor="ctr">
            <a:spAutoFit/>
          </a:bodyPr>
          <a:lstStyle/>
          <a:p>
            <a:pPr algn="ctr"/>
            <a:r>
              <a:rPr lang="en-US" sz="2400" dirty="0" smtClean="0">
                <a:solidFill>
                  <a:srgbClr val="000000"/>
                </a:solidFill>
                <a:cs typeface="Calibri"/>
              </a:rPr>
              <a:t>score</a:t>
            </a:r>
            <a:endParaRPr lang="en-US" sz="2400" dirty="0" smtClean="0">
              <a:solidFill>
                <a:srgbClr val="000000"/>
              </a:solidFill>
              <a:latin typeface="Calibri"/>
              <a:cs typeface="Calibri"/>
            </a:endParaRPr>
          </a:p>
        </p:txBody>
      </p:sp>
      <p:sp>
        <p:nvSpPr>
          <p:cNvPr id="9" name="Rectangle 8"/>
          <p:cNvSpPr/>
          <p:nvPr/>
        </p:nvSpPr>
        <p:spPr>
          <a:xfrm>
            <a:off x="130504" y="1521547"/>
            <a:ext cx="536433" cy="108424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p:cNvSpPr txBox="1"/>
          <p:nvPr/>
        </p:nvSpPr>
        <p:spPr>
          <a:xfrm rot="16200000">
            <a:off x="-265794" y="2046760"/>
            <a:ext cx="1512091" cy="461665"/>
          </a:xfrm>
          <a:prstGeom prst="rect">
            <a:avLst/>
          </a:prstGeom>
          <a:solidFill>
            <a:srgbClr val="FFFFFF"/>
          </a:solidFill>
          <a:ln w="3175" cmpd="sng">
            <a:noFill/>
          </a:ln>
          <a:effectLst/>
        </p:spPr>
        <p:txBody>
          <a:bodyPr wrap="square" rtlCol="0" anchor="ctr">
            <a:spAutoFit/>
          </a:bodyPr>
          <a:lstStyle/>
          <a:p>
            <a:pPr algn="ctr"/>
            <a:r>
              <a:rPr lang="en-US" sz="2400" dirty="0" smtClean="0">
                <a:solidFill>
                  <a:srgbClr val="000000"/>
                </a:solidFill>
                <a:cs typeface="Calibri"/>
              </a:rPr>
              <a:t>-cost</a:t>
            </a:r>
            <a:endParaRPr lang="en-US" sz="2400" dirty="0" smtClean="0">
              <a:solidFill>
                <a:srgbClr val="000000"/>
              </a:solidFill>
              <a:latin typeface="Calibri"/>
              <a:cs typeface="Calibri"/>
            </a:endParaRPr>
          </a:p>
        </p:txBody>
      </p:sp>
      <p:sp>
        <p:nvSpPr>
          <p:cNvPr id="13" name="5-Point Star 12"/>
          <p:cNvSpPr/>
          <p:nvPr/>
        </p:nvSpPr>
        <p:spPr>
          <a:xfrm>
            <a:off x="2620833" y="1316176"/>
            <a:ext cx="207818" cy="207818"/>
          </a:xfrm>
          <a:prstGeom prst="star5">
            <a:avLst/>
          </a:prstGeom>
          <a:solidFill>
            <a:schemeClr val="tx1"/>
          </a:solidFill>
          <a:ln>
            <a:solidFill>
              <a:schemeClr val="tx1"/>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Tree>
    <p:extLst>
      <p:ext uri="{BB962C8B-B14F-4D97-AF65-F5344CB8AC3E}">
        <p14:creationId xmlns:p14="http://schemas.microsoft.com/office/powerpoint/2010/main" val="2594881393"/>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11"/>
          <p:cNvSpPr txBox="1">
            <a:spLocks noChangeArrowheads="1"/>
          </p:cNvSpPr>
          <p:nvPr/>
        </p:nvSpPr>
        <p:spPr bwMode="auto">
          <a:xfrm>
            <a:off x="4876800" y="1231900"/>
            <a:ext cx="4131887" cy="1754327"/>
          </a:xfrm>
          <a:prstGeom prst="rect">
            <a:avLst/>
          </a:prstGeom>
          <a:solidFill>
            <a:schemeClr val="tx1"/>
          </a:solidFill>
          <a:ln w="9525">
            <a:solidFill>
              <a:srgbClr val="000000"/>
            </a:solidFill>
            <a:miter lim="800000"/>
            <a:headEnd/>
            <a:tailEnd/>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3600" b="1" i="0" dirty="0" smtClean="0">
                <a:solidFill>
                  <a:srgbClr val="FFFF00"/>
                </a:solidFill>
                <a:latin typeface="Calibri"/>
                <a:cs typeface="Calibri"/>
              </a:rPr>
              <a:t>learning moves points left or right in this plot</a:t>
            </a:r>
            <a:endParaRPr lang="en-US" sz="3600" b="1" i="0" dirty="0">
              <a:solidFill>
                <a:srgbClr val="FFFF00"/>
              </a:solidFill>
              <a:latin typeface="Calibri"/>
              <a:cs typeface="Calibri"/>
            </a:endParaRPr>
          </a:p>
        </p:txBody>
      </p:sp>
      <p:sp>
        <p:nvSpPr>
          <p:cNvPr id="8" name="TextBox 7"/>
          <p:cNvSpPr txBox="1"/>
          <p:nvPr/>
        </p:nvSpPr>
        <p:spPr>
          <a:xfrm>
            <a:off x="3917930" y="6219102"/>
            <a:ext cx="1512091" cy="461665"/>
          </a:xfrm>
          <a:prstGeom prst="rect">
            <a:avLst/>
          </a:prstGeom>
          <a:solidFill>
            <a:srgbClr val="FFFFFF"/>
          </a:solidFill>
          <a:ln w="3175" cmpd="sng">
            <a:noFill/>
          </a:ln>
          <a:effectLst/>
        </p:spPr>
        <p:txBody>
          <a:bodyPr wrap="square" rtlCol="0" anchor="ctr">
            <a:spAutoFit/>
          </a:bodyPr>
          <a:lstStyle/>
          <a:p>
            <a:pPr algn="ctr"/>
            <a:r>
              <a:rPr lang="en-US" sz="2400" dirty="0" smtClean="0">
                <a:solidFill>
                  <a:srgbClr val="000000"/>
                </a:solidFill>
                <a:cs typeface="Calibri"/>
              </a:rPr>
              <a:t>score</a:t>
            </a:r>
            <a:endParaRPr lang="en-US" sz="2400" dirty="0" smtClean="0">
              <a:solidFill>
                <a:srgbClr val="000000"/>
              </a:solidFill>
              <a:latin typeface="Calibri"/>
              <a:cs typeface="Calibri"/>
            </a:endParaRPr>
          </a:p>
        </p:txBody>
      </p:sp>
      <p:sp>
        <p:nvSpPr>
          <p:cNvPr id="9" name="Rectangle 8"/>
          <p:cNvSpPr/>
          <p:nvPr/>
        </p:nvSpPr>
        <p:spPr>
          <a:xfrm>
            <a:off x="130504" y="1521547"/>
            <a:ext cx="536433" cy="108424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p:cNvSpPr txBox="1"/>
          <p:nvPr/>
        </p:nvSpPr>
        <p:spPr>
          <a:xfrm rot="16200000">
            <a:off x="-265794" y="2046760"/>
            <a:ext cx="1512091" cy="461665"/>
          </a:xfrm>
          <a:prstGeom prst="rect">
            <a:avLst/>
          </a:prstGeom>
          <a:solidFill>
            <a:srgbClr val="FFFFFF"/>
          </a:solidFill>
          <a:ln w="3175" cmpd="sng">
            <a:noFill/>
          </a:ln>
          <a:effectLst/>
        </p:spPr>
        <p:txBody>
          <a:bodyPr wrap="square" rtlCol="0" anchor="ctr">
            <a:spAutoFit/>
          </a:bodyPr>
          <a:lstStyle/>
          <a:p>
            <a:pPr algn="ctr"/>
            <a:r>
              <a:rPr lang="en-US" sz="2400" dirty="0" smtClean="0">
                <a:solidFill>
                  <a:srgbClr val="000000"/>
                </a:solidFill>
                <a:cs typeface="Calibri"/>
              </a:rPr>
              <a:t>-cost</a:t>
            </a:r>
            <a:endParaRPr lang="en-US" sz="2400" dirty="0" smtClean="0">
              <a:solidFill>
                <a:srgbClr val="000000"/>
              </a:solidFill>
              <a:latin typeface="Calibri"/>
              <a:cs typeface="Calibri"/>
            </a:endParaRPr>
          </a:p>
        </p:txBody>
      </p:sp>
      <p:sp>
        <p:nvSpPr>
          <p:cNvPr id="13" name="5-Point Star 12"/>
          <p:cNvSpPr/>
          <p:nvPr/>
        </p:nvSpPr>
        <p:spPr>
          <a:xfrm>
            <a:off x="2620833" y="1316176"/>
            <a:ext cx="207818" cy="207818"/>
          </a:xfrm>
          <a:prstGeom prst="star5">
            <a:avLst/>
          </a:prstGeom>
          <a:solidFill>
            <a:schemeClr val="tx1"/>
          </a:solidFill>
          <a:ln>
            <a:solidFill>
              <a:schemeClr val="tx1"/>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Tree>
    <p:extLst>
      <p:ext uri="{BB962C8B-B14F-4D97-AF65-F5344CB8AC3E}">
        <p14:creationId xmlns:p14="http://schemas.microsoft.com/office/powerpoint/2010/main" val="2243457728"/>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937" y="12192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3917930" y="6219102"/>
            <a:ext cx="1512091" cy="461665"/>
          </a:xfrm>
          <a:prstGeom prst="rect">
            <a:avLst/>
          </a:prstGeom>
          <a:solidFill>
            <a:srgbClr val="FFFFFF"/>
          </a:solidFill>
          <a:ln w="3175" cmpd="sng">
            <a:noFill/>
          </a:ln>
          <a:effectLst/>
        </p:spPr>
        <p:txBody>
          <a:bodyPr wrap="square" rtlCol="0" anchor="ctr">
            <a:spAutoFit/>
          </a:bodyPr>
          <a:lstStyle/>
          <a:p>
            <a:pPr algn="ctr"/>
            <a:r>
              <a:rPr lang="en-US" sz="2400" dirty="0" smtClean="0">
                <a:solidFill>
                  <a:srgbClr val="000000"/>
                </a:solidFill>
                <a:cs typeface="Calibri"/>
              </a:rPr>
              <a:t>score</a:t>
            </a:r>
            <a:endParaRPr lang="en-US" sz="2400" dirty="0" smtClean="0">
              <a:solidFill>
                <a:srgbClr val="000000"/>
              </a:solidFill>
              <a:latin typeface="Calibri"/>
              <a:cs typeface="Calibri"/>
            </a:endParaRPr>
          </a:p>
        </p:txBody>
      </p:sp>
      <p:sp>
        <p:nvSpPr>
          <p:cNvPr id="9" name="Rectangle 8"/>
          <p:cNvSpPr/>
          <p:nvPr/>
        </p:nvSpPr>
        <p:spPr>
          <a:xfrm>
            <a:off x="130504" y="1521547"/>
            <a:ext cx="536433" cy="108424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p:cNvSpPr txBox="1"/>
          <p:nvPr/>
        </p:nvSpPr>
        <p:spPr>
          <a:xfrm rot="16200000">
            <a:off x="-265794" y="2046760"/>
            <a:ext cx="1512091" cy="461665"/>
          </a:xfrm>
          <a:prstGeom prst="rect">
            <a:avLst/>
          </a:prstGeom>
          <a:solidFill>
            <a:srgbClr val="FFFFFF"/>
          </a:solidFill>
          <a:ln w="3175" cmpd="sng">
            <a:noFill/>
          </a:ln>
          <a:effectLst/>
        </p:spPr>
        <p:txBody>
          <a:bodyPr wrap="square" rtlCol="0" anchor="ctr">
            <a:spAutoFit/>
          </a:bodyPr>
          <a:lstStyle/>
          <a:p>
            <a:pPr algn="ctr"/>
            <a:r>
              <a:rPr lang="en-US" sz="2400" dirty="0" smtClean="0">
                <a:solidFill>
                  <a:srgbClr val="000000"/>
                </a:solidFill>
                <a:cs typeface="Calibri"/>
              </a:rPr>
              <a:t>-cost</a:t>
            </a:r>
            <a:endParaRPr lang="en-US" sz="2400" dirty="0" smtClean="0">
              <a:solidFill>
                <a:srgbClr val="000000"/>
              </a:solidFill>
              <a:latin typeface="Calibri"/>
              <a:cs typeface="Calibri"/>
            </a:endParaRPr>
          </a:p>
        </p:txBody>
      </p:sp>
      <p:sp>
        <p:nvSpPr>
          <p:cNvPr id="12" name="5-Point Star 11"/>
          <p:cNvSpPr/>
          <p:nvPr/>
        </p:nvSpPr>
        <p:spPr>
          <a:xfrm>
            <a:off x="5010727" y="1316176"/>
            <a:ext cx="207818" cy="207818"/>
          </a:xfrm>
          <a:prstGeom prst="star5">
            <a:avLst/>
          </a:prstGeom>
          <a:solidFill>
            <a:schemeClr val="tx1"/>
          </a:solidFill>
          <a:ln>
            <a:solidFill>
              <a:schemeClr val="tx1"/>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1" name="Rectangle 10"/>
          <p:cNvSpPr/>
          <p:nvPr/>
        </p:nvSpPr>
        <p:spPr>
          <a:xfrm>
            <a:off x="1027342" y="985385"/>
            <a:ext cx="4774897" cy="496983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11"/>
          <p:cNvSpPr txBox="1">
            <a:spLocks noChangeArrowheads="1"/>
          </p:cNvSpPr>
          <p:nvPr/>
        </p:nvSpPr>
        <p:spPr bwMode="auto">
          <a:xfrm>
            <a:off x="5218545" y="3349873"/>
            <a:ext cx="3558309" cy="646331"/>
          </a:xfrm>
          <a:prstGeom prst="rect">
            <a:avLst/>
          </a:prstGeom>
          <a:solidFill>
            <a:schemeClr val="tx1"/>
          </a:solidFill>
          <a:ln w="9525">
            <a:solidFill>
              <a:srgbClr val="000000"/>
            </a:solidFill>
            <a:miter lim="800000"/>
            <a:headEnd/>
            <a:tailEnd/>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3600" b="1" i="0" dirty="0" smtClean="0">
                <a:solidFill>
                  <a:srgbClr val="FFFF00"/>
                </a:solidFill>
                <a:latin typeface="Calibri"/>
                <a:cs typeface="Calibri"/>
              </a:rPr>
              <a:t>“ideal” model?</a:t>
            </a:r>
            <a:endParaRPr lang="en-US" sz="3600" b="1" i="0" dirty="0">
              <a:solidFill>
                <a:srgbClr val="FFFF00"/>
              </a:solidFill>
              <a:latin typeface="Calibri"/>
              <a:cs typeface="Calibri"/>
            </a:endParaRPr>
          </a:p>
        </p:txBody>
      </p:sp>
    </p:spTree>
    <p:extLst>
      <p:ext uri="{BB962C8B-B14F-4D97-AF65-F5344CB8AC3E}">
        <p14:creationId xmlns:p14="http://schemas.microsoft.com/office/powerpoint/2010/main" val="3274011763"/>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937" y="12192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11"/>
          <p:cNvSpPr txBox="1">
            <a:spLocks noChangeArrowheads="1"/>
          </p:cNvSpPr>
          <p:nvPr/>
        </p:nvSpPr>
        <p:spPr bwMode="auto">
          <a:xfrm>
            <a:off x="5218545" y="3349873"/>
            <a:ext cx="3558309" cy="646331"/>
          </a:xfrm>
          <a:prstGeom prst="rect">
            <a:avLst/>
          </a:prstGeom>
          <a:solidFill>
            <a:schemeClr val="tx1"/>
          </a:solidFill>
          <a:ln w="9525">
            <a:solidFill>
              <a:srgbClr val="000000"/>
            </a:solidFill>
            <a:miter lim="800000"/>
            <a:headEnd/>
            <a:tailEnd/>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3600" b="1" i="0" dirty="0" smtClean="0">
                <a:solidFill>
                  <a:srgbClr val="FFFF00"/>
                </a:solidFill>
                <a:latin typeface="Calibri"/>
                <a:cs typeface="Calibri"/>
              </a:rPr>
              <a:t>“ideal” model?</a:t>
            </a:r>
            <a:endParaRPr lang="en-US" sz="3600" b="1" i="0" dirty="0">
              <a:solidFill>
                <a:srgbClr val="FFFF00"/>
              </a:solidFill>
              <a:latin typeface="Calibri"/>
              <a:cs typeface="Calibri"/>
            </a:endParaRPr>
          </a:p>
        </p:txBody>
      </p:sp>
      <p:sp>
        <p:nvSpPr>
          <p:cNvPr id="8" name="TextBox 7"/>
          <p:cNvSpPr txBox="1"/>
          <p:nvPr/>
        </p:nvSpPr>
        <p:spPr>
          <a:xfrm>
            <a:off x="3917930" y="6219102"/>
            <a:ext cx="1512091" cy="461665"/>
          </a:xfrm>
          <a:prstGeom prst="rect">
            <a:avLst/>
          </a:prstGeom>
          <a:solidFill>
            <a:srgbClr val="FFFFFF"/>
          </a:solidFill>
          <a:ln w="3175" cmpd="sng">
            <a:noFill/>
          </a:ln>
          <a:effectLst/>
        </p:spPr>
        <p:txBody>
          <a:bodyPr wrap="square" rtlCol="0" anchor="ctr">
            <a:spAutoFit/>
          </a:bodyPr>
          <a:lstStyle/>
          <a:p>
            <a:pPr algn="ctr"/>
            <a:r>
              <a:rPr lang="en-US" sz="2400" dirty="0" smtClean="0">
                <a:solidFill>
                  <a:srgbClr val="000000"/>
                </a:solidFill>
                <a:cs typeface="Calibri"/>
              </a:rPr>
              <a:t>score</a:t>
            </a:r>
            <a:endParaRPr lang="en-US" sz="2400" dirty="0" smtClean="0">
              <a:solidFill>
                <a:srgbClr val="000000"/>
              </a:solidFill>
              <a:latin typeface="Calibri"/>
              <a:cs typeface="Calibri"/>
            </a:endParaRPr>
          </a:p>
        </p:txBody>
      </p:sp>
      <p:sp>
        <p:nvSpPr>
          <p:cNvPr id="9" name="Rectangle 8"/>
          <p:cNvSpPr/>
          <p:nvPr/>
        </p:nvSpPr>
        <p:spPr>
          <a:xfrm>
            <a:off x="130504" y="1521547"/>
            <a:ext cx="536433" cy="108424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p:cNvSpPr txBox="1"/>
          <p:nvPr/>
        </p:nvSpPr>
        <p:spPr>
          <a:xfrm rot="16200000">
            <a:off x="-265794" y="2046760"/>
            <a:ext cx="1512091" cy="461665"/>
          </a:xfrm>
          <a:prstGeom prst="rect">
            <a:avLst/>
          </a:prstGeom>
          <a:solidFill>
            <a:srgbClr val="FFFFFF"/>
          </a:solidFill>
          <a:ln w="3175" cmpd="sng">
            <a:noFill/>
          </a:ln>
          <a:effectLst/>
        </p:spPr>
        <p:txBody>
          <a:bodyPr wrap="square" rtlCol="0" anchor="ctr">
            <a:spAutoFit/>
          </a:bodyPr>
          <a:lstStyle/>
          <a:p>
            <a:pPr algn="ctr"/>
            <a:r>
              <a:rPr lang="en-US" sz="2400" dirty="0" smtClean="0">
                <a:solidFill>
                  <a:srgbClr val="000000"/>
                </a:solidFill>
                <a:cs typeface="Calibri"/>
              </a:rPr>
              <a:t>-cost</a:t>
            </a:r>
            <a:endParaRPr lang="en-US" sz="2400" dirty="0" smtClean="0">
              <a:solidFill>
                <a:srgbClr val="000000"/>
              </a:solidFill>
              <a:latin typeface="Calibri"/>
              <a:cs typeface="Calibri"/>
            </a:endParaRPr>
          </a:p>
        </p:txBody>
      </p:sp>
      <p:sp>
        <p:nvSpPr>
          <p:cNvPr id="12" name="5-Point Star 11"/>
          <p:cNvSpPr/>
          <p:nvPr/>
        </p:nvSpPr>
        <p:spPr>
          <a:xfrm>
            <a:off x="5010727" y="1316176"/>
            <a:ext cx="207818" cy="207818"/>
          </a:xfrm>
          <a:prstGeom prst="star5">
            <a:avLst/>
          </a:prstGeom>
          <a:solidFill>
            <a:schemeClr val="tx1"/>
          </a:solidFill>
          <a:ln>
            <a:solidFill>
              <a:schemeClr val="tx1"/>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Tree>
    <p:extLst>
      <p:ext uri="{BB962C8B-B14F-4D97-AF65-F5344CB8AC3E}">
        <p14:creationId xmlns:p14="http://schemas.microsoft.com/office/powerpoint/2010/main" val="2196455645"/>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12"/>
          <p:cNvSpPr/>
          <p:nvPr/>
        </p:nvSpPr>
        <p:spPr>
          <a:xfrm>
            <a:off x="5011271" y="27368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7" name="Title 1"/>
          <p:cNvSpPr>
            <a:spLocks noGrp="1"/>
          </p:cNvSpPr>
          <p:nvPr>
            <p:ph type="title"/>
          </p:nvPr>
        </p:nvSpPr>
        <p:spPr>
          <a:xfrm>
            <a:off x="304800" y="304800"/>
            <a:ext cx="8534400" cy="685800"/>
          </a:xfrm>
        </p:spPr>
        <p:txBody>
          <a:bodyPr>
            <a:normAutofit fontScale="90000"/>
          </a:bodyPr>
          <a:lstStyle/>
          <a:p>
            <a:r>
              <a:rPr lang="en-US" dirty="0" smtClean="0"/>
              <a:t>Perceptron Loss?</a:t>
            </a:r>
            <a:endParaRPr lang="en-US" sz="2800" dirty="0">
              <a:solidFill>
                <a:srgbClr val="0062AC"/>
              </a:solidFill>
            </a:endParaRPr>
          </a:p>
        </p:txBody>
      </p:sp>
      <p:sp>
        <p:nvSpPr>
          <p:cNvPr id="2" name="5-Point Star 1"/>
          <p:cNvSpPr/>
          <p:nvPr/>
        </p:nvSpPr>
        <p:spPr>
          <a:xfrm>
            <a:off x="2620833" y="1316176"/>
            <a:ext cx="207818" cy="207818"/>
          </a:xfrm>
          <a:prstGeom prst="star5">
            <a:avLst/>
          </a:prstGeom>
          <a:solidFill>
            <a:schemeClr val="tx1"/>
          </a:solidFill>
          <a:ln>
            <a:solidFill>
              <a:schemeClr val="tx1"/>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1" name="TextBox 10"/>
          <p:cNvSpPr txBox="1"/>
          <p:nvPr/>
        </p:nvSpPr>
        <p:spPr>
          <a:xfrm>
            <a:off x="3917930" y="6219102"/>
            <a:ext cx="1512091" cy="461665"/>
          </a:xfrm>
          <a:prstGeom prst="rect">
            <a:avLst/>
          </a:prstGeom>
          <a:solidFill>
            <a:srgbClr val="FFFFFF"/>
          </a:solidFill>
          <a:ln w="3175" cmpd="sng">
            <a:noFill/>
          </a:ln>
          <a:effectLst/>
        </p:spPr>
        <p:txBody>
          <a:bodyPr wrap="square" rtlCol="0" anchor="ctr">
            <a:spAutoFit/>
          </a:bodyPr>
          <a:lstStyle/>
          <a:p>
            <a:pPr algn="ctr"/>
            <a:r>
              <a:rPr lang="en-US" sz="2400" dirty="0" smtClean="0">
                <a:solidFill>
                  <a:srgbClr val="000000"/>
                </a:solidFill>
                <a:cs typeface="Calibri"/>
              </a:rPr>
              <a:t>score</a:t>
            </a:r>
            <a:endParaRPr lang="en-US" sz="2400" dirty="0" smtClean="0">
              <a:solidFill>
                <a:srgbClr val="000000"/>
              </a:solidFill>
              <a:latin typeface="Calibri"/>
              <a:cs typeface="Calibri"/>
            </a:endParaRPr>
          </a:p>
        </p:txBody>
      </p:sp>
      <p:sp>
        <p:nvSpPr>
          <p:cNvPr id="15" name="Rectangle 14"/>
          <p:cNvSpPr/>
          <p:nvPr/>
        </p:nvSpPr>
        <p:spPr>
          <a:xfrm>
            <a:off x="130504" y="1521547"/>
            <a:ext cx="536433" cy="108424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extBox 15"/>
          <p:cNvSpPr txBox="1"/>
          <p:nvPr/>
        </p:nvSpPr>
        <p:spPr>
          <a:xfrm rot="16200000">
            <a:off x="-265794" y="2046760"/>
            <a:ext cx="1512091" cy="461665"/>
          </a:xfrm>
          <a:prstGeom prst="rect">
            <a:avLst/>
          </a:prstGeom>
          <a:solidFill>
            <a:srgbClr val="FFFFFF"/>
          </a:solidFill>
          <a:ln w="3175" cmpd="sng">
            <a:noFill/>
          </a:ln>
          <a:effectLst/>
        </p:spPr>
        <p:txBody>
          <a:bodyPr wrap="square" rtlCol="0" anchor="ctr">
            <a:spAutoFit/>
          </a:bodyPr>
          <a:lstStyle/>
          <a:p>
            <a:pPr algn="ctr"/>
            <a:r>
              <a:rPr lang="en-US" sz="2400" dirty="0" smtClean="0">
                <a:solidFill>
                  <a:srgbClr val="000000"/>
                </a:solidFill>
                <a:cs typeface="Calibri"/>
              </a:rPr>
              <a:t>-cost</a:t>
            </a:r>
            <a:endParaRPr lang="en-US" sz="2400" dirty="0" smtClean="0">
              <a:solidFill>
                <a:srgbClr val="000000"/>
              </a:solidFill>
              <a:latin typeface="Calibri"/>
              <a:cs typeface="Calibri"/>
            </a:endParaRPr>
          </a:p>
        </p:txBody>
      </p:sp>
    </p:spTree>
    <p:extLst>
      <p:ext uri="{BB962C8B-B14F-4D97-AF65-F5344CB8AC3E}">
        <p14:creationId xmlns:p14="http://schemas.microsoft.com/office/powerpoint/2010/main" val="3051053585"/>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12"/>
          <p:cNvSpPr/>
          <p:nvPr/>
        </p:nvSpPr>
        <p:spPr>
          <a:xfrm>
            <a:off x="5011271" y="27368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7" name="Title 1"/>
          <p:cNvSpPr>
            <a:spLocks noGrp="1"/>
          </p:cNvSpPr>
          <p:nvPr>
            <p:ph type="title"/>
          </p:nvPr>
        </p:nvSpPr>
        <p:spPr>
          <a:xfrm>
            <a:off x="304800" y="304800"/>
            <a:ext cx="8534400" cy="685800"/>
          </a:xfrm>
        </p:spPr>
        <p:txBody>
          <a:bodyPr>
            <a:normAutofit fontScale="90000"/>
          </a:bodyPr>
          <a:lstStyle/>
          <a:p>
            <a:r>
              <a:rPr lang="en-US" dirty="0" smtClean="0"/>
              <a:t>Perceptron Loss</a:t>
            </a:r>
            <a:endParaRPr lang="en-US" sz="2800" dirty="0">
              <a:solidFill>
                <a:srgbClr val="0062AC"/>
              </a:solidFill>
            </a:endParaRPr>
          </a:p>
        </p:txBody>
      </p:sp>
      <p:sp>
        <p:nvSpPr>
          <p:cNvPr id="9" name="Right Arrow 8"/>
          <p:cNvSpPr/>
          <p:nvPr/>
        </p:nvSpPr>
        <p:spPr>
          <a:xfrm>
            <a:off x="2886924" y="1337963"/>
            <a:ext cx="762000" cy="228600"/>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5-Point Star 1"/>
          <p:cNvSpPr/>
          <p:nvPr/>
        </p:nvSpPr>
        <p:spPr>
          <a:xfrm>
            <a:off x="2620833" y="1316176"/>
            <a:ext cx="207818" cy="207818"/>
          </a:xfrm>
          <a:prstGeom prst="star5">
            <a:avLst/>
          </a:prstGeom>
          <a:solidFill>
            <a:schemeClr val="tx1"/>
          </a:solidFill>
          <a:ln>
            <a:solidFill>
              <a:schemeClr val="tx1"/>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4" name="Right Arrow 13"/>
          <p:cNvSpPr/>
          <p:nvPr/>
        </p:nvSpPr>
        <p:spPr>
          <a:xfrm rot="10800000">
            <a:off x="4497321" y="3352650"/>
            <a:ext cx="762000" cy="228600"/>
          </a:xfrm>
          <a:prstGeom prst="rightArrow">
            <a:avLst/>
          </a:prstGeom>
          <a:solidFill>
            <a:srgbClr val="C50C0C"/>
          </a:solidFill>
          <a:ln>
            <a:solidFill>
              <a:srgbClr val="C50C0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TextBox 9"/>
          <p:cNvSpPr txBox="1">
            <a:spLocks noChangeArrowheads="1"/>
          </p:cNvSpPr>
          <p:nvPr/>
        </p:nvSpPr>
        <p:spPr bwMode="auto">
          <a:xfrm>
            <a:off x="1056640" y="1245980"/>
            <a:ext cx="161175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smtClean="0">
                <a:solidFill>
                  <a:srgbClr val="32A031"/>
                </a:solidFill>
                <a:latin typeface="Calibri"/>
                <a:cs typeface="Calibri"/>
              </a:rPr>
              <a:t>gold standard</a:t>
            </a:r>
            <a:endParaRPr lang="en-US" sz="2000" dirty="0">
              <a:solidFill>
                <a:srgbClr val="32A031"/>
              </a:solidFill>
              <a:latin typeface="Calibri"/>
              <a:cs typeface="Calibri"/>
            </a:endParaRPr>
          </a:p>
        </p:txBody>
      </p:sp>
      <p:sp>
        <p:nvSpPr>
          <p:cNvPr id="11" name="TextBox 10"/>
          <p:cNvSpPr txBox="1"/>
          <p:nvPr/>
        </p:nvSpPr>
        <p:spPr>
          <a:xfrm>
            <a:off x="3917930" y="6219102"/>
            <a:ext cx="1512091" cy="461665"/>
          </a:xfrm>
          <a:prstGeom prst="rect">
            <a:avLst/>
          </a:prstGeom>
          <a:solidFill>
            <a:srgbClr val="FFFFFF"/>
          </a:solidFill>
          <a:ln w="3175" cmpd="sng">
            <a:noFill/>
          </a:ln>
          <a:effectLst/>
        </p:spPr>
        <p:txBody>
          <a:bodyPr wrap="square" rtlCol="0" anchor="ctr">
            <a:spAutoFit/>
          </a:bodyPr>
          <a:lstStyle/>
          <a:p>
            <a:pPr algn="ctr"/>
            <a:r>
              <a:rPr lang="en-US" sz="2400" dirty="0" smtClean="0">
                <a:solidFill>
                  <a:srgbClr val="000000"/>
                </a:solidFill>
                <a:cs typeface="Calibri"/>
              </a:rPr>
              <a:t>score</a:t>
            </a:r>
            <a:endParaRPr lang="en-US" sz="2400" dirty="0" smtClean="0">
              <a:solidFill>
                <a:srgbClr val="000000"/>
              </a:solidFill>
              <a:latin typeface="Calibri"/>
              <a:cs typeface="Calibri"/>
            </a:endParaRPr>
          </a:p>
        </p:txBody>
      </p:sp>
      <p:sp>
        <p:nvSpPr>
          <p:cNvPr id="15" name="Rectangle 14"/>
          <p:cNvSpPr/>
          <p:nvPr/>
        </p:nvSpPr>
        <p:spPr>
          <a:xfrm>
            <a:off x="130504" y="1521547"/>
            <a:ext cx="536433" cy="108424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extBox 15"/>
          <p:cNvSpPr txBox="1"/>
          <p:nvPr/>
        </p:nvSpPr>
        <p:spPr>
          <a:xfrm rot="16200000">
            <a:off x="-265794" y="2046760"/>
            <a:ext cx="1512091" cy="461665"/>
          </a:xfrm>
          <a:prstGeom prst="rect">
            <a:avLst/>
          </a:prstGeom>
          <a:solidFill>
            <a:srgbClr val="FFFFFF"/>
          </a:solidFill>
          <a:ln w="3175" cmpd="sng">
            <a:noFill/>
          </a:ln>
          <a:effectLst/>
        </p:spPr>
        <p:txBody>
          <a:bodyPr wrap="square" rtlCol="0" anchor="ctr">
            <a:spAutoFit/>
          </a:bodyPr>
          <a:lstStyle/>
          <a:p>
            <a:pPr algn="ctr"/>
            <a:r>
              <a:rPr lang="en-US" sz="2400" dirty="0" smtClean="0">
                <a:solidFill>
                  <a:srgbClr val="000000"/>
                </a:solidFill>
                <a:cs typeface="Calibri"/>
              </a:rPr>
              <a:t>-cost</a:t>
            </a:r>
            <a:endParaRPr lang="en-US" sz="2400" dirty="0" smtClean="0">
              <a:solidFill>
                <a:srgbClr val="000000"/>
              </a:solidFill>
              <a:latin typeface="Calibri"/>
              <a:cs typeface="Calibri"/>
            </a:endParaRPr>
          </a:p>
        </p:txBody>
      </p:sp>
      <p:sp>
        <p:nvSpPr>
          <p:cNvPr id="18" name="TextBox 17"/>
          <p:cNvSpPr txBox="1">
            <a:spLocks noChangeArrowheads="1"/>
          </p:cNvSpPr>
          <p:nvPr/>
        </p:nvSpPr>
        <p:spPr bwMode="auto">
          <a:xfrm>
            <a:off x="5431737" y="3221262"/>
            <a:ext cx="212505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2000" dirty="0" smtClean="0">
                <a:solidFill>
                  <a:srgbClr val="C00000"/>
                </a:solidFill>
                <a:latin typeface="Calibri"/>
                <a:cs typeface="Calibri"/>
              </a:rPr>
              <a:t>prediction</a:t>
            </a:r>
          </a:p>
          <a:p>
            <a:pPr eaLnBrk="1" hangingPunct="1"/>
            <a:r>
              <a:rPr lang="en-US" sz="2000" dirty="0" smtClean="0">
                <a:solidFill>
                  <a:srgbClr val="C00000"/>
                </a:solidFill>
                <a:latin typeface="Calibri"/>
                <a:cs typeface="Calibri"/>
              </a:rPr>
              <a:t>(output of classify)</a:t>
            </a:r>
            <a:endParaRPr lang="en-US" sz="2000" dirty="0">
              <a:solidFill>
                <a:srgbClr val="C00000"/>
              </a:solidFill>
              <a:latin typeface="Calibri"/>
              <a:cs typeface="Calibri"/>
            </a:endParaRPr>
          </a:p>
        </p:txBody>
      </p:sp>
    </p:spTree>
    <p:extLst>
      <p:ext uri="{BB962C8B-B14F-4D97-AF65-F5344CB8AC3E}">
        <p14:creationId xmlns:p14="http://schemas.microsoft.com/office/powerpoint/2010/main" val="1489326663"/>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Losses for Linear Models</a:t>
            </a:r>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26</a:t>
            </a:fld>
            <a:endParaRPr lang="en-US"/>
          </a:p>
        </p:txBody>
      </p:sp>
      <p:pic>
        <p:nvPicPr>
          <p:cNvPr id="9" name="Picture 8"/>
          <p:cNvPicPr>
            <a:picLocks noChangeAspect="1"/>
          </p:cNvPicPr>
          <p:nvPr/>
        </p:nvPicPr>
        <p:blipFill>
          <a:blip r:embed="rId2"/>
          <a:stretch>
            <a:fillRect/>
          </a:stretch>
        </p:blipFill>
        <p:spPr>
          <a:xfrm>
            <a:off x="850900" y="1936576"/>
            <a:ext cx="7429500" cy="495300"/>
          </a:xfrm>
          <a:prstGeom prst="rect">
            <a:avLst/>
          </a:prstGeom>
        </p:spPr>
      </p:pic>
      <p:cxnSp>
        <p:nvCxnSpPr>
          <p:cNvPr id="10" name="Straight Arrow Connector 9"/>
          <p:cNvCxnSpPr/>
          <p:nvPr/>
        </p:nvCxnSpPr>
        <p:spPr bwMode="auto">
          <a:xfrm>
            <a:off x="3124317" y="2431876"/>
            <a:ext cx="0" cy="957985"/>
          </a:xfrm>
          <a:prstGeom prst="straightConnector1">
            <a:avLst/>
          </a:prstGeom>
          <a:solidFill>
            <a:schemeClr val="accent1"/>
          </a:solidFill>
          <a:ln w="44450" cap="rnd" cmpd="sng" algn="ctr">
            <a:solidFill>
              <a:srgbClr val="288CD2"/>
            </a:solidFill>
            <a:prstDash val="solid"/>
            <a:round/>
            <a:headEnd type="none" w="med" len="me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1" name="Picture 10"/>
          <p:cNvPicPr>
            <a:picLocks noChangeAspect="1"/>
          </p:cNvPicPr>
          <p:nvPr/>
        </p:nvPicPr>
        <p:blipFill>
          <a:blip r:embed="rId3"/>
          <a:stretch>
            <a:fillRect/>
          </a:stretch>
        </p:blipFill>
        <p:spPr>
          <a:xfrm>
            <a:off x="850900" y="3596570"/>
            <a:ext cx="7480300" cy="1358900"/>
          </a:xfrm>
          <a:prstGeom prst="rect">
            <a:avLst/>
          </a:prstGeom>
        </p:spPr>
      </p:pic>
      <p:sp>
        <p:nvSpPr>
          <p:cNvPr id="12" name="Rectangle 11"/>
          <p:cNvSpPr/>
          <p:nvPr/>
        </p:nvSpPr>
        <p:spPr>
          <a:xfrm>
            <a:off x="2452267" y="4171460"/>
            <a:ext cx="6382463" cy="147807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0678898"/>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Losses for Linear Models</a:t>
            </a:r>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27</a:t>
            </a:fld>
            <a:endParaRPr lang="en-US"/>
          </a:p>
        </p:txBody>
      </p:sp>
      <p:pic>
        <p:nvPicPr>
          <p:cNvPr id="8" name="Picture 7"/>
          <p:cNvPicPr>
            <a:picLocks noChangeAspect="1"/>
          </p:cNvPicPr>
          <p:nvPr/>
        </p:nvPicPr>
        <p:blipFill>
          <a:blip r:embed="rId2"/>
          <a:stretch>
            <a:fillRect/>
          </a:stretch>
        </p:blipFill>
        <p:spPr>
          <a:xfrm>
            <a:off x="850900" y="3596570"/>
            <a:ext cx="7480300" cy="1358900"/>
          </a:xfrm>
          <a:prstGeom prst="rect">
            <a:avLst/>
          </a:prstGeom>
        </p:spPr>
      </p:pic>
      <p:pic>
        <p:nvPicPr>
          <p:cNvPr id="9" name="Picture 8"/>
          <p:cNvPicPr>
            <a:picLocks noChangeAspect="1"/>
          </p:cNvPicPr>
          <p:nvPr/>
        </p:nvPicPr>
        <p:blipFill>
          <a:blip r:embed="rId3"/>
          <a:stretch>
            <a:fillRect/>
          </a:stretch>
        </p:blipFill>
        <p:spPr>
          <a:xfrm>
            <a:off x="850900" y="1936576"/>
            <a:ext cx="7429500" cy="495300"/>
          </a:xfrm>
          <a:prstGeom prst="rect">
            <a:avLst/>
          </a:prstGeom>
        </p:spPr>
      </p:pic>
      <p:cxnSp>
        <p:nvCxnSpPr>
          <p:cNvPr id="10" name="Straight Arrow Connector 9"/>
          <p:cNvCxnSpPr/>
          <p:nvPr/>
        </p:nvCxnSpPr>
        <p:spPr bwMode="auto">
          <a:xfrm>
            <a:off x="3124317" y="2431876"/>
            <a:ext cx="0" cy="957985"/>
          </a:xfrm>
          <a:prstGeom prst="straightConnector1">
            <a:avLst/>
          </a:prstGeom>
          <a:solidFill>
            <a:schemeClr val="accent1"/>
          </a:solidFill>
          <a:ln w="44450" cap="rnd" cmpd="sng" algn="ctr">
            <a:solidFill>
              <a:srgbClr val="288CD2"/>
            </a:solidFill>
            <a:prstDash val="solid"/>
            <a:round/>
            <a:headEnd type="none" w="med" len="me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241477253"/>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Loss </a:t>
            </a:r>
            <a:r>
              <a:rPr lang="en-US" dirty="0" err="1" smtClean="0"/>
              <a:t>Subgradients</a:t>
            </a:r>
            <a:r>
              <a:rPr lang="en-US" dirty="0" smtClean="0"/>
              <a:t> for Linear Models</a:t>
            </a:r>
            <a:endParaRPr lang="en-US" dirty="0"/>
          </a:p>
        </p:txBody>
      </p:sp>
      <p:sp>
        <p:nvSpPr>
          <p:cNvPr id="3" name="Content Placeholder 2"/>
          <p:cNvSpPr>
            <a:spLocks noGrp="1"/>
          </p:cNvSpPr>
          <p:nvPr>
            <p:ph idx="1"/>
          </p:nvPr>
        </p:nvSpPr>
        <p:spPr>
          <a:xfrm>
            <a:off x="355600" y="946740"/>
            <a:ext cx="8229600" cy="4806360"/>
          </a:xfrm>
        </p:spPr>
        <p:txBody>
          <a:bodyPr>
            <a:normAutofit/>
          </a:bodyPr>
          <a:lstStyle/>
          <a:p>
            <a:r>
              <a:rPr lang="en-US" sz="2800" dirty="0" smtClean="0"/>
              <a:t>some of our loss functions are not differentiable:</a:t>
            </a:r>
          </a:p>
          <a:p>
            <a:endParaRPr lang="en-US" sz="2800" dirty="0" smtClean="0"/>
          </a:p>
          <a:p>
            <a:endParaRPr lang="en-US" sz="2800" dirty="0"/>
          </a:p>
          <a:p>
            <a:pPr marL="0" indent="0">
              <a:buNone/>
            </a:pPr>
            <a:endParaRPr lang="en-US" sz="2800" dirty="0" smtClean="0"/>
          </a:p>
          <a:p>
            <a:r>
              <a:rPr lang="en-US" sz="2800" dirty="0" smtClean="0"/>
              <a:t>but they are </a:t>
            </a:r>
            <a:r>
              <a:rPr lang="en-US" sz="2800" dirty="0" err="1" smtClean="0">
                <a:solidFill>
                  <a:srgbClr val="000000"/>
                </a:solidFill>
              </a:rPr>
              <a:t>subdifferentiable</a:t>
            </a:r>
            <a:r>
              <a:rPr lang="en-US" sz="2800" dirty="0" smtClean="0">
                <a:solidFill>
                  <a:srgbClr val="000000"/>
                </a:solidFill>
              </a:rPr>
              <a:t>:</a:t>
            </a:r>
            <a:endParaRPr lang="en-US" sz="2800" dirty="0" smtClean="0"/>
          </a:p>
        </p:txBody>
      </p:sp>
      <p:sp>
        <p:nvSpPr>
          <p:cNvPr id="4" name="Slide Number Placeholder 3"/>
          <p:cNvSpPr>
            <a:spLocks noGrp="1"/>
          </p:cNvSpPr>
          <p:nvPr>
            <p:ph type="sldNum" sz="quarter" idx="12"/>
          </p:nvPr>
        </p:nvSpPr>
        <p:spPr/>
        <p:txBody>
          <a:bodyPr/>
          <a:lstStyle/>
          <a:p>
            <a:fld id="{3CFF3AF9-2D61-8E40-AE3D-8390D801ED2C}" type="slidenum">
              <a:rPr lang="en-US" smtClean="0"/>
              <a:t>28</a:t>
            </a:fld>
            <a:endParaRPr lang="en-US"/>
          </a:p>
        </p:txBody>
      </p:sp>
      <p:pic>
        <p:nvPicPr>
          <p:cNvPr id="5" name="Picture 4"/>
          <p:cNvPicPr>
            <a:picLocks noChangeAspect="1"/>
          </p:cNvPicPr>
          <p:nvPr/>
        </p:nvPicPr>
        <p:blipFill>
          <a:blip r:embed="rId2"/>
          <a:stretch>
            <a:fillRect/>
          </a:stretch>
        </p:blipFill>
        <p:spPr>
          <a:xfrm>
            <a:off x="825500" y="1887462"/>
            <a:ext cx="7480300" cy="673100"/>
          </a:xfrm>
          <a:prstGeom prst="rect">
            <a:avLst/>
          </a:prstGeom>
        </p:spPr>
      </p:pic>
      <p:pic>
        <p:nvPicPr>
          <p:cNvPr id="6" name="Picture 5"/>
          <p:cNvPicPr>
            <a:picLocks noChangeAspect="1"/>
          </p:cNvPicPr>
          <p:nvPr/>
        </p:nvPicPr>
        <p:blipFill>
          <a:blip r:embed="rId3"/>
          <a:stretch>
            <a:fillRect/>
          </a:stretch>
        </p:blipFill>
        <p:spPr>
          <a:xfrm>
            <a:off x="1170144" y="3852909"/>
            <a:ext cx="7416800" cy="800100"/>
          </a:xfrm>
          <a:prstGeom prst="rect">
            <a:avLst/>
          </a:prstGeom>
        </p:spPr>
      </p:pic>
      <p:sp>
        <p:nvSpPr>
          <p:cNvPr id="15" name="Rectangle 14"/>
          <p:cNvSpPr/>
          <p:nvPr/>
        </p:nvSpPr>
        <p:spPr>
          <a:xfrm>
            <a:off x="3853562" y="3736938"/>
            <a:ext cx="5290443" cy="91607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3721559"/>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Loss </a:t>
            </a:r>
            <a:r>
              <a:rPr lang="en-US" dirty="0" err="1" smtClean="0"/>
              <a:t>Subgradients</a:t>
            </a:r>
            <a:r>
              <a:rPr lang="en-US" dirty="0" smtClean="0"/>
              <a:t> for Linear Models</a:t>
            </a:r>
            <a:endParaRPr lang="en-US" dirty="0"/>
          </a:p>
        </p:txBody>
      </p:sp>
      <p:sp>
        <p:nvSpPr>
          <p:cNvPr id="3" name="Content Placeholder 2"/>
          <p:cNvSpPr>
            <a:spLocks noGrp="1"/>
          </p:cNvSpPr>
          <p:nvPr>
            <p:ph idx="1"/>
          </p:nvPr>
        </p:nvSpPr>
        <p:spPr>
          <a:xfrm>
            <a:off x="355600" y="946740"/>
            <a:ext cx="8229600" cy="4806360"/>
          </a:xfrm>
        </p:spPr>
        <p:txBody>
          <a:bodyPr>
            <a:normAutofit/>
          </a:bodyPr>
          <a:lstStyle/>
          <a:p>
            <a:r>
              <a:rPr lang="en-US" sz="2800" dirty="0" smtClean="0"/>
              <a:t>some of our loss functions are not differentiable:</a:t>
            </a:r>
          </a:p>
          <a:p>
            <a:endParaRPr lang="en-US" sz="2800" dirty="0" smtClean="0"/>
          </a:p>
          <a:p>
            <a:endParaRPr lang="en-US" sz="2800" dirty="0"/>
          </a:p>
          <a:p>
            <a:pPr marL="0" indent="0">
              <a:buNone/>
            </a:pPr>
            <a:endParaRPr lang="en-US" sz="2800" dirty="0" smtClean="0"/>
          </a:p>
          <a:p>
            <a:r>
              <a:rPr lang="en-US" sz="2800" dirty="0" smtClean="0"/>
              <a:t>but they are </a:t>
            </a:r>
            <a:r>
              <a:rPr lang="en-US" sz="2800" dirty="0" err="1" smtClean="0">
                <a:solidFill>
                  <a:srgbClr val="000000"/>
                </a:solidFill>
              </a:rPr>
              <a:t>subdifferentiable</a:t>
            </a:r>
            <a:r>
              <a:rPr lang="en-US" sz="2800" dirty="0" smtClean="0">
                <a:solidFill>
                  <a:srgbClr val="000000"/>
                </a:solidFill>
              </a:rPr>
              <a:t>:</a:t>
            </a:r>
            <a:endParaRPr lang="en-US" sz="2800" dirty="0" smtClean="0"/>
          </a:p>
        </p:txBody>
      </p:sp>
      <p:sp>
        <p:nvSpPr>
          <p:cNvPr id="4" name="Slide Number Placeholder 3"/>
          <p:cNvSpPr>
            <a:spLocks noGrp="1"/>
          </p:cNvSpPr>
          <p:nvPr>
            <p:ph type="sldNum" sz="quarter" idx="12"/>
          </p:nvPr>
        </p:nvSpPr>
        <p:spPr/>
        <p:txBody>
          <a:bodyPr/>
          <a:lstStyle/>
          <a:p>
            <a:fld id="{3CFF3AF9-2D61-8E40-AE3D-8390D801ED2C}" type="slidenum">
              <a:rPr lang="en-US" smtClean="0"/>
              <a:t>29</a:t>
            </a:fld>
            <a:endParaRPr lang="en-US"/>
          </a:p>
        </p:txBody>
      </p:sp>
      <p:pic>
        <p:nvPicPr>
          <p:cNvPr id="5" name="Picture 4"/>
          <p:cNvPicPr>
            <a:picLocks noChangeAspect="1"/>
          </p:cNvPicPr>
          <p:nvPr/>
        </p:nvPicPr>
        <p:blipFill>
          <a:blip r:embed="rId2"/>
          <a:stretch>
            <a:fillRect/>
          </a:stretch>
        </p:blipFill>
        <p:spPr>
          <a:xfrm>
            <a:off x="825500" y="1887462"/>
            <a:ext cx="7480300" cy="673100"/>
          </a:xfrm>
          <a:prstGeom prst="rect">
            <a:avLst/>
          </a:prstGeom>
        </p:spPr>
      </p:pic>
      <p:pic>
        <p:nvPicPr>
          <p:cNvPr id="6" name="Picture 5"/>
          <p:cNvPicPr>
            <a:picLocks noChangeAspect="1"/>
          </p:cNvPicPr>
          <p:nvPr/>
        </p:nvPicPr>
        <p:blipFill>
          <a:blip r:embed="rId3"/>
          <a:stretch>
            <a:fillRect/>
          </a:stretch>
        </p:blipFill>
        <p:spPr>
          <a:xfrm>
            <a:off x="1170144" y="3852909"/>
            <a:ext cx="7416800" cy="800100"/>
          </a:xfrm>
          <a:prstGeom prst="rect">
            <a:avLst/>
          </a:prstGeom>
        </p:spPr>
      </p:pic>
      <p:sp>
        <p:nvSpPr>
          <p:cNvPr id="15" name="Rectangle 14"/>
          <p:cNvSpPr/>
          <p:nvPr/>
        </p:nvSpPr>
        <p:spPr>
          <a:xfrm>
            <a:off x="5462869" y="3736938"/>
            <a:ext cx="3681136" cy="91607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8827342"/>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Loss </a:t>
            </a:r>
            <a:r>
              <a:rPr lang="en-US" dirty="0" err="1" smtClean="0"/>
              <a:t>Subgradients</a:t>
            </a:r>
            <a:r>
              <a:rPr lang="en-US" dirty="0" smtClean="0"/>
              <a:t> for Linear Models</a:t>
            </a:r>
            <a:endParaRPr lang="en-US" dirty="0"/>
          </a:p>
        </p:txBody>
      </p:sp>
      <p:sp>
        <p:nvSpPr>
          <p:cNvPr id="3" name="Content Placeholder 2"/>
          <p:cNvSpPr>
            <a:spLocks noGrp="1"/>
          </p:cNvSpPr>
          <p:nvPr>
            <p:ph idx="1"/>
          </p:nvPr>
        </p:nvSpPr>
        <p:spPr>
          <a:xfrm>
            <a:off x="355600" y="946740"/>
            <a:ext cx="8229600" cy="4806360"/>
          </a:xfrm>
        </p:spPr>
        <p:txBody>
          <a:bodyPr>
            <a:normAutofit/>
          </a:bodyPr>
          <a:lstStyle/>
          <a:p>
            <a:r>
              <a:rPr lang="en-US" sz="2800" dirty="0" smtClean="0"/>
              <a:t>some of our loss functions are not differentiable:</a:t>
            </a:r>
          </a:p>
          <a:p>
            <a:endParaRPr lang="en-US" sz="2800" dirty="0" smtClean="0"/>
          </a:p>
          <a:p>
            <a:endParaRPr lang="en-US" sz="2800" dirty="0"/>
          </a:p>
          <a:p>
            <a:pPr marL="0" indent="0">
              <a:buNone/>
            </a:pPr>
            <a:endParaRPr lang="en-US" sz="2800" dirty="0" smtClean="0"/>
          </a:p>
          <a:p>
            <a:r>
              <a:rPr lang="en-US" sz="2800" dirty="0" smtClean="0"/>
              <a:t>but they are </a:t>
            </a:r>
            <a:r>
              <a:rPr lang="en-US" sz="2800" dirty="0" err="1" smtClean="0">
                <a:solidFill>
                  <a:srgbClr val="000000"/>
                </a:solidFill>
              </a:rPr>
              <a:t>subdifferentiable</a:t>
            </a:r>
            <a:r>
              <a:rPr lang="en-US" sz="2800" dirty="0" smtClean="0">
                <a:solidFill>
                  <a:srgbClr val="000000"/>
                </a:solidFill>
              </a:rPr>
              <a:t>:</a:t>
            </a:r>
            <a:endParaRPr lang="en-US" sz="2800" dirty="0" smtClean="0"/>
          </a:p>
        </p:txBody>
      </p:sp>
      <p:sp>
        <p:nvSpPr>
          <p:cNvPr id="4" name="Slide Number Placeholder 3"/>
          <p:cNvSpPr>
            <a:spLocks noGrp="1"/>
          </p:cNvSpPr>
          <p:nvPr>
            <p:ph type="sldNum" sz="quarter" idx="12"/>
          </p:nvPr>
        </p:nvSpPr>
        <p:spPr/>
        <p:txBody>
          <a:bodyPr/>
          <a:lstStyle/>
          <a:p>
            <a:fld id="{3CFF3AF9-2D61-8E40-AE3D-8390D801ED2C}" type="slidenum">
              <a:rPr lang="en-US" smtClean="0"/>
              <a:t>30</a:t>
            </a:fld>
            <a:endParaRPr lang="en-US"/>
          </a:p>
        </p:txBody>
      </p:sp>
      <p:pic>
        <p:nvPicPr>
          <p:cNvPr id="5" name="Picture 4"/>
          <p:cNvPicPr>
            <a:picLocks noChangeAspect="1"/>
          </p:cNvPicPr>
          <p:nvPr/>
        </p:nvPicPr>
        <p:blipFill>
          <a:blip r:embed="rId2"/>
          <a:stretch>
            <a:fillRect/>
          </a:stretch>
        </p:blipFill>
        <p:spPr>
          <a:xfrm>
            <a:off x="825500" y="1887462"/>
            <a:ext cx="7480300" cy="673100"/>
          </a:xfrm>
          <a:prstGeom prst="rect">
            <a:avLst/>
          </a:prstGeom>
        </p:spPr>
      </p:pic>
      <p:pic>
        <p:nvPicPr>
          <p:cNvPr id="6" name="Picture 5"/>
          <p:cNvPicPr>
            <a:picLocks noChangeAspect="1"/>
          </p:cNvPicPr>
          <p:nvPr/>
        </p:nvPicPr>
        <p:blipFill>
          <a:blip r:embed="rId3"/>
          <a:stretch>
            <a:fillRect/>
          </a:stretch>
        </p:blipFill>
        <p:spPr>
          <a:xfrm>
            <a:off x="1170144" y="3852909"/>
            <a:ext cx="7416800" cy="800100"/>
          </a:xfrm>
          <a:prstGeom prst="rect">
            <a:avLst/>
          </a:prstGeom>
        </p:spPr>
      </p:pic>
    </p:spTree>
    <p:extLst>
      <p:ext uri="{BB962C8B-B14F-4D97-AF65-F5344CB8AC3E}">
        <p14:creationId xmlns:p14="http://schemas.microsoft.com/office/powerpoint/2010/main" val="2205607486"/>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Loss </a:t>
            </a:r>
            <a:r>
              <a:rPr lang="en-US" dirty="0" err="1" smtClean="0"/>
              <a:t>Subgradients</a:t>
            </a:r>
            <a:r>
              <a:rPr lang="en-US" dirty="0" smtClean="0"/>
              <a:t> for Linear Models</a:t>
            </a:r>
            <a:endParaRPr lang="en-US" dirty="0"/>
          </a:p>
        </p:txBody>
      </p:sp>
      <p:sp>
        <p:nvSpPr>
          <p:cNvPr id="3" name="Content Placeholder 2"/>
          <p:cNvSpPr>
            <a:spLocks noGrp="1"/>
          </p:cNvSpPr>
          <p:nvPr>
            <p:ph idx="1"/>
          </p:nvPr>
        </p:nvSpPr>
        <p:spPr>
          <a:xfrm>
            <a:off x="355600" y="946740"/>
            <a:ext cx="8229600" cy="4806360"/>
          </a:xfrm>
        </p:spPr>
        <p:txBody>
          <a:bodyPr>
            <a:normAutofit/>
          </a:bodyPr>
          <a:lstStyle/>
          <a:p>
            <a:r>
              <a:rPr lang="en-US" sz="2800" dirty="0" smtClean="0"/>
              <a:t>some of our loss functions are not differentiable:</a:t>
            </a:r>
          </a:p>
          <a:p>
            <a:endParaRPr lang="en-US" sz="2800" dirty="0" smtClean="0"/>
          </a:p>
          <a:p>
            <a:endParaRPr lang="en-US" sz="2800" dirty="0"/>
          </a:p>
          <a:p>
            <a:pPr marL="0" indent="0">
              <a:buNone/>
            </a:pPr>
            <a:endParaRPr lang="en-US" sz="2800" dirty="0" smtClean="0"/>
          </a:p>
          <a:p>
            <a:r>
              <a:rPr lang="en-US" sz="2800" dirty="0" smtClean="0"/>
              <a:t>but they are </a:t>
            </a:r>
            <a:r>
              <a:rPr lang="en-US" sz="2800" dirty="0" err="1" smtClean="0">
                <a:solidFill>
                  <a:srgbClr val="000000"/>
                </a:solidFill>
              </a:rPr>
              <a:t>subdifferentiable</a:t>
            </a:r>
            <a:r>
              <a:rPr lang="en-US" sz="2800" dirty="0" smtClean="0">
                <a:solidFill>
                  <a:srgbClr val="000000"/>
                </a:solidFill>
              </a:rPr>
              <a:t>:</a:t>
            </a:r>
            <a:endParaRPr lang="en-US" sz="2800" dirty="0" smtClean="0"/>
          </a:p>
        </p:txBody>
      </p:sp>
      <p:sp>
        <p:nvSpPr>
          <p:cNvPr id="4" name="Slide Number Placeholder 3"/>
          <p:cNvSpPr>
            <a:spLocks noGrp="1"/>
          </p:cNvSpPr>
          <p:nvPr>
            <p:ph type="sldNum" sz="quarter" idx="12"/>
          </p:nvPr>
        </p:nvSpPr>
        <p:spPr/>
        <p:txBody>
          <a:bodyPr/>
          <a:lstStyle/>
          <a:p>
            <a:fld id="{3CFF3AF9-2D61-8E40-AE3D-8390D801ED2C}" type="slidenum">
              <a:rPr lang="en-US" smtClean="0"/>
              <a:t>31</a:t>
            </a:fld>
            <a:endParaRPr lang="en-US"/>
          </a:p>
        </p:txBody>
      </p:sp>
      <p:pic>
        <p:nvPicPr>
          <p:cNvPr id="5" name="Picture 4"/>
          <p:cNvPicPr>
            <a:picLocks noChangeAspect="1"/>
          </p:cNvPicPr>
          <p:nvPr/>
        </p:nvPicPr>
        <p:blipFill>
          <a:blip r:embed="rId2"/>
          <a:stretch>
            <a:fillRect/>
          </a:stretch>
        </p:blipFill>
        <p:spPr>
          <a:xfrm>
            <a:off x="825500" y="1887462"/>
            <a:ext cx="7480300" cy="673100"/>
          </a:xfrm>
          <a:prstGeom prst="rect">
            <a:avLst/>
          </a:prstGeom>
        </p:spPr>
      </p:pic>
      <p:pic>
        <p:nvPicPr>
          <p:cNvPr id="8" name="Picture 7"/>
          <p:cNvPicPr>
            <a:picLocks noChangeAspect="1"/>
          </p:cNvPicPr>
          <p:nvPr/>
        </p:nvPicPr>
        <p:blipFill>
          <a:blip r:embed="rId3"/>
          <a:stretch>
            <a:fillRect/>
          </a:stretch>
        </p:blipFill>
        <p:spPr>
          <a:xfrm>
            <a:off x="76631" y="3841560"/>
            <a:ext cx="9012629" cy="673290"/>
          </a:xfrm>
          <a:prstGeom prst="rect">
            <a:avLst/>
          </a:prstGeom>
        </p:spPr>
      </p:pic>
      <p:sp>
        <p:nvSpPr>
          <p:cNvPr id="13" name="Rectangle 12"/>
          <p:cNvSpPr/>
          <p:nvPr/>
        </p:nvSpPr>
        <p:spPr>
          <a:xfrm>
            <a:off x="3073400" y="3736938"/>
            <a:ext cx="6070600" cy="91607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Content Placeholder 2"/>
          <p:cNvSpPr txBox="1">
            <a:spLocks/>
          </p:cNvSpPr>
          <p:nvPr/>
        </p:nvSpPr>
        <p:spPr>
          <a:xfrm>
            <a:off x="1333500" y="5120277"/>
            <a:ext cx="5114648" cy="908054"/>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2800" dirty="0" smtClean="0">
                <a:solidFill>
                  <a:srgbClr val="288CD2"/>
                </a:solidFill>
              </a:rPr>
              <a:t>find </a:t>
            </a:r>
            <a:r>
              <a:rPr lang="en-US" sz="2800" dirty="0" err="1" smtClean="0">
                <a:solidFill>
                  <a:srgbClr val="288CD2"/>
                </a:solidFill>
              </a:rPr>
              <a:t>subgradient</a:t>
            </a:r>
            <a:r>
              <a:rPr lang="en-US" sz="2800" dirty="0" smtClean="0">
                <a:solidFill>
                  <a:srgbClr val="288CD2"/>
                </a:solidFill>
              </a:rPr>
              <a:t> of the function that achieves the max</a:t>
            </a:r>
          </a:p>
        </p:txBody>
      </p:sp>
      <p:cxnSp>
        <p:nvCxnSpPr>
          <p:cNvPr id="14" name="Straight Arrow Connector 13"/>
          <p:cNvCxnSpPr/>
          <p:nvPr/>
        </p:nvCxnSpPr>
        <p:spPr>
          <a:xfrm flipH="1" flipV="1">
            <a:off x="850900" y="4580166"/>
            <a:ext cx="627029" cy="708062"/>
          </a:xfrm>
          <a:prstGeom prst="straightConnector1">
            <a:avLst/>
          </a:prstGeom>
          <a:ln w="57150" cmpd="sng">
            <a:solidFill>
              <a:srgbClr val="288CD2"/>
            </a:solidFill>
            <a:headEnd type="none"/>
            <a:tailEnd type="triangle" w="lg" len="lg"/>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11029798"/>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Loss </a:t>
            </a:r>
            <a:r>
              <a:rPr lang="en-US" dirty="0" err="1" smtClean="0"/>
              <a:t>Subgradients</a:t>
            </a:r>
            <a:r>
              <a:rPr lang="en-US" dirty="0" smtClean="0"/>
              <a:t> for Linear Models</a:t>
            </a:r>
            <a:endParaRPr lang="en-US" dirty="0"/>
          </a:p>
        </p:txBody>
      </p:sp>
      <p:sp>
        <p:nvSpPr>
          <p:cNvPr id="3" name="Content Placeholder 2"/>
          <p:cNvSpPr>
            <a:spLocks noGrp="1"/>
          </p:cNvSpPr>
          <p:nvPr>
            <p:ph idx="1"/>
          </p:nvPr>
        </p:nvSpPr>
        <p:spPr>
          <a:xfrm>
            <a:off x="355600" y="946740"/>
            <a:ext cx="8229600" cy="4806360"/>
          </a:xfrm>
        </p:spPr>
        <p:txBody>
          <a:bodyPr>
            <a:normAutofit/>
          </a:bodyPr>
          <a:lstStyle/>
          <a:p>
            <a:r>
              <a:rPr lang="en-US" sz="2800" dirty="0" smtClean="0"/>
              <a:t>some of our loss functions are not differentiable:</a:t>
            </a:r>
          </a:p>
          <a:p>
            <a:endParaRPr lang="en-US" sz="2800" dirty="0" smtClean="0"/>
          </a:p>
          <a:p>
            <a:endParaRPr lang="en-US" sz="2800" dirty="0"/>
          </a:p>
          <a:p>
            <a:pPr marL="0" indent="0">
              <a:buNone/>
            </a:pPr>
            <a:endParaRPr lang="en-US" sz="2800" dirty="0" smtClean="0"/>
          </a:p>
          <a:p>
            <a:r>
              <a:rPr lang="en-US" sz="2800" dirty="0" smtClean="0"/>
              <a:t>but they are </a:t>
            </a:r>
            <a:r>
              <a:rPr lang="en-US" sz="2800" dirty="0" err="1" smtClean="0">
                <a:solidFill>
                  <a:srgbClr val="000000"/>
                </a:solidFill>
              </a:rPr>
              <a:t>subdifferentiable</a:t>
            </a:r>
            <a:r>
              <a:rPr lang="en-US" sz="2800" dirty="0" smtClean="0">
                <a:solidFill>
                  <a:srgbClr val="000000"/>
                </a:solidFill>
              </a:rPr>
              <a:t>:</a:t>
            </a:r>
            <a:endParaRPr lang="en-US" sz="2800" dirty="0" smtClean="0"/>
          </a:p>
        </p:txBody>
      </p:sp>
      <p:sp>
        <p:nvSpPr>
          <p:cNvPr id="4" name="Slide Number Placeholder 3"/>
          <p:cNvSpPr>
            <a:spLocks noGrp="1"/>
          </p:cNvSpPr>
          <p:nvPr>
            <p:ph type="sldNum" sz="quarter" idx="12"/>
          </p:nvPr>
        </p:nvSpPr>
        <p:spPr/>
        <p:txBody>
          <a:bodyPr/>
          <a:lstStyle/>
          <a:p>
            <a:fld id="{3CFF3AF9-2D61-8E40-AE3D-8390D801ED2C}" type="slidenum">
              <a:rPr lang="en-US" smtClean="0"/>
              <a:t>32</a:t>
            </a:fld>
            <a:endParaRPr lang="en-US"/>
          </a:p>
        </p:txBody>
      </p:sp>
      <p:pic>
        <p:nvPicPr>
          <p:cNvPr id="5" name="Picture 4"/>
          <p:cNvPicPr>
            <a:picLocks noChangeAspect="1"/>
          </p:cNvPicPr>
          <p:nvPr/>
        </p:nvPicPr>
        <p:blipFill>
          <a:blip r:embed="rId2"/>
          <a:stretch>
            <a:fillRect/>
          </a:stretch>
        </p:blipFill>
        <p:spPr>
          <a:xfrm>
            <a:off x="825500" y="1887462"/>
            <a:ext cx="7480300" cy="673100"/>
          </a:xfrm>
          <a:prstGeom prst="rect">
            <a:avLst/>
          </a:prstGeom>
        </p:spPr>
      </p:pic>
      <p:pic>
        <p:nvPicPr>
          <p:cNvPr id="8" name="Picture 7"/>
          <p:cNvPicPr>
            <a:picLocks noChangeAspect="1"/>
          </p:cNvPicPr>
          <p:nvPr/>
        </p:nvPicPr>
        <p:blipFill>
          <a:blip r:embed="rId3"/>
          <a:stretch>
            <a:fillRect/>
          </a:stretch>
        </p:blipFill>
        <p:spPr>
          <a:xfrm>
            <a:off x="76631" y="3841560"/>
            <a:ext cx="9012629" cy="673290"/>
          </a:xfrm>
          <a:prstGeom prst="rect">
            <a:avLst/>
          </a:prstGeom>
        </p:spPr>
      </p:pic>
      <p:sp>
        <p:nvSpPr>
          <p:cNvPr id="9" name="Rectangle 8"/>
          <p:cNvSpPr/>
          <p:nvPr/>
        </p:nvSpPr>
        <p:spPr>
          <a:xfrm>
            <a:off x="6553200" y="3736938"/>
            <a:ext cx="2590799" cy="91607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Content Placeholder 2"/>
          <p:cNvSpPr txBox="1">
            <a:spLocks/>
          </p:cNvSpPr>
          <p:nvPr/>
        </p:nvSpPr>
        <p:spPr>
          <a:xfrm>
            <a:off x="1333500" y="5120277"/>
            <a:ext cx="5114648" cy="908054"/>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2800" dirty="0" smtClean="0">
                <a:solidFill>
                  <a:srgbClr val="288CD2"/>
                </a:solidFill>
              </a:rPr>
              <a:t>find </a:t>
            </a:r>
            <a:r>
              <a:rPr lang="en-US" sz="2800" dirty="0" err="1" smtClean="0">
                <a:solidFill>
                  <a:srgbClr val="288CD2"/>
                </a:solidFill>
              </a:rPr>
              <a:t>subgradient</a:t>
            </a:r>
            <a:r>
              <a:rPr lang="en-US" sz="2800" dirty="0" smtClean="0">
                <a:solidFill>
                  <a:srgbClr val="288CD2"/>
                </a:solidFill>
              </a:rPr>
              <a:t> of the function that achieves the max</a:t>
            </a:r>
          </a:p>
        </p:txBody>
      </p:sp>
      <p:cxnSp>
        <p:nvCxnSpPr>
          <p:cNvPr id="13" name="Straight Arrow Connector 12"/>
          <p:cNvCxnSpPr/>
          <p:nvPr/>
        </p:nvCxnSpPr>
        <p:spPr>
          <a:xfrm flipH="1" flipV="1">
            <a:off x="850900" y="4580166"/>
            <a:ext cx="627029" cy="708062"/>
          </a:xfrm>
          <a:prstGeom prst="straightConnector1">
            <a:avLst/>
          </a:prstGeom>
          <a:ln w="57150" cmpd="sng">
            <a:solidFill>
              <a:srgbClr val="288CD2"/>
            </a:solidFill>
            <a:headEnd type="none"/>
            <a:tailEnd type="triangle" w="lg" len="lg"/>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89662413"/>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Loss </a:t>
            </a:r>
            <a:r>
              <a:rPr lang="en-US" dirty="0" err="1" smtClean="0"/>
              <a:t>Subgradients</a:t>
            </a:r>
            <a:r>
              <a:rPr lang="en-US" dirty="0" smtClean="0"/>
              <a:t> for Linear Models</a:t>
            </a:r>
            <a:endParaRPr lang="en-US" dirty="0"/>
          </a:p>
        </p:txBody>
      </p:sp>
      <p:sp>
        <p:nvSpPr>
          <p:cNvPr id="3" name="Content Placeholder 2"/>
          <p:cNvSpPr>
            <a:spLocks noGrp="1"/>
          </p:cNvSpPr>
          <p:nvPr>
            <p:ph idx="1"/>
          </p:nvPr>
        </p:nvSpPr>
        <p:spPr>
          <a:xfrm>
            <a:off x="355600" y="946740"/>
            <a:ext cx="8229600" cy="4806360"/>
          </a:xfrm>
        </p:spPr>
        <p:txBody>
          <a:bodyPr>
            <a:normAutofit/>
          </a:bodyPr>
          <a:lstStyle/>
          <a:p>
            <a:r>
              <a:rPr lang="en-US" sz="2800" dirty="0" smtClean="0"/>
              <a:t>some of our loss functions are not differentiable:</a:t>
            </a:r>
          </a:p>
          <a:p>
            <a:endParaRPr lang="en-US" sz="2800" dirty="0" smtClean="0"/>
          </a:p>
          <a:p>
            <a:endParaRPr lang="en-US" sz="2800" dirty="0"/>
          </a:p>
          <a:p>
            <a:pPr marL="0" indent="0">
              <a:buNone/>
            </a:pPr>
            <a:endParaRPr lang="en-US" sz="2800" dirty="0" smtClean="0"/>
          </a:p>
          <a:p>
            <a:r>
              <a:rPr lang="en-US" sz="2800" dirty="0" smtClean="0"/>
              <a:t>but they are </a:t>
            </a:r>
            <a:r>
              <a:rPr lang="en-US" sz="2800" dirty="0" err="1" smtClean="0">
                <a:solidFill>
                  <a:srgbClr val="000000"/>
                </a:solidFill>
              </a:rPr>
              <a:t>subdifferentiable</a:t>
            </a:r>
            <a:r>
              <a:rPr lang="en-US" sz="2800" dirty="0" smtClean="0">
                <a:solidFill>
                  <a:srgbClr val="000000"/>
                </a:solidFill>
              </a:rPr>
              <a:t>:</a:t>
            </a:r>
            <a:endParaRPr lang="en-US" sz="2800" dirty="0" smtClean="0"/>
          </a:p>
        </p:txBody>
      </p:sp>
      <p:sp>
        <p:nvSpPr>
          <p:cNvPr id="4" name="Slide Number Placeholder 3"/>
          <p:cNvSpPr>
            <a:spLocks noGrp="1"/>
          </p:cNvSpPr>
          <p:nvPr>
            <p:ph type="sldNum" sz="quarter" idx="12"/>
          </p:nvPr>
        </p:nvSpPr>
        <p:spPr/>
        <p:txBody>
          <a:bodyPr/>
          <a:lstStyle/>
          <a:p>
            <a:fld id="{3CFF3AF9-2D61-8E40-AE3D-8390D801ED2C}" type="slidenum">
              <a:rPr lang="en-US" smtClean="0"/>
              <a:t>33</a:t>
            </a:fld>
            <a:endParaRPr lang="en-US"/>
          </a:p>
        </p:txBody>
      </p:sp>
      <p:pic>
        <p:nvPicPr>
          <p:cNvPr id="5" name="Picture 4"/>
          <p:cNvPicPr>
            <a:picLocks noChangeAspect="1"/>
          </p:cNvPicPr>
          <p:nvPr/>
        </p:nvPicPr>
        <p:blipFill>
          <a:blip r:embed="rId2"/>
          <a:stretch>
            <a:fillRect/>
          </a:stretch>
        </p:blipFill>
        <p:spPr>
          <a:xfrm>
            <a:off x="825500" y="1887462"/>
            <a:ext cx="7480300" cy="673100"/>
          </a:xfrm>
          <a:prstGeom prst="rect">
            <a:avLst/>
          </a:prstGeom>
        </p:spPr>
      </p:pic>
      <p:pic>
        <p:nvPicPr>
          <p:cNvPr id="8" name="Picture 7"/>
          <p:cNvPicPr>
            <a:picLocks noChangeAspect="1"/>
          </p:cNvPicPr>
          <p:nvPr/>
        </p:nvPicPr>
        <p:blipFill>
          <a:blip r:embed="rId3"/>
          <a:stretch>
            <a:fillRect/>
          </a:stretch>
        </p:blipFill>
        <p:spPr>
          <a:xfrm>
            <a:off x="76631" y="3841560"/>
            <a:ext cx="9012629" cy="673290"/>
          </a:xfrm>
          <a:prstGeom prst="rect">
            <a:avLst/>
          </a:prstGeom>
        </p:spPr>
      </p:pic>
      <p:sp>
        <p:nvSpPr>
          <p:cNvPr id="11" name="Content Placeholder 2"/>
          <p:cNvSpPr txBox="1">
            <a:spLocks/>
          </p:cNvSpPr>
          <p:nvPr/>
        </p:nvSpPr>
        <p:spPr>
          <a:xfrm>
            <a:off x="1333500" y="5120277"/>
            <a:ext cx="5114648" cy="908054"/>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2800" dirty="0" smtClean="0">
                <a:solidFill>
                  <a:srgbClr val="288CD2"/>
                </a:solidFill>
              </a:rPr>
              <a:t>find </a:t>
            </a:r>
            <a:r>
              <a:rPr lang="en-US" sz="2800" dirty="0" err="1" smtClean="0">
                <a:solidFill>
                  <a:srgbClr val="288CD2"/>
                </a:solidFill>
              </a:rPr>
              <a:t>subgradient</a:t>
            </a:r>
            <a:r>
              <a:rPr lang="en-US" sz="2800" dirty="0" smtClean="0">
                <a:solidFill>
                  <a:srgbClr val="288CD2"/>
                </a:solidFill>
              </a:rPr>
              <a:t> of the function that achieves the max</a:t>
            </a:r>
          </a:p>
        </p:txBody>
      </p:sp>
      <p:cxnSp>
        <p:nvCxnSpPr>
          <p:cNvPr id="12" name="Straight Arrow Connector 11"/>
          <p:cNvCxnSpPr/>
          <p:nvPr/>
        </p:nvCxnSpPr>
        <p:spPr>
          <a:xfrm flipH="1" flipV="1">
            <a:off x="850900" y="4580166"/>
            <a:ext cx="627029" cy="708062"/>
          </a:xfrm>
          <a:prstGeom prst="straightConnector1">
            <a:avLst/>
          </a:prstGeom>
          <a:ln w="57150" cmpd="sng">
            <a:solidFill>
              <a:srgbClr val="288CD2"/>
            </a:solidFill>
            <a:headEnd type="none"/>
            <a:tailEnd type="triangle" w="lg" len="lg"/>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11931125"/>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Loss </a:t>
            </a:r>
            <a:r>
              <a:rPr lang="en-US" dirty="0" err="1" smtClean="0"/>
              <a:t>Subgradients</a:t>
            </a:r>
            <a:r>
              <a:rPr lang="en-US" dirty="0" smtClean="0"/>
              <a:t> for Linear Models</a:t>
            </a:r>
            <a:endParaRPr lang="en-US" dirty="0"/>
          </a:p>
        </p:txBody>
      </p:sp>
      <p:sp>
        <p:nvSpPr>
          <p:cNvPr id="3" name="Content Placeholder 2"/>
          <p:cNvSpPr>
            <a:spLocks noGrp="1"/>
          </p:cNvSpPr>
          <p:nvPr>
            <p:ph idx="1"/>
          </p:nvPr>
        </p:nvSpPr>
        <p:spPr>
          <a:xfrm>
            <a:off x="355600" y="946740"/>
            <a:ext cx="8229600" cy="4806360"/>
          </a:xfrm>
        </p:spPr>
        <p:txBody>
          <a:bodyPr>
            <a:normAutofit/>
          </a:bodyPr>
          <a:lstStyle/>
          <a:p>
            <a:r>
              <a:rPr lang="en-US" sz="2800" dirty="0" smtClean="0"/>
              <a:t>perceptron loss:</a:t>
            </a:r>
          </a:p>
          <a:p>
            <a:endParaRPr lang="en-US" sz="2800" dirty="0" smtClean="0"/>
          </a:p>
          <a:p>
            <a:endParaRPr lang="en-US" sz="2800" dirty="0"/>
          </a:p>
          <a:p>
            <a:pPr marL="0" indent="0">
              <a:buNone/>
            </a:pPr>
            <a:endParaRPr lang="en-US" sz="2800" dirty="0" smtClean="0"/>
          </a:p>
          <a:p>
            <a:r>
              <a:rPr lang="en-US" sz="2800" dirty="0" err="1" smtClean="0">
                <a:solidFill>
                  <a:srgbClr val="000000"/>
                </a:solidFill>
              </a:rPr>
              <a:t>subderivative</a:t>
            </a:r>
            <a:r>
              <a:rPr lang="en-US" sz="2800" dirty="0" smtClean="0">
                <a:solidFill>
                  <a:srgbClr val="000000"/>
                </a:solidFill>
              </a:rPr>
              <a:t> for a single parameter:</a:t>
            </a:r>
            <a:endParaRPr lang="en-US" sz="2800" dirty="0" smtClean="0"/>
          </a:p>
        </p:txBody>
      </p:sp>
      <p:sp>
        <p:nvSpPr>
          <p:cNvPr id="4" name="Slide Number Placeholder 3"/>
          <p:cNvSpPr>
            <a:spLocks noGrp="1"/>
          </p:cNvSpPr>
          <p:nvPr>
            <p:ph type="sldNum" sz="quarter" idx="12"/>
          </p:nvPr>
        </p:nvSpPr>
        <p:spPr/>
        <p:txBody>
          <a:bodyPr/>
          <a:lstStyle/>
          <a:p>
            <a:fld id="{3CFF3AF9-2D61-8E40-AE3D-8390D801ED2C}" type="slidenum">
              <a:rPr lang="en-US" smtClean="0"/>
              <a:t>34</a:t>
            </a:fld>
            <a:endParaRPr lang="en-US"/>
          </a:p>
        </p:txBody>
      </p:sp>
      <p:pic>
        <p:nvPicPr>
          <p:cNvPr id="5" name="Picture 4"/>
          <p:cNvPicPr>
            <a:picLocks noChangeAspect="1"/>
          </p:cNvPicPr>
          <p:nvPr/>
        </p:nvPicPr>
        <p:blipFill>
          <a:blip r:embed="rId2"/>
          <a:stretch>
            <a:fillRect/>
          </a:stretch>
        </p:blipFill>
        <p:spPr>
          <a:xfrm>
            <a:off x="825500" y="1887462"/>
            <a:ext cx="7480300" cy="673100"/>
          </a:xfrm>
          <a:prstGeom prst="rect">
            <a:avLst/>
          </a:prstGeom>
        </p:spPr>
      </p:pic>
      <p:pic>
        <p:nvPicPr>
          <p:cNvPr id="14" name="Picture 13"/>
          <p:cNvPicPr>
            <a:picLocks noChangeAspect="1"/>
          </p:cNvPicPr>
          <p:nvPr/>
        </p:nvPicPr>
        <p:blipFill>
          <a:blip r:embed="rId3"/>
          <a:stretch>
            <a:fillRect/>
          </a:stretch>
        </p:blipFill>
        <p:spPr>
          <a:xfrm>
            <a:off x="1117600" y="3908928"/>
            <a:ext cx="6908800" cy="749300"/>
          </a:xfrm>
          <a:prstGeom prst="rect">
            <a:avLst/>
          </a:prstGeom>
        </p:spPr>
      </p:pic>
    </p:spTree>
    <p:extLst>
      <p:ext uri="{BB962C8B-B14F-4D97-AF65-F5344CB8AC3E}">
        <p14:creationId xmlns:p14="http://schemas.microsoft.com/office/powerpoint/2010/main" val="3781539305"/>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Loss </a:t>
            </a:r>
            <a:r>
              <a:rPr lang="en-US" dirty="0" err="1" smtClean="0"/>
              <a:t>Subgradients</a:t>
            </a:r>
            <a:r>
              <a:rPr lang="en-US" dirty="0" smtClean="0"/>
              <a:t> for Linear Models</a:t>
            </a:r>
            <a:endParaRPr lang="en-US" dirty="0"/>
          </a:p>
        </p:txBody>
      </p:sp>
      <p:sp>
        <p:nvSpPr>
          <p:cNvPr id="3" name="Content Placeholder 2"/>
          <p:cNvSpPr>
            <a:spLocks noGrp="1"/>
          </p:cNvSpPr>
          <p:nvPr>
            <p:ph idx="1"/>
          </p:nvPr>
        </p:nvSpPr>
        <p:spPr>
          <a:xfrm>
            <a:off x="355600" y="946739"/>
            <a:ext cx="8229600" cy="4899873"/>
          </a:xfrm>
        </p:spPr>
        <p:txBody>
          <a:bodyPr>
            <a:normAutofit/>
          </a:bodyPr>
          <a:lstStyle/>
          <a:p>
            <a:r>
              <a:rPr lang="en-US" sz="2800" dirty="0" smtClean="0"/>
              <a:t>perceptron loss and </a:t>
            </a:r>
            <a:r>
              <a:rPr lang="en-US" sz="2800" dirty="0" err="1" smtClean="0"/>
              <a:t>subgradient</a:t>
            </a:r>
            <a:r>
              <a:rPr lang="en-US" sz="2800" dirty="0" smtClean="0"/>
              <a:t>:</a:t>
            </a:r>
          </a:p>
          <a:p>
            <a:endParaRPr lang="en-US" sz="2800" dirty="0" smtClean="0"/>
          </a:p>
          <a:p>
            <a:endParaRPr lang="en-US" sz="2800" dirty="0"/>
          </a:p>
          <a:p>
            <a:pPr marL="0" indent="0">
              <a:buNone/>
            </a:pPr>
            <a:endParaRPr lang="en-US" sz="2800" dirty="0" smtClean="0"/>
          </a:p>
          <a:p>
            <a:pPr marL="0" indent="0">
              <a:buNone/>
            </a:pPr>
            <a:endParaRPr lang="en-US" sz="2800" dirty="0"/>
          </a:p>
          <a:p>
            <a:r>
              <a:rPr lang="en-US" sz="2800" dirty="0" smtClean="0"/>
              <a:t>parameter update</a:t>
            </a:r>
            <a:r>
              <a:rPr lang="en-US" sz="2800" dirty="0" smtClean="0">
                <a:solidFill>
                  <a:srgbClr val="000000"/>
                </a:solidFill>
              </a:rPr>
              <a:t>:</a:t>
            </a:r>
          </a:p>
          <a:p>
            <a:endParaRPr lang="en-US" sz="2800" dirty="0">
              <a:solidFill>
                <a:srgbClr val="000000"/>
              </a:solidFill>
            </a:endParaRPr>
          </a:p>
          <a:p>
            <a:endParaRPr lang="en-US" sz="2800" dirty="0" smtClean="0"/>
          </a:p>
        </p:txBody>
      </p:sp>
      <p:sp>
        <p:nvSpPr>
          <p:cNvPr id="4" name="Slide Number Placeholder 3"/>
          <p:cNvSpPr>
            <a:spLocks noGrp="1"/>
          </p:cNvSpPr>
          <p:nvPr>
            <p:ph type="sldNum" sz="quarter" idx="12"/>
          </p:nvPr>
        </p:nvSpPr>
        <p:spPr/>
        <p:txBody>
          <a:bodyPr/>
          <a:lstStyle/>
          <a:p>
            <a:fld id="{3CFF3AF9-2D61-8E40-AE3D-8390D801ED2C}" type="slidenum">
              <a:rPr lang="en-US" smtClean="0"/>
              <a:t>35</a:t>
            </a:fld>
            <a:endParaRPr lang="en-US"/>
          </a:p>
        </p:txBody>
      </p:sp>
      <p:pic>
        <p:nvPicPr>
          <p:cNvPr id="5" name="Picture 4"/>
          <p:cNvPicPr>
            <a:picLocks noChangeAspect="1"/>
          </p:cNvPicPr>
          <p:nvPr/>
        </p:nvPicPr>
        <p:blipFill>
          <a:blip r:embed="rId2"/>
          <a:stretch>
            <a:fillRect/>
          </a:stretch>
        </p:blipFill>
        <p:spPr>
          <a:xfrm>
            <a:off x="825500" y="1734180"/>
            <a:ext cx="7480300" cy="673100"/>
          </a:xfrm>
          <a:prstGeom prst="rect">
            <a:avLst/>
          </a:prstGeom>
        </p:spPr>
      </p:pic>
      <p:pic>
        <p:nvPicPr>
          <p:cNvPr id="14" name="Picture 13"/>
          <p:cNvPicPr>
            <a:picLocks noChangeAspect="1"/>
          </p:cNvPicPr>
          <p:nvPr/>
        </p:nvPicPr>
        <p:blipFill>
          <a:blip r:embed="rId3"/>
          <a:stretch>
            <a:fillRect/>
          </a:stretch>
        </p:blipFill>
        <p:spPr>
          <a:xfrm>
            <a:off x="850900" y="2638873"/>
            <a:ext cx="6908800" cy="749300"/>
          </a:xfrm>
          <a:prstGeom prst="rect">
            <a:avLst/>
          </a:prstGeom>
        </p:spPr>
      </p:pic>
      <p:pic>
        <p:nvPicPr>
          <p:cNvPr id="11" name="Picture 10"/>
          <p:cNvPicPr>
            <a:picLocks noChangeAspect="1"/>
          </p:cNvPicPr>
          <p:nvPr/>
        </p:nvPicPr>
        <p:blipFill>
          <a:blip r:embed="rId4"/>
          <a:stretch>
            <a:fillRect/>
          </a:stretch>
        </p:blipFill>
        <p:spPr>
          <a:xfrm>
            <a:off x="1816100" y="4359638"/>
            <a:ext cx="5511800" cy="330200"/>
          </a:xfrm>
          <a:prstGeom prst="rect">
            <a:avLst/>
          </a:prstGeom>
        </p:spPr>
      </p:pic>
    </p:spTree>
    <p:extLst>
      <p:ext uri="{BB962C8B-B14F-4D97-AF65-F5344CB8AC3E}">
        <p14:creationId xmlns:p14="http://schemas.microsoft.com/office/powerpoint/2010/main" val="2488453095"/>
      </p:ext>
    </p:extLst>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Loss </a:t>
            </a:r>
            <a:r>
              <a:rPr lang="en-US" dirty="0" err="1" smtClean="0"/>
              <a:t>Subgradients</a:t>
            </a:r>
            <a:r>
              <a:rPr lang="en-US" dirty="0" smtClean="0"/>
              <a:t> for Linear Models</a:t>
            </a:r>
            <a:endParaRPr lang="en-US" dirty="0"/>
          </a:p>
        </p:txBody>
      </p:sp>
      <p:sp>
        <p:nvSpPr>
          <p:cNvPr id="3" name="Content Placeholder 2"/>
          <p:cNvSpPr>
            <a:spLocks noGrp="1"/>
          </p:cNvSpPr>
          <p:nvPr>
            <p:ph idx="1"/>
          </p:nvPr>
        </p:nvSpPr>
        <p:spPr>
          <a:xfrm>
            <a:off x="355600" y="946739"/>
            <a:ext cx="8229600" cy="4899873"/>
          </a:xfrm>
        </p:spPr>
        <p:txBody>
          <a:bodyPr>
            <a:normAutofit/>
          </a:bodyPr>
          <a:lstStyle/>
          <a:p>
            <a:r>
              <a:rPr lang="en-US" sz="2800" dirty="0" smtClean="0"/>
              <a:t>perceptron loss and </a:t>
            </a:r>
            <a:r>
              <a:rPr lang="en-US" sz="2800" dirty="0" err="1" smtClean="0"/>
              <a:t>subgradient</a:t>
            </a:r>
            <a:r>
              <a:rPr lang="en-US" sz="2800" dirty="0" smtClean="0"/>
              <a:t>:</a:t>
            </a:r>
          </a:p>
          <a:p>
            <a:endParaRPr lang="en-US" sz="2800" dirty="0" smtClean="0"/>
          </a:p>
          <a:p>
            <a:endParaRPr lang="en-US" sz="2800" dirty="0"/>
          </a:p>
          <a:p>
            <a:pPr marL="0" indent="0">
              <a:buNone/>
            </a:pPr>
            <a:endParaRPr lang="en-US" sz="2800" dirty="0" smtClean="0"/>
          </a:p>
          <a:p>
            <a:pPr marL="0" indent="0">
              <a:buNone/>
            </a:pPr>
            <a:endParaRPr lang="en-US" sz="2800" dirty="0"/>
          </a:p>
          <a:p>
            <a:r>
              <a:rPr lang="en-US" sz="2800" dirty="0" smtClean="0"/>
              <a:t>parameter update</a:t>
            </a:r>
            <a:r>
              <a:rPr lang="en-US" sz="2800" dirty="0" smtClean="0">
                <a:solidFill>
                  <a:srgbClr val="000000"/>
                </a:solidFill>
              </a:rPr>
              <a:t>:</a:t>
            </a:r>
          </a:p>
          <a:p>
            <a:endParaRPr lang="en-US" sz="2800" dirty="0">
              <a:solidFill>
                <a:srgbClr val="000000"/>
              </a:solidFill>
            </a:endParaRPr>
          </a:p>
          <a:p>
            <a:endParaRPr lang="en-US" sz="2800" dirty="0" smtClean="0"/>
          </a:p>
        </p:txBody>
      </p:sp>
      <p:sp>
        <p:nvSpPr>
          <p:cNvPr id="4" name="Slide Number Placeholder 3"/>
          <p:cNvSpPr>
            <a:spLocks noGrp="1"/>
          </p:cNvSpPr>
          <p:nvPr>
            <p:ph type="sldNum" sz="quarter" idx="12"/>
          </p:nvPr>
        </p:nvSpPr>
        <p:spPr/>
        <p:txBody>
          <a:bodyPr/>
          <a:lstStyle/>
          <a:p>
            <a:fld id="{3CFF3AF9-2D61-8E40-AE3D-8390D801ED2C}" type="slidenum">
              <a:rPr lang="en-US" smtClean="0"/>
              <a:t>36</a:t>
            </a:fld>
            <a:endParaRPr lang="en-US"/>
          </a:p>
        </p:txBody>
      </p:sp>
      <p:pic>
        <p:nvPicPr>
          <p:cNvPr id="5" name="Picture 4"/>
          <p:cNvPicPr>
            <a:picLocks noChangeAspect="1"/>
          </p:cNvPicPr>
          <p:nvPr/>
        </p:nvPicPr>
        <p:blipFill>
          <a:blip r:embed="rId2"/>
          <a:stretch>
            <a:fillRect/>
          </a:stretch>
        </p:blipFill>
        <p:spPr>
          <a:xfrm>
            <a:off x="825500" y="1734180"/>
            <a:ext cx="7480300" cy="673100"/>
          </a:xfrm>
          <a:prstGeom prst="rect">
            <a:avLst/>
          </a:prstGeom>
        </p:spPr>
      </p:pic>
      <p:pic>
        <p:nvPicPr>
          <p:cNvPr id="14" name="Picture 13"/>
          <p:cNvPicPr>
            <a:picLocks noChangeAspect="1"/>
          </p:cNvPicPr>
          <p:nvPr/>
        </p:nvPicPr>
        <p:blipFill>
          <a:blip r:embed="rId3"/>
          <a:stretch>
            <a:fillRect/>
          </a:stretch>
        </p:blipFill>
        <p:spPr>
          <a:xfrm>
            <a:off x="850900" y="2638873"/>
            <a:ext cx="6908800" cy="749300"/>
          </a:xfrm>
          <a:prstGeom prst="rect">
            <a:avLst/>
          </a:prstGeom>
        </p:spPr>
      </p:pic>
      <p:pic>
        <p:nvPicPr>
          <p:cNvPr id="7" name="Picture 6"/>
          <p:cNvPicPr>
            <a:picLocks noChangeAspect="1"/>
          </p:cNvPicPr>
          <p:nvPr/>
        </p:nvPicPr>
        <p:blipFill>
          <a:blip r:embed="rId4"/>
          <a:stretch>
            <a:fillRect/>
          </a:stretch>
        </p:blipFill>
        <p:spPr>
          <a:xfrm>
            <a:off x="1587500" y="4249965"/>
            <a:ext cx="5969000" cy="330200"/>
          </a:xfrm>
          <a:prstGeom prst="rect">
            <a:avLst/>
          </a:prstGeom>
        </p:spPr>
      </p:pic>
      <p:sp>
        <p:nvSpPr>
          <p:cNvPr id="9" name="Content Placeholder 2"/>
          <p:cNvSpPr txBox="1">
            <a:spLocks/>
          </p:cNvSpPr>
          <p:nvPr/>
        </p:nvSpPr>
        <p:spPr>
          <a:xfrm>
            <a:off x="3430748" y="5461000"/>
            <a:ext cx="4114800" cy="908054"/>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2400" dirty="0" smtClean="0">
                <a:solidFill>
                  <a:srgbClr val="288CD2"/>
                </a:solidFill>
              </a:rPr>
              <a:t>step size / learning rate for stochastic </a:t>
            </a:r>
            <a:r>
              <a:rPr lang="en-US" sz="2400" dirty="0" err="1" smtClean="0">
                <a:solidFill>
                  <a:srgbClr val="288CD2"/>
                </a:solidFill>
              </a:rPr>
              <a:t>subgradient</a:t>
            </a:r>
            <a:r>
              <a:rPr lang="en-US" sz="2400" dirty="0" smtClean="0">
                <a:solidFill>
                  <a:srgbClr val="288CD2"/>
                </a:solidFill>
              </a:rPr>
              <a:t> descent</a:t>
            </a:r>
          </a:p>
        </p:txBody>
      </p:sp>
      <p:cxnSp>
        <p:nvCxnSpPr>
          <p:cNvPr id="10" name="Straight Arrow Connector 9"/>
          <p:cNvCxnSpPr/>
          <p:nvPr/>
        </p:nvCxnSpPr>
        <p:spPr>
          <a:xfrm flipH="1" flipV="1">
            <a:off x="3215586" y="4711550"/>
            <a:ext cx="508000" cy="880835"/>
          </a:xfrm>
          <a:prstGeom prst="straightConnector1">
            <a:avLst/>
          </a:prstGeom>
          <a:ln w="57150" cmpd="sng">
            <a:solidFill>
              <a:srgbClr val="288CD2"/>
            </a:solidFill>
            <a:headEnd type="none"/>
            <a:tailEnd type="triangle" w="lg" len="lg"/>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70178816"/>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Perceptron Loss with Regularization</a:t>
            </a:r>
            <a:endParaRPr lang="en-US" dirty="0"/>
          </a:p>
        </p:txBody>
      </p:sp>
      <p:sp>
        <p:nvSpPr>
          <p:cNvPr id="3" name="Content Placeholder 2"/>
          <p:cNvSpPr>
            <a:spLocks noGrp="1"/>
          </p:cNvSpPr>
          <p:nvPr>
            <p:ph idx="1"/>
          </p:nvPr>
        </p:nvSpPr>
        <p:spPr>
          <a:xfrm>
            <a:off x="457200" y="2677872"/>
            <a:ext cx="8229600" cy="3279499"/>
          </a:xfrm>
        </p:spPr>
        <p:txBody>
          <a:bodyPr>
            <a:normAutofit/>
          </a:bodyPr>
          <a:lstStyle/>
          <a:p>
            <a:r>
              <a:rPr lang="en-US" sz="2800" dirty="0" smtClean="0"/>
              <a:t>update rule from before:</a:t>
            </a:r>
          </a:p>
          <a:p>
            <a:endParaRPr lang="en-US" sz="2800" dirty="0"/>
          </a:p>
          <a:p>
            <a:endParaRPr lang="en-US" sz="1600" dirty="0" smtClean="0"/>
          </a:p>
          <a:p>
            <a:r>
              <a:rPr lang="en-US" sz="2800" dirty="0" smtClean="0"/>
              <a:t>with L2 regularization:</a:t>
            </a:r>
            <a:endParaRPr lang="en-US" sz="2800" dirty="0"/>
          </a:p>
        </p:txBody>
      </p:sp>
      <p:sp>
        <p:nvSpPr>
          <p:cNvPr id="4" name="Slide Number Placeholder 3"/>
          <p:cNvSpPr>
            <a:spLocks noGrp="1"/>
          </p:cNvSpPr>
          <p:nvPr>
            <p:ph type="sldNum" sz="quarter" idx="12"/>
          </p:nvPr>
        </p:nvSpPr>
        <p:spPr/>
        <p:txBody>
          <a:bodyPr/>
          <a:lstStyle/>
          <a:p>
            <a:fld id="{3CFF3AF9-2D61-8E40-AE3D-8390D801ED2C}" type="slidenum">
              <a:rPr lang="en-US" smtClean="0"/>
              <a:t>37</a:t>
            </a:fld>
            <a:endParaRPr lang="en-US"/>
          </a:p>
        </p:txBody>
      </p:sp>
      <p:pic>
        <p:nvPicPr>
          <p:cNvPr id="5" name="Picture 4"/>
          <p:cNvPicPr>
            <a:picLocks noChangeAspect="1"/>
          </p:cNvPicPr>
          <p:nvPr/>
        </p:nvPicPr>
        <p:blipFill>
          <a:blip r:embed="rId2"/>
          <a:stretch>
            <a:fillRect/>
          </a:stretch>
        </p:blipFill>
        <p:spPr>
          <a:xfrm>
            <a:off x="5321300" y="2004772"/>
            <a:ext cx="3378200" cy="673100"/>
          </a:xfrm>
          <a:prstGeom prst="rect">
            <a:avLst/>
          </a:prstGeom>
        </p:spPr>
      </p:pic>
      <p:pic>
        <p:nvPicPr>
          <p:cNvPr id="6" name="Picture 5"/>
          <p:cNvPicPr>
            <a:picLocks noChangeAspect="1"/>
          </p:cNvPicPr>
          <p:nvPr/>
        </p:nvPicPr>
        <p:blipFill>
          <a:blip r:embed="rId3"/>
          <a:stretch>
            <a:fillRect/>
          </a:stretch>
        </p:blipFill>
        <p:spPr>
          <a:xfrm>
            <a:off x="1346200" y="1064972"/>
            <a:ext cx="6451600" cy="939800"/>
          </a:xfrm>
          <a:prstGeom prst="rect">
            <a:avLst/>
          </a:prstGeom>
        </p:spPr>
      </p:pic>
      <p:pic>
        <p:nvPicPr>
          <p:cNvPr id="10" name="Picture 9"/>
          <p:cNvPicPr>
            <a:picLocks noChangeAspect="1"/>
          </p:cNvPicPr>
          <p:nvPr/>
        </p:nvPicPr>
        <p:blipFill>
          <a:blip r:embed="rId4"/>
          <a:stretch>
            <a:fillRect/>
          </a:stretch>
        </p:blipFill>
        <p:spPr>
          <a:xfrm>
            <a:off x="1041400" y="3396825"/>
            <a:ext cx="5969000" cy="330200"/>
          </a:xfrm>
          <a:prstGeom prst="rect">
            <a:avLst/>
          </a:prstGeom>
        </p:spPr>
      </p:pic>
    </p:spTree>
    <p:extLst>
      <p:ext uri="{BB962C8B-B14F-4D97-AF65-F5344CB8AC3E}">
        <p14:creationId xmlns:p14="http://schemas.microsoft.com/office/powerpoint/2010/main" val="284362142"/>
      </p:ext>
    </p:extLst>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Perceptron Loss with Regularization</a:t>
            </a:r>
            <a:endParaRPr lang="en-US" dirty="0"/>
          </a:p>
        </p:txBody>
      </p:sp>
      <p:sp>
        <p:nvSpPr>
          <p:cNvPr id="3" name="Content Placeholder 2"/>
          <p:cNvSpPr>
            <a:spLocks noGrp="1"/>
          </p:cNvSpPr>
          <p:nvPr>
            <p:ph idx="1"/>
          </p:nvPr>
        </p:nvSpPr>
        <p:spPr>
          <a:xfrm>
            <a:off x="457200" y="2677872"/>
            <a:ext cx="8229600" cy="3279499"/>
          </a:xfrm>
        </p:spPr>
        <p:txBody>
          <a:bodyPr>
            <a:normAutofit/>
          </a:bodyPr>
          <a:lstStyle/>
          <a:p>
            <a:r>
              <a:rPr lang="en-US" sz="2800" dirty="0" smtClean="0"/>
              <a:t>update rule from before:</a:t>
            </a:r>
          </a:p>
          <a:p>
            <a:endParaRPr lang="en-US" sz="2800" dirty="0"/>
          </a:p>
          <a:p>
            <a:endParaRPr lang="en-US" sz="1600" dirty="0" smtClean="0"/>
          </a:p>
          <a:p>
            <a:r>
              <a:rPr lang="en-US" sz="2800" dirty="0" smtClean="0"/>
              <a:t>with L2 regularization:</a:t>
            </a:r>
            <a:endParaRPr lang="en-US" sz="2800" dirty="0"/>
          </a:p>
        </p:txBody>
      </p:sp>
      <p:sp>
        <p:nvSpPr>
          <p:cNvPr id="4" name="Slide Number Placeholder 3"/>
          <p:cNvSpPr>
            <a:spLocks noGrp="1"/>
          </p:cNvSpPr>
          <p:nvPr>
            <p:ph type="sldNum" sz="quarter" idx="12"/>
          </p:nvPr>
        </p:nvSpPr>
        <p:spPr/>
        <p:txBody>
          <a:bodyPr/>
          <a:lstStyle/>
          <a:p>
            <a:fld id="{3CFF3AF9-2D61-8E40-AE3D-8390D801ED2C}" type="slidenum">
              <a:rPr lang="en-US" smtClean="0"/>
              <a:t>38</a:t>
            </a:fld>
            <a:endParaRPr lang="en-US"/>
          </a:p>
        </p:txBody>
      </p:sp>
      <p:pic>
        <p:nvPicPr>
          <p:cNvPr id="5" name="Picture 4"/>
          <p:cNvPicPr>
            <a:picLocks noChangeAspect="1"/>
          </p:cNvPicPr>
          <p:nvPr/>
        </p:nvPicPr>
        <p:blipFill>
          <a:blip r:embed="rId2"/>
          <a:stretch>
            <a:fillRect/>
          </a:stretch>
        </p:blipFill>
        <p:spPr>
          <a:xfrm>
            <a:off x="5321300" y="2004772"/>
            <a:ext cx="3378200" cy="673100"/>
          </a:xfrm>
          <a:prstGeom prst="rect">
            <a:avLst/>
          </a:prstGeom>
        </p:spPr>
      </p:pic>
      <p:pic>
        <p:nvPicPr>
          <p:cNvPr id="6" name="Picture 5"/>
          <p:cNvPicPr>
            <a:picLocks noChangeAspect="1"/>
          </p:cNvPicPr>
          <p:nvPr/>
        </p:nvPicPr>
        <p:blipFill>
          <a:blip r:embed="rId3"/>
          <a:stretch>
            <a:fillRect/>
          </a:stretch>
        </p:blipFill>
        <p:spPr>
          <a:xfrm>
            <a:off x="1346200" y="1064972"/>
            <a:ext cx="6451600" cy="939800"/>
          </a:xfrm>
          <a:prstGeom prst="rect">
            <a:avLst/>
          </a:prstGeom>
        </p:spPr>
      </p:pic>
      <p:pic>
        <p:nvPicPr>
          <p:cNvPr id="9" name="Picture 8"/>
          <p:cNvPicPr>
            <a:picLocks noChangeAspect="1"/>
          </p:cNvPicPr>
          <p:nvPr/>
        </p:nvPicPr>
        <p:blipFill>
          <a:blip r:embed="rId4"/>
          <a:stretch>
            <a:fillRect/>
          </a:stretch>
        </p:blipFill>
        <p:spPr>
          <a:xfrm>
            <a:off x="1066800" y="4773077"/>
            <a:ext cx="7010400" cy="330200"/>
          </a:xfrm>
          <a:prstGeom prst="rect">
            <a:avLst/>
          </a:prstGeom>
        </p:spPr>
      </p:pic>
      <p:pic>
        <p:nvPicPr>
          <p:cNvPr id="10" name="Picture 9"/>
          <p:cNvPicPr>
            <a:picLocks noChangeAspect="1"/>
          </p:cNvPicPr>
          <p:nvPr/>
        </p:nvPicPr>
        <p:blipFill>
          <a:blip r:embed="rId5"/>
          <a:stretch>
            <a:fillRect/>
          </a:stretch>
        </p:blipFill>
        <p:spPr>
          <a:xfrm>
            <a:off x="1041400" y="3396825"/>
            <a:ext cx="5969000" cy="330200"/>
          </a:xfrm>
          <a:prstGeom prst="rect">
            <a:avLst/>
          </a:prstGeom>
        </p:spPr>
      </p:pic>
    </p:spTree>
    <p:extLst>
      <p:ext uri="{BB962C8B-B14F-4D97-AF65-F5344CB8AC3E}">
        <p14:creationId xmlns:p14="http://schemas.microsoft.com/office/powerpoint/2010/main" val="1752082084"/>
      </p:ext>
    </p:extLst>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Perceptron Loss with Regularization</a:t>
            </a:r>
            <a:endParaRPr lang="en-US" dirty="0"/>
          </a:p>
        </p:txBody>
      </p:sp>
      <p:sp>
        <p:nvSpPr>
          <p:cNvPr id="3" name="Content Placeholder 2"/>
          <p:cNvSpPr>
            <a:spLocks noGrp="1"/>
          </p:cNvSpPr>
          <p:nvPr>
            <p:ph idx="1"/>
          </p:nvPr>
        </p:nvSpPr>
        <p:spPr>
          <a:xfrm>
            <a:off x="457200" y="2677872"/>
            <a:ext cx="8229600" cy="3279499"/>
          </a:xfrm>
        </p:spPr>
        <p:txBody>
          <a:bodyPr>
            <a:normAutofit/>
          </a:bodyPr>
          <a:lstStyle/>
          <a:p>
            <a:r>
              <a:rPr lang="en-US" sz="2800" dirty="0" smtClean="0"/>
              <a:t>update rule from before:</a:t>
            </a:r>
          </a:p>
          <a:p>
            <a:endParaRPr lang="en-US" sz="2800" dirty="0"/>
          </a:p>
          <a:p>
            <a:endParaRPr lang="en-US" sz="1600" dirty="0" smtClean="0"/>
          </a:p>
          <a:p>
            <a:r>
              <a:rPr lang="en-US" sz="2800" dirty="0" smtClean="0"/>
              <a:t>with L2 regularization:</a:t>
            </a:r>
            <a:endParaRPr lang="en-US" sz="2800" dirty="0"/>
          </a:p>
        </p:txBody>
      </p:sp>
      <p:sp>
        <p:nvSpPr>
          <p:cNvPr id="4" name="Slide Number Placeholder 3"/>
          <p:cNvSpPr>
            <a:spLocks noGrp="1"/>
          </p:cNvSpPr>
          <p:nvPr>
            <p:ph type="sldNum" sz="quarter" idx="12"/>
          </p:nvPr>
        </p:nvSpPr>
        <p:spPr/>
        <p:txBody>
          <a:bodyPr/>
          <a:lstStyle/>
          <a:p>
            <a:fld id="{3CFF3AF9-2D61-8E40-AE3D-8390D801ED2C}" type="slidenum">
              <a:rPr lang="en-US" smtClean="0"/>
              <a:t>39</a:t>
            </a:fld>
            <a:endParaRPr lang="en-US"/>
          </a:p>
        </p:txBody>
      </p:sp>
      <p:pic>
        <p:nvPicPr>
          <p:cNvPr id="5" name="Picture 4"/>
          <p:cNvPicPr>
            <a:picLocks noChangeAspect="1"/>
          </p:cNvPicPr>
          <p:nvPr/>
        </p:nvPicPr>
        <p:blipFill>
          <a:blip r:embed="rId2"/>
          <a:stretch>
            <a:fillRect/>
          </a:stretch>
        </p:blipFill>
        <p:spPr>
          <a:xfrm>
            <a:off x="5321300" y="2004772"/>
            <a:ext cx="3378200" cy="673100"/>
          </a:xfrm>
          <a:prstGeom prst="rect">
            <a:avLst/>
          </a:prstGeom>
        </p:spPr>
      </p:pic>
      <p:pic>
        <p:nvPicPr>
          <p:cNvPr id="6" name="Picture 5"/>
          <p:cNvPicPr>
            <a:picLocks noChangeAspect="1"/>
          </p:cNvPicPr>
          <p:nvPr/>
        </p:nvPicPr>
        <p:blipFill>
          <a:blip r:embed="rId3"/>
          <a:stretch>
            <a:fillRect/>
          </a:stretch>
        </p:blipFill>
        <p:spPr>
          <a:xfrm>
            <a:off x="1346200" y="1064972"/>
            <a:ext cx="6451600" cy="939800"/>
          </a:xfrm>
          <a:prstGeom prst="rect">
            <a:avLst/>
          </a:prstGeom>
        </p:spPr>
      </p:pic>
      <p:pic>
        <p:nvPicPr>
          <p:cNvPr id="9" name="Picture 8"/>
          <p:cNvPicPr>
            <a:picLocks noChangeAspect="1"/>
          </p:cNvPicPr>
          <p:nvPr/>
        </p:nvPicPr>
        <p:blipFill>
          <a:blip r:embed="rId4"/>
          <a:stretch>
            <a:fillRect/>
          </a:stretch>
        </p:blipFill>
        <p:spPr>
          <a:xfrm>
            <a:off x="1066800" y="4773077"/>
            <a:ext cx="7010400" cy="330200"/>
          </a:xfrm>
          <a:prstGeom prst="rect">
            <a:avLst/>
          </a:prstGeom>
        </p:spPr>
      </p:pic>
      <p:pic>
        <p:nvPicPr>
          <p:cNvPr id="10" name="Picture 9"/>
          <p:cNvPicPr>
            <a:picLocks noChangeAspect="1"/>
          </p:cNvPicPr>
          <p:nvPr/>
        </p:nvPicPr>
        <p:blipFill>
          <a:blip r:embed="rId5"/>
          <a:stretch>
            <a:fillRect/>
          </a:stretch>
        </p:blipFill>
        <p:spPr>
          <a:xfrm>
            <a:off x="1041400" y="3396825"/>
            <a:ext cx="5969000" cy="330200"/>
          </a:xfrm>
          <a:prstGeom prst="rect">
            <a:avLst/>
          </a:prstGeom>
        </p:spPr>
      </p:pic>
      <p:sp>
        <p:nvSpPr>
          <p:cNvPr id="11" name="Content Placeholder 2"/>
          <p:cNvSpPr txBox="1">
            <a:spLocks/>
          </p:cNvSpPr>
          <p:nvPr/>
        </p:nvSpPr>
        <p:spPr>
          <a:xfrm>
            <a:off x="994127" y="5349758"/>
            <a:ext cx="7692673" cy="908054"/>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400" dirty="0" smtClean="0">
                <a:solidFill>
                  <a:srgbClr val="288CD2"/>
                </a:solidFill>
              </a:rPr>
              <a:t>pushes weights closer to zero (“weight decay”)</a:t>
            </a:r>
          </a:p>
        </p:txBody>
      </p:sp>
    </p:spTree>
    <p:extLst>
      <p:ext uri="{BB962C8B-B14F-4D97-AF65-F5344CB8AC3E}">
        <p14:creationId xmlns:p14="http://schemas.microsoft.com/office/powerpoint/2010/main" val="1810193865"/>
      </p:ext>
    </p:extLst>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FF3AF9-2D61-8E40-AE3D-8390D801ED2C}" type="slidenum">
              <a:rPr lang="en-US" smtClean="0"/>
              <a:t>40</a:t>
            </a:fld>
            <a:endParaRPr lang="en-US"/>
          </a:p>
        </p:txBody>
      </p:sp>
      <p:sp>
        <p:nvSpPr>
          <p:cNvPr id="5" name="Rectangle 4"/>
          <p:cNvSpPr/>
          <p:nvPr/>
        </p:nvSpPr>
        <p:spPr>
          <a:xfrm>
            <a:off x="920750" y="3429000"/>
            <a:ext cx="444500" cy="17907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p:nvSpPr>
        <p:spPr>
          <a:xfrm>
            <a:off x="1581150" y="4305300"/>
            <a:ext cx="4445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p:cNvSpPr/>
          <p:nvPr/>
        </p:nvSpPr>
        <p:spPr>
          <a:xfrm>
            <a:off x="2235200" y="3009900"/>
            <a:ext cx="444500" cy="22098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2870200" y="4724400"/>
            <a:ext cx="444500" cy="4953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3530600" y="3924300"/>
            <a:ext cx="444500" cy="1295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 name="Straight Arrow Connector 10"/>
          <p:cNvCxnSpPr/>
          <p:nvPr/>
        </p:nvCxnSpPr>
        <p:spPr>
          <a:xfrm flipV="1">
            <a:off x="660400" y="1511300"/>
            <a:ext cx="0" cy="3708400"/>
          </a:xfrm>
          <a:prstGeom prst="straightConnector1">
            <a:avLst/>
          </a:prstGeom>
          <a:ln w="44450" cmpd="sng">
            <a:solidFill>
              <a:schemeClr val="accent4"/>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rot="16200000">
            <a:off x="-495932" y="3374366"/>
            <a:ext cx="1639563" cy="400110"/>
          </a:xfrm>
          <a:prstGeom prst="rect">
            <a:avLst/>
          </a:prstGeom>
          <a:noFill/>
          <a:ln w="3175" cmpd="sng">
            <a:noFill/>
          </a:ln>
          <a:effectLst/>
        </p:spPr>
        <p:txBody>
          <a:bodyPr wrap="square" rtlCol="0">
            <a:spAutoFit/>
          </a:bodyPr>
          <a:lstStyle/>
          <a:p>
            <a:pPr algn="ctr"/>
            <a:r>
              <a:rPr lang="en-US" sz="2000" dirty="0" smtClean="0">
                <a:solidFill>
                  <a:srgbClr val="000000"/>
                </a:solidFill>
                <a:cs typeface="Calibri"/>
              </a:rPr>
              <a:t>score + cost</a:t>
            </a:r>
            <a:endParaRPr lang="en-US" sz="2000" dirty="0" smtClean="0">
              <a:solidFill>
                <a:srgbClr val="000000"/>
              </a:solidFill>
              <a:latin typeface="Calibri"/>
              <a:cs typeface="Calibri"/>
            </a:endParaRPr>
          </a:p>
        </p:txBody>
      </p:sp>
      <p:pic>
        <p:nvPicPr>
          <p:cNvPr id="14" name="Picture 13"/>
          <p:cNvPicPr>
            <a:picLocks noChangeAspect="1"/>
          </p:cNvPicPr>
          <p:nvPr/>
        </p:nvPicPr>
        <p:blipFill>
          <a:blip r:embed="rId2"/>
          <a:stretch>
            <a:fillRect/>
          </a:stretch>
        </p:blipFill>
        <p:spPr>
          <a:xfrm>
            <a:off x="996950" y="5397500"/>
            <a:ext cx="254000" cy="203200"/>
          </a:xfrm>
          <a:prstGeom prst="rect">
            <a:avLst/>
          </a:prstGeom>
        </p:spPr>
      </p:pic>
      <p:pic>
        <p:nvPicPr>
          <p:cNvPr id="15" name="Picture 14"/>
          <p:cNvPicPr>
            <a:picLocks noChangeAspect="1"/>
          </p:cNvPicPr>
          <p:nvPr/>
        </p:nvPicPr>
        <p:blipFill>
          <a:blip r:embed="rId3"/>
          <a:stretch>
            <a:fillRect/>
          </a:stretch>
        </p:blipFill>
        <p:spPr>
          <a:xfrm>
            <a:off x="1670050" y="5397500"/>
            <a:ext cx="254000" cy="203200"/>
          </a:xfrm>
          <a:prstGeom prst="rect">
            <a:avLst/>
          </a:prstGeom>
        </p:spPr>
      </p:pic>
      <p:pic>
        <p:nvPicPr>
          <p:cNvPr id="16" name="Picture 15"/>
          <p:cNvPicPr>
            <a:picLocks noChangeAspect="1"/>
          </p:cNvPicPr>
          <p:nvPr/>
        </p:nvPicPr>
        <p:blipFill>
          <a:blip r:embed="rId4"/>
          <a:stretch>
            <a:fillRect/>
          </a:stretch>
        </p:blipFill>
        <p:spPr>
          <a:xfrm>
            <a:off x="2311400" y="5397500"/>
            <a:ext cx="266700" cy="203200"/>
          </a:xfrm>
          <a:prstGeom prst="rect">
            <a:avLst/>
          </a:prstGeom>
        </p:spPr>
      </p:pic>
      <p:pic>
        <p:nvPicPr>
          <p:cNvPr id="17" name="Picture 16"/>
          <p:cNvPicPr>
            <a:picLocks noChangeAspect="1"/>
          </p:cNvPicPr>
          <p:nvPr/>
        </p:nvPicPr>
        <p:blipFill>
          <a:blip r:embed="rId5"/>
          <a:stretch>
            <a:fillRect/>
          </a:stretch>
        </p:blipFill>
        <p:spPr>
          <a:xfrm>
            <a:off x="2946400" y="5397500"/>
            <a:ext cx="266700" cy="203200"/>
          </a:xfrm>
          <a:prstGeom prst="rect">
            <a:avLst/>
          </a:prstGeom>
        </p:spPr>
      </p:pic>
      <p:pic>
        <p:nvPicPr>
          <p:cNvPr id="18" name="Picture 17"/>
          <p:cNvPicPr>
            <a:picLocks noChangeAspect="1"/>
          </p:cNvPicPr>
          <p:nvPr/>
        </p:nvPicPr>
        <p:blipFill>
          <a:blip r:embed="rId6"/>
          <a:stretch>
            <a:fillRect/>
          </a:stretch>
        </p:blipFill>
        <p:spPr>
          <a:xfrm>
            <a:off x="3606800" y="5397500"/>
            <a:ext cx="254000" cy="203200"/>
          </a:xfrm>
          <a:prstGeom prst="rect">
            <a:avLst/>
          </a:prstGeom>
        </p:spPr>
      </p:pic>
      <p:sp>
        <p:nvSpPr>
          <p:cNvPr id="21" name="Rectangle 20"/>
          <p:cNvSpPr/>
          <p:nvPr/>
        </p:nvSpPr>
        <p:spPr>
          <a:xfrm>
            <a:off x="920750" y="2438400"/>
            <a:ext cx="444500" cy="990600"/>
          </a:xfrm>
          <a:prstGeom prst="rect">
            <a:avLst/>
          </a:prstGeom>
          <a:gradFill flip="none" rotWithShape="1">
            <a:gsLst>
              <a:gs pos="0">
                <a:srgbClr val="FF0000"/>
              </a:gs>
              <a:gs pos="100000">
                <a:srgbClr val="BC0000"/>
              </a:gs>
              <a:gs pos="0">
                <a:srgbClr val="FF0000"/>
              </a:gs>
            </a:gsLst>
            <a:lin ang="5400000" scaled="0"/>
            <a:tileRect/>
          </a:gra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581150" y="3784600"/>
            <a:ext cx="444500" cy="520700"/>
          </a:xfrm>
          <a:prstGeom prst="rect">
            <a:avLst/>
          </a:prstGeom>
          <a:gradFill flip="none" rotWithShape="1">
            <a:gsLst>
              <a:gs pos="0">
                <a:srgbClr val="FF0000"/>
              </a:gs>
              <a:gs pos="100000">
                <a:srgbClr val="BC0000"/>
              </a:gs>
              <a:gs pos="0">
                <a:srgbClr val="FF0000"/>
              </a:gs>
            </a:gsLst>
            <a:lin ang="5400000" scaled="0"/>
            <a:tileRect/>
          </a:gra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p:nvSpPr>
        <p:spPr>
          <a:xfrm>
            <a:off x="2235200" y="2616200"/>
            <a:ext cx="444500" cy="393700"/>
          </a:xfrm>
          <a:prstGeom prst="rect">
            <a:avLst/>
          </a:prstGeom>
          <a:gradFill flip="none" rotWithShape="1">
            <a:gsLst>
              <a:gs pos="0">
                <a:srgbClr val="FF0000"/>
              </a:gs>
              <a:gs pos="100000">
                <a:srgbClr val="BC0000"/>
              </a:gs>
              <a:gs pos="0">
                <a:srgbClr val="FF0000"/>
              </a:gs>
            </a:gsLst>
            <a:lin ang="5400000" scaled="0"/>
            <a:tileRect/>
          </a:gra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2870200" y="3429000"/>
            <a:ext cx="444500" cy="1295400"/>
          </a:xfrm>
          <a:prstGeom prst="rect">
            <a:avLst/>
          </a:prstGeom>
          <a:gradFill flip="none" rotWithShape="1">
            <a:gsLst>
              <a:gs pos="0">
                <a:srgbClr val="FF0000"/>
              </a:gs>
              <a:gs pos="100000">
                <a:srgbClr val="BC0000"/>
              </a:gs>
              <a:gs pos="0">
                <a:srgbClr val="FF0000"/>
              </a:gs>
            </a:gsLst>
            <a:lin ang="5400000" scaled="0"/>
            <a:tileRect/>
          </a:gra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6" name="Picture 25" descr="smiley-face-clip-art-emotions-RidMBKdi9.jpeg"/>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67102" y="5676899"/>
            <a:ext cx="550333" cy="550333"/>
          </a:xfrm>
          <a:prstGeom prst="rect">
            <a:avLst/>
          </a:prstGeom>
        </p:spPr>
      </p:pic>
      <p:sp>
        <p:nvSpPr>
          <p:cNvPr id="27" name="TextBox 26"/>
          <p:cNvSpPr txBox="1"/>
          <p:nvPr/>
        </p:nvSpPr>
        <p:spPr>
          <a:xfrm>
            <a:off x="2946400" y="6293787"/>
            <a:ext cx="1628806" cy="400110"/>
          </a:xfrm>
          <a:prstGeom prst="rect">
            <a:avLst/>
          </a:prstGeom>
          <a:solidFill>
            <a:schemeClr val="tx1"/>
          </a:solidFill>
          <a:ln w="3175" cmpd="sng">
            <a:noFill/>
          </a:ln>
          <a:effectLst/>
        </p:spPr>
        <p:txBody>
          <a:bodyPr wrap="square" rtlCol="0" anchor="ctr">
            <a:spAutoFit/>
          </a:bodyPr>
          <a:lstStyle/>
          <a:p>
            <a:pPr algn="ctr"/>
            <a:r>
              <a:rPr lang="en-US" sz="2000" dirty="0" smtClean="0">
                <a:solidFill>
                  <a:srgbClr val="FFFF00"/>
                </a:solidFill>
                <a:cs typeface="Calibri"/>
              </a:rPr>
              <a:t>gold standard</a:t>
            </a:r>
            <a:endParaRPr lang="en-US" sz="2000" dirty="0" smtClean="0">
              <a:solidFill>
                <a:srgbClr val="FFFF00"/>
              </a:solidFill>
              <a:latin typeface="Calibri"/>
              <a:cs typeface="Calibri"/>
            </a:endParaRPr>
          </a:p>
        </p:txBody>
      </p:sp>
      <p:sp>
        <p:nvSpPr>
          <p:cNvPr id="29" name="TextBox 28"/>
          <p:cNvSpPr txBox="1"/>
          <p:nvPr/>
        </p:nvSpPr>
        <p:spPr>
          <a:xfrm>
            <a:off x="266700" y="70618"/>
            <a:ext cx="2515349" cy="461665"/>
          </a:xfrm>
          <a:prstGeom prst="rect">
            <a:avLst/>
          </a:prstGeom>
          <a:noFill/>
          <a:ln w="3175" cmpd="sng">
            <a:noFill/>
          </a:ln>
          <a:effectLst/>
        </p:spPr>
        <p:txBody>
          <a:bodyPr wrap="square" rtlCol="0">
            <a:spAutoFit/>
          </a:bodyPr>
          <a:lstStyle/>
          <a:p>
            <a:r>
              <a:rPr lang="en-US" sz="2400" dirty="0" smtClean="0">
                <a:solidFill>
                  <a:srgbClr val="000000"/>
                </a:solidFill>
                <a:cs typeface="Calibri"/>
              </a:rPr>
              <a:t>hinge loss:</a:t>
            </a:r>
            <a:endParaRPr lang="en-US" sz="2400" dirty="0" smtClean="0">
              <a:solidFill>
                <a:srgbClr val="000000"/>
              </a:solidFill>
              <a:latin typeface="Calibri"/>
              <a:cs typeface="Calibri"/>
            </a:endParaRPr>
          </a:p>
        </p:txBody>
      </p:sp>
      <p:sp>
        <p:nvSpPr>
          <p:cNvPr id="28" name="Left Brace 27"/>
          <p:cNvSpPr/>
          <p:nvPr/>
        </p:nvSpPr>
        <p:spPr>
          <a:xfrm rot="16200000">
            <a:off x="6559067" y="-907568"/>
            <a:ext cx="482600" cy="4126534"/>
          </a:xfrm>
          <a:prstGeom prst="leftBrace">
            <a:avLst>
              <a:gd name="adj1" fmla="val 53070"/>
              <a:gd name="adj2" fmla="val 50000"/>
            </a:avLst>
          </a:prstGeom>
          <a:noFill/>
          <a:ln w="57150" cmpd="sng">
            <a:solidFill>
              <a:schemeClr val="tx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31" name="Straight Arrow Connector 30"/>
          <p:cNvCxnSpPr/>
          <p:nvPr/>
        </p:nvCxnSpPr>
        <p:spPr>
          <a:xfrm>
            <a:off x="3314700" y="1017116"/>
            <a:ext cx="469900" cy="2742084"/>
          </a:xfrm>
          <a:prstGeom prst="straightConnector1">
            <a:avLst/>
          </a:prstGeom>
          <a:ln w="57150" cmpd="sng">
            <a:solidFill>
              <a:schemeClr val="tx1"/>
            </a:solidFill>
            <a:headEnd type="none"/>
            <a:tailEnd type="triangle" w="lg" len="lg"/>
          </a:ln>
          <a:effectLst/>
        </p:spPr>
        <p:style>
          <a:lnRef idx="2">
            <a:schemeClr val="accent1"/>
          </a:lnRef>
          <a:fillRef idx="0">
            <a:schemeClr val="accent1"/>
          </a:fillRef>
          <a:effectRef idx="1">
            <a:schemeClr val="accent1"/>
          </a:effectRef>
          <a:fontRef idx="minor">
            <a:schemeClr val="tx1"/>
          </a:fontRef>
        </p:style>
      </p:cxnSp>
      <p:pic>
        <p:nvPicPr>
          <p:cNvPr id="32" name="Picture 31"/>
          <p:cNvPicPr>
            <a:picLocks noChangeAspect="1"/>
          </p:cNvPicPr>
          <p:nvPr/>
        </p:nvPicPr>
        <p:blipFill>
          <a:blip r:embed="rId8"/>
          <a:stretch>
            <a:fillRect/>
          </a:stretch>
        </p:blipFill>
        <p:spPr>
          <a:xfrm>
            <a:off x="368300" y="579465"/>
            <a:ext cx="8394700" cy="457200"/>
          </a:xfrm>
          <a:prstGeom prst="rect">
            <a:avLst/>
          </a:prstGeom>
        </p:spPr>
      </p:pic>
    </p:spTree>
    <p:extLst>
      <p:ext uri="{BB962C8B-B14F-4D97-AF65-F5344CB8AC3E}">
        <p14:creationId xmlns:p14="http://schemas.microsoft.com/office/powerpoint/2010/main" val="736641447"/>
      </p:ext>
    </p:extLst>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FF3AF9-2D61-8E40-AE3D-8390D801ED2C}" type="slidenum">
              <a:rPr lang="en-US" smtClean="0"/>
              <a:t>41</a:t>
            </a:fld>
            <a:endParaRPr lang="en-US"/>
          </a:p>
        </p:txBody>
      </p:sp>
      <p:sp>
        <p:nvSpPr>
          <p:cNvPr id="5" name="Rectangle 4"/>
          <p:cNvSpPr/>
          <p:nvPr/>
        </p:nvSpPr>
        <p:spPr>
          <a:xfrm>
            <a:off x="920750" y="3429000"/>
            <a:ext cx="444500" cy="17907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p:nvSpPr>
        <p:spPr>
          <a:xfrm>
            <a:off x="1581150" y="4305300"/>
            <a:ext cx="4445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p:cNvSpPr/>
          <p:nvPr/>
        </p:nvSpPr>
        <p:spPr>
          <a:xfrm>
            <a:off x="2235200" y="3009900"/>
            <a:ext cx="444500" cy="22098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2870200" y="4724400"/>
            <a:ext cx="444500" cy="4953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3530600" y="3924300"/>
            <a:ext cx="444500" cy="1295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 name="Straight Arrow Connector 10"/>
          <p:cNvCxnSpPr/>
          <p:nvPr/>
        </p:nvCxnSpPr>
        <p:spPr>
          <a:xfrm flipV="1">
            <a:off x="660400" y="1511300"/>
            <a:ext cx="0" cy="3708400"/>
          </a:xfrm>
          <a:prstGeom prst="straightConnector1">
            <a:avLst/>
          </a:prstGeom>
          <a:ln w="44450" cmpd="sng">
            <a:solidFill>
              <a:schemeClr val="accent4"/>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rot="16200000">
            <a:off x="-495932" y="3374366"/>
            <a:ext cx="1639563" cy="400110"/>
          </a:xfrm>
          <a:prstGeom prst="rect">
            <a:avLst/>
          </a:prstGeom>
          <a:noFill/>
          <a:ln w="3175" cmpd="sng">
            <a:noFill/>
          </a:ln>
          <a:effectLst/>
        </p:spPr>
        <p:txBody>
          <a:bodyPr wrap="square" rtlCol="0">
            <a:spAutoFit/>
          </a:bodyPr>
          <a:lstStyle/>
          <a:p>
            <a:pPr algn="ctr"/>
            <a:r>
              <a:rPr lang="en-US" sz="2000" dirty="0" smtClean="0">
                <a:solidFill>
                  <a:srgbClr val="000000"/>
                </a:solidFill>
                <a:cs typeface="Calibri"/>
              </a:rPr>
              <a:t>score + cost</a:t>
            </a:r>
            <a:endParaRPr lang="en-US" sz="2000" dirty="0" smtClean="0">
              <a:solidFill>
                <a:srgbClr val="000000"/>
              </a:solidFill>
              <a:latin typeface="Calibri"/>
              <a:cs typeface="Calibri"/>
            </a:endParaRPr>
          </a:p>
        </p:txBody>
      </p:sp>
      <p:pic>
        <p:nvPicPr>
          <p:cNvPr id="14" name="Picture 13"/>
          <p:cNvPicPr>
            <a:picLocks noChangeAspect="1"/>
          </p:cNvPicPr>
          <p:nvPr/>
        </p:nvPicPr>
        <p:blipFill>
          <a:blip r:embed="rId2"/>
          <a:stretch>
            <a:fillRect/>
          </a:stretch>
        </p:blipFill>
        <p:spPr>
          <a:xfrm>
            <a:off x="996950" y="5397500"/>
            <a:ext cx="254000" cy="203200"/>
          </a:xfrm>
          <a:prstGeom prst="rect">
            <a:avLst/>
          </a:prstGeom>
        </p:spPr>
      </p:pic>
      <p:pic>
        <p:nvPicPr>
          <p:cNvPr id="15" name="Picture 14"/>
          <p:cNvPicPr>
            <a:picLocks noChangeAspect="1"/>
          </p:cNvPicPr>
          <p:nvPr/>
        </p:nvPicPr>
        <p:blipFill>
          <a:blip r:embed="rId3"/>
          <a:stretch>
            <a:fillRect/>
          </a:stretch>
        </p:blipFill>
        <p:spPr>
          <a:xfrm>
            <a:off x="1670050" y="5397500"/>
            <a:ext cx="254000" cy="203200"/>
          </a:xfrm>
          <a:prstGeom prst="rect">
            <a:avLst/>
          </a:prstGeom>
        </p:spPr>
      </p:pic>
      <p:pic>
        <p:nvPicPr>
          <p:cNvPr id="16" name="Picture 15"/>
          <p:cNvPicPr>
            <a:picLocks noChangeAspect="1"/>
          </p:cNvPicPr>
          <p:nvPr/>
        </p:nvPicPr>
        <p:blipFill>
          <a:blip r:embed="rId4"/>
          <a:stretch>
            <a:fillRect/>
          </a:stretch>
        </p:blipFill>
        <p:spPr>
          <a:xfrm>
            <a:off x="2311400" y="5397500"/>
            <a:ext cx="266700" cy="203200"/>
          </a:xfrm>
          <a:prstGeom prst="rect">
            <a:avLst/>
          </a:prstGeom>
        </p:spPr>
      </p:pic>
      <p:pic>
        <p:nvPicPr>
          <p:cNvPr id="17" name="Picture 16"/>
          <p:cNvPicPr>
            <a:picLocks noChangeAspect="1"/>
          </p:cNvPicPr>
          <p:nvPr/>
        </p:nvPicPr>
        <p:blipFill>
          <a:blip r:embed="rId5"/>
          <a:stretch>
            <a:fillRect/>
          </a:stretch>
        </p:blipFill>
        <p:spPr>
          <a:xfrm>
            <a:off x="2946400" y="5397500"/>
            <a:ext cx="266700" cy="203200"/>
          </a:xfrm>
          <a:prstGeom prst="rect">
            <a:avLst/>
          </a:prstGeom>
        </p:spPr>
      </p:pic>
      <p:pic>
        <p:nvPicPr>
          <p:cNvPr id="18" name="Picture 17"/>
          <p:cNvPicPr>
            <a:picLocks noChangeAspect="1"/>
          </p:cNvPicPr>
          <p:nvPr/>
        </p:nvPicPr>
        <p:blipFill>
          <a:blip r:embed="rId6"/>
          <a:stretch>
            <a:fillRect/>
          </a:stretch>
        </p:blipFill>
        <p:spPr>
          <a:xfrm>
            <a:off x="3606800" y="5397500"/>
            <a:ext cx="254000" cy="203200"/>
          </a:xfrm>
          <a:prstGeom prst="rect">
            <a:avLst/>
          </a:prstGeom>
        </p:spPr>
      </p:pic>
      <p:sp>
        <p:nvSpPr>
          <p:cNvPr id="21" name="Rectangle 20"/>
          <p:cNvSpPr/>
          <p:nvPr/>
        </p:nvSpPr>
        <p:spPr>
          <a:xfrm>
            <a:off x="920750" y="2438400"/>
            <a:ext cx="444500" cy="990600"/>
          </a:xfrm>
          <a:prstGeom prst="rect">
            <a:avLst/>
          </a:prstGeom>
          <a:gradFill flip="none" rotWithShape="1">
            <a:gsLst>
              <a:gs pos="0">
                <a:srgbClr val="FF0000"/>
              </a:gs>
              <a:gs pos="100000">
                <a:srgbClr val="BC0000"/>
              </a:gs>
              <a:gs pos="0">
                <a:srgbClr val="FF0000"/>
              </a:gs>
            </a:gsLst>
            <a:lin ang="5400000" scaled="0"/>
            <a:tileRect/>
          </a:gra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581150" y="3784600"/>
            <a:ext cx="444500" cy="520700"/>
          </a:xfrm>
          <a:prstGeom prst="rect">
            <a:avLst/>
          </a:prstGeom>
          <a:gradFill flip="none" rotWithShape="1">
            <a:gsLst>
              <a:gs pos="0">
                <a:srgbClr val="FF0000"/>
              </a:gs>
              <a:gs pos="100000">
                <a:srgbClr val="BC0000"/>
              </a:gs>
              <a:gs pos="0">
                <a:srgbClr val="FF0000"/>
              </a:gs>
            </a:gsLst>
            <a:lin ang="5400000" scaled="0"/>
            <a:tileRect/>
          </a:gra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p:nvSpPr>
        <p:spPr>
          <a:xfrm>
            <a:off x="2235200" y="2616200"/>
            <a:ext cx="444500" cy="393700"/>
          </a:xfrm>
          <a:prstGeom prst="rect">
            <a:avLst/>
          </a:prstGeom>
          <a:gradFill flip="none" rotWithShape="1">
            <a:gsLst>
              <a:gs pos="0">
                <a:srgbClr val="FF0000"/>
              </a:gs>
              <a:gs pos="100000">
                <a:srgbClr val="BC0000"/>
              </a:gs>
              <a:gs pos="0">
                <a:srgbClr val="FF0000"/>
              </a:gs>
            </a:gsLst>
            <a:lin ang="5400000" scaled="0"/>
            <a:tileRect/>
          </a:gra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2870200" y="3429000"/>
            <a:ext cx="444500" cy="1295400"/>
          </a:xfrm>
          <a:prstGeom prst="rect">
            <a:avLst/>
          </a:prstGeom>
          <a:gradFill flip="none" rotWithShape="1">
            <a:gsLst>
              <a:gs pos="0">
                <a:srgbClr val="FF0000"/>
              </a:gs>
              <a:gs pos="100000">
                <a:srgbClr val="BC0000"/>
              </a:gs>
              <a:gs pos="0">
                <a:srgbClr val="FF0000"/>
              </a:gs>
            </a:gsLst>
            <a:lin ang="5400000" scaled="0"/>
            <a:tileRect/>
          </a:gra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6" name="Picture 25" descr="smiley-face-clip-art-emotions-RidMBKdi9.jpeg"/>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67102" y="5676899"/>
            <a:ext cx="550333" cy="550333"/>
          </a:xfrm>
          <a:prstGeom prst="rect">
            <a:avLst/>
          </a:prstGeom>
        </p:spPr>
      </p:pic>
      <p:sp>
        <p:nvSpPr>
          <p:cNvPr id="27" name="TextBox 26"/>
          <p:cNvSpPr txBox="1"/>
          <p:nvPr/>
        </p:nvSpPr>
        <p:spPr>
          <a:xfrm>
            <a:off x="2946400" y="6293787"/>
            <a:ext cx="1628806" cy="400110"/>
          </a:xfrm>
          <a:prstGeom prst="rect">
            <a:avLst/>
          </a:prstGeom>
          <a:solidFill>
            <a:schemeClr val="tx1"/>
          </a:solidFill>
          <a:ln w="3175" cmpd="sng">
            <a:noFill/>
          </a:ln>
          <a:effectLst/>
        </p:spPr>
        <p:txBody>
          <a:bodyPr wrap="square" rtlCol="0" anchor="ctr">
            <a:spAutoFit/>
          </a:bodyPr>
          <a:lstStyle/>
          <a:p>
            <a:pPr algn="ctr"/>
            <a:r>
              <a:rPr lang="en-US" sz="2000" dirty="0" smtClean="0">
                <a:solidFill>
                  <a:srgbClr val="FFFF00"/>
                </a:solidFill>
                <a:cs typeface="Calibri"/>
              </a:rPr>
              <a:t>gold standard</a:t>
            </a:r>
            <a:endParaRPr lang="en-US" sz="2000" dirty="0" smtClean="0">
              <a:solidFill>
                <a:srgbClr val="FFFF00"/>
              </a:solidFill>
              <a:latin typeface="Calibri"/>
              <a:cs typeface="Calibri"/>
            </a:endParaRPr>
          </a:p>
        </p:txBody>
      </p:sp>
      <p:sp>
        <p:nvSpPr>
          <p:cNvPr id="29" name="TextBox 28"/>
          <p:cNvSpPr txBox="1"/>
          <p:nvPr/>
        </p:nvSpPr>
        <p:spPr>
          <a:xfrm>
            <a:off x="266700" y="70618"/>
            <a:ext cx="2515349" cy="461665"/>
          </a:xfrm>
          <a:prstGeom prst="rect">
            <a:avLst/>
          </a:prstGeom>
          <a:noFill/>
          <a:ln w="3175" cmpd="sng">
            <a:noFill/>
          </a:ln>
          <a:effectLst/>
        </p:spPr>
        <p:txBody>
          <a:bodyPr wrap="square" rtlCol="0">
            <a:spAutoFit/>
          </a:bodyPr>
          <a:lstStyle/>
          <a:p>
            <a:r>
              <a:rPr lang="en-US" sz="2400" dirty="0" smtClean="0">
                <a:solidFill>
                  <a:srgbClr val="000000"/>
                </a:solidFill>
                <a:cs typeface="Calibri"/>
              </a:rPr>
              <a:t>hinge loss:</a:t>
            </a:r>
            <a:endParaRPr lang="en-US" sz="2400" dirty="0" smtClean="0">
              <a:solidFill>
                <a:srgbClr val="000000"/>
              </a:solidFill>
              <a:latin typeface="Calibri"/>
              <a:cs typeface="Calibri"/>
            </a:endParaRPr>
          </a:p>
        </p:txBody>
      </p:sp>
      <p:cxnSp>
        <p:nvCxnSpPr>
          <p:cNvPr id="31" name="Straight Arrow Connector 30"/>
          <p:cNvCxnSpPr/>
          <p:nvPr/>
        </p:nvCxnSpPr>
        <p:spPr>
          <a:xfrm>
            <a:off x="3314700" y="1017116"/>
            <a:ext cx="469900" cy="2742084"/>
          </a:xfrm>
          <a:prstGeom prst="straightConnector1">
            <a:avLst/>
          </a:prstGeom>
          <a:ln w="57150" cmpd="sng">
            <a:solidFill>
              <a:schemeClr val="tx1"/>
            </a:solidFill>
            <a:headEnd type="none"/>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a:endCxn id="21" idx="0"/>
          </p:cNvCxnSpPr>
          <p:nvPr/>
        </p:nvCxnSpPr>
        <p:spPr>
          <a:xfrm flipH="1">
            <a:off x="1143000" y="1396999"/>
            <a:ext cx="5626330" cy="1041401"/>
          </a:xfrm>
          <a:prstGeom prst="straightConnector1">
            <a:avLst/>
          </a:prstGeom>
          <a:ln w="57150" cmpd="sng">
            <a:solidFill>
              <a:schemeClr val="tx1"/>
            </a:solidFill>
            <a:headEnd type="none"/>
            <a:tailEnd type="triangle" w="lg" len="lg"/>
          </a:ln>
          <a:effectLst/>
        </p:spPr>
        <p:style>
          <a:lnRef idx="2">
            <a:schemeClr val="accent1"/>
          </a:lnRef>
          <a:fillRef idx="0">
            <a:schemeClr val="accent1"/>
          </a:fillRef>
          <a:effectRef idx="1">
            <a:schemeClr val="accent1"/>
          </a:effectRef>
          <a:fontRef idx="minor">
            <a:schemeClr val="tx1"/>
          </a:fontRef>
        </p:style>
      </p:cxnSp>
      <p:sp>
        <p:nvSpPr>
          <p:cNvPr id="33" name="Left Brace 32"/>
          <p:cNvSpPr/>
          <p:nvPr/>
        </p:nvSpPr>
        <p:spPr>
          <a:xfrm rot="16200000">
            <a:off x="6559067" y="-907568"/>
            <a:ext cx="482600" cy="4126534"/>
          </a:xfrm>
          <a:prstGeom prst="leftBrace">
            <a:avLst>
              <a:gd name="adj1" fmla="val 53070"/>
              <a:gd name="adj2" fmla="val 50000"/>
            </a:avLst>
          </a:prstGeom>
          <a:noFill/>
          <a:ln w="57150" cmpd="sng">
            <a:solidFill>
              <a:schemeClr val="tx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34" name="Picture 33"/>
          <p:cNvPicPr>
            <a:picLocks noChangeAspect="1"/>
          </p:cNvPicPr>
          <p:nvPr/>
        </p:nvPicPr>
        <p:blipFill>
          <a:blip r:embed="rId8"/>
          <a:stretch>
            <a:fillRect/>
          </a:stretch>
        </p:blipFill>
        <p:spPr>
          <a:xfrm>
            <a:off x="368300" y="579465"/>
            <a:ext cx="8394700" cy="457200"/>
          </a:xfrm>
          <a:prstGeom prst="rect">
            <a:avLst/>
          </a:prstGeom>
        </p:spPr>
      </p:pic>
    </p:spTree>
    <p:extLst>
      <p:ext uri="{BB962C8B-B14F-4D97-AF65-F5344CB8AC3E}">
        <p14:creationId xmlns:p14="http://schemas.microsoft.com/office/powerpoint/2010/main" val="3939296874"/>
      </p:ext>
    </p:extLst>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FF3AF9-2D61-8E40-AE3D-8390D801ED2C}" type="slidenum">
              <a:rPr lang="en-US" smtClean="0"/>
              <a:t>42</a:t>
            </a:fld>
            <a:endParaRPr lang="en-US"/>
          </a:p>
        </p:txBody>
      </p:sp>
      <p:sp>
        <p:nvSpPr>
          <p:cNvPr id="5" name="Rectangle 4"/>
          <p:cNvSpPr/>
          <p:nvPr/>
        </p:nvSpPr>
        <p:spPr>
          <a:xfrm>
            <a:off x="920750" y="3429000"/>
            <a:ext cx="444500" cy="17907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p:nvSpPr>
        <p:spPr>
          <a:xfrm>
            <a:off x="1581150" y="4305300"/>
            <a:ext cx="4445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p:cNvSpPr/>
          <p:nvPr/>
        </p:nvSpPr>
        <p:spPr>
          <a:xfrm>
            <a:off x="2235200" y="3009900"/>
            <a:ext cx="444500" cy="22098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2870200" y="4724400"/>
            <a:ext cx="444500" cy="4953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3530600" y="3924300"/>
            <a:ext cx="444500" cy="1295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 name="Straight Arrow Connector 10"/>
          <p:cNvCxnSpPr/>
          <p:nvPr/>
        </p:nvCxnSpPr>
        <p:spPr>
          <a:xfrm flipV="1">
            <a:off x="660400" y="1511300"/>
            <a:ext cx="0" cy="3708400"/>
          </a:xfrm>
          <a:prstGeom prst="straightConnector1">
            <a:avLst/>
          </a:prstGeom>
          <a:ln w="44450" cmpd="sng">
            <a:solidFill>
              <a:schemeClr val="accent4"/>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rot="16200000">
            <a:off x="-495932" y="3374366"/>
            <a:ext cx="1639563" cy="400110"/>
          </a:xfrm>
          <a:prstGeom prst="rect">
            <a:avLst/>
          </a:prstGeom>
          <a:noFill/>
          <a:ln w="3175" cmpd="sng">
            <a:noFill/>
          </a:ln>
          <a:effectLst/>
        </p:spPr>
        <p:txBody>
          <a:bodyPr wrap="square" rtlCol="0">
            <a:spAutoFit/>
          </a:bodyPr>
          <a:lstStyle/>
          <a:p>
            <a:pPr algn="ctr"/>
            <a:r>
              <a:rPr lang="en-US" sz="2000" dirty="0" smtClean="0">
                <a:solidFill>
                  <a:srgbClr val="000000"/>
                </a:solidFill>
                <a:cs typeface="Calibri"/>
              </a:rPr>
              <a:t>score + cost</a:t>
            </a:r>
            <a:endParaRPr lang="en-US" sz="2000" dirty="0" smtClean="0">
              <a:solidFill>
                <a:srgbClr val="000000"/>
              </a:solidFill>
              <a:latin typeface="Calibri"/>
              <a:cs typeface="Calibri"/>
            </a:endParaRPr>
          </a:p>
        </p:txBody>
      </p:sp>
      <p:pic>
        <p:nvPicPr>
          <p:cNvPr id="14" name="Picture 13"/>
          <p:cNvPicPr>
            <a:picLocks noChangeAspect="1"/>
          </p:cNvPicPr>
          <p:nvPr/>
        </p:nvPicPr>
        <p:blipFill>
          <a:blip r:embed="rId2"/>
          <a:stretch>
            <a:fillRect/>
          </a:stretch>
        </p:blipFill>
        <p:spPr>
          <a:xfrm>
            <a:off x="996950" y="5397500"/>
            <a:ext cx="254000" cy="203200"/>
          </a:xfrm>
          <a:prstGeom prst="rect">
            <a:avLst/>
          </a:prstGeom>
        </p:spPr>
      </p:pic>
      <p:pic>
        <p:nvPicPr>
          <p:cNvPr id="15" name="Picture 14"/>
          <p:cNvPicPr>
            <a:picLocks noChangeAspect="1"/>
          </p:cNvPicPr>
          <p:nvPr/>
        </p:nvPicPr>
        <p:blipFill>
          <a:blip r:embed="rId3"/>
          <a:stretch>
            <a:fillRect/>
          </a:stretch>
        </p:blipFill>
        <p:spPr>
          <a:xfrm>
            <a:off x="1670050" y="5397500"/>
            <a:ext cx="254000" cy="203200"/>
          </a:xfrm>
          <a:prstGeom prst="rect">
            <a:avLst/>
          </a:prstGeom>
        </p:spPr>
      </p:pic>
      <p:pic>
        <p:nvPicPr>
          <p:cNvPr id="16" name="Picture 15"/>
          <p:cNvPicPr>
            <a:picLocks noChangeAspect="1"/>
          </p:cNvPicPr>
          <p:nvPr/>
        </p:nvPicPr>
        <p:blipFill>
          <a:blip r:embed="rId4"/>
          <a:stretch>
            <a:fillRect/>
          </a:stretch>
        </p:blipFill>
        <p:spPr>
          <a:xfrm>
            <a:off x="2311400" y="5397500"/>
            <a:ext cx="266700" cy="203200"/>
          </a:xfrm>
          <a:prstGeom prst="rect">
            <a:avLst/>
          </a:prstGeom>
        </p:spPr>
      </p:pic>
      <p:pic>
        <p:nvPicPr>
          <p:cNvPr id="17" name="Picture 16"/>
          <p:cNvPicPr>
            <a:picLocks noChangeAspect="1"/>
          </p:cNvPicPr>
          <p:nvPr/>
        </p:nvPicPr>
        <p:blipFill>
          <a:blip r:embed="rId5"/>
          <a:stretch>
            <a:fillRect/>
          </a:stretch>
        </p:blipFill>
        <p:spPr>
          <a:xfrm>
            <a:off x="2946400" y="5397500"/>
            <a:ext cx="266700" cy="203200"/>
          </a:xfrm>
          <a:prstGeom prst="rect">
            <a:avLst/>
          </a:prstGeom>
        </p:spPr>
      </p:pic>
      <p:pic>
        <p:nvPicPr>
          <p:cNvPr id="18" name="Picture 17"/>
          <p:cNvPicPr>
            <a:picLocks noChangeAspect="1"/>
          </p:cNvPicPr>
          <p:nvPr/>
        </p:nvPicPr>
        <p:blipFill>
          <a:blip r:embed="rId6"/>
          <a:stretch>
            <a:fillRect/>
          </a:stretch>
        </p:blipFill>
        <p:spPr>
          <a:xfrm>
            <a:off x="3606800" y="5397500"/>
            <a:ext cx="254000" cy="203200"/>
          </a:xfrm>
          <a:prstGeom prst="rect">
            <a:avLst/>
          </a:prstGeom>
        </p:spPr>
      </p:pic>
      <p:sp>
        <p:nvSpPr>
          <p:cNvPr id="21" name="Rectangle 20"/>
          <p:cNvSpPr/>
          <p:nvPr/>
        </p:nvSpPr>
        <p:spPr>
          <a:xfrm>
            <a:off x="920750" y="2438400"/>
            <a:ext cx="444500" cy="990600"/>
          </a:xfrm>
          <a:prstGeom prst="rect">
            <a:avLst/>
          </a:prstGeom>
          <a:gradFill flip="none" rotWithShape="1">
            <a:gsLst>
              <a:gs pos="0">
                <a:srgbClr val="FF0000"/>
              </a:gs>
              <a:gs pos="100000">
                <a:srgbClr val="BC0000"/>
              </a:gs>
              <a:gs pos="0">
                <a:srgbClr val="FF0000"/>
              </a:gs>
            </a:gsLst>
            <a:lin ang="5400000" scaled="0"/>
            <a:tileRect/>
          </a:gra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581150" y="3784600"/>
            <a:ext cx="444500" cy="520700"/>
          </a:xfrm>
          <a:prstGeom prst="rect">
            <a:avLst/>
          </a:prstGeom>
          <a:gradFill flip="none" rotWithShape="1">
            <a:gsLst>
              <a:gs pos="0">
                <a:srgbClr val="FF0000"/>
              </a:gs>
              <a:gs pos="100000">
                <a:srgbClr val="BC0000"/>
              </a:gs>
              <a:gs pos="0">
                <a:srgbClr val="FF0000"/>
              </a:gs>
            </a:gsLst>
            <a:lin ang="5400000" scaled="0"/>
            <a:tileRect/>
          </a:gra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p:nvSpPr>
        <p:spPr>
          <a:xfrm>
            <a:off x="2235200" y="2616200"/>
            <a:ext cx="444500" cy="393700"/>
          </a:xfrm>
          <a:prstGeom prst="rect">
            <a:avLst/>
          </a:prstGeom>
          <a:gradFill flip="none" rotWithShape="1">
            <a:gsLst>
              <a:gs pos="0">
                <a:srgbClr val="FF0000"/>
              </a:gs>
              <a:gs pos="100000">
                <a:srgbClr val="BC0000"/>
              </a:gs>
              <a:gs pos="0">
                <a:srgbClr val="FF0000"/>
              </a:gs>
            </a:gsLst>
            <a:lin ang="5400000" scaled="0"/>
            <a:tileRect/>
          </a:gra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2870200" y="3429000"/>
            <a:ext cx="444500" cy="1295400"/>
          </a:xfrm>
          <a:prstGeom prst="rect">
            <a:avLst/>
          </a:prstGeom>
          <a:gradFill flip="none" rotWithShape="1">
            <a:gsLst>
              <a:gs pos="0">
                <a:srgbClr val="FF0000"/>
              </a:gs>
              <a:gs pos="100000">
                <a:srgbClr val="BC0000"/>
              </a:gs>
              <a:gs pos="0">
                <a:srgbClr val="FF0000"/>
              </a:gs>
            </a:gsLst>
            <a:lin ang="5400000" scaled="0"/>
            <a:tileRect/>
          </a:gra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6" name="Picture 25" descr="smiley-face-clip-art-emotions-RidMBKdi9.jpeg"/>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67102" y="5676899"/>
            <a:ext cx="550333" cy="550333"/>
          </a:xfrm>
          <a:prstGeom prst="rect">
            <a:avLst/>
          </a:prstGeom>
        </p:spPr>
      </p:pic>
      <p:sp>
        <p:nvSpPr>
          <p:cNvPr id="27" name="TextBox 26"/>
          <p:cNvSpPr txBox="1"/>
          <p:nvPr/>
        </p:nvSpPr>
        <p:spPr>
          <a:xfrm>
            <a:off x="2946400" y="6293787"/>
            <a:ext cx="1628806" cy="400110"/>
          </a:xfrm>
          <a:prstGeom prst="rect">
            <a:avLst/>
          </a:prstGeom>
          <a:solidFill>
            <a:schemeClr val="tx1"/>
          </a:solidFill>
          <a:ln w="3175" cmpd="sng">
            <a:noFill/>
          </a:ln>
          <a:effectLst/>
        </p:spPr>
        <p:txBody>
          <a:bodyPr wrap="square" rtlCol="0" anchor="ctr">
            <a:spAutoFit/>
          </a:bodyPr>
          <a:lstStyle/>
          <a:p>
            <a:pPr algn="ctr"/>
            <a:r>
              <a:rPr lang="en-US" sz="2000" dirty="0" smtClean="0">
                <a:solidFill>
                  <a:srgbClr val="FFFF00"/>
                </a:solidFill>
                <a:cs typeface="Calibri"/>
              </a:rPr>
              <a:t>gold standard</a:t>
            </a:r>
            <a:endParaRPr lang="en-US" sz="2000" dirty="0" smtClean="0">
              <a:solidFill>
                <a:srgbClr val="FFFF00"/>
              </a:solidFill>
              <a:latin typeface="Calibri"/>
              <a:cs typeface="Calibri"/>
            </a:endParaRPr>
          </a:p>
        </p:txBody>
      </p:sp>
      <p:sp>
        <p:nvSpPr>
          <p:cNvPr id="29" name="TextBox 28"/>
          <p:cNvSpPr txBox="1"/>
          <p:nvPr/>
        </p:nvSpPr>
        <p:spPr>
          <a:xfrm>
            <a:off x="266700" y="70618"/>
            <a:ext cx="2515349" cy="461665"/>
          </a:xfrm>
          <a:prstGeom prst="rect">
            <a:avLst/>
          </a:prstGeom>
          <a:noFill/>
          <a:ln w="3175" cmpd="sng">
            <a:noFill/>
          </a:ln>
          <a:effectLst/>
        </p:spPr>
        <p:txBody>
          <a:bodyPr wrap="square" rtlCol="0">
            <a:spAutoFit/>
          </a:bodyPr>
          <a:lstStyle/>
          <a:p>
            <a:r>
              <a:rPr lang="en-US" sz="2400" dirty="0" smtClean="0">
                <a:solidFill>
                  <a:srgbClr val="000000"/>
                </a:solidFill>
                <a:cs typeface="Calibri"/>
              </a:rPr>
              <a:t>hinge loss:</a:t>
            </a:r>
            <a:endParaRPr lang="en-US" sz="2400" dirty="0" smtClean="0">
              <a:solidFill>
                <a:srgbClr val="000000"/>
              </a:solidFill>
              <a:latin typeface="Calibri"/>
              <a:cs typeface="Calibri"/>
            </a:endParaRPr>
          </a:p>
        </p:txBody>
      </p:sp>
      <p:cxnSp>
        <p:nvCxnSpPr>
          <p:cNvPr id="31" name="Straight Arrow Connector 30"/>
          <p:cNvCxnSpPr/>
          <p:nvPr/>
        </p:nvCxnSpPr>
        <p:spPr>
          <a:xfrm>
            <a:off x="3314700" y="1017116"/>
            <a:ext cx="469900" cy="2742084"/>
          </a:xfrm>
          <a:prstGeom prst="straightConnector1">
            <a:avLst/>
          </a:prstGeom>
          <a:ln w="57150" cmpd="sng">
            <a:solidFill>
              <a:schemeClr val="tx1"/>
            </a:solidFill>
            <a:headEnd type="none"/>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a:endCxn id="21" idx="0"/>
          </p:cNvCxnSpPr>
          <p:nvPr/>
        </p:nvCxnSpPr>
        <p:spPr>
          <a:xfrm flipH="1">
            <a:off x="1143000" y="1396999"/>
            <a:ext cx="5626330" cy="1041401"/>
          </a:xfrm>
          <a:prstGeom prst="straightConnector1">
            <a:avLst/>
          </a:prstGeom>
          <a:ln w="57150" cmpd="sng">
            <a:solidFill>
              <a:schemeClr val="tx1"/>
            </a:solidFill>
            <a:headEnd type="none"/>
            <a:tailEnd type="triangle" w="lg" len="lg"/>
          </a:ln>
          <a:effectLst/>
        </p:spPr>
        <p:style>
          <a:lnRef idx="2">
            <a:schemeClr val="accent1"/>
          </a:lnRef>
          <a:fillRef idx="0">
            <a:schemeClr val="accent1"/>
          </a:fillRef>
          <a:effectRef idx="1">
            <a:schemeClr val="accent1"/>
          </a:effectRef>
          <a:fontRef idx="minor">
            <a:schemeClr val="tx1"/>
          </a:fontRef>
        </p:style>
      </p:cxnSp>
      <p:sp>
        <p:nvSpPr>
          <p:cNvPr id="33" name="Left Brace 32"/>
          <p:cNvSpPr/>
          <p:nvPr/>
        </p:nvSpPr>
        <p:spPr>
          <a:xfrm rot="16200000">
            <a:off x="6559067" y="-907568"/>
            <a:ext cx="482600" cy="4126534"/>
          </a:xfrm>
          <a:prstGeom prst="leftBrace">
            <a:avLst>
              <a:gd name="adj1" fmla="val 53070"/>
              <a:gd name="adj2" fmla="val 50000"/>
            </a:avLst>
          </a:prstGeom>
          <a:noFill/>
          <a:ln w="57150" cmpd="sng">
            <a:solidFill>
              <a:schemeClr val="tx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34" name="Picture 33"/>
          <p:cNvPicPr>
            <a:picLocks noChangeAspect="1"/>
          </p:cNvPicPr>
          <p:nvPr/>
        </p:nvPicPr>
        <p:blipFill>
          <a:blip r:embed="rId8"/>
          <a:stretch>
            <a:fillRect/>
          </a:stretch>
        </p:blipFill>
        <p:spPr>
          <a:xfrm>
            <a:off x="368300" y="579465"/>
            <a:ext cx="8394700" cy="457200"/>
          </a:xfrm>
          <a:prstGeom prst="rect">
            <a:avLst/>
          </a:prstGeom>
        </p:spPr>
      </p:pic>
      <p:sp>
        <p:nvSpPr>
          <p:cNvPr id="28" name="TextBox 27"/>
          <p:cNvSpPr txBox="1"/>
          <p:nvPr/>
        </p:nvSpPr>
        <p:spPr>
          <a:xfrm>
            <a:off x="4775200" y="2890391"/>
            <a:ext cx="3911600" cy="584776"/>
          </a:xfrm>
          <a:prstGeom prst="rect">
            <a:avLst/>
          </a:prstGeom>
          <a:solidFill>
            <a:schemeClr val="tx1">
              <a:lumMod val="65000"/>
              <a:lumOff val="35000"/>
            </a:schemeClr>
          </a:solidFill>
          <a:ln w="3175" cmpd="sng">
            <a:noFill/>
          </a:ln>
          <a:effectLst/>
        </p:spPr>
        <p:txBody>
          <a:bodyPr wrap="square" rtlCol="0">
            <a:spAutoFit/>
          </a:bodyPr>
          <a:lstStyle/>
          <a:p>
            <a:pPr algn="ctr"/>
            <a:r>
              <a:rPr lang="en-US" sz="3200" b="1" dirty="0" smtClean="0">
                <a:solidFill>
                  <a:schemeClr val="bg1"/>
                </a:solidFill>
                <a:cs typeface="Calibri"/>
              </a:rPr>
              <a:t>effect of learning?</a:t>
            </a:r>
          </a:p>
        </p:txBody>
      </p:sp>
    </p:spTree>
    <p:extLst>
      <p:ext uri="{BB962C8B-B14F-4D97-AF65-F5344CB8AC3E}">
        <p14:creationId xmlns:p14="http://schemas.microsoft.com/office/powerpoint/2010/main" val="3871174440"/>
      </p:ext>
    </p:extLst>
  </p:cSld>
  <p:clrMapOvr>
    <a:masterClrMapping/>
  </p:clrMapOvr>
  <p:timing>
    <p:tnLst>
      <p:par>
        <p:cTn xmlns:p14="http://schemas.microsoft.com/office/powerpoint/2010/mai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FF3AF9-2D61-8E40-AE3D-8390D801ED2C}" type="slidenum">
              <a:rPr lang="en-US" smtClean="0"/>
              <a:t>43</a:t>
            </a:fld>
            <a:endParaRPr lang="en-US"/>
          </a:p>
        </p:txBody>
      </p:sp>
      <p:sp>
        <p:nvSpPr>
          <p:cNvPr id="5" name="Rectangle 4"/>
          <p:cNvSpPr/>
          <p:nvPr/>
        </p:nvSpPr>
        <p:spPr>
          <a:xfrm>
            <a:off x="920750" y="3937000"/>
            <a:ext cx="444500" cy="12827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p:nvSpPr>
        <p:spPr>
          <a:xfrm>
            <a:off x="1581150" y="4305300"/>
            <a:ext cx="4445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p:cNvSpPr/>
          <p:nvPr/>
        </p:nvSpPr>
        <p:spPr>
          <a:xfrm>
            <a:off x="2235200" y="3429000"/>
            <a:ext cx="444500" cy="17907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2870200" y="4724400"/>
            <a:ext cx="444500" cy="4953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3530600" y="2890391"/>
            <a:ext cx="444500" cy="232930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 name="Straight Arrow Connector 10"/>
          <p:cNvCxnSpPr/>
          <p:nvPr/>
        </p:nvCxnSpPr>
        <p:spPr>
          <a:xfrm flipV="1">
            <a:off x="660400" y="1511300"/>
            <a:ext cx="0" cy="3708400"/>
          </a:xfrm>
          <a:prstGeom prst="straightConnector1">
            <a:avLst/>
          </a:prstGeom>
          <a:ln w="44450" cmpd="sng">
            <a:solidFill>
              <a:schemeClr val="accent4"/>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rot="16200000">
            <a:off x="-495932" y="3374366"/>
            <a:ext cx="1639563" cy="400110"/>
          </a:xfrm>
          <a:prstGeom prst="rect">
            <a:avLst/>
          </a:prstGeom>
          <a:noFill/>
          <a:ln w="3175" cmpd="sng">
            <a:noFill/>
          </a:ln>
          <a:effectLst/>
        </p:spPr>
        <p:txBody>
          <a:bodyPr wrap="square" rtlCol="0">
            <a:spAutoFit/>
          </a:bodyPr>
          <a:lstStyle/>
          <a:p>
            <a:pPr algn="ctr"/>
            <a:r>
              <a:rPr lang="en-US" sz="2000" dirty="0" smtClean="0">
                <a:solidFill>
                  <a:srgbClr val="000000"/>
                </a:solidFill>
                <a:cs typeface="Calibri"/>
              </a:rPr>
              <a:t>score + cost</a:t>
            </a:r>
            <a:endParaRPr lang="en-US" sz="2000" dirty="0" smtClean="0">
              <a:solidFill>
                <a:srgbClr val="000000"/>
              </a:solidFill>
              <a:latin typeface="Calibri"/>
              <a:cs typeface="Calibri"/>
            </a:endParaRPr>
          </a:p>
        </p:txBody>
      </p:sp>
      <p:pic>
        <p:nvPicPr>
          <p:cNvPr id="14" name="Picture 13"/>
          <p:cNvPicPr>
            <a:picLocks noChangeAspect="1"/>
          </p:cNvPicPr>
          <p:nvPr/>
        </p:nvPicPr>
        <p:blipFill>
          <a:blip r:embed="rId2"/>
          <a:stretch>
            <a:fillRect/>
          </a:stretch>
        </p:blipFill>
        <p:spPr>
          <a:xfrm>
            <a:off x="996950" y="5397500"/>
            <a:ext cx="254000" cy="203200"/>
          </a:xfrm>
          <a:prstGeom prst="rect">
            <a:avLst/>
          </a:prstGeom>
        </p:spPr>
      </p:pic>
      <p:pic>
        <p:nvPicPr>
          <p:cNvPr id="15" name="Picture 14"/>
          <p:cNvPicPr>
            <a:picLocks noChangeAspect="1"/>
          </p:cNvPicPr>
          <p:nvPr/>
        </p:nvPicPr>
        <p:blipFill>
          <a:blip r:embed="rId3"/>
          <a:stretch>
            <a:fillRect/>
          </a:stretch>
        </p:blipFill>
        <p:spPr>
          <a:xfrm>
            <a:off x="1670050" y="5397500"/>
            <a:ext cx="254000" cy="203200"/>
          </a:xfrm>
          <a:prstGeom prst="rect">
            <a:avLst/>
          </a:prstGeom>
        </p:spPr>
      </p:pic>
      <p:pic>
        <p:nvPicPr>
          <p:cNvPr id="16" name="Picture 15"/>
          <p:cNvPicPr>
            <a:picLocks noChangeAspect="1"/>
          </p:cNvPicPr>
          <p:nvPr/>
        </p:nvPicPr>
        <p:blipFill>
          <a:blip r:embed="rId4"/>
          <a:stretch>
            <a:fillRect/>
          </a:stretch>
        </p:blipFill>
        <p:spPr>
          <a:xfrm>
            <a:off x="2311400" y="5397500"/>
            <a:ext cx="266700" cy="203200"/>
          </a:xfrm>
          <a:prstGeom prst="rect">
            <a:avLst/>
          </a:prstGeom>
        </p:spPr>
      </p:pic>
      <p:pic>
        <p:nvPicPr>
          <p:cNvPr id="17" name="Picture 16"/>
          <p:cNvPicPr>
            <a:picLocks noChangeAspect="1"/>
          </p:cNvPicPr>
          <p:nvPr/>
        </p:nvPicPr>
        <p:blipFill>
          <a:blip r:embed="rId5"/>
          <a:stretch>
            <a:fillRect/>
          </a:stretch>
        </p:blipFill>
        <p:spPr>
          <a:xfrm>
            <a:off x="2946400" y="5397500"/>
            <a:ext cx="266700" cy="203200"/>
          </a:xfrm>
          <a:prstGeom prst="rect">
            <a:avLst/>
          </a:prstGeom>
        </p:spPr>
      </p:pic>
      <p:pic>
        <p:nvPicPr>
          <p:cNvPr id="18" name="Picture 17"/>
          <p:cNvPicPr>
            <a:picLocks noChangeAspect="1"/>
          </p:cNvPicPr>
          <p:nvPr/>
        </p:nvPicPr>
        <p:blipFill>
          <a:blip r:embed="rId6"/>
          <a:stretch>
            <a:fillRect/>
          </a:stretch>
        </p:blipFill>
        <p:spPr>
          <a:xfrm>
            <a:off x="3606800" y="5397500"/>
            <a:ext cx="254000" cy="203200"/>
          </a:xfrm>
          <a:prstGeom prst="rect">
            <a:avLst/>
          </a:prstGeom>
        </p:spPr>
      </p:pic>
      <p:sp>
        <p:nvSpPr>
          <p:cNvPr id="21" name="Rectangle 20"/>
          <p:cNvSpPr/>
          <p:nvPr/>
        </p:nvSpPr>
        <p:spPr>
          <a:xfrm>
            <a:off x="920750" y="2946400"/>
            <a:ext cx="444500" cy="990600"/>
          </a:xfrm>
          <a:prstGeom prst="rect">
            <a:avLst/>
          </a:prstGeom>
          <a:gradFill flip="none" rotWithShape="1">
            <a:gsLst>
              <a:gs pos="0">
                <a:srgbClr val="FF0000"/>
              </a:gs>
              <a:gs pos="100000">
                <a:srgbClr val="BC0000"/>
              </a:gs>
              <a:gs pos="0">
                <a:srgbClr val="FF0000"/>
              </a:gs>
            </a:gsLst>
            <a:lin ang="5400000" scaled="0"/>
            <a:tileRect/>
          </a:gra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581150" y="3784600"/>
            <a:ext cx="444500" cy="520700"/>
          </a:xfrm>
          <a:prstGeom prst="rect">
            <a:avLst/>
          </a:prstGeom>
          <a:gradFill flip="none" rotWithShape="1">
            <a:gsLst>
              <a:gs pos="0">
                <a:srgbClr val="FF0000"/>
              </a:gs>
              <a:gs pos="100000">
                <a:srgbClr val="BC0000"/>
              </a:gs>
              <a:gs pos="0">
                <a:srgbClr val="FF0000"/>
              </a:gs>
            </a:gsLst>
            <a:lin ang="5400000" scaled="0"/>
            <a:tileRect/>
          </a:gra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p:nvSpPr>
        <p:spPr>
          <a:xfrm>
            <a:off x="2235200" y="3035300"/>
            <a:ext cx="444500" cy="393700"/>
          </a:xfrm>
          <a:prstGeom prst="rect">
            <a:avLst/>
          </a:prstGeom>
          <a:gradFill flip="none" rotWithShape="1">
            <a:gsLst>
              <a:gs pos="0">
                <a:srgbClr val="FF0000"/>
              </a:gs>
              <a:gs pos="100000">
                <a:srgbClr val="BC0000"/>
              </a:gs>
              <a:gs pos="0">
                <a:srgbClr val="FF0000"/>
              </a:gs>
            </a:gsLst>
            <a:lin ang="5400000" scaled="0"/>
            <a:tileRect/>
          </a:gra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2870200" y="3429000"/>
            <a:ext cx="444500" cy="1295400"/>
          </a:xfrm>
          <a:prstGeom prst="rect">
            <a:avLst/>
          </a:prstGeom>
          <a:gradFill flip="none" rotWithShape="1">
            <a:gsLst>
              <a:gs pos="0">
                <a:srgbClr val="FF0000"/>
              </a:gs>
              <a:gs pos="100000">
                <a:srgbClr val="BC0000"/>
              </a:gs>
              <a:gs pos="0">
                <a:srgbClr val="FF0000"/>
              </a:gs>
            </a:gsLst>
            <a:lin ang="5400000" scaled="0"/>
            <a:tileRect/>
          </a:gra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6" name="Picture 25" descr="smiley-face-clip-art-emotions-RidMBKdi9.jpeg"/>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67102" y="5676899"/>
            <a:ext cx="550333" cy="550333"/>
          </a:xfrm>
          <a:prstGeom prst="rect">
            <a:avLst/>
          </a:prstGeom>
        </p:spPr>
      </p:pic>
      <p:sp>
        <p:nvSpPr>
          <p:cNvPr id="27" name="TextBox 26"/>
          <p:cNvSpPr txBox="1"/>
          <p:nvPr/>
        </p:nvSpPr>
        <p:spPr>
          <a:xfrm>
            <a:off x="2946400" y="6293787"/>
            <a:ext cx="1628806" cy="400110"/>
          </a:xfrm>
          <a:prstGeom prst="rect">
            <a:avLst/>
          </a:prstGeom>
          <a:solidFill>
            <a:schemeClr val="tx1"/>
          </a:solidFill>
          <a:ln w="3175" cmpd="sng">
            <a:noFill/>
          </a:ln>
          <a:effectLst/>
        </p:spPr>
        <p:txBody>
          <a:bodyPr wrap="square" rtlCol="0" anchor="ctr">
            <a:spAutoFit/>
          </a:bodyPr>
          <a:lstStyle/>
          <a:p>
            <a:pPr algn="ctr"/>
            <a:r>
              <a:rPr lang="en-US" sz="2000" dirty="0" smtClean="0">
                <a:solidFill>
                  <a:srgbClr val="FFFF00"/>
                </a:solidFill>
                <a:cs typeface="Calibri"/>
              </a:rPr>
              <a:t>gold standard</a:t>
            </a:r>
            <a:endParaRPr lang="en-US" sz="2000" dirty="0" smtClean="0">
              <a:solidFill>
                <a:srgbClr val="FFFF00"/>
              </a:solidFill>
              <a:latin typeface="Calibri"/>
              <a:cs typeface="Calibri"/>
            </a:endParaRPr>
          </a:p>
        </p:txBody>
      </p:sp>
      <p:sp>
        <p:nvSpPr>
          <p:cNvPr id="29" name="TextBox 28"/>
          <p:cNvSpPr txBox="1"/>
          <p:nvPr/>
        </p:nvSpPr>
        <p:spPr>
          <a:xfrm>
            <a:off x="266700" y="70618"/>
            <a:ext cx="2515349" cy="461665"/>
          </a:xfrm>
          <a:prstGeom prst="rect">
            <a:avLst/>
          </a:prstGeom>
          <a:noFill/>
          <a:ln w="3175" cmpd="sng">
            <a:noFill/>
          </a:ln>
          <a:effectLst/>
        </p:spPr>
        <p:txBody>
          <a:bodyPr wrap="square" rtlCol="0">
            <a:spAutoFit/>
          </a:bodyPr>
          <a:lstStyle/>
          <a:p>
            <a:r>
              <a:rPr lang="en-US" sz="2400" dirty="0" smtClean="0">
                <a:solidFill>
                  <a:srgbClr val="000000"/>
                </a:solidFill>
                <a:cs typeface="Calibri"/>
              </a:rPr>
              <a:t>hinge loss:</a:t>
            </a:r>
            <a:endParaRPr lang="en-US" sz="2400" dirty="0" smtClean="0">
              <a:solidFill>
                <a:srgbClr val="000000"/>
              </a:solidFill>
              <a:latin typeface="Calibri"/>
              <a:cs typeface="Calibri"/>
            </a:endParaRPr>
          </a:p>
        </p:txBody>
      </p:sp>
      <p:sp>
        <p:nvSpPr>
          <p:cNvPr id="33" name="TextBox 32"/>
          <p:cNvSpPr txBox="1"/>
          <p:nvPr/>
        </p:nvSpPr>
        <p:spPr>
          <a:xfrm>
            <a:off x="4775200" y="2890391"/>
            <a:ext cx="3911600" cy="2554545"/>
          </a:xfrm>
          <a:prstGeom prst="rect">
            <a:avLst/>
          </a:prstGeom>
          <a:solidFill>
            <a:schemeClr val="tx1">
              <a:lumMod val="65000"/>
              <a:lumOff val="35000"/>
            </a:schemeClr>
          </a:solidFill>
          <a:ln w="3175" cmpd="sng">
            <a:noFill/>
          </a:ln>
          <a:effectLst/>
        </p:spPr>
        <p:txBody>
          <a:bodyPr wrap="square" rtlCol="0">
            <a:spAutoFit/>
          </a:bodyPr>
          <a:lstStyle/>
          <a:p>
            <a:pPr algn="ctr"/>
            <a:r>
              <a:rPr lang="en-US" sz="3200" b="1" dirty="0" smtClean="0">
                <a:solidFill>
                  <a:schemeClr val="bg1"/>
                </a:solidFill>
                <a:cs typeface="Calibri"/>
              </a:rPr>
              <a:t>effect of learning:</a:t>
            </a:r>
          </a:p>
          <a:p>
            <a:pPr algn="ctr"/>
            <a:r>
              <a:rPr lang="en-US" sz="3200" dirty="0" smtClean="0">
                <a:solidFill>
                  <a:schemeClr val="bg1"/>
                </a:solidFill>
                <a:cs typeface="Calibri"/>
              </a:rPr>
              <a:t>score of gold standard will be higher than </a:t>
            </a:r>
            <a:r>
              <a:rPr lang="en-US" sz="3200" dirty="0" err="1" smtClean="0">
                <a:solidFill>
                  <a:schemeClr val="bg1"/>
                </a:solidFill>
                <a:cs typeface="Calibri"/>
              </a:rPr>
              <a:t>score+cost</a:t>
            </a:r>
            <a:r>
              <a:rPr lang="en-US" sz="3200" dirty="0" smtClean="0">
                <a:solidFill>
                  <a:schemeClr val="bg1"/>
                </a:solidFill>
                <a:cs typeface="Calibri"/>
              </a:rPr>
              <a:t> of all others</a:t>
            </a:r>
            <a:endParaRPr lang="en-US" sz="3200" dirty="0" smtClean="0">
              <a:solidFill>
                <a:schemeClr val="bg1"/>
              </a:solidFill>
              <a:latin typeface="Calibri"/>
              <a:cs typeface="Calibri"/>
            </a:endParaRPr>
          </a:p>
        </p:txBody>
      </p:sp>
      <p:pic>
        <p:nvPicPr>
          <p:cNvPr id="24" name="Picture 23"/>
          <p:cNvPicPr>
            <a:picLocks noChangeAspect="1"/>
          </p:cNvPicPr>
          <p:nvPr/>
        </p:nvPicPr>
        <p:blipFill>
          <a:blip r:embed="rId8"/>
          <a:stretch>
            <a:fillRect/>
          </a:stretch>
        </p:blipFill>
        <p:spPr>
          <a:xfrm>
            <a:off x="368300" y="579465"/>
            <a:ext cx="8394700" cy="457200"/>
          </a:xfrm>
          <a:prstGeom prst="rect">
            <a:avLst/>
          </a:prstGeom>
        </p:spPr>
      </p:pic>
    </p:spTree>
    <p:extLst>
      <p:ext uri="{BB962C8B-B14F-4D97-AF65-F5344CB8AC3E}">
        <p14:creationId xmlns:p14="http://schemas.microsoft.com/office/powerpoint/2010/main" val="3710751535"/>
      </p:ext>
    </p:extLst>
  </p:cSld>
  <p:clrMapOvr>
    <a:masterClrMapping/>
  </p:clrMapOvr>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12"/>
          <p:cNvSpPr/>
          <p:nvPr/>
        </p:nvSpPr>
        <p:spPr>
          <a:xfrm>
            <a:off x="5011271" y="27368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7" name="Title 1"/>
          <p:cNvSpPr>
            <a:spLocks noGrp="1"/>
          </p:cNvSpPr>
          <p:nvPr>
            <p:ph type="title"/>
          </p:nvPr>
        </p:nvSpPr>
        <p:spPr>
          <a:xfrm>
            <a:off x="304800" y="304800"/>
            <a:ext cx="8534400" cy="685800"/>
          </a:xfrm>
        </p:spPr>
        <p:txBody>
          <a:bodyPr>
            <a:normAutofit fontScale="90000"/>
          </a:bodyPr>
          <a:lstStyle/>
          <a:p>
            <a:r>
              <a:rPr lang="en-US" dirty="0" smtClean="0"/>
              <a:t>Perceptron Loss</a:t>
            </a:r>
            <a:endParaRPr lang="en-US" sz="2800" dirty="0">
              <a:solidFill>
                <a:srgbClr val="0062AC"/>
              </a:solidFill>
            </a:endParaRPr>
          </a:p>
        </p:txBody>
      </p:sp>
      <p:sp>
        <p:nvSpPr>
          <p:cNvPr id="9" name="Right Arrow 8"/>
          <p:cNvSpPr/>
          <p:nvPr/>
        </p:nvSpPr>
        <p:spPr>
          <a:xfrm>
            <a:off x="2886924" y="1337963"/>
            <a:ext cx="762000" cy="228600"/>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5-Point Star 1"/>
          <p:cNvSpPr/>
          <p:nvPr/>
        </p:nvSpPr>
        <p:spPr>
          <a:xfrm>
            <a:off x="2620833" y="1316176"/>
            <a:ext cx="207818" cy="207818"/>
          </a:xfrm>
          <a:prstGeom prst="star5">
            <a:avLst/>
          </a:prstGeom>
          <a:solidFill>
            <a:schemeClr val="tx1"/>
          </a:solidFill>
          <a:ln>
            <a:solidFill>
              <a:schemeClr val="tx1"/>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4" name="Right Arrow 13"/>
          <p:cNvSpPr/>
          <p:nvPr/>
        </p:nvSpPr>
        <p:spPr>
          <a:xfrm rot="10800000">
            <a:off x="4497321" y="3352650"/>
            <a:ext cx="762000" cy="228600"/>
          </a:xfrm>
          <a:prstGeom prst="rightArrow">
            <a:avLst/>
          </a:prstGeom>
          <a:solidFill>
            <a:srgbClr val="C50C0C"/>
          </a:solidFill>
          <a:ln>
            <a:solidFill>
              <a:srgbClr val="C50C0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TextBox 9"/>
          <p:cNvSpPr txBox="1">
            <a:spLocks noChangeArrowheads="1"/>
          </p:cNvSpPr>
          <p:nvPr/>
        </p:nvSpPr>
        <p:spPr bwMode="auto">
          <a:xfrm>
            <a:off x="1056640" y="1245980"/>
            <a:ext cx="161175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smtClean="0">
                <a:solidFill>
                  <a:srgbClr val="32A031"/>
                </a:solidFill>
                <a:latin typeface="Calibri"/>
                <a:cs typeface="Calibri"/>
              </a:rPr>
              <a:t>gold standard</a:t>
            </a:r>
            <a:endParaRPr lang="en-US" sz="2000" dirty="0">
              <a:solidFill>
                <a:srgbClr val="32A031"/>
              </a:solidFill>
              <a:latin typeface="Calibri"/>
              <a:cs typeface="Calibri"/>
            </a:endParaRPr>
          </a:p>
        </p:txBody>
      </p:sp>
      <p:sp>
        <p:nvSpPr>
          <p:cNvPr id="11" name="TextBox 10"/>
          <p:cNvSpPr txBox="1"/>
          <p:nvPr/>
        </p:nvSpPr>
        <p:spPr>
          <a:xfrm>
            <a:off x="3917930" y="6219102"/>
            <a:ext cx="1512091" cy="461665"/>
          </a:xfrm>
          <a:prstGeom prst="rect">
            <a:avLst/>
          </a:prstGeom>
          <a:solidFill>
            <a:srgbClr val="FFFFFF"/>
          </a:solidFill>
          <a:ln w="3175" cmpd="sng">
            <a:noFill/>
          </a:ln>
          <a:effectLst/>
        </p:spPr>
        <p:txBody>
          <a:bodyPr wrap="square" rtlCol="0" anchor="ctr">
            <a:spAutoFit/>
          </a:bodyPr>
          <a:lstStyle/>
          <a:p>
            <a:pPr algn="ctr"/>
            <a:r>
              <a:rPr lang="en-US" sz="2400" dirty="0" smtClean="0">
                <a:solidFill>
                  <a:srgbClr val="000000"/>
                </a:solidFill>
                <a:cs typeface="Calibri"/>
              </a:rPr>
              <a:t>score</a:t>
            </a:r>
            <a:endParaRPr lang="en-US" sz="2400" dirty="0" smtClean="0">
              <a:solidFill>
                <a:srgbClr val="000000"/>
              </a:solidFill>
              <a:latin typeface="Calibri"/>
              <a:cs typeface="Calibri"/>
            </a:endParaRPr>
          </a:p>
        </p:txBody>
      </p:sp>
      <p:sp>
        <p:nvSpPr>
          <p:cNvPr id="15" name="Rectangle 14"/>
          <p:cNvSpPr/>
          <p:nvPr/>
        </p:nvSpPr>
        <p:spPr>
          <a:xfrm>
            <a:off x="130504" y="1521547"/>
            <a:ext cx="536433" cy="108424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extBox 15"/>
          <p:cNvSpPr txBox="1"/>
          <p:nvPr/>
        </p:nvSpPr>
        <p:spPr>
          <a:xfrm rot="16200000">
            <a:off x="-265794" y="2046760"/>
            <a:ext cx="1512091" cy="461665"/>
          </a:xfrm>
          <a:prstGeom prst="rect">
            <a:avLst/>
          </a:prstGeom>
          <a:solidFill>
            <a:srgbClr val="FFFFFF"/>
          </a:solidFill>
          <a:ln w="3175" cmpd="sng">
            <a:noFill/>
          </a:ln>
          <a:effectLst/>
        </p:spPr>
        <p:txBody>
          <a:bodyPr wrap="square" rtlCol="0" anchor="ctr">
            <a:spAutoFit/>
          </a:bodyPr>
          <a:lstStyle/>
          <a:p>
            <a:pPr algn="ctr"/>
            <a:r>
              <a:rPr lang="en-US" sz="2400" dirty="0" smtClean="0">
                <a:solidFill>
                  <a:srgbClr val="000000"/>
                </a:solidFill>
                <a:cs typeface="Calibri"/>
              </a:rPr>
              <a:t>-cost</a:t>
            </a:r>
            <a:endParaRPr lang="en-US" sz="2400" dirty="0" smtClean="0">
              <a:solidFill>
                <a:srgbClr val="000000"/>
              </a:solidFill>
              <a:latin typeface="Calibri"/>
              <a:cs typeface="Calibri"/>
            </a:endParaRPr>
          </a:p>
        </p:txBody>
      </p:sp>
      <p:sp>
        <p:nvSpPr>
          <p:cNvPr id="18" name="TextBox 17"/>
          <p:cNvSpPr txBox="1">
            <a:spLocks noChangeArrowheads="1"/>
          </p:cNvSpPr>
          <p:nvPr/>
        </p:nvSpPr>
        <p:spPr bwMode="auto">
          <a:xfrm>
            <a:off x="5431737" y="3221262"/>
            <a:ext cx="212505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2000" dirty="0" smtClean="0">
                <a:solidFill>
                  <a:srgbClr val="C00000"/>
                </a:solidFill>
                <a:latin typeface="Calibri"/>
                <a:cs typeface="Calibri"/>
              </a:rPr>
              <a:t>prediction</a:t>
            </a:r>
          </a:p>
          <a:p>
            <a:pPr eaLnBrk="1" hangingPunct="1"/>
            <a:r>
              <a:rPr lang="en-US" sz="2000" dirty="0" smtClean="0">
                <a:solidFill>
                  <a:srgbClr val="C00000"/>
                </a:solidFill>
                <a:latin typeface="Calibri"/>
                <a:cs typeface="Calibri"/>
              </a:rPr>
              <a:t>(output of classify)</a:t>
            </a:r>
            <a:endParaRPr lang="en-US" sz="2000" dirty="0">
              <a:solidFill>
                <a:srgbClr val="C00000"/>
              </a:solidFill>
              <a:latin typeface="Calibri"/>
              <a:cs typeface="Calibri"/>
            </a:endParaRPr>
          </a:p>
        </p:txBody>
      </p:sp>
    </p:spTree>
    <p:extLst>
      <p:ext uri="{BB962C8B-B14F-4D97-AF65-F5344CB8AC3E}">
        <p14:creationId xmlns:p14="http://schemas.microsoft.com/office/powerpoint/2010/main" val="1173612839"/>
      </p:ext>
    </p:extLst>
  </p:cSld>
  <p:clrMapOvr>
    <a:masterClrMapping/>
  </p:clrMapOvr>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12"/>
          <p:cNvSpPr/>
          <p:nvPr/>
        </p:nvSpPr>
        <p:spPr>
          <a:xfrm>
            <a:off x="5011271" y="27368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7" name="Title 1"/>
          <p:cNvSpPr>
            <a:spLocks noGrp="1"/>
          </p:cNvSpPr>
          <p:nvPr>
            <p:ph type="title"/>
          </p:nvPr>
        </p:nvSpPr>
        <p:spPr>
          <a:xfrm>
            <a:off x="304800" y="304800"/>
            <a:ext cx="8534400" cy="685800"/>
          </a:xfrm>
        </p:spPr>
        <p:txBody>
          <a:bodyPr>
            <a:normAutofit fontScale="90000"/>
          </a:bodyPr>
          <a:lstStyle/>
          <a:p>
            <a:r>
              <a:rPr lang="en-US" dirty="0" smtClean="0"/>
              <a:t>Hinge Loss?</a:t>
            </a:r>
            <a:endParaRPr lang="en-US" sz="2800" dirty="0">
              <a:solidFill>
                <a:srgbClr val="0062AC"/>
              </a:solidFill>
            </a:endParaRPr>
          </a:p>
        </p:txBody>
      </p:sp>
      <p:sp>
        <p:nvSpPr>
          <p:cNvPr id="2" name="5-Point Star 1"/>
          <p:cNvSpPr/>
          <p:nvPr/>
        </p:nvSpPr>
        <p:spPr>
          <a:xfrm>
            <a:off x="2620833" y="1316176"/>
            <a:ext cx="207818" cy="207818"/>
          </a:xfrm>
          <a:prstGeom prst="star5">
            <a:avLst/>
          </a:prstGeom>
          <a:solidFill>
            <a:schemeClr val="tx1"/>
          </a:solidFill>
          <a:ln>
            <a:solidFill>
              <a:schemeClr val="tx1"/>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0" name="TextBox 9"/>
          <p:cNvSpPr txBox="1"/>
          <p:nvPr/>
        </p:nvSpPr>
        <p:spPr>
          <a:xfrm>
            <a:off x="3917930" y="6219102"/>
            <a:ext cx="1512091" cy="461665"/>
          </a:xfrm>
          <a:prstGeom prst="rect">
            <a:avLst/>
          </a:prstGeom>
          <a:solidFill>
            <a:srgbClr val="FFFFFF"/>
          </a:solidFill>
          <a:ln w="3175" cmpd="sng">
            <a:noFill/>
          </a:ln>
          <a:effectLst/>
        </p:spPr>
        <p:txBody>
          <a:bodyPr wrap="square" rtlCol="0" anchor="ctr">
            <a:spAutoFit/>
          </a:bodyPr>
          <a:lstStyle/>
          <a:p>
            <a:pPr algn="ctr"/>
            <a:r>
              <a:rPr lang="en-US" sz="2400" dirty="0" smtClean="0">
                <a:solidFill>
                  <a:srgbClr val="000000"/>
                </a:solidFill>
                <a:cs typeface="Calibri"/>
              </a:rPr>
              <a:t>score</a:t>
            </a:r>
            <a:endParaRPr lang="en-US" sz="2400" dirty="0" smtClean="0">
              <a:solidFill>
                <a:srgbClr val="000000"/>
              </a:solidFill>
              <a:latin typeface="Calibri"/>
              <a:cs typeface="Calibri"/>
            </a:endParaRPr>
          </a:p>
        </p:txBody>
      </p:sp>
      <p:sp>
        <p:nvSpPr>
          <p:cNvPr id="15" name="Rectangle 14"/>
          <p:cNvSpPr/>
          <p:nvPr/>
        </p:nvSpPr>
        <p:spPr>
          <a:xfrm>
            <a:off x="130504" y="1521547"/>
            <a:ext cx="536433" cy="108424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extBox 15"/>
          <p:cNvSpPr txBox="1"/>
          <p:nvPr/>
        </p:nvSpPr>
        <p:spPr>
          <a:xfrm rot="16200000">
            <a:off x="-265794" y="2046760"/>
            <a:ext cx="1512091" cy="461665"/>
          </a:xfrm>
          <a:prstGeom prst="rect">
            <a:avLst/>
          </a:prstGeom>
          <a:solidFill>
            <a:srgbClr val="FFFFFF"/>
          </a:solidFill>
          <a:ln w="3175" cmpd="sng">
            <a:noFill/>
          </a:ln>
          <a:effectLst/>
        </p:spPr>
        <p:txBody>
          <a:bodyPr wrap="square" rtlCol="0" anchor="ctr">
            <a:spAutoFit/>
          </a:bodyPr>
          <a:lstStyle/>
          <a:p>
            <a:pPr algn="ctr"/>
            <a:r>
              <a:rPr lang="en-US" sz="2400" dirty="0" smtClean="0">
                <a:solidFill>
                  <a:srgbClr val="000000"/>
                </a:solidFill>
                <a:cs typeface="Calibri"/>
              </a:rPr>
              <a:t>-cost</a:t>
            </a:r>
            <a:endParaRPr lang="en-US" sz="2400" dirty="0" smtClean="0">
              <a:solidFill>
                <a:srgbClr val="000000"/>
              </a:solidFill>
              <a:latin typeface="Calibri"/>
              <a:cs typeface="Calibri"/>
            </a:endParaRPr>
          </a:p>
        </p:txBody>
      </p:sp>
    </p:spTree>
    <p:extLst>
      <p:ext uri="{BB962C8B-B14F-4D97-AF65-F5344CB8AC3E}">
        <p14:creationId xmlns:p14="http://schemas.microsoft.com/office/powerpoint/2010/main" val="3790876806"/>
      </p:ext>
    </p:extLst>
  </p:cSld>
  <p:clrMapOvr>
    <a:masterClrMapping/>
  </p:clrMapOvr>
  <p:timing>
    <p:tnLst>
      <p:par>
        <p:cTn xmlns:p14="http://schemas.microsoft.com/office/powerpoint/2010/mai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12"/>
          <p:cNvSpPr/>
          <p:nvPr/>
        </p:nvSpPr>
        <p:spPr>
          <a:xfrm>
            <a:off x="5011271" y="27368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7" name="Title 1"/>
          <p:cNvSpPr>
            <a:spLocks noGrp="1"/>
          </p:cNvSpPr>
          <p:nvPr>
            <p:ph type="title"/>
          </p:nvPr>
        </p:nvSpPr>
        <p:spPr>
          <a:xfrm>
            <a:off x="304800" y="304800"/>
            <a:ext cx="8534400" cy="685800"/>
          </a:xfrm>
        </p:spPr>
        <p:txBody>
          <a:bodyPr>
            <a:normAutofit fontScale="90000"/>
          </a:bodyPr>
          <a:lstStyle/>
          <a:p>
            <a:r>
              <a:rPr lang="en-US" dirty="0" smtClean="0"/>
              <a:t>Hinge Loss</a:t>
            </a:r>
            <a:endParaRPr lang="en-US" sz="2800" dirty="0">
              <a:solidFill>
                <a:srgbClr val="0062AC"/>
              </a:solidFill>
            </a:endParaRPr>
          </a:p>
        </p:txBody>
      </p:sp>
      <p:sp>
        <p:nvSpPr>
          <p:cNvPr id="9" name="Right Arrow 8"/>
          <p:cNvSpPr/>
          <p:nvPr/>
        </p:nvSpPr>
        <p:spPr>
          <a:xfrm>
            <a:off x="2886924" y="1337963"/>
            <a:ext cx="762000" cy="228600"/>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5-Point Star 1"/>
          <p:cNvSpPr/>
          <p:nvPr/>
        </p:nvSpPr>
        <p:spPr>
          <a:xfrm>
            <a:off x="2620833" y="1316176"/>
            <a:ext cx="207818" cy="207818"/>
          </a:xfrm>
          <a:prstGeom prst="star5">
            <a:avLst/>
          </a:prstGeom>
          <a:solidFill>
            <a:schemeClr val="tx1"/>
          </a:solidFill>
          <a:ln>
            <a:solidFill>
              <a:schemeClr val="tx1"/>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1" name="TextBox 10"/>
          <p:cNvSpPr txBox="1">
            <a:spLocks noChangeArrowheads="1"/>
          </p:cNvSpPr>
          <p:nvPr/>
        </p:nvSpPr>
        <p:spPr bwMode="auto">
          <a:xfrm>
            <a:off x="1056640" y="1245980"/>
            <a:ext cx="161175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smtClean="0">
                <a:solidFill>
                  <a:srgbClr val="32A031"/>
                </a:solidFill>
                <a:latin typeface="Calibri"/>
                <a:cs typeface="Calibri"/>
              </a:rPr>
              <a:t>gold standard</a:t>
            </a:r>
            <a:endParaRPr lang="en-US" sz="2000" dirty="0">
              <a:solidFill>
                <a:srgbClr val="32A031"/>
              </a:solidFill>
              <a:latin typeface="Calibri"/>
              <a:cs typeface="Calibri"/>
            </a:endParaRPr>
          </a:p>
        </p:txBody>
      </p:sp>
      <p:sp>
        <p:nvSpPr>
          <p:cNvPr id="12" name="TextBox 11"/>
          <p:cNvSpPr txBox="1">
            <a:spLocks noChangeArrowheads="1"/>
          </p:cNvSpPr>
          <p:nvPr/>
        </p:nvSpPr>
        <p:spPr bwMode="auto">
          <a:xfrm>
            <a:off x="5237969" y="4862015"/>
            <a:ext cx="352459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2000" dirty="0" smtClean="0">
                <a:solidFill>
                  <a:srgbClr val="C50C0C"/>
                </a:solidFill>
                <a:latin typeface="Calibri"/>
                <a:cs typeface="Calibri"/>
              </a:rPr>
              <a:t>cost-augmented prediction</a:t>
            </a:r>
          </a:p>
        </p:txBody>
      </p:sp>
      <p:sp>
        <p:nvSpPr>
          <p:cNvPr id="14" name="Right Arrow 13"/>
          <p:cNvSpPr/>
          <p:nvPr/>
        </p:nvSpPr>
        <p:spPr>
          <a:xfrm rot="10800000">
            <a:off x="4249271" y="4968090"/>
            <a:ext cx="762000" cy="228600"/>
          </a:xfrm>
          <a:prstGeom prst="rightArrow">
            <a:avLst/>
          </a:prstGeom>
          <a:solidFill>
            <a:srgbClr val="C50C0C"/>
          </a:solidFill>
          <a:ln>
            <a:solidFill>
              <a:srgbClr val="C50C0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TextBox 9"/>
          <p:cNvSpPr txBox="1"/>
          <p:nvPr/>
        </p:nvSpPr>
        <p:spPr>
          <a:xfrm>
            <a:off x="3917930" y="6219102"/>
            <a:ext cx="1512091" cy="461665"/>
          </a:xfrm>
          <a:prstGeom prst="rect">
            <a:avLst/>
          </a:prstGeom>
          <a:solidFill>
            <a:srgbClr val="FFFFFF"/>
          </a:solidFill>
          <a:ln w="3175" cmpd="sng">
            <a:noFill/>
          </a:ln>
          <a:effectLst/>
        </p:spPr>
        <p:txBody>
          <a:bodyPr wrap="square" rtlCol="0" anchor="ctr">
            <a:spAutoFit/>
          </a:bodyPr>
          <a:lstStyle/>
          <a:p>
            <a:pPr algn="ctr"/>
            <a:r>
              <a:rPr lang="en-US" sz="2400" dirty="0" smtClean="0">
                <a:solidFill>
                  <a:srgbClr val="000000"/>
                </a:solidFill>
                <a:cs typeface="Calibri"/>
              </a:rPr>
              <a:t>score</a:t>
            </a:r>
            <a:endParaRPr lang="en-US" sz="2400" dirty="0" smtClean="0">
              <a:solidFill>
                <a:srgbClr val="000000"/>
              </a:solidFill>
              <a:latin typeface="Calibri"/>
              <a:cs typeface="Calibri"/>
            </a:endParaRPr>
          </a:p>
        </p:txBody>
      </p:sp>
      <p:sp>
        <p:nvSpPr>
          <p:cNvPr id="15" name="Rectangle 14"/>
          <p:cNvSpPr/>
          <p:nvPr/>
        </p:nvSpPr>
        <p:spPr>
          <a:xfrm>
            <a:off x="130504" y="1521547"/>
            <a:ext cx="536433" cy="108424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extBox 15"/>
          <p:cNvSpPr txBox="1"/>
          <p:nvPr/>
        </p:nvSpPr>
        <p:spPr>
          <a:xfrm rot="16200000">
            <a:off x="-265794" y="2046760"/>
            <a:ext cx="1512091" cy="461665"/>
          </a:xfrm>
          <a:prstGeom prst="rect">
            <a:avLst/>
          </a:prstGeom>
          <a:solidFill>
            <a:srgbClr val="FFFFFF"/>
          </a:solidFill>
          <a:ln w="3175" cmpd="sng">
            <a:noFill/>
          </a:ln>
          <a:effectLst/>
        </p:spPr>
        <p:txBody>
          <a:bodyPr wrap="square" rtlCol="0" anchor="ctr">
            <a:spAutoFit/>
          </a:bodyPr>
          <a:lstStyle/>
          <a:p>
            <a:pPr algn="ctr"/>
            <a:r>
              <a:rPr lang="en-US" sz="2400" dirty="0" smtClean="0">
                <a:solidFill>
                  <a:srgbClr val="000000"/>
                </a:solidFill>
                <a:cs typeface="Calibri"/>
              </a:rPr>
              <a:t>-cost</a:t>
            </a:r>
            <a:endParaRPr lang="en-US" sz="2400" dirty="0" smtClean="0">
              <a:solidFill>
                <a:srgbClr val="000000"/>
              </a:solidFill>
              <a:latin typeface="Calibri"/>
              <a:cs typeface="Calibri"/>
            </a:endParaRPr>
          </a:p>
        </p:txBody>
      </p:sp>
    </p:spTree>
    <p:extLst>
      <p:ext uri="{BB962C8B-B14F-4D97-AF65-F5344CB8AC3E}">
        <p14:creationId xmlns:p14="http://schemas.microsoft.com/office/powerpoint/2010/main" val="127658788"/>
      </p:ext>
    </p:extLst>
  </p:cSld>
  <p:clrMapOvr>
    <a:masterClrMapping/>
  </p:clrMapOvr>
  <p:timing>
    <p:tnLst>
      <p:par>
        <p:cTn xmlns:p14="http://schemas.microsoft.com/office/powerpoint/2010/mai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Perception </a:t>
            </a:r>
            <a:r>
              <a:rPr lang="en-US" sz="3100" dirty="0" smtClean="0">
                <a:sym typeface="Wingdings"/>
              </a:rPr>
              <a:t></a:t>
            </a:r>
            <a:r>
              <a:rPr lang="en-US" dirty="0" smtClean="0">
                <a:sym typeface="Wingdings"/>
              </a:rPr>
              <a:t> </a:t>
            </a:r>
            <a:r>
              <a:rPr lang="en-US" dirty="0" smtClean="0"/>
              <a:t>Hinge</a:t>
            </a:r>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47</a:t>
            </a:fld>
            <a:endParaRPr lang="en-US"/>
          </a:p>
        </p:txBody>
      </p:sp>
      <p:pic>
        <p:nvPicPr>
          <p:cNvPr id="10" name="Picture 9"/>
          <p:cNvPicPr>
            <a:picLocks noChangeAspect="1"/>
          </p:cNvPicPr>
          <p:nvPr/>
        </p:nvPicPr>
        <p:blipFill>
          <a:blip r:embed="rId2"/>
          <a:stretch>
            <a:fillRect/>
          </a:stretch>
        </p:blipFill>
        <p:spPr>
          <a:xfrm>
            <a:off x="142316" y="2847776"/>
            <a:ext cx="8935995" cy="862867"/>
          </a:xfrm>
          <a:prstGeom prst="rect">
            <a:avLst/>
          </a:prstGeom>
        </p:spPr>
      </p:pic>
      <p:pic>
        <p:nvPicPr>
          <p:cNvPr id="11" name="Picture 10"/>
          <p:cNvPicPr>
            <a:picLocks noChangeAspect="1"/>
          </p:cNvPicPr>
          <p:nvPr/>
        </p:nvPicPr>
        <p:blipFill>
          <a:blip r:embed="rId3"/>
          <a:stretch>
            <a:fillRect/>
          </a:stretch>
        </p:blipFill>
        <p:spPr>
          <a:xfrm>
            <a:off x="142317" y="1734180"/>
            <a:ext cx="7181642" cy="646226"/>
          </a:xfrm>
          <a:prstGeom prst="rect">
            <a:avLst/>
          </a:prstGeom>
        </p:spPr>
      </p:pic>
    </p:spTree>
    <p:extLst>
      <p:ext uri="{BB962C8B-B14F-4D97-AF65-F5344CB8AC3E}">
        <p14:creationId xmlns:p14="http://schemas.microsoft.com/office/powerpoint/2010/main" val="2371409428"/>
      </p:ext>
    </p:extLst>
  </p:cSld>
  <p:clrMapOvr>
    <a:masterClrMapping/>
  </p:clrMapOvr>
  <p:timing>
    <p:tnLst>
      <p:par>
        <p:cTn xmlns:p14="http://schemas.microsoft.com/office/powerpoint/2010/mai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Loss </a:t>
            </a:r>
            <a:r>
              <a:rPr lang="en-US" dirty="0" err="1" smtClean="0"/>
              <a:t>Subgradients</a:t>
            </a:r>
            <a:r>
              <a:rPr lang="en-US" dirty="0" smtClean="0"/>
              <a:t> for Linear Models</a:t>
            </a:r>
            <a:endParaRPr lang="en-US" dirty="0"/>
          </a:p>
        </p:txBody>
      </p:sp>
      <p:sp>
        <p:nvSpPr>
          <p:cNvPr id="3" name="Content Placeholder 2"/>
          <p:cNvSpPr>
            <a:spLocks noGrp="1"/>
          </p:cNvSpPr>
          <p:nvPr>
            <p:ph idx="1"/>
          </p:nvPr>
        </p:nvSpPr>
        <p:spPr>
          <a:xfrm>
            <a:off x="355600" y="946740"/>
            <a:ext cx="8229600" cy="4806360"/>
          </a:xfrm>
        </p:spPr>
        <p:txBody>
          <a:bodyPr>
            <a:normAutofit/>
          </a:bodyPr>
          <a:lstStyle/>
          <a:p>
            <a:r>
              <a:rPr lang="en-US" sz="2800" dirty="0" smtClean="0"/>
              <a:t>hinge loss:</a:t>
            </a:r>
          </a:p>
          <a:p>
            <a:endParaRPr lang="en-US" sz="2800" dirty="0" smtClean="0"/>
          </a:p>
          <a:p>
            <a:endParaRPr lang="en-US" sz="2800" dirty="0"/>
          </a:p>
          <a:p>
            <a:pPr marL="0" indent="0">
              <a:buNone/>
            </a:pPr>
            <a:endParaRPr lang="en-US" sz="2800" dirty="0" smtClean="0"/>
          </a:p>
          <a:p>
            <a:r>
              <a:rPr lang="en-US" sz="2800" dirty="0" err="1" smtClean="0">
                <a:solidFill>
                  <a:srgbClr val="000000"/>
                </a:solidFill>
              </a:rPr>
              <a:t>subderivative</a:t>
            </a:r>
            <a:r>
              <a:rPr lang="en-US" sz="2800" dirty="0" smtClean="0">
                <a:solidFill>
                  <a:srgbClr val="000000"/>
                </a:solidFill>
              </a:rPr>
              <a:t> for a single parameter:</a:t>
            </a:r>
            <a:endParaRPr lang="en-US" sz="2800" dirty="0" smtClean="0"/>
          </a:p>
        </p:txBody>
      </p:sp>
      <p:sp>
        <p:nvSpPr>
          <p:cNvPr id="4" name="Slide Number Placeholder 3"/>
          <p:cNvSpPr>
            <a:spLocks noGrp="1"/>
          </p:cNvSpPr>
          <p:nvPr>
            <p:ph type="sldNum" sz="quarter" idx="12"/>
          </p:nvPr>
        </p:nvSpPr>
        <p:spPr/>
        <p:txBody>
          <a:bodyPr/>
          <a:lstStyle/>
          <a:p>
            <a:fld id="{3CFF3AF9-2D61-8E40-AE3D-8390D801ED2C}" type="slidenum">
              <a:rPr lang="en-US" smtClean="0"/>
              <a:t>48</a:t>
            </a:fld>
            <a:endParaRPr lang="en-US"/>
          </a:p>
        </p:txBody>
      </p:sp>
      <p:pic>
        <p:nvPicPr>
          <p:cNvPr id="6" name="Picture 5"/>
          <p:cNvPicPr>
            <a:picLocks noChangeAspect="1"/>
          </p:cNvPicPr>
          <p:nvPr/>
        </p:nvPicPr>
        <p:blipFill>
          <a:blip r:embed="rId2"/>
          <a:stretch>
            <a:fillRect/>
          </a:stretch>
        </p:blipFill>
        <p:spPr>
          <a:xfrm>
            <a:off x="65682" y="1681606"/>
            <a:ext cx="9012629" cy="870267"/>
          </a:xfrm>
          <a:prstGeom prst="rect">
            <a:avLst/>
          </a:prstGeom>
        </p:spPr>
      </p:pic>
    </p:spTree>
    <p:extLst>
      <p:ext uri="{BB962C8B-B14F-4D97-AF65-F5344CB8AC3E}">
        <p14:creationId xmlns:p14="http://schemas.microsoft.com/office/powerpoint/2010/main" val="3928917428"/>
      </p:ext>
    </p:extLst>
  </p:cSld>
  <p:clrMapOvr>
    <a:masterClrMapping/>
  </p:clrMapOvr>
  <p:timing>
    <p:tnLst>
      <p:par>
        <p:cTn xmlns:p14="http://schemas.microsoft.com/office/powerpoint/2010/mai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Loss </a:t>
            </a:r>
            <a:r>
              <a:rPr lang="en-US" dirty="0" err="1" smtClean="0"/>
              <a:t>Subgradients</a:t>
            </a:r>
            <a:r>
              <a:rPr lang="en-US" dirty="0" smtClean="0"/>
              <a:t> for Linear Models</a:t>
            </a:r>
            <a:endParaRPr lang="en-US" dirty="0"/>
          </a:p>
        </p:txBody>
      </p:sp>
      <p:sp>
        <p:nvSpPr>
          <p:cNvPr id="3" name="Content Placeholder 2"/>
          <p:cNvSpPr>
            <a:spLocks noGrp="1"/>
          </p:cNvSpPr>
          <p:nvPr>
            <p:ph idx="1"/>
          </p:nvPr>
        </p:nvSpPr>
        <p:spPr>
          <a:xfrm>
            <a:off x="355600" y="946740"/>
            <a:ext cx="8229600" cy="4806360"/>
          </a:xfrm>
        </p:spPr>
        <p:txBody>
          <a:bodyPr>
            <a:normAutofit/>
          </a:bodyPr>
          <a:lstStyle/>
          <a:p>
            <a:r>
              <a:rPr lang="en-US" sz="2800" dirty="0" smtClean="0"/>
              <a:t>hinge loss:</a:t>
            </a:r>
          </a:p>
          <a:p>
            <a:endParaRPr lang="en-US" sz="2800" dirty="0" smtClean="0"/>
          </a:p>
          <a:p>
            <a:endParaRPr lang="en-US" sz="2800" dirty="0"/>
          </a:p>
          <a:p>
            <a:pPr marL="0" indent="0">
              <a:buNone/>
            </a:pPr>
            <a:endParaRPr lang="en-US" sz="2800" dirty="0" smtClean="0"/>
          </a:p>
          <a:p>
            <a:r>
              <a:rPr lang="en-US" sz="2800" dirty="0" err="1" smtClean="0">
                <a:solidFill>
                  <a:srgbClr val="000000"/>
                </a:solidFill>
              </a:rPr>
              <a:t>subderivative</a:t>
            </a:r>
            <a:r>
              <a:rPr lang="en-US" sz="2800" dirty="0" smtClean="0">
                <a:solidFill>
                  <a:srgbClr val="000000"/>
                </a:solidFill>
              </a:rPr>
              <a:t> for a single parameter:</a:t>
            </a:r>
            <a:endParaRPr lang="en-US" sz="2800" dirty="0" smtClean="0"/>
          </a:p>
        </p:txBody>
      </p:sp>
      <p:sp>
        <p:nvSpPr>
          <p:cNvPr id="4" name="Slide Number Placeholder 3"/>
          <p:cNvSpPr>
            <a:spLocks noGrp="1"/>
          </p:cNvSpPr>
          <p:nvPr>
            <p:ph type="sldNum" sz="quarter" idx="12"/>
          </p:nvPr>
        </p:nvSpPr>
        <p:spPr/>
        <p:txBody>
          <a:bodyPr/>
          <a:lstStyle/>
          <a:p>
            <a:fld id="{3CFF3AF9-2D61-8E40-AE3D-8390D801ED2C}" type="slidenum">
              <a:rPr lang="en-US" smtClean="0"/>
              <a:t>49</a:t>
            </a:fld>
            <a:endParaRPr lang="en-US"/>
          </a:p>
        </p:txBody>
      </p:sp>
      <p:pic>
        <p:nvPicPr>
          <p:cNvPr id="6" name="Picture 5"/>
          <p:cNvPicPr>
            <a:picLocks noChangeAspect="1"/>
          </p:cNvPicPr>
          <p:nvPr/>
        </p:nvPicPr>
        <p:blipFill>
          <a:blip r:embed="rId2"/>
          <a:stretch>
            <a:fillRect/>
          </a:stretch>
        </p:blipFill>
        <p:spPr>
          <a:xfrm>
            <a:off x="65682" y="1681606"/>
            <a:ext cx="9012629" cy="870267"/>
          </a:xfrm>
          <a:prstGeom prst="rect">
            <a:avLst/>
          </a:prstGeom>
        </p:spPr>
      </p:pic>
      <p:pic>
        <p:nvPicPr>
          <p:cNvPr id="9" name="Picture 8"/>
          <p:cNvPicPr>
            <a:picLocks noChangeAspect="1"/>
          </p:cNvPicPr>
          <p:nvPr/>
        </p:nvPicPr>
        <p:blipFill>
          <a:blip r:embed="rId3"/>
          <a:stretch>
            <a:fillRect/>
          </a:stretch>
        </p:blipFill>
        <p:spPr>
          <a:xfrm>
            <a:off x="609600" y="3967691"/>
            <a:ext cx="7924800" cy="749300"/>
          </a:xfrm>
          <a:prstGeom prst="rect">
            <a:avLst/>
          </a:prstGeom>
        </p:spPr>
      </p:pic>
    </p:spTree>
    <p:extLst>
      <p:ext uri="{BB962C8B-B14F-4D97-AF65-F5344CB8AC3E}">
        <p14:creationId xmlns:p14="http://schemas.microsoft.com/office/powerpoint/2010/main" val="641572956"/>
      </p:ext>
    </p:extLst>
  </p:cSld>
  <p:clrMapOvr>
    <a:masterClrMapping/>
  </p:clrMapOvr>
  <p:timing>
    <p:tnLst>
      <p:par>
        <p:cTn xmlns:p14="http://schemas.microsoft.com/office/powerpoint/2010/mai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Loss </a:t>
            </a:r>
            <a:r>
              <a:rPr lang="en-US" dirty="0" err="1" smtClean="0"/>
              <a:t>Subgradients</a:t>
            </a:r>
            <a:r>
              <a:rPr lang="en-US" dirty="0" smtClean="0"/>
              <a:t> for Linear Models</a:t>
            </a:r>
            <a:endParaRPr lang="en-US" dirty="0"/>
          </a:p>
        </p:txBody>
      </p:sp>
      <p:sp>
        <p:nvSpPr>
          <p:cNvPr id="3" name="Content Placeholder 2"/>
          <p:cNvSpPr>
            <a:spLocks noGrp="1"/>
          </p:cNvSpPr>
          <p:nvPr>
            <p:ph idx="1"/>
          </p:nvPr>
        </p:nvSpPr>
        <p:spPr>
          <a:xfrm>
            <a:off x="355600" y="946740"/>
            <a:ext cx="8229600" cy="4806360"/>
          </a:xfrm>
        </p:spPr>
        <p:txBody>
          <a:bodyPr>
            <a:normAutofit/>
          </a:bodyPr>
          <a:lstStyle/>
          <a:p>
            <a:r>
              <a:rPr lang="en-US" sz="2800" dirty="0" smtClean="0"/>
              <a:t>hinge loss:</a:t>
            </a:r>
          </a:p>
          <a:p>
            <a:endParaRPr lang="en-US" sz="2800" dirty="0" smtClean="0"/>
          </a:p>
          <a:p>
            <a:endParaRPr lang="en-US" sz="2800" dirty="0"/>
          </a:p>
          <a:p>
            <a:pPr marL="0" indent="0">
              <a:buNone/>
            </a:pPr>
            <a:endParaRPr lang="en-US" sz="2800" dirty="0" smtClean="0"/>
          </a:p>
          <a:p>
            <a:r>
              <a:rPr lang="en-US" sz="2800" dirty="0" err="1" smtClean="0">
                <a:solidFill>
                  <a:srgbClr val="000000"/>
                </a:solidFill>
              </a:rPr>
              <a:t>subderivative</a:t>
            </a:r>
            <a:r>
              <a:rPr lang="en-US" sz="2800" dirty="0" smtClean="0">
                <a:solidFill>
                  <a:srgbClr val="000000"/>
                </a:solidFill>
              </a:rPr>
              <a:t> for a single parameter:</a:t>
            </a:r>
            <a:endParaRPr lang="en-US" sz="2800" dirty="0" smtClean="0"/>
          </a:p>
        </p:txBody>
      </p:sp>
      <p:sp>
        <p:nvSpPr>
          <p:cNvPr id="4" name="Slide Number Placeholder 3"/>
          <p:cNvSpPr>
            <a:spLocks noGrp="1"/>
          </p:cNvSpPr>
          <p:nvPr>
            <p:ph type="sldNum" sz="quarter" idx="12"/>
          </p:nvPr>
        </p:nvSpPr>
        <p:spPr/>
        <p:txBody>
          <a:bodyPr/>
          <a:lstStyle/>
          <a:p>
            <a:fld id="{3CFF3AF9-2D61-8E40-AE3D-8390D801ED2C}" type="slidenum">
              <a:rPr lang="en-US" smtClean="0"/>
              <a:t>50</a:t>
            </a:fld>
            <a:endParaRPr lang="en-US"/>
          </a:p>
        </p:txBody>
      </p:sp>
      <p:pic>
        <p:nvPicPr>
          <p:cNvPr id="6" name="Picture 5"/>
          <p:cNvPicPr>
            <a:picLocks noChangeAspect="1"/>
          </p:cNvPicPr>
          <p:nvPr/>
        </p:nvPicPr>
        <p:blipFill>
          <a:blip r:embed="rId2"/>
          <a:stretch>
            <a:fillRect/>
          </a:stretch>
        </p:blipFill>
        <p:spPr>
          <a:xfrm>
            <a:off x="65682" y="1681606"/>
            <a:ext cx="9012629" cy="870267"/>
          </a:xfrm>
          <a:prstGeom prst="rect">
            <a:avLst/>
          </a:prstGeom>
        </p:spPr>
      </p:pic>
      <p:pic>
        <p:nvPicPr>
          <p:cNvPr id="5" name="Picture 4"/>
          <p:cNvPicPr>
            <a:picLocks noChangeAspect="1"/>
          </p:cNvPicPr>
          <p:nvPr/>
        </p:nvPicPr>
        <p:blipFill>
          <a:blip r:embed="rId3"/>
          <a:stretch>
            <a:fillRect/>
          </a:stretch>
        </p:blipFill>
        <p:spPr>
          <a:xfrm>
            <a:off x="913495" y="4826000"/>
            <a:ext cx="8077200" cy="927100"/>
          </a:xfrm>
          <a:prstGeom prst="rect">
            <a:avLst/>
          </a:prstGeom>
        </p:spPr>
      </p:pic>
      <p:pic>
        <p:nvPicPr>
          <p:cNvPr id="9" name="Picture 8"/>
          <p:cNvPicPr>
            <a:picLocks noChangeAspect="1"/>
          </p:cNvPicPr>
          <p:nvPr/>
        </p:nvPicPr>
        <p:blipFill>
          <a:blip r:embed="rId4"/>
          <a:stretch>
            <a:fillRect/>
          </a:stretch>
        </p:blipFill>
        <p:spPr>
          <a:xfrm>
            <a:off x="609600" y="3967691"/>
            <a:ext cx="7924800" cy="749300"/>
          </a:xfrm>
          <a:prstGeom prst="rect">
            <a:avLst/>
          </a:prstGeom>
        </p:spPr>
      </p:pic>
      <p:sp>
        <p:nvSpPr>
          <p:cNvPr id="8" name="Content Placeholder 2"/>
          <p:cNvSpPr txBox="1">
            <a:spLocks/>
          </p:cNvSpPr>
          <p:nvPr/>
        </p:nvSpPr>
        <p:spPr>
          <a:xfrm>
            <a:off x="355600" y="5753100"/>
            <a:ext cx="7644039" cy="908054"/>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2400" dirty="0" smtClean="0">
                <a:solidFill>
                  <a:srgbClr val="288CD2"/>
                </a:solidFill>
              </a:rPr>
              <a:t>“cost-augmented inference” or “cost-augmented decoding”</a:t>
            </a:r>
          </a:p>
        </p:txBody>
      </p:sp>
    </p:spTree>
    <p:extLst>
      <p:ext uri="{BB962C8B-B14F-4D97-AF65-F5344CB8AC3E}">
        <p14:creationId xmlns:p14="http://schemas.microsoft.com/office/powerpoint/2010/main" val="2943458384"/>
      </p:ext>
    </p:extLst>
  </p:cSld>
  <p:clrMapOvr>
    <a:masterClrMapping/>
  </p:clrMapOvr>
  <p:timing>
    <p:tnLst>
      <p:par>
        <p:cTn xmlns:p14="http://schemas.microsoft.com/office/powerpoint/2010/mai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Feature count cut-off of zero?</a:t>
            </a:r>
            <a:endParaRPr lang="en-US" dirty="0"/>
          </a:p>
        </p:txBody>
      </p:sp>
      <p:sp>
        <p:nvSpPr>
          <p:cNvPr id="3" name="Content Placeholder 2"/>
          <p:cNvSpPr>
            <a:spLocks noGrp="1"/>
          </p:cNvSpPr>
          <p:nvPr>
            <p:ph idx="1"/>
          </p:nvPr>
        </p:nvSpPr>
        <p:spPr>
          <a:xfrm>
            <a:off x="457200" y="1473514"/>
            <a:ext cx="8229600" cy="3279499"/>
          </a:xfrm>
        </p:spPr>
        <p:txBody>
          <a:bodyPr>
            <a:normAutofit/>
          </a:bodyPr>
          <a:lstStyle/>
          <a:p>
            <a:r>
              <a:rPr lang="en-US" sz="2800" dirty="0" smtClean="0"/>
              <a:t>perceptron loss update rule:</a:t>
            </a:r>
          </a:p>
          <a:p>
            <a:endParaRPr lang="en-US" sz="2800" dirty="0"/>
          </a:p>
          <a:p>
            <a:endParaRPr lang="en-US" sz="1600" dirty="0" smtClean="0"/>
          </a:p>
          <a:p>
            <a:endParaRPr lang="en-US" sz="2800" dirty="0" smtClean="0"/>
          </a:p>
          <a:p>
            <a:r>
              <a:rPr lang="en-US" sz="2800" dirty="0" smtClean="0"/>
              <a:t>what do you expect to happen to weights of features with count 0 in the training data? (if they are initialized to 0)</a:t>
            </a:r>
          </a:p>
        </p:txBody>
      </p:sp>
      <p:sp>
        <p:nvSpPr>
          <p:cNvPr id="4" name="Slide Number Placeholder 3"/>
          <p:cNvSpPr>
            <a:spLocks noGrp="1"/>
          </p:cNvSpPr>
          <p:nvPr>
            <p:ph type="sldNum" sz="quarter" idx="12"/>
          </p:nvPr>
        </p:nvSpPr>
        <p:spPr/>
        <p:txBody>
          <a:bodyPr/>
          <a:lstStyle/>
          <a:p>
            <a:fld id="{3CFF3AF9-2D61-8E40-AE3D-8390D801ED2C}" type="slidenum">
              <a:rPr lang="en-US" smtClean="0"/>
              <a:t>51</a:t>
            </a:fld>
            <a:endParaRPr lang="en-US"/>
          </a:p>
        </p:txBody>
      </p:sp>
      <p:pic>
        <p:nvPicPr>
          <p:cNvPr id="10" name="Picture 9"/>
          <p:cNvPicPr>
            <a:picLocks noChangeAspect="1"/>
          </p:cNvPicPr>
          <p:nvPr/>
        </p:nvPicPr>
        <p:blipFill>
          <a:blip r:embed="rId2"/>
          <a:stretch>
            <a:fillRect/>
          </a:stretch>
        </p:blipFill>
        <p:spPr>
          <a:xfrm>
            <a:off x="1041400" y="2389546"/>
            <a:ext cx="5969000" cy="330200"/>
          </a:xfrm>
          <a:prstGeom prst="rect">
            <a:avLst/>
          </a:prstGeom>
        </p:spPr>
      </p:pic>
    </p:spTree>
    <p:extLst>
      <p:ext uri="{BB962C8B-B14F-4D97-AF65-F5344CB8AC3E}">
        <p14:creationId xmlns:p14="http://schemas.microsoft.com/office/powerpoint/2010/main" val="1040680307"/>
      </p:ext>
    </p:extLst>
  </p:cSld>
  <p:clrMapOvr>
    <a:masterClrMapping/>
  </p:clrMapOvr>
  <p:timing>
    <p:tnLst>
      <p:par>
        <p:cTn xmlns:p14="http://schemas.microsoft.com/office/powerpoint/2010/mai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Feature count cut-off of zero?</a:t>
            </a:r>
            <a:endParaRPr lang="en-US" dirty="0"/>
          </a:p>
        </p:txBody>
      </p:sp>
      <p:sp>
        <p:nvSpPr>
          <p:cNvPr id="3" name="Content Placeholder 2"/>
          <p:cNvSpPr>
            <a:spLocks noGrp="1"/>
          </p:cNvSpPr>
          <p:nvPr>
            <p:ph idx="1"/>
          </p:nvPr>
        </p:nvSpPr>
        <p:spPr>
          <a:xfrm>
            <a:off x="457200" y="1473514"/>
            <a:ext cx="8229600" cy="3759971"/>
          </a:xfrm>
        </p:spPr>
        <p:txBody>
          <a:bodyPr>
            <a:normAutofit/>
          </a:bodyPr>
          <a:lstStyle/>
          <a:p>
            <a:r>
              <a:rPr lang="en-US" sz="2800" dirty="0" smtClean="0"/>
              <a:t>perceptron loss update rule:</a:t>
            </a:r>
          </a:p>
          <a:p>
            <a:endParaRPr lang="en-US" sz="2800" dirty="0"/>
          </a:p>
          <a:p>
            <a:endParaRPr lang="en-US" sz="1600" dirty="0" smtClean="0"/>
          </a:p>
          <a:p>
            <a:endParaRPr lang="en-US" sz="2800" dirty="0" smtClean="0"/>
          </a:p>
          <a:p>
            <a:r>
              <a:rPr lang="en-US" sz="2800" dirty="0" smtClean="0"/>
              <a:t>what do you expect to happen to weights of features with count 0 in the training data? (if they are initialized to 0)</a:t>
            </a:r>
          </a:p>
          <a:p>
            <a:pPr lvl="1"/>
            <a:r>
              <a:rPr lang="en-US" sz="2400" dirty="0" smtClean="0"/>
              <a:t>they will stay at zero or become negative</a:t>
            </a:r>
            <a:endParaRPr lang="en-US" sz="2400" dirty="0"/>
          </a:p>
        </p:txBody>
      </p:sp>
      <p:sp>
        <p:nvSpPr>
          <p:cNvPr id="4" name="Slide Number Placeholder 3"/>
          <p:cNvSpPr>
            <a:spLocks noGrp="1"/>
          </p:cNvSpPr>
          <p:nvPr>
            <p:ph type="sldNum" sz="quarter" idx="12"/>
          </p:nvPr>
        </p:nvSpPr>
        <p:spPr/>
        <p:txBody>
          <a:bodyPr/>
          <a:lstStyle/>
          <a:p>
            <a:fld id="{3CFF3AF9-2D61-8E40-AE3D-8390D801ED2C}" type="slidenum">
              <a:rPr lang="en-US" smtClean="0"/>
              <a:t>52</a:t>
            </a:fld>
            <a:endParaRPr lang="en-US"/>
          </a:p>
        </p:txBody>
      </p:sp>
      <p:pic>
        <p:nvPicPr>
          <p:cNvPr id="10" name="Picture 9"/>
          <p:cNvPicPr>
            <a:picLocks noChangeAspect="1"/>
          </p:cNvPicPr>
          <p:nvPr/>
        </p:nvPicPr>
        <p:blipFill>
          <a:blip r:embed="rId2"/>
          <a:stretch>
            <a:fillRect/>
          </a:stretch>
        </p:blipFill>
        <p:spPr>
          <a:xfrm>
            <a:off x="1041400" y="2389546"/>
            <a:ext cx="5969000" cy="330200"/>
          </a:xfrm>
          <a:prstGeom prst="rect">
            <a:avLst/>
          </a:prstGeom>
        </p:spPr>
      </p:pic>
    </p:spTree>
    <p:extLst>
      <p:ext uri="{BB962C8B-B14F-4D97-AF65-F5344CB8AC3E}">
        <p14:creationId xmlns:p14="http://schemas.microsoft.com/office/powerpoint/2010/main" val="4233495903"/>
      </p:ext>
    </p:extLst>
  </p:cSld>
  <p:clrMapOvr>
    <a:masterClrMapping/>
  </p:clrMapOvr>
  <p:timing>
    <p:tnLst>
      <p:par>
        <p:cTn xmlns:p14="http://schemas.microsoft.com/office/powerpoint/2010/mai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Roadmap</a:t>
            </a:r>
          </a:p>
        </p:txBody>
      </p:sp>
      <p:sp>
        <p:nvSpPr>
          <p:cNvPr id="3" name="Content Placeholder 2"/>
          <p:cNvSpPr>
            <a:spLocks noGrp="1"/>
          </p:cNvSpPr>
          <p:nvPr>
            <p:ph idx="1"/>
          </p:nvPr>
        </p:nvSpPr>
        <p:spPr>
          <a:xfrm>
            <a:off x="457200" y="926661"/>
            <a:ext cx="8229600" cy="5052424"/>
          </a:xfrm>
        </p:spPr>
        <p:txBody>
          <a:bodyPr>
            <a:noAutofit/>
          </a:bodyPr>
          <a:lstStyle/>
          <a:p>
            <a:r>
              <a:rPr lang="en-US" sz="2400" dirty="0"/>
              <a:t>words, morphology, lexical semantics</a:t>
            </a:r>
          </a:p>
          <a:p>
            <a:r>
              <a:rPr lang="en-US" sz="2400" dirty="0"/>
              <a:t>text classification</a:t>
            </a:r>
          </a:p>
          <a:p>
            <a:r>
              <a:rPr lang="en-US" sz="2400" dirty="0"/>
              <a:t>simple neural methods for NLP</a:t>
            </a:r>
          </a:p>
          <a:p>
            <a:r>
              <a:rPr lang="en-US" sz="2400" dirty="0">
                <a:solidFill>
                  <a:srgbClr val="288CD2"/>
                </a:solidFill>
              </a:rPr>
              <a:t>language modeling and word </a:t>
            </a:r>
            <a:r>
              <a:rPr lang="en-US" sz="2400" dirty="0" err="1">
                <a:solidFill>
                  <a:srgbClr val="288CD2"/>
                </a:solidFill>
              </a:rPr>
              <a:t>embeddings</a:t>
            </a:r>
            <a:endParaRPr lang="en-US" sz="2400" dirty="0">
              <a:solidFill>
                <a:srgbClr val="288CD2"/>
              </a:solidFill>
            </a:endParaRPr>
          </a:p>
          <a:p>
            <a:r>
              <a:rPr lang="en-US" sz="2400" dirty="0"/>
              <a:t>recurrent/recursive/convolutional networks in NLP</a:t>
            </a:r>
          </a:p>
          <a:p>
            <a:r>
              <a:rPr lang="en-US" sz="2400" dirty="0"/>
              <a:t>sequence labeling, HMMs, dynamic programming</a:t>
            </a:r>
          </a:p>
          <a:p>
            <a:r>
              <a:rPr lang="en-US" sz="2400" dirty="0"/>
              <a:t>syntax and syntactic parsing</a:t>
            </a:r>
          </a:p>
          <a:p>
            <a:r>
              <a:rPr lang="en-US" sz="2400" dirty="0"/>
              <a:t>semantics, compositionality, semantic parsing</a:t>
            </a:r>
          </a:p>
          <a:p>
            <a:r>
              <a:rPr lang="en-US" sz="2400" dirty="0"/>
              <a:t>machine translation and other NLP tasks</a:t>
            </a:r>
          </a:p>
          <a:p>
            <a:endParaRPr lang="en-US" sz="2400" dirty="0"/>
          </a:p>
        </p:txBody>
      </p:sp>
      <p:sp>
        <p:nvSpPr>
          <p:cNvPr id="4" name="Slide Number Placeholder 3"/>
          <p:cNvSpPr>
            <a:spLocks noGrp="1"/>
          </p:cNvSpPr>
          <p:nvPr>
            <p:ph type="sldNum" sz="quarter" idx="12"/>
          </p:nvPr>
        </p:nvSpPr>
        <p:spPr/>
        <p:txBody>
          <a:bodyPr/>
          <a:lstStyle/>
          <a:p>
            <a:fld id="{3CFF3AF9-2D61-8E40-AE3D-8390D801ED2C}" type="slidenum">
              <a:rPr lang="en-US" smtClean="0"/>
              <a:t>53</a:t>
            </a:fld>
            <a:endParaRPr lang="en-US"/>
          </a:p>
        </p:txBody>
      </p:sp>
    </p:spTree>
    <p:extLst>
      <p:ext uri="{BB962C8B-B14F-4D97-AF65-F5344CB8AC3E}">
        <p14:creationId xmlns:p14="http://schemas.microsoft.com/office/powerpoint/2010/main" val="3945255891"/>
      </p:ext>
    </p:extLst>
  </p:cSld>
  <p:clrMapOvr>
    <a:masterClrMapping/>
  </p:clrMapOvr>
  <p:timing>
    <p:tnLst>
      <p:par>
        <p:cTn xmlns:p14="http://schemas.microsoft.com/office/powerpoint/2010/mai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Probabilistic Language Models</a:t>
            </a:r>
          </a:p>
        </p:txBody>
      </p:sp>
      <p:sp>
        <p:nvSpPr>
          <p:cNvPr id="3" name="Content Placeholder 2"/>
          <p:cNvSpPr>
            <a:spLocks noGrp="1"/>
          </p:cNvSpPr>
          <p:nvPr>
            <p:ph idx="1"/>
          </p:nvPr>
        </p:nvSpPr>
        <p:spPr>
          <a:xfrm>
            <a:off x="304800" y="1193800"/>
            <a:ext cx="8534400" cy="5054600"/>
          </a:xfrm>
        </p:spPr>
        <p:txBody>
          <a:bodyPr>
            <a:normAutofit/>
          </a:bodyPr>
          <a:lstStyle/>
          <a:p>
            <a:r>
              <a:rPr lang="en-US" sz="2800" dirty="0" smtClean="0"/>
              <a:t>language modeling: </a:t>
            </a:r>
            <a:r>
              <a:rPr lang="en-US" sz="2800" dirty="0"/>
              <a:t>assign </a:t>
            </a:r>
            <a:r>
              <a:rPr lang="en-US" sz="2800" dirty="0" smtClean="0"/>
              <a:t>probabilities to sentences</a:t>
            </a:r>
          </a:p>
          <a:p>
            <a:r>
              <a:rPr lang="en-US" sz="2800" dirty="0" smtClean="0"/>
              <a:t>Why?</a:t>
            </a:r>
            <a:endParaRPr lang="en-US" sz="2800" dirty="0"/>
          </a:p>
          <a:p>
            <a:pPr lvl="1"/>
            <a:r>
              <a:rPr lang="en-US" sz="3200" dirty="0" smtClean="0"/>
              <a:t>machine translation</a:t>
            </a:r>
            <a:r>
              <a:rPr lang="en-US" sz="3200" dirty="0"/>
              <a:t>:</a:t>
            </a:r>
          </a:p>
          <a:p>
            <a:pPr lvl="2"/>
            <a:r>
              <a:rPr lang="en-US" dirty="0"/>
              <a:t>P</a:t>
            </a:r>
            <a:r>
              <a:rPr lang="en-US" dirty="0" smtClean="0"/>
              <a:t>(</a:t>
            </a:r>
            <a:r>
              <a:rPr lang="en-US" b="1" dirty="0" smtClean="0"/>
              <a:t>high </a:t>
            </a:r>
            <a:r>
              <a:rPr lang="en-US" dirty="0" smtClean="0"/>
              <a:t>winds </a:t>
            </a:r>
            <a:r>
              <a:rPr lang="en-US" dirty="0" err="1" smtClean="0"/>
              <a:t>tonite</a:t>
            </a:r>
            <a:r>
              <a:rPr lang="en-US" dirty="0" smtClean="0"/>
              <a:t>) </a:t>
            </a:r>
            <a:r>
              <a:rPr lang="en-US" dirty="0"/>
              <a:t>&gt; P</a:t>
            </a:r>
            <a:r>
              <a:rPr lang="en-US" dirty="0" smtClean="0"/>
              <a:t>(</a:t>
            </a:r>
            <a:r>
              <a:rPr lang="en-US" b="1" dirty="0" smtClean="0"/>
              <a:t>large</a:t>
            </a:r>
            <a:r>
              <a:rPr lang="en-US" dirty="0" smtClean="0"/>
              <a:t> winds </a:t>
            </a:r>
            <a:r>
              <a:rPr lang="en-US" dirty="0" err="1" smtClean="0"/>
              <a:t>tonite</a:t>
            </a:r>
            <a:r>
              <a:rPr lang="en-US" dirty="0" smtClean="0"/>
              <a:t>)</a:t>
            </a:r>
            <a:endParaRPr lang="en-US" dirty="0"/>
          </a:p>
          <a:p>
            <a:pPr lvl="1"/>
            <a:r>
              <a:rPr lang="en-US" sz="3200" dirty="0" smtClean="0"/>
              <a:t>spelling correction:</a:t>
            </a:r>
            <a:endParaRPr lang="en-US" sz="3200" dirty="0"/>
          </a:p>
          <a:p>
            <a:pPr lvl="2"/>
            <a:r>
              <a:rPr lang="en-US" dirty="0"/>
              <a:t>The office is about fifteen </a:t>
            </a:r>
            <a:r>
              <a:rPr lang="en-US" b="1" dirty="0"/>
              <a:t>minuets</a:t>
            </a:r>
            <a:r>
              <a:rPr lang="en-US" dirty="0"/>
              <a:t> from my </a:t>
            </a:r>
            <a:r>
              <a:rPr lang="en-US" dirty="0" smtClean="0"/>
              <a:t>house</a:t>
            </a:r>
          </a:p>
          <a:p>
            <a:pPr lvl="3"/>
            <a:r>
              <a:rPr lang="en-US" sz="1800" dirty="0" smtClean="0"/>
              <a:t>P(about fifteen </a:t>
            </a:r>
            <a:r>
              <a:rPr lang="en-US" sz="1800" b="1" dirty="0" smtClean="0"/>
              <a:t>minutes</a:t>
            </a:r>
            <a:r>
              <a:rPr lang="en-US" sz="1800" dirty="0" smtClean="0"/>
              <a:t> from) &gt; P(about fifteen </a:t>
            </a:r>
            <a:r>
              <a:rPr lang="en-US" sz="1800" b="1" dirty="0" smtClean="0"/>
              <a:t>minuets</a:t>
            </a:r>
            <a:r>
              <a:rPr lang="en-US" sz="1800" dirty="0" smtClean="0"/>
              <a:t> from)</a:t>
            </a:r>
            <a:endParaRPr lang="en-US" dirty="0"/>
          </a:p>
          <a:p>
            <a:pPr lvl="1"/>
            <a:r>
              <a:rPr lang="en-US" sz="3200" dirty="0" smtClean="0"/>
              <a:t>speech recognition:</a:t>
            </a:r>
            <a:endParaRPr lang="en-US" sz="3200" dirty="0"/>
          </a:p>
          <a:p>
            <a:pPr lvl="2"/>
            <a:r>
              <a:rPr lang="en-US" dirty="0"/>
              <a:t>P(I saw a van) &gt;&gt; P(eyes awe of an</a:t>
            </a:r>
            <a:r>
              <a:rPr lang="en-US" dirty="0" smtClean="0"/>
              <a:t>)</a:t>
            </a:r>
          </a:p>
          <a:p>
            <a:pPr lvl="1"/>
            <a:r>
              <a:rPr lang="en-US" sz="3200" dirty="0" smtClean="0"/>
              <a:t>summarization, question answering, etc.</a:t>
            </a:r>
            <a:r>
              <a:rPr lang="en-US" sz="3200" dirty="0"/>
              <a:t>!</a:t>
            </a:r>
            <a:endParaRPr lang="en-US" sz="2800" dirty="0"/>
          </a:p>
        </p:txBody>
      </p:sp>
      <p:sp>
        <p:nvSpPr>
          <p:cNvPr id="5" name="Content Placeholder 2"/>
          <p:cNvSpPr txBox="1">
            <a:spLocks/>
          </p:cNvSpPr>
          <p:nvPr/>
        </p:nvSpPr>
        <p:spPr>
          <a:xfrm>
            <a:off x="7814471" y="6403973"/>
            <a:ext cx="1329529" cy="454027"/>
          </a:xfrm>
          <a:prstGeom prst="rect">
            <a:avLst/>
          </a:prstGeom>
          <a:solidFill>
            <a:schemeClr val="bg1"/>
          </a:solidFill>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1600" dirty="0" smtClean="0">
                <a:solidFill>
                  <a:srgbClr val="288CD2"/>
                </a:solidFill>
              </a:rPr>
              <a:t>J&amp;M/SLP3</a:t>
            </a:r>
          </a:p>
        </p:txBody>
      </p:sp>
    </p:spTree>
    <p:extLst>
      <p:ext uri="{BB962C8B-B14F-4D97-AF65-F5344CB8AC3E}">
        <p14:creationId xmlns:p14="http://schemas.microsoft.com/office/powerpoint/2010/main" val="182410972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Automatic Completion</a:t>
            </a:r>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55</a:t>
            </a:fld>
            <a:endParaRPr lang="en-US"/>
          </a:p>
        </p:txBody>
      </p:sp>
      <p:pic>
        <p:nvPicPr>
          <p:cNvPr id="7" name="Picture 6" descr="wwdc_2014_quickreply_context_comparitive.jpeg"/>
          <p:cNvPicPr>
            <a:picLocks noChangeAspect="1"/>
          </p:cNvPicPr>
          <p:nvPr/>
        </p:nvPicPr>
        <p:blipFill rotWithShape="1">
          <a:blip r:embed="rId2">
            <a:extLst>
              <a:ext uri="{28A0092B-C50C-407E-A947-70E740481C1C}">
                <a14:useLocalDpi xmlns:a14="http://schemas.microsoft.com/office/drawing/2010/main" val="0"/>
              </a:ext>
            </a:extLst>
          </a:blip>
          <a:srcRect l="4000" t="14519" r="3555" b="11407"/>
          <a:stretch/>
        </p:blipFill>
        <p:spPr>
          <a:xfrm>
            <a:off x="365760" y="995680"/>
            <a:ext cx="8453120" cy="5080000"/>
          </a:xfrm>
          <a:prstGeom prst="rect">
            <a:avLst/>
          </a:prstGeom>
        </p:spPr>
      </p:pic>
    </p:spTree>
    <p:extLst>
      <p:ext uri="{BB962C8B-B14F-4D97-AF65-F5344CB8AC3E}">
        <p14:creationId xmlns:p14="http://schemas.microsoft.com/office/powerpoint/2010/main" val="2250585025"/>
      </p:ext>
    </p:extLst>
  </p:cSld>
  <p:clrMapOvr>
    <a:masterClrMapping/>
  </p:clrMapOvr>
  <p:timing>
    <p:tnLst>
      <p:par>
        <p:cTn xmlns:p14="http://schemas.microsoft.com/office/powerpoint/2010/mai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Automatic Completion</a:t>
            </a:r>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56</a:t>
            </a:fld>
            <a:endParaRPr lang="en-US"/>
          </a:p>
        </p:txBody>
      </p:sp>
      <p:pic>
        <p:nvPicPr>
          <p:cNvPr id="3" name="Picture 2" descr="wwdc_2014_quickreply_context_close.jpeg"/>
          <p:cNvPicPr>
            <a:picLocks noChangeAspect="1"/>
          </p:cNvPicPr>
          <p:nvPr/>
        </p:nvPicPr>
        <p:blipFill rotWithShape="1">
          <a:blip r:embed="rId2">
            <a:extLst>
              <a:ext uri="{28A0092B-C50C-407E-A947-70E740481C1C}">
                <a14:useLocalDpi xmlns:a14="http://schemas.microsoft.com/office/drawing/2010/main" val="0"/>
              </a:ext>
            </a:extLst>
          </a:blip>
          <a:srcRect l="3555" t="15408" r="11889" b="12000"/>
          <a:stretch/>
        </p:blipFill>
        <p:spPr>
          <a:xfrm>
            <a:off x="660400" y="1056640"/>
            <a:ext cx="7731760" cy="4978400"/>
          </a:xfrm>
          <a:prstGeom prst="rect">
            <a:avLst/>
          </a:prstGeom>
        </p:spPr>
      </p:pic>
    </p:spTree>
    <p:extLst>
      <p:ext uri="{BB962C8B-B14F-4D97-AF65-F5344CB8AC3E}">
        <p14:creationId xmlns:p14="http://schemas.microsoft.com/office/powerpoint/2010/main" val="915702823"/>
      </p:ext>
    </p:extLst>
  </p:cSld>
  <p:clrMapOvr>
    <a:masterClrMapping/>
  </p:clrMapOvr>
  <p:timing>
    <p:tnLst>
      <p:par>
        <p:cTn xmlns:p14="http://schemas.microsoft.com/office/powerpoint/2010/mai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FF3AF9-2D61-8E40-AE3D-8390D801ED2C}" type="slidenum">
              <a:rPr lang="en-US" smtClean="0"/>
              <a:t>57</a:t>
            </a:fld>
            <a:endParaRPr lang="en-US"/>
          </a:p>
        </p:txBody>
      </p:sp>
      <p:pic>
        <p:nvPicPr>
          <p:cNvPr id="5" name="Picture 4" descr="google-email.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720" y="308779"/>
            <a:ext cx="7173809" cy="6187609"/>
          </a:xfrm>
          <a:prstGeom prst="rect">
            <a:avLst/>
          </a:prstGeom>
        </p:spPr>
      </p:pic>
      <p:sp>
        <p:nvSpPr>
          <p:cNvPr id="7" name="Rectangle 6"/>
          <p:cNvSpPr/>
          <p:nvPr/>
        </p:nvSpPr>
        <p:spPr>
          <a:xfrm>
            <a:off x="802640" y="5557520"/>
            <a:ext cx="7426960" cy="467360"/>
          </a:xfrm>
          <a:prstGeom prst="rect">
            <a:avLst/>
          </a:prstGeom>
          <a:noFill/>
          <a:ln w="76200" cmpd="sng">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770046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Language Modeling for Machine Translation</a:t>
            </a:r>
            <a:endParaRPr lang="en-US" sz="3200" dirty="0"/>
          </a:p>
        </p:txBody>
      </p:sp>
      <p:sp>
        <p:nvSpPr>
          <p:cNvPr id="4" name="Slide Number Placeholder 3"/>
          <p:cNvSpPr>
            <a:spLocks noGrp="1"/>
          </p:cNvSpPr>
          <p:nvPr>
            <p:ph type="sldNum" sz="quarter" idx="12"/>
          </p:nvPr>
        </p:nvSpPr>
        <p:spPr/>
        <p:txBody>
          <a:bodyPr/>
          <a:lstStyle/>
          <a:p>
            <a:fld id="{3CFF3AF9-2D61-8E40-AE3D-8390D801ED2C}" type="slidenum">
              <a:rPr lang="en-US" smtClean="0"/>
              <a:t>58</a:t>
            </a:fld>
            <a:endParaRPr lang="en-US"/>
          </a:p>
        </p:txBody>
      </p:sp>
      <p:pic>
        <p:nvPicPr>
          <p:cNvPr id="5" name="Picture 4" descr="Screen Shot 2018-04-11 at 12.06.57 PM.png"/>
          <p:cNvPicPr>
            <a:picLocks noChangeAspect="1"/>
          </p:cNvPicPr>
          <p:nvPr/>
        </p:nvPicPr>
        <p:blipFill rotWithShape="1">
          <a:blip r:embed="rId2">
            <a:extLst>
              <a:ext uri="{28A0092B-C50C-407E-A947-70E740481C1C}">
                <a14:useLocalDpi xmlns:a14="http://schemas.microsoft.com/office/drawing/2010/main" val="0"/>
              </a:ext>
            </a:extLst>
          </a:blip>
          <a:srcRect t="18748"/>
          <a:stretch/>
        </p:blipFill>
        <p:spPr>
          <a:xfrm>
            <a:off x="292100" y="1456179"/>
            <a:ext cx="8559800" cy="4385582"/>
          </a:xfrm>
          <a:prstGeom prst="rect">
            <a:avLst/>
          </a:prstGeom>
        </p:spPr>
      </p:pic>
    </p:spTree>
    <p:extLst>
      <p:ext uri="{BB962C8B-B14F-4D97-AF65-F5344CB8AC3E}">
        <p14:creationId xmlns:p14="http://schemas.microsoft.com/office/powerpoint/2010/main" val="1963206865"/>
      </p:ext>
    </p:extLst>
  </p:cSld>
  <p:clrMapOvr>
    <a:masterClrMapping/>
  </p:clrMapOvr>
  <p:timing>
    <p:tnLst>
      <p:par>
        <p:cTn xmlns:p14="http://schemas.microsoft.com/office/powerpoint/2010/mai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normAutofit fontScale="90000"/>
          </a:bodyPr>
          <a:lstStyle/>
          <a:p>
            <a:pPr eaLnBrk="1" hangingPunct="1"/>
            <a:r>
              <a:rPr lang="en-US" dirty="0"/>
              <a:t>Probabilistic Language Modeling</a:t>
            </a:r>
          </a:p>
        </p:txBody>
      </p:sp>
      <p:sp>
        <p:nvSpPr>
          <p:cNvPr id="63491" name="Rectangle 3"/>
          <p:cNvSpPr>
            <a:spLocks noGrp="1" noChangeArrowheads="1"/>
          </p:cNvSpPr>
          <p:nvPr>
            <p:ph idx="1"/>
          </p:nvPr>
        </p:nvSpPr>
        <p:spPr>
          <a:xfrm>
            <a:off x="304800" y="1701800"/>
            <a:ext cx="8534400" cy="4445000"/>
          </a:xfrm>
        </p:spPr>
        <p:txBody>
          <a:bodyPr/>
          <a:lstStyle/>
          <a:p>
            <a:pPr eaLnBrk="1" hangingPunct="1"/>
            <a:r>
              <a:rPr lang="en-US" sz="2800" dirty="0">
                <a:latin typeface="Calibri" charset="0"/>
              </a:rPr>
              <a:t>g</a:t>
            </a:r>
            <a:r>
              <a:rPr lang="en-US" sz="2800" dirty="0" smtClean="0">
                <a:latin typeface="Calibri" charset="0"/>
              </a:rPr>
              <a:t>oal</a:t>
            </a:r>
            <a:r>
              <a:rPr lang="en-US" sz="2800" dirty="0">
                <a:latin typeface="Calibri" charset="0"/>
              </a:rPr>
              <a:t>: compute the probability of a </a:t>
            </a:r>
            <a:r>
              <a:rPr lang="en-US" sz="2800" dirty="0" smtClean="0">
                <a:latin typeface="Calibri" charset="0"/>
              </a:rPr>
              <a:t>sequence </a:t>
            </a:r>
            <a:r>
              <a:rPr lang="en-US" sz="2800" dirty="0">
                <a:latin typeface="Calibri" charset="0"/>
              </a:rPr>
              <a:t>of words:</a:t>
            </a:r>
          </a:p>
          <a:p>
            <a:pPr eaLnBrk="1" hangingPunct="1"/>
            <a:endParaRPr lang="en-US" sz="2800" dirty="0" smtClean="0">
              <a:latin typeface="Calibri" charset="0"/>
            </a:endParaRPr>
          </a:p>
          <a:p>
            <a:pPr eaLnBrk="1" hangingPunct="1"/>
            <a:r>
              <a:rPr lang="en-US" sz="2800" dirty="0" smtClean="0">
                <a:latin typeface="Calibri" charset="0"/>
              </a:rPr>
              <a:t>related </a:t>
            </a:r>
            <a:r>
              <a:rPr lang="en-US" sz="2800" dirty="0">
                <a:latin typeface="Calibri" charset="0"/>
              </a:rPr>
              <a:t>task: probability of </a:t>
            </a:r>
            <a:r>
              <a:rPr lang="en-US" sz="2800" dirty="0" smtClean="0">
                <a:latin typeface="Calibri" charset="0"/>
              </a:rPr>
              <a:t>next word</a:t>
            </a:r>
            <a:r>
              <a:rPr lang="en-US" sz="2800" dirty="0">
                <a:latin typeface="Calibri" charset="0"/>
              </a:rPr>
              <a:t>:</a:t>
            </a:r>
          </a:p>
          <a:p>
            <a:pPr eaLnBrk="1" hangingPunct="1"/>
            <a:endParaRPr lang="en-US" sz="2800" dirty="0" smtClean="0">
              <a:latin typeface="Calibri" charset="0"/>
            </a:endParaRPr>
          </a:p>
          <a:p>
            <a:pPr eaLnBrk="1" hangingPunct="1"/>
            <a:r>
              <a:rPr lang="en-US" sz="2800" dirty="0" smtClean="0">
                <a:latin typeface="Calibri" charset="0"/>
              </a:rPr>
              <a:t>a </a:t>
            </a:r>
            <a:r>
              <a:rPr lang="en-US" sz="2800" dirty="0">
                <a:latin typeface="Calibri" charset="0"/>
              </a:rPr>
              <a:t>model that computes either of these</a:t>
            </a:r>
            <a:r>
              <a:rPr lang="en-US" sz="2800" dirty="0" smtClean="0">
                <a:latin typeface="Calibri" charset="0"/>
              </a:rPr>
              <a:t>:</a:t>
            </a:r>
          </a:p>
          <a:p>
            <a:pPr lvl="1" eaLnBrk="1" hangingPunct="1">
              <a:buNone/>
            </a:pPr>
            <a:r>
              <a:rPr lang="en-US" dirty="0" smtClean="0">
                <a:latin typeface="Calibri" charset="0"/>
              </a:rPr>
              <a:t>                                     or</a:t>
            </a:r>
          </a:p>
          <a:p>
            <a:pPr lvl="1" eaLnBrk="1" hangingPunct="1">
              <a:buNone/>
            </a:pPr>
            <a:r>
              <a:rPr lang="en-US" dirty="0" smtClean="0">
                <a:latin typeface="Calibri" charset="0"/>
              </a:rPr>
              <a:t>     is </a:t>
            </a:r>
            <a:r>
              <a:rPr lang="en-US" dirty="0">
                <a:latin typeface="Calibri" charset="0"/>
              </a:rPr>
              <a:t>called a </a:t>
            </a:r>
            <a:r>
              <a:rPr lang="en-US" b="1" dirty="0">
                <a:solidFill>
                  <a:srgbClr val="288CD2"/>
                </a:solidFill>
                <a:latin typeface="Calibri" charset="0"/>
              </a:rPr>
              <a:t>language </a:t>
            </a:r>
            <a:r>
              <a:rPr lang="en-US" b="1" dirty="0" smtClean="0">
                <a:solidFill>
                  <a:srgbClr val="288CD2"/>
                </a:solidFill>
                <a:latin typeface="Calibri" charset="0"/>
              </a:rPr>
              <a:t>model (LM)</a:t>
            </a:r>
            <a:endParaRPr lang="en-US" dirty="0">
              <a:latin typeface="Calibri" charset="0"/>
            </a:endParaRPr>
          </a:p>
        </p:txBody>
      </p:sp>
      <p:sp>
        <p:nvSpPr>
          <p:cNvPr id="4" name="Content Placeholder 2"/>
          <p:cNvSpPr txBox="1">
            <a:spLocks/>
          </p:cNvSpPr>
          <p:nvPr/>
        </p:nvSpPr>
        <p:spPr>
          <a:xfrm>
            <a:off x="7814471" y="6403973"/>
            <a:ext cx="1329529" cy="454027"/>
          </a:xfrm>
          <a:prstGeom prst="rect">
            <a:avLst/>
          </a:prstGeom>
          <a:solidFill>
            <a:schemeClr val="bg1"/>
          </a:solidFill>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1600" dirty="0" smtClean="0">
                <a:solidFill>
                  <a:srgbClr val="288CD2"/>
                </a:solidFill>
              </a:rPr>
              <a:t>J&amp;M/SLP3</a:t>
            </a:r>
          </a:p>
        </p:txBody>
      </p:sp>
      <p:pic>
        <p:nvPicPr>
          <p:cNvPr id="2" name="Picture 1"/>
          <p:cNvPicPr>
            <a:picLocks noChangeAspect="1"/>
          </p:cNvPicPr>
          <p:nvPr/>
        </p:nvPicPr>
        <p:blipFill>
          <a:blip r:embed="rId3"/>
          <a:stretch>
            <a:fillRect/>
          </a:stretch>
        </p:blipFill>
        <p:spPr>
          <a:xfrm>
            <a:off x="2908300" y="2398952"/>
            <a:ext cx="3327400" cy="317500"/>
          </a:xfrm>
          <a:prstGeom prst="rect">
            <a:avLst/>
          </a:prstGeom>
        </p:spPr>
      </p:pic>
      <p:pic>
        <p:nvPicPr>
          <p:cNvPr id="3" name="Picture 2"/>
          <p:cNvPicPr>
            <a:picLocks noChangeAspect="1"/>
          </p:cNvPicPr>
          <p:nvPr/>
        </p:nvPicPr>
        <p:blipFill>
          <a:blip r:embed="rId4"/>
          <a:stretch>
            <a:fillRect/>
          </a:stretch>
        </p:blipFill>
        <p:spPr>
          <a:xfrm>
            <a:off x="3087721" y="3390975"/>
            <a:ext cx="2374900" cy="317500"/>
          </a:xfrm>
          <a:prstGeom prst="rect">
            <a:avLst/>
          </a:prstGeom>
        </p:spPr>
      </p:pic>
      <p:pic>
        <p:nvPicPr>
          <p:cNvPr id="5" name="Picture 4"/>
          <p:cNvPicPr>
            <a:picLocks noChangeAspect="1"/>
          </p:cNvPicPr>
          <p:nvPr/>
        </p:nvPicPr>
        <p:blipFill>
          <a:blip r:embed="rId5"/>
          <a:stretch>
            <a:fillRect/>
          </a:stretch>
        </p:blipFill>
        <p:spPr>
          <a:xfrm>
            <a:off x="2673350" y="4413515"/>
            <a:ext cx="698500" cy="317500"/>
          </a:xfrm>
          <a:prstGeom prst="rect">
            <a:avLst/>
          </a:prstGeom>
        </p:spPr>
      </p:pic>
      <p:pic>
        <p:nvPicPr>
          <p:cNvPr id="6" name="Picture 5"/>
          <p:cNvPicPr>
            <a:picLocks noChangeAspect="1"/>
          </p:cNvPicPr>
          <p:nvPr/>
        </p:nvPicPr>
        <p:blipFill>
          <a:blip r:embed="rId6"/>
          <a:stretch>
            <a:fillRect/>
          </a:stretch>
        </p:blipFill>
        <p:spPr>
          <a:xfrm>
            <a:off x="4566214" y="4413515"/>
            <a:ext cx="3098800" cy="317500"/>
          </a:xfrm>
          <a:prstGeom prst="rect">
            <a:avLst/>
          </a:prstGeom>
        </p:spPr>
      </p:pic>
    </p:spTree>
    <p:extLst>
      <p:ext uri="{BB962C8B-B14F-4D97-AF65-F5344CB8AC3E}">
        <p14:creationId xmlns:p14="http://schemas.microsoft.com/office/powerpoint/2010/main" val="6820532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49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49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3491">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349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normAutofit fontScale="90000"/>
          </a:bodyPr>
          <a:lstStyle/>
          <a:p>
            <a:pPr eaLnBrk="1" hangingPunct="1"/>
            <a:r>
              <a:rPr lang="en-US" dirty="0"/>
              <a:t>How to compute </a:t>
            </a:r>
            <a:r>
              <a:rPr lang="en-US" dirty="0" smtClean="0"/>
              <a:t>       </a:t>
            </a:r>
            <a:r>
              <a:rPr lang="en-US" dirty="0" smtClean="0">
                <a:solidFill>
                  <a:schemeClr val="bg1"/>
                </a:solidFill>
              </a:rPr>
              <a:t>a</a:t>
            </a:r>
            <a:endParaRPr lang="en-US" dirty="0">
              <a:solidFill>
                <a:schemeClr val="bg1"/>
              </a:solidFill>
            </a:endParaRPr>
          </a:p>
        </p:txBody>
      </p:sp>
      <p:sp>
        <p:nvSpPr>
          <p:cNvPr id="65539" name="Rectangle 3"/>
          <p:cNvSpPr>
            <a:spLocks noGrp="1" noChangeArrowheads="1"/>
          </p:cNvSpPr>
          <p:nvPr>
            <p:ph idx="1"/>
          </p:nvPr>
        </p:nvSpPr>
        <p:spPr/>
        <p:txBody>
          <a:bodyPr/>
          <a:lstStyle/>
          <a:p>
            <a:pPr eaLnBrk="1" hangingPunct="1"/>
            <a:r>
              <a:rPr lang="en-US" dirty="0">
                <a:latin typeface="Calibri" charset="0"/>
              </a:rPr>
              <a:t>How to compute this joint probability:</a:t>
            </a:r>
          </a:p>
          <a:p>
            <a:pPr eaLnBrk="1" hangingPunct="1"/>
            <a:endParaRPr lang="en-US" dirty="0">
              <a:latin typeface="Calibri" charset="0"/>
            </a:endParaRPr>
          </a:p>
          <a:p>
            <a:pPr lvl="1" eaLnBrk="1" hangingPunct="1"/>
            <a:r>
              <a:rPr lang="en-US" sz="2800" dirty="0">
                <a:latin typeface="Calibri" charset="0"/>
              </a:rPr>
              <a:t>P(its, water, is, so, transparent, that)</a:t>
            </a:r>
          </a:p>
          <a:p>
            <a:pPr lvl="1" eaLnBrk="1" hangingPunct="1"/>
            <a:endParaRPr lang="en-US" dirty="0">
              <a:latin typeface="Calibri" charset="0"/>
            </a:endParaRPr>
          </a:p>
          <a:p>
            <a:pPr eaLnBrk="1" hangingPunct="1"/>
            <a:r>
              <a:rPr lang="en-US" dirty="0">
                <a:latin typeface="Calibri" charset="0"/>
              </a:rPr>
              <a:t>Intuition: let’s rely on the Chain Rule of Probability</a:t>
            </a:r>
          </a:p>
        </p:txBody>
      </p:sp>
      <p:sp>
        <p:nvSpPr>
          <p:cNvPr id="4" name="Content Placeholder 2"/>
          <p:cNvSpPr txBox="1">
            <a:spLocks/>
          </p:cNvSpPr>
          <p:nvPr/>
        </p:nvSpPr>
        <p:spPr>
          <a:xfrm>
            <a:off x="7814471" y="6403973"/>
            <a:ext cx="1329529" cy="454027"/>
          </a:xfrm>
          <a:prstGeom prst="rect">
            <a:avLst/>
          </a:prstGeom>
          <a:solidFill>
            <a:schemeClr val="bg1"/>
          </a:solidFill>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1600" dirty="0" smtClean="0">
                <a:solidFill>
                  <a:srgbClr val="288CD2"/>
                </a:solidFill>
              </a:rPr>
              <a:t>J&amp;M/SLP3</a:t>
            </a:r>
          </a:p>
        </p:txBody>
      </p:sp>
      <p:pic>
        <p:nvPicPr>
          <p:cNvPr id="5" name="Picture 4"/>
          <p:cNvPicPr>
            <a:picLocks noChangeAspect="1"/>
          </p:cNvPicPr>
          <p:nvPr/>
        </p:nvPicPr>
        <p:blipFill>
          <a:blip r:embed="rId3"/>
          <a:stretch>
            <a:fillRect/>
          </a:stretch>
        </p:blipFill>
        <p:spPr>
          <a:xfrm>
            <a:off x="5848153" y="381674"/>
            <a:ext cx="1136422" cy="516555"/>
          </a:xfrm>
          <a:prstGeom prst="rect">
            <a:avLst/>
          </a:prstGeom>
        </p:spPr>
      </p:pic>
    </p:spTree>
    <p:extLst>
      <p:ext uri="{BB962C8B-B14F-4D97-AF65-F5344CB8AC3E}">
        <p14:creationId xmlns:p14="http://schemas.microsoft.com/office/powerpoint/2010/main" val="4195492474"/>
      </p:ext>
    </p:extLst>
  </p:cSld>
  <p:clrMapOvr>
    <a:masterClrMapping/>
  </p:clrMapOvr>
  <p:timing>
    <p:tnLst>
      <p:par>
        <p:cTn xmlns:p14="http://schemas.microsoft.com/office/powerpoint/2010/mai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8" name="Rectangle 2"/>
          <p:cNvSpPr>
            <a:spLocks noGrp="1" noChangeArrowheads="1"/>
          </p:cNvSpPr>
          <p:nvPr>
            <p:ph type="title"/>
          </p:nvPr>
        </p:nvSpPr>
        <p:spPr/>
        <p:txBody>
          <a:bodyPr>
            <a:normAutofit fontScale="90000"/>
          </a:bodyPr>
          <a:lstStyle/>
          <a:p>
            <a:pPr eaLnBrk="1" hangingPunct="1"/>
            <a:r>
              <a:rPr lang="en-US" dirty="0"/>
              <a:t>Reminder: </a:t>
            </a:r>
            <a:r>
              <a:rPr lang="en-US" dirty="0" smtClean="0"/>
              <a:t>Chain </a:t>
            </a:r>
            <a:r>
              <a:rPr lang="en-US" dirty="0"/>
              <a:t>Rule</a:t>
            </a:r>
          </a:p>
        </p:txBody>
      </p:sp>
      <p:sp>
        <p:nvSpPr>
          <p:cNvPr id="67589" name="Rectangle 3"/>
          <p:cNvSpPr>
            <a:spLocks noGrp="1" noChangeArrowheads="1"/>
          </p:cNvSpPr>
          <p:nvPr>
            <p:ph idx="1"/>
          </p:nvPr>
        </p:nvSpPr>
        <p:spPr>
          <a:xfrm>
            <a:off x="304800" y="1198880"/>
            <a:ext cx="8534400" cy="5481320"/>
          </a:xfrm>
        </p:spPr>
        <p:txBody>
          <a:bodyPr/>
          <a:lstStyle/>
          <a:p>
            <a:pPr eaLnBrk="1" hangingPunct="1"/>
            <a:r>
              <a:rPr lang="en-US" sz="2800" dirty="0" smtClean="0">
                <a:latin typeface="Calibri" charset="0"/>
              </a:rPr>
              <a:t>factor joint probability into product of conditional probabilities:</a:t>
            </a:r>
            <a:endParaRPr lang="en-US" dirty="0" smtClean="0">
              <a:latin typeface="Calibri" charset="0"/>
            </a:endParaRPr>
          </a:p>
          <a:p>
            <a:pPr marL="457200" lvl="1" indent="0">
              <a:buNone/>
            </a:pPr>
            <a:endParaRPr lang="en-US" sz="3200" dirty="0" smtClean="0">
              <a:latin typeface="Calibri" charset="0"/>
            </a:endParaRPr>
          </a:p>
          <a:p>
            <a:pPr marL="457200" lvl="1" indent="0">
              <a:buNone/>
            </a:pPr>
            <a:endParaRPr lang="en-US" sz="3200" dirty="0">
              <a:latin typeface="Calibri" charset="0"/>
            </a:endParaRPr>
          </a:p>
          <a:p>
            <a:pPr marL="457200" lvl="1" indent="0">
              <a:buNone/>
            </a:pPr>
            <a:endParaRPr lang="en-US" sz="3200" dirty="0" smtClean="0">
              <a:latin typeface="Calibri" charset="0"/>
            </a:endParaRPr>
          </a:p>
          <a:p>
            <a:pPr eaLnBrk="1" hangingPunct="1"/>
            <a:r>
              <a:rPr lang="en-US" sz="2800" dirty="0" smtClean="0">
                <a:latin typeface="Calibri" charset="0"/>
              </a:rPr>
              <a:t>we have not yet made any independence assumptions </a:t>
            </a:r>
          </a:p>
          <a:p>
            <a:pPr eaLnBrk="1" hangingPunct="1">
              <a:buFont typeface="Wingdings" charset="2"/>
              <a:buNone/>
            </a:pPr>
            <a:endParaRPr lang="en-US" dirty="0">
              <a:latin typeface="Calibri" charset="0"/>
              <a:sym typeface="Symbol" charset="2"/>
            </a:endParaRPr>
          </a:p>
        </p:txBody>
      </p:sp>
      <p:pic>
        <p:nvPicPr>
          <p:cNvPr id="2" name="Picture 1"/>
          <p:cNvPicPr>
            <a:picLocks noChangeAspect="1"/>
          </p:cNvPicPr>
          <p:nvPr/>
        </p:nvPicPr>
        <p:blipFill>
          <a:blip r:embed="rId3"/>
          <a:stretch>
            <a:fillRect/>
          </a:stretch>
        </p:blipFill>
        <p:spPr>
          <a:xfrm>
            <a:off x="120423" y="2828509"/>
            <a:ext cx="8935995" cy="272772"/>
          </a:xfrm>
          <a:prstGeom prst="rect">
            <a:avLst/>
          </a:prstGeom>
        </p:spPr>
      </p:pic>
    </p:spTree>
    <p:extLst>
      <p:ext uri="{BB962C8B-B14F-4D97-AF65-F5344CB8AC3E}">
        <p14:creationId xmlns:p14="http://schemas.microsoft.com/office/powerpoint/2010/main" val="109922565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5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58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normAutofit fontScale="90000"/>
          </a:bodyPr>
          <a:lstStyle/>
          <a:p>
            <a:pPr eaLnBrk="1" hangingPunct="1"/>
            <a:r>
              <a:rPr lang="en-US" sz="3600" dirty="0" smtClean="0"/>
              <a:t>Chain </a:t>
            </a:r>
            <a:r>
              <a:rPr lang="en-US" sz="3600" dirty="0"/>
              <a:t>Rule </a:t>
            </a:r>
            <a:r>
              <a:rPr lang="en-US" sz="3600" dirty="0" smtClean="0"/>
              <a:t>for computing </a:t>
            </a:r>
            <a:r>
              <a:rPr lang="en-US" sz="3600" dirty="0"/>
              <a:t>joint probability of words in sentence</a:t>
            </a:r>
          </a:p>
        </p:txBody>
      </p:sp>
      <p:sp>
        <p:nvSpPr>
          <p:cNvPr id="69635" name="Rectangle 3"/>
          <p:cNvSpPr>
            <a:spLocks noGrp="1" noChangeArrowheads="1"/>
          </p:cNvSpPr>
          <p:nvPr>
            <p:ph idx="1"/>
          </p:nvPr>
        </p:nvSpPr>
        <p:spPr>
          <a:xfrm>
            <a:off x="457200" y="1073740"/>
            <a:ext cx="8483600" cy="5052424"/>
          </a:xfrm>
        </p:spPr>
        <p:txBody>
          <a:bodyPr/>
          <a:lstStyle/>
          <a:p>
            <a:pPr eaLnBrk="1" hangingPunct="1"/>
            <a:endParaRPr lang="en-US" dirty="0">
              <a:latin typeface="Calibri" charset="0"/>
            </a:endParaRPr>
          </a:p>
          <a:p>
            <a:pPr eaLnBrk="1" hangingPunct="1">
              <a:buNone/>
            </a:pPr>
            <a:endParaRPr lang="en-US" dirty="0">
              <a:latin typeface="Calibri" charset="0"/>
            </a:endParaRPr>
          </a:p>
          <a:p>
            <a:pPr eaLnBrk="1" hangingPunct="1">
              <a:buNone/>
            </a:pPr>
            <a:endParaRPr lang="en-US" sz="2800" dirty="0">
              <a:latin typeface="Calibri" charset="0"/>
            </a:endParaRPr>
          </a:p>
          <a:p>
            <a:pPr eaLnBrk="1" hangingPunct="1">
              <a:buNone/>
            </a:pPr>
            <a:endParaRPr lang="en-US" sz="2800" dirty="0">
              <a:latin typeface="Calibri" charset="0"/>
            </a:endParaRPr>
          </a:p>
          <a:p>
            <a:pPr eaLnBrk="1" hangingPunct="1">
              <a:buNone/>
            </a:pPr>
            <a:r>
              <a:rPr lang="en-US" sz="2800" dirty="0">
                <a:latin typeface="Calibri" charset="0"/>
              </a:rPr>
              <a:t>P</a:t>
            </a:r>
            <a:r>
              <a:rPr lang="en-US" sz="2800" dirty="0" smtClean="0">
                <a:latin typeface="Calibri" charset="0"/>
              </a:rPr>
              <a:t>(“</a:t>
            </a:r>
            <a:r>
              <a:rPr lang="en-US" sz="2800" i="1" dirty="0" smtClean="0">
                <a:latin typeface="Calibri" charset="0"/>
              </a:rPr>
              <a:t>its </a:t>
            </a:r>
            <a:r>
              <a:rPr lang="en-US" sz="2800" i="1" dirty="0">
                <a:latin typeface="Calibri" charset="0"/>
              </a:rPr>
              <a:t>water is so transparent</a:t>
            </a:r>
            <a:r>
              <a:rPr lang="en-US" sz="2800" dirty="0">
                <a:latin typeface="Calibri" charset="0"/>
              </a:rPr>
              <a:t>”) =</a:t>
            </a:r>
          </a:p>
          <a:p>
            <a:pPr eaLnBrk="1" hangingPunct="1">
              <a:buFont typeface="Times" charset="0"/>
              <a:buNone/>
            </a:pPr>
            <a:r>
              <a:rPr lang="en-US" dirty="0">
                <a:latin typeface="Calibri" charset="0"/>
              </a:rPr>
              <a:t>	</a:t>
            </a:r>
            <a:r>
              <a:rPr lang="en-US" sz="2800" dirty="0">
                <a:solidFill>
                  <a:srgbClr val="404040"/>
                </a:solidFill>
                <a:latin typeface="Calibri" charset="0"/>
              </a:rPr>
              <a:t>P(</a:t>
            </a:r>
            <a:r>
              <a:rPr lang="en-US" sz="2800" i="1" dirty="0">
                <a:solidFill>
                  <a:srgbClr val="404040"/>
                </a:solidFill>
                <a:latin typeface="Calibri" charset="0"/>
              </a:rPr>
              <a:t>its</a:t>
            </a:r>
            <a:r>
              <a:rPr lang="en-US" sz="2800" dirty="0">
                <a:solidFill>
                  <a:srgbClr val="404040"/>
                </a:solidFill>
                <a:latin typeface="Calibri" charset="0"/>
              </a:rPr>
              <a:t>) × P(</a:t>
            </a:r>
            <a:r>
              <a:rPr lang="en-US" sz="2800" i="1" dirty="0" smtClean="0">
                <a:solidFill>
                  <a:srgbClr val="404040"/>
                </a:solidFill>
                <a:latin typeface="Calibri" charset="0"/>
              </a:rPr>
              <a:t>water </a:t>
            </a:r>
            <a:r>
              <a:rPr lang="en-US" sz="2800" dirty="0" smtClean="0">
                <a:solidFill>
                  <a:srgbClr val="404040"/>
                </a:solidFill>
                <a:latin typeface="Calibri" charset="0"/>
              </a:rPr>
              <a:t>| </a:t>
            </a:r>
            <a:r>
              <a:rPr lang="en-US" sz="2800" i="1" dirty="0" smtClean="0">
                <a:solidFill>
                  <a:srgbClr val="404040"/>
                </a:solidFill>
                <a:latin typeface="Calibri" charset="0"/>
              </a:rPr>
              <a:t>its</a:t>
            </a:r>
            <a:r>
              <a:rPr lang="en-US" sz="2800" dirty="0">
                <a:solidFill>
                  <a:srgbClr val="404040"/>
                </a:solidFill>
                <a:latin typeface="Calibri" charset="0"/>
              </a:rPr>
              <a:t>) ×  P(</a:t>
            </a:r>
            <a:r>
              <a:rPr lang="en-US" sz="2800" i="1" dirty="0" smtClean="0">
                <a:solidFill>
                  <a:srgbClr val="404040"/>
                </a:solidFill>
                <a:latin typeface="Calibri" charset="0"/>
              </a:rPr>
              <a:t>is </a:t>
            </a:r>
            <a:r>
              <a:rPr lang="en-US" sz="2800" dirty="0" smtClean="0">
                <a:solidFill>
                  <a:srgbClr val="404040"/>
                </a:solidFill>
                <a:latin typeface="Calibri" charset="0"/>
              </a:rPr>
              <a:t>| </a:t>
            </a:r>
            <a:r>
              <a:rPr lang="en-US" sz="2800" i="1" dirty="0" smtClean="0">
                <a:solidFill>
                  <a:srgbClr val="404040"/>
                </a:solidFill>
                <a:latin typeface="Calibri" charset="0"/>
              </a:rPr>
              <a:t>its </a:t>
            </a:r>
            <a:r>
              <a:rPr lang="en-US" sz="2800" i="1" dirty="0">
                <a:solidFill>
                  <a:srgbClr val="404040"/>
                </a:solidFill>
                <a:latin typeface="Calibri" charset="0"/>
              </a:rPr>
              <a:t>water</a:t>
            </a:r>
            <a:r>
              <a:rPr lang="en-US" sz="2800" dirty="0">
                <a:solidFill>
                  <a:srgbClr val="404040"/>
                </a:solidFill>
                <a:latin typeface="Calibri" charset="0"/>
              </a:rPr>
              <a:t>) </a:t>
            </a:r>
          </a:p>
          <a:p>
            <a:pPr eaLnBrk="1" hangingPunct="1">
              <a:buFont typeface="Times" charset="0"/>
              <a:buNone/>
            </a:pPr>
            <a:r>
              <a:rPr lang="en-US" sz="2800" dirty="0">
                <a:solidFill>
                  <a:srgbClr val="404040"/>
                </a:solidFill>
                <a:latin typeface="Calibri" charset="0"/>
              </a:rPr>
              <a:t>    </a:t>
            </a:r>
            <a:r>
              <a:rPr lang="en-US" sz="2800" dirty="0" smtClean="0">
                <a:solidFill>
                  <a:srgbClr val="404040"/>
                </a:solidFill>
                <a:latin typeface="Calibri" charset="0"/>
              </a:rPr>
              <a:t>×  </a:t>
            </a:r>
            <a:r>
              <a:rPr lang="en-US" sz="2800" dirty="0">
                <a:solidFill>
                  <a:srgbClr val="404040"/>
                </a:solidFill>
                <a:latin typeface="Calibri" charset="0"/>
              </a:rPr>
              <a:t>P(</a:t>
            </a:r>
            <a:r>
              <a:rPr lang="en-US" sz="2800" i="1" dirty="0" smtClean="0">
                <a:solidFill>
                  <a:srgbClr val="404040"/>
                </a:solidFill>
                <a:latin typeface="Calibri" charset="0"/>
              </a:rPr>
              <a:t>so </a:t>
            </a:r>
            <a:r>
              <a:rPr lang="en-US" sz="2800" dirty="0" smtClean="0">
                <a:solidFill>
                  <a:srgbClr val="404040"/>
                </a:solidFill>
                <a:latin typeface="Calibri" charset="0"/>
              </a:rPr>
              <a:t>| </a:t>
            </a:r>
            <a:r>
              <a:rPr lang="en-US" sz="2800" i="1" dirty="0" smtClean="0">
                <a:solidFill>
                  <a:srgbClr val="404040"/>
                </a:solidFill>
                <a:latin typeface="Calibri" charset="0"/>
              </a:rPr>
              <a:t>its </a:t>
            </a:r>
            <a:r>
              <a:rPr lang="en-US" sz="2800" i="1" dirty="0">
                <a:solidFill>
                  <a:srgbClr val="404040"/>
                </a:solidFill>
                <a:latin typeface="Calibri" charset="0"/>
              </a:rPr>
              <a:t>water is</a:t>
            </a:r>
            <a:r>
              <a:rPr lang="en-US" sz="2800" dirty="0">
                <a:solidFill>
                  <a:srgbClr val="404040"/>
                </a:solidFill>
                <a:latin typeface="Calibri" charset="0"/>
              </a:rPr>
              <a:t>) ×  P(</a:t>
            </a:r>
            <a:r>
              <a:rPr lang="en-US" sz="2800" i="1" dirty="0" smtClean="0">
                <a:solidFill>
                  <a:srgbClr val="404040"/>
                </a:solidFill>
                <a:latin typeface="Calibri" charset="0"/>
              </a:rPr>
              <a:t>transparent </a:t>
            </a:r>
            <a:r>
              <a:rPr lang="en-US" sz="2800" dirty="0" smtClean="0">
                <a:solidFill>
                  <a:srgbClr val="404040"/>
                </a:solidFill>
                <a:latin typeface="Calibri" charset="0"/>
              </a:rPr>
              <a:t>| </a:t>
            </a:r>
            <a:r>
              <a:rPr lang="en-US" sz="2800" i="1" dirty="0" smtClean="0">
                <a:solidFill>
                  <a:srgbClr val="404040"/>
                </a:solidFill>
                <a:latin typeface="Calibri" charset="0"/>
              </a:rPr>
              <a:t>its </a:t>
            </a:r>
            <a:r>
              <a:rPr lang="en-US" sz="2800" i="1" dirty="0">
                <a:solidFill>
                  <a:srgbClr val="404040"/>
                </a:solidFill>
                <a:latin typeface="Calibri" charset="0"/>
              </a:rPr>
              <a:t>water is so</a:t>
            </a:r>
            <a:r>
              <a:rPr lang="en-US" sz="2800" dirty="0">
                <a:solidFill>
                  <a:srgbClr val="404040"/>
                </a:solidFill>
                <a:latin typeface="Calibri" charset="0"/>
              </a:rPr>
              <a:t>)</a:t>
            </a:r>
          </a:p>
        </p:txBody>
      </p:sp>
      <p:sp>
        <p:nvSpPr>
          <p:cNvPr id="6" name="Content Placeholder 2"/>
          <p:cNvSpPr txBox="1">
            <a:spLocks/>
          </p:cNvSpPr>
          <p:nvPr/>
        </p:nvSpPr>
        <p:spPr>
          <a:xfrm>
            <a:off x="7814471" y="6403973"/>
            <a:ext cx="1329529" cy="454027"/>
          </a:xfrm>
          <a:prstGeom prst="rect">
            <a:avLst/>
          </a:prstGeom>
          <a:solidFill>
            <a:schemeClr val="bg1"/>
          </a:solidFill>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1600" dirty="0" smtClean="0">
                <a:solidFill>
                  <a:srgbClr val="288CD2"/>
                </a:solidFill>
              </a:rPr>
              <a:t>J&amp;M/SLP3</a:t>
            </a:r>
          </a:p>
        </p:txBody>
      </p:sp>
      <p:pic>
        <p:nvPicPr>
          <p:cNvPr id="2" name="Picture 1"/>
          <p:cNvPicPr>
            <a:picLocks noChangeAspect="1"/>
          </p:cNvPicPr>
          <p:nvPr/>
        </p:nvPicPr>
        <p:blipFill>
          <a:blip r:embed="rId3"/>
          <a:stretch>
            <a:fillRect/>
          </a:stretch>
        </p:blipFill>
        <p:spPr>
          <a:xfrm>
            <a:off x="945528" y="1575177"/>
            <a:ext cx="6925111" cy="767847"/>
          </a:xfrm>
          <a:prstGeom prst="rect">
            <a:avLst/>
          </a:prstGeom>
        </p:spPr>
      </p:pic>
    </p:spTree>
    <p:extLst>
      <p:ext uri="{BB962C8B-B14F-4D97-AF65-F5344CB8AC3E}">
        <p14:creationId xmlns:p14="http://schemas.microsoft.com/office/powerpoint/2010/main" val="351001273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635">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9635">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963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normAutofit fontScale="90000"/>
          </a:bodyPr>
          <a:lstStyle/>
          <a:p>
            <a:pPr eaLnBrk="1" hangingPunct="1"/>
            <a:r>
              <a:rPr lang="en-US" dirty="0"/>
              <a:t>How to estimate these probabilities</a:t>
            </a:r>
          </a:p>
        </p:txBody>
      </p:sp>
      <p:sp>
        <p:nvSpPr>
          <p:cNvPr id="71683" name="Rectangle 3"/>
          <p:cNvSpPr>
            <a:spLocks noGrp="1" noChangeArrowheads="1"/>
          </p:cNvSpPr>
          <p:nvPr>
            <p:ph idx="1"/>
          </p:nvPr>
        </p:nvSpPr>
        <p:spPr/>
        <p:txBody>
          <a:bodyPr/>
          <a:lstStyle/>
          <a:p>
            <a:pPr eaLnBrk="1" hangingPunct="1"/>
            <a:r>
              <a:rPr lang="en-US" dirty="0">
                <a:latin typeface="Calibri" charset="0"/>
              </a:rPr>
              <a:t>c</a:t>
            </a:r>
            <a:r>
              <a:rPr lang="en-US" dirty="0" smtClean="0">
                <a:latin typeface="Calibri" charset="0"/>
              </a:rPr>
              <a:t>ould </a:t>
            </a:r>
            <a:r>
              <a:rPr lang="en-US" dirty="0">
                <a:latin typeface="Calibri" charset="0"/>
              </a:rPr>
              <a:t>we just count and divide?</a:t>
            </a:r>
          </a:p>
          <a:p>
            <a:pPr eaLnBrk="1" hangingPunct="1"/>
            <a:endParaRPr lang="en-US" dirty="0">
              <a:latin typeface="Calibri" charset="0"/>
            </a:endParaRPr>
          </a:p>
          <a:p>
            <a:pPr eaLnBrk="1" hangingPunct="1"/>
            <a:endParaRPr lang="en-US" dirty="0">
              <a:latin typeface="Calibri" charset="0"/>
            </a:endParaRPr>
          </a:p>
          <a:p>
            <a:pPr eaLnBrk="1" hangingPunct="1"/>
            <a:endParaRPr lang="en-US" dirty="0">
              <a:latin typeface="Calibri" charset="0"/>
            </a:endParaRPr>
          </a:p>
          <a:p>
            <a:pPr eaLnBrk="1" hangingPunct="1"/>
            <a:endParaRPr lang="en-US" dirty="0">
              <a:latin typeface="Calibri" charset="0"/>
            </a:endParaRPr>
          </a:p>
          <a:p>
            <a:pPr eaLnBrk="1" hangingPunct="1"/>
            <a:endParaRPr lang="en-US" dirty="0">
              <a:latin typeface="Calibri" charset="0"/>
            </a:endParaRPr>
          </a:p>
          <a:p>
            <a:pPr eaLnBrk="1" hangingPunct="1"/>
            <a:r>
              <a:rPr lang="en-US" sz="2400" dirty="0">
                <a:latin typeface="Calibri" charset="0"/>
              </a:rPr>
              <a:t>n</a:t>
            </a:r>
            <a:r>
              <a:rPr lang="en-US" sz="2400" dirty="0" smtClean="0">
                <a:latin typeface="Calibri" charset="0"/>
              </a:rPr>
              <a:t>o</a:t>
            </a:r>
            <a:r>
              <a:rPr lang="en-US" sz="2400" dirty="0">
                <a:latin typeface="Calibri" charset="0"/>
              </a:rPr>
              <a:t>! </a:t>
            </a:r>
            <a:r>
              <a:rPr lang="en-US" sz="2400" dirty="0" smtClean="0">
                <a:latin typeface="Calibri" charset="0"/>
              </a:rPr>
              <a:t> too </a:t>
            </a:r>
            <a:r>
              <a:rPr lang="en-US" sz="2400" dirty="0">
                <a:latin typeface="Calibri" charset="0"/>
              </a:rPr>
              <a:t>many possible sentences!</a:t>
            </a:r>
          </a:p>
          <a:p>
            <a:pPr eaLnBrk="1" hangingPunct="1"/>
            <a:r>
              <a:rPr lang="en-US" sz="2400" dirty="0" smtClean="0">
                <a:latin typeface="Calibri" charset="0"/>
              </a:rPr>
              <a:t>we’ll </a:t>
            </a:r>
            <a:r>
              <a:rPr lang="en-US" sz="2400" dirty="0">
                <a:latin typeface="Calibri" charset="0"/>
              </a:rPr>
              <a:t>never see enough data for estimating these</a:t>
            </a:r>
          </a:p>
          <a:p>
            <a:pPr eaLnBrk="1" hangingPunct="1"/>
            <a:endParaRPr lang="en-US" dirty="0">
              <a:latin typeface="Calibri" charset="0"/>
            </a:endParaRPr>
          </a:p>
          <a:p>
            <a:pPr lvl="1" eaLnBrk="1" hangingPunct="1"/>
            <a:endParaRPr lang="en-US" dirty="0">
              <a:latin typeface="Calibri" charset="0"/>
            </a:endParaRPr>
          </a:p>
        </p:txBody>
      </p:sp>
      <p:graphicFrame>
        <p:nvGraphicFramePr>
          <p:cNvPr id="5" name="Object 2"/>
          <p:cNvGraphicFramePr>
            <a:graphicFrameLocks noChangeAspect="1"/>
          </p:cNvGraphicFramePr>
          <p:nvPr>
            <p:extLst>
              <p:ext uri="{D42A27DB-BD31-4B8C-83A1-F6EECF244321}">
                <p14:modId xmlns:p14="http://schemas.microsoft.com/office/powerpoint/2010/main" val="2733030963"/>
              </p:ext>
            </p:extLst>
          </p:nvPr>
        </p:nvGraphicFramePr>
        <p:xfrm>
          <a:off x="500992" y="1924186"/>
          <a:ext cx="7955280" cy="2659263"/>
        </p:xfrm>
        <a:graphic>
          <a:graphicData uri="http://schemas.openxmlformats.org/presentationml/2006/ole">
            <mc:AlternateContent xmlns:mc="http://schemas.openxmlformats.org/markup-compatibility/2006">
              <mc:Choice xmlns:v="urn:schemas-microsoft-com:vml" Requires="v">
                <p:oleObj spid="_x0000_s2077" name="Equation" r:id="rId4" imgW="2578100" imgH="850900" progId="Equation.3">
                  <p:embed/>
                </p:oleObj>
              </mc:Choice>
              <mc:Fallback>
                <p:oleObj name="Equation" r:id="rId4" imgW="2578100" imgH="8509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992" y="1924186"/>
                        <a:ext cx="7955280" cy="2659263"/>
                      </a:xfrm>
                      <a:prstGeom prst="rect">
                        <a:avLst/>
                      </a:prstGeom>
                      <a:noFill/>
                      <a:effectLst/>
                    </p:spPr>
                  </p:pic>
                </p:oleObj>
              </mc:Fallback>
            </mc:AlternateContent>
          </a:graphicData>
        </a:graphic>
      </p:graphicFrame>
      <p:sp>
        <p:nvSpPr>
          <p:cNvPr id="6" name="Content Placeholder 2"/>
          <p:cNvSpPr txBox="1">
            <a:spLocks/>
          </p:cNvSpPr>
          <p:nvPr/>
        </p:nvSpPr>
        <p:spPr>
          <a:xfrm>
            <a:off x="7814471" y="6403973"/>
            <a:ext cx="1329529" cy="454027"/>
          </a:xfrm>
          <a:prstGeom prst="rect">
            <a:avLst/>
          </a:prstGeom>
          <a:solidFill>
            <a:schemeClr val="bg1"/>
          </a:solidFill>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1600" dirty="0" smtClean="0">
                <a:solidFill>
                  <a:srgbClr val="288CD2"/>
                </a:solidFill>
              </a:rPr>
              <a:t>J&amp;M/SLP3</a:t>
            </a:r>
          </a:p>
        </p:txBody>
      </p:sp>
    </p:spTree>
    <p:extLst>
      <p:ext uri="{BB962C8B-B14F-4D97-AF65-F5344CB8AC3E}">
        <p14:creationId xmlns:p14="http://schemas.microsoft.com/office/powerpoint/2010/main" val="83979964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68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68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822960" y="177801"/>
            <a:ext cx="7467600" cy="990600"/>
          </a:xfrm>
        </p:spPr>
        <p:txBody>
          <a:bodyPr/>
          <a:lstStyle/>
          <a:p>
            <a:pPr eaLnBrk="1" hangingPunct="1"/>
            <a:r>
              <a:rPr lang="en-US" dirty="0"/>
              <a:t>Markov Assumption</a:t>
            </a:r>
          </a:p>
        </p:txBody>
      </p:sp>
      <p:sp>
        <p:nvSpPr>
          <p:cNvPr id="75779" name="Rectangle 3"/>
          <p:cNvSpPr>
            <a:spLocks noGrp="1" noChangeArrowheads="1"/>
          </p:cNvSpPr>
          <p:nvPr>
            <p:ph idx="1"/>
          </p:nvPr>
        </p:nvSpPr>
        <p:spPr>
          <a:xfrm>
            <a:off x="457200" y="1866220"/>
            <a:ext cx="8229600" cy="3508420"/>
          </a:xfrm>
        </p:spPr>
        <p:txBody>
          <a:bodyPr/>
          <a:lstStyle/>
          <a:p>
            <a:pPr eaLnBrk="1" hangingPunct="1"/>
            <a:r>
              <a:rPr lang="en-US" sz="3600" dirty="0">
                <a:latin typeface="Calibri" charset="0"/>
              </a:rPr>
              <a:t>s</a:t>
            </a:r>
            <a:r>
              <a:rPr lang="en-US" sz="3600" dirty="0" smtClean="0">
                <a:latin typeface="Calibri" charset="0"/>
              </a:rPr>
              <a:t>implifying </a:t>
            </a:r>
            <a:r>
              <a:rPr lang="en-US" sz="3600" dirty="0">
                <a:latin typeface="Calibri" charset="0"/>
              </a:rPr>
              <a:t>assumption:</a:t>
            </a:r>
          </a:p>
          <a:p>
            <a:pPr marL="457200" lvl="1" indent="0" eaLnBrk="1" hangingPunct="1">
              <a:buNone/>
            </a:pPr>
            <a:endParaRPr lang="en-US" sz="3600" dirty="0" smtClean="0">
              <a:latin typeface="Calibri" charset="0"/>
            </a:endParaRPr>
          </a:p>
          <a:p>
            <a:pPr marL="457200" lvl="1" indent="0" eaLnBrk="1" hangingPunct="1">
              <a:buNone/>
            </a:pPr>
            <a:endParaRPr lang="en-US" sz="3600" dirty="0">
              <a:latin typeface="Calibri" charset="0"/>
            </a:endParaRPr>
          </a:p>
          <a:p>
            <a:pPr eaLnBrk="1" hangingPunct="1"/>
            <a:r>
              <a:rPr lang="en-US" sz="3600" dirty="0" smtClean="0">
                <a:latin typeface="Calibri" charset="0"/>
              </a:rPr>
              <a:t>or maybe:</a:t>
            </a:r>
            <a:endParaRPr lang="en-US" sz="3600" dirty="0">
              <a:latin typeface="Calibri" charset="0"/>
            </a:endParaRPr>
          </a:p>
        </p:txBody>
      </p:sp>
      <p:graphicFrame>
        <p:nvGraphicFramePr>
          <p:cNvPr id="6" name="Object 2"/>
          <p:cNvGraphicFramePr>
            <a:graphicFrameLocks noChangeAspect="1"/>
          </p:cNvGraphicFramePr>
          <p:nvPr>
            <p:extLst>
              <p:ext uri="{D42A27DB-BD31-4B8C-83A1-F6EECF244321}">
                <p14:modId xmlns:p14="http://schemas.microsoft.com/office/powerpoint/2010/main" val="3197563138"/>
              </p:ext>
            </p:extLst>
          </p:nvPr>
        </p:nvGraphicFramePr>
        <p:xfrm>
          <a:off x="457200" y="2817595"/>
          <a:ext cx="8036560" cy="1083846"/>
        </p:xfrm>
        <a:graphic>
          <a:graphicData uri="http://schemas.openxmlformats.org/presentationml/2006/ole">
            <mc:AlternateContent xmlns:mc="http://schemas.openxmlformats.org/markup-compatibility/2006">
              <mc:Choice xmlns:v="urn:schemas-microsoft-com:vml" Requires="v">
                <p:oleObj spid="_x0000_s3126" name="Equation" r:id="rId4" imgW="3187700" imgH="419100" progId="Equation.3">
                  <p:embed/>
                </p:oleObj>
              </mc:Choice>
              <mc:Fallback>
                <p:oleObj name="Equation" r:id="rId4" imgW="3187700" imgH="4191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2817595"/>
                        <a:ext cx="8036560" cy="1083846"/>
                      </a:xfrm>
                      <a:prstGeom prst="rect">
                        <a:avLst/>
                      </a:prstGeom>
                      <a:noFill/>
                      <a:effectLst/>
                    </p:spPr>
                  </p:pic>
                </p:oleObj>
              </mc:Fallback>
            </mc:AlternateContent>
          </a:graphicData>
        </a:graphic>
      </p:graphicFrame>
      <p:graphicFrame>
        <p:nvGraphicFramePr>
          <p:cNvPr id="7" name="Object 3"/>
          <p:cNvGraphicFramePr>
            <a:graphicFrameLocks noChangeAspect="1"/>
          </p:cNvGraphicFramePr>
          <p:nvPr>
            <p:extLst>
              <p:ext uri="{D42A27DB-BD31-4B8C-83A1-F6EECF244321}">
                <p14:modId xmlns:p14="http://schemas.microsoft.com/office/powerpoint/2010/main" val="1730659301"/>
              </p:ext>
            </p:extLst>
          </p:nvPr>
        </p:nvGraphicFramePr>
        <p:xfrm>
          <a:off x="106680" y="4663785"/>
          <a:ext cx="8915400" cy="1015655"/>
        </p:xfrm>
        <a:graphic>
          <a:graphicData uri="http://schemas.openxmlformats.org/presentationml/2006/ole">
            <mc:AlternateContent xmlns:mc="http://schemas.openxmlformats.org/markup-compatibility/2006">
              <mc:Choice xmlns:v="urn:schemas-microsoft-com:vml" Requires="v">
                <p:oleObj spid="_x0000_s3127" name="Equation" r:id="rId6" imgW="3898900" imgH="419100" progId="Equation.3">
                  <p:embed/>
                </p:oleObj>
              </mc:Choice>
              <mc:Fallback>
                <p:oleObj name="Equation" r:id="rId6" imgW="3898900" imgH="4191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680" y="4663785"/>
                        <a:ext cx="8915400" cy="1015655"/>
                      </a:xfrm>
                      <a:prstGeom prst="rect">
                        <a:avLst/>
                      </a:prstGeom>
                      <a:noFill/>
                      <a:effectLst/>
                      <a:extLst/>
                    </p:spPr>
                  </p:pic>
                </p:oleObj>
              </mc:Fallback>
            </mc:AlternateContent>
          </a:graphicData>
        </a:graphic>
      </p:graphicFrame>
      <p:pic>
        <p:nvPicPr>
          <p:cNvPr id="2" name="Picture 1" descr="225px-AAMarkov.jpg"/>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099057" y="20321"/>
            <a:ext cx="1780133" cy="2301239"/>
          </a:xfrm>
          <a:prstGeom prst="rect">
            <a:avLst/>
          </a:prstGeom>
        </p:spPr>
      </p:pic>
      <p:sp>
        <p:nvSpPr>
          <p:cNvPr id="3" name="TextBox 2"/>
          <p:cNvSpPr txBox="1"/>
          <p:nvPr/>
        </p:nvSpPr>
        <p:spPr>
          <a:xfrm>
            <a:off x="7320930" y="2321560"/>
            <a:ext cx="1441420" cy="338554"/>
          </a:xfrm>
          <a:prstGeom prst="rect">
            <a:avLst/>
          </a:prstGeom>
          <a:noFill/>
        </p:spPr>
        <p:txBody>
          <a:bodyPr wrap="none" rtlCol="0">
            <a:spAutoFit/>
          </a:bodyPr>
          <a:lstStyle/>
          <a:p>
            <a:r>
              <a:rPr lang="en-US" sz="1600" dirty="0" smtClean="0">
                <a:latin typeface="Calibri"/>
                <a:cs typeface="Calibri"/>
              </a:rPr>
              <a:t>Andrei Markov</a:t>
            </a:r>
            <a:endParaRPr lang="en-US" sz="1600" dirty="0">
              <a:latin typeface="Calibri"/>
              <a:cs typeface="Calibri"/>
            </a:endParaRPr>
          </a:p>
        </p:txBody>
      </p:sp>
      <p:sp>
        <p:nvSpPr>
          <p:cNvPr id="8" name="Content Placeholder 2"/>
          <p:cNvSpPr txBox="1">
            <a:spLocks/>
          </p:cNvSpPr>
          <p:nvPr/>
        </p:nvSpPr>
        <p:spPr>
          <a:xfrm>
            <a:off x="7814471" y="6403973"/>
            <a:ext cx="1329529" cy="454027"/>
          </a:xfrm>
          <a:prstGeom prst="rect">
            <a:avLst/>
          </a:prstGeom>
          <a:solidFill>
            <a:schemeClr val="bg1"/>
          </a:solidFill>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1600" dirty="0" smtClean="0">
                <a:solidFill>
                  <a:srgbClr val="288CD2"/>
                </a:solidFill>
              </a:rPr>
              <a:t>J&amp;M/SLP3</a:t>
            </a:r>
          </a:p>
        </p:txBody>
      </p:sp>
    </p:spTree>
    <p:extLst>
      <p:ext uri="{BB962C8B-B14F-4D97-AF65-F5344CB8AC3E}">
        <p14:creationId xmlns:p14="http://schemas.microsoft.com/office/powerpoint/2010/main" val="308601417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5779">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838201" y="98380"/>
            <a:ext cx="7467600" cy="990600"/>
          </a:xfrm>
        </p:spPr>
        <p:txBody>
          <a:bodyPr/>
          <a:lstStyle/>
          <a:p>
            <a:pPr eaLnBrk="1" hangingPunct="1"/>
            <a:r>
              <a:rPr lang="en-US" dirty="0"/>
              <a:t>Markov Assumption</a:t>
            </a:r>
          </a:p>
        </p:txBody>
      </p:sp>
      <p:sp>
        <p:nvSpPr>
          <p:cNvPr id="75779" name="Rectangle 3"/>
          <p:cNvSpPr>
            <a:spLocks noGrp="1" noChangeArrowheads="1"/>
          </p:cNvSpPr>
          <p:nvPr>
            <p:ph idx="1"/>
          </p:nvPr>
        </p:nvSpPr>
        <p:spPr>
          <a:xfrm>
            <a:off x="457200" y="1445918"/>
            <a:ext cx="8229600" cy="1280160"/>
          </a:xfrm>
        </p:spPr>
        <p:txBody>
          <a:bodyPr/>
          <a:lstStyle/>
          <a:p>
            <a:r>
              <a:rPr lang="en-US" sz="3200" dirty="0" smtClean="0"/>
              <a:t>i.e., </a:t>
            </a:r>
            <a:r>
              <a:rPr lang="en-US" sz="3200" dirty="0"/>
              <a:t>we approximate each component in the </a:t>
            </a:r>
            <a:r>
              <a:rPr lang="en-US" sz="3200" dirty="0" smtClean="0"/>
              <a:t>product:</a:t>
            </a:r>
            <a:endParaRPr lang="en-US" sz="3200" dirty="0">
              <a:latin typeface="Calibri" charset="0"/>
            </a:endParaRPr>
          </a:p>
        </p:txBody>
      </p:sp>
      <p:sp>
        <p:nvSpPr>
          <p:cNvPr id="8" name="Content Placeholder 2"/>
          <p:cNvSpPr txBox="1">
            <a:spLocks/>
          </p:cNvSpPr>
          <p:nvPr/>
        </p:nvSpPr>
        <p:spPr>
          <a:xfrm>
            <a:off x="7814471" y="6403973"/>
            <a:ext cx="1329529" cy="454027"/>
          </a:xfrm>
          <a:prstGeom prst="rect">
            <a:avLst/>
          </a:prstGeom>
          <a:solidFill>
            <a:schemeClr val="bg1"/>
          </a:solidFill>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1600" dirty="0" smtClean="0">
                <a:solidFill>
                  <a:srgbClr val="288CD2"/>
                </a:solidFill>
              </a:rPr>
              <a:t>J&amp;M/SLP3</a:t>
            </a:r>
          </a:p>
        </p:txBody>
      </p:sp>
      <p:pic>
        <p:nvPicPr>
          <p:cNvPr id="3" name="Picture 2"/>
          <p:cNvPicPr>
            <a:picLocks noChangeAspect="1"/>
          </p:cNvPicPr>
          <p:nvPr/>
        </p:nvPicPr>
        <p:blipFill>
          <a:blip r:embed="rId3"/>
          <a:stretch>
            <a:fillRect/>
          </a:stretch>
        </p:blipFill>
        <p:spPr>
          <a:xfrm>
            <a:off x="47129" y="2824768"/>
            <a:ext cx="9096871" cy="396205"/>
          </a:xfrm>
          <a:prstGeom prst="rect">
            <a:avLst/>
          </a:prstGeom>
        </p:spPr>
      </p:pic>
    </p:spTree>
    <p:extLst>
      <p:ext uri="{BB962C8B-B14F-4D97-AF65-F5344CB8AC3E}">
        <p14:creationId xmlns:p14="http://schemas.microsoft.com/office/powerpoint/2010/main" val="2114243410"/>
      </p:ext>
    </p:extLst>
  </p:cSld>
  <p:clrMapOvr>
    <a:masterClrMapping/>
  </p:clrMapOvr>
  <p:timing>
    <p:tnLst>
      <p:par>
        <p:cTn xmlns:p14="http://schemas.microsoft.com/office/powerpoint/2010/mai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Rectangle 2"/>
          <p:cNvSpPr>
            <a:spLocks noChangeArrowheads="1"/>
          </p:cNvSpPr>
          <p:nvPr/>
        </p:nvSpPr>
        <p:spPr bwMode="auto">
          <a:xfrm>
            <a:off x="685800" y="1981200"/>
            <a:ext cx="7772400" cy="4114800"/>
          </a:xfrm>
          <a:prstGeom prst="rect">
            <a:avLst/>
          </a:prstGeom>
          <a:noFill/>
          <a:ln w="9525">
            <a:noFill/>
            <a:miter lim="800000"/>
            <a:headEnd/>
            <a:tailEnd/>
          </a:ln>
        </p:spPr>
        <p:txBody>
          <a:bodyPr>
            <a:prstTxWarp prst="textNoShape">
              <a:avLst/>
            </a:prstTxWarp>
          </a:bodyPr>
          <a:lstStyle/>
          <a:p>
            <a:pPr marL="342900" indent="-342900">
              <a:spcBef>
                <a:spcPct val="20000"/>
              </a:spcBef>
              <a:buClr>
                <a:schemeClr val="tx2"/>
              </a:buClr>
              <a:buFont typeface="Wingdings" charset="2"/>
              <a:buBlip>
                <a:blip r:embed="rId3"/>
              </a:buBlip>
            </a:pPr>
            <a:endParaRPr lang="en-US" sz="2400">
              <a:solidFill>
                <a:srgbClr val="5400A8"/>
              </a:solidFill>
              <a:latin typeface="Tahoma" charset="0"/>
            </a:endParaRPr>
          </a:p>
          <a:p>
            <a:pPr marL="342900" indent="-342900">
              <a:spcBef>
                <a:spcPct val="20000"/>
              </a:spcBef>
              <a:buClr>
                <a:schemeClr val="tx2"/>
              </a:buClr>
              <a:buFont typeface="Wingdings" charset="2"/>
              <a:buBlip>
                <a:blip r:embed="rId3"/>
              </a:buBlip>
            </a:pPr>
            <a:endParaRPr lang="en-US" sz="2400">
              <a:solidFill>
                <a:srgbClr val="5400A8"/>
              </a:solidFill>
              <a:latin typeface="Tahoma" charset="0"/>
            </a:endParaRPr>
          </a:p>
          <a:p>
            <a:pPr marL="342900" indent="-342900">
              <a:spcBef>
                <a:spcPct val="20000"/>
              </a:spcBef>
              <a:buClr>
                <a:schemeClr val="tx2"/>
              </a:buClr>
              <a:buFont typeface="Wingdings" charset="2"/>
              <a:buBlip>
                <a:blip r:embed="rId3"/>
              </a:buBlip>
            </a:pPr>
            <a:endParaRPr lang="en-US" sz="2400">
              <a:solidFill>
                <a:srgbClr val="5400A8"/>
              </a:solidFill>
              <a:latin typeface="Tahoma" charset="0"/>
            </a:endParaRPr>
          </a:p>
          <a:p>
            <a:pPr marL="342900" indent="-342900">
              <a:spcBef>
                <a:spcPct val="20000"/>
              </a:spcBef>
              <a:buClr>
                <a:schemeClr val="tx2"/>
              </a:buClr>
              <a:buFont typeface="Wingdings" charset="2"/>
              <a:buBlip>
                <a:blip r:embed="rId3"/>
              </a:buBlip>
            </a:pPr>
            <a:endParaRPr lang="en-US" sz="2400">
              <a:solidFill>
                <a:srgbClr val="5400A8"/>
              </a:solidFill>
              <a:latin typeface="Tahoma" charset="0"/>
            </a:endParaRPr>
          </a:p>
        </p:txBody>
      </p:sp>
      <p:sp>
        <p:nvSpPr>
          <p:cNvPr id="77829" name="Rectangle 4"/>
          <p:cNvSpPr>
            <a:spLocks noGrp="1" noChangeArrowheads="1"/>
          </p:cNvSpPr>
          <p:nvPr>
            <p:ph type="title"/>
          </p:nvPr>
        </p:nvSpPr>
        <p:spPr>
          <a:xfrm>
            <a:off x="990600" y="177800"/>
            <a:ext cx="7467600" cy="990600"/>
          </a:xfrm>
        </p:spPr>
        <p:txBody>
          <a:bodyPr/>
          <a:lstStyle/>
          <a:p>
            <a:pPr eaLnBrk="1" hangingPunct="1"/>
            <a:r>
              <a:rPr lang="en-US" dirty="0"/>
              <a:t>Simplest case: Unigram model</a:t>
            </a:r>
          </a:p>
        </p:txBody>
      </p:sp>
      <p:sp>
        <p:nvSpPr>
          <p:cNvPr id="6" name="TextBox 5"/>
          <p:cNvSpPr txBox="1"/>
          <p:nvPr/>
        </p:nvSpPr>
        <p:spPr>
          <a:xfrm>
            <a:off x="685800" y="3723560"/>
            <a:ext cx="8077200" cy="2000548"/>
          </a:xfrm>
          <a:prstGeom prst="rect">
            <a:avLst/>
          </a:prstGeom>
          <a:noFill/>
        </p:spPr>
        <p:txBody>
          <a:bodyPr wrap="square" rtlCol="0">
            <a:spAutoFit/>
          </a:bodyPr>
          <a:lstStyle/>
          <a:p>
            <a:r>
              <a:rPr lang="en-US" sz="2000" dirty="0" smtClean="0">
                <a:latin typeface="Courier"/>
                <a:cs typeface="Courier"/>
              </a:rPr>
              <a:t>fifth an of futures the an incorporated a a the inflation most dollars quarter in is mass</a:t>
            </a:r>
          </a:p>
          <a:p>
            <a:endParaRPr lang="en-US" sz="2000" dirty="0" smtClean="0">
              <a:latin typeface="Courier"/>
              <a:cs typeface="Courier"/>
            </a:endParaRPr>
          </a:p>
          <a:p>
            <a:r>
              <a:rPr lang="en-US" sz="2000" dirty="0" smtClean="0">
                <a:latin typeface="Courier"/>
                <a:cs typeface="Courier"/>
              </a:rPr>
              <a:t>thrift did eighty said hard ’m </a:t>
            </a:r>
            <a:r>
              <a:rPr lang="en-US" sz="2000" dirty="0" err="1" smtClean="0">
                <a:latin typeface="Courier"/>
                <a:cs typeface="Courier"/>
              </a:rPr>
              <a:t>july</a:t>
            </a:r>
            <a:r>
              <a:rPr lang="en-US" sz="2000" dirty="0" smtClean="0">
                <a:latin typeface="Courier"/>
                <a:cs typeface="Courier"/>
              </a:rPr>
              <a:t> bullish</a:t>
            </a:r>
          </a:p>
          <a:p>
            <a:endParaRPr lang="en-US" sz="2400" dirty="0" smtClean="0">
              <a:latin typeface="Courier"/>
              <a:cs typeface="Courier"/>
            </a:endParaRPr>
          </a:p>
          <a:p>
            <a:r>
              <a:rPr lang="en-US" sz="2000" dirty="0" smtClean="0">
                <a:latin typeface="Courier"/>
                <a:cs typeface="Courier"/>
              </a:rPr>
              <a:t>that or limited the</a:t>
            </a:r>
          </a:p>
        </p:txBody>
      </p:sp>
      <p:sp>
        <p:nvSpPr>
          <p:cNvPr id="7" name="TextBox 6"/>
          <p:cNvSpPr txBox="1"/>
          <p:nvPr/>
        </p:nvSpPr>
        <p:spPr>
          <a:xfrm>
            <a:off x="228600" y="2997120"/>
            <a:ext cx="6292608" cy="400110"/>
          </a:xfrm>
          <a:prstGeom prst="rect">
            <a:avLst/>
          </a:prstGeom>
          <a:noFill/>
        </p:spPr>
        <p:txBody>
          <a:bodyPr wrap="none" rtlCol="0">
            <a:spAutoFit/>
          </a:bodyPr>
          <a:lstStyle/>
          <a:p>
            <a:r>
              <a:rPr lang="en-US" sz="2000" dirty="0" smtClean="0">
                <a:latin typeface="Calibri"/>
                <a:cs typeface="Calibri"/>
              </a:rPr>
              <a:t>automatically </a:t>
            </a:r>
            <a:r>
              <a:rPr lang="en-US" sz="2000" dirty="0">
                <a:latin typeface="Calibri"/>
                <a:cs typeface="Calibri"/>
              </a:rPr>
              <a:t>generated sentences from a unigram </a:t>
            </a:r>
            <a:r>
              <a:rPr lang="en-US" sz="2000" dirty="0" smtClean="0">
                <a:latin typeface="Calibri"/>
                <a:cs typeface="Calibri"/>
              </a:rPr>
              <a:t>model:</a:t>
            </a:r>
            <a:endParaRPr lang="en-US" sz="2000" dirty="0">
              <a:latin typeface="Calibri"/>
              <a:cs typeface="Calibri"/>
            </a:endParaRPr>
          </a:p>
        </p:txBody>
      </p:sp>
      <p:sp>
        <p:nvSpPr>
          <p:cNvPr id="9" name="Content Placeholder 2"/>
          <p:cNvSpPr txBox="1">
            <a:spLocks/>
          </p:cNvSpPr>
          <p:nvPr/>
        </p:nvSpPr>
        <p:spPr>
          <a:xfrm>
            <a:off x="7814471" y="6403973"/>
            <a:ext cx="1329529" cy="454027"/>
          </a:xfrm>
          <a:prstGeom prst="rect">
            <a:avLst/>
          </a:prstGeom>
          <a:solidFill>
            <a:schemeClr val="bg1"/>
          </a:solidFill>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1600" dirty="0" smtClean="0">
                <a:solidFill>
                  <a:srgbClr val="288CD2"/>
                </a:solidFill>
              </a:rPr>
              <a:t>J&amp;M/SLP3</a:t>
            </a:r>
          </a:p>
        </p:txBody>
      </p:sp>
      <p:pic>
        <p:nvPicPr>
          <p:cNvPr id="2" name="Picture 1"/>
          <p:cNvPicPr>
            <a:picLocks noChangeAspect="1"/>
          </p:cNvPicPr>
          <p:nvPr/>
        </p:nvPicPr>
        <p:blipFill>
          <a:blip r:embed="rId4"/>
          <a:stretch>
            <a:fillRect/>
          </a:stretch>
        </p:blipFill>
        <p:spPr>
          <a:xfrm>
            <a:off x="1636170" y="1644649"/>
            <a:ext cx="5601479" cy="983041"/>
          </a:xfrm>
          <a:prstGeom prst="rect">
            <a:avLst/>
          </a:prstGeom>
        </p:spPr>
      </p:pic>
    </p:spTree>
    <p:extLst>
      <p:ext uri="{BB962C8B-B14F-4D97-AF65-F5344CB8AC3E}">
        <p14:creationId xmlns:p14="http://schemas.microsoft.com/office/powerpoint/2010/main" val="530121696"/>
      </p:ext>
    </p:extLst>
  </p:cSld>
  <p:clrMapOvr>
    <a:masterClrMapping/>
  </p:clrMapOvr>
  <p:timing>
    <p:tnLst>
      <p:par>
        <p:cTn xmlns:p14="http://schemas.microsoft.com/office/powerpoint/2010/mai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Rectangle 2"/>
          <p:cNvSpPr>
            <a:spLocks noChangeArrowheads="1"/>
          </p:cNvSpPr>
          <p:nvPr/>
        </p:nvSpPr>
        <p:spPr bwMode="auto">
          <a:xfrm>
            <a:off x="762000" y="1145719"/>
            <a:ext cx="7772400" cy="4876800"/>
          </a:xfrm>
          <a:prstGeom prst="rect">
            <a:avLst/>
          </a:prstGeom>
          <a:noFill/>
          <a:ln w="9525">
            <a:noFill/>
            <a:miter lim="800000"/>
            <a:headEnd/>
            <a:tailEnd/>
          </a:ln>
        </p:spPr>
        <p:txBody>
          <a:bodyPr>
            <a:prstTxWarp prst="textNoShape">
              <a:avLst/>
            </a:prstTxWarp>
          </a:bodyPr>
          <a:lstStyle/>
          <a:p>
            <a:pPr>
              <a:spcBef>
                <a:spcPct val="20000"/>
              </a:spcBef>
              <a:buClr>
                <a:schemeClr val="tx2"/>
              </a:buClr>
            </a:pPr>
            <a:r>
              <a:rPr lang="en-US" sz="2400" dirty="0">
                <a:latin typeface="Calibri"/>
                <a:cs typeface="Calibri"/>
              </a:rPr>
              <a:t>c</a:t>
            </a:r>
            <a:r>
              <a:rPr lang="en-US" sz="2400" dirty="0" smtClean="0">
                <a:latin typeface="Calibri"/>
                <a:cs typeface="Calibri"/>
              </a:rPr>
              <a:t>ondition </a:t>
            </a:r>
            <a:r>
              <a:rPr lang="en-US" sz="2400" dirty="0">
                <a:latin typeface="Calibri"/>
                <a:cs typeface="Calibri"/>
              </a:rPr>
              <a:t>on the previous word:</a:t>
            </a:r>
          </a:p>
          <a:p>
            <a:pPr marL="342900" indent="-342900">
              <a:spcBef>
                <a:spcPct val="20000"/>
              </a:spcBef>
              <a:buClr>
                <a:schemeClr val="tx2"/>
              </a:buClr>
            </a:pPr>
            <a:endParaRPr lang="en-US" sz="2400" dirty="0">
              <a:latin typeface="Tahoma" charset="0"/>
            </a:endParaRPr>
          </a:p>
          <a:p>
            <a:pPr marL="342900" indent="-342900">
              <a:spcBef>
                <a:spcPct val="20000"/>
              </a:spcBef>
              <a:buClr>
                <a:schemeClr val="tx2"/>
              </a:buClr>
            </a:pPr>
            <a:endParaRPr lang="en-US" sz="2400" dirty="0">
              <a:latin typeface="Tahoma" charset="0"/>
            </a:endParaRPr>
          </a:p>
          <a:p>
            <a:pPr marL="800100" lvl="1" indent="-342900">
              <a:spcBef>
                <a:spcPct val="20000"/>
              </a:spcBef>
              <a:buClr>
                <a:schemeClr val="tx2"/>
              </a:buClr>
              <a:buFont typeface="Wingdings" charset="2"/>
              <a:buBlip>
                <a:blip r:embed="rId3"/>
              </a:buBlip>
            </a:pPr>
            <a:endParaRPr lang="en-US" sz="2400" dirty="0">
              <a:solidFill>
                <a:srgbClr val="5400A8"/>
              </a:solidFill>
              <a:latin typeface="Tahoma" charset="0"/>
            </a:endParaRPr>
          </a:p>
          <a:p>
            <a:pPr marL="342900" indent="-342900">
              <a:spcBef>
                <a:spcPct val="20000"/>
              </a:spcBef>
              <a:buClr>
                <a:schemeClr val="tx2"/>
              </a:buClr>
              <a:buFont typeface="Wingdings" charset="2"/>
              <a:buBlip>
                <a:blip r:embed="rId3"/>
              </a:buBlip>
            </a:pPr>
            <a:endParaRPr lang="en-US" sz="2400" dirty="0">
              <a:solidFill>
                <a:srgbClr val="5400A8"/>
              </a:solidFill>
              <a:latin typeface="Tahoma" charset="0"/>
            </a:endParaRPr>
          </a:p>
          <a:p>
            <a:pPr marL="342900" indent="-342900">
              <a:spcBef>
                <a:spcPct val="20000"/>
              </a:spcBef>
              <a:buClr>
                <a:schemeClr val="tx2"/>
              </a:buClr>
              <a:buFont typeface="Wingdings" charset="2"/>
              <a:buBlip>
                <a:blip r:embed="rId3"/>
              </a:buBlip>
            </a:pPr>
            <a:endParaRPr lang="en-US" sz="2400" dirty="0">
              <a:solidFill>
                <a:srgbClr val="5400A8"/>
              </a:solidFill>
              <a:latin typeface="Tahoma" charset="0"/>
            </a:endParaRPr>
          </a:p>
        </p:txBody>
      </p:sp>
      <p:sp>
        <p:nvSpPr>
          <p:cNvPr id="77829" name="Rectangle 4"/>
          <p:cNvSpPr>
            <a:spLocks noGrp="1" noChangeArrowheads="1"/>
          </p:cNvSpPr>
          <p:nvPr>
            <p:ph type="title"/>
          </p:nvPr>
        </p:nvSpPr>
        <p:spPr/>
        <p:txBody>
          <a:bodyPr>
            <a:normAutofit fontScale="90000"/>
          </a:bodyPr>
          <a:lstStyle/>
          <a:p>
            <a:pPr eaLnBrk="1" hangingPunct="1"/>
            <a:r>
              <a:rPr lang="en-US"/>
              <a:t>Bigram model</a:t>
            </a:r>
          </a:p>
        </p:txBody>
      </p:sp>
      <p:sp>
        <p:nvSpPr>
          <p:cNvPr id="7" name="TextBox 6"/>
          <p:cNvSpPr txBox="1"/>
          <p:nvPr/>
        </p:nvSpPr>
        <p:spPr>
          <a:xfrm>
            <a:off x="228600" y="3734515"/>
            <a:ext cx="8610600" cy="2031325"/>
          </a:xfrm>
          <a:prstGeom prst="rect">
            <a:avLst/>
          </a:prstGeom>
          <a:noFill/>
        </p:spPr>
        <p:txBody>
          <a:bodyPr wrap="square" rtlCol="0">
            <a:spAutoFit/>
          </a:bodyPr>
          <a:lstStyle/>
          <a:p>
            <a:r>
              <a:rPr lang="en-US" sz="1800" dirty="0" err="1" smtClean="0">
                <a:latin typeface="Courier"/>
                <a:cs typeface="Courier"/>
              </a:rPr>
              <a:t>texaco</a:t>
            </a:r>
            <a:r>
              <a:rPr lang="en-US" sz="1800" dirty="0" smtClean="0">
                <a:latin typeface="Courier"/>
                <a:cs typeface="Courier"/>
              </a:rPr>
              <a:t> rose one in this issue is pursuing growth in a boiler house said </a:t>
            </a:r>
            <a:r>
              <a:rPr lang="en-US" sz="1800" dirty="0" err="1" smtClean="0">
                <a:latin typeface="Courier"/>
                <a:cs typeface="Courier"/>
              </a:rPr>
              <a:t>mr.</a:t>
            </a:r>
            <a:r>
              <a:rPr lang="en-US" sz="1800" dirty="0" smtClean="0">
                <a:latin typeface="Courier"/>
                <a:cs typeface="Courier"/>
              </a:rPr>
              <a:t> </a:t>
            </a:r>
            <a:r>
              <a:rPr lang="en-US" sz="1800" dirty="0" err="1" smtClean="0">
                <a:latin typeface="Courier"/>
                <a:cs typeface="Courier"/>
              </a:rPr>
              <a:t>gurria</a:t>
            </a:r>
            <a:r>
              <a:rPr lang="en-US" sz="1800" dirty="0" smtClean="0">
                <a:latin typeface="Courier"/>
                <a:cs typeface="Courier"/>
              </a:rPr>
              <a:t> </a:t>
            </a:r>
            <a:r>
              <a:rPr lang="en-US" sz="1800" dirty="0" err="1" smtClean="0">
                <a:latin typeface="Courier"/>
                <a:cs typeface="Courier"/>
              </a:rPr>
              <a:t>mexico</a:t>
            </a:r>
            <a:r>
              <a:rPr lang="en-US" sz="1800" dirty="0" smtClean="0">
                <a:latin typeface="Courier"/>
                <a:cs typeface="Courier"/>
              </a:rPr>
              <a:t> ’s motion control proposal without permission from five hundred fifty five yen</a:t>
            </a:r>
          </a:p>
          <a:p>
            <a:endParaRPr lang="en-US" sz="1800" dirty="0" smtClean="0">
              <a:latin typeface="Courier"/>
              <a:cs typeface="Courier"/>
            </a:endParaRPr>
          </a:p>
          <a:p>
            <a:r>
              <a:rPr lang="en-US" sz="1800" dirty="0" smtClean="0">
                <a:latin typeface="Courier"/>
                <a:cs typeface="Courier"/>
              </a:rPr>
              <a:t>outside new car parking lot of the agreement reached</a:t>
            </a:r>
          </a:p>
          <a:p>
            <a:endParaRPr lang="en-US" sz="1800" dirty="0" smtClean="0">
              <a:latin typeface="Courier"/>
              <a:cs typeface="Courier"/>
            </a:endParaRPr>
          </a:p>
          <a:p>
            <a:r>
              <a:rPr lang="en-US" sz="1800" dirty="0" smtClean="0">
                <a:latin typeface="Courier"/>
                <a:cs typeface="Courier"/>
              </a:rPr>
              <a:t>this would be a record </a:t>
            </a:r>
            <a:r>
              <a:rPr lang="en-US" sz="1800" dirty="0" err="1" smtClean="0">
                <a:latin typeface="Courier"/>
                <a:cs typeface="Courier"/>
              </a:rPr>
              <a:t>november</a:t>
            </a:r>
            <a:endParaRPr lang="en-US" sz="1800" dirty="0">
              <a:latin typeface="Courier"/>
              <a:cs typeface="Courier"/>
            </a:endParaRPr>
          </a:p>
        </p:txBody>
      </p:sp>
      <p:sp>
        <p:nvSpPr>
          <p:cNvPr id="8" name="Content Placeholder 2"/>
          <p:cNvSpPr txBox="1">
            <a:spLocks/>
          </p:cNvSpPr>
          <p:nvPr/>
        </p:nvSpPr>
        <p:spPr>
          <a:xfrm>
            <a:off x="7814471" y="6403973"/>
            <a:ext cx="1329529" cy="454027"/>
          </a:xfrm>
          <a:prstGeom prst="rect">
            <a:avLst/>
          </a:prstGeom>
          <a:solidFill>
            <a:schemeClr val="bg1"/>
          </a:solidFill>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1600" dirty="0" smtClean="0">
                <a:solidFill>
                  <a:srgbClr val="288CD2"/>
                </a:solidFill>
              </a:rPr>
              <a:t>J&amp;M/SLP3</a:t>
            </a:r>
          </a:p>
        </p:txBody>
      </p:sp>
      <p:sp>
        <p:nvSpPr>
          <p:cNvPr id="9" name="TextBox 8"/>
          <p:cNvSpPr txBox="1"/>
          <p:nvPr/>
        </p:nvSpPr>
        <p:spPr>
          <a:xfrm>
            <a:off x="228600" y="2997120"/>
            <a:ext cx="6157856" cy="400110"/>
          </a:xfrm>
          <a:prstGeom prst="rect">
            <a:avLst/>
          </a:prstGeom>
          <a:noFill/>
        </p:spPr>
        <p:txBody>
          <a:bodyPr wrap="none" rtlCol="0">
            <a:spAutoFit/>
          </a:bodyPr>
          <a:lstStyle/>
          <a:p>
            <a:r>
              <a:rPr lang="en-US" sz="2000" dirty="0" smtClean="0">
                <a:latin typeface="Calibri"/>
                <a:cs typeface="Calibri"/>
              </a:rPr>
              <a:t>automatically </a:t>
            </a:r>
            <a:r>
              <a:rPr lang="en-US" sz="2000" dirty="0">
                <a:latin typeface="Calibri"/>
                <a:cs typeface="Calibri"/>
              </a:rPr>
              <a:t>generated sentences from a </a:t>
            </a:r>
            <a:r>
              <a:rPr lang="en-US" sz="2000" dirty="0" smtClean="0">
                <a:latin typeface="Calibri"/>
                <a:cs typeface="Calibri"/>
              </a:rPr>
              <a:t>bigram model:</a:t>
            </a:r>
            <a:endParaRPr lang="en-US" sz="2000" dirty="0">
              <a:latin typeface="Calibri"/>
              <a:cs typeface="Calibri"/>
            </a:endParaRPr>
          </a:p>
        </p:txBody>
      </p:sp>
      <p:pic>
        <p:nvPicPr>
          <p:cNvPr id="2" name="Picture 1"/>
          <p:cNvPicPr>
            <a:picLocks noChangeAspect="1"/>
          </p:cNvPicPr>
          <p:nvPr/>
        </p:nvPicPr>
        <p:blipFill>
          <a:blip r:embed="rId4"/>
          <a:stretch>
            <a:fillRect/>
          </a:stretch>
        </p:blipFill>
        <p:spPr>
          <a:xfrm>
            <a:off x="906724" y="1892690"/>
            <a:ext cx="6907747" cy="986821"/>
          </a:xfrm>
          <a:prstGeom prst="rect">
            <a:avLst/>
          </a:prstGeom>
        </p:spPr>
      </p:pic>
    </p:spTree>
    <p:extLst>
      <p:ext uri="{BB962C8B-B14F-4D97-AF65-F5344CB8AC3E}">
        <p14:creationId xmlns:p14="http://schemas.microsoft.com/office/powerpoint/2010/main" val="1628397163"/>
      </p:ext>
    </p:extLst>
  </p:cSld>
  <p:clrMapOvr>
    <a:masterClrMapping/>
  </p:clrMapOvr>
  <p:timing>
    <p:tnLst>
      <p:par>
        <p:cTn xmlns:p14="http://schemas.microsoft.com/office/powerpoint/2010/mai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9" name="Rectangle 4"/>
          <p:cNvSpPr>
            <a:spLocks noGrp="1" noChangeArrowheads="1"/>
          </p:cNvSpPr>
          <p:nvPr>
            <p:ph type="title"/>
          </p:nvPr>
        </p:nvSpPr>
        <p:spPr/>
        <p:txBody>
          <a:bodyPr>
            <a:normAutofit fontScale="90000"/>
          </a:bodyPr>
          <a:lstStyle/>
          <a:p>
            <a:r>
              <a:rPr lang="en-US" dirty="0"/>
              <a:t>n</a:t>
            </a:r>
            <a:r>
              <a:rPr lang="en-US" dirty="0" smtClean="0"/>
              <a:t>-gram models</a:t>
            </a:r>
            <a:endParaRPr lang="en-US" dirty="0"/>
          </a:p>
        </p:txBody>
      </p:sp>
      <p:sp>
        <p:nvSpPr>
          <p:cNvPr id="2" name="Content Placeholder 1"/>
          <p:cNvSpPr>
            <a:spLocks noGrp="1"/>
          </p:cNvSpPr>
          <p:nvPr>
            <p:ph idx="1"/>
          </p:nvPr>
        </p:nvSpPr>
        <p:spPr>
          <a:xfrm>
            <a:off x="304800" y="1803400"/>
            <a:ext cx="8534400" cy="4876800"/>
          </a:xfrm>
        </p:spPr>
        <p:txBody>
          <a:bodyPr/>
          <a:lstStyle/>
          <a:p>
            <a:r>
              <a:rPr lang="en-US" sz="2800" dirty="0"/>
              <a:t>w</a:t>
            </a:r>
            <a:r>
              <a:rPr lang="en-US" sz="2800" dirty="0" smtClean="0"/>
              <a:t>e can extend to trigrams, 4-grams, 5-grams</a:t>
            </a:r>
          </a:p>
          <a:p>
            <a:r>
              <a:rPr lang="en-US" sz="2800" dirty="0"/>
              <a:t>i</a:t>
            </a:r>
            <a:r>
              <a:rPr lang="en-US" sz="2800" dirty="0" smtClean="0"/>
              <a:t>n general this is an insufficient model of language</a:t>
            </a:r>
          </a:p>
          <a:p>
            <a:pPr lvl="1"/>
            <a:r>
              <a:rPr lang="en-US" sz="2400" dirty="0" smtClean="0"/>
              <a:t>because language has </a:t>
            </a:r>
            <a:r>
              <a:rPr lang="en-US" sz="2400" b="1" dirty="0" smtClean="0">
                <a:solidFill>
                  <a:srgbClr val="288CD2"/>
                </a:solidFill>
              </a:rPr>
              <a:t>long-distance dependencies</a:t>
            </a:r>
            <a:r>
              <a:rPr lang="en-US" sz="2400" dirty="0" smtClean="0"/>
              <a:t>:</a:t>
            </a:r>
          </a:p>
          <a:p>
            <a:pPr marL="457200" lvl="1" indent="0">
              <a:buNone/>
            </a:pPr>
            <a:endParaRPr lang="en-US" sz="800" dirty="0"/>
          </a:p>
          <a:p>
            <a:pPr marL="457200" lvl="1" indent="0">
              <a:buNone/>
            </a:pPr>
            <a:r>
              <a:rPr lang="en-US" sz="2400" dirty="0" smtClean="0"/>
              <a:t>“</a:t>
            </a:r>
            <a:r>
              <a:rPr lang="en-US" sz="2400" i="1" dirty="0" smtClean="0"/>
              <a:t>The computer which I had just put into the machine room on the fifth floor crashed.</a:t>
            </a:r>
            <a:r>
              <a:rPr lang="en-US" sz="2400" dirty="0" smtClean="0"/>
              <a:t>”</a:t>
            </a:r>
          </a:p>
          <a:p>
            <a:pPr lvl="1"/>
            <a:endParaRPr lang="en-US" sz="800" dirty="0" smtClean="0"/>
          </a:p>
          <a:p>
            <a:r>
              <a:rPr lang="en-US" sz="2800" dirty="0" smtClean="0"/>
              <a:t>but we can often get away with n-gram models</a:t>
            </a:r>
            <a:endParaRPr lang="en-US" sz="2800" dirty="0"/>
          </a:p>
        </p:txBody>
      </p:sp>
      <p:sp>
        <p:nvSpPr>
          <p:cNvPr id="4" name="Content Placeholder 2"/>
          <p:cNvSpPr txBox="1">
            <a:spLocks/>
          </p:cNvSpPr>
          <p:nvPr/>
        </p:nvSpPr>
        <p:spPr>
          <a:xfrm>
            <a:off x="7814471" y="6403973"/>
            <a:ext cx="1329529" cy="454027"/>
          </a:xfrm>
          <a:prstGeom prst="rect">
            <a:avLst/>
          </a:prstGeom>
          <a:solidFill>
            <a:schemeClr val="bg1"/>
          </a:solidFill>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1600" dirty="0" smtClean="0">
                <a:solidFill>
                  <a:srgbClr val="288CD2"/>
                </a:solidFill>
              </a:rPr>
              <a:t>J&amp;M/SLP3</a:t>
            </a:r>
          </a:p>
        </p:txBody>
      </p:sp>
    </p:spTree>
    <p:extLst>
      <p:ext uri="{BB962C8B-B14F-4D97-AF65-F5344CB8AC3E}">
        <p14:creationId xmlns:p14="http://schemas.microsoft.com/office/powerpoint/2010/main" val="231541310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41515</TotalTime>
  <Words>2249</Words>
  <Application>Microsoft Macintosh PowerPoint</Application>
  <PresentationFormat>On-screen Show (4:3)</PresentationFormat>
  <Paragraphs>461</Paragraphs>
  <Slides>68</Slides>
  <Notes>23</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68</vt:i4>
      </vt:variant>
    </vt:vector>
  </HeadingPairs>
  <TitlesOfParts>
    <vt:vector size="70" baseType="lpstr">
      <vt:lpstr>Office Theme</vt:lpstr>
      <vt:lpstr>Equation</vt:lpstr>
      <vt:lpstr>TTIC 31190: Natural Language Processing</vt:lpstr>
      <vt:lpstr>PowerPoint Presentation</vt:lpstr>
      <vt:lpstr>PowerPoint Presentation</vt:lpstr>
      <vt:lpstr>PowerPoint Presentation</vt:lpstr>
      <vt:lpstr>Roadmap</vt:lpstr>
      <vt:lpstr>Text Classification</vt:lpstr>
      <vt:lpstr>Classifiers</vt:lpstr>
      <vt:lpstr>Linear Models</vt:lpstr>
      <vt:lpstr>Modeling, Inference, Learning</vt:lpstr>
      <vt:lpstr>Regularized Empirical Risk Minimization</vt:lpstr>
      <vt:lpstr>Regularized Empirical Risk Minimization</vt:lpstr>
      <vt:lpstr>Visualization</vt:lpstr>
      <vt:lpstr>Visualization</vt:lpstr>
      <vt:lpstr>PowerPoint Presentation</vt:lpstr>
      <vt:lpstr>PowerPoint Presentation</vt:lpstr>
      <vt:lpstr>PowerPoint Presentation</vt:lpstr>
      <vt:lpstr>Visualization for a single x: each point is a possible y</vt:lpstr>
      <vt:lpstr>Visualization for a single x: each point is a possible y</vt:lpstr>
      <vt:lpstr>Visualization for a single x: each point is a possible y</vt:lpstr>
      <vt:lpstr>PowerPoint Presentation</vt:lpstr>
      <vt:lpstr>PowerPoint Presentation</vt:lpstr>
      <vt:lpstr>PowerPoint Presentation</vt:lpstr>
      <vt:lpstr>PowerPoint Presentation</vt:lpstr>
      <vt:lpstr>Perceptron Loss?</vt:lpstr>
      <vt:lpstr>Perceptron Loss</vt:lpstr>
      <vt:lpstr>Losses for Linear Models</vt:lpstr>
      <vt:lpstr>Losses for Linear Models</vt:lpstr>
      <vt:lpstr>Loss Subgradients for Linear Models</vt:lpstr>
      <vt:lpstr>Loss Subgradients for Linear Models</vt:lpstr>
      <vt:lpstr>Loss Subgradients for Linear Models</vt:lpstr>
      <vt:lpstr>Loss Subgradients for Linear Models</vt:lpstr>
      <vt:lpstr>Loss Subgradients for Linear Models</vt:lpstr>
      <vt:lpstr>Loss Subgradients for Linear Models</vt:lpstr>
      <vt:lpstr>Loss Subgradients for Linear Models</vt:lpstr>
      <vt:lpstr>Loss Subgradients for Linear Models</vt:lpstr>
      <vt:lpstr>Loss Subgradients for Linear Models</vt:lpstr>
      <vt:lpstr>Perceptron Loss with Regularization</vt:lpstr>
      <vt:lpstr>Perceptron Loss with Regularization</vt:lpstr>
      <vt:lpstr>Perceptron Loss with Regularization</vt:lpstr>
      <vt:lpstr>PowerPoint Presentation</vt:lpstr>
      <vt:lpstr>PowerPoint Presentation</vt:lpstr>
      <vt:lpstr>PowerPoint Presentation</vt:lpstr>
      <vt:lpstr>PowerPoint Presentation</vt:lpstr>
      <vt:lpstr>Perceptron Loss</vt:lpstr>
      <vt:lpstr>Hinge Loss?</vt:lpstr>
      <vt:lpstr>Hinge Loss</vt:lpstr>
      <vt:lpstr>Perception  Hinge</vt:lpstr>
      <vt:lpstr>Loss Subgradients for Linear Models</vt:lpstr>
      <vt:lpstr>Loss Subgradients for Linear Models</vt:lpstr>
      <vt:lpstr>Loss Subgradients for Linear Models</vt:lpstr>
      <vt:lpstr>Feature count cut-off of zero?</vt:lpstr>
      <vt:lpstr>Feature count cut-off of zero?</vt:lpstr>
      <vt:lpstr>Roadmap</vt:lpstr>
      <vt:lpstr>Probabilistic Language Models</vt:lpstr>
      <vt:lpstr>Automatic Completion</vt:lpstr>
      <vt:lpstr>Automatic Completion</vt:lpstr>
      <vt:lpstr>PowerPoint Presentation</vt:lpstr>
      <vt:lpstr>Language Modeling for Machine Translation</vt:lpstr>
      <vt:lpstr>Probabilistic Language Modeling</vt:lpstr>
      <vt:lpstr>How to compute        a</vt:lpstr>
      <vt:lpstr>Reminder: Chain Rule</vt:lpstr>
      <vt:lpstr>Chain Rule for computing joint probability of words in sentence</vt:lpstr>
      <vt:lpstr>How to estimate these probabilities</vt:lpstr>
      <vt:lpstr>Markov Assumption</vt:lpstr>
      <vt:lpstr>Markov Assumption</vt:lpstr>
      <vt:lpstr>Simplest case: Unigram model</vt:lpstr>
      <vt:lpstr>Bigram model</vt:lpstr>
      <vt:lpstr>n-gram models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TTIC 31190: Natural Language Processing</dc:title>
  <dc:creator>Kevin Gimpel</dc:creator>
  <cp:lastModifiedBy>Kevin</cp:lastModifiedBy>
  <cp:revision>536</cp:revision>
  <dcterms:created xsi:type="dcterms:W3CDTF">2015-08-31T18:15:35Z</dcterms:created>
  <dcterms:modified xsi:type="dcterms:W3CDTF">2018-04-11T22:06:22Z</dcterms:modified>
</cp:coreProperties>
</file>