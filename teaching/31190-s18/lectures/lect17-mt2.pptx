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6"/>
  </p:notesMasterIdLst>
  <p:handoutMasterIdLst>
    <p:handoutMasterId r:id="rId87"/>
  </p:handoutMasterIdLst>
  <p:sldIdLst>
    <p:sldId id="256" r:id="rId2"/>
    <p:sldId id="1899" r:id="rId3"/>
    <p:sldId id="1936" r:id="rId4"/>
    <p:sldId id="1937" r:id="rId5"/>
    <p:sldId id="1938" r:id="rId6"/>
    <p:sldId id="1939" r:id="rId7"/>
    <p:sldId id="1940" r:id="rId8"/>
    <p:sldId id="1941" r:id="rId9"/>
    <p:sldId id="1942" r:id="rId10"/>
    <p:sldId id="1943" r:id="rId11"/>
    <p:sldId id="1944" r:id="rId12"/>
    <p:sldId id="1945" r:id="rId13"/>
    <p:sldId id="1946" r:id="rId14"/>
    <p:sldId id="1860" r:id="rId15"/>
    <p:sldId id="1861" r:id="rId16"/>
    <p:sldId id="1862" r:id="rId17"/>
    <p:sldId id="1863" r:id="rId18"/>
    <p:sldId id="1864" r:id="rId19"/>
    <p:sldId id="1865" r:id="rId20"/>
    <p:sldId id="1866" r:id="rId21"/>
    <p:sldId id="1867" r:id="rId22"/>
    <p:sldId id="1868" r:id="rId23"/>
    <p:sldId id="1870" r:id="rId24"/>
    <p:sldId id="1764" r:id="rId25"/>
    <p:sldId id="1765" r:id="rId26"/>
    <p:sldId id="1767" r:id="rId27"/>
    <p:sldId id="1534" r:id="rId28"/>
    <p:sldId id="1535" r:id="rId29"/>
    <p:sldId id="1771" r:id="rId30"/>
    <p:sldId id="1769" r:id="rId31"/>
    <p:sldId id="1772" r:id="rId32"/>
    <p:sldId id="1897" r:id="rId33"/>
    <p:sldId id="1898" r:id="rId34"/>
    <p:sldId id="1831" r:id="rId35"/>
    <p:sldId id="1828" r:id="rId36"/>
    <p:sldId id="1779" r:id="rId37"/>
    <p:sldId id="1780" r:id="rId38"/>
    <p:sldId id="1781" r:id="rId39"/>
    <p:sldId id="1782" r:id="rId40"/>
    <p:sldId id="1783" r:id="rId41"/>
    <p:sldId id="1784" r:id="rId42"/>
    <p:sldId id="1785" r:id="rId43"/>
    <p:sldId id="1786" r:id="rId44"/>
    <p:sldId id="1787" r:id="rId45"/>
    <p:sldId id="1788" r:id="rId46"/>
    <p:sldId id="1789" r:id="rId47"/>
    <p:sldId id="1790" r:id="rId48"/>
    <p:sldId id="1791" r:id="rId49"/>
    <p:sldId id="1792" r:id="rId50"/>
    <p:sldId id="1847" r:id="rId51"/>
    <p:sldId id="1848" r:id="rId52"/>
    <p:sldId id="1545" r:id="rId53"/>
    <p:sldId id="1546" r:id="rId54"/>
    <p:sldId id="1547" r:id="rId55"/>
    <p:sldId id="1548" r:id="rId56"/>
    <p:sldId id="1849" r:id="rId57"/>
    <p:sldId id="1850" r:id="rId58"/>
    <p:sldId id="1851" r:id="rId59"/>
    <p:sldId id="1852" r:id="rId60"/>
    <p:sldId id="1853" r:id="rId61"/>
    <p:sldId id="1854" r:id="rId62"/>
    <p:sldId id="1855" r:id="rId63"/>
    <p:sldId id="1549" r:id="rId64"/>
    <p:sldId id="1947" r:id="rId65"/>
    <p:sldId id="1555" r:id="rId66"/>
    <p:sldId id="1856" r:id="rId67"/>
    <p:sldId id="2008" r:id="rId68"/>
    <p:sldId id="2009" r:id="rId69"/>
    <p:sldId id="1965" r:id="rId70"/>
    <p:sldId id="1966" r:id="rId71"/>
    <p:sldId id="1967" r:id="rId72"/>
    <p:sldId id="1968" r:id="rId73"/>
    <p:sldId id="1969" r:id="rId74"/>
    <p:sldId id="1970" r:id="rId75"/>
    <p:sldId id="1971" r:id="rId76"/>
    <p:sldId id="1972" r:id="rId77"/>
    <p:sldId id="1978" r:id="rId78"/>
    <p:sldId id="1979" r:id="rId79"/>
    <p:sldId id="1980" r:id="rId80"/>
    <p:sldId id="1981" r:id="rId81"/>
    <p:sldId id="1982" r:id="rId82"/>
    <p:sldId id="1983" r:id="rId83"/>
    <p:sldId id="1984" r:id="rId84"/>
    <p:sldId id="1985" r:id="rId8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4E80BB"/>
    <a:srgbClr val="288CD2"/>
    <a:srgbClr val="BC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2483" autoAdjust="0"/>
  </p:normalViewPr>
  <p:slideViewPr>
    <p:cSldViewPr snapToGrid="0" snapToObjects="1">
      <p:cViewPr>
        <p:scale>
          <a:sx n="125" d="100"/>
          <a:sy n="125" d="100"/>
        </p:scale>
        <p:origin x="-2600"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90" Type="http://schemas.openxmlformats.org/officeDocument/2006/relationships/viewProps" Target="viewProps.xml"/><Relationship Id="rId91" Type="http://schemas.openxmlformats.org/officeDocument/2006/relationships/theme" Target="theme/theme1.xml"/><Relationship Id="rId92"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notesMaster" Target="notesMasters/notesMaster1.xml"/><Relationship Id="rId87" Type="http://schemas.openxmlformats.org/officeDocument/2006/relationships/handoutMaster" Target="handoutMasters/handoutMaster1.xml"/><Relationship Id="rId88" Type="http://schemas.openxmlformats.org/officeDocument/2006/relationships/printerSettings" Target="printerSettings/printerSettings1.bin"/><Relationship Id="rId8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8664593-8E4E-8747-9BDB-DA84BDED518C}" type="datetime1">
              <a:rPr lang="en-US" smtClean="0"/>
              <a:t>5/29/18</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02E5790-10E5-C04B-864A-21F4E57B9FCF}" type="slidenum">
              <a:rPr lang="en-US" smtClean="0"/>
              <a:t>‹#›</a:t>
            </a:fld>
            <a:endParaRPr lang="en-US"/>
          </a:p>
        </p:txBody>
      </p:sp>
    </p:spTree>
    <p:extLst>
      <p:ext uri="{BB962C8B-B14F-4D97-AF65-F5344CB8AC3E}">
        <p14:creationId xmlns:p14="http://schemas.microsoft.com/office/powerpoint/2010/main" val="132104023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AA541DB-7577-ED4C-AF0A-388D8C680A39}" type="datetime1">
              <a:rPr lang="en-US" smtClean="0"/>
              <a:t>5/29/18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91B48C7-8E5C-9640-8445-8A9544EEA549}" type="slidenum">
              <a:rPr lang="en-US" smtClean="0"/>
              <a:t>‹#›</a:t>
            </a:fld>
            <a:endParaRPr lang="en-US"/>
          </a:p>
        </p:txBody>
      </p:sp>
    </p:spTree>
    <p:extLst>
      <p:ext uri="{BB962C8B-B14F-4D97-AF65-F5344CB8AC3E}">
        <p14:creationId xmlns:p14="http://schemas.microsoft.com/office/powerpoint/2010/main" val="3819633048"/>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ea typeface="ＭＳ Ｐゴシック" charset="0"/>
              </a:defRPr>
            </a:lvl1pPr>
            <a:lvl2pPr marL="742950" indent="-285750" defTabSz="966788" eaLnBrk="0" hangingPunct="0">
              <a:defRPr>
                <a:solidFill>
                  <a:schemeClr val="tx1"/>
                </a:solidFill>
                <a:latin typeface="Arial" charset="0"/>
                <a:ea typeface="ＭＳ Ｐゴシック" charset="0"/>
              </a:defRPr>
            </a:lvl2pPr>
            <a:lvl3pPr marL="1143000" indent="-228600" defTabSz="966788" eaLnBrk="0" hangingPunct="0">
              <a:defRPr>
                <a:solidFill>
                  <a:schemeClr val="tx1"/>
                </a:solidFill>
                <a:latin typeface="Arial" charset="0"/>
                <a:ea typeface="ＭＳ Ｐゴシック" charset="0"/>
              </a:defRPr>
            </a:lvl3pPr>
            <a:lvl4pPr marL="1600200" indent="-228600" defTabSz="966788" eaLnBrk="0" hangingPunct="0">
              <a:defRPr>
                <a:solidFill>
                  <a:schemeClr val="tx1"/>
                </a:solidFill>
                <a:latin typeface="Arial" charset="0"/>
                <a:ea typeface="ＭＳ Ｐゴシック" charset="0"/>
              </a:defRPr>
            </a:lvl4pPr>
            <a:lvl5pPr marL="2057400" indent="-228600" defTabSz="966788" eaLnBrk="0" hangingPunct="0">
              <a:defRPr>
                <a:solidFill>
                  <a:schemeClr val="tx1"/>
                </a:solidFill>
                <a:latin typeface="Arial" charset="0"/>
                <a:ea typeface="ＭＳ Ｐゴシック" charset="0"/>
              </a:defRPr>
            </a:lvl5pPr>
            <a:lvl6pPr marL="2514600" indent="-228600" defTabSz="966788" eaLnBrk="0" fontAlgn="base" hangingPunct="0">
              <a:spcBef>
                <a:spcPct val="0"/>
              </a:spcBef>
              <a:spcAft>
                <a:spcPct val="0"/>
              </a:spcAft>
              <a:defRPr>
                <a:solidFill>
                  <a:schemeClr val="tx1"/>
                </a:solidFill>
                <a:latin typeface="Arial" charset="0"/>
                <a:ea typeface="ＭＳ Ｐゴシック" charset="0"/>
              </a:defRPr>
            </a:lvl6pPr>
            <a:lvl7pPr marL="2971800" indent="-228600" defTabSz="966788" eaLnBrk="0" fontAlgn="base" hangingPunct="0">
              <a:spcBef>
                <a:spcPct val="0"/>
              </a:spcBef>
              <a:spcAft>
                <a:spcPct val="0"/>
              </a:spcAft>
              <a:defRPr>
                <a:solidFill>
                  <a:schemeClr val="tx1"/>
                </a:solidFill>
                <a:latin typeface="Arial" charset="0"/>
                <a:ea typeface="ＭＳ Ｐゴシック" charset="0"/>
              </a:defRPr>
            </a:lvl7pPr>
            <a:lvl8pPr marL="3429000" indent="-228600" defTabSz="966788" eaLnBrk="0" fontAlgn="base" hangingPunct="0">
              <a:spcBef>
                <a:spcPct val="0"/>
              </a:spcBef>
              <a:spcAft>
                <a:spcPct val="0"/>
              </a:spcAft>
              <a:defRPr>
                <a:solidFill>
                  <a:schemeClr val="tx1"/>
                </a:solidFill>
                <a:latin typeface="Arial" charset="0"/>
                <a:ea typeface="ＭＳ Ｐゴシック" charset="0"/>
              </a:defRPr>
            </a:lvl8pPr>
            <a:lvl9pPr marL="3886200" indent="-228600" defTabSz="966788"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03B1042D-CD38-D443-ADD8-A87B93CB76EE}" type="slidenum">
              <a:rPr lang="en-US"/>
              <a:pPr eaLnBrk="1" hangingPunct="1"/>
              <a:t>10</a:t>
            </a:fld>
            <a:endParaRPr lang="en-US"/>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a:lstStyle/>
          <a:p>
            <a:pPr eaLnBrk="1" hangingPunct="1"/>
            <a:endParaRPr lang="en-US"/>
          </a:p>
        </p:txBody>
      </p:sp>
    </p:spTree>
    <p:extLst>
      <p:ext uri="{BB962C8B-B14F-4D97-AF65-F5344CB8AC3E}">
        <p14:creationId xmlns:p14="http://schemas.microsoft.com/office/powerpoint/2010/main" val="1679229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0162C478-CBED-6642-B86D-D1A06473D583}" type="slidenum">
              <a:rPr lang="en-US" altLang="en-US"/>
              <a:pPr eaLnBrk="1" hangingPunct="1"/>
              <a:t>11</a:t>
            </a:fld>
            <a:endParaRPr lang="en-US" alt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a:lstStyle/>
          <a:p>
            <a:pPr eaLnBrk="1" hangingPunct="1"/>
            <a:endParaRPr lang="en-US" altLang="en-US"/>
          </a:p>
        </p:txBody>
      </p:sp>
    </p:spTree>
    <p:extLst>
      <p:ext uri="{BB962C8B-B14F-4D97-AF65-F5344CB8AC3E}">
        <p14:creationId xmlns:p14="http://schemas.microsoft.com/office/powerpoint/2010/main" val="1322477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D70FB7BB-13F6-1145-A06A-9B9C5BC6BCBD}" type="slidenum">
              <a:rPr lang="en-US" altLang="en-US"/>
              <a:pPr eaLnBrk="1" hangingPunct="1"/>
              <a:t>12</a:t>
            </a:fld>
            <a:endParaRPr lang="en-US" alt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a:lstStyle/>
          <a:p>
            <a:pPr eaLnBrk="1" hangingPunct="1"/>
            <a:endParaRPr lang="en-US" altLang="en-US"/>
          </a:p>
        </p:txBody>
      </p:sp>
    </p:spTree>
    <p:extLst>
      <p:ext uri="{BB962C8B-B14F-4D97-AF65-F5344CB8AC3E}">
        <p14:creationId xmlns:p14="http://schemas.microsoft.com/office/powerpoint/2010/main" val="695045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66788" eaLnBrk="0" hangingPunct="0">
              <a:defRPr>
                <a:solidFill>
                  <a:schemeClr val="tx1"/>
                </a:solidFill>
                <a:latin typeface="Arial" charset="0"/>
              </a:defRPr>
            </a:lvl1pPr>
            <a:lvl2pPr marL="742950" indent="-285750" defTabSz="966788" eaLnBrk="0" hangingPunct="0">
              <a:defRPr>
                <a:solidFill>
                  <a:schemeClr val="tx1"/>
                </a:solidFill>
                <a:latin typeface="Arial" charset="0"/>
              </a:defRPr>
            </a:lvl2pPr>
            <a:lvl3pPr marL="1143000" indent="-228600" defTabSz="966788" eaLnBrk="0" hangingPunct="0">
              <a:defRPr>
                <a:solidFill>
                  <a:schemeClr val="tx1"/>
                </a:solidFill>
                <a:latin typeface="Arial" charset="0"/>
              </a:defRPr>
            </a:lvl3pPr>
            <a:lvl4pPr marL="1600200" indent="-228600" defTabSz="966788" eaLnBrk="0" hangingPunct="0">
              <a:defRPr>
                <a:solidFill>
                  <a:schemeClr val="tx1"/>
                </a:solidFill>
                <a:latin typeface="Arial" charset="0"/>
              </a:defRPr>
            </a:lvl4pPr>
            <a:lvl5pPr marL="2057400" indent="-228600" defTabSz="966788" eaLnBrk="0" hangingPunct="0">
              <a:defRPr>
                <a:solidFill>
                  <a:schemeClr val="tx1"/>
                </a:solidFill>
                <a:latin typeface="Arial" charset="0"/>
              </a:defRPr>
            </a:lvl5pPr>
            <a:lvl6pPr marL="2514600" indent="-228600" defTabSz="966788" eaLnBrk="0" fontAlgn="base" hangingPunct="0">
              <a:spcBef>
                <a:spcPct val="0"/>
              </a:spcBef>
              <a:spcAft>
                <a:spcPct val="0"/>
              </a:spcAft>
              <a:defRPr>
                <a:solidFill>
                  <a:schemeClr val="tx1"/>
                </a:solidFill>
                <a:latin typeface="Arial" charset="0"/>
              </a:defRPr>
            </a:lvl6pPr>
            <a:lvl7pPr marL="2971800" indent="-228600" defTabSz="966788" eaLnBrk="0" fontAlgn="base" hangingPunct="0">
              <a:spcBef>
                <a:spcPct val="0"/>
              </a:spcBef>
              <a:spcAft>
                <a:spcPct val="0"/>
              </a:spcAft>
              <a:defRPr>
                <a:solidFill>
                  <a:schemeClr val="tx1"/>
                </a:solidFill>
                <a:latin typeface="Arial" charset="0"/>
              </a:defRPr>
            </a:lvl7pPr>
            <a:lvl8pPr marL="3429000" indent="-228600" defTabSz="966788" eaLnBrk="0" fontAlgn="base" hangingPunct="0">
              <a:spcBef>
                <a:spcPct val="0"/>
              </a:spcBef>
              <a:spcAft>
                <a:spcPct val="0"/>
              </a:spcAft>
              <a:defRPr>
                <a:solidFill>
                  <a:schemeClr val="tx1"/>
                </a:solidFill>
                <a:latin typeface="Arial" charset="0"/>
              </a:defRPr>
            </a:lvl8pPr>
            <a:lvl9pPr marL="3886200" indent="-228600" defTabSz="966788" eaLnBrk="0" fontAlgn="base" hangingPunct="0">
              <a:spcBef>
                <a:spcPct val="0"/>
              </a:spcBef>
              <a:spcAft>
                <a:spcPct val="0"/>
              </a:spcAft>
              <a:defRPr>
                <a:solidFill>
                  <a:schemeClr val="tx1"/>
                </a:solidFill>
                <a:latin typeface="Arial" charset="0"/>
              </a:defRPr>
            </a:lvl9pPr>
          </a:lstStyle>
          <a:p>
            <a:pPr eaLnBrk="1" hangingPunct="1"/>
            <a:fld id="{D70FB7BB-13F6-1145-A06A-9B9C5BC6BCBD}" type="slidenum">
              <a:rPr lang="en-US" altLang="en-US"/>
              <a:pPr eaLnBrk="1" hangingPunct="1"/>
              <a:t>13</a:t>
            </a:fld>
            <a:endParaRPr lang="en-US" alt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val="1"/>
            </a:ext>
          </a:extLst>
        </p:spPr>
        <p:txBody>
          <a:bodyPr/>
          <a:lstStyle/>
          <a:p>
            <a:pPr eaLnBrk="1" hangingPunct="1"/>
            <a:endParaRPr lang="en-US" altLang="en-US"/>
          </a:p>
        </p:txBody>
      </p:sp>
    </p:spTree>
    <p:extLst>
      <p:ext uri="{BB962C8B-B14F-4D97-AF65-F5344CB8AC3E}">
        <p14:creationId xmlns:p14="http://schemas.microsoft.com/office/powerpoint/2010/main" val="695045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23</a:t>
            </a:fld>
            <a:endParaRPr lang="en-US"/>
          </a:p>
        </p:txBody>
      </p:sp>
    </p:spTree>
    <p:extLst>
      <p:ext uri="{BB962C8B-B14F-4D97-AF65-F5344CB8AC3E}">
        <p14:creationId xmlns:p14="http://schemas.microsoft.com/office/powerpoint/2010/main" val="1252312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24</a:t>
            </a:fld>
            <a:endParaRPr lang="en-US"/>
          </a:p>
        </p:txBody>
      </p:sp>
    </p:spTree>
    <p:extLst>
      <p:ext uri="{BB962C8B-B14F-4D97-AF65-F5344CB8AC3E}">
        <p14:creationId xmlns:p14="http://schemas.microsoft.com/office/powerpoint/2010/main" val="1394575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25</a:t>
            </a:fld>
            <a:endParaRPr lang="en-US"/>
          </a:p>
        </p:txBody>
      </p:sp>
    </p:spTree>
    <p:extLst>
      <p:ext uri="{BB962C8B-B14F-4D97-AF65-F5344CB8AC3E}">
        <p14:creationId xmlns:p14="http://schemas.microsoft.com/office/powerpoint/2010/main" val="153390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26</a:t>
            </a:fld>
            <a:endParaRPr lang="en-US"/>
          </a:p>
        </p:txBody>
      </p:sp>
    </p:spTree>
    <p:extLst>
      <p:ext uri="{BB962C8B-B14F-4D97-AF65-F5344CB8AC3E}">
        <p14:creationId xmlns:p14="http://schemas.microsoft.com/office/powerpoint/2010/main" val="805153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27</a:t>
            </a:fld>
            <a:endParaRPr lang="en-US"/>
          </a:p>
        </p:txBody>
      </p:sp>
    </p:spTree>
    <p:extLst>
      <p:ext uri="{BB962C8B-B14F-4D97-AF65-F5344CB8AC3E}">
        <p14:creationId xmlns:p14="http://schemas.microsoft.com/office/powerpoint/2010/main" val="1369383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28</a:t>
            </a:fld>
            <a:endParaRPr lang="en-US"/>
          </a:p>
        </p:txBody>
      </p:sp>
    </p:spTree>
    <p:extLst>
      <p:ext uri="{BB962C8B-B14F-4D97-AF65-F5344CB8AC3E}">
        <p14:creationId xmlns:p14="http://schemas.microsoft.com/office/powerpoint/2010/main" val="1895453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Each circle is one translation, all are for a single </a:t>
            </a:r>
            <a:r>
              <a:rPr lang="en-US" baseline="0" dirty="0" smtClean="0"/>
              <a:t>input sentence in our training data.</a:t>
            </a:r>
          </a:p>
          <a:p>
            <a:r>
              <a:rPr lang="en-US" baseline="0" dirty="0" smtClean="0"/>
              <a:t>Horizontal bands correspond to different derivations of the same translation; same BLEU score, different model scores. </a:t>
            </a:r>
          </a:p>
          <a:p>
            <a:r>
              <a:rPr lang="en-US" baseline="0" dirty="0" smtClean="0"/>
              <a:t>Our MT system outputs the translation that is farthest to the right. By changing the weights of our model, we move translations left or right. We can’t move them up or down. </a:t>
            </a:r>
          </a:p>
          <a:p>
            <a:r>
              <a:rPr lang="en-US" baseline="0" dirty="0" smtClean="0"/>
              <a:t>The goal of training is to change the parameters so that, on average, our system’s predictions for all input sentences are translations with high BLEU scores.</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29</a:t>
            </a:fld>
            <a:endParaRPr lang="en-US"/>
          </a:p>
        </p:txBody>
      </p:sp>
    </p:spTree>
    <p:extLst>
      <p:ext uri="{BB962C8B-B14F-4D97-AF65-F5344CB8AC3E}">
        <p14:creationId xmlns:p14="http://schemas.microsoft.com/office/powerpoint/2010/main" val="1517784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30</a:t>
            </a:fld>
            <a:endParaRPr lang="en-US"/>
          </a:p>
        </p:txBody>
      </p:sp>
    </p:spTree>
    <p:extLst>
      <p:ext uri="{BB962C8B-B14F-4D97-AF65-F5344CB8AC3E}">
        <p14:creationId xmlns:p14="http://schemas.microsoft.com/office/powerpoint/2010/main" val="871283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Sharon's office said that, </a:t>
            </a:r>
            <a:r>
              <a:rPr lang="en-US" dirty="0" err="1" smtClean="0"/>
              <a:t>Mitzna</a:t>
            </a:r>
            <a:r>
              <a:rPr lang="en-US" dirty="0" smtClean="0"/>
              <a:t>, leader of the main opposition Labor Party, has conceded the election and telephoned Sharon for congratulation.	</a:t>
            </a:r>
          </a:p>
          <a:p>
            <a:r>
              <a:rPr lang="en-US" dirty="0" smtClean="0"/>
              <a:t>Sharon's office said, leader of the main opposition Labor Party recognized, and called the failure of Sharon's congratulations.</a:t>
            </a:r>
          </a:p>
          <a:p>
            <a:r>
              <a:rPr lang="en-US" dirty="0" smtClean="0"/>
              <a:t>Sharon's office said, leader of the main opposition Labor Party has admitted defeat and congratulatory call to Sharon.</a:t>
            </a:r>
          </a:p>
          <a:p>
            <a:r>
              <a:rPr lang="en-US" dirty="0" smtClean="0"/>
              <a:t>Sharon's office said, leader of the main opposition Labor Party has admitted defeat and congratulatory telephone calls to Sharon.</a:t>
            </a:r>
          </a:p>
          <a:p>
            <a:r>
              <a:rPr lang="en-US" dirty="0" smtClean="0"/>
              <a:t>According to a representative of Sharon's office, the leader of the main opposition Labor Party has admitted defeat and made the obligatory congratulating telephone call to Sharon.</a:t>
            </a:r>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31</a:t>
            </a:fld>
            <a:endParaRPr lang="en-US"/>
          </a:p>
        </p:txBody>
      </p:sp>
    </p:spTree>
    <p:extLst>
      <p:ext uri="{BB962C8B-B14F-4D97-AF65-F5344CB8AC3E}">
        <p14:creationId xmlns:p14="http://schemas.microsoft.com/office/powerpoint/2010/main" val="3379427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Sharon's office said that, </a:t>
            </a:r>
            <a:r>
              <a:rPr lang="en-US" dirty="0" err="1" smtClean="0"/>
              <a:t>Mitzna</a:t>
            </a:r>
            <a:r>
              <a:rPr lang="en-US" dirty="0" smtClean="0"/>
              <a:t>, leader of the main opposition Labor Party, has conceded the election and telephoned Sharon for congratulation.	</a:t>
            </a:r>
          </a:p>
          <a:p>
            <a:r>
              <a:rPr lang="en-US" dirty="0" smtClean="0"/>
              <a:t>Sharon's office said, leader of the main opposition Labor Party recognized, and called the failure of Sharon's congratulations.</a:t>
            </a:r>
          </a:p>
          <a:p>
            <a:r>
              <a:rPr lang="en-US" dirty="0" smtClean="0"/>
              <a:t>Sharon's office said, leader of the main opposition Labor Party has admitted defeat and congratulatory call to Sharon.</a:t>
            </a:r>
          </a:p>
          <a:p>
            <a:r>
              <a:rPr lang="en-US" dirty="0" smtClean="0"/>
              <a:t>Sharon's office said, leader of the main opposition Labor Party has admitted defeat and congratulatory telephone calls to Sharon.</a:t>
            </a:r>
          </a:p>
          <a:p>
            <a:r>
              <a:rPr lang="en-US" dirty="0" smtClean="0"/>
              <a:t>According to a representative of Sharon's office, the leader of the main opposition Labor Party has admitted defeat and made the obligatory congratulating telephone call to Sharon.</a:t>
            </a:r>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32</a:t>
            </a:fld>
            <a:endParaRPr lang="en-US"/>
          </a:p>
        </p:txBody>
      </p:sp>
    </p:spTree>
    <p:extLst>
      <p:ext uri="{BB962C8B-B14F-4D97-AF65-F5344CB8AC3E}">
        <p14:creationId xmlns:p14="http://schemas.microsoft.com/office/powerpoint/2010/main" val="19164337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What are some issues with this loss function?</a:t>
            </a:r>
          </a:p>
          <a:p>
            <a:endParaRPr lang="en-US" dirty="0" smtClean="0">
              <a:latin typeface="Arial" pitchFamily="34" charset="0"/>
            </a:endParaRPr>
          </a:p>
        </p:txBody>
      </p:sp>
      <p:sp>
        <p:nvSpPr>
          <p:cNvPr id="14234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637AB73F-1D9B-41CF-B694-4A27A193A898}" type="slidenum">
              <a:rPr lang="en-US" smtClean="0"/>
              <a:pPr eaLnBrk="1" hangingPunct="1"/>
              <a:t>36</a:t>
            </a:fld>
            <a:endParaRPr lang="en-US" smtClean="0"/>
          </a:p>
        </p:txBody>
      </p:sp>
    </p:spTree>
    <p:extLst>
      <p:ext uri="{BB962C8B-B14F-4D97-AF65-F5344CB8AC3E}">
        <p14:creationId xmlns:p14="http://schemas.microsoft.com/office/powerpoint/2010/main" val="1107384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Slide Image Placeholder 1"/>
          <p:cNvSpPr>
            <a:spLocks noGrp="1" noRot="1" noChangeAspect="1" noTextEdit="1"/>
          </p:cNvSpPr>
          <p:nvPr>
            <p:ph type="sldImg"/>
          </p:nvPr>
        </p:nvSpPr>
        <p:spPr>
          <a:ln/>
        </p:spPr>
      </p:sp>
      <p:sp>
        <p:nvSpPr>
          <p:cNvPr id="142339" name="Notes Placeholder 2"/>
          <p:cNvSpPr>
            <a:spLocks noGrp="1"/>
          </p:cNvSpPr>
          <p:nvPr>
            <p:ph type="body" idx="1"/>
          </p:nvPr>
        </p:nvSpPr>
        <p:spPr>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dirty="0" smtClean="0"/>
              <a:t>What are some issues with this loss function?</a:t>
            </a:r>
          </a:p>
          <a:p>
            <a:endParaRPr lang="en-US" dirty="0" smtClean="0">
              <a:latin typeface="Arial" pitchFamily="34" charset="0"/>
            </a:endParaRPr>
          </a:p>
        </p:txBody>
      </p:sp>
      <p:sp>
        <p:nvSpPr>
          <p:cNvPr id="142340"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637AB73F-1D9B-41CF-B694-4A27A193A898}" type="slidenum">
              <a:rPr lang="en-US" smtClean="0"/>
              <a:pPr eaLnBrk="1" hangingPunct="1"/>
              <a:t>37</a:t>
            </a:fld>
            <a:endParaRPr lang="en-US" smtClean="0"/>
          </a:p>
        </p:txBody>
      </p:sp>
    </p:spTree>
    <p:extLst>
      <p:ext uri="{BB962C8B-B14F-4D97-AF65-F5344CB8AC3E}">
        <p14:creationId xmlns:p14="http://schemas.microsoft.com/office/powerpoint/2010/main" val="18438953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a:ln/>
        </p:spPr>
      </p:sp>
      <p:sp>
        <p:nvSpPr>
          <p:cNvPr id="143363" name="Notes Placeholder 2"/>
          <p:cNvSpPr>
            <a:spLocks noGrp="1"/>
          </p:cNvSpPr>
          <p:nvPr>
            <p:ph type="body" idx="1"/>
          </p:nvPr>
        </p:nvSpPr>
        <p:spPr>
          <a:noFill/>
        </p:spPr>
        <p:txBody>
          <a:bodyPr/>
          <a:lstStyle/>
          <a:p>
            <a:r>
              <a:rPr lang="en-US" dirty="0" err="1" smtClean="0"/>
              <a:t>Overfits</a:t>
            </a:r>
            <a:r>
              <a:rPr lang="en-US" dirty="0" smtClean="0"/>
              <a:t> to training data</a:t>
            </a:r>
          </a:p>
          <a:p>
            <a:r>
              <a:rPr lang="en-US" dirty="0" smtClean="0"/>
              <a:t>Shows high variance across runs</a:t>
            </a:r>
          </a:p>
          <a:p>
            <a:r>
              <a:rPr lang="en-US" dirty="0" smtClean="0"/>
              <a:t>Works well for small feature sets (&lt;40 features), but fails for large feature sets</a:t>
            </a:r>
          </a:p>
          <a:p>
            <a:r>
              <a:rPr lang="en-US" dirty="0" smtClean="0"/>
              <a:t>Despite its shortcomings, minimum error rate training is the predominant approach to training MT models</a:t>
            </a:r>
          </a:p>
          <a:p>
            <a:endParaRPr lang="en-US" dirty="0" smtClean="0">
              <a:latin typeface="Arial" pitchFamily="34" charset="0"/>
            </a:endParaRPr>
          </a:p>
        </p:txBody>
      </p:sp>
      <p:sp>
        <p:nvSpPr>
          <p:cNvPr id="143364"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4916D174-7F62-4538-A4D3-72E684C21548}" type="slidenum">
              <a:rPr lang="en-US" smtClean="0"/>
              <a:pPr eaLnBrk="1" hangingPunct="1"/>
              <a:t>46</a:t>
            </a:fld>
            <a:endParaRPr lang="en-US" smtClean="0"/>
          </a:p>
        </p:txBody>
      </p:sp>
    </p:spTree>
    <p:extLst>
      <p:ext uri="{BB962C8B-B14F-4D97-AF65-F5344CB8AC3E}">
        <p14:creationId xmlns:p14="http://schemas.microsoft.com/office/powerpoint/2010/main" val="1256953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a:ln/>
        </p:spPr>
      </p:sp>
      <p:sp>
        <p:nvSpPr>
          <p:cNvPr id="144387" name="Notes Placeholder 2"/>
          <p:cNvSpPr>
            <a:spLocks noGrp="1"/>
          </p:cNvSpPr>
          <p:nvPr>
            <p:ph type="body" idx="1"/>
          </p:nvPr>
        </p:nvSpPr>
        <p:spPr>
          <a:noFill/>
        </p:spPr>
        <p:txBody>
          <a:bodyPr/>
          <a:lstStyle/>
          <a:p>
            <a:endParaRPr lang="en-US" smtClean="0">
              <a:latin typeface="Arial" pitchFamily="34" charset="0"/>
            </a:endParaRPr>
          </a:p>
        </p:txBody>
      </p:sp>
      <p:sp>
        <p:nvSpPr>
          <p:cNvPr id="144388" name="Slide Number Placeholder 3"/>
          <p:cNvSpPr>
            <a:spLocks noGrp="1"/>
          </p:cNvSpPr>
          <p:nvPr>
            <p:ph type="sldNum" sz="quarter" idx="5"/>
          </p:nvPr>
        </p:nvSpPr>
        <p:spPr>
          <a:noFill/>
        </p:spPr>
        <p:txBody>
          <a:bodyPr/>
          <a:lstStyle>
            <a:lvl1pPr defTabSz="966788" eaLnBrk="0" hangingPunct="0">
              <a:defRPr>
                <a:solidFill>
                  <a:schemeClr val="tx1"/>
                </a:solidFill>
                <a:latin typeface="Arial" pitchFamily="34" charset="0"/>
              </a:defRPr>
            </a:lvl1pPr>
            <a:lvl2pPr marL="742950" indent="-285750" defTabSz="966788" eaLnBrk="0" hangingPunct="0">
              <a:defRPr>
                <a:solidFill>
                  <a:schemeClr val="tx1"/>
                </a:solidFill>
                <a:latin typeface="Arial" pitchFamily="34" charset="0"/>
              </a:defRPr>
            </a:lvl2pPr>
            <a:lvl3pPr marL="1143000" indent="-228600" defTabSz="966788" eaLnBrk="0" hangingPunct="0">
              <a:defRPr>
                <a:solidFill>
                  <a:schemeClr val="tx1"/>
                </a:solidFill>
                <a:latin typeface="Arial" pitchFamily="34" charset="0"/>
              </a:defRPr>
            </a:lvl3pPr>
            <a:lvl4pPr marL="1600200" indent="-228600" defTabSz="966788" eaLnBrk="0" hangingPunct="0">
              <a:defRPr>
                <a:solidFill>
                  <a:schemeClr val="tx1"/>
                </a:solidFill>
                <a:latin typeface="Arial" pitchFamily="34" charset="0"/>
              </a:defRPr>
            </a:lvl4pPr>
            <a:lvl5pPr marL="2057400" indent="-228600" defTabSz="966788" eaLnBrk="0" hangingPunct="0">
              <a:defRPr>
                <a:solidFill>
                  <a:schemeClr val="tx1"/>
                </a:solidFill>
                <a:latin typeface="Arial" pitchFamily="34" charset="0"/>
              </a:defRPr>
            </a:lvl5pPr>
            <a:lvl6pPr marL="2514600" indent="-228600" defTabSz="966788" eaLnBrk="0" fontAlgn="base" hangingPunct="0">
              <a:spcBef>
                <a:spcPct val="0"/>
              </a:spcBef>
              <a:spcAft>
                <a:spcPct val="0"/>
              </a:spcAft>
              <a:defRPr>
                <a:solidFill>
                  <a:schemeClr val="tx1"/>
                </a:solidFill>
                <a:latin typeface="Arial" pitchFamily="34" charset="0"/>
              </a:defRPr>
            </a:lvl6pPr>
            <a:lvl7pPr marL="2971800" indent="-228600" defTabSz="966788" eaLnBrk="0" fontAlgn="base" hangingPunct="0">
              <a:spcBef>
                <a:spcPct val="0"/>
              </a:spcBef>
              <a:spcAft>
                <a:spcPct val="0"/>
              </a:spcAft>
              <a:defRPr>
                <a:solidFill>
                  <a:schemeClr val="tx1"/>
                </a:solidFill>
                <a:latin typeface="Arial" pitchFamily="34" charset="0"/>
              </a:defRPr>
            </a:lvl7pPr>
            <a:lvl8pPr marL="3429000" indent="-228600" defTabSz="966788" eaLnBrk="0" fontAlgn="base" hangingPunct="0">
              <a:spcBef>
                <a:spcPct val="0"/>
              </a:spcBef>
              <a:spcAft>
                <a:spcPct val="0"/>
              </a:spcAft>
              <a:defRPr>
                <a:solidFill>
                  <a:schemeClr val="tx1"/>
                </a:solidFill>
                <a:latin typeface="Arial" pitchFamily="34" charset="0"/>
              </a:defRPr>
            </a:lvl8pPr>
            <a:lvl9pPr marL="3886200" indent="-228600" defTabSz="966788" eaLnBrk="0" fontAlgn="base" hangingPunct="0">
              <a:spcBef>
                <a:spcPct val="0"/>
              </a:spcBef>
              <a:spcAft>
                <a:spcPct val="0"/>
              </a:spcAft>
              <a:defRPr>
                <a:solidFill>
                  <a:schemeClr val="tx1"/>
                </a:solidFill>
                <a:latin typeface="Arial" pitchFamily="34" charset="0"/>
              </a:defRPr>
            </a:lvl9pPr>
          </a:lstStyle>
          <a:p>
            <a:pPr eaLnBrk="1" hangingPunct="1"/>
            <a:fld id="{BCC714DC-674E-441F-AC23-35FCBE6BDD24}" type="slidenum">
              <a:rPr lang="en-US" smtClean="0"/>
              <a:pPr eaLnBrk="1" hangingPunct="1"/>
              <a:t>47</a:t>
            </a:fld>
            <a:endParaRPr lang="en-US" smtClean="0"/>
          </a:p>
        </p:txBody>
      </p:sp>
    </p:spTree>
    <p:extLst>
      <p:ext uri="{BB962C8B-B14F-4D97-AF65-F5344CB8AC3E}">
        <p14:creationId xmlns:p14="http://schemas.microsoft.com/office/powerpoint/2010/main" val="10760204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50</a:t>
            </a:fld>
            <a:endParaRPr lang="en-US"/>
          </a:p>
        </p:txBody>
      </p:sp>
    </p:spTree>
    <p:extLst>
      <p:ext uri="{BB962C8B-B14F-4D97-AF65-F5344CB8AC3E}">
        <p14:creationId xmlns:p14="http://schemas.microsoft.com/office/powerpoint/2010/main" val="6323781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51</a:t>
            </a:fld>
            <a:endParaRPr lang="en-US"/>
          </a:p>
        </p:txBody>
      </p:sp>
    </p:spTree>
    <p:extLst>
      <p:ext uri="{BB962C8B-B14F-4D97-AF65-F5344CB8AC3E}">
        <p14:creationId xmlns:p14="http://schemas.microsoft.com/office/powerpoint/2010/main" val="632378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52</a:t>
            </a:fld>
            <a:endParaRPr lang="en-US"/>
          </a:p>
        </p:txBody>
      </p:sp>
    </p:spTree>
    <p:extLst>
      <p:ext uri="{BB962C8B-B14F-4D97-AF65-F5344CB8AC3E}">
        <p14:creationId xmlns:p14="http://schemas.microsoft.com/office/powerpoint/2010/main" val="11652545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53</a:t>
            </a:fld>
            <a:endParaRPr lang="en-US"/>
          </a:p>
        </p:txBody>
      </p:sp>
    </p:spTree>
    <p:extLst>
      <p:ext uri="{BB962C8B-B14F-4D97-AF65-F5344CB8AC3E}">
        <p14:creationId xmlns:p14="http://schemas.microsoft.com/office/powerpoint/2010/main" val="9002363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54</a:t>
            </a:fld>
            <a:endParaRPr lang="en-US"/>
          </a:p>
        </p:txBody>
      </p:sp>
    </p:spTree>
    <p:extLst>
      <p:ext uri="{BB962C8B-B14F-4D97-AF65-F5344CB8AC3E}">
        <p14:creationId xmlns:p14="http://schemas.microsoft.com/office/powerpoint/2010/main" val="1177149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55</a:t>
            </a:fld>
            <a:endParaRPr lang="en-US"/>
          </a:p>
        </p:txBody>
      </p:sp>
    </p:spTree>
    <p:extLst>
      <p:ext uri="{BB962C8B-B14F-4D97-AF65-F5344CB8AC3E}">
        <p14:creationId xmlns:p14="http://schemas.microsoft.com/office/powerpoint/2010/main" val="13037045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56</a:t>
            </a:fld>
            <a:endParaRPr lang="en-US"/>
          </a:p>
        </p:txBody>
      </p:sp>
    </p:spTree>
    <p:extLst>
      <p:ext uri="{BB962C8B-B14F-4D97-AF65-F5344CB8AC3E}">
        <p14:creationId xmlns:p14="http://schemas.microsoft.com/office/powerpoint/2010/main" val="20768394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57</a:t>
            </a:fld>
            <a:endParaRPr lang="en-US"/>
          </a:p>
        </p:txBody>
      </p:sp>
    </p:spTree>
    <p:extLst>
      <p:ext uri="{BB962C8B-B14F-4D97-AF65-F5344CB8AC3E}">
        <p14:creationId xmlns:p14="http://schemas.microsoft.com/office/powerpoint/2010/main" val="9083832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58</a:t>
            </a:fld>
            <a:endParaRPr lang="en-US"/>
          </a:p>
        </p:txBody>
      </p:sp>
    </p:spTree>
    <p:extLst>
      <p:ext uri="{BB962C8B-B14F-4D97-AF65-F5344CB8AC3E}">
        <p14:creationId xmlns:p14="http://schemas.microsoft.com/office/powerpoint/2010/main" val="316594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59</a:t>
            </a:fld>
            <a:endParaRPr lang="en-US"/>
          </a:p>
        </p:txBody>
      </p:sp>
    </p:spTree>
    <p:extLst>
      <p:ext uri="{BB962C8B-B14F-4D97-AF65-F5344CB8AC3E}">
        <p14:creationId xmlns:p14="http://schemas.microsoft.com/office/powerpoint/2010/main" val="3683090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60</a:t>
            </a:fld>
            <a:endParaRPr lang="en-US"/>
          </a:p>
        </p:txBody>
      </p:sp>
    </p:spTree>
    <p:extLst>
      <p:ext uri="{BB962C8B-B14F-4D97-AF65-F5344CB8AC3E}">
        <p14:creationId xmlns:p14="http://schemas.microsoft.com/office/powerpoint/2010/main" val="15232343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61</a:t>
            </a:fld>
            <a:endParaRPr lang="en-US"/>
          </a:p>
        </p:txBody>
      </p:sp>
    </p:spTree>
    <p:extLst>
      <p:ext uri="{BB962C8B-B14F-4D97-AF65-F5344CB8AC3E}">
        <p14:creationId xmlns:p14="http://schemas.microsoft.com/office/powerpoint/2010/main" val="222398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62</a:t>
            </a:fld>
            <a:endParaRPr lang="en-US"/>
          </a:p>
        </p:txBody>
      </p:sp>
    </p:spTree>
    <p:extLst>
      <p:ext uri="{BB962C8B-B14F-4D97-AF65-F5344CB8AC3E}">
        <p14:creationId xmlns:p14="http://schemas.microsoft.com/office/powerpoint/2010/main" val="16287274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63</a:t>
            </a:fld>
            <a:endParaRPr lang="en-US"/>
          </a:p>
        </p:txBody>
      </p:sp>
    </p:spTree>
    <p:extLst>
      <p:ext uri="{BB962C8B-B14F-4D97-AF65-F5344CB8AC3E}">
        <p14:creationId xmlns:p14="http://schemas.microsoft.com/office/powerpoint/2010/main" val="2939654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causes problems when applying standard learning algorithms to MT.</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64</a:t>
            </a:fld>
            <a:endParaRPr lang="en-US"/>
          </a:p>
        </p:txBody>
      </p:sp>
    </p:spTree>
    <p:extLst>
      <p:ext uri="{BB962C8B-B14F-4D97-AF65-F5344CB8AC3E}">
        <p14:creationId xmlns:p14="http://schemas.microsoft.com/office/powerpoint/2010/main" val="2939654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9EE786-5231-4CAC-9122-1CD64C9192C1}" type="slidenum">
              <a:rPr lang="en-US" smtClean="0"/>
              <a:pPr/>
              <a:t>66</a:t>
            </a:fld>
            <a:endParaRPr lang="en-US"/>
          </a:p>
        </p:txBody>
      </p:sp>
    </p:spTree>
    <p:extLst>
      <p:ext uri="{BB962C8B-B14F-4D97-AF65-F5344CB8AC3E}">
        <p14:creationId xmlns:p14="http://schemas.microsoft.com/office/powerpoint/2010/main" val="18942658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96D5C3-7D28-8B4C-9264-68691EEF0446}" type="datetime1">
              <a:rPr lang="en-US" smtClean="0"/>
              <a:t>5/29/18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1981399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EF8674-EF43-EF4E-B196-97E64CD8A873}" type="datetime1">
              <a:rPr lang="en-US" smtClean="0"/>
              <a:t>5/29/18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262946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5EB10F8-365D-DA4F-9CC3-8BF83F864CD7}" type="datetime1">
              <a:rPr lang="en-US" smtClean="0"/>
              <a:t>5/29/18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727455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1F2CEC-7836-034E-9982-68EEC9C6C07D}" type="datetime1">
              <a:rPr lang="en-US" smtClean="0"/>
              <a:t>5/29/18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725305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FA52535-47EE-BA42-9368-3583D260CCA9}" type="datetime1">
              <a:rPr lang="en-US" smtClean="0"/>
              <a:t>5/29/18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4014311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B66D0EF-A42B-3B4C-BF43-19180771438A}" type="datetime1">
              <a:rPr lang="en-US" smtClean="0"/>
              <a:t>5/29/18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679377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EDEDFD-806A-324D-BA25-19B9BB3EAF59}" type="datetime1">
              <a:rPr lang="en-US" smtClean="0"/>
              <a:t>5/29/18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3516817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D88B80F-673A-DE44-8997-82BE2F9ABEB7}" type="datetime1">
              <a:rPr lang="en-US" smtClean="0"/>
              <a:t>5/29/18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270952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9E87C8-4A84-CC43-B803-6509AAEBAC24}" type="datetime1">
              <a:rPr lang="en-US" smtClean="0"/>
              <a:t>5/29/18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860087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E0628F-30F9-7E4B-918F-FF9DE48E2A87}" type="datetime1">
              <a:rPr lang="en-US" smtClean="0"/>
              <a:t>5/29/18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347859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CC1C0B9-1F63-D240-952C-F59B377EB39E}" type="datetime1">
              <a:rPr lang="en-US" smtClean="0"/>
              <a:t>5/29/18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F3AF9-2D61-8E40-AE3D-8390D801ED2C}" type="slidenum">
              <a:rPr lang="en-US" smtClean="0"/>
              <a:t>‹#›</a:t>
            </a:fld>
            <a:endParaRPr lang="en-US"/>
          </a:p>
        </p:txBody>
      </p:sp>
    </p:spTree>
    <p:extLst>
      <p:ext uri="{BB962C8B-B14F-4D97-AF65-F5344CB8AC3E}">
        <p14:creationId xmlns:p14="http://schemas.microsoft.com/office/powerpoint/2010/main" val="245985559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71398"/>
            <a:ext cx="8229600" cy="726831"/>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073740"/>
            <a:ext cx="8229600" cy="505242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8CC3C6-DE2B-244E-A6B9-AC546925F7E9}" type="datetime1">
              <a:rPr lang="en-US" smtClean="0"/>
              <a:t>5/29/18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FF3AF9-2D61-8E40-AE3D-8390D801ED2C}" type="slidenum">
              <a:rPr lang="en-US" smtClean="0"/>
              <a:t>‹#›</a:t>
            </a:fld>
            <a:endParaRPr lang="en-US" dirty="0"/>
          </a:p>
        </p:txBody>
      </p:sp>
    </p:spTree>
    <p:extLst>
      <p:ext uri="{BB962C8B-B14F-4D97-AF65-F5344CB8AC3E}">
        <p14:creationId xmlns:p14="http://schemas.microsoft.com/office/powerpoint/2010/main" val="1996157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emf"/><Relationship Id="rId5" Type="http://schemas.openxmlformats.org/officeDocument/2006/relationships/image" Target="../media/image12.emf"/><Relationship Id="rId6" Type="http://schemas.openxmlformats.org/officeDocument/2006/relationships/image" Target="../media/image13.emf"/><Relationship Id="rId7" Type="http://schemas.openxmlformats.org/officeDocument/2006/relationships/image" Target="../media/image14.emf"/><Relationship Id="rId8" Type="http://schemas.openxmlformats.org/officeDocument/2006/relationships/image" Target="../media/image15.emf"/><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emf"/><Relationship Id="rId3" Type="http://schemas.openxmlformats.org/officeDocument/2006/relationships/image" Target="../media/image17.emf"/></Relationships>
</file>

<file path=ppt/slides/_rels/slide18.xml.rels><?xml version="1.0" encoding="UTF-8" standalone="yes"?>
<Relationships xmlns="http://schemas.openxmlformats.org/package/2006/relationships"><Relationship Id="rId3" Type="http://schemas.openxmlformats.org/officeDocument/2006/relationships/image" Target="../media/image17.emf"/><Relationship Id="rId4" Type="http://schemas.openxmlformats.org/officeDocument/2006/relationships/image" Target="../media/image18.emf"/><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4" Type="http://schemas.openxmlformats.org/officeDocument/2006/relationships/image" Target="../media/image18.emf"/><Relationship Id="rId1" Type="http://schemas.openxmlformats.org/officeDocument/2006/relationships/slideLayout" Target="../slideLayouts/slideLayout2.xml"/><Relationship Id="rId2" Type="http://schemas.openxmlformats.org/officeDocument/2006/relationships/image" Target="../media/image16.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emf"/><Relationship Id="rId3" Type="http://schemas.openxmlformats.org/officeDocument/2006/relationships/image" Target="../media/image19.emf"/></Relationships>
</file>

<file path=ppt/slides/_rels/slide22.xml.rels><?xml version="1.0" encoding="UTF-8" standalone="yes"?>
<Relationships xmlns="http://schemas.openxmlformats.org/package/2006/relationships"><Relationship Id="rId3" Type="http://schemas.openxmlformats.org/officeDocument/2006/relationships/image" Target="../media/image19.emf"/><Relationship Id="rId4" Type="http://schemas.openxmlformats.org/officeDocument/2006/relationships/image" Target="../media/image20.emf"/><Relationship Id="rId1" Type="http://schemas.openxmlformats.org/officeDocument/2006/relationships/slideLayout" Target="../slideLayouts/slideLayout2.xml"/><Relationship Id="rId2" Type="http://schemas.openxmlformats.org/officeDocument/2006/relationships/image" Target="../media/image18.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1.emf"/></Relationships>
</file>

<file path=ppt/slides/_rels/slide25.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21.emf"/><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26.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21.emf"/><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27.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21.emf"/><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4" Type="http://schemas.openxmlformats.org/officeDocument/2006/relationships/image" Target="../media/image23.emf"/><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29.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21.emf"/><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21.emf"/><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33.xml.rels><?xml version="1.0" encoding="UTF-8" standalone="yes"?>
<Relationships xmlns="http://schemas.openxmlformats.org/package/2006/relationships"><Relationship Id="rId3" Type="http://schemas.openxmlformats.org/officeDocument/2006/relationships/image" Target="../media/image25.emf"/><Relationship Id="rId4" Type="http://schemas.openxmlformats.org/officeDocument/2006/relationships/image" Target="../media/image26.emf"/><Relationship Id="rId5" Type="http://schemas.openxmlformats.org/officeDocument/2006/relationships/image" Target="../media/image27.emf"/><Relationship Id="rId1" Type="http://schemas.openxmlformats.org/officeDocument/2006/relationships/slideLayout" Target="../slideLayouts/slideLayout2.xml"/><Relationship Id="rId2" Type="http://schemas.openxmlformats.org/officeDocument/2006/relationships/image" Target="../media/image24.emf"/></Relationships>
</file>

<file path=ppt/slides/_rels/slide34.xml.rels><?xml version="1.0" encoding="UTF-8" standalone="yes"?>
<Relationships xmlns="http://schemas.openxmlformats.org/package/2006/relationships"><Relationship Id="rId3" Type="http://schemas.openxmlformats.org/officeDocument/2006/relationships/image" Target="../media/image25.emf"/><Relationship Id="rId4" Type="http://schemas.openxmlformats.org/officeDocument/2006/relationships/image" Target="../media/image26.emf"/><Relationship Id="rId5" Type="http://schemas.openxmlformats.org/officeDocument/2006/relationships/image" Target="../media/image27.emf"/><Relationship Id="rId1" Type="http://schemas.openxmlformats.org/officeDocument/2006/relationships/slideLayout" Target="../slideLayouts/slideLayout2.xml"/><Relationship Id="rId2" Type="http://schemas.openxmlformats.org/officeDocument/2006/relationships/image" Target="../media/image24.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9.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9.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2.e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22.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22.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22.e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2.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2.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2.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2.e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22.emf"/></Relationships>
</file>

<file path=ppt/slides/_rels/slide59.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36.emf"/><Relationship Id="rId5" Type="http://schemas.openxmlformats.org/officeDocument/2006/relationships/image" Target="../media/image37.emf"/><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60.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36.emf"/><Relationship Id="rId5" Type="http://schemas.openxmlformats.org/officeDocument/2006/relationships/image" Target="../media/image37.emf"/><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22.emf"/></Relationships>
</file>

<file path=ppt/slides/_rels/slide62.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38.emf"/><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22.emf"/></Relationships>
</file>

<file path=ppt/slides/_rels/slide64.xml.rels><?xml version="1.0" encoding="UTF-8" standalone="yes"?>
<Relationships xmlns="http://schemas.openxmlformats.org/package/2006/relationships"><Relationship Id="rId3" Type="http://schemas.openxmlformats.org/officeDocument/2006/relationships/image" Target="../media/image22.emf"/><Relationship Id="rId4" Type="http://schemas.openxmlformats.org/officeDocument/2006/relationships/image" Target="../media/image38.emf"/><Relationship Id="rId5" Type="http://schemas.openxmlformats.org/officeDocument/2006/relationships/image" Target="../media/image36.emf"/><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22.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4.png"/><Relationship Id="rId3" Type="http://schemas.openxmlformats.org/officeDocument/2006/relationships/image" Target="../media/image4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90525"/>
            <a:ext cx="7772400" cy="1470025"/>
          </a:xfrm>
        </p:spPr>
        <p:txBody>
          <a:bodyPr/>
          <a:lstStyle/>
          <a:p>
            <a:r>
              <a:rPr lang="en-US" dirty="0" smtClean="0"/>
              <a:t>TTIC 31190:</a:t>
            </a:r>
            <a:br>
              <a:rPr lang="en-US" dirty="0" smtClean="0"/>
            </a:br>
            <a:r>
              <a:rPr lang="en-US" dirty="0" smtClean="0"/>
              <a:t>Natural Language Processing</a:t>
            </a:r>
            <a:endParaRPr lang="en-US" dirty="0"/>
          </a:p>
        </p:txBody>
      </p:sp>
      <p:sp>
        <p:nvSpPr>
          <p:cNvPr id="3" name="Subtitle 2"/>
          <p:cNvSpPr>
            <a:spLocks noGrp="1"/>
          </p:cNvSpPr>
          <p:nvPr>
            <p:ph type="subTitle" idx="1"/>
          </p:nvPr>
        </p:nvSpPr>
        <p:spPr>
          <a:xfrm>
            <a:off x="1371600" y="1993900"/>
            <a:ext cx="6400800" cy="3403600"/>
          </a:xfrm>
        </p:spPr>
        <p:txBody>
          <a:bodyPr>
            <a:normAutofit fontScale="85000" lnSpcReduction="20000"/>
          </a:bodyPr>
          <a:lstStyle/>
          <a:p>
            <a:r>
              <a:rPr lang="en-US" dirty="0" smtClean="0">
                <a:solidFill>
                  <a:schemeClr val="tx1"/>
                </a:solidFill>
              </a:rPr>
              <a:t>Kevin Gimpel</a:t>
            </a:r>
          </a:p>
          <a:p>
            <a:r>
              <a:rPr lang="en-US" dirty="0" smtClean="0">
                <a:solidFill>
                  <a:schemeClr val="tx1"/>
                </a:solidFill>
              </a:rPr>
              <a:t>Spring 2018</a:t>
            </a:r>
          </a:p>
          <a:p>
            <a:endParaRPr lang="en-US" dirty="0" smtClean="0">
              <a:solidFill>
                <a:schemeClr val="tx1"/>
              </a:solidFill>
            </a:endParaRPr>
          </a:p>
          <a:p>
            <a:endParaRPr lang="en-US" dirty="0">
              <a:solidFill>
                <a:schemeClr val="tx1"/>
              </a:solidFill>
            </a:endParaRPr>
          </a:p>
          <a:p>
            <a:r>
              <a:rPr lang="en-US" sz="4000" dirty="0" smtClean="0">
                <a:solidFill>
                  <a:schemeClr val="tx1"/>
                </a:solidFill>
              </a:rPr>
              <a:t>Lecture 17: </a:t>
            </a:r>
          </a:p>
          <a:p>
            <a:r>
              <a:rPr lang="en-US" sz="4000" dirty="0" smtClean="0">
                <a:solidFill>
                  <a:schemeClr val="tx1"/>
                </a:solidFill>
              </a:rPr>
              <a:t>Machine Translation;</a:t>
            </a:r>
          </a:p>
          <a:p>
            <a:r>
              <a:rPr lang="en-US" sz="4000" dirty="0" smtClean="0">
                <a:solidFill>
                  <a:schemeClr val="tx1"/>
                </a:solidFill>
              </a:rPr>
              <a:t>Semantics</a:t>
            </a:r>
            <a:endParaRPr lang="en-US" sz="4000" dirty="0">
              <a:solidFill>
                <a:schemeClr val="tx1"/>
              </a:solidFill>
            </a:endParaRPr>
          </a:p>
        </p:txBody>
      </p:sp>
    </p:spTree>
    <p:extLst>
      <p:ext uri="{BB962C8B-B14F-4D97-AF65-F5344CB8AC3E}">
        <p14:creationId xmlns:p14="http://schemas.microsoft.com/office/powerpoint/2010/main" val="3376820314"/>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Roadmap</a:t>
            </a:r>
          </a:p>
        </p:txBody>
      </p:sp>
      <p:sp>
        <p:nvSpPr>
          <p:cNvPr id="3" name="Content Placeholder 2"/>
          <p:cNvSpPr>
            <a:spLocks noGrp="1"/>
          </p:cNvSpPr>
          <p:nvPr>
            <p:ph idx="1"/>
          </p:nvPr>
        </p:nvSpPr>
        <p:spPr>
          <a:xfrm>
            <a:off x="457200" y="926661"/>
            <a:ext cx="8229600" cy="5052424"/>
          </a:xfrm>
        </p:spPr>
        <p:txBody>
          <a:bodyPr>
            <a:noAutofit/>
          </a:bodyPr>
          <a:lstStyle/>
          <a:p>
            <a:r>
              <a:rPr lang="en-US" sz="2400" dirty="0"/>
              <a:t>words, morphology, lexical semantics</a:t>
            </a:r>
          </a:p>
          <a:p>
            <a:r>
              <a:rPr lang="en-US" sz="2400" dirty="0"/>
              <a:t>text classification</a:t>
            </a:r>
          </a:p>
          <a:p>
            <a:r>
              <a:rPr lang="en-US" sz="2400" dirty="0"/>
              <a:t>simple neural methods for NLP</a:t>
            </a:r>
          </a:p>
          <a:p>
            <a:r>
              <a:rPr lang="en-US" sz="2400" dirty="0"/>
              <a:t>language modeling and word </a:t>
            </a:r>
            <a:r>
              <a:rPr lang="en-US" sz="2400" dirty="0" err="1"/>
              <a:t>embeddings</a:t>
            </a:r>
            <a:endParaRPr lang="en-US" sz="2400" dirty="0"/>
          </a:p>
          <a:p>
            <a:r>
              <a:rPr lang="en-US" sz="2400" dirty="0"/>
              <a:t>recurrent/recursive/convolutional networks in NLP</a:t>
            </a:r>
          </a:p>
          <a:p>
            <a:r>
              <a:rPr lang="en-US" sz="2400" dirty="0"/>
              <a:t>sequence labeling, HMMs, dynamic programming</a:t>
            </a:r>
          </a:p>
          <a:p>
            <a:r>
              <a:rPr lang="en-US" sz="2400" dirty="0"/>
              <a:t>syntax and syntactic parsing</a:t>
            </a:r>
          </a:p>
          <a:p>
            <a:r>
              <a:rPr lang="en-US" sz="2400" dirty="0">
                <a:solidFill>
                  <a:srgbClr val="288CD2"/>
                </a:solidFill>
              </a:rPr>
              <a:t>machine </a:t>
            </a:r>
            <a:r>
              <a:rPr lang="en-US" sz="2400" dirty="0" smtClean="0">
                <a:solidFill>
                  <a:srgbClr val="288CD2"/>
                </a:solidFill>
              </a:rPr>
              <a:t>translation</a:t>
            </a:r>
          </a:p>
          <a:p>
            <a:r>
              <a:rPr lang="en-US" sz="2400" dirty="0" smtClean="0"/>
              <a:t>semantics</a:t>
            </a:r>
            <a:endParaRPr lang="en-US" sz="2400" dirty="0"/>
          </a:p>
        </p:txBody>
      </p:sp>
      <p:sp>
        <p:nvSpPr>
          <p:cNvPr id="4" name="Slide Number Placeholder 3"/>
          <p:cNvSpPr>
            <a:spLocks noGrp="1"/>
          </p:cNvSpPr>
          <p:nvPr>
            <p:ph type="sldNum" sz="quarter" idx="12"/>
          </p:nvPr>
        </p:nvSpPr>
        <p:spPr/>
        <p:txBody>
          <a:bodyPr/>
          <a:lstStyle/>
          <a:p>
            <a:fld id="{3CFF3AF9-2D61-8E40-AE3D-8390D801ED2C}" type="slidenum">
              <a:rPr lang="en-US" smtClean="0"/>
              <a:t>2</a:t>
            </a:fld>
            <a:endParaRPr lang="en-US"/>
          </a:p>
        </p:txBody>
      </p:sp>
    </p:spTree>
    <p:extLst>
      <p:ext uri="{BB962C8B-B14F-4D97-AF65-F5344CB8AC3E}">
        <p14:creationId xmlns:p14="http://schemas.microsoft.com/office/powerpoint/2010/main" val="3510181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3</a:t>
            </a:fld>
            <a:endParaRPr lang="en-US"/>
          </a:p>
        </p:txBody>
      </p:sp>
      <p:pic>
        <p:nvPicPr>
          <p:cNvPr id="5" name="Picture 4"/>
          <p:cNvPicPr>
            <a:picLocks noChangeAspect="1"/>
          </p:cNvPicPr>
          <p:nvPr/>
        </p:nvPicPr>
        <p:blipFill>
          <a:blip r:embed="rId2"/>
          <a:stretch>
            <a:fillRect/>
          </a:stretch>
        </p:blipFill>
        <p:spPr>
          <a:xfrm>
            <a:off x="0" y="1524000"/>
            <a:ext cx="9144000" cy="3791415"/>
          </a:xfrm>
          <a:prstGeom prst="rect">
            <a:avLst/>
          </a:prstGeom>
        </p:spPr>
      </p:pic>
    </p:spTree>
    <p:extLst>
      <p:ext uri="{BB962C8B-B14F-4D97-AF65-F5344CB8AC3E}">
        <p14:creationId xmlns:p14="http://schemas.microsoft.com/office/powerpoint/2010/main" val="4037474370"/>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Google’s NMT System</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4</a:t>
            </a:fld>
            <a:endParaRPr lang="en-US"/>
          </a:p>
        </p:txBody>
      </p:sp>
      <p:pic>
        <p:nvPicPr>
          <p:cNvPr id="3" name="Picture 2"/>
          <p:cNvPicPr>
            <a:picLocks noChangeAspect="1"/>
          </p:cNvPicPr>
          <p:nvPr/>
        </p:nvPicPr>
        <p:blipFill>
          <a:blip r:embed="rId2"/>
          <a:stretch>
            <a:fillRect/>
          </a:stretch>
        </p:blipFill>
        <p:spPr>
          <a:xfrm>
            <a:off x="0" y="977900"/>
            <a:ext cx="9144000" cy="4900706"/>
          </a:xfrm>
          <a:prstGeom prst="rect">
            <a:avLst/>
          </a:prstGeom>
        </p:spPr>
      </p:pic>
    </p:spTree>
    <p:extLst>
      <p:ext uri="{BB962C8B-B14F-4D97-AF65-F5344CB8AC3E}">
        <p14:creationId xmlns:p14="http://schemas.microsoft.com/office/powerpoint/2010/main" val="933590267"/>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Google’s NMT System</a:t>
            </a:r>
          </a:p>
        </p:txBody>
      </p:sp>
      <p:sp>
        <p:nvSpPr>
          <p:cNvPr id="4" name="Slide Number Placeholder 3"/>
          <p:cNvSpPr>
            <a:spLocks noGrp="1"/>
          </p:cNvSpPr>
          <p:nvPr>
            <p:ph type="sldNum" sz="quarter" idx="12"/>
          </p:nvPr>
        </p:nvSpPr>
        <p:spPr/>
        <p:txBody>
          <a:bodyPr/>
          <a:lstStyle/>
          <a:p>
            <a:fld id="{3CFF3AF9-2D61-8E40-AE3D-8390D801ED2C}" type="slidenum">
              <a:rPr lang="en-US" smtClean="0"/>
              <a:t>5</a:t>
            </a:fld>
            <a:endParaRPr lang="en-US"/>
          </a:p>
        </p:txBody>
      </p:sp>
      <p:pic>
        <p:nvPicPr>
          <p:cNvPr id="5" name="Picture 4"/>
          <p:cNvPicPr>
            <a:picLocks noChangeAspect="1"/>
          </p:cNvPicPr>
          <p:nvPr/>
        </p:nvPicPr>
        <p:blipFill>
          <a:blip r:embed="rId2"/>
          <a:stretch>
            <a:fillRect/>
          </a:stretch>
        </p:blipFill>
        <p:spPr>
          <a:xfrm>
            <a:off x="0" y="988800"/>
            <a:ext cx="9144000" cy="5322328"/>
          </a:xfrm>
          <a:prstGeom prst="rect">
            <a:avLst/>
          </a:prstGeom>
        </p:spPr>
      </p:pic>
      <p:sp>
        <p:nvSpPr>
          <p:cNvPr id="6" name="Rectangle 5"/>
          <p:cNvSpPr/>
          <p:nvPr/>
        </p:nvSpPr>
        <p:spPr>
          <a:xfrm>
            <a:off x="0" y="898229"/>
            <a:ext cx="8425350" cy="3378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6460637"/>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Google’s NMT System</a:t>
            </a:r>
          </a:p>
        </p:txBody>
      </p:sp>
      <p:sp>
        <p:nvSpPr>
          <p:cNvPr id="4" name="Slide Number Placeholder 3"/>
          <p:cNvSpPr>
            <a:spLocks noGrp="1"/>
          </p:cNvSpPr>
          <p:nvPr>
            <p:ph type="sldNum" sz="quarter" idx="12"/>
          </p:nvPr>
        </p:nvSpPr>
        <p:spPr/>
        <p:txBody>
          <a:bodyPr/>
          <a:lstStyle/>
          <a:p>
            <a:fld id="{3CFF3AF9-2D61-8E40-AE3D-8390D801ED2C}" type="slidenum">
              <a:rPr lang="en-US" smtClean="0"/>
              <a:t>6</a:t>
            </a:fld>
            <a:endParaRPr lang="en-US"/>
          </a:p>
        </p:txBody>
      </p:sp>
      <p:sp>
        <p:nvSpPr>
          <p:cNvPr id="6" name="Rectangle 5"/>
          <p:cNvSpPr/>
          <p:nvPr/>
        </p:nvSpPr>
        <p:spPr>
          <a:xfrm>
            <a:off x="0" y="898229"/>
            <a:ext cx="8425350" cy="3378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stretch>
            <a:fillRect/>
          </a:stretch>
        </p:blipFill>
        <p:spPr>
          <a:xfrm>
            <a:off x="170094" y="1323876"/>
            <a:ext cx="8849169" cy="1750277"/>
          </a:xfrm>
          <a:prstGeom prst="rect">
            <a:avLst/>
          </a:prstGeom>
        </p:spPr>
      </p:pic>
      <p:sp>
        <p:nvSpPr>
          <p:cNvPr id="7" name="TextBox 6"/>
          <p:cNvSpPr txBox="1"/>
          <p:nvPr/>
        </p:nvSpPr>
        <p:spPr>
          <a:xfrm>
            <a:off x="249472" y="3678694"/>
            <a:ext cx="8538747" cy="2308324"/>
          </a:xfrm>
          <a:prstGeom prst="rect">
            <a:avLst/>
          </a:prstGeom>
          <a:solidFill>
            <a:srgbClr val="FFFFFF"/>
          </a:solidFill>
          <a:ln w="28575">
            <a:solidFill>
              <a:srgbClr val="FFFFFF"/>
            </a:solidFill>
          </a:ln>
        </p:spPr>
        <p:txBody>
          <a:bodyPr wrap="square" rtlCol="0">
            <a:spAutoFit/>
          </a:bodyPr>
          <a:lstStyle/>
          <a:p>
            <a:r>
              <a:rPr lang="en-US" sz="2400" b="1" dirty="0" smtClean="0">
                <a:solidFill>
                  <a:srgbClr val="288CD2"/>
                </a:solidFill>
              </a:rPr>
              <a:t>they use a procedure that deterministically segments any character sequence into </a:t>
            </a:r>
            <a:r>
              <a:rPr lang="en-US" sz="2400" b="1" dirty="0" err="1" smtClean="0">
                <a:solidFill>
                  <a:srgbClr val="288CD2"/>
                </a:solidFill>
              </a:rPr>
              <a:t>wordpieces</a:t>
            </a:r>
            <a:endParaRPr lang="en-US" sz="2400" b="1" dirty="0">
              <a:solidFill>
                <a:srgbClr val="288CD2"/>
              </a:solidFill>
            </a:endParaRPr>
          </a:p>
          <a:p>
            <a:endParaRPr lang="en-US" sz="2400" b="1" dirty="0" smtClean="0">
              <a:solidFill>
                <a:srgbClr val="288CD2"/>
              </a:solidFill>
            </a:endParaRPr>
          </a:p>
          <a:p>
            <a:r>
              <a:rPr lang="en-US" sz="2400" b="1" dirty="0" smtClean="0">
                <a:solidFill>
                  <a:srgbClr val="288CD2"/>
                </a:solidFill>
              </a:rPr>
              <a:t>vocab: 8k-32k </a:t>
            </a:r>
            <a:r>
              <a:rPr lang="en-US" sz="2400" b="1" dirty="0" err="1" smtClean="0">
                <a:solidFill>
                  <a:srgbClr val="288CD2"/>
                </a:solidFill>
              </a:rPr>
              <a:t>wordpieces</a:t>
            </a:r>
            <a:endParaRPr lang="en-US" sz="2400" b="1" dirty="0" smtClean="0">
              <a:solidFill>
                <a:srgbClr val="288CD2"/>
              </a:solidFill>
            </a:endParaRPr>
          </a:p>
          <a:p>
            <a:endParaRPr lang="en-US" sz="2400" b="1" dirty="0" smtClean="0">
              <a:solidFill>
                <a:srgbClr val="288CD2"/>
              </a:solidFill>
            </a:endParaRPr>
          </a:p>
          <a:p>
            <a:r>
              <a:rPr lang="en-US" sz="2400" b="1" dirty="0" smtClean="0">
                <a:solidFill>
                  <a:srgbClr val="288CD2"/>
                </a:solidFill>
              </a:rPr>
              <a:t>they first learn a “</a:t>
            </a:r>
            <a:r>
              <a:rPr lang="en-US" sz="2400" b="1" dirty="0" err="1" smtClean="0">
                <a:solidFill>
                  <a:srgbClr val="288CD2"/>
                </a:solidFill>
              </a:rPr>
              <a:t>wordpiece</a:t>
            </a:r>
            <a:r>
              <a:rPr lang="en-US" sz="2400" b="1" dirty="0" smtClean="0">
                <a:solidFill>
                  <a:srgbClr val="288CD2"/>
                </a:solidFill>
              </a:rPr>
              <a:t> model”</a:t>
            </a:r>
          </a:p>
        </p:txBody>
      </p:sp>
    </p:spTree>
    <p:extLst>
      <p:ext uri="{BB962C8B-B14F-4D97-AF65-F5344CB8AC3E}">
        <p14:creationId xmlns:p14="http://schemas.microsoft.com/office/powerpoint/2010/main" val="17868991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Google’s NMT System</a:t>
            </a:r>
          </a:p>
        </p:txBody>
      </p:sp>
      <p:sp>
        <p:nvSpPr>
          <p:cNvPr id="4" name="Slide Number Placeholder 3"/>
          <p:cNvSpPr>
            <a:spLocks noGrp="1"/>
          </p:cNvSpPr>
          <p:nvPr>
            <p:ph type="sldNum" sz="quarter" idx="12"/>
          </p:nvPr>
        </p:nvSpPr>
        <p:spPr/>
        <p:txBody>
          <a:bodyPr/>
          <a:lstStyle/>
          <a:p>
            <a:fld id="{3CFF3AF9-2D61-8E40-AE3D-8390D801ED2C}" type="slidenum">
              <a:rPr lang="en-US" smtClean="0"/>
              <a:t>7</a:t>
            </a:fld>
            <a:endParaRPr lang="en-US"/>
          </a:p>
        </p:txBody>
      </p:sp>
      <p:sp>
        <p:nvSpPr>
          <p:cNvPr id="6" name="Rectangle 5"/>
          <p:cNvSpPr/>
          <p:nvPr/>
        </p:nvSpPr>
        <p:spPr>
          <a:xfrm>
            <a:off x="0" y="898229"/>
            <a:ext cx="8425350" cy="3378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p:cNvPicPr>
            <a:picLocks noChangeAspect="1"/>
          </p:cNvPicPr>
          <p:nvPr/>
        </p:nvPicPr>
        <p:blipFill>
          <a:blip r:embed="rId2"/>
          <a:stretch>
            <a:fillRect/>
          </a:stretch>
        </p:blipFill>
        <p:spPr>
          <a:xfrm>
            <a:off x="1155700" y="1282700"/>
            <a:ext cx="6832600" cy="4292600"/>
          </a:xfrm>
          <a:prstGeom prst="rect">
            <a:avLst/>
          </a:prstGeom>
        </p:spPr>
      </p:pic>
    </p:spTree>
    <p:extLst>
      <p:ext uri="{BB962C8B-B14F-4D97-AF65-F5344CB8AC3E}">
        <p14:creationId xmlns:p14="http://schemas.microsoft.com/office/powerpoint/2010/main" val="1552886129"/>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4" name="Slide Number Placeholder 3"/>
          <p:cNvSpPr>
            <a:spLocks noGrp="1"/>
          </p:cNvSpPr>
          <p:nvPr>
            <p:ph type="sldNum" sz="quarter" idx="12"/>
          </p:nvPr>
        </p:nvSpPr>
        <p:spPr/>
        <p:txBody>
          <a:bodyPr/>
          <a:lstStyle/>
          <a:p>
            <a:fld id="{3CFF3AF9-2D61-8E40-AE3D-8390D801ED2C}" type="slidenum">
              <a:rPr lang="en-US" smtClean="0"/>
              <a:t>8</a:t>
            </a:fld>
            <a:endParaRPr lang="en-US"/>
          </a:p>
        </p:txBody>
      </p:sp>
      <p:pic>
        <p:nvPicPr>
          <p:cNvPr id="3" name="Picture 2"/>
          <p:cNvPicPr>
            <a:picLocks noChangeAspect="1"/>
          </p:cNvPicPr>
          <p:nvPr/>
        </p:nvPicPr>
        <p:blipFill>
          <a:blip r:embed="rId2"/>
          <a:stretch>
            <a:fillRect/>
          </a:stretch>
        </p:blipFill>
        <p:spPr>
          <a:xfrm>
            <a:off x="0" y="1816100"/>
            <a:ext cx="9144000" cy="3215247"/>
          </a:xfrm>
          <a:prstGeom prst="rect">
            <a:avLst/>
          </a:prstGeom>
        </p:spPr>
      </p:pic>
    </p:spTree>
    <p:extLst>
      <p:ext uri="{BB962C8B-B14F-4D97-AF65-F5344CB8AC3E}">
        <p14:creationId xmlns:p14="http://schemas.microsoft.com/office/powerpoint/2010/main" val="3953122197"/>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4" name="Slide Number Placeholder 3"/>
          <p:cNvSpPr>
            <a:spLocks noGrp="1"/>
          </p:cNvSpPr>
          <p:nvPr>
            <p:ph type="sldNum" sz="quarter" idx="12"/>
          </p:nvPr>
        </p:nvSpPr>
        <p:spPr/>
        <p:txBody>
          <a:bodyPr/>
          <a:lstStyle/>
          <a:p>
            <a:fld id="{3CFF3AF9-2D61-8E40-AE3D-8390D801ED2C}" type="slidenum">
              <a:rPr lang="en-US" smtClean="0"/>
              <a:t>9</a:t>
            </a:fld>
            <a:endParaRPr lang="en-US"/>
          </a:p>
        </p:txBody>
      </p:sp>
      <p:pic>
        <p:nvPicPr>
          <p:cNvPr id="5" name="Picture 4"/>
          <p:cNvPicPr>
            <a:picLocks noChangeAspect="1"/>
          </p:cNvPicPr>
          <p:nvPr/>
        </p:nvPicPr>
        <p:blipFill>
          <a:blip r:embed="rId2"/>
          <a:stretch>
            <a:fillRect/>
          </a:stretch>
        </p:blipFill>
        <p:spPr>
          <a:xfrm>
            <a:off x="0" y="1065771"/>
            <a:ext cx="9144000" cy="1775245"/>
          </a:xfrm>
          <a:prstGeom prst="rect">
            <a:avLst/>
          </a:prstGeom>
        </p:spPr>
      </p:pic>
      <p:pic>
        <p:nvPicPr>
          <p:cNvPr id="6" name="Picture 5"/>
          <p:cNvPicPr>
            <a:picLocks noChangeAspect="1"/>
          </p:cNvPicPr>
          <p:nvPr/>
        </p:nvPicPr>
        <p:blipFill>
          <a:blip r:embed="rId3"/>
          <a:stretch>
            <a:fillRect/>
          </a:stretch>
        </p:blipFill>
        <p:spPr>
          <a:xfrm>
            <a:off x="122423" y="2996280"/>
            <a:ext cx="4877286" cy="349090"/>
          </a:xfrm>
          <a:prstGeom prst="rect">
            <a:avLst/>
          </a:prstGeom>
        </p:spPr>
      </p:pic>
      <p:pic>
        <p:nvPicPr>
          <p:cNvPr id="7" name="Picture 6"/>
          <p:cNvPicPr>
            <a:picLocks noChangeAspect="1"/>
          </p:cNvPicPr>
          <p:nvPr/>
        </p:nvPicPr>
        <p:blipFill>
          <a:blip r:embed="rId4"/>
          <a:stretch>
            <a:fillRect/>
          </a:stretch>
        </p:blipFill>
        <p:spPr>
          <a:xfrm>
            <a:off x="990600" y="3752850"/>
            <a:ext cx="7150100" cy="2603500"/>
          </a:xfrm>
          <a:prstGeom prst="rect">
            <a:avLst/>
          </a:prstGeom>
        </p:spPr>
      </p:pic>
    </p:spTree>
    <p:extLst>
      <p:ext uri="{BB962C8B-B14F-4D97-AF65-F5344CB8AC3E}">
        <p14:creationId xmlns:p14="http://schemas.microsoft.com/office/powerpoint/2010/main" val="183861875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rmAutofit fontScale="90000"/>
          </a:bodyPr>
          <a:lstStyle/>
          <a:p>
            <a:pPr eaLnBrk="1" hangingPunct="1"/>
            <a:r>
              <a:rPr lang="en-US" dirty="0"/>
              <a:t>Noisy Channel </a:t>
            </a:r>
            <a:r>
              <a:rPr lang="en-US" dirty="0" smtClean="0"/>
              <a:t>Model</a:t>
            </a:r>
            <a:endParaRPr lang="en-US"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250" y="1349693"/>
            <a:ext cx="8235950" cy="5030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6148" name="Rectangle 5"/>
          <p:cNvSpPr>
            <a:spLocks noChangeArrowheads="1"/>
          </p:cNvSpPr>
          <p:nvPr/>
        </p:nvSpPr>
        <p:spPr bwMode="auto">
          <a:xfrm>
            <a:off x="381000" y="1600200"/>
            <a:ext cx="6858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150" name="Rectangle 6"/>
          <p:cNvSpPr>
            <a:spLocks noChangeArrowheads="1"/>
          </p:cNvSpPr>
          <p:nvPr/>
        </p:nvSpPr>
        <p:spPr bwMode="auto">
          <a:xfrm>
            <a:off x="4191000" y="1371600"/>
            <a:ext cx="10668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6151" name="Rectangle 7"/>
          <p:cNvSpPr>
            <a:spLocks noChangeArrowheads="1"/>
          </p:cNvSpPr>
          <p:nvPr/>
        </p:nvSpPr>
        <p:spPr bwMode="auto">
          <a:xfrm>
            <a:off x="3429000" y="4953000"/>
            <a:ext cx="3124200" cy="1524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7" name="TextBox 11"/>
          <p:cNvSpPr txBox="1">
            <a:spLocks noChangeArrowheads="1"/>
          </p:cNvSpPr>
          <p:nvPr/>
        </p:nvSpPr>
        <p:spPr bwMode="auto">
          <a:xfrm>
            <a:off x="7083267" y="6381867"/>
            <a:ext cx="19691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from Noah Smith</a:t>
            </a:r>
            <a:endParaRPr lang="en-US" sz="2000" dirty="0">
              <a:solidFill>
                <a:srgbClr val="0062AC"/>
              </a:solidFill>
              <a:latin typeface="Calibri"/>
              <a:cs typeface="Calibri"/>
            </a:endParaRPr>
          </a:p>
        </p:txBody>
      </p:sp>
    </p:spTree>
    <p:extLst>
      <p:ext uri="{BB962C8B-B14F-4D97-AF65-F5344CB8AC3E}">
        <p14:creationId xmlns:p14="http://schemas.microsoft.com/office/powerpoint/2010/main" val="1408218421"/>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0" y="18998"/>
            <a:ext cx="9144000" cy="936042"/>
          </a:xfrm>
        </p:spPr>
        <p:txBody>
          <a:bodyPr>
            <a:noAutofit/>
          </a:bodyPr>
          <a:lstStyle/>
          <a:p>
            <a:pPr eaLnBrk="1" hangingPunct="1"/>
            <a:r>
              <a:rPr lang="en-US" altLang="en-US" sz="2800" dirty="0"/>
              <a:t>Noisy Channel Model for </a:t>
            </a:r>
            <a:r>
              <a:rPr lang="en-US" altLang="en-US" sz="2800" dirty="0" smtClean="0"/>
              <a:t>Translating French (</a:t>
            </a:r>
            <a:r>
              <a:rPr lang="en-US" altLang="en-US" sz="2800" b="1" i="1" dirty="0" smtClean="0"/>
              <a:t>x</a:t>
            </a:r>
            <a:r>
              <a:rPr lang="en-US" altLang="en-US" sz="2800" dirty="0" smtClean="0"/>
              <a:t>) </a:t>
            </a:r>
            <a:r>
              <a:rPr lang="en-US" altLang="en-US" sz="2800" dirty="0"/>
              <a:t>to English </a:t>
            </a:r>
            <a:r>
              <a:rPr lang="en-US" altLang="en-US" sz="2800" dirty="0" smtClean="0"/>
              <a:t>(</a:t>
            </a:r>
            <a:r>
              <a:rPr lang="en-US" altLang="en-US" sz="2800" b="1" i="1" dirty="0" smtClean="0"/>
              <a:t>y</a:t>
            </a:r>
            <a:r>
              <a:rPr lang="en-US" altLang="en-US" sz="2800" dirty="0" smtClean="0"/>
              <a:t>)</a:t>
            </a:r>
            <a:endParaRPr lang="en-US" altLang="en-US" sz="2800" dirty="0"/>
          </a:p>
        </p:txBody>
      </p:sp>
      <p:pic>
        <p:nvPicPr>
          <p:cNvPr id="717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b="30091"/>
          <a:stretch/>
        </p:blipFill>
        <p:spPr bwMode="auto">
          <a:xfrm>
            <a:off x="293370" y="1176973"/>
            <a:ext cx="8235950" cy="3516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172" name="Rectangle 5"/>
          <p:cNvSpPr>
            <a:spLocks noChangeArrowheads="1"/>
          </p:cNvSpPr>
          <p:nvPr/>
        </p:nvSpPr>
        <p:spPr bwMode="auto">
          <a:xfrm>
            <a:off x="452120" y="1407160"/>
            <a:ext cx="6858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7174" name="Rectangle 6"/>
          <p:cNvSpPr>
            <a:spLocks noChangeArrowheads="1"/>
          </p:cNvSpPr>
          <p:nvPr/>
        </p:nvSpPr>
        <p:spPr bwMode="auto">
          <a:xfrm>
            <a:off x="4262120" y="1178560"/>
            <a:ext cx="10668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7175" name="Rectangle 7"/>
          <p:cNvSpPr>
            <a:spLocks noChangeArrowheads="1"/>
          </p:cNvSpPr>
          <p:nvPr/>
        </p:nvSpPr>
        <p:spPr bwMode="auto">
          <a:xfrm>
            <a:off x="3429000" y="4953000"/>
            <a:ext cx="3124200" cy="1524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15" name="TextBox 11"/>
          <p:cNvSpPr txBox="1">
            <a:spLocks noChangeArrowheads="1"/>
          </p:cNvSpPr>
          <p:nvPr/>
        </p:nvSpPr>
        <p:spPr bwMode="auto">
          <a:xfrm>
            <a:off x="7083267" y="6381867"/>
            <a:ext cx="19691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from Noah Smith</a:t>
            </a:r>
            <a:endParaRPr lang="en-US" sz="2000" dirty="0">
              <a:solidFill>
                <a:srgbClr val="0062AC"/>
              </a:solidFill>
              <a:latin typeface="Calibri"/>
              <a:cs typeface="Calibri"/>
            </a:endParaRPr>
          </a:p>
        </p:txBody>
      </p:sp>
      <p:pic>
        <p:nvPicPr>
          <p:cNvPr id="3" name="Picture 2"/>
          <p:cNvPicPr>
            <a:picLocks noChangeAspect="1"/>
          </p:cNvPicPr>
          <p:nvPr/>
        </p:nvPicPr>
        <p:blipFill>
          <a:blip r:embed="rId4"/>
          <a:stretch>
            <a:fillRect/>
          </a:stretch>
        </p:blipFill>
        <p:spPr>
          <a:xfrm>
            <a:off x="528320" y="1529080"/>
            <a:ext cx="635000" cy="317500"/>
          </a:xfrm>
          <a:prstGeom prst="rect">
            <a:avLst/>
          </a:prstGeom>
        </p:spPr>
      </p:pic>
      <p:pic>
        <p:nvPicPr>
          <p:cNvPr id="4" name="Picture 3"/>
          <p:cNvPicPr>
            <a:picLocks noChangeAspect="1"/>
          </p:cNvPicPr>
          <p:nvPr/>
        </p:nvPicPr>
        <p:blipFill>
          <a:blip r:embed="rId5"/>
          <a:stretch>
            <a:fillRect/>
          </a:stretch>
        </p:blipFill>
        <p:spPr>
          <a:xfrm>
            <a:off x="4097020" y="1176973"/>
            <a:ext cx="1092200" cy="317500"/>
          </a:xfrm>
          <a:prstGeom prst="rect">
            <a:avLst/>
          </a:prstGeom>
        </p:spPr>
      </p:pic>
      <p:pic>
        <p:nvPicPr>
          <p:cNvPr id="5" name="Picture 4"/>
          <p:cNvPicPr>
            <a:picLocks noChangeAspect="1"/>
          </p:cNvPicPr>
          <p:nvPr/>
        </p:nvPicPr>
        <p:blipFill>
          <a:blip r:embed="rId6"/>
          <a:stretch>
            <a:fillRect/>
          </a:stretch>
        </p:blipFill>
        <p:spPr>
          <a:xfrm>
            <a:off x="2448560" y="1070610"/>
            <a:ext cx="190500" cy="215900"/>
          </a:xfrm>
          <a:prstGeom prst="rect">
            <a:avLst/>
          </a:prstGeom>
        </p:spPr>
      </p:pic>
      <p:pic>
        <p:nvPicPr>
          <p:cNvPr id="6" name="Picture 5"/>
          <p:cNvPicPr>
            <a:picLocks noChangeAspect="1"/>
          </p:cNvPicPr>
          <p:nvPr/>
        </p:nvPicPr>
        <p:blipFill>
          <a:blip r:embed="rId7"/>
          <a:stretch>
            <a:fillRect/>
          </a:stretch>
        </p:blipFill>
        <p:spPr>
          <a:xfrm>
            <a:off x="7579360" y="1143000"/>
            <a:ext cx="190500" cy="152400"/>
          </a:xfrm>
          <a:prstGeom prst="rect">
            <a:avLst/>
          </a:prstGeom>
        </p:spPr>
      </p:pic>
      <p:pic>
        <p:nvPicPr>
          <p:cNvPr id="8" name="Picture 7"/>
          <p:cNvPicPr>
            <a:picLocks noChangeAspect="1"/>
          </p:cNvPicPr>
          <p:nvPr/>
        </p:nvPicPr>
        <p:blipFill>
          <a:blip r:embed="rId8"/>
          <a:stretch>
            <a:fillRect/>
          </a:stretch>
        </p:blipFill>
        <p:spPr>
          <a:xfrm>
            <a:off x="3193446" y="4683759"/>
            <a:ext cx="3484213" cy="2088057"/>
          </a:xfrm>
          <a:prstGeom prst="rect">
            <a:avLst/>
          </a:prstGeom>
        </p:spPr>
      </p:pic>
    </p:spTree>
    <p:extLst>
      <p:ext uri="{BB962C8B-B14F-4D97-AF65-F5344CB8AC3E}">
        <p14:creationId xmlns:p14="http://schemas.microsoft.com/office/powerpoint/2010/main" val="1276659730"/>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z="3600">
                <a:latin typeface="+mn-lt"/>
              </a:rPr>
              <a:t>Modeling for the Noisy Channel</a:t>
            </a:r>
          </a:p>
        </p:txBody>
      </p:sp>
      <p:sp>
        <p:nvSpPr>
          <p:cNvPr id="9219" name="Rectangle 3"/>
          <p:cNvSpPr>
            <a:spLocks noGrp="1" noChangeArrowheads="1"/>
          </p:cNvSpPr>
          <p:nvPr>
            <p:ph type="body" idx="1"/>
          </p:nvPr>
        </p:nvSpPr>
        <p:spPr>
          <a:xfrm>
            <a:off x="457200" y="1073740"/>
            <a:ext cx="8514080" cy="5052424"/>
          </a:xfrm>
        </p:spPr>
        <p:txBody>
          <a:bodyPr/>
          <a:lstStyle/>
          <a:p>
            <a:pPr eaLnBrk="1" hangingPunct="1"/>
            <a:r>
              <a:rPr lang="en-US" altLang="en-US" sz="2800" dirty="0"/>
              <a:t>w</a:t>
            </a:r>
            <a:r>
              <a:rPr lang="en-US" altLang="en-US" sz="2800" dirty="0" smtClean="0"/>
              <a:t>e </a:t>
            </a:r>
            <a:r>
              <a:rPr lang="en-US" altLang="en-US" sz="2800" dirty="0"/>
              <a:t>need to model two probability </a:t>
            </a:r>
            <a:r>
              <a:rPr lang="en-US" altLang="en-US" sz="2800" dirty="0" smtClean="0"/>
              <a:t>distributions:</a:t>
            </a:r>
            <a:endParaRPr lang="en-US" altLang="en-US" sz="2800" dirty="0"/>
          </a:p>
          <a:p>
            <a:pPr lvl="1" eaLnBrk="1" hangingPunct="1"/>
            <a:r>
              <a:rPr lang="en-US" altLang="en-US" sz="2400" dirty="0" smtClean="0"/>
              <a:t>          should </a:t>
            </a:r>
            <a:r>
              <a:rPr lang="en-US" altLang="en-US" sz="2400" dirty="0"/>
              <a:t>favor fluent translations</a:t>
            </a:r>
          </a:p>
          <a:p>
            <a:pPr lvl="1" eaLnBrk="1" hangingPunct="1"/>
            <a:r>
              <a:rPr lang="en-US" altLang="en-US" sz="2400" i="1" dirty="0" smtClean="0"/>
              <a:t>                 </a:t>
            </a:r>
            <a:r>
              <a:rPr lang="en-US" altLang="en-US" sz="2400" dirty="0" smtClean="0"/>
              <a:t>should </a:t>
            </a:r>
            <a:r>
              <a:rPr lang="en-US" altLang="en-US" sz="2400" dirty="0"/>
              <a:t>favor accurate/faithful translations</a:t>
            </a:r>
          </a:p>
          <a:p>
            <a:pPr eaLnBrk="1" hangingPunct="1"/>
            <a:endParaRPr lang="en-US" altLang="en-US" sz="2800" dirty="0"/>
          </a:p>
        </p:txBody>
      </p:sp>
      <p:pic>
        <p:nvPicPr>
          <p:cNvPr id="5" name="Picture 4"/>
          <p:cNvPicPr>
            <a:picLocks noChangeAspect="1"/>
          </p:cNvPicPr>
          <p:nvPr/>
        </p:nvPicPr>
        <p:blipFill>
          <a:blip r:embed="rId3"/>
          <a:stretch>
            <a:fillRect/>
          </a:stretch>
        </p:blipFill>
        <p:spPr>
          <a:xfrm>
            <a:off x="1259840" y="1687830"/>
            <a:ext cx="635000" cy="317500"/>
          </a:xfrm>
          <a:prstGeom prst="rect">
            <a:avLst/>
          </a:prstGeom>
        </p:spPr>
      </p:pic>
      <p:pic>
        <p:nvPicPr>
          <p:cNvPr id="6" name="Picture 5"/>
          <p:cNvPicPr>
            <a:picLocks noChangeAspect="1"/>
          </p:cNvPicPr>
          <p:nvPr/>
        </p:nvPicPr>
        <p:blipFill>
          <a:blip r:embed="rId4"/>
          <a:stretch>
            <a:fillRect/>
          </a:stretch>
        </p:blipFill>
        <p:spPr>
          <a:xfrm>
            <a:off x="1249680" y="2121853"/>
            <a:ext cx="1092200" cy="317500"/>
          </a:xfrm>
          <a:prstGeom prst="rect">
            <a:avLst/>
          </a:prstGeom>
        </p:spPr>
      </p:pic>
    </p:spTree>
    <p:extLst>
      <p:ext uri="{BB962C8B-B14F-4D97-AF65-F5344CB8AC3E}">
        <p14:creationId xmlns:p14="http://schemas.microsoft.com/office/powerpoint/2010/main" val="1037836585"/>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sz="3600">
                <a:latin typeface="+mn-lt"/>
              </a:rPr>
              <a:t>Modeling for the Noisy Channel</a:t>
            </a:r>
          </a:p>
        </p:txBody>
      </p:sp>
      <p:sp>
        <p:nvSpPr>
          <p:cNvPr id="9219" name="Rectangle 3"/>
          <p:cNvSpPr>
            <a:spLocks noGrp="1" noChangeArrowheads="1"/>
          </p:cNvSpPr>
          <p:nvPr>
            <p:ph type="body" idx="1"/>
          </p:nvPr>
        </p:nvSpPr>
        <p:spPr>
          <a:xfrm>
            <a:off x="457200" y="1073740"/>
            <a:ext cx="8514080" cy="5052424"/>
          </a:xfrm>
        </p:spPr>
        <p:txBody>
          <a:bodyPr/>
          <a:lstStyle/>
          <a:p>
            <a:pPr eaLnBrk="1" hangingPunct="1"/>
            <a:r>
              <a:rPr lang="en-US" altLang="en-US" sz="2800" dirty="0"/>
              <a:t>w</a:t>
            </a:r>
            <a:r>
              <a:rPr lang="en-US" altLang="en-US" sz="2800" dirty="0" smtClean="0"/>
              <a:t>e </a:t>
            </a:r>
            <a:r>
              <a:rPr lang="en-US" altLang="en-US" sz="2800" dirty="0"/>
              <a:t>need to model two probability </a:t>
            </a:r>
            <a:r>
              <a:rPr lang="en-US" altLang="en-US" sz="2800" dirty="0" smtClean="0"/>
              <a:t>distributions:</a:t>
            </a:r>
            <a:endParaRPr lang="en-US" altLang="en-US" sz="2800" dirty="0"/>
          </a:p>
          <a:p>
            <a:pPr lvl="1" eaLnBrk="1" hangingPunct="1"/>
            <a:r>
              <a:rPr lang="en-US" altLang="en-US" sz="2400" dirty="0" smtClean="0"/>
              <a:t>          should </a:t>
            </a:r>
            <a:r>
              <a:rPr lang="en-US" altLang="en-US" sz="2400" dirty="0"/>
              <a:t>favor fluent translations</a:t>
            </a:r>
          </a:p>
          <a:p>
            <a:pPr lvl="1" eaLnBrk="1" hangingPunct="1"/>
            <a:r>
              <a:rPr lang="en-US" altLang="en-US" sz="2400" i="1" dirty="0" smtClean="0"/>
              <a:t>                 </a:t>
            </a:r>
            <a:r>
              <a:rPr lang="en-US" altLang="en-US" sz="2400" dirty="0" smtClean="0"/>
              <a:t>should </a:t>
            </a:r>
            <a:r>
              <a:rPr lang="en-US" altLang="en-US" sz="2400" dirty="0"/>
              <a:t>favor accurate/faithful translations</a:t>
            </a:r>
          </a:p>
          <a:p>
            <a:pPr eaLnBrk="1" hangingPunct="1"/>
            <a:endParaRPr lang="en-US" altLang="en-US" sz="2800" dirty="0"/>
          </a:p>
          <a:p>
            <a:pPr eaLnBrk="1" hangingPunct="1"/>
            <a:r>
              <a:rPr lang="en-US" altLang="en-US" sz="2800" dirty="0" smtClean="0"/>
              <a:t>let’s </a:t>
            </a:r>
            <a:r>
              <a:rPr lang="en-US" altLang="en-US" sz="2800" dirty="0"/>
              <a:t>start </a:t>
            </a:r>
            <a:r>
              <a:rPr lang="en-US" altLang="en-US" sz="2800" dirty="0" smtClean="0"/>
              <a:t>with</a:t>
            </a:r>
            <a:endParaRPr lang="en-US" altLang="en-US" sz="2800" dirty="0"/>
          </a:p>
          <a:p>
            <a:pPr lvl="1" eaLnBrk="1" hangingPunct="1"/>
            <a:r>
              <a:rPr lang="en-US" altLang="en-US" sz="2400" dirty="0" smtClean="0"/>
              <a:t>how </a:t>
            </a:r>
            <a:r>
              <a:rPr lang="en-US" altLang="en-US" sz="2400" dirty="0"/>
              <a:t>do we compute the probability of an English sentence?</a:t>
            </a:r>
          </a:p>
          <a:p>
            <a:pPr lvl="1" eaLnBrk="1" hangingPunct="1"/>
            <a:r>
              <a:rPr lang="en-US" altLang="en-US" sz="2400" dirty="0" smtClean="0"/>
              <a:t>language modeling is an </a:t>
            </a:r>
            <a:r>
              <a:rPr lang="en-US" altLang="en-US" sz="2400" dirty="0"/>
              <a:t>important part of </a:t>
            </a:r>
            <a:r>
              <a:rPr lang="en-US" altLang="en-US" sz="2400" dirty="0" smtClean="0"/>
              <a:t>MT</a:t>
            </a:r>
            <a:endParaRPr lang="en-US" altLang="en-US" sz="2400" dirty="0"/>
          </a:p>
        </p:txBody>
      </p:sp>
      <p:pic>
        <p:nvPicPr>
          <p:cNvPr id="4" name="Picture 3"/>
          <p:cNvPicPr>
            <a:picLocks noChangeAspect="1"/>
          </p:cNvPicPr>
          <p:nvPr/>
        </p:nvPicPr>
        <p:blipFill>
          <a:blip r:embed="rId3"/>
          <a:stretch>
            <a:fillRect/>
          </a:stretch>
        </p:blipFill>
        <p:spPr>
          <a:xfrm>
            <a:off x="3068320" y="3126740"/>
            <a:ext cx="711200" cy="355600"/>
          </a:xfrm>
          <a:prstGeom prst="rect">
            <a:avLst/>
          </a:prstGeom>
        </p:spPr>
      </p:pic>
      <p:pic>
        <p:nvPicPr>
          <p:cNvPr id="5" name="Picture 4"/>
          <p:cNvPicPr>
            <a:picLocks noChangeAspect="1"/>
          </p:cNvPicPr>
          <p:nvPr/>
        </p:nvPicPr>
        <p:blipFill>
          <a:blip r:embed="rId3"/>
          <a:stretch>
            <a:fillRect/>
          </a:stretch>
        </p:blipFill>
        <p:spPr>
          <a:xfrm>
            <a:off x="1259840" y="1687830"/>
            <a:ext cx="635000" cy="317500"/>
          </a:xfrm>
          <a:prstGeom prst="rect">
            <a:avLst/>
          </a:prstGeom>
        </p:spPr>
      </p:pic>
      <p:pic>
        <p:nvPicPr>
          <p:cNvPr id="6" name="Picture 5"/>
          <p:cNvPicPr>
            <a:picLocks noChangeAspect="1"/>
          </p:cNvPicPr>
          <p:nvPr/>
        </p:nvPicPr>
        <p:blipFill>
          <a:blip r:embed="rId4"/>
          <a:stretch>
            <a:fillRect/>
          </a:stretch>
        </p:blipFill>
        <p:spPr>
          <a:xfrm>
            <a:off x="1249680" y="2121853"/>
            <a:ext cx="1092200" cy="317500"/>
          </a:xfrm>
          <a:prstGeom prst="rect">
            <a:avLst/>
          </a:prstGeom>
        </p:spPr>
      </p:pic>
    </p:spTree>
    <p:extLst>
      <p:ext uri="{BB962C8B-B14F-4D97-AF65-F5344CB8AC3E}">
        <p14:creationId xmlns:p14="http://schemas.microsoft.com/office/powerpoint/2010/main" val="4046584190"/>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a:t>
            </a:r>
            <a:endParaRPr lang="en-US" dirty="0"/>
          </a:p>
        </p:txBody>
      </p:sp>
      <p:pic>
        <p:nvPicPr>
          <p:cNvPr id="11" name="Picture 10"/>
          <p:cNvPicPr>
            <a:picLocks noChangeAspect="1"/>
          </p:cNvPicPr>
          <p:nvPr/>
        </p:nvPicPr>
        <p:blipFill>
          <a:blip r:embed="rId2"/>
          <a:stretch>
            <a:fillRect/>
          </a:stretch>
        </p:blipFill>
        <p:spPr>
          <a:xfrm>
            <a:off x="2732815" y="1303482"/>
            <a:ext cx="3619500" cy="533400"/>
          </a:xfrm>
          <a:prstGeom prst="rect">
            <a:avLst/>
          </a:prstGeom>
        </p:spPr>
      </p:pic>
    </p:spTree>
    <p:extLst>
      <p:ext uri="{BB962C8B-B14F-4D97-AF65-F5344CB8AC3E}">
        <p14:creationId xmlns:p14="http://schemas.microsoft.com/office/powerpoint/2010/main" val="410472291"/>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a:t>
            </a:r>
            <a:endParaRPr lang="en-US" dirty="0"/>
          </a:p>
        </p:txBody>
      </p:sp>
      <p:cxnSp>
        <p:nvCxnSpPr>
          <p:cNvPr id="14" name="Straight Arrow Connector 13"/>
          <p:cNvCxnSpPr/>
          <p:nvPr/>
        </p:nvCxnSpPr>
        <p:spPr>
          <a:xfrm flipV="1">
            <a:off x="4728400" y="1604820"/>
            <a:ext cx="282335" cy="981365"/>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15" name="TextBox 11"/>
          <p:cNvSpPr txBox="1">
            <a:spLocks noChangeArrowheads="1"/>
          </p:cNvSpPr>
          <p:nvPr/>
        </p:nvSpPr>
        <p:spPr bwMode="auto">
          <a:xfrm>
            <a:off x="4143456" y="2540005"/>
            <a:ext cx="11698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source</a:t>
            </a:r>
          </a:p>
          <a:p>
            <a:pPr algn="ctr" eaLnBrk="1" hangingPunct="1"/>
            <a:r>
              <a:rPr lang="en-US" sz="2000" dirty="0" smtClean="0">
                <a:solidFill>
                  <a:srgbClr val="0062AC"/>
                </a:solidFill>
                <a:latin typeface="Calibri"/>
                <a:cs typeface="Calibri"/>
              </a:rPr>
              <a:t>sentence</a:t>
            </a:r>
            <a:endParaRPr lang="en-US" sz="2000" dirty="0">
              <a:solidFill>
                <a:srgbClr val="0062AC"/>
              </a:solidFill>
              <a:latin typeface="Calibri"/>
              <a:cs typeface="Calibri"/>
            </a:endParaRPr>
          </a:p>
        </p:txBody>
      </p:sp>
      <p:sp>
        <p:nvSpPr>
          <p:cNvPr id="16" name="TextBox 11"/>
          <p:cNvSpPr txBox="1">
            <a:spLocks noChangeArrowheads="1"/>
          </p:cNvSpPr>
          <p:nvPr/>
        </p:nvSpPr>
        <p:spPr bwMode="auto">
          <a:xfrm>
            <a:off x="2470162" y="2703947"/>
            <a:ext cx="138078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predicted</a:t>
            </a:r>
          </a:p>
          <a:p>
            <a:pPr algn="ctr" eaLnBrk="1" hangingPunct="1"/>
            <a:r>
              <a:rPr lang="en-US" sz="2000" dirty="0" smtClean="0">
                <a:solidFill>
                  <a:srgbClr val="0062AC"/>
                </a:solidFill>
                <a:latin typeface="Calibri"/>
                <a:cs typeface="Calibri"/>
              </a:rPr>
              <a:t>translation</a:t>
            </a:r>
            <a:endParaRPr lang="en-US" sz="2000" dirty="0">
              <a:solidFill>
                <a:srgbClr val="0062AC"/>
              </a:solidFill>
              <a:latin typeface="Calibri"/>
              <a:cs typeface="Calibri"/>
            </a:endParaRPr>
          </a:p>
        </p:txBody>
      </p:sp>
      <p:cxnSp>
        <p:nvCxnSpPr>
          <p:cNvPr id="17" name="Straight Arrow Connector 16"/>
          <p:cNvCxnSpPr/>
          <p:nvPr/>
        </p:nvCxnSpPr>
        <p:spPr>
          <a:xfrm flipH="1" flipV="1">
            <a:off x="2828646" y="1685637"/>
            <a:ext cx="285724" cy="1018310"/>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2"/>
          <a:stretch>
            <a:fillRect/>
          </a:stretch>
        </p:blipFill>
        <p:spPr>
          <a:xfrm>
            <a:off x="2732815" y="1303482"/>
            <a:ext cx="3619500" cy="533400"/>
          </a:xfrm>
          <a:prstGeom prst="rect">
            <a:avLst/>
          </a:prstGeom>
        </p:spPr>
      </p:pic>
    </p:spTree>
    <p:extLst>
      <p:ext uri="{BB962C8B-B14F-4D97-AF65-F5344CB8AC3E}">
        <p14:creationId xmlns:p14="http://schemas.microsoft.com/office/powerpoint/2010/main" val="1090320673"/>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a:t>
            </a:r>
            <a:endParaRPr lang="en-US" dirty="0"/>
          </a:p>
        </p:txBody>
      </p:sp>
      <p:sp>
        <p:nvSpPr>
          <p:cNvPr id="10" name="TextBox 11"/>
          <p:cNvSpPr txBox="1">
            <a:spLocks noChangeArrowheads="1"/>
          </p:cNvSpPr>
          <p:nvPr/>
        </p:nvSpPr>
        <p:spPr bwMode="auto">
          <a:xfrm>
            <a:off x="87840" y="2055092"/>
            <a:ext cx="87962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assumes we have the right model, and that we estimate it perfectly</a:t>
            </a:r>
          </a:p>
        </p:txBody>
      </p:sp>
      <p:pic>
        <p:nvPicPr>
          <p:cNvPr id="14" name="Picture 13"/>
          <p:cNvPicPr>
            <a:picLocks noChangeAspect="1"/>
          </p:cNvPicPr>
          <p:nvPr/>
        </p:nvPicPr>
        <p:blipFill>
          <a:blip r:embed="rId2"/>
          <a:stretch>
            <a:fillRect/>
          </a:stretch>
        </p:blipFill>
        <p:spPr>
          <a:xfrm>
            <a:off x="2732815" y="1303482"/>
            <a:ext cx="3619500" cy="533400"/>
          </a:xfrm>
          <a:prstGeom prst="rect">
            <a:avLst/>
          </a:prstGeom>
        </p:spPr>
      </p:pic>
    </p:spTree>
    <p:extLst>
      <p:ext uri="{BB962C8B-B14F-4D97-AF65-F5344CB8AC3E}">
        <p14:creationId xmlns:p14="http://schemas.microsoft.com/office/powerpoint/2010/main" val="541591260"/>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a:t>
            </a:r>
            <a:endParaRPr lang="en-US" dirty="0"/>
          </a:p>
        </p:txBody>
      </p:sp>
      <p:pic>
        <p:nvPicPr>
          <p:cNvPr id="5" name="Picture 4"/>
          <p:cNvPicPr>
            <a:picLocks noChangeAspect="1"/>
          </p:cNvPicPr>
          <p:nvPr/>
        </p:nvPicPr>
        <p:blipFill>
          <a:blip r:embed="rId2"/>
          <a:stretch>
            <a:fillRect/>
          </a:stretch>
        </p:blipFill>
        <p:spPr>
          <a:xfrm>
            <a:off x="2732815" y="1303482"/>
            <a:ext cx="3619500" cy="533400"/>
          </a:xfrm>
          <a:prstGeom prst="rect">
            <a:avLst/>
          </a:prstGeom>
        </p:spPr>
      </p:pic>
      <p:pic>
        <p:nvPicPr>
          <p:cNvPr id="6" name="Picture 5"/>
          <p:cNvPicPr>
            <a:picLocks noChangeAspect="1"/>
          </p:cNvPicPr>
          <p:nvPr/>
        </p:nvPicPr>
        <p:blipFill>
          <a:blip r:embed="rId3"/>
          <a:stretch>
            <a:fillRect/>
          </a:stretch>
        </p:blipFill>
        <p:spPr>
          <a:xfrm>
            <a:off x="2740911" y="3159981"/>
            <a:ext cx="3962400" cy="584200"/>
          </a:xfrm>
          <a:prstGeom prst="rect">
            <a:avLst/>
          </a:prstGeom>
        </p:spPr>
      </p:pic>
      <p:sp>
        <p:nvSpPr>
          <p:cNvPr id="14" name="TextBox 11"/>
          <p:cNvSpPr txBox="1">
            <a:spLocks noChangeArrowheads="1"/>
          </p:cNvSpPr>
          <p:nvPr/>
        </p:nvSpPr>
        <p:spPr bwMode="auto">
          <a:xfrm>
            <a:off x="87840" y="2055092"/>
            <a:ext cx="87962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assumes we have the right model, and that we estimate it perfectly</a:t>
            </a:r>
          </a:p>
        </p:txBody>
      </p:sp>
    </p:spTree>
    <p:extLst>
      <p:ext uri="{BB962C8B-B14F-4D97-AF65-F5344CB8AC3E}">
        <p14:creationId xmlns:p14="http://schemas.microsoft.com/office/powerpoint/2010/main" val="1488610834"/>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a:t>
            </a:r>
            <a:endParaRPr lang="en-US" dirty="0"/>
          </a:p>
        </p:txBody>
      </p:sp>
      <p:pic>
        <p:nvPicPr>
          <p:cNvPr id="5" name="Picture 4"/>
          <p:cNvPicPr>
            <a:picLocks noChangeAspect="1"/>
          </p:cNvPicPr>
          <p:nvPr/>
        </p:nvPicPr>
        <p:blipFill>
          <a:blip r:embed="rId2"/>
          <a:stretch>
            <a:fillRect/>
          </a:stretch>
        </p:blipFill>
        <p:spPr>
          <a:xfrm>
            <a:off x="2732815" y="1303482"/>
            <a:ext cx="3619500" cy="533400"/>
          </a:xfrm>
          <a:prstGeom prst="rect">
            <a:avLst/>
          </a:prstGeom>
        </p:spPr>
      </p:pic>
      <p:pic>
        <p:nvPicPr>
          <p:cNvPr id="6" name="Picture 5"/>
          <p:cNvPicPr>
            <a:picLocks noChangeAspect="1"/>
          </p:cNvPicPr>
          <p:nvPr/>
        </p:nvPicPr>
        <p:blipFill>
          <a:blip r:embed="rId3"/>
          <a:stretch>
            <a:fillRect/>
          </a:stretch>
        </p:blipFill>
        <p:spPr>
          <a:xfrm>
            <a:off x="2740911" y="3159981"/>
            <a:ext cx="3962400" cy="584200"/>
          </a:xfrm>
          <a:prstGeom prst="rect">
            <a:avLst/>
          </a:prstGeom>
        </p:spPr>
      </p:pic>
      <p:pic>
        <p:nvPicPr>
          <p:cNvPr id="7" name="Picture 6"/>
          <p:cNvPicPr>
            <a:picLocks noChangeAspect="1"/>
          </p:cNvPicPr>
          <p:nvPr/>
        </p:nvPicPr>
        <p:blipFill>
          <a:blip r:embed="rId4"/>
          <a:stretch>
            <a:fillRect/>
          </a:stretch>
        </p:blipFill>
        <p:spPr>
          <a:xfrm>
            <a:off x="2733984" y="3866563"/>
            <a:ext cx="5372100" cy="533400"/>
          </a:xfrm>
          <a:prstGeom prst="rect">
            <a:avLst/>
          </a:prstGeom>
        </p:spPr>
      </p:pic>
      <p:sp>
        <p:nvSpPr>
          <p:cNvPr id="12" name="Rectangle 11"/>
          <p:cNvSpPr/>
          <p:nvPr/>
        </p:nvSpPr>
        <p:spPr>
          <a:xfrm>
            <a:off x="2620839" y="3821536"/>
            <a:ext cx="508000" cy="484909"/>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3" name="TextBox 11"/>
          <p:cNvSpPr txBox="1">
            <a:spLocks noChangeArrowheads="1"/>
          </p:cNvSpPr>
          <p:nvPr/>
        </p:nvSpPr>
        <p:spPr bwMode="auto">
          <a:xfrm>
            <a:off x="1161164" y="4643607"/>
            <a:ext cx="67697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extra parameters to tune, can tune to optimize BLEU</a:t>
            </a:r>
          </a:p>
        </p:txBody>
      </p:sp>
      <p:sp>
        <p:nvSpPr>
          <p:cNvPr id="14" name="TextBox 11"/>
          <p:cNvSpPr txBox="1">
            <a:spLocks noChangeArrowheads="1"/>
          </p:cNvSpPr>
          <p:nvPr/>
        </p:nvSpPr>
        <p:spPr bwMode="auto">
          <a:xfrm>
            <a:off x="87840" y="2055092"/>
            <a:ext cx="87962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assumes we have the right model, and that we estimate it perfectly</a:t>
            </a:r>
          </a:p>
        </p:txBody>
      </p:sp>
    </p:spTree>
    <p:extLst>
      <p:ext uri="{BB962C8B-B14F-4D97-AF65-F5344CB8AC3E}">
        <p14:creationId xmlns:p14="http://schemas.microsoft.com/office/powerpoint/2010/main" val="897799488"/>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a:t>
            </a:r>
            <a:endParaRPr lang="en-US" dirty="0"/>
          </a:p>
        </p:txBody>
      </p:sp>
      <p:pic>
        <p:nvPicPr>
          <p:cNvPr id="5" name="Picture 4"/>
          <p:cNvPicPr>
            <a:picLocks noChangeAspect="1"/>
          </p:cNvPicPr>
          <p:nvPr/>
        </p:nvPicPr>
        <p:blipFill>
          <a:blip r:embed="rId2"/>
          <a:stretch>
            <a:fillRect/>
          </a:stretch>
        </p:blipFill>
        <p:spPr>
          <a:xfrm>
            <a:off x="2732815" y="1303482"/>
            <a:ext cx="3619500" cy="533400"/>
          </a:xfrm>
          <a:prstGeom prst="rect">
            <a:avLst/>
          </a:prstGeom>
        </p:spPr>
      </p:pic>
      <p:pic>
        <p:nvPicPr>
          <p:cNvPr id="6" name="Picture 5"/>
          <p:cNvPicPr>
            <a:picLocks noChangeAspect="1"/>
          </p:cNvPicPr>
          <p:nvPr/>
        </p:nvPicPr>
        <p:blipFill>
          <a:blip r:embed="rId3"/>
          <a:stretch>
            <a:fillRect/>
          </a:stretch>
        </p:blipFill>
        <p:spPr>
          <a:xfrm>
            <a:off x="2740911" y="3159981"/>
            <a:ext cx="3962400" cy="584200"/>
          </a:xfrm>
          <a:prstGeom prst="rect">
            <a:avLst/>
          </a:prstGeom>
        </p:spPr>
      </p:pic>
      <p:pic>
        <p:nvPicPr>
          <p:cNvPr id="7" name="Picture 6"/>
          <p:cNvPicPr>
            <a:picLocks noChangeAspect="1"/>
          </p:cNvPicPr>
          <p:nvPr/>
        </p:nvPicPr>
        <p:blipFill>
          <a:blip r:embed="rId4"/>
          <a:stretch>
            <a:fillRect/>
          </a:stretch>
        </p:blipFill>
        <p:spPr>
          <a:xfrm>
            <a:off x="2733984" y="3866563"/>
            <a:ext cx="5372100" cy="533400"/>
          </a:xfrm>
          <a:prstGeom prst="rect">
            <a:avLst/>
          </a:prstGeom>
        </p:spPr>
      </p:pic>
      <p:sp>
        <p:nvSpPr>
          <p:cNvPr id="12" name="Rectangle 11"/>
          <p:cNvSpPr/>
          <p:nvPr/>
        </p:nvSpPr>
        <p:spPr>
          <a:xfrm>
            <a:off x="2620839" y="3821536"/>
            <a:ext cx="508000" cy="484909"/>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3" name="TextBox 11"/>
          <p:cNvSpPr txBox="1">
            <a:spLocks noChangeArrowheads="1"/>
          </p:cNvSpPr>
          <p:nvPr/>
        </p:nvSpPr>
        <p:spPr bwMode="auto">
          <a:xfrm>
            <a:off x="1161164" y="4643607"/>
            <a:ext cx="67697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extra parameters to tune, can tune to optimize BLEU</a:t>
            </a:r>
          </a:p>
        </p:txBody>
      </p:sp>
      <p:sp>
        <p:nvSpPr>
          <p:cNvPr id="14" name="TextBox 11"/>
          <p:cNvSpPr txBox="1">
            <a:spLocks noChangeArrowheads="1"/>
          </p:cNvSpPr>
          <p:nvPr/>
        </p:nvSpPr>
        <p:spPr bwMode="auto">
          <a:xfrm>
            <a:off x="87840" y="2055092"/>
            <a:ext cx="879624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assumes we have the right model, and that we estimate it perfectly</a:t>
            </a:r>
          </a:p>
        </p:txBody>
      </p:sp>
      <p:sp>
        <p:nvSpPr>
          <p:cNvPr id="10" name="TextBox 11"/>
          <p:cNvSpPr txBox="1">
            <a:spLocks noChangeArrowheads="1"/>
          </p:cNvSpPr>
          <p:nvPr/>
        </p:nvSpPr>
        <p:spPr bwMode="auto">
          <a:xfrm>
            <a:off x="3750068" y="5197765"/>
            <a:ext cx="17765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i="0" dirty="0" smtClean="0">
                <a:solidFill>
                  <a:srgbClr val="0062AC"/>
                </a:solidFill>
                <a:latin typeface="Calibri"/>
                <a:cs typeface="Calibri"/>
              </a:rPr>
              <a:t>“tuning”</a:t>
            </a:r>
          </a:p>
        </p:txBody>
      </p:sp>
    </p:spTree>
    <p:extLst>
      <p:ext uri="{BB962C8B-B14F-4D97-AF65-F5344CB8AC3E}">
        <p14:creationId xmlns:p14="http://schemas.microsoft.com/office/powerpoint/2010/main" val="1095890994"/>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 </a:t>
            </a:r>
            <a:r>
              <a:rPr lang="en-US" dirty="0" smtClean="0">
                <a:sym typeface="Wingdings"/>
              </a:rPr>
              <a:t> Linear Model?</a:t>
            </a:r>
            <a:endParaRPr lang="en-US" dirty="0"/>
          </a:p>
        </p:txBody>
      </p:sp>
      <p:pic>
        <p:nvPicPr>
          <p:cNvPr id="7" name="Picture 6"/>
          <p:cNvPicPr>
            <a:picLocks noChangeAspect="1"/>
          </p:cNvPicPr>
          <p:nvPr/>
        </p:nvPicPr>
        <p:blipFill>
          <a:blip r:embed="rId2"/>
          <a:stretch>
            <a:fillRect/>
          </a:stretch>
        </p:blipFill>
        <p:spPr>
          <a:xfrm>
            <a:off x="1856512" y="1095664"/>
            <a:ext cx="5372100" cy="533400"/>
          </a:xfrm>
          <a:prstGeom prst="rect">
            <a:avLst/>
          </a:prstGeom>
        </p:spPr>
      </p:pic>
      <p:sp>
        <p:nvSpPr>
          <p:cNvPr id="10" name="TextBox 11"/>
          <p:cNvSpPr txBox="1">
            <a:spLocks noChangeArrowheads="1"/>
          </p:cNvSpPr>
          <p:nvPr/>
        </p:nvSpPr>
        <p:spPr bwMode="auto">
          <a:xfrm>
            <a:off x="962038" y="1835737"/>
            <a:ext cx="704787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since we’re not using idealized decoding rule anymore,</a:t>
            </a:r>
          </a:p>
          <a:p>
            <a:pPr algn="ctr" eaLnBrk="1" hangingPunct="1"/>
            <a:r>
              <a:rPr lang="en-US" sz="2400" i="0" dirty="0" smtClean="0">
                <a:solidFill>
                  <a:srgbClr val="0062AC"/>
                </a:solidFill>
                <a:latin typeface="Calibri"/>
                <a:cs typeface="Calibri"/>
              </a:rPr>
              <a:t>why not add more feature functions?</a:t>
            </a:r>
          </a:p>
          <a:p>
            <a:pPr algn="ctr" eaLnBrk="1" hangingPunct="1"/>
            <a:endParaRPr lang="en-US" sz="2400" i="0" dirty="0">
              <a:solidFill>
                <a:srgbClr val="0062AC"/>
              </a:solidFill>
              <a:latin typeface="Calibri"/>
              <a:cs typeface="Calibri"/>
            </a:endParaRPr>
          </a:p>
          <a:p>
            <a:pPr algn="ctr" eaLnBrk="1" hangingPunct="1"/>
            <a:r>
              <a:rPr lang="en-US" sz="2400" i="0" dirty="0" smtClean="0">
                <a:solidFill>
                  <a:schemeClr val="bg1"/>
                </a:solidFill>
                <a:latin typeface="Calibri"/>
                <a:cs typeface="Calibri"/>
              </a:rPr>
              <a:t>“word count feature”:</a:t>
            </a:r>
          </a:p>
        </p:txBody>
      </p:sp>
    </p:spTree>
    <p:extLst>
      <p:ext uri="{BB962C8B-B14F-4D97-AF65-F5344CB8AC3E}">
        <p14:creationId xmlns:p14="http://schemas.microsoft.com/office/powerpoint/2010/main" val="1820179486"/>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 </a:t>
            </a:r>
            <a:r>
              <a:rPr lang="en-US" dirty="0" smtClean="0">
                <a:sym typeface="Wingdings"/>
              </a:rPr>
              <a:t> Linear Model?</a:t>
            </a:r>
            <a:endParaRPr lang="en-US" dirty="0"/>
          </a:p>
        </p:txBody>
      </p:sp>
      <p:pic>
        <p:nvPicPr>
          <p:cNvPr id="7" name="Picture 6"/>
          <p:cNvPicPr>
            <a:picLocks noChangeAspect="1"/>
          </p:cNvPicPr>
          <p:nvPr/>
        </p:nvPicPr>
        <p:blipFill>
          <a:blip r:embed="rId2"/>
          <a:stretch>
            <a:fillRect/>
          </a:stretch>
        </p:blipFill>
        <p:spPr>
          <a:xfrm>
            <a:off x="1856512" y="1095664"/>
            <a:ext cx="5372100" cy="533400"/>
          </a:xfrm>
          <a:prstGeom prst="rect">
            <a:avLst/>
          </a:prstGeom>
        </p:spPr>
      </p:pic>
      <p:sp>
        <p:nvSpPr>
          <p:cNvPr id="10" name="TextBox 11"/>
          <p:cNvSpPr txBox="1">
            <a:spLocks noChangeArrowheads="1"/>
          </p:cNvSpPr>
          <p:nvPr/>
        </p:nvSpPr>
        <p:spPr bwMode="auto">
          <a:xfrm>
            <a:off x="962038" y="1835737"/>
            <a:ext cx="704787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since we’re not using idealized decoding rule anymore,</a:t>
            </a:r>
          </a:p>
          <a:p>
            <a:pPr algn="ctr" eaLnBrk="1" hangingPunct="1"/>
            <a:r>
              <a:rPr lang="en-US" sz="2400" i="0" dirty="0" smtClean="0">
                <a:solidFill>
                  <a:srgbClr val="0062AC"/>
                </a:solidFill>
                <a:latin typeface="Calibri"/>
                <a:cs typeface="Calibri"/>
              </a:rPr>
              <a:t>why not add more feature functions?</a:t>
            </a:r>
          </a:p>
          <a:p>
            <a:pPr algn="ctr" eaLnBrk="1" hangingPunct="1"/>
            <a:endParaRPr lang="en-US" sz="2400" i="0" dirty="0">
              <a:solidFill>
                <a:srgbClr val="0062AC"/>
              </a:solidFill>
              <a:latin typeface="Calibri"/>
              <a:cs typeface="Calibri"/>
            </a:endParaRPr>
          </a:p>
          <a:p>
            <a:pPr algn="ctr" eaLnBrk="1" hangingPunct="1"/>
            <a:r>
              <a:rPr lang="en-US" sz="2400" i="0" dirty="0" smtClean="0">
                <a:solidFill>
                  <a:srgbClr val="C50C0C"/>
                </a:solidFill>
                <a:latin typeface="Calibri"/>
                <a:cs typeface="Calibri"/>
              </a:rPr>
              <a:t>“word count feature”:</a:t>
            </a:r>
          </a:p>
        </p:txBody>
      </p:sp>
      <p:sp>
        <p:nvSpPr>
          <p:cNvPr id="12" name="Rectangle 11"/>
          <p:cNvSpPr/>
          <p:nvPr/>
        </p:nvSpPr>
        <p:spPr>
          <a:xfrm>
            <a:off x="2863284" y="3636816"/>
            <a:ext cx="508000" cy="484909"/>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3" name="Picture 2"/>
          <p:cNvPicPr>
            <a:picLocks noChangeAspect="1"/>
          </p:cNvPicPr>
          <p:nvPr/>
        </p:nvPicPr>
        <p:blipFill>
          <a:blip r:embed="rId3"/>
          <a:stretch>
            <a:fillRect/>
          </a:stretch>
        </p:blipFill>
        <p:spPr>
          <a:xfrm>
            <a:off x="1467413" y="3427863"/>
            <a:ext cx="6324600" cy="533400"/>
          </a:xfrm>
          <a:prstGeom prst="rect">
            <a:avLst/>
          </a:prstGeom>
        </p:spPr>
      </p:pic>
      <p:sp>
        <p:nvSpPr>
          <p:cNvPr id="9" name="Rectangle 8"/>
          <p:cNvSpPr/>
          <p:nvPr/>
        </p:nvSpPr>
        <p:spPr>
          <a:xfrm>
            <a:off x="7181274" y="3244276"/>
            <a:ext cx="762000" cy="646545"/>
          </a:xfrm>
          <a:prstGeom prst="rect">
            <a:avLst/>
          </a:prstGeom>
          <a:ln w="28575"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852069687"/>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Noisy Channel </a:t>
            </a:r>
            <a:r>
              <a:rPr lang="en-US" dirty="0" smtClean="0">
                <a:sym typeface="Wingdings"/>
              </a:rPr>
              <a:t> Linear Model?</a:t>
            </a:r>
            <a:endParaRPr lang="en-US" dirty="0"/>
          </a:p>
        </p:txBody>
      </p:sp>
      <p:pic>
        <p:nvPicPr>
          <p:cNvPr id="7" name="Picture 6"/>
          <p:cNvPicPr>
            <a:picLocks noChangeAspect="1"/>
          </p:cNvPicPr>
          <p:nvPr/>
        </p:nvPicPr>
        <p:blipFill>
          <a:blip r:embed="rId2"/>
          <a:stretch>
            <a:fillRect/>
          </a:stretch>
        </p:blipFill>
        <p:spPr>
          <a:xfrm>
            <a:off x="1856512" y="1095664"/>
            <a:ext cx="5372100" cy="533400"/>
          </a:xfrm>
          <a:prstGeom prst="rect">
            <a:avLst/>
          </a:prstGeom>
        </p:spPr>
      </p:pic>
      <p:sp>
        <p:nvSpPr>
          <p:cNvPr id="10" name="TextBox 11"/>
          <p:cNvSpPr txBox="1">
            <a:spLocks noChangeArrowheads="1"/>
          </p:cNvSpPr>
          <p:nvPr/>
        </p:nvSpPr>
        <p:spPr bwMode="auto">
          <a:xfrm>
            <a:off x="962038" y="1835737"/>
            <a:ext cx="704787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0062AC"/>
                </a:solidFill>
                <a:latin typeface="Calibri"/>
                <a:cs typeface="Calibri"/>
              </a:rPr>
              <a:t>since we’re not using idealized decoding rule anymore,</a:t>
            </a:r>
          </a:p>
          <a:p>
            <a:pPr algn="ctr" eaLnBrk="1" hangingPunct="1"/>
            <a:r>
              <a:rPr lang="en-US" sz="2400" i="0" dirty="0" smtClean="0">
                <a:solidFill>
                  <a:srgbClr val="0062AC"/>
                </a:solidFill>
                <a:latin typeface="Calibri"/>
                <a:cs typeface="Calibri"/>
              </a:rPr>
              <a:t>why not add more feature functions?</a:t>
            </a:r>
          </a:p>
          <a:p>
            <a:pPr algn="ctr" eaLnBrk="1" hangingPunct="1"/>
            <a:endParaRPr lang="en-US" sz="2400" i="0" dirty="0">
              <a:solidFill>
                <a:srgbClr val="0062AC"/>
              </a:solidFill>
              <a:latin typeface="Calibri"/>
              <a:cs typeface="Calibri"/>
            </a:endParaRPr>
          </a:p>
          <a:p>
            <a:pPr algn="ctr" eaLnBrk="1" hangingPunct="1"/>
            <a:r>
              <a:rPr lang="en-US" sz="2400" i="0" dirty="0" smtClean="0">
                <a:solidFill>
                  <a:srgbClr val="C50C0C"/>
                </a:solidFill>
                <a:latin typeface="Calibri"/>
                <a:cs typeface="Calibri"/>
              </a:rPr>
              <a:t>“word count feature”:</a:t>
            </a:r>
          </a:p>
        </p:txBody>
      </p:sp>
      <p:sp>
        <p:nvSpPr>
          <p:cNvPr id="12" name="Rectangle 11"/>
          <p:cNvSpPr/>
          <p:nvPr/>
        </p:nvSpPr>
        <p:spPr>
          <a:xfrm>
            <a:off x="2863284" y="3636816"/>
            <a:ext cx="508000" cy="484909"/>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3" name="Picture 2"/>
          <p:cNvPicPr>
            <a:picLocks noChangeAspect="1"/>
          </p:cNvPicPr>
          <p:nvPr/>
        </p:nvPicPr>
        <p:blipFill>
          <a:blip r:embed="rId3"/>
          <a:stretch>
            <a:fillRect/>
          </a:stretch>
        </p:blipFill>
        <p:spPr>
          <a:xfrm>
            <a:off x="1467413" y="3427863"/>
            <a:ext cx="6324600" cy="533400"/>
          </a:xfrm>
          <a:prstGeom prst="rect">
            <a:avLst/>
          </a:prstGeom>
        </p:spPr>
      </p:pic>
      <p:pic>
        <p:nvPicPr>
          <p:cNvPr id="8" name="Picture 7"/>
          <p:cNvPicPr>
            <a:picLocks noChangeAspect="1"/>
          </p:cNvPicPr>
          <p:nvPr/>
        </p:nvPicPr>
        <p:blipFill>
          <a:blip r:embed="rId4"/>
          <a:stretch>
            <a:fillRect/>
          </a:stretch>
        </p:blipFill>
        <p:spPr>
          <a:xfrm>
            <a:off x="317500" y="4801768"/>
            <a:ext cx="8496300" cy="533400"/>
          </a:xfrm>
          <a:prstGeom prst="rect">
            <a:avLst/>
          </a:prstGeom>
        </p:spPr>
      </p:pic>
      <p:sp>
        <p:nvSpPr>
          <p:cNvPr id="14" name="TextBox 11"/>
          <p:cNvSpPr txBox="1">
            <a:spLocks noChangeArrowheads="1"/>
          </p:cNvSpPr>
          <p:nvPr/>
        </p:nvSpPr>
        <p:spPr bwMode="auto">
          <a:xfrm>
            <a:off x="2121529" y="4250957"/>
            <a:ext cx="47335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400" i="0" dirty="0" smtClean="0">
                <a:solidFill>
                  <a:srgbClr val="C50C0C"/>
                </a:solidFill>
                <a:latin typeface="Calibri"/>
                <a:cs typeface="Calibri"/>
              </a:rPr>
              <a:t>“reverse translation model feature”:</a:t>
            </a:r>
          </a:p>
        </p:txBody>
      </p:sp>
      <p:sp>
        <p:nvSpPr>
          <p:cNvPr id="9" name="Rectangle 8"/>
          <p:cNvSpPr/>
          <p:nvPr/>
        </p:nvSpPr>
        <p:spPr>
          <a:xfrm>
            <a:off x="7181274" y="3244276"/>
            <a:ext cx="762000" cy="646545"/>
          </a:xfrm>
          <a:prstGeom prst="rect">
            <a:avLst/>
          </a:prstGeom>
          <a:ln w="28575"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5" name="Rectangle 14"/>
          <p:cNvSpPr/>
          <p:nvPr/>
        </p:nvSpPr>
        <p:spPr>
          <a:xfrm>
            <a:off x="6975764" y="4678220"/>
            <a:ext cx="1937327" cy="528782"/>
          </a:xfrm>
          <a:prstGeom prst="rect">
            <a:avLst/>
          </a:prstGeom>
          <a:ln w="28575"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1314271213"/>
      </p:ext>
    </p:extLst>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0754576"/>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2130955308"/>
      </p:ext>
    </p:extLst>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1801573688"/>
      </p:ext>
    </p:extLst>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Straight Arrow Connector 8"/>
          <p:cNvCxnSpPr/>
          <p:nvPr/>
        </p:nvCxnSpPr>
        <p:spPr>
          <a:xfrm flipH="1" flipV="1">
            <a:off x="5431204" y="3550013"/>
            <a:ext cx="384574" cy="375657"/>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1"/>
          <p:cNvSpPr txBox="1">
            <a:spLocks noChangeArrowheads="1"/>
          </p:cNvSpPr>
          <p:nvPr/>
        </p:nvSpPr>
        <p:spPr bwMode="auto">
          <a:xfrm>
            <a:off x="5257800" y="3925669"/>
            <a:ext cx="3675751" cy="646331"/>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smtClean="0">
                <a:latin typeface="Calibri"/>
                <a:cs typeface="Calibri"/>
              </a:rPr>
              <a:t>opposition to sanctions against </a:t>
            </a:r>
          </a:p>
          <a:p>
            <a:pPr algn="ctr" eaLnBrk="1" hangingPunct="1"/>
            <a:r>
              <a:rPr lang="en-US" i="0" dirty="0" smtClean="0">
                <a:latin typeface="Calibri"/>
                <a:cs typeface="Calibri"/>
              </a:rPr>
              <a:t>Zimbabwe African National Congress</a:t>
            </a:r>
          </a:p>
        </p:txBody>
      </p:sp>
      <p:sp>
        <p:nvSpPr>
          <p:cNvPr id="20" name="TextBox 11"/>
          <p:cNvSpPr txBox="1">
            <a:spLocks noChangeArrowheads="1"/>
          </p:cNvSpPr>
          <p:nvPr/>
        </p:nvSpPr>
        <p:spPr bwMode="auto">
          <a:xfrm>
            <a:off x="6022913" y="3550013"/>
            <a:ext cx="24187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a:solidFill>
                  <a:srgbClr val="C00000"/>
                </a:solidFill>
                <a:latin typeface="Calibri"/>
                <a:cs typeface="Calibri"/>
              </a:rPr>
              <a:t>predicted </a:t>
            </a:r>
            <a:r>
              <a:rPr lang="en-US" sz="2000" dirty="0" smtClean="0">
                <a:solidFill>
                  <a:srgbClr val="C00000"/>
                </a:solidFill>
                <a:latin typeface="Calibri"/>
                <a:cs typeface="Calibri"/>
              </a:rPr>
              <a:t>translation</a:t>
            </a:r>
            <a:endParaRPr lang="en-US" sz="2000" dirty="0">
              <a:solidFill>
                <a:srgbClr val="C00000"/>
              </a:solidFill>
              <a:latin typeface="Calibri"/>
              <a:cs typeface="Calibri"/>
            </a:endParaRPr>
          </a:p>
        </p:txBody>
      </p:sp>
      <p:sp>
        <p:nvSpPr>
          <p:cNvPr id="21" name="TextBox 11"/>
          <p:cNvSpPr txBox="1">
            <a:spLocks noChangeArrowheads="1"/>
          </p:cNvSpPr>
          <p:nvPr/>
        </p:nvSpPr>
        <p:spPr bwMode="auto">
          <a:xfrm>
            <a:off x="366222" y="4495800"/>
            <a:ext cx="2222083" cy="646331"/>
          </a:xfrm>
          <a:prstGeom prst="rect">
            <a:avLst/>
          </a:prstGeom>
          <a:solidFill>
            <a:schemeClr val="bg1"/>
          </a:solidFill>
          <a:ln w="19050">
            <a:solidFill>
              <a:srgbClr val="C00000"/>
            </a:solidFill>
            <a:miter lim="800000"/>
            <a:headEnd/>
            <a:tailEnd/>
          </a:ln>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smtClean="0">
                <a:latin typeface="Calibri"/>
                <a:cs typeface="Calibri"/>
              </a:rPr>
              <a:t>African sanctioning to</a:t>
            </a:r>
          </a:p>
          <a:p>
            <a:pPr algn="ctr" eaLnBrk="1" hangingPunct="1"/>
            <a:r>
              <a:rPr lang="en-US" i="0" dirty="0" smtClean="0">
                <a:latin typeface="Calibri"/>
                <a:cs typeface="Calibri"/>
              </a:rPr>
              <a:t>Zimbabwe’s opposing</a:t>
            </a:r>
          </a:p>
        </p:txBody>
      </p:sp>
      <p:cxnSp>
        <p:nvCxnSpPr>
          <p:cNvPr id="22" name="Straight Arrow Connector 21"/>
          <p:cNvCxnSpPr/>
          <p:nvPr/>
        </p:nvCxnSpPr>
        <p:spPr>
          <a:xfrm>
            <a:off x="1386840" y="5142131"/>
            <a:ext cx="130716" cy="391232"/>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1"/>
          <p:cNvSpPr txBox="1">
            <a:spLocks noChangeArrowheads="1"/>
          </p:cNvSpPr>
          <p:nvPr/>
        </p:nvSpPr>
        <p:spPr bwMode="auto">
          <a:xfrm>
            <a:off x="3859156" y="1224555"/>
            <a:ext cx="3913244" cy="646331"/>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smtClean="0">
                <a:latin typeface="Calibri"/>
                <a:cs typeface="Calibri"/>
              </a:rPr>
              <a:t>African National Congress opposition sanctions against Zimbabwe</a:t>
            </a:r>
          </a:p>
        </p:txBody>
      </p:sp>
      <p:cxnSp>
        <p:nvCxnSpPr>
          <p:cNvPr id="16" name="Straight Arrow Connector 15"/>
          <p:cNvCxnSpPr>
            <a:stCxn id="13" idx="1"/>
          </p:cNvCxnSpPr>
          <p:nvPr/>
        </p:nvCxnSpPr>
        <p:spPr>
          <a:xfrm flipH="1">
            <a:off x="3303644" y="1547721"/>
            <a:ext cx="555512" cy="194779"/>
          </a:xfrm>
          <a:prstGeom prst="straightConnector1">
            <a:avLst/>
          </a:prstGeom>
          <a:ln w="25400">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8"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3422983380"/>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
        <p:nvSpPr>
          <p:cNvPr id="7" name="TextBox 11"/>
          <p:cNvSpPr txBox="1">
            <a:spLocks noChangeArrowheads="1"/>
          </p:cNvSpPr>
          <p:nvPr/>
        </p:nvSpPr>
        <p:spPr bwMode="auto">
          <a:xfrm>
            <a:off x="4876800" y="1231900"/>
            <a:ext cx="4131887" cy="1754327"/>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learning moves translations left or right in this plot</a:t>
            </a:r>
            <a:endParaRPr lang="en-US" sz="3600" b="1" i="0" dirty="0">
              <a:solidFill>
                <a:srgbClr val="FFFF00"/>
              </a:solidFill>
              <a:latin typeface="Calibri"/>
              <a:cs typeface="Calibri"/>
            </a:endParaRPr>
          </a:p>
        </p:txBody>
      </p:sp>
    </p:spTree>
    <p:extLst>
      <p:ext uri="{BB962C8B-B14F-4D97-AF65-F5344CB8AC3E}">
        <p14:creationId xmlns:p14="http://schemas.microsoft.com/office/powerpoint/2010/main" val="1069287353"/>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937" y="12192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1"/>
          <p:cNvSpPr txBox="1">
            <a:spLocks noChangeArrowheads="1"/>
          </p:cNvSpPr>
          <p:nvPr/>
        </p:nvSpPr>
        <p:spPr bwMode="auto">
          <a:xfrm>
            <a:off x="5218545" y="3349873"/>
            <a:ext cx="3558309" cy="646331"/>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“ideal” model</a:t>
            </a:r>
            <a:endParaRPr lang="en-US" sz="3600" b="1" i="0" dirty="0">
              <a:solidFill>
                <a:srgbClr val="FFFF00"/>
              </a:solidFill>
              <a:latin typeface="Calibri"/>
              <a:cs typeface="Calibri"/>
            </a:endParaRPr>
          </a:p>
        </p:txBody>
      </p:sp>
      <p:sp>
        <p:nvSpPr>
          <p:cNvPr id="7"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650861526"/>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Box 11"/>
          <p:cNvSpPr txBox="1">
            <a:spLocks noChangeArrowheads="1"/>
          </p:cNvSpPr>
          <p:nvPr/>
        </p:nvSpPr>
        <p:spPr bwMode="auto">
          <a:xfrm>
            <a:off x="2159007" y="2320650"/>
            <a:ext cx="4830618" cy="1200329"/>
          </a:xfrm>
          <a:prstGeom prst="rect">
            <a:avLst/>
          </a:prstGeom>
          <a:solidFill>
            <a:schemeClr val="tx1"/>
          </a:solidFill>
          <a:ln w="9525">
            <a:solidFill>
              <a:srgbClr val="000000"/>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b="1" i="0" dirty="0" smtClean="0">
                <a:solidFill>
                  <a:srgbClr val="FFFF00"/>
                </a:solidFill>
                <a:latin typeface="Calibri"/>
                <a:cs typeface="Calibri"/>
              </a:rPr>
              <a:t>Where’s the gold standard translation?</a:t>
            </a:r>
            <a:endParaRPr lang="en-US" sz="3600" b="1" i="0" dirty="0">
              <a:solidFill>
                <a:srgbClr val="FFFF00"/>
              </a:solidFill>
              <a:latin typeface="Calibri"/>
              <a:cs typeface="Calibri"/>
            </a:endParaRPr>
          </a:p>
        </p:txBody>
      </p:sp>
      <p:sp>
        <p:nvSpPr>
          <p:cNvPr id="7"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Tree>
    <p:extLst>
      <p:ext uri="{BB962C8B-B14F-4D97-AF65-F5344CB8AC3E}">
        <p14:creationId xmlns:p14="http://schemas.microsoft.com/office/powerpoint/2010/main" val="1529733792"/>
      </p:ext>
    </p:extLst>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175" y="57150"/>
            <a:ext cx="3959225"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1"/>
          <p:cNvSpPr>
            <a:spLocks noGrp="1"/>
          </p:cNvSpPr>
          <p:nvPr>
            <p:ph type="title"/>
          </p:nvPr>
        </p:nvSpPr>
        <p:spPr>
          <a:xfrm>
            <a:off x="762000" y="1676400"/>
            <a:ext cx="7696200" cy="2133600"/>
          </a:xfrm>
          <a:solidFill>
            <a:schemeClr val="tx1"/>
          </a:solidFill>
        </p:spPr>
        <p:txBody>
          <a:bodyPr/>
          <a:lstStyle/>
          <a:p>
            <a:r>
              <a:rPr lang="en-US" sz="4000" b="1" dirty="0" smtClean="0">
                <a:solidFill>
                  <a:srgbClr val="FFFF00"/>
                </a:solidFill>
                <a:latin typeface="Calibri"/>
              </a:rPr>
              <a:t>Issue:</a:t>
            </a:r>
            <a:br>
              <a:rPr lang="en-US" sz="4000" b="1" dirty="0" smtClean="0">
                <a:solidFill>
                  <a:srgbClr val="FFFF00"/>
                </a:solidFill>
                <a:latin typeface="Calibri"/>
              </a:rPr>
            </a:br>
            <a:r>
              <a:rPr lang="en-US" sz="4000" b="1" dirty="0" smtClean="0">
                <a:solidFill>
                  <a:srgbClr val="FFFF00"/>
                </a:solidFill>
                <a:latin typeface="Calibri"/>
              </a:rPr>
              <a:t>gold standard translation is often</a:t>
            </a:r>
            <a:br>
              <a:rPr lang="en-US" sz="4000" b="1" dirty="0" smtClean="0">
                <a:solidFill>
                  <a:srgbClr val="FFFF00"/>
                </a:solidFill>
                <a:latin typeface="Calibri"/>
              </a:rPr>
            </a:br>
            <a:r>
              <a:rPr lang="en-US" sz="4000" b="1" i="1" dirty="0" smtClean="0">
                <a:solidFill>
                  <a:srgbClr val="FFFF00"/>
                </a:solidFill>
                <a:latin typeface="Calibri"/>
              </a:rPr>
              <a:t>unreachable</a:t>
            </a:r>
            <a:r>
              <a:rPr lang="en-US" sz="4000" b="1" dirty="0" smtClean="0">
                <a:solidFill>
                  <a:srgbClr val="FFFF00"/>
                </a:solidFill>
                <a:latin typeface="Calibri"/>
              </a:rPr>
              <a:t> by the model</a:t>
            </a:r>
            <a:endParaRPr lang="en-US" sz="4000" b="1" dirty="0">
              <a:solidFill>
                <a:srgbClr val="FFFF00"/>
              </a:solidFill>
              <a:latin typeface="Calibri"/>
            </a:endParaRPr>
          </a:p>
        </p:txBody>
      </p:sp>
      <p:sp>
        <p:nvSpPr>
          <p:cNvPr id="7" name="TextBox 11"/>
          <p:cNvSpPr txBox="1">
            <a:spLocks noChangeArrowheads="1"/>
          </p:cNvSpPr>
          <p:nvPr/>
        </p:nvSpPr>
        <p:spPr bwMode="auto">
          <a:xfrm>
            <a:off x="5449455" y="152619"/>
            <a:ext cx="3382813" cy="83099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1600" b="1" i="0" dirty="0" smtClean="0">
                <a:latin typeface="Calibri"/>
                <a:cs typeface="Calibri"/>
              </a:rPr>
              <a:t>Gold standard:</a:t>
            </a:r>
          </a:p>
          <a:p>
            <a:pPr algn="ctr" eaLnBrk="1" hangingPunct="1"/>
            <a:r>
              <a:rPr lang="en-US" sz="1600" i="0" dirty="0" smtClean="0">
                <a:latin typeface="Calibri"/>
                <a:cs typeface="Calibri"/>
              </a:rPr>
              <a:t>African National Congress opposes sanctions against Zimbabwe</a:t>
            </a:r>
          </a:p>
        </p:txBody>
      </p:sp>
      <p:sp>
        <p:nvSpPr>
          <p:cNvPr id="6" name="Title 1"/>
          <p:cNvSpPr txBox="1">
            <a:spLocks/>
          </p:cNvSpPr>
          <p:nvPr/>
        </p:nvSpPr>
        <p:spPr bwMode="auto">
          <a:xfrm>
            <a:off x="2590800" y="3994726"/>
            <a:ext cx="4038600" cy="2232891"/>
          </a:xfrm>
          <a:prstGeom prst="rect">
            <a:avLst/>
          </a:prstGeom>
          <a:solidFill>
            <a:srgbClr val="0062AC"/>
          </a:solidFill>
          <a:ln>
            <a:noFill/>
          </a:ln>
          <a:effectLs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a:solidFill>
                  <a:schemeClr val="tx1"/>
                </a:solidFill>
                <a:latin typeface="Gill Sans MT" pitchFamily="34" charset="0"/>
                <a:ea typeface="+mj-ea"/>
                <a:cs typeface="+mj-cs"/>
              </a:defRPr>
            </a:lvl1pPr>
            <a:lvl2pPr algn="ctr" rtl="0" fontAlgn="base">
              <a:spcBef>
                <a:spcPct val="0"/>
              </a:spcBef>
              <a:spcAft>
                <a:spcPct val="0"/>
              </a:spcAft>
              <a:defRPr sz="3600">
                <a:solidFill>
                  <a:schemeClr val="tx1"/>
                </a:solidFill>
                <a:latin typeface="Arial" pitchFamily="34" charset="0"/>
              </a:defRPr>
            </a:lvl2pPr>
            <a:lvl3pPr algn="ctr" rtl="0" fontAlgn="base">
              <a:spcBef>
                <a:spcPct val="0"/>
              </a:spcBef>
              <a:spcAft>
                <a:spcPct val="0"/>
              </a:spcAft>
              <a:defRPr sz="3600">
                <a:solidFill>
                  <a:schemeClr val="tx1"/>
                </a:solidFill>
                <a:latin typeface="Arial" pitchFamily="34" charset="0"/>
              </a:defRPr>
            </a:lvl3pPr>
            <a:lvl4pPr algn="ctr" rtl="0" fontAlgn="base">
              <a:spcBef>
                <a:spcPct val="0"/>
              </a:spcBef>
              <a:spcAft>
                <a:spcPct val="0"/>
              </a:spcAft>
              <a:defRPr sz="3600">
                <a:solidFill>
                  <a:schemeClr val="tx1"/>
                </a:solidFill>
                <a:latin typeface="Arial" pitchFamily="34" charset="0"/>
              </a:defRPr>
            </a:lvl4pPr>
            <a:lvl5pPr algn="ctr" rtl="0" fontAlgn="base">
              <a:spcBef>
                <a:spcPct val="0"/>
              </a:spcBef>
              <a:spcAft>
                <a:spcPct val="0"/>
              </a:spcAft>
              <a:defRPr sz="3600">
                <a:solidFill>
                  <a:schemeClr val="tx1"/>
                </a:solidFill>
                <a:latin typeface="Arial" pitchFamily="34" charset="0"/>
              </a:defRPr>
            </a:lvl5pPr>
            <a:lvl6pPr marL="457200" algn="ctr" rtl="0" fontAlgn="base">
              <a:spcBef>
                <a:spcPct val="0"/>
              </a:spcBef>
              <a:spcAft>
                <a:spcPct val="0"/>
              </a:spcAft>
              <a:defRPr sz="3600">
                <a:solidFill>
                  <a:schemeClr val="tx1"/>
                </a:solidFill>
                <a:latin typeface="Arial" pitchFamily="34" charset="0"/>
              </a:defRPr>
            </a:lvl6pPr>
            <a:lvl7pPr marL="914400" algn="ctr" rtl="0" fontAlgn="base">
              <a:spcBef>
                <a:spcPct val="0"/>
              </a:spcBef>
              <a:spcAft>
                <a:spcPct val="0"/>
              </a:spcAft>
              <a:defRPr sz="3600">
                <a:solidFill>
                  <a:schemeClr val="tx1"/>
                </a:solidFill>
                <a:latin typeface="Arial" pitchFamily="34" charset="0"/>
              </a:defRPr>
            </a:lvl7pPr>
            <a:lvl8pPr marL="1371600" algn="ctr" rtl="0" fontAlgn="base">
              <a:spcBef>
                <a:spcPct val="0"/>
              </a:spcBef>
              <a:spcAft>
                <a:spcPct val="0"/>
              </a:spcAft>
              <a:defRPr sz="3600">
                <a:solidFill>
                  <a:schemeClr val="tx1"/>
                </a:solidFill>
                <a:latin typeface="Arial" pitchFamily="34" charset="0"/>
              </a:defRPr>
            </a:lvl8pPr>
            <a:lvl9pPr marL="1828800" algn="ctr" rtl="0" fontAlgn="base">
              <a:spcBef>
                <a:spcPct val="0"/>
              </a:spcBef>
              <a:spcAft>
                <a:spcPct val="0"/>
              </a:spcAft>
              <a:defRPr sz="3600">
                <a:solidFill>
                  <a:schemeClr val="tx1"/>
                </a:solidFill>
                <a:latin typeface="Arial" pitchFamily="34" charset="0"/>
              </a:defRPr>
            </a:lvl9pPr>
          </a:lstStyle>
          <a:p>
            <a:r>
              <a:rPr lang="en-US" sz="2800" b="1" i="0" dirty="0" smtClean="0">
                <a:solidFill>
                  <a:schemeClr val="bg1"/>
                </a:solidFill>
                <a:latin typeface="Calibri"/>
                <a:cs typeface="Calibri"/>
              </a:rPr>
              <a:t>Why?</a:t>
            </a:r>
          </a:p>
          <a:p>
            <a:endParaRPr lang="en-US" sz="800" b="1" i="0" dirty="0" smtClean="0">
              <a:solidFill>
                <a:schemeClr val="bg1"/>
              </a:solidFill>
              <a:latin typeface="Calibri"/>
              <a:cs typeface="Calibri"/>
            </a:endParaRPr>
          </a:p>
          <a:p>
            <a:r>
              <a:rPr lang="en-US" sz="2800" b="1" i="0" dirty="0" smtClean="0">
                <a:solidFill>
                  <a:schemeClr val="bg1"/>
                </a:solidFill>
                <a:latin typeface="Calibri"/>
                <a:cs typeface="Calibri"/>
              </a:rPr>
              <a:t>limited translation rules,</a:t>
            </a:r>
          </a:p>
          <a:p>
            <a:r>
              <a:rPr lang="en-US" sz="2800" b="1" i="0" dirty="0" smtClean="0">
                <a:solidFill>
                  <a:schemeClr val="bg1"/>
                </a:solidFill>
                <a:latin typeface="Calibri"/>
                <a:cs typeface="Calibri"/>
              </a:rPr>
              <a:t>free translations, </a:t>
            </a:r>
          </a:p>
          <a:p>
            <a:r>
              <a:rPr lang="en-US" sz="2800" b="1" i="0" dirty="0" smtClean="0">
                <a:solidFill>
                  <a:schemeClr val="bg1"/>
                </a:solidFill>
                <a:latin typeface="Calibri"/>
                <a:cs typeface="Calibri"/>
              </a:rPr>
              <a:t>noisy data</a:t>
            </a:r>
          </a:p>
        </p:txBody>
      </p:sp>
    </p:spTree>
    <p:extLst>
      <p:ext uri="{BB962C8B-B14F-4D97-AF65-F5344CB8AC3E}">
        <p14:creationId xmlns:p14="http://schemas.microsoft.com/office/powerpoint/2010/main" val="113422443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libri"/>
              </a:rPr>
              <a:t>Free Translations</a:t>
            </a:r>
            <a:endParaRPr lang="en-US" dirty="0">
              <a:latin typeface="Calibri"/>
            </a:endParaRPr>
          </a:p>
        </p:txBody>
      </p:sp>
      <p:sp>
        <p:nvSpPr>
          <p:cNvPr id="4" name="TextBox 3"/>
          <p:cNvSpPr txBox="1"/>
          <p:nvPr/>
        </p:nvSpPr>
        <p:spPr>
          <a:xfrm>
            <a:off x="762001" y="1143000"/>
            <a:ext cx="7848600" cy="3785652"/>
          </a:xfrm>
          <a:prstGeom prst="rect">
            <a:avLst/>
          </a:prstGeom>
          <a:noFill/>
        </p:spPr>
        <p:txBody>
          <a:bodyPr wrap="square" rtlCol="0">
            <a:spAutoFit/>
          </a:bodyPr>
          <a:lstStyle/>
          <a:p>
            <a:r>
              <a:rPr lang="en-US" sz="2400" b="1" i="0" dirty="0" smtClean="0">
                <a:latin typeface="Calibri"/>
                <a:cs typeface="Calibri"/>
              </a:rPr>
              <a:t>Machine translation:</a:t>
            </a:r>
          </a:p>
          <a:p>
            <a:r>
              <a:rPr lang="en-US" sz="2400" i="0" dirty="0" smtClean="0">
                <a:latin typeface="Calibri"/>
                <a:cs typeface="Calibri"/>
              </a:rPr>
              <a:t>Sharon's </a:t>
            </a:r>
            <a:r>
              <a:rPr lang="en-US" sz="2400" i="0" dirty="0">
                <a:latin typeface="Calibri"/>
                <a:cs typeface="Calibri"/>
              </a:rPr>
              <a:t>office said, leader of the main opposition Labor Party has admitted defeat and congratulatory telephone calls to Sharon.</a:t>
            </a:r>
          </a:p>
          <a:p>
            <a:endParaRPr lang="en-US" sz="2400" i="0" dirty="0" smtClean="0">
              <a:latin typeface="Calibri"/>
              <a:cs typeface="Calibri"/>
            </a:endParaRPr>
          </a:p>
          <a:p>
            <a:r>
              <a:rPr lang="en-US" sz="2400" b="1" i="0" dirty="0" smtClean="0">
                <a:latin typeface="Calibri"/>
                <a:cs typeface="Calibri"/>
              </a:rPr>
              <a:t>Human-generated translation:</a:t>
            </a:r>
          </a:p>
          <a:p>
            <a:r>
              <a:rPr lang="en-US" sz="2400" i="0" dirty="0" smtClean="0">
                <a:latin typeface="Calibri"/>
                <a:cs typeface="Calibri"/>
              </a:rPr>
              <a:t>According </a:t>
            </a:r>
            <a:r>
              <a:rPr lang="en-US" sz="2400" i="0" dirty="0">
                <a:latin typeface="Calibri"/>
                <a:cs typeface="Calibri"/>
              </a:rPr>
              <a:t>to </a:t>
            </a:r>
            <a:r>
              <a:rPr lang="en-US" sz="2400" i="0" dirty="0">
                <a:solidFill>
                  <a:srgbClr val="288CD2"/>
                </a:solidFill>
                <a:latin typeface="Calibri"/>
                <a:cs typeface="Calibri"/>
              </a:rPr>
              <a:t>a representative of </a:t>
            </a:r>
            <a:r>
              <a:rPr lang="en-US" sz="2400" i="0" dirty="0">
                <a:latin typeface="Calibri"/>
                <a:cs typeface="Calibri"/>
              </a:rPr>
              <a:t>Sharon's office, the leader of the main opposition Labor Party has admitted defeat and made the </a:t>
            </a:r>
            <a:r>
              <a:rPr lang="en-US" sz="2400" i="0" dirty="0">
                <a:solidFill>
                  <a:srgbClr val="288CD2"/>
                </a:solidFill>
                <a:latin typeface="Calibri"/>
                <a:cs typeface="Calibri"/>
              </a:rPr>
              <a:t>obligatory</a:t>
            </a:r>
            <a:r>
              <a:rPr lang="en-US" sz="2400" i="0" dirty="0">
                <a:solidFill>
                  <a:srgbClr val="1818FF"/>
                </a:solidFill>
                <a:latin typeface="Calibri"/>
                <a:cs typeface="Calibri"/>
              </a:rPr>
              <a:t> </a:t>
            </a:r>
            <a:r>
              <a:rPr lang="en-US" sz="2400" i="0" dirty="0">
                <a:latin typeface="Calibri"/>
                <a:cs typeface="Calibri"/>
              </a:rPr>
              <a:t>congratulating telephone call to Sharon.</a:t>
            </a:r>
          </a:p>
          <a:p>
            <a:endParaRPr lang="en-US" sz="2400" i="0" dirty="0">
              <a:latin typeface="Calibri"/>
              <a:cs typeface="Calibri"/>
            </a:endParaRPr>
          </a:p>
        </p:txBody>
      </p:sp>
    </p:spTree>
    <p:extLst>
      <p:ext uri="{BB962C8B-B14F-4D97-AF65-F5344CB8AC3E}">
        <p14:creationId xmlns:p14="http://schemas.microsoft.com/office/powerpoint/2010/main" val="1462583194"/>
      </p:ext>
    </p:extLst>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Calibri"/>
              </a:rPr>
              <a:t>Free Translations</a:t>
            </a:r>
            <a:endParaRPr lang="en-US" dirty="0">
              <a:latin typeface="Calibri"/>
            </a:endParaRPr>
          </a:p>
        </p:txBody>
      </p:sp>
      <p:sp>
        <p:nvSpPr>
          <p:cNvPr id="4" name="TextBox 3"/>
          <p:cNvSpPr txBox="1"/>
          <p:nvPr/>
        </p:nvSpPr>
        <p:spPr>
          <a:xfrm>
            <a:off x="762001" y="1143000"/>
            <a:ext cx="7848600" cy="3785652"/>
          </a:xfrm>
          <a:prstGeom prst="rect">
            <a:avLst/>
          </a:prstGeom>
          <a:noFill/>
        </p:spPr>
        <p:txBody>
          <a:bodyPr wrap="square" rtlCol="0">
            <a:spAutoFit/>
          </a:bodyPr>
          <a:lstStyle/>
          <a:p>
            <a:r>
              <a:rPr lang="en-US" sz="2400" b="1" i="0" dirty="0" smtClean="0">
                <a:latin typeface="Calibri"/>
                <a:cs typeface="Calibri"/>
              </a:rPr>
              <a:t>Machine translation:</a:t>
            </a:r>
          </a:p>
          <a:p>
            <a:r>
              <a:rPr lang="en-US" sz="2400" i="0" dirty="0" smtClean="0">
                <a:latin typeface="Calibri"/>
                <a:cs typeface="Calibri"/>
              </a:rPr>
              <a:t>Sharon's </a:t>
            </a:r>
            <a:r>
              <a:rPr lang="en-US" sz="2400" i="0" dirty="0">
                <a:latin typeface="Calibri"/>
                <a:cs typeface="Calibri"/>
              </a:rPr>
              <a:t>office said, leader of the main opposition Labor Party has admitted defeat and congratulatory telephone calls to Sharon.</a:t>
            </a:r>
          </a:p>
          <a:p>
            <a:endParaRPr lang="en-US" sz="2400" i="0" dirty="0" smtClean="0">
              <a:latin typeface="Calibri"/>
              <a:cs typeface="Calibri"/>
            </a:endParaRPr>
          </a:p>
          <a:p>
            <a:r>
              <a:rPr lang="en-US" sz="2400" b="1" i="0" dirty="0" smtClean="0">
                <a:latin typeface="Calibri"/>
                <a:cs typeface="Calibri"/>
              </a:rPr>
              <a:t>Human-generated translation:</a:t>
            </a:r>
          </a:p>
          <a:p>
            <a:r>
              <a:rPr lang="en-US" sz="2400" i="0" dirty="0" smtClean="0">
                <a:latin typeface="Calibri"/>
                <a:cs typeface="Calibri"/>
              </a:rPr>
              <a:t>According </a:t>
            </a:r>
            <a:r>
              <a:rPr lang="en-US" sz="2400" i="0" dirty="0">
                <a:latin typeface="Calibri"/>
                <a:cs typeface="Calibri"/>
              </a:rPr>
              <a:t>to </a:t>
            </a:r>
            <a:r>
              <a:rPr lang="en-US" sz="2400" i="0" dirty="0">
                <a:solidFill>
                  <a:srgbClr val="288CD2"/>
                </a:solidFill>
                <a:latin typeface="Calibri"/>
                <a:cs typeface="Calibri"/>
              </a:rPr>
              <a:t>a representative of </a:t>
            </a:r>
            <a:r>
              <a:rPr lang="en-US" sz="2400" i="0" dirty="0">
                <a:latin typeface="Calibri"/>
                <a:cs typeface="Calibri"/>
              </a:rPr>
              <a:t>Sharon's office, the leader of the main opposition Labor Party has admitted defeat and made the </a:t>
            </a:r>
            <a:r>
              <a:rPr lang="en-US" sz="2400" i="0" dirty="0">
                <a:solidFill>
                  <a:srgbClr val="288CD2"/>
                </a:solidFill>
                <a:latin typeface="Calibri"/>
                <a:cs typeface="Calibri"/>
              </a:rPr>
              <a:t>obligatory</a:t>
            </a:r>
            <a:r>
              <a:rPr lang="en-US" sz="2400" i="0" dirty="0">
                <a:solidFill>
                  <a:srgbClr val="1818FF"/>
                </a:solidFill>
                <a:latin typeface="Calibri"/>
                <a:cs typeface="Calibri"/>
              </a:rPr>
              <a:t> </a:t>
            </a:r>
            <a:r>
              <a:rPr lang="en-US" sz="2400" i="0" dirty="0">
                <a:latin typeface="Calibri"/>
                <a:cs typeface="Calibri"/>
              </a:rPr>
              <a:t>congratulating telephone call to Sharon.</a:t>
            </a:r>
          </a:p>
          <a:p>
            <a:endParaRPr lang="en-US" sz="2400" i="0" dirty="0">
              <a:latin typeface="Calibri"/>
              <a:cs typeface="Calibri"/>
            </a:endParaRPr>
          </a:p>
        </p:txBody>
      </p:sp>
      <p:sp>
        <p:nvSpPr>
          <p:cNvPr id="5" name="Title 1"/>
          <p:cNvSpPr txBox="1">
            <a:spLocks/>
          </p:cNvSpPr>
          <p:nvPr/>
        </p:nvSpPr>
        <p:spPr bwMode="auto">
          <a:xfrm>
            <a:off x="762000" y="383309"/>
            <a:ext cx="7696200" cy="21336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a:solidFill>
                  <a:schemeClr val="tx1"/>
                </a:solidFill>
                <a:latin typeface="Gill Sans MT" pitchFamily="34" charset="0"/>
                <a:ea typeface="+mj-ea"/>
                <a:cs typeface="Calibri"/>
              </a:defRPr>
            </a:lvl1pPr>
            <a:lvl2pPr algn="ctr" rtl="0" fontAlgn="base">
              <a:spcBef>
                <a:spcPct val="0"/>
              </a:spcBef>
              <a:spcAft>
                <a:spcPct val="0"/>
              </a:spcAft>
              <a:defRPr sz="3600">
                <a:solidFill>
                  <a:schemeClr val="tx1"/>
                </a:solidFill>
                <a:latin typeface="Arial" pitchFamily="34" charset="0"/>
              </a:defRPr>
            </a:lvl2pPr>
            <a:lvl3pPr algn="ctr" rtl="0" fontAlgn="base">
              <a:spcBef>
                <a:spcPct val="0"/>
              </a:spcBef>
              <a:spcAft>
                <a:spcPct val="0"/>
              </a:spcAft>
              <a:defRPr sz="3600">
                <a:solidFill>
                  <a:schemeClr val="tx1"/>
                </a:solidFill>
                <a:latin typeface="Arial" pitchFamily="34" charset="0"/>
              </a:defRPr>
            </a:lvl3pPr>
            <a:lvl4pPr algn="ctr" rtl="0" fontAlgn="base">
              <a:spcBef>
                <a:spcPct val="0"/>
              </a:spcBef>
              <a:spcAft>
                <a:spcPct val="0"/>
              </a:spcAft>
              <a:defRPr sz="3600">
                <a:solidFill>
                  <a:schemeClr val="tx1"/>
                </a:solidFill>
                <a:latin typeface="Arial" pitchFamily="34" charset="0"/>
              </a:defRPr>
            </a:lvl4pPr>
            <a:lvl5pPr algn="ctr" rtl="0" fontAlgn="base">
              <a:spcBef>
                <a:spcPct val="0"/>
              </a:spcBef>
              <a:spcAft>
                <a:spcPct val="0"/>
              </a:spcAft>
              <a:defRPr sz="3600">
                <a:solidFill>
                  <a:schemeClr val="tx1"/>
                </a:solidFill>
                <a:latin typeface="Arial" pitchFamily="34" charset="0"/>
              </a:defRPr>
            </a:lvl5pPr>
            <a:lvl6pPr marL="457200" algn="ctr" rtl="0" fontAlgn="base">
              <a:spcBef>
                <a:spcPct val="0"/>
              </a:spcBef>
              <a:spcAft>
                <a:spcPct val="0"/>
              </a:spcAft>
              <a:defRPr sz="3600">
                <a:solidFill>
                  <a:schemeClr val="tx1"/>
                </a:solidFill>
                <a:latin typeface="Arial" pitchFamily="34" charset="0"/>
              </a:defRPr>
            </a:lvl6pPr>
            <a:lvl7pPr marL="914400" algn="ctr" rtl="0" fontAlgn="base">
              <a:spcBef>
                <a:spcPct val="0"/>
              </a:spcBef>
              <a:spcAft>
                <a:spcPct val="0"/>
              </a:spcAft>
              <a:defRPr sz="3600">
                <a:solidFill>
                  <a:schemeClr val="tx1"/>
                </a:solidFill>
                <a:latin typeface="Arial" pitchFamily="34" charset="0"/>
              </a:defRPr>
            </a:lvl7pPr>
            <a:lvl8pPr marL="1371600" algn="ctr" rtl="0" fontAlgn="base">
              <a:spcBef>
                <a:spcPct val="0"/>
              </a:spcBef>
              <a:spcAft>
                <a:spcPct val="0"/>
              </a:spcAft>
              <a:defRPr sz="3600">
                <a:solidFill>
                  <a:schemeClr val="tx1"/>
                </a:solidFill>
                <a:latin typeface="Arial" pitchFamily="34" charset="0"/>
              </a:defRPr>
            </a:lvl8pPr>
            <a:lvl9pPr marL="1828800" algn="ctr" rtl="0" fontAlgn="base">
              <a:spcBef>
                <a:spcPct val="0"/>
              </a:spcBef>
              <a:spcAft>
                <a:spcPct val="0"/>
              </a:spcAft>
              <a:defRPr sz="3600">
                <a:solidFill>
                  <a:schemeClr val="tx1"/>
                </a:solidFill>
                <a:latin typeface="Arial" pitchFamily="34" charset="0"/>
              </a:defRPr>
            </a:lvl9pPr>
          </a:lstStyle>
          <a:p>
            <a:r>
              <a:rPr lang="en-US" b="1" i="0" dirty="0" smtClean="0">
                <a:solidFill>
                  <a:srgbClr val="FFFF00"/>
                </a:solidFill>
                <a:latin typeface="Calibri"/>
              </a:rPr>
              <a:t>Even if gold standard translation was reachable by model, we might not want to learn from it directly</a:t>
            </a:r>
            <a:endParaRPr lang="en-US" b="1" i="0" dirty="0">
              <a:solidFill>
                <a:srgbClr val="FFFF00"/>
              </a:solidFill>
              <a:latin typeface="Calibri"/>
            </a:endParaRPr>
          </a:p>
        </p:txBody>
      </p:sp>
      <p:sp>
        <p:nvSpPr>
          <p:cNvPr id="6" name="Title 1"/>
          <p:cNvSpPr txBox="1">
            <a:spLocks/>
          </p:cNvSpPr>
          <p:nvPr/>
        </p:nvSpPr>
        <p:spPr bwMode="auto">
          <a:xfrm>
            <a:off x="381000" y="2694709"/>
            <a:ext cx="8382000" cy="2286000"/>
          </a:xfrm>
          <a:prstGeom prst="rect">
            <a:avLst/>
          </a:prstGeom>
          <a:solidFill>
            <a:srgbClr val="0062AC"/>
          </a:solidFill>
          <a:ln>
            <a:noFill/>
          </a:ln>
          <a:effectLs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a:solidFill>
                  <a:schemeClr val="tx1"/>
                </a:solidFill>
                <a:latin typeface="Gill Sans MT" pitchFamily="34" charset="0"/>
                <a:ea typeface="+mj-ea"/>
                <a:cs typeface="+mj-cs"/>
              </a:defRPr>
            </a:lvl1pPr>
            <a:lvl2pPr algn="ctr" rtl="0" fontAlgn="base">
              <a:spcBef>
                <a:spcPct val="0"/>
              </a:spcBef>
              <a:spcAft>
                <a:spcPct val="0"/>
              </a:spcAft>
              <a:defRPr sz="3600">
                <a:solidFill>
                  <a:schemeClr val="tx1"/>
                </a:solidFill>
                <a:latin typeface="Arial" pitchFamily="34" charset="0"/>
              </a:defRPr>
            </a:lvl2pPr>
            <a:lvl3pPr algn="ctr" rtl="0" fontAlgn="base">
              <a:spcBef>
                <a:spcPct val="0"/>
              </a:spcBef>
              <a:spcAft>
                <a:spcPct val="0"/>
              </a:spcAft>
              <a:defRPr sz="3600">
                <a:solidFill>
                  <a:schemeClr val="tx1"/>
                </a:solidFill>
                <a:latin typeface="Arial" pitchFamily="34" charset="0"/>
              </a:defRPr>
            </a:lvl3pPr>
            <a:lvl4pPr algn="ctr" rtl="0" fontAlgn="base">
              <a:spcBef>
                <a:spcPct val="0"/>
              </a:spcBef>
              <a:spcAft>
                <a:spcPct val="0"/>
              </a:spcAft>
              <a:defRPr sz="3600">
                <a:solidFill>
                  <a:schemeClr val="tx1"/>
                </a:solidFill>
                <a:latin typeface="Arial" pitchFamily="34" charset="0"/>
              </a:defRPr>
            </a:lvl4pPr>
            <a:lvl5pPr algn="ctr" rtl="0" fontAlgn="base">
              <a:spcBef>
                <a:spcPct val="0"/>
              </a:spcBef>
              <a:spcAft>
                <a:spcPct val="0"/>
              </a:spcAft>
              <a:defRPr sz="3600">
                <a:solidFill>
                  <a:schemeClr val="tx1"/>
                </a:solidFill>
                <a:latin typeface="Arial" pitchFamily="34" charset="0"/>
              </a:defRPr>
            </a:lvl5pPr>
            <a:lvl6pPr marL="457200" algn="ctr" rtl="0" fontAlgn="base">
              <a:spcBef>
                <a:spcPct val="0"/>
              </a:spcBef>
              <a:spcAft>
                <a:spcPct val="0"/>
              </a:spcAft>
              <a:defRPr sz="3600">
                <a:solidFill>
                  <a:schemeClr val="tx1"/>
                </a:solidFill>
                <a:latin typeface="Arial" pitchFamily="34" charset="0"/>
              </a:defRPr>
            </a:lvl6pPr>
            <a:lvl7pPr marL="914400" algn="ctr" rtl="0" fontAlgn="base">
              <a:spcBef>
                <a:spcPct val="0"/>
              </a:spcBef>
              <a:spcAft>
                <a:spcPct val="0"/>
              </a:spcAft>
              <a:defRPr sz="3600">
                <a:solidFill>
                  <a:schemeClr val="tx1"/>
                </a:solidFill>
                <a:latin typeface="Arial" pitchFamily="34" charset="0"/>
              </a:defRPr>
            </a:lvl7pPr>
            <a:lvl8pPr marL="1371600" algn="ctr" rtl="0" fontAlgn="base">
              <a:spcBef>
                <a:spcPct val="0"/>
              </a:spcBef>
              <a:spcAft>
                <a:spcPct val="0"/>
              </a:spcAft>
              <a:defRPr sz="3600">
                <a:solidFill>
                  <a:schemeClr val="tx1"/>
                </a:solidFill>
                <a:latin typeface="Arial" pitchFamily="34" charset="0"/>
              </a:defRPr>
            </a:lvl8pPr>
            <a:lvl9pPr marL="1828800" algn="ctr" rtl="0" fontAlgn="base">
              <a:spcBef>
                <a:spcPct val="0"/>
              </a:spcBef>
              <a:spcAft>
                <a:spcPct val="0"/>
              </a:spcAft>
              <a:defRPr sz="3600">
                <a:solidFill>
                  <a:schemeClr val="tx1"/>
                </a:solidFill>
                <a:latin typeface="Arial" pitchFamily="34" charset="0"/>
              </a:defRPr>
            </a:lvl9pPr>
          </a:lstStyle>
          <a:p>
            <a:r>
              <a:rPr lang="en-US" b="1" i="0" dirty="0" smtClean="0">
                <a:solidFill>
                  <a:schemeClr val="bg1"/>
                </a:solidFill>
                <a:latin typeface="Calibri"/>
                <a:cs typeface="Calibri"/>
              </a:rPr>
              <a:t>Applicable to other tasks:</a:t>
            </a:r>
          </a:p>
          <a:p>
            <a:r>
              <a:rPr lang="en-US" b="1" i="0" dirty="0" smtClean="0">
                <a:solidFill>
                  <a:schemeClr val="bg1"/>
                </a:solidFill>
                <a:latin typeface="Calibri"/>
                <a:cs typeface="Calibri"/>
              </a:rPr>
              <a:t>summarization</a:t>
            </a:r>
          </a:p>
          <a:p>
            <a:r>
              <a:rPr lang="en-US" b="1" i="0" dirty="0" smtClean="0">
                <a:solidFill>
                  <a:schemeClr val="bg1"/>
                </a:solidFill>
                <a:latin typeface="Calibri"/>
                <a:cs typeface="Calibri"/>
              </a:rPr>
              <a:t>image caption generation</a:t>
            </a:r>
          </a:p>
        </p:txBody>
      </p:sp>
    </p:spTree>
    <p:extLst>
      <p:ext uri="{BB962C8B-B14F-4D97-AF65-F5344CB8AC3E}">
        <p14:creationId xmlns:p14="http://schemas.microsoft.com/office/powerpoint/2010/main" val="929280509"/>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7578"/>
            <a:ext cx="8229600" cy="726831"/>
          </a:xfrm>
        </p:spPr>
        <p:txBody>
          <a:bodyPr>
            <a:normAutofit/>
          </a:bodyPr>
          <a:lstStyle/>
          <a:p>
            <a:r>
              <a:rPr lang="en-US" sz="3600" dirty="0" smtClean="0">
                <a:solidFill>
                  <a:srgbClr val="000000"/>
                </a:solidFill>
              </a:rPr>
              <a:t>Loss Functions</a:t>
            </a:r>
            <a:endParaRPr lang="en-US" sz="3600" dirty="0">
              <a:solidFill>
                <a:srgbClr val="000000"/>
              </a:solidFill>
            </a:endParaRPr>
          </a:p>
        </p:txBody>
      </p:sp>
      <p:sp>
        <p:nvSpPr>
          <p:cNvPr id="4" name="Slide Number Placeholder 3"/>
          <p:cNvSpPr>
            <a:spLocks noGrp="1"/>
          </p:cNvSpPr>
          <p:nvPr>
            <p:ph type="sldNum" sz="quarter" idx="12"/>
          </p:nvPr>
        </p:nvSpPr>
        <p:spPr/>
        <p:txBody>
          <a:bodyPr/>
          <a:lstStyle/>
          <a:p>
            <a:fld id="{3CFF3AF9-2D61-8E40-AE3D-8390D801ED2C}" type="slidenum">
              <a:rPr lang="en-US" smtClean="0"/>
              <a:t>33</a:t>
            </a:fld>
            <a:endParaRPr lang="en-US" dirty="0"/>
          </a:p>
        </p:txBody>
      </p:sp>
      <p:graphicFrame>
        <p:nvGraphicFramePr>
          <p:cNvPr id="18" name="Table 17"/>
          <p:cNvGraphicFramePr>
            <a:graphicFrameLocks noGrp="1"/>
          </p:cNvGraphicFramePr>
          <p:nvPr>
            <p:extLst/>
          </p:nvPr>
        </p:nvGraphicFramePr>
        <p:xfrm>
          <a:off x="-1" y="1071880"/>
          <a:ext cx="9144001" cy="4301743"/>
        </p:xfrm>
        <a:graphic>
          <a:graphicData uri="http://schemas.openxmlformats.org/drawingml/2006/table">
            <a:tbl>
              <a:tblPr firstRow="1" bandRow="1">
                <a:tableStyleId>{5C22544A-7EE6-4342-B048-85BDC9FD1C3A}</a:tableStyleId>
              </a:tblPr>
              <a:tblGrid>
                <a:gridCol w="1300481"/>
                <a:gridCol w="5486400"/>
                <a:gridCol w="2357120"/>
              </a:tblGrid>
              <a:tr h="462280">
                <a:tc>
                  <a:txBody>
                    <a:bodyPr/>
                    <a:lstStyle/>
                    <a:p>
                      <a:pPr algn="ctr"/>
                      <a:r>
                        <a:rPr lang="en-US" dirty="0" smtClean="0">
                          <a:solidFill>
                            <a:srgbClr val="000000"/>
                          </a:solidFill>
                        </a:rPr>
                        <a:t>name</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loss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where used</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r>
              <a:tr h="821944">
                <a:tc>
                  <a:txBody>
                    <a:bodyPr/>
                    <a:lstStyle/>
                    <a:p>
                      <a:pPr algn="ctr"/>
                      <a:r>
                        <a:rPr lang="en-US" dirty="0" smtClean="0">
                          <a:solidFill>
                            <a:srgbClr val="000000"/>
                          </a:solidFill>
                        </a:rPr>
                        <a:t>cost (“0-1”)</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 intractable, but underlies “direct error minimization”</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perceptron</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perceptron algorithm</a:t>
                      </a:r>
                      <a:r>
                        <a:rPr lang="en-US" baseline="0" dirty="0" smtClean="0">
                          <a:solidFill>
                            <a:srgbClr val="000000"/>
                          </a:solidFill>
                        </a:rPr>
                        <a:t> (Rosenblatt, 1958)</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hinge</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support vector machines, other large-margin algorithms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log</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r>
                        <a:rPr lang="en-US" dirty="0" smtClean="0">
                          <a:solidFill>
                            <a:srgbClr val="000000"/>
                          </a:solidFill>
                        </a:rPr>
                        <a:t>logistic regression, conditional random fields, maximum</a:t>
                      </a:r>
                      <a:r>
                        <a:rPr lang="en-US" baseline="0" dirty="0" smtClean="0">
                          <a:solidFill>
                            <a:srgbClr val="000000"/>
                          </a:solidFill>
                        </a:rPr>
                        <a:t> entropy models</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r>
            </a:tbl>
          </a:graphicData>
        </a:graphic>
      </p:graphicFrame>
      <p:pic>
        <p:nvPicPr>
          <p:cNvPr id="20" name="Picture 19"/>
          <p:cNvPicPr>
            <a:picLocks noChangeAspect="1"/>
          </p:cNvPicPr>
          <p:nvPr/>
        </p:nvPicPr>
        <p:blipFill rotWithShape="1">
          <a:blip r:embed="rId2"/>
          <a:srcRect l="32819"/>
          <a:stretch/>
        </p:blipFill>
        <p:spPr>
          <a:xfrm>
            <a:off x="1509656" y="2692400"/>
            <a:ext cx="4336528" cy="442435"/>
          </a:xfrm>
          <a:prstGeom prst="rect">
            <a:avLst/>
          </a:prstGeom>
        </p:spPr>
      </p:pic>
      <p:pic>
        <p:nvPicPr>
          <p:cNvPr id="21" name="Picture 20"/>
          <p:cNvPicPr>
            <a:picLocks noChangeAspect="1"/>
          </p:cNvPicPr>
          <p:nvPr/>
        </p:nvPicPr>
        <p:blipFill rotWithShape="1">
          <a:blip r:embed="rId3"/>
          <a:srcRect l="27111"/>
          <a:stretch/>
        </p:blipFill>
        <p:spPr>
          <a:xfrm>
            <a:off x="1402079" y="3618408"/>
            <a:ext cx="5323841" cy="397289"/>
          </a:xfrm>
          <a:prstGeom prst="rect">
            <a:avLst/>
          </a:prstGeom>
        </p:spPr>
      </p:pic>
      <p:pic>
        <p:nvPicPr>
          <p:cNvPr id="22" name="Picture 21"/>
          <p:cNvPicPr>
            <a:picLocks noChangeAspect="1"/>
          </p:cNvPicPr>
          <p:nvPr/>
        </p:nvPicPr>
        <p:blipFill rotWithShape="1">
          <a:blip r:embed="rId4"/>
          <a:srcRect l="45252"/>
          <a:stretch/>
        </p:blipFill>
        <p:spPr>
          <a:xfrm>
            <a:off x="2641600" y="1866900"/>
            <a:ext cx="2631440" cy="299656"/>
          </a:xfrm>
          <a:prstGeom prst="rect">
            <a:avLst/>
          </a:prstGeom>
        </p:spPr>
      </p:pic>
      <p:pic>
        <p:nvPicPr>
          <p:cNvPr id="6" name="Picture 5"/>
          <p:cNvPicPr>
            <a:picLocks noChangeAspect="1"/>
          </p:cNvPicPr>
          <p:nvPr/>
        </p:nvPicPr>
        <p:blipFill>
          <a:blip r:embed="rId5"/>
          <a:stretch>
            <a:fillRect/>
          </a:stretch>
        </p:blipFill>
        <p:spPr>
          <a:xfrm>
            <a:off x="1601096" y="4399458"/>
            <a:ext cx="4870824" cy="974165"/>
          </a:xfrm>
          <a:prstGeom prst="rect">
            <a:avLst/>
          </a:prstGeom>
        </p:spPr>
      </p:pic>
      <p:sp>
        <p:nvSpPr>
          <p:cNvPr id="11" name="Title 1"/>
          <p:cNvSpPr txBox="1">
            <a:spLocks/>
          </p:cNvSpPr>
          <p:nvPr/>
        </p:nvSpPr>
        <p:spPr>
          <a:xfrm>
            <a:off x="1651896" y="199338"/>
            <a:ext cx="5825864" cy="1458435"/>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smtClean="0">
                <a:solidFill>
                  <a:srgbClr val="FFFF00"/>
                </a:solidFill>
                <a:latin typeface="Calibri"/>
              </a:rPr>
              <a:t>issue: gold standard translation is often unreachable by the model</a:t>
            </a:r>
            <a:endParaRPr lang="en-US" sz="2800" b="1" dirty="0">
              <a:solidFill>
                <a:srgbClr val="FFFF00"/>
              </a:solidFill>
              <a:latin typeface="Calibri"/>
            </a:endParaRPr>
          </a:p>
        </p:txBody>
      </p:sp>
      <p:cxnSp>
        <p:nvCxnSpPr>
          <p:cNvPr id="5" name="Straight Arrow Connector 4"/>
          <p:cNvCxnSpPr/>
          <p:nvPr/>
        </p:nvCxnSpPr>
        <p:spPr>
          <a:xfrm flipH="1">
            <a:off x="2783840" y="1606973"/>
            <a:ext cx="660400" cy="1085427"/>
          </a:xfrm>
          <a:prstGeom prst="straightConnector1">
            <a:avLst/>
          </a:prstGeom>
          <a:ln w="571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p:nvPr/>
        </p:nvCxnSpPr>
        <p:spPr>
          <a:xfrm flipH="1">
            <a:off x="2560320" y="1606973"/>
            <a:ext cx="1036320" cy="2011435"/>
          </a:xfrm>
          <a:prstGeom prst="straightConnector1">
            <a:avLst/>
          </a:prstGeom>
          <a:ln w="571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17" name="Straight Arrow Connector 16"/>
          <p:cNvCxnSpPr/>
          <p:nvPr/>
        </p:nvCxnSpPr>
        <p:spPr>
          <a:xfrm flipH="1">
            <a:off x="2854960" y="1606973"/>
            <a:ext cx="894080" cy="3208867"/>
          </a:xfrm>
          <a:prstGeom prst="straightConnector1">
            <a:avLst/>
          </a:prstGeom>
          <a:ln w="57150" cmpd="sng">
            <a:solidFill>
              <a:srgbClr val="0000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1076972"/>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7578"/>
            <a:ext cx="8229600" cy="726831"/>
          </a:xfrm>
        </p:spPr>
        <p:txBody>
          <a:bodyPr>
            <a:normAutofit/>
          </a:bodyPr>
          <a:lstStyle/>
          <a:p>
            <a:r>
              <a:rPr lang="en-US" sz="3600" dirty="0" smtClean="0">
                <a:solidFill>
                  <a:srgbClr val="000000"/>
                </a:solidFill>
              </a:rPr>
              <a:t>Loss Functions</a:t>
            </a:r>
            <a:endParaRPr lang="en-US" sz="3600" dirty="0">
              <a:solidFill>
                <a:srgbClr val="000000"/>
              </a:solidFill>
            </a:endParaRPr>
          </a:p>
        </p:txBody>
      </p:sp>
      <p:sp>
        <p:nvSpPr>
          <p:cNvPr id="4" name="Slide Number Placeholder 3"/>
          <p:cNvSpPr>
            <a:spLocks noGrp="1"/>
          </p:cNvSpPr>
          <p:nvPr>
            <p:ph type="sldNum" sz="quarter" idx="12"/>
          </p:nvPr>
        </p:nvSpPr>
        <p:spPr/>
        <p:txBody>
          <a:bodyPr/>
          <a:lstStyle/>
          <a:p>
            <a:fld id="{3CFF3AF9-2D61-8E40-AE3D-8390D801ED2C}" type="slidenum">
              <a:rPr lang="en-US" smtClean="0"/>
              <a:t>34</a:t>
            </a:fld>
            <a:endParaRPr lang="en-US" dirty="0"/>
          </a:p>
        </p:txBody>
      </p:sp>
      <p:graphicFrame>
        <p:nvGraphicFramePr>
          <p:cNvPr id="18" name="Table 17"/>
          <p:cNvGraphicFramePr>
            <a:graphicFrameLocks noGrp="1"/>
          </p:cNvGraphicFramePr>
          <p:nvPr>
            <p:extLst/>
          </p:nvPr>
        </p:nvGraphicFramePr>
        <p:xfrm>
          <a:off x="-1" y="1071880"/>
          <a:ext cx="9144001" cy="4301743"/>
        </p:xfrm>
        <a:graphic>
          <a:graphicData uri="http://schemas.openxmlformats.org/drawingml/2006/table">
            <a:tbl>
              <a:tblPr firstRow="1" bandRow="1">
                <a:tableStyleId>{5C22544A-7EE6-4342-B048-85BDC9FD1C3A}</a:tableStyleId>
              </a:tblPr>
              <a:tblGrid>
                <a:gridCol w="1300481"/>
                <a:gridCol w="5486400"/>
                <a:gridCol w="2357120"/>
              </a:tblGrid>
              <a:tr h="462280">
                <a:tc>
                  <a:txBody>
                    <a:bodyPr/>
                    <a:lstStyle/>
                    <a:p>
                      <a:pPr algn="ctr"/>
                      <a:r>
                        <a:rPr lang="en-US" dirty="0" smtClean="0">
                          <a:solidFill>
                            <a:srgbClr val="000000"/>
                          </a:solidFill>
                        </a:rPr>
                        <a:t>name</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loss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c>
                  <a:txBody>
                    <a:bodyPr/>
                    <a:lstStyle/>
                    <a:p>
                      <a:pPr algn="ctr"/>
                      <a:r>
                        <a:rPr lang="en-US" dirty="0" smtClean="0">
                          <a:solidFill>
                            <a:srgbClr val="000000"/>
                          </a:solidFill>
                        </a:rPr>
                        <a:t>where used</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solidFill>
                      <a:schemeClr val="tx2">
                        <a:lumMod val="20000"/>
                        <a:lumOff val="80000"/>
                      </a:schemeClr>
                    </a:solidFill>
                  </a:tcPr>
                </a:tc>
              </a:tr>
              <a:tr h="821944">
                <a:tc>
                  <a:txBody>
                    <a:bodyPr/>
                    <a:lstStyle/>
                    <a:p>
                      <a:pPr algn="ctr"/>
                      <a:r>
                        <a:rPr lang="en-US" dirty="0" smtClean="0">
                          <a:solidFill>
                            <a:srgbClr val="000000"/>
                          </a:solidFill>
                        </a:rPr>
                        <a:t>cost (“0-1”)</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 intractable, but underlies “direct error minimization”</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perceptron</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perceptron algorithm</a:t>
                      </a:r>
                      <a:r>
                        <a:rPr lang="en-US" baseline="0" dirty="0" smtClean="0">
                          <a:solidFill>
                            <a:srgbClr val="000000"/>
                          </a:solidFill>
                        </a:rPr>
                        <a:t> (Rosenblatt, 1958)</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hinge</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c>
                  <a:txBody>
                    <a:bodyPr/>
                    <a:lstStyle/>
                    <a:p>
                      <a:pPr algn="ctr"/>
                      <a:r>
                        <a:rPr lang="en-US" dirty="0" smtClean="0">
                          <a:solidFill>
                            <a:srgbClr val="000000"/>
                          </a:solidFill>
                        </a:rPr>
                        <a:t>support vector machines, other large-margin algorithms</a:t>
                      </a: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lnB w="12700" cap="flat" cmpd="sng" algn="ctr">
                      <a:solidFill>
                        <a:prstClr val="black"/>
                      </a:solidFill>
                      <a:prstDash val="solid"/>
                      <a:round/>
                      <a:headEnd type="none" w="med" len="med"/>
                      <a:tailEnd type="none" w="med" len="med"/>
                    </a:lnB>
                    <a:noFill/>
                  </a:tcPr>
                </a:tc>
              </a:tr>
              <a:tr h="821944">
                <a:tc>
                  <a:txBody>
                    <a:bodyPr/>
                    <a:lstStyle/>
                    <a:p>
                      <a:pPr algn="ctr"/>
                      <a:r>
                        <a:rPr lang="en-US" dirty="0" smtClean="0">
                          <a:solidFill>
                            <a:srgbClr val="000000"/>
                          </a:solidFill>
                        </a:rPr>
                        <a:t>log</a:t>
                      </a:r>
                      <a:endParaRPr lang="en-US" dirty="0">
                        <a:solidFill>
                          <a:srgbClr val="000000"/>
                        </a:solidFill>
                      </a:endParaRPr>
                    </a:p>
                  </a:txBody>
                  <a:tcPr anchor="ctr">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endParaRPr lang="en-US"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solidFill>
                        <a:prstClr val="black"/>
                      </a:solid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c>
                  <a:txBody>
                    <a:bodyPr/>
                    <a:lstStyle/>
                    <a:p>
                      <a:pPr algn="ctr"/>
                      <a:r>
                        <a:rPr lang="en-US" dirty="0" smtClean="0">
                          <a:solidFill>
                            <a:srgbClr val="000000"/>
                          </a:solidFill>
                        </a:rPr>
                        <a:t>logistic regression, conditional random fields, maximum</a:t>
                      </a:r>
                      <a:r>
                        <a:rPr lang="en-US" baseline="0" dirty="0" smtClean="0">
                          <a:solidFill>
                            <a:srgbClr val="000000"/>
                          </a:solidFill>
                        </a:rPr>
                        <a:t> entropy models</a:t>
                      </a:r>
                      <a:endParaRPr lang="en-US" i="1" dirty="0">
                        <a:solidFill>
                          <a:srgbClr val="000000"/>
                        </a:solidFill>
                      </a:endParaRPr>
                    </a:p>
                  </a:txBody>
                  <a:tcPr anchor="ctr">
                    <a:lnL w="12700" cap="flat" cmpd="sng" algn="ctr">
                      <a:solidFill>
                        <a:prstClr val="black"/>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prstClr val="black"/>
                      </a:solidFill>
                      <a:prstDash val="solid"/>
                      <a:round/>
                      <a:headEnd type="none" w="med" len="med"/>
                      <a:tailEnd type="none" w="med" len="med"/>
                    </a:lnT>
                    <a:noFill/>
                  </a:tcPr>
                </a:tc>
              </a:tr>
            </a:tbl>
          </a:graphicData>
        </a:graphic>
      </p:graphicFrame>
      <p:pic>
        <p:nvPicPr>
          <p:cNvPr id="20" name="Picture 19"/>
          <p:cNvPicPr>
            <a:picLocks noChangeAspect="1"/>
          </p:cNvPicPr>
          <p:nvPr/>
        </p:nvPicPr>
        <p:blipFill rotWithShape="1">
          <a:blip r:embed="rId2"/>
          <a:srcRect l="32819"/>
          <a:stretch/>
        </p:blipFill>
        <p:spPr>
          <a:xfrm>
            <a:off x="1509656" y="2692400"/>
            <a:ext cx="4336528" cy="442435"/>
          </a:xfrm>
          <a:prstGeom prst="rect">
            <a:avLst/>
          </a:prstGeom>
        </p:spPr>
      </p:pic>
      <p:pic>
        <p:nvPicPr>
          <p:cNvPr id="21" name="Picture 20"/>
          <p:cNvPicPr>
            <a:picLocks noChangeAspect="1"/>
          </p:cNvPicPr>
          <p:nvPr/>
        </p:nvPicPr>
        <p:blipFill rotWithShape="1">
          <a:blip r:embed="rId3"/>
          <a:srcRect l="27111"/>
          <a:stretch/>
        </p:blipFill>
        <p:spPr>
          <a:xfrm>
            <a:off x="1402079" y="3618408"/>
            <a:ext cx="5323841" cy="397289"/>
          </a:xfrm>
          <a:prstGeom prst="rect">
            <a:avLst/>
          </a:prstGeom>
        </p:spPr>
      </p:pic>
      <p:pic>
        <p:nvPicPr>
          <p:cNvPr id="22" name="Picture 21"/>
          <p:cNvPicPr>
            <a:picLocks noChangeAspect="1"/>
          </p:cNvPicPr>
          <p:nvPr/>
        </p:nvPicPr>
        <p:blipFill rotWithShape="1">
          <a:blip r:embed="rId4"/>
          <a:srcRect l="45252"/>
          <a:stretch/>
        </p:blipFill>
        <p:spPr>
          <a:xfrm>
            <a:off x="2641600" y="1866900"/>
            <a:ext cx="2631440" cy="299656"/>
          </a:xfrm>
          <a:prstGeom prst="rect">
            <a:avLst/>
          </a:prstGeom>
        </p:spPr>
      </p:pic>
      <p:pic>
        <p:nvPicPr>
          <p:cNvPr id="6" name="Picture 5"/>
          <p:cNvPicPr>
            <a:picLocks noChangeAspect="1"/>
          </p:cNvPicPr>
          <p:nvPr/>
        </p:nvPicPr>
        <p:blipFill>
          <a:blip r:embed="rId5"/>
          <a:stretch>
            <a:fillRect/>
          </a:stretch>
        </p:blipFill>
        <p:spPr>
          <a:xfrm>
            <a:off x="1601096" y="4399458"/>
            <a:ext cx="4870824" cy="974165"/>
          </a:xfrm>
          <a:prstGeom prst="rect">
            <a:avLst/>
          </a:prstGeom>
        </p:spPr>
      </p:pic>
      <p:sp>
        <p:nvSpPr>
          <p:cNvPr id="11" name="Title 1"/>
          <p:cNvSpPr txBox="1">
            <a:spLocks/>
          </p:cNvSpPr>
          <p:nvPr/>
        </p:nvSpPr>
        <p:spPr>
          <a:xfrm>
            <a:off x="1249680" y="0"/>
            <a:ext cx="6228080" cy="1458435"/>
          </a:xfrm>
          <a:prstGeom prst="rect">
            <a:avLst/>
          </a:prstGeom>
          <a:solidFill>
            <a:schemeClr val="tx1"/>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smtClean="0">
                <a:solidFill>
                  <a:srgbClr val="FFFF00"/>
                </a:solidFill>
                <a:latin typeface="Calibri"/>
              </a:rPr>
              <a:t>intractable, but it doesn’t need to compute model score of gold standard!</a:t>
            </a:r>
            <a:endParaRPr lang="en-US" sz="2800" b="1" dirty="0">
              <a:solidFill>
                <a:srgbClr val="FFFF00"/>
              </a:solidFill>
              <a:latin typeface="Calibri"/>
            </a:endParaRPr>
          </a:p>
        </p:txBody>
      </p:sp>
      <p:sp>
        <p:nvSpPr>
          <p:cNvPr id="3" name="Donut 2"/>
          <p:cNvSpPr/>
          <p:nvPr/>
        </p:nvSpPr>
        <p:spPr>
          <a:xfrm>
            <a:off x="1920240" y="1458435"/>
            <a:ext cx="4328160" cy="1030765"/>
          </a:xfrm>
          <a:prstGeom prst="donut">
            <a:avLst>
              <a:gd name="adj" fmla="val 8346"/>
            </a:avLst>
          </a:prstGeom>
          <a:solidFill>
            <a:schemeClr val="tx1"/>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27692753"/>
      </p:ext>
    </p:extLst>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917866"/>
            <a:ext cx="8229600" cy="3241632"/>
          </a:xfrm>
          <a:ln>
            <a:solidFill>
              <a:schemeClr val="tx1"/>
            </a:solidFill>
          </a:ln>
        </p:spPr>
      </p:pic>
      <p:sp>
        <p:nvSpPr>
          <p:cNvPr id="6" name="TextBox 11"/>
          <p:cNvSpPr txBox="1">
            <a:spLocks noChangeArrowheads="1"/>
          </p:cNvSpPr>
          <p:nvPr/>
        </p:nvSpPr>
        <p:spPr bwMode="auto">
          <a:xfrm>
            <a:off x="2764162" y="221706"/>
            <a:ext cx="356374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i="0" dirty="0" smtClean="0">
                <a:solidFill>
                  <a:srgbClr val="0062AC"/>
                </a:solidFill>
                <a:latin typeface="Calibri"/>
                <a:cs typeface="Calibri"/>
              </a:rPr>
              <a:t>MERT, </a:t>
            </a:r>
            <a:r>
              <a:rPr lang="en-US" sz="3600" i="0" dirty="0" err="1" smtClean="0">
                <a:solidFill>
                  <a:srgbClr val="0062AC"/>
                </a:solidFill>
                <a:latin typeface="Calibri"/>
                <a:cs typeface="Calibri"/>
              </a:rPr>
              <a:t>Och</a:t>
            </a:r>
            <a:r>
              <a:rPr lang="en-US" sz="3600" i="0" dirty="0" smtClean="0">
                <a:solidFill>
                  <a:srgbClr val="0062AC"/>
                </a:solidFill>
                <a:latin typeface="Calibri"/>
                <a:cs typeface="Calibri"/>
              </a:rPr>
              <a:t> (2003)</a:t>
            </a:r>
          </a:p>
        </p:txBody>
      </p:sp>
    </p:spTree>
    <p:extLst>
      <p:ext uri="{BB962C8B-B14F-4D97-AF65-F5344CB8AC3E}">
        <p14:creationId xmlns:p14="http://schemas.microsoft.com/office/powerpoint/2010/main" val="4242342982"/>
      </p:ext>
    </p:extLst>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Content Placeholder 2"/>
          <p:cNvSpPr>
            <a:spLocks noGrp="1"/>
          </p:cNvSpPr>
          <p:nvPr>
            <p:ph idx="1"/>
          </p:nvPr>
        </p:nvSpPr>
        <p:spPr>
          <a:xfrm>
            <a:off x="457200" y="228601"/>
            <a:ext cx="8458200" cy="706582"/>
          </a:xfrm>
        </p:spPr>
        <p:txBody>
          <a:bodyPr/>
          <a:lstStyle/>
          <a:p>
            <a:pPr marL="0" indent="0" algn="ctr">
              <a:buNone/>
            </a:pPr>
            <a:r>
              <a:rPr lang="en-US" dirty="0" smtClean="0"/>
              <a:t>Minimum Error Rate Training (MERT)</a:t>
            </a:r>
            <a:endParaRPr lang="en-US" sz="1800" dirty="0" smtClean="0"/>
          </a:p>
        </p:txBody>
      </p:sp>
      <p:sp>
        <p:nvSpPr>
          <p:cNvPr id="9" name="TextBox 11"/>
          <p:cNvSpPr txBox="1">
            <a:spLocks noChangeArrowheads="1"/>
          </p:cNvSpPr>
          <p:nvPr/>
        </p:nvSpPr>
        <p:spPr bwMode="auto">
          <a:xfrm>
            <a:off x="5517132" y="4237210"/>
            <a:ext cx="108122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decoder</a:t>
            </a:r>
          </a:p>
          <a:p>
            <a:pPr algn="ctr" eaLnBrk="1" hangingPunct="1"/>
            <a:r>
              <a:rPr lang="en-US" sz="2000" dirty="0">
                <a:solidFill>
                  <a:srgbClr val="0062AC"/>
                </a:solidFill>
                <a:latin typeface="Calibri"/>
                <a:cs typeface="Calibri"/>
              </a:rPr>
              <a:t>o</a:t>
            </a:r>
            <a:r>
              <a:rPr lang="en-US" sz="2000" dirty="0" smtClean="0">
                <a:solidFill>
                  <a:srgbClr val="0062AC"/>
                </a:solidFill>
                <a:latin typeface="Calibri"/>
                <a:cs typeface="Calibri"/>
              </a:rPr>
              <a:t>utputs</a:t>
            </a:r>
          </a:p>
        </p:txBody>
      </p:sp>
      <p:sp>
        <p:nvSpPr>
          <p:cNvPr id="15" name="Left Brace 14"/>
          <p:cNvSpPr/>
          <p:nvPr/>
        </p:nvSpPr>
        <p:spPr bwMode="auto">
          <a:xfrm rot="16200000">
            <a:off x="5814275" y="2332210"/>
            <a:ext cx="457200" cy="3352800"/>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 name="Picture 1"/>
          <p:cNvPicPr>
            <a:picLocks noChangeAspect="1"/>
          </p:cNvPicPr>
          <p:nvPr/>
        </p:nvPicPr>
        <p:blipFill>
          <a:blip r:embed="rId3"/>
          <a:stretch>
            <a:fillRect/>
          </a:stretch>
        </p:blipFill>
        <p:spPr>
          <a:xfrm>
            <a:off x="1242275" y="2827510"/>
            <a:ext cx="7378700" cy="1104900"/>
          </a:xfrm>
          <a:prstGeom prst="rect">
            <a:avLst/>
          </a:prstGeom>
        </p:spPr>
      </p:pic>
      <p:cxnSp>
        <p:nvCxnSpPr>
          <p:cNvPr id="16" name="Straight Arrow Connector 15"/>
          <p:cNvCxnSpPr>
            <a:stCxn id="17" idx="2"/>
          </p:cNvCxnSpPr>
          <p:nvPr/>
        </p:nvCxnSpPr>
        <p:spPr>
          <a:xfrm flipH="1">
            <a:off x="2182076" y="2128659"/>
            <a:ext cx="98631" cy="1023252"/>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1"/>
          <p:cNvSpPr txBox="1">
            <a:spLocks noChangeArrowheads="1"/>
          </p:cNvSpPr>
          <p:nvPr/>
        </p:nvSpPr>
        <p:spPr bwMode="auto">
          <a:xfrm>
            <a:off x="384056" y="1420773"/>
            <a:ext cx="37933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“how bad are these translations?”</a:t>
            </a:r>
          </a:p>
          <a:p>
            <a:pPr algn="ctr" eaLnBrk="1" hangingPunct="1"/>
            <a:r>
              <a:rPr lang="en-US" sz="2000" dirty="0" smtClean="0">
                <a:solidFill>
                  <a:srgbClr val="0062AC"/>
                </a:solidFill>
                <a:latin typeface="Calibri"/>
                <a:cs typeface="Calibri"/>
              </a:rPr>
              <a:t>e.g., negative BLEU</a:t>
            </a:r>
          </a:p>
        </p:txBody>
      </p:sp>
      <p:sp>
        <p:nvSpPr>
          <p:cNvPr id="18" name="TextBox 11"/>
          <p:cNvSpPr txBox="1">
            <a:spLocks noChangeArrowheads="1"/>
          </p:cNvSpPr>
          <p:nvPr/>
        </p:nvSpPr>
        <p:spPr bwMode="auto">
          <a:xfrm>
            <a:off x="2895545" y="4131645"/>
            <a:ext cx="13286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0062AC"/>
                </a:solidFill>
                <a:latin typeface="Calibri"/>
                <a:cs typeface="Calibri"/>
              </a:rPr>
              <a:t>references</a:t>
            </a:r>
          </a:p>
        </p:txBody>
      </p:sp>
      <p:sp>
        <p:nvSpPr>
          <p:cNvPr id="19" name="Left Brace 18"/>
          <p:cNvSpPr/>
          <p:nvPr/>
        </p:nvSpPr>
        <p:spPr bwMode="auto">
          <a:xfrm rot="16200000">
            <a:off x="3196929" y="3337810"/>
            <a:ext cx="457200" cy="1138398"/>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2" name="TextBox 11"/>
          <p:cNvSpPr txBox="1">
            <a:spLocks noChangeArrowheads="1"/>
          </p:cNvSpPr>
          <p:nvPr/>
        </p:nvSpPr>
        <p:spPr bwMode="auto">
          <a:xfrm>
            <a:off x="4710531" y="2145188"/>
            <a:ext cx="3255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set of source</a:t>
            </a:r>
            <a:r>
              <a:rPr lang="en-US" sz="2000" dirty="0">
                <a:solidFill>
                  <a:srgbClr val="0062AC"/>
                </a:solidFill>
                <a:latin typeface="Calibri"/>
                <a:cs typeface="Calibri"/>
              </a:rPr>
              <a:t> </a:t>
            </a:r>
            <a:r>
              <a:rPr lang="en-US" sz="2000" dirty="0" smtClean="0">
                <a:solidFill>
                  <a:srgbClr val="0062AC"/>
                </a:solidFill>
                <a:latin typeface="Calibri"/>
                <a:cs typeface="Calibri"/>
              </a:rPr>
              <a:t>sentences</a:t>
            </a:r>
            <a:endParaRPr lang="en-US" sz="2000" dirty="0">
              <a:solidFill>
                <a:srgbClr val="0062AC"/>
              </a:solidFill>
              <a:latin typeface="Calibri"/>
              <a:cs typeface="Calibri"/>
            </a:endParaRPr>
          </a:p>
        </p:txBody>
      </p:sp>
      <p:sp>
        <p:nvSpPr>
          <p:cNvPr id="3" name="Rectangle 2"/>
          <p:cNvSpPr/>
          <p:nvPr/>
        </p:nvSpPr>
        <p:spPr>
          <a:xfrm>
            <a:off x="288687" y="1062182"/>
            <a:ext cx="8485909" cy="4306455"/>
          </a:xfrm>
          <a:prstGeom prst="rect">
            <a:avLst/>
          </a:prstGeom>
          <a:solidFill>
            <a:schemeClr val="bg1">
              <a:alpha val="64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3" name="TextBox 11"/>
          <p:cNvSpPr txBox="1">
            <a:spLocks noChangeArrowheads="1"/>
          </p:cNvSpPr>
          <p:nvPr/>
        </p:nvSpPr>
        <p:spPr bwMode="auto">
          <a:xfrm>
            <a:off x="727363" y="1157551"/>
            <a:ext cx="7666182" cy="1384995"/>
          </a:xfrm>
          <a:prstGeom prst="rect">
            <a:avLst/>
          </a:prstGeom>
          <a:solidFill>
            <a:srgbClr val="BC0000"/>
          </a:solidFill>
          <a:ln>
            <a:noFill/>
          </a:ln>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200" i="0" dirty="0" smtClean="0">
                <a:solidFill>
                  <a:schemeClr val="bg1"/>
                </a:solidFill>
                <a:latin typeface="Calibri"/>
                <a:cs typeface="Calibri"/>
              </a:rPr>
              <a:t>minimize the cost of the decoder output</a:t>
            </a:r>
          </a:p>
          <a:p>
            <a:pPr algn="ctr" eaLnBrk="1" hangingPunct="1"/>
            <a:endParaRPr lang="en-US" i="0" dirty="0" smtClean="0">
              <a:solidFill>
                <a:schemeClr val="bg1"/>
              </a:solidFill>
              <a:latin typeface="Calibri"/>
              <a:cs typeface="Calibri"/>
            </a:endParaRPr>
          </a:p>
          <a:p>
            <a:pPr algn="ctr" eaLnBrk="1" hangingPunct="1"/>
            <a:r>
              <a:rPr lang="en-US" sz="3200" i="0" dirty="0" smtClean="0">
                <a:solidFill>
                  <a:schemeClr val="bg1"/>
                </a:solidFill>
                <a:latin typeface="Calibri"/>
                <a:cs typeface="Calibri"/>
              </a:rPr>
              <a:t>intractable in general – how can we solve it?</a:t>
            </a:r>
          </a:p>
        </p:txBody>
      </p:sp>
    </p:spTree>
    <p:extLst>
      <p:ext uri="{BB962C8B-B14F-4D97-AF65-F5344CB8AC3E}">
        <p14:creationId xmlns:p14="http://schemas.microsoft.com/office/powerpoint/2010/main" val="1525983149"/>
      </p:ext>
    </p:extLst>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Content Placeholder 2"/>
          <p:cNvSpPr>
            <a:spLocks noGrp="1"/>
          </p:cNvSpPr>
          <p:nvPr>
            <p:ph idx="1"/>
          </p:nvPr>
        </p:nvSpPr>
        <p:spPr>
          <a:xfrm>
            <a:off x="457200" y="228601"/>
            <a:ext cx="8458200" cy="706582"/>
          </a:xfrm>
        </p:spPr>
        <p:txBody>
          <a:bodyPr/>
          <a:lstStyle/>
          <a:p>
            <a:pPr marL="0" indent="0" algn="ctr">
              <a:buNone/>
            </a:pPr>
            <a:r>
              <a:rPr lang="en-US" dirty="0" smtClean="0"/>
              <a:t>Minimum Error Rate Training (MERT)</a:t>
            </a:r>
            <a:endParaRPr lang="en-US" sz="1800" dirty="0" smtClean="0"/>
          </a:p>
        </p:txBody>
      </p:sp>
      <p:sp>
        <p:nvSpPr>
          <p:cNvPr id="9" name="TextBox 11"/>
          <p:cNvSpPr txBox="1">
            <a:spLocks noChangeArrowheads="1"/>
          </p:cNvSpPr>
          <p:nvPr/>
        </p:nvSpPr>
        <p:spPr bwMode="auto">
          <a:xfrm>
            <a:off x="5517132" y="4237210"/>
            <a:ext cx="108122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decoder</a:t>
            </a:r>
          </a:p>
          <a:p>
            <a:pPr algn="ctr" eaLnBrk="1" hangingPunct="1"/>
            <a:r>
              <a:rPr lang="en-US" sz="2000" dirty="0">
                <a:solidFill>
                  <a:srgbClr val="0062AC"/>
                </a:solidFill>
                <a:latin typeface="Calibri"/>
                <a:cs typeface="Calibri"/>
              </a:rPr>
              <a:t>o</a:t>
            </a:r>
            <a:r>
              <a:rPr lang="en-US" sz="2000" dirty="0" smtClean="0">
                <a:solidFill>
                  <a:srgbClr val="0062AC"/>
                </a:solidFill>
                <a:latin typeface="Calibri"/>
                <a:cs typeface="Calibri"/>
              </a:rPr>
              <a:t>utputs</a:t>
            </a:r>
          </a:p>
        </p:txBody>
      </p:sp>
      <p:sp>
        <p:nvSpPr>
          <p:cNvPr id="15" name="Left Brace 14"/>
          <p:cNvSpPr/>
          <p:nvPr/>
        </p:nvSpPr>
        <p:spPr bwMode="auto">
          <a:xfrm rot="16200000">
            <a:off x="5814275" y="2332210"/>
            <a:ext cx="457200" cy="3352800"/>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 name="Picture 1"/>
          <p:cNvPicPr>
            <a:picLocks noChangeAspect="1"/>
          </p:cNvPicPr>
          <p:nvPr/>
        </p:nvPicPr>
        <p:blipFill>
          <a:blip r:embed="rId3"/>
          <a:stretch>
            <a:fillRect/>
          </a:stretch>
        </p:blipFill>
        <p:spPr>
          <a:xfrm>
            <a:off x="1242275" y="2827510"/>
            <a:ext cx="7378700" cy="1104900"/>
          </a:xfrm>
          <a:prstGeom prst="rect">
            <a:avLst/>
          </a:prstGeom>
        </p:spPr>
      </p:pic>
      <p:cxnSp>
        <p:nvCxnSpPr>
          <p:cNvPr id="16" name="Straight Arrow Connector 15"/>
          <p:cNvCxnSpPr>
            <a:stCxn id="17" idx="2"/>
          </p:cNvCxnSpPr>
          <p:nvPr/>
        </p:nvCxnSpPr>
        <p:spPr>
          <a:xfrm flipH="1">
            <a:off x="2182076" y="2128659"/>
            <a:ext cx="98631" cy="1023252"/>
          </a:xfrm>
          <a:prstGeom prst="straightConnector1">
            <a:avLst/>
          </a:prstGeom>
          <a:ln w="25400">
            <a:solidFill>
              <a:srgbClr val="0062AC"/>
            </a:solidFill>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1"/>
          <p:cNvSpPr txBox="1">
            <a:spLocks noChangeArrowheads="1"/>
          </p:cNvSpPr>
          <p:nvPr/>
        </p:nvSpPr>
        <p:spPr bwMode="auto">
          <a:xfrm>
            <a:off x="384056" y="1420773"/>
            <a:ext cx="37933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“how bad are these translations?”</a:t>
            </a:r>
          </a:p>
          <a:p>
            <a:pPr algn="ctr" eaLnBrk="1" hangingPunct="1"/>
            <a:r>
              <a:rPr lang="en-US" sz="2000" dirty="0" smtClean="0">
                <a:solidFill>
                  <a:srgbClr val="0062AC"/>
                </a:solidFill>
                <a:latin typeface="Calibri"/>
                <a:cs typeface="Calibri"/>
              </a:rPr>
              <a:t>e.g., negative BLEU</a:t>
            </a:r>
          </a:p>
        </p:txBody>
      </p:sp>
      <p:sp>
        <p:nvSpPr>
          <p:cNvPr id="18" name="TextBox 11"/>
          <p:cNvSpPr txBox="1">
            <a:spLocks noChangeArrowheads="1"/>
          </p:cNvSpPr>
          <p:nvPr/>
        </p:nvSpPr>
        <p:spPr bwMode="auto">
          <a:xfrm>
            <a:off x="2895545" y="4131645"/>
            <a:ext cx="13286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0062AC"/>
                </a:solidFill>
                <a:latin typeface="Calibri"/>
                <a:cs typeface="Calibri"/>
              </a:rPr>
              <a:t>references</a:t>
            </a:r>
          </a:p>
        </p:txBody>
      </p:sp>
      <p:sp>
        <p:nvSpPr>
          <p:cNvPr id="19" name="Left Brace 18"/>
          <p:cNvSpPr/>
          <p:nvPr/>
        </p:nvSpPr>
        <p:spPr bwMode="auto">
          <a:xfrm rot="16200000">
            <a:off x="3196929" y="3337810"/>
            <a:ext cx="457200" cy="1138398"/>
          </a:xfrm>
          <a:prstGeom prst="leftBrace">
            <a:avLst>
              <a:gd name="adj1" fmla="val 41400"/>
              <a:gd name="adj2" fmla="val 50000"/>
            </a:avLst>
          </a:prstGeom>
          <a:solidFill>
            <a:schemeClr val="bg1"/>
          </a:solid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2" name="TextBox 11"/>
          <p:cNvSpPr txBox="1">
            <a:spLocks noChangeArrowheads="1"/>
          </p:cNvSpPr>
          <p:nvPr/>
        </p:nvSpPr>
        <p:spPr bwMode="auto">
          <a:xfrm>
            <a:off x="4710531" y="2145188"/>
            <a:ext cx="325583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0062AC"/>
                </a:solidFill>
                <a:latin typeface="Calibri"/>
                <a:cs typeface="Calibri"/>
              </a:rPr>
              <a:t>set of source</a:t>
            </a:r>
            <a:r>
              <a:rPr lang="en-US" sz="2000" dirty="0">
                <a:solidFill>
                  <a:srgbClr val="0062AC"/>
                </a:solidFill>
                <a:latin typeface="Calibri"/>
                <a:cs typeface="Calibri"/>
              </a:rPr>
              <a:t> </a:t>
            </a:r>
            <a:r>
              <a:rPr lang="en-US" sz="2000" dirty="0" smtClean="0">
                <a:solidFill>
                  <a:srgbClr val="0062AC"/>
                </a:solidFill>
                <a:latin typeface="Calibri"/>
                <a:cs typeface="Calibri"/>
              </a:rPr>
              <a:t>sentences</a:t>
            </a:r>
            <a:endParaRPr lang="en-US" sz="2000" dirty="0">
              <a:solidFill>
                <a:srgbClr val="0062AC"/>
              </a:solidFill>
              <a:latin typeface="Calibri"/>
              <a:cs typeface="Calibri"/>
            </a:endParaRPr>
          </a:p>
        </p:txBody>
      </p:sp>
      <p:sp>
        <p:nvSpPr>
          <p:cNvPr id="3" name="Rectangle 2"/>
          <p:cNvSpPr/>
          <p:nvPr/>
        </p:nvSpPr>
        <p:spPr>
          <a:xfrm>
            <a:off x="288687" y="1062182"/>
            <a:ext cx="8485909" cy="4306455"/>
          </a:xfrm>
          <a:prstGeom prst="rect">
            <a:avLst/>
          </a:prstGeom>
          <a:solidFill>
            <a:schemeClr val="bg1">
              <a:alpha val="64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4" name="TextBox 11"/>
          <p:cNvSpPr txBox="1">
            <a:spLocks noChangeArrowheads="1"/>
          </p:cNvSpPr>
          <p:nvPr/>
        </p:nvSpPr>
        <p:spPr bwMode="auto">
          <a:xfrm>
            <a:off x="729672" y="3584405"/>
            <a:ext cx="7666182" cy="2062103"/>
          </a:xfrm>
          <a:prstGeom prst="rect">
            <a:avLst/>
          </a:prstGeom>
          <a:solidFill>
            <a:srgbClr val="BC0000"/>
          </a:solidFill>
          <a:ln>
            <a:noFill/>
          </a:ln>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200" i="0" dirty="0" smtClean="0">
                <a:solidFill>
                  <a:srgbClr val="FFFFFF"/>
                </a:solidFill>
                <a:latin typeface="Calibri"/>
                <a:cs typeface="Calibri"/>
              </a:rPr>
              <a:t>generate k-best lists of translations, approximately minimize cost on k-best lists,  repeat with new parameters</a:t>
            </a:r>
          </a:p>
          <a:p>
            <a:pPr algn="ctr" eaLnBrk="1" hangingPunct="1"/>
            <a:r>
              <a:rPr lang="en-US" sz="3200" i="0" dirty="0" smtClean="0">
                <a:solidFill>
                  <a:srgbClr val="FFFFFF"/>
                </a:solidFill>
                <a:latin typeface="Calibri"/>
                <a:cs typeface="Calibri"/>
              </a:rPr>
              <a:t>(pool k-best lists across iterates)</a:t>
            </a:r>
          </a:p>
        </p:txBody>
      </p:sp>
      <p:sp>
        <p:nvSpPr>
          <p:cNvPr id="20" name="TextBox 11"/>
          <p:cNvSpPr txBox="1">
            <a:spLocks noChangeArrowheads="1"/>
          </p:cNvSpPr>
          <p:nvPr/>
        </p:nvSpPr>
        <p:spPr bwMode="auto">
          <a:xfrm>
            <a:off x="727363" y="1157551"/>
            <a:ext cx="7666182" cy="1384995"/>
          </a:xfrm>
          <a:prstGeom prst="rect">
            <a:avLst/>
          </a:prstGeom>
          <a:solidFill>
            <a:srgbClr val="BC0000"/>
          </a:solidFill>
          <a:ln>
            <a:noFill/>
          </a:ln>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200" i="0" dirty="0" smtClean="0">
                <a:solidFill>
                  <a:schemeClr val="bg1"/>
                </a:solidFill>
                <a:latin typeface="Calibri"/>
                <a:cs typeface="Calibri"/>
              </a:rPr>
              <a:t>minimize the cost of the decoder output</a:t>
            </a:r>
          </a:p>
          <a:p>
            <a:pPr algn="ctr" eaLnBrk="1" hangingPunct="1"/>
            <a:endParaRPr lang="en-US" i="0" dirty="0" smtClean="0">
              <a:solidFill>
                <a:schemeClr val="bg1"/>
              </a:solidFill>
              <a:latin typeface="Calibri"/>
              <a:cs typeface="Calibri"/>
            </a:endParaRPr>
          </a:p>
          <a:p>
            <a:pPr algn="ctr" eaLnBrk="1" hangingPunct="1"/>
            <a:r>
              <a:rPr lang="en-US" sz="3200" i="0" dirty="0" smtClean="0">
                <a:solidFill>
                  <a:schemeClr val="bg1"/>
                </a:solidFill>
                <a:latin typeface="Calibri"/>
                <a:cs typeface="Calibri"/>
              </a:rPr>
              <a:t>intractable in general – how can we solve it?</a:t>
            </a:r>
          </a:p>
        </p:txBody>
      </p:sp>
    </p:spTree>
    <p:extLst>
      <p:ext uri="{BB962C8B-B14F-4D97-AF65-F5344CB8AC3E}">
        <p14:creationId xmlns:p14="http://schemas.microsoft.com/office/powerpoint/2010/main" val="2911206244"/>
      </p:ext>
    </p:extLst>
  </p:cSld>
  <p:clrMapOvr>
    <a:masterClrMapping/>
  </p:clrMapOvr>
  <p:timing>
    <p:tnLst>
      <p:par>
        <p:cTn xmlns:p14="http://schemas.microsoft.com/office/powerpoint/2010/mai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implot-dev-d-10k-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6"/>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Tree>
    <p:extLst>
      <p:ext uri="{BB962C8B-B14F-4D97-AF65-F5344CB8AC3E}">
        <p14:creationId xmlns:p14="http://schemas.microsoft.com/office/powerpoint/2010/main" val="3515347594"/>
      </p:ext>
    </p:extLst>
  </p:cSld>
  <p:clrMapOvr>
    <a:masterClrMapping/>
  </p:clrMapOvr>
  <p:timing>
    <p:tnLst>
      <p:par>
        <p:cTn xmlns:p14="http://schemas.microsoft.com/office/powerpoint/2010/mai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implot-dev-d-10k-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6"/>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3960091" y="535939"/>
            <a:ext cx="4375727" cy="95410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each point is a translation for the same sentence</a:t>
            </a:r>
          </a:p>
        </p:txBody>
      </p:sp>
      <p:sp>
        <p:nvSpPr>
          <p:cNvPr id="9" name="TextBox 11"/>
          <p:cNvSpPr txBox="1">
            <a:spLocks noChangeArrowheads="1"/>
          </p:cNvSpPr>
          <p:nvPr/>
        </p:nvSpPr>
        <p:spPr bwMode="auto">
          <a:xfrm>
            <a:off x="5680379" y="4786970"/>
            <a:ext cx="3174996" cy="95410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a:latin typeface="Calibri"/>
                <a:cs typeface="Calibri"/>
              </a:rPr>
              <a:t>Arabic-English</a:t>
            </a:r>
            <a:r>
              <a:rPr lang="en-US" sz="2800" b="1" i="0" dirty="0" smtClean="0">
                <a:latin typeface="Calibri"/>
                <a:cs typeface="Calibri"/>
              </a:rPr>
              <a:t>,</a:t>
            </a:r>
          </a:p>
          <a:p>
            <a:pPr algn="ctr" eaLnBrk="1" hangingPunct="1"/>
            <a:r>
              <a:rPr lang="en-US" sz="2800" b="1" i="0" dirty="0" smtClean="0">
                <a:latin typeface="Calibri"/>
                <a:cs typeface="Calibri"/>
              </a:rPr>
              <a:t>phrase</a:t>
            </a:r>
            <a:r>
              <a:rPr lang="en-US" sz="2800" b="1" i="0" dirty="0">
                <a:latin typeface="Calibri"/>
                <a:cs typeface="Calibri"/>
              </a:rPr>
              <a:t>-based</a:t>
            </a:r>
            <a:endParaRPr lang="en-US" sz="2800" b="1" i="0" dirty="0" smtClean="0">
              <a:latin typeface="Calibri"/>
              <a:cs typeface="Calibri"/>
            </a:endParaRPr>
          </a:p>
        </p:txBody>
      </p:sp>
    </p:spTree>
    <p:extLst>
      <p:ext uri="{BB962C8B-B14F-4D97-AF65-F5344CB8AC3E}">
        <p14:creationId xmlns:p14="http://schemas.microsoft.com/office/powerpoint/2010/main" val="104314574"/>
      </p:ext>
    </p:extLst>
  </p:cSld>
  <p:clrMapOvr>
    <a:masterClrMapping/>
  </p:clrMapOvr>
  <p:timing>
    <p:tnLst>
      <p:par>
        <p:cTn xmlns:p14="http://schemas.microsoft.com/office/powerpoint/2010/mai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implot-dev-d-10k-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6"/>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4595073" y="328121"/>
            <a:ext cx="3775371" cy="95410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10,000-best list, </a:t>
            </a:r>
          </a:p>
          <a:p>
            <a:pPr algn="ctr" eaLnBrk="1" hangingPunct="1"/>
            <a:r>
              <a:rPr lang="en-US" sz="2800" b="1" i="0" dirty="0" smtClean="0">
                <a:latin typeface="Calibri"/>
                <a:cs typeface="Calibri"/>
              </a:rPr>
              <a:t>default </a:t>
            </a:r>
            <a:r>
              <a:rPr lang="en-US" sz="2800" b="1" i="0" dirty="0">
                <a:latin typeface="Calibri"/>
                <a:cs typeface="Calibri"/>
              </a:rPr>
              <a:t>Moses </a:t>
            </a:r>
            <a:r>
              <a:rPr lang="en-US" sz="2800" b="1" i="0" dirty="0" smtClean="0">
                <a:latin typeface="Calibri"/>
                <a:cs typeface="Calibri"/>
              </a:rPr>
              <a:t>weights</a:t>
            </a:r>
            <a:endParaRPr lang="en-US" sz="2800" i="0" dirty="0" smtClean="0">
              <a:latin typeface="Calibri"/>
              <a:cs typeface="Calibri"/>
            </a:endParaRPr>
          </a:p>
        </p:txBody>
      </p:sp>
      <p:sp>
        <p:nvSpPr>
          <p:cNvPr id="8" name="TextBox 11"/>
          <p:cNvSpPr txBox="1">
            <a:spLocks noChangeArrowheads="1"/>
          </p:cNvSpPr>
          <p:nvPr/>
        </p:nvSpPr>
        <p:spPr bwMode="auto">
          <a:xfrm>
            <a:off x="6915732" y="3814844"/>
            <a:ext cx="1826490" cy="95410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i="0" dirty="0" smtClean="0">
                <a:latin typeface="Calibri"/>
                <a:cs typeface="Calibri"/>
              </a:rPr>
              <a:t>1-best:</a:t>
            </a:r>
          </a:p>
          <a:p>
            <a:pPr algn="ctr" eaLnBrk="1" hangingPunct="1"/>
            <a:r>
              <a:rPr lang="en-US" sz="2800" i="0" dirty="0" smtClean="0">
                <a:latin typeface="Calibri"/>
                <a:cs typeface="Calibri"/>
              </a:rPr>
              <a:t>28 BLEU</a:t>
            </a:r>
          </a:p>
        </p:txBody>
      </p:sp>
    </p:spTree>
    <p:extLst>
      <p:ext uri="{BB962C8B-B14F-4D97-AF65-F5344CB8AC3E}">
        <p14:creationId xmlns:p14="http://schemas.microsoft.com/office/powerpoint/2010/main" val="1087810272"/>
      </p:ext>
    </p:extLst>
  </p:cSld>
  <p:clrMapOvr>
    <a:masterClrMapping/>
  </p:clrMapOvr>
  <p:timing>
    <p:tnLst>
      <p:par>
        <p:cTn xmlns:p14="http://schemas.microsoft.com/office/powerpoint/2010/mai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5345548" y="397391"/>
            <a:ext cx="2817093" cy="1384995"/>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same sentence,</a:t>
            </a:r>
          </a:p>
          <a:p>
            <a:pPr algn="ctr" eaLnBrk="1" hangingPunct="1"/>
            <a:r>
              <a:rPr lang="en-US" sz="2800" b="1" i="0" dirty="0" smtClean="0">
                <a:latin typeface="Calibri"/>
                <a:cs typeface="Calibri"/>
              </a:rPr>
              <a:t>10,000-best list</a:t>
            </a:r>
          </a:p>
          <a:p>
            <a:pPr algn="ctr" eaLnBrk="1" hangingPunct="1"/>
            <a:r>
              <a:rPr lang="en-US" sz="2800" b="1" i="0" dirty="0" smtClean="0">
                <a:latin typeface="Calibri"/>
                <a:cs typeface="Calibri"/>
              </a:rPr>
              <a:t>after MERT</a:t>
            </a:r>
            <a:endParaRPr lang="en-US" sz="2800" i="0" dirty="0" smtClean="0">
              <a:latin typeface="Calibri"/>
              <a:cs typeface="Calibri"/>
            </a:endParaRPr>
          </a:p>
        </p:txBody>
      </p:sp>
      <p:sp>
        <p:nvSpPr>
          <p:cNvPr id="8" name="TextBox 11"/>
          <p:cNvSpPr txBox="1">
            <a:spLocks noChangeArrowheads="1"/>
          </p:cNvSpPr>
          <p:nvPr/>
        </p:nvSpPr>
        <p:spPr bwMode="auto">
          <a:xfrm>
            <a:off x="6948059" y="2972029"/>
            <a:ext cx="1826490" cy="95410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i="0" dirty="0" smtClean="0">
                <a:latin typeface="Calibri"/>
                <a:cs typeface="Calibri"/>
              </a:rPr>
              <a:t>1-best:</a:t>
            </a:r>
          </a:p>
          <a:p>
            <a:pPr algn="ctr" eaLnBrk="1" hangingPunct="1"/>
            <a:r>
              <a:rPr lang="en-US" sz="2800" i="0" dirty="0" smtClean="0">
                <a:latin typeface="Calibri"/>
                <a:cs typeface="Calibri"/>
              </a:rPr>
              <a:t>34 BLEU</a:t>
            </a:r>
          </a:p>
        </p:txBody>
      </p:sp>
    </p:spTree>
    <p:extLst>
      <p:ext uri="{BB962C8B-B14F-4D97-AF65-F5344CB8AC3E}">
        <p14:creationId xmlns:p14="http://schemas.microsoft.com/office/powerpoint/2010/main" val="1839681353"/>
      </p:ext>
    </p:extLst>
  </p:cSld>
  <p:clrMapOvr>
    <a:masterClrMapping/>
  </p:clrMapOvr>
  <p:timing>
    <p:tnLst>
      <p:par>
        <p:cTn xmlns:p14="http://schemas.microsoft.com/office/powerpoint/2010/mai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1"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4745158" y="189581"/>
            <a:ext cx="3775371" cy="95410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another sentence,</a:t>
            </a:r>
          </a:p>
          <a:p>
            <a:pPr algn="ctr" eaLnBrk="1" hangingPunct="1"/>
            <a:r>
              <a:rPr lang="en-US" sz="2800" b="1" i="0" dirty="0" smtClean="0">
                <a:latin typeface="Calibri"/>
                <a:cs typeface="Calibri"/>
              </a:rPr>
              <a:t>default </a:t>
            </a:r>
            <a:r>
              <a:rPr lang="en-US" sz="2800" b="1" i="0" dirty="0">
                <a:latin typeface="Calibri"/>
                <a:cs typeface="Calibri"/>
              </a:rPr>
              <a:t>Moses </a:t>
            </a:r>
            <a:r>
              <a:rPr lang="en-US" sz="2800" b="1" i="0" dirty="0" smtClean="0">
                <a:latin typeface="Calibri"/>
                <a:cs typeface="Calibri"/>
              </a:rPr>
              <a:t>weights</a:t>
            </a:r>
            <a:endParaRPr lang="en-US" sz="2800" i="0" dirty="0" smtClean="0">
              <a:latin typeface="Calibri"/>
              <a:cs typeface="Calibri"/>
            </a:endParaRPr>
          </a:p>
        </p:txBody>
      </p:sp>
      <p:sp>
        <p:nvSpPr>
          <p:cNvPr id="8" name="TextBox 11"/>
          <p:cNvSpPr txBox="1">
            <a:spLocks noChangeArrowheads="1"/>
          </p:cNvSpPr>
          <p:nvPr/>
        </p:nvSpPr>
        <p:spPr bwMode="auto">
          <a:xfrm>
            <a:off x="6901865" y="2083009"/>
            <a:ext cx="1826490" cy="95410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i="0" dirty="0" smtClean="0">
                <a:latin typeface="Calibri"/>
                <a:cs typeface="Calibri"/>
              </a:rPr>
              <a:t>1-best:</a:t>
            </a:r>
          </a:p>
          <a:p>
            <a:pPr algn="ctr" eaLnBrk="1" hangingPunct="1"/>
            <a:r>
              <a:rPr lang="en-US" sz="2800" i="0" dirty="0" smtClean="0">
                <a:latin typeface="Calibri"/>
                <a:cs typeface="Calibri"/>
              </a:rPr>
              <a:t>46 BLEU</a:t>
            </a:r>
          </a:p>
        </p:txBody>
      </p:sp>
    </p:spTree>
    <p:extLst>
      <p:ext uri="{BB962C8B-B14F-4D97-AF65-F5344CB8AC3E}">
        <p14:creationId xmlns:p14="http://schemas.microsoft.com/office/powerpoint/2010/main" val="3484948179"/>
      </p:ext>
    </p:extLst>
  </p:cSld>
  <p:clrMapOvr>
    <a:masterClrMapping/>
  </p:clrMapOvr>
  <p:timing>
    <p:tnLst>
      <p:par>
        <p:cTn xmlns:p14="http://schemas.microsoft.com/office/powerpoint/2010/mai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0"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5587993" y="316576"/>
            <a:ext cx="2817093" cy="95410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same sentence,</a:t>
            </a:r>
          </a:p>
          <a:p>
            <a:pPr algn="ctr" eaLnBrk="1" hangingPunct="1"/>
            <a:r>
              <a:rPr lang="en-US" sz="2800" b="1" i="0" dirty="0" smtClean="0">
                <a:latin typeface="Calibri"/>
                <a:cs typeface="Calibri"/>
              </a:rPr>
              <a:t>after MERT</a:t>
            </a:r>
            <a:endParaRPr lang="en-US" sz="2800" i="0" dirty="0" smtClean="0">
              <a:latin typeface="Calibri"/>
              <a:cs typeface="Calibri"/>
            </a:endParaRPr>
          </a:p>
        </p:txBody>
      </p:sp>
      <p:sp>
        <p:nvSpPr>
          <p:cNvPr id="8" name="TextBox 11"/>
          <p:cNvSpPr txBox="1">
            <a:spLocks noChangeArrowheads="1"/>
          </p:cNvSpPr>
          <p:nvPr/>
        </p:nvSpPr>
        <p:spPr bwMode="auto">
          <a:xfrm>
            <a:off x="6832598" y="2175397"/>
            <a:ext cx="1826490" cy="954107"/>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i="0" dirty="0" smtClean="0">
                <a:latin typeface="Calibri"/>
                <a:cs typeface="Calibri"/>
              </a:rPr>
              <a:t>1-best:</a:t>
            </a:r>
          </a:p>
          <a:p>
            <a:pPr algn="ctr" eaLnBrk="1" hangingPunct="1"/>
            <a:r>
              <a:rPr lang="en-US" sz="2800" i="0" dirty="0" smtClean="0">
                <a:latin typeface="Calibri"/>
                <a:cs typeface="Calibri"/>
              </a:rPr>
              <a:t>62 BLEU</a:t>
            </a:r>
          </a:p>
        </p:txBody>
      </p:sp>
    </p:spTree>
    <p:extLst>
      <p:ext uri="{BB962C8B-B14F-4D97-AF65-F5344CB8AC3E}">
        <p14:creationId xmlns:p14="http://schemas.microsoft.com/office/powerpoint/2010/main" val="3770529365"/>
      </p:ext>
    </p:extLst>
  </p:cSld>
  <p:clrMapOvr>
    <a:masterClrMapping/>
  </p:clrMapOvr>
  <p:timing>
    <p:tnLst>
      <p:par>
        <p:cTn xmlns:p14="http://schemas.microsoft.com/office/powerpoint/2010/mai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0"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2701636" y="420481"/>
            <a:ext cx="5703452"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hangingPunct="1"/>
            <a:r>
              <a:rPr lang="en-US" sz="2800" b="1" i="0" dirty="0" smtClean="0">
                <a:latin typeface="Calibri"/>
                <a:cs typeface="Calibri"/>
              </a:rPr>
              <a:t>Why are there horizontal “bands”?</a:t>
            </a:r>
          </a:p>
        </p:txBody>
      </p:sp>
    </p:spTree>
    <p:extLst>
      <p:ext uri="{BB962C8B-B14F-4D97-AF65-F5344CB8AC3E}">
        <p14:creationId xmlns:p14="http://schemas.microsoft.com/office/powerpoint/2010/main" val="521335625"/>
      </p:ext>
    </p:extLst>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7980" y="23103"/>
            <a:ext cx="8220380" cy="6165285"/>
          </a:xfrm>
          <a:prstGeom prst="rect">
            <a:avLst/>
          </a:prstGeom>
        </p:spPr>
      </p:pic>
      <p:sp>
        <p:nvSpPr>
          <p:cNvPr id="5" name="TextBox 11"/>
          <p:cNvSpPr txBox="1">
            <a:spLocks noChangeArrowheads="1"/>
          </p:cNvSpPr>
          <p:nvPr/>
        </p:nvSpPr>
        <p:spPr bwMode="auto">
          <a:xfrm>
            <a:off x="115445" y="1122445"/>
            <a:ext cx="946735"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BLEU</a:t>
            </a:r>
            <a:endParaRPr lang="en-US" sz="2800" i="0" dirty="0" smtClean="0">
              <a:latin typeface="Calibri"/>
              <a:cs typeface="Calibri"/>
            </a:endParaRPr>
          </a:p>
        </p:txBody>
      </p:sp>
      <p:sp>
        <p:nvSpPr>
          <p:cNvPr id="6" name="TextBox 11"/>
          <p:cNvSpPr txBox="1">
            <a:spLocks noChangeArrowheads="1"/>
          </p:cNvSpPr>
          <p:nvPr/>
        </p:nvSpPr>
        <p:spPr bwMode="auto">
          <a:xfrm>
            <a:off x="3719951" y="6031570"/>
            <a:ext cx="2306789" cy="52322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800" b="1" i="0" dirty="0" smtClean="0">
                <a:latin typeface="Calibri"/>
                <a:cs typeface="Calibri"/>
              </a:rPr>
              <a:t>model score</a:t>
            </a:r>
            <a:endParaRPr lang="en-US" sz="2800" i="0" dirty="0" smtClean="0">
              <a:latin typeface="Calibri"/>
              <a:cs typeface="Calibri"/>
            </a:endParaRPr>
          </a:p>
        </p:txBody>
      </p:sp>
      <p:sp>
        <p:nvSpPr>
          <p:cNvPr id="7" name="TextBox 11"/>
          <p:cNvSpPr txBox="1">
            <a:spLocks noChangeArrowheads="1"/>
          </p:cNvSpPr>
          <p:nvPr/>
        </p:nvSpPr>
        <p:spPr bwMode="auto">
          <a:xfrm>
            <a:off x="2701636" y="420481"/>
            <a:ext cx="5703452" cy="2893100"/>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r" eaLnBrk="1" hangingPunct="1"/>
            <a:r>
              <a:rPr lang="en-US" sz="2800" b="1" i="0" dirty="0" smtClean="0">
                <a:latin typeface="Calibri"/>
                <a:cs typeface="Calibri"/>
              </a:rPr>
              <a:t>Why are there horizontal “bands”?</a:t>
            </a:r>
          </a:p>
          <a:p>
            <a:pPr algn="r" eaLnBrk="1" hangingPunct="1"/>
            <a:endParaRPr lang="en-US" sz="1400" b="1" i="0" dirty="0" smtClean="0">
              <a:latin typeface="Calibri"/>
              <a:cs typeface="Calibri"/>
            </a:endParaRPr>
          </a:p>
          <a:p>
            <a:pPr algn="r" eaLnBrk="1" hangingPunct="1"/>
            <a:endParaRPr lang="en-US" sz="2800" b="1" i="0" dirty="0" smtClean="0">
              <a:latin typeface="Calibri"/>
              <a:cs typeface="Calibri"/>
            </a:endParaRPr>
          </a:p>
          <a:p>
            <a:pPr algn="r" eaLnBrk="1" hangingPunct="1"/>
            <a:r>
              <a:rPr lang="en-US" sz="2800" b="1" i="0" dirty="0" smtClean="0">
                <a:latin typeface="Calibri"/>
                <a:cs typeface="Calibri"/>
              </a:rPr>
              <a:t>latent derivations,</a:t>
            </a:r>
            <a:endParaRPr lang="en-US" b="1" i="0" dirty="0">
              <a:latin typeface="Calibri"/>
              <a:cs typeface="Calibri"/>
            </a:endParaRPr>
          </a:p>
          <a:p>
            <a:pPr algn="r" eaLnBrk="1" hangingPunct="1"/>
            <a:endParaRPr lang="en-US" sz="2800" b="1" i="0" dirty="0" smtClean="0">
              <a:latin typeface="Calibri"/>
              <a:cs typeface="Calibri"/>
            </a:endParaRPr>
          </a:p>
          <a:p>
            <a:pPr algn="r" eaLnBrk="1" hangingPunct="1"/>
            <a:r>
              <a:rPr lang="en-US" sz="2800" b="1" i="0" dirty="0" smtClean="0">
                <a:latin typeface="Calibri"/>
                <a:cs typeface="Calibri"/>
              </a:rPr>
              <a:t>different translations </a:t>
            </a:r>
          </a:p>
          <a:p>
            <a:pPr algn="r" eaLnBrk="1" hangingPunct="1"/>
            <a:r>
              <a:rPr lang="en-US" sz="2800" b="1" i="0" dirty="0" smtClean="0">
                <a:latin typeface="Calibri"/>
                <a:cs typeface="Calibri"/>
              </a:rPr>
              <a:t>with same BLEU</a:t>
            </a:r>
            <a:endParaRPr lang="en-US" sz="2800" i="0" dirty="0" smtClean="0">
              <a:latin typeface="Calibri"/>
              <a:cs typeface="Calibri"/>
            </a:endParaRPr>
          </a:p>
        </p:txBody>
      </p:sp>
    </p:spTree>
    <p:extLst>
      <p:ext uri="{BB962C8B-B14F-4D97-AF65-F5344CB8AC3E}">
        <p14:creationId xmlns:p14="http://schemas.microsoft.com/office/powerpoint/2010/main" val="3023043203"/>
      </p:ext>
    </p:extLst>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Content Placeholder 2"/>
          <p:cNvSpPr>
            <a:spLocks noGrp="1"/>
          </p:cNvSpPr>
          <p:nvPr>
            <p:ph idx="1"/>
          </p:nvPr>
        </p:nvSpPr>
        <p:spPr>
          <a:xfrm>
            <a:off x="457200" y="2667000"/>
            <a:ext cx="8458200" cy="3459163"/>
          </a:xfrm>
        </p:spPr>
        <p:txBody>
          <a:bodyPr/>
          <a:lstStyle/>
          <a:p>
            <a:pPr marL="0" indent="0">
              <a:buNone/>
            </a:pPr>
            <a:r>
              <a:rPr lang="en-US" dirty="0" smtClean="0"/>
              <a:t>What are some issues with this loss function?</a:t>
            </a:r>
          </a:p>
          <a:p>
            <a:pPr marL="457200" lvl="1" indent="0">
              <a:buNone/>
            </a:pPr>
            <a:r>
              <a:rPr lang="en-US" dirty="0" smtClean="0"/>
              <a:t>Discontinuous &amp; non-convex </a:t>
            </a:r>
            <a:r>
              <a:rPr lang="en-US" dirty="0" smtClean="0">
                <a:sym typeface="Symbol" pitchFamily="18" charset="2"/>
              </a:rPr>
              <a:t> optimization relies on randomized search</a:t>
            </a:r>
            <a:endParaRPr lang="en-US" dirty="0" smtClean="0"/>
          </a:p>
          <a:p>
            <a:pPr marL="457200" lvl="1" indent="0">
              <a:buNone/>
            </a:pPr>
            <a:r>
              <a:rPr lang="en-US" dirty="0" smtClean="0"/>
              <a:t>No regularization </a:t>
            </a:r>
            <a:r>
              <a:rPr lang="en-US" dirty="0" smtClean="0">
                <a:sym typeface="Symbol" pitchFamily="18" charset="2"/>
              </a:rPr>
              <a:t></a:t>
            </a:r>
            <a:r>
              <a:rPr lang="en-US" dirty="0" smtClean="0"/>
              <a:t> leads to </a:t>
            </a:r>
            <a:r>
              <a:rPr lang="en-US" dirty="0" err="1" smtClean="0"/>
              <a:t>overfitting</a:t>
            </a:r>
            <a:endParaRPr lang="en-US" dirty="0" smtClean="0"/>
          </a:p>
          <a:p>
            <a:pPr marL="0" indent="0">
              <a:buNone/>
            </a:pPr>
            <a:r>
              <a:rPr lang="en-US" dirty="0" smtClean="0"/>
              <a:t>As a result, MERT is only effective for very small models (&lt;40 parameters)</a:t>
            </a:r>
          </a:p>
        </p:txBody>
      </p:sp>
      <p:sp>
        <p:nvSpPr>
          <p:cNvPr id="8" name="Content Placeholder 2"/>
          <p:cNvSpPr txBox="1">
            <a:spLocks/>
          </p:cNvSpPr>
          <p:nvPr/>
        </p:nvSpPr>
        <p:spPr>
          <a:xfrm>
            <a:off x="457200" y="228601"/>
            <a:ext cx="8458200" cy="706582"/>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buFont typeface="Arial"/>
              <a:buNone/>
            </a:pPr>
            <a:r>
              <a:rPr lang="en-US" smtClean="0"/>
              <a:t>Minimum Error Rate Training (MERT)</a:t>
            </a:r>
            <a:endParaRPr lang="en-US" sz="1800" dirty="0" smtClean="0"/>
          </a:p>
        </p:txBody>
      </p:sp>
    </p:spTree>
    <p:extLst>
      <p:ext uri="{BB962C8B-B14F-4D97-AF65-F5344CB8AC3E}">
        <p14:creationId xmlns:p14="http://schemas.microsoft.com/office/powerpoint/2010/main" val="3972195280"/>
      </p:ext>
    </p:extLst>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Content Placeholder 2"/>
          <p:cNvSpPr>
            <a:spLocks noGrp="1"/>
          </p:cNvSpPr>
          <p:nvPr>
            <p:ph idx="1"/>
          </p:nvPr>
        </p:nvSpPr>
        <p:spPr/>
        <p:txBody>
          <a:bodyPr/>
          <a:lstStyle/>
          <a:p>
            <a:pPr marL="0" indent="0">
              <a:buNone/>
            </a:pPr>
            <a:r>
              <a:rPr lang="en-US" sz="2800" dirty="0" smtClean="0"/>
              <a:t>Many researchers tried to improve MERT:</a:t>
            </a:r>
          </a:p>
          <a:p>
            <a:pPr marL="457200" lvl="1" indent="0">
              <a:buNone/>
            </a:pPr>
            <a:r>
              <a:rPr lang="en-US" sz="2400" i="1" dirty="0"/>
              <a:t>Regularization and Search for </a:t>
            </a:r>
            <a:r>
              <a:rPr lang="en-US" sz="2400" i="1" dirty="0" smtClean="0"/>
              <a:t>MERT</a:t>
            </a:r>
            <a:r>
              <a:rPr lang="en-US" sz="2400" dirty="0" smtClean="0"/>
              <a:t> </a:t>
            </a:r>
            <a:r>
              <a:rPr lang="en-US" sz="2400" dirty="0" smtClean="0">
                <a:solidFill>
                  <a:srgbClr val="0062AC"/>
                </a:solidFill>
              </a:rPr>
              <a:t>(</a:t>
            </a:r>
            <a:r>
              <a:rPr lang="en-US" sz="2400" dirty="0" err="1" smtClean="0">
                <a:solidFill>
                  <a:srgbClr val="0062AC"/>
                </a:solidFill>
              </a:rPr>
              <a:t>Cer</a:t>
            </a:r>
            <a:r>
              <a:rPr lang="en-US" sz="2400" dirty="0" smtClean="0">
                <a:solidFill>
                  <a:srgbClr val="0062AC"/>
                </a:solidFill>
              </a:rPr>
              <a:t> </a:t>
            </a:r>
            <a:r>
              <a:rPr lang="en-US" sz="2400" dirty="0">
                <a:solidFill>
                  <a:srgbClr val="0062AC"/>
                </a:solidFill>
              </a:rPr>
              <a:t>et al</a:t>
            </a:r>
            <a:r>
              <a:rPr lang="en-US" sz="2400" dirty="0" smtClean="0">
                <a:solidFill>
                  <a:srgbClr val="0062AC"/>
                </a:solidFill>
              </a:rPr>
              <a:t>., 2008)</a:t>
            </a:r>
            <a:endParaRPr lang="en-US" sz="2400" dirty="0">
              <a:solidFill>
                <a:srgbClr val="0062AC"/>
              </a:solidFill>
            </a:endParaRPr>
          </a:p>
          <a:p>
            <a:pPr marL="457200" lvl="1" indent="0">
              <a:buNone/>
            </a:pPr>
            <a:r>
              <a:rPr lang="en-US" sz="2400" i="1" dirty="0"/>
              <a:t>Random Restarts in MERT for </a:t>
            </a:r>
            <a:r>
              <a:rPr lang="en-US" sz="2400" i="1" dirty="0" smtClean="0"/>
              <a:t>MT </a:t>
            </a:r>
            <a:r>
              <a:rPr lang="en-US" sz="2400" dirty="0" smtClean="0">
                <a:solidFill>
                  <a:srgbClr val="0062AC"/>
                </a:solidFill>
              </a:rPr>
              <a:t>(Moore </a:t>
            </a:r>
            <a:r>
              <a:rPr lang="en-US" sz="2400" dirty="0">
                <a:solidFill>
                  <a:srgbClr val="0062AC"/>
                </a:solidFill>
              </a:rPr>
              <a:t>&amp; </a:t>
            </a:r>
            <a:r>
              <a:rPr lang="en-US" sz="2400" dirty="0" smtClean="0">
                <a:solidFill>
                  <a:srgbClr val="0062AC"/>
                </a:solidFill>
              </a:rPr>
              <a:t>Quirk, 2008)</a:t>
            </a:r>
            <a:endParaRPr lang="en-US" sz="2400" dirty="0">
              <a:solidFill>
                <a:srgbClr val="0062AC"/>
              </a:solidFill>
            </a:endParaRPr>
          </a:p>
          <a:p>
            <a:pPr marL="457200" lvl="1" indent="0">
              <a:buNone/>
            </a:pPr>
            <a:r>
              <a:rPr lang="en-US" sz="2400" i="1" dirty="0" smtClean="0"/>
              <a:t>Stabilizing MERT</a:t>
            </a:r>
            <a:r>
              <a:rPr lang="en-US" sz="2400" dirty="0" smtClean="0"/>
              <a:t> </a:t>
            </a:r>
            <a:r>
              <a:rPr lang="en-US" sz="2400" dirty="0" smtClean="0">
                <a:solidFill>
                  <a:srgbClr val="0062AC"/>
                </a:solidFill>
              </a:rPr>
              <a:t>(</a:t>
            </a:r>
            <a:r>
              <a:rPr lang="en-US" sz="2400" dirty="0">
                <a:solidFill>
                  <a:srgbClr val="0062AC"/>
                </a:solidFill>
              </a:rPr>
              <a:t>Foster &amp; Kuhn, 2009</a:t>
            </a:r>
            <a:r>
              <a:rPr lang="en-US" sz="2400" dirty="0" smtClean="0">
                <a:solidFill>
                  <a:srgbClr val="0062AC"/>
                </a:solidFill>
              </a:rPr>
              <a:t>)</a:t>
            </a:r>
          </a:p>
          <a:p>
            <a:pPr lvl="1"/>
            <a:endParaRPr lang="en-US" sz="2400" dirty="0" smtClean="0"/>
          </a:p>
          <a:p>
            <a:pPr marL="0" indent="0">
              <a:buNone/>
            </a:pPr>
            <a:r>
              <a:rPr lang="en-US" sz="2800" dirty="0" smtClean="0"/>
              <a:t>Issues remain:</a:t>
            </a:r>
          </a:p>
          <a:p>
            <a:pPr marL="457200" lvl="1" indent="0">
              <a:buNone/>
            </a:pPr>
            <a:r>
              <a:rPr lang="en-US" sz="2400" i="1" dirty="0" smtClean="0"/>
              <a:t>Better </a:t>
            </a:r>
            <a:r>
              <a:rPr lang="en-US" sz="2400" i="1" dirty="0"/>
              <a:t>Hypothesis Testing for </a:t>
            </a:r>
            <a:r>
              <a:rPr lang="en-US" sz="2400" i="1" dirty="0" smtClean="0"/>
              <a:t>Statistical MT: </a:t>
            </a:r>
            <a:r>
              <a:rPr lang="en-US" sz="2400" i="1" dirty="0"/>
              <a:t>Controlling for Optimizer </a:t>
            </a:r>
            <a:r>
              <a:rPr lang="en-US" sz="2400" i="1" dirty="0" smtClean="0"/>
              <a:t>Instability </a:t>
            </a:r>
            <a:r>
              <a:rPr lang="en-US" sz="2400" dirty="0">
                <a:solidFill>
                  <a:srgbClr val="0062AC"/>
                </a:solidFill>
              </a:rPr>
              <a:t>(Clark et al., 2011)</a:t>
            </a:r>
            <a:r>
              <a:rPr lang="en-US" sz="2400" dirty="0"/>
              <a:t> </a:t>
            </a:r>
            <a:endParaRPr lang="en-US" sz="2400" dirty="0" smtClean="0"/>
          </a:p>
          <a:p>
            <a:pPr marL="457200" lvl="1" indent="0">
              <a:buNone/>
            </a:pPr>
            <a:r>
              <a:rPr lang="en-US" dirty="0" smtClean="0"/>
              <a:t>They suggest running MERT 3-5 times due to its instability</a:t>
            </a:r>
          </a:p>
          <a:p>
            <a:endParaRPr lang="en-US" dirty="0" smtClean="0"/>
          </a:p>
        </p:txBody>
      </p:sp>
    </p:spTree>
    <p:extLst>
      <p:ext uri="{BB962C8B-B14F-4D97-AF65-F5344CB8AC3E}">
        <p14:creationId xmlns:p14="http://schemas.microsoft.com/office/powerpoint/2010/main" val="1160284783"/>
      </p:ext>
    </p:extLst>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5" name="Picture 4" descr="Screen Shot 2015-05-12 at 3.55.16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630"/>
            <a:ext cx="9144000" cy="6671285"/>
          </a:xfrm>
          <a:prstGeom prst="rect">
            <a:avLst/>
          </a:prstGeom>
        </p:spPr>
      </p:pic>
    </p:spTree>
    <p:extLst>
      <p:ext uri="{BB962C8B-B14F-4D97-AF65-F5344CB8AC3E}">
        <p14:creationId xmlns:p14="http://schemas.microsoft.com/office/powerpoint/2010/main" val="3006206354"/>
      </p:ext>
    </p:extLst>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pic>
        <p:nvPicPr>
          <p:cNvPr id="5" name="Picture 4" descr="Screen Shot 2015-05-12 at 3.55.16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630"/>
            <a:ext cx="9144000" cy="6671285"/>
          </a:xfrm>
          <a:prstGeom prst="rect">
            <a:avLst/>
          </a:prstGeom>
        </p:spPr>
      </p:pic>
      <p:pic>
        <p:nvPicPr>
          <p:cNvPr id="3" name="Picture 2" descr="Screen Shot 2015-05-12 at 4.02.00 PM.png"/>
          <p:cNvPicPr>
            <a:picLocks noChangeAspect="1"/>
          </p:cNvPicPr>
          <p:nvPr/>
        </p:nvPicPr>
        <p:blipFill rotWithShape="1">
          <a:blip r:embed="rId3">
            <a:extLst>
              <a:ext uri="{28A0092B-C50C-407E-A947-70E740481C1C}">
                <a14:useLocalDpi xmlns:a14="http://schemas.microsoft.com/office/drawing/2010/main" val="0"/>
              </a:ext>
            </a:extLst>
          </a:blip>
          <a:srcRect l="4545" r="3914"/>
          <a:stretch/>
        </p:blipFill>
        <p:spPr>
          <a:xfrm>
            <a:off x="415636" y="1841500"/>
            <a:ext cx="8370455" cy="3160472"/>
          </a:xfrm>
          <a:prstGeom prst="rect">
            <a:avLst/>
          </a:prstGeom>
          <a:ln>
            <a:solidFill>
              <a:srgbClr val="000000"/>
            </a:solidFill>
          </a:ln>
        </p:spPr>
      </p:pic>
    </p:spTree>
    <p:extLst>
      <p:ext uri="{BB962C8B-B14F-4D97-AF65-F5344CB8AC3E}">
        <p14:creationId xmlns:p14="http://schemas.microsoft.com/office/powerpoint/2010/main" val="1214526956"/>
      </p:ext>
    </p:extLst>
  </p:cSld>
  <p:clrMapOvr>
    <a:masterClrMapping/>
  </p:clrMapOvr>
  <p:timing>
    <p:tnLst>
      <p:par>
        <p:cTn xmlns:p14="http://schemas.microsoft.com/office/powerpoint/2010/mai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Perceptron Loss</a:t>
            </a:r>
            <a:endParaRPr lang="en-US" sz="2800" dirty="0">
              <a:solidFill>
                <a:srgbClr val="0062AC"/>
              </a:solidFill>
            </a:endParaRPr>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1" name="TextBox 10"/>
          <p:cNvSpPr txBox="1">
            <a:spLocks noChangeArrowheads="1"/>
          </p:cNvSpPr>
          <p:nvPr/>
        </p:nvSpPr>
        <p:spPr bwMode="auto">
          <a:xfrm>
            <a:off x="1420104" y="1205340"/>
            <a:ext cx="12584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reference</a:t>
            </a:r>
            <a:endParaRPr lang="en-US" sz="2000" dirty="0">
              <a:solidFill>
                <a:srgbClr val="32A031"/>
              </a:solidFill>
              <a:latin typeface="Calibri"/>
              <a:cs typeface="Calibri"/>
            </a:endParaRPr>
          </a:p>
        </p:txBody>
      </p:sp>
    </p:spTree>
    <p:extLst>
      <p:ext uri="{BB962C8B-B14F-4D97-AF65-F5344CB8AC3E}">
        <p14:creationId xmlns:p14="http://schemas.microsoft.com/office/powerpoint/2010/main" val="2054606202"/>
      </p:ext>
    </p:extLst>
  </p:cSld>
  <p:clrMapOvr>
    <a:masterClrMapping/>
  </p:clrMapOvr>
  <p:timing>
    <p:tnLst>
      <p:par>
        <p:cTn xmlns:p14="http://schemas.microsoft.com/office/powerpoint/2010/mai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Perceptron Loss</a:t>
            </a:r>
            <a:endParaRPr lang="en-US" sz="2800" dirty="0">
              <a:solidFill>
                <a:srgbClr val="0062AC"/>
              </a:solidFill>
            </a:endParaRPr>
          </a:p>
        </p:txBody>
      </p:sp>
      <p:sp>
        <p:nvSpPr>
          <p:cNvPr id="9" name="Right Arrow 8"/>
          <p:cNvSpPr/>
          <p:nvPr/>
        </p:nvSpPr>
        <p:spPr>
          <a:xfrm>
            <a:off x="2886924" y="1337963"/>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1" name="TextBox 10"/>
          <p:cNvSpPr txBox="1">
            <a:spLocks noChangeArrowheads="1"/>
          </p:cNvSpPr>
          <p:nvPr/>
        </p:nvSpPr>
        <p:spPr bwMode="auto">
          <a:xfrm>
            <a:off x="1420104" y="1205340"/>
            <a:ext cx="12584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reference</a:t>
            </a:r>
            <a:endParaRPr lang="en-US" sz="2000" dirty="0">
              <a:solidFill>
                <a:srgbClr val="32A031"/>
              </a:solidFill>
              <a:latin typeface="Calibri"/>
              <a:cs typeface="Calibri"/>
            </a:endParaRPr>
          </a:p>
        </p:txBody>
      </p:sp>
      <p:sp>
        <p:nvSpPr>
          <p:cNvPr id="12" name="TextBox 11"/>
          <p:cNvSpPr txBox="1">
            <a:spLocks noChangeArrowheads="1"/>
          </p:cNvSpPr>
          <p:nvPr/>
        </p:nvSpPr>
        <p:spPr bwMode="auto">
          <a:xfrm>
            <a:off x="5223165" y="3200400"/>
            <a:ext cx="23852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14" name="Right Arrow 13"/>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2031248667"/>
      </p:ext>
    </p:extLst>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Perceptron Loss for MT?</a:t>
            </a:r>
            <a:br>
              <a:rPr lang="en-US" dirty="0" smtClean="0"/>
            </a:br>
            <a:r>
              <a:rPr lang="en-US" sz="2800" dirty="0" smtClean="0">
                <a:solidFill>
                  <a:schemeClr val="bg1"/>
                </a:solidFill>
              </a:rPr>
              <a:t>(Collins, 2002)</a:t>
            </a:r>
            <a:endParaRPr lang="en-US" sz="2800" dirty="0">
              <a:solidFill>
                <a:schemeClr val="bg1"/>
              </a:solidFill>
            </a:endParaRPr>
          </a:p>
        </p:txBody>
      </p:sp>
      <p:sp>
        <p:nvSpPr>
          <p:cNvPr id="2" name="5-Point Star 1"/>
          <p:cNvSpPr/>
          <p:nvPr/>
        </p:nvSpPr>
        <p:spPr>
          <a:xfrm>
            <a:off x="2620833" y="1316176"/>
            <a:ext cx="207818" cy="207818"/>
          </a:xfrm>
          <a:prstGeom prst="star5">
            <a:avLst/>
          </a:prstGeom>
          <a:solidFill>
            <a:schemeClr val="tx1"/>
          </a:solidFill>
          <a:ln>
            <a:solidFill>
              <a:schemeClr val="tx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2" name="TextBox 11"/>
          <p:cNvSpPr txBox="1">
            <a:spLocks noChangeArrowheads="1"/>
          </p:cNvSpPr>
          <p:nvPr/>
        </p:nvSpPr>
        <p:spPr bwMode="auto">
          <a:xfrm>
            <a:off x="1420104" y="1205340"/>
            <a:ext cx="12584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reference</a:t>
            </a:r>
            <a:endParaRPr lang="en-US" sz="2000" dirty="0">
              <a:solidFill>
                <a:srgbClr val="32A031"/>
              </a:solidFill>
              <a:latin typeface="Calibri"/>
              <a:cs typeface="Calibri"/>
            </a:endParaRPr>
          </a:p>
        </p:txBody>
      </p:sp>
      <p:sp>
        <p:nvSpPr>
          <p:cNvPr id="4" name="&quot;No&quot; Symbol 3"/>
          <p:cNvSpPr/>
          <p:nvPr/>
        </p:nvSpPr>
        <p:spPr>
          <a:xfrm>
            <a:off x="2482273" y="1177638"/>
            <a:ext cx="519545" cy="519545"/>
          </a:xfrm>
          <a:prstGeom prst="noSmoking">
            <a:avLst>
              <a:gd name="adj" fmla="val 11502"/>
            </a:avLst>
          </a:prstGeom>
          <a:solidFill>
            <a:srgbClr val="C50C0C"/>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1" name="TextBox 10"/>
          <p:cNvSpPr txBox="1">
            <a:spLocks noChangeArrowheads="1"/>
          </p:cNvSpPr>
          <p:nvPr/>
        </p:nvSpPr>
        <p:spPr bwMode="auto">
          <a:xfrm>
            <a:off x="5223165" y="3200400"/>
            <a:ext cx="23852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14" name="Right Arrow 13"/>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482796363"/>
      </p:ext>
    </p:extLst>
  </p:cSld>
  <p:clrMapOvr>
    <a:masterClrMapping/>
  </p:clrMapOvr>
  <p:timing>
    <p:tnLst>
      <p:par>
        <p:cTn xmlns:p14="http://schemas.microsoft.com/office/powerpoint/2010/mai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304800"/>
            <a:ext cx="8534400" cy="685800"/>
          </a:xfrm>
        </p:spPr>
        <p:txBody>
          <a:bodyPr>
            <a:normAutofit fontScale="90000"/>
          </a:bodyPr>
          <a:lstStyle/>
          <a:p>
            <a:r>
              <a:rPr lang="en-US" dirty="0" smtClean="0"/>
              <a:t>k-Best Perceptron for MT</a:t>
            </a:r>
            <a:br>
              <a:rPr lang="en-US" dirty="0" smtClean="0"/>
            </a:br>
            <a:r>
              <a:rPr lang="en-US" sz="2800" dirty="0" smtClean="0">
                <a:solidFill>
                  <a:srgbClr val="0062AC"/>
                </a:solidFill>
              </a:rPr>
              <a:t>(Liang et al., 2006)</a:t>
            </a:r>
            <a:endParaRPr lang="en-US" sz="2800" dirty="0">
              <a:solidFill>
                <a:srgbClr val="0062AC"/>
              </a:solidFill>
            </a:endParaRPr>
          </a:p>
        </p:txBody>
      </p:sp>
      <p:sp>
        <p:nvSpPr>
          <p:cNvPr id="9" name="TextBox 8"/>
          <p:cNvSpPr txBox="1">
            <a:spLocks noChangeArrowheads="1"/>
          </p:cNvSpPr>
          <p:nvPr/>
        </p:nvSpPr>
        <p:spPr bwMode="auto">
          <a:xfrm>
            <a:off x="5223165" y="3200400"/>
            <a:ext cx="23852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10" name="Right Arrow 9"/>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530265032"/>
      </p:ext>
    </p:extLst>
  </p:cSld>
  <p:clrMapOvr>
    <a:masterClrMapping/>
  </p:clrMapOvr>
  <p:timing>
    <p:tnLst>
      <p:par>
        <p:cTn xmlns:p14="http://schemas.microsoft.com/office/powerpoint/2010/mai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2" name="Rectangle 11"/>
          <p:cNvSpPr/>
          <p:nvPr/>
        </p:nvSpPr>
        <p:spPr>
          <a:xfrm>
            <a:off x="5011271" y="39433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0" name="Rectangle 19"/>
          <p:cNvSpPr/>
          <p:nvPr/>
        </p:nvSpPr>
        <p:spPr>
          <a:xfrm>
            <a:off x="1143000" y="1558637"/>
            <a:ext cx="2701626" cy="4306454"/>
          </a:xfrm>
          <a:prstGeom prst="rect">
            <a:avLst/>
          </a:prstGeom>
          <a:solidFill>
            <a:schemeClr val="bg1">
              <a:alpha val="73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4" name="Title 1"/>
          <p:cNvSpPr>
            <a:spLocks noGrp="1"/>
          </p:cNvSpPr>
          <p:nvPr>
            <p:ph type="title"/>
          </p:nvPr>
        </p:nvSpPr>
        <p:spPr>
          <a:xfrm>
            <a:off x="304800" y="304800"/>
            <a:ext cx="8534400" cy="685800"/>
          </a:xfrm>
        </p:spPr>
        <p:txBody>
          <a:bodyPr>
            <a:normAutofit fontScale="90000"/>
          </a:bodyPr>
          <a:lstStyle/>
          <a:p>
            <a:r>
              <a:rPr lang="en-US" dirty="0" smtClean="0"/>
              <a:t>k-Best Perceptron for MT</a:t>
            </a:r>
            <a:br>
              <a:rPr lang="en-US" dirty="0" smtClean="0"/>
            </a:br>
            <a:r>
              <a:rPr lang="en-US" sz="2800" dirty="0" smtClean="0">
                <a:solidFill>
                  <a:srgbClr val="0062AC"/>
                </a:solidFill>
              </a:rPr>
              <a:t>(Liang et al., 2006)</a:t>
            </a:r>
            <a:endParaRPr lang="en-US" sz="2800" dirty="0">
              <a:solidFill>
                <a:srgbClr val="0062AC"/>
              </a:solidFill>
            </a:endParaRPr>
          </a:p>
        </p:txBody>
      </p:sp>
      <p:sp>
        <p:nvSpPr>
          <p:cNvPr id="10" name="TextBox 9"/>
          <p:cNvSpPr txBox="1">
            <a:spLocks noChangeArrowheads="1"/>
          </p:cNvSpPr>
          <p:nvPr/>
        </p:nvSpPr>
        <p:spPr bwMode="auto">
          <a:xfrm>
            <a:off x="5223165" y="3200400"/>
            <a:ext cx="23852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11" name="Right Arrow 10"/>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250074949"/>
      </p:ext>
    </p:extLst>
  </p:cSld>
  <p:clrMapOvr>
    <a:masterClrMapping/>
  </p:clrMapOvr>
  <p:timing>
    <p:tnLst>
      <p:par>
        <p:cTn xmlns:p14="http://schemas.microsoft.com/office/powerpoint/2010/mai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a:spLocks noChangeArrowheads="1"/>
          </p:cNvSpPr>
          <p:nvPr/>
        </p:nvSpPr>
        <p:spPr bwMode="auto">
          <a:xfrm>
            <a:off x="5439237" y="2025759"/>
            <a:ext cx="29834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BLEU oracle on k-best list</a:t>
            </a:r>
            <a:endParaRPr lang="en-US" sz="2000" dirty="0">
              <a:solidFill>
                <a:srgbClr val="32A031"/>
              </a:solidFill>
              <a:latin typeface="Calibri"/>
              <a:cs typeface="Calibri"/>
            </a:endParaRPr>
          </a:p>
        </p:txBody>
      </p:sp>
      <p:sp>
        <p:nvSpPr>
          <p:cNvPr id="16" name="TextBox 15"/>
          <p:cNvSpPr txBox="1">
            <a:spLocks noChangeArrowheads="1"/>
          </p:cNvSpPr>
          <p:nvPr/>
        </p:nvSpPr>
        <p:spPr bwMode="auto">
          <a:xfrm>
            <a:off x="5223165" y="3200400"/>
            <a:ext cx="238529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
        <p:nvSpPr>
          <p:cNvPr id="22" name="Right Arrow 21"/>
          <p:cNvSpPr/>
          <p:nvPr/>
        </p:nvSpPr>
        <p:spPr>
          <a:xfrm>
            <a:off x="4630271" y="2111514"/>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2" name="Rectangle 11"/>
          <p:cNvSpPr/>
          <p:nvPr/>
        </p:nvSpPr>
        <p:spPr>
          <a:xfrm>
            <a:off x="5011271" y="39433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0" name="Rectangle 19"/>
          <p:cNvSpPr/>
          <p:nvPr/>
        </p:nvSpPr>
        <p:spPr>
          <a:xfrm>
            <a:off x="1143000" y="1558637"/>
            <a:ext cx="2701626" cy="4306454"/>
          </a:xfrm>
          <a:prstGeom prst="rect">
            <a:avLst/>
          </a:prstGeom>
          <a:solidFill>
            <a:schemeClr val="bg1">
              <a:alpha val="73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4" name="Title 1"/>
          <p:cNvSpPr>
            <a:spLocks noGrp="1"/>
          </p:cNvSpPr>
          <p:nvPr>
            <p:ph type="title"/>
          </p:nvPr>
        </p:nvSpPr>
        <p:spPr>
          <a:xfrm>
            <a:off x="304800" y="304800"/>
            <a:ext cx="8534400" cy="685800"/>
          </a:xfrm>
        </p:spPr>
        <p:txBody>
          <a:bodyPr>
            <a:normAutofit fontScale="90000"/>
          </a:bodyPr>
          <a:lstStyle/>
          <a:p>
            <a:r>
              <a:rPr lang="en-US" dirty="0" smtClean="0"/>
              <a:t>k-Best Perceptron for MT</a:t>
            </a:r>
            <a:br>
              <a:rPr lang="en-US" dirty="0" smtClean="0"/>
            </a:br>
            <a:r>
              <a:rPr lang="en-US" sz="2800" dirty="0" smtClean="0">
                <a:solidFill>
                  <a:srgbClr val="0062AC"/>
                </a:solidFill>
              </a:rPr>
              <a:t>(Liang et al., 2006)</a:t>
            </a:r>
            <a:endParaRPr lang="en-US" sz="2800" dirty="0">
              <a:solidFill>
                <a:srgbClr val="0062AC"/>
              </a:solidFill>
            </a:endParaRPr>
          </a:p>
        </p:txBody>
      </p:sp>
      <p:sp>
        <p:nvSpPr>
          <p:cNvPr id="19" name="Right Arrow 18"/>
          <p:cNvSpPr/>
          <p:nvPr/>
        </p:nvSpPr>
        <p:spPr>
          <a:xfrm rot="10800000">
            <a:off x="4497321" y="3352650"/>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727954130"/>
      </p:ext>
    </p:extLst>
  </p:cSld>
  <p:clrMapOvr>
    <a:masterClrMapping/>
  </p:clrMapOvr>
  <p:timing>
    <p:tnLst>
      <p:par>
        <p:cTn xmlns:p14="http://schemas.microsoft.com/office/powerpoint/2010/mai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76200"/>
            <a:ext cx="8534400" cy="685800"/>
          </a:xfrm>
        </p:spPr>
        <p:txBody>
          <a:bodyPr>
            <a:normAutofit fontScale="90000"/>
          </a:bodyPr>
          <a:lstStyle/>
          <a:p>
            <a:r>
              <a:rPr lang="en-US" dirty="0" smtClean="0">
                <a:latin typeface="Calibri"/>
              </a:rPr>
              <a:t>Ramp Loss Minimization</a:t>
            </a:r>
            <a:endParaRPr lang="en-US" sz="2800" dirty="0">
              <a:latin typeface="Calibri"/>
            </a:endParaRPr>
          </a:p>
        </p:txBody>
      </p:sp>
    </p:spTree>
    <p:extLst>
      <p:ext uri="{BB962C8B-B14F-4D97-AF65-F5344CB8AC3E}">
        <p14:creationId xmlns:p14="http://schemas.microsoft.com/office/powerpoint/2010/main" val="178647062"/>
      </p:ext>
    </p:extLst>
  </p:cSld>
  <p:clrMapOvr>
    <a:masterClrMapping/>
  </p:clrMapOvr>
  <p:timing>
    <p:tnLst>
      <p:par>
        <p:cTn xmlns:p14="http://schemas.microsoft.com/office/powerpoint/2010/mai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76200"/>
            <a:ext cx="8534400" cy="685800"/>
          </a:xfrm>
        </p:spPr>
        <p:txBody>
          <a:bodyPr>
            <a:normAutofit fontScale="90000"/>
          </a:bodyPr>
          <a:lstStyle/>
          <a:p>
            <a:r>
              <a:rPr lang="en-US" dirty="0" smtClean="0">
                <a:latin typeface="Calibri"/>
              </a:rPr>
              <a:t>Ramp Loss Minimization</a:t>
            </a:r>
            <a:endParaRPr lang="en-US" sz="2800" dirty="0">
              <a:latin typeface="Calibri"/>
            </a:endParaRPr>
          </a:p>
        </p:txBody>
      </p:sp>
      <p:sp>
        <p:nvSpPr>
          <p:cNvPr id="22" name="Right Arrow 21"/>
          <p:cNvSpPr/>
          <p:nvPr/>
        </p:nvSpPr>
        <p:spPr>
          <a:xfrm>
            <a:off x="5486400" y="3352800"/>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a:spLocks noChangeArrowheads="1"/>
          </p:cNvSpPr>
          <p:nvPr/>
        </p:nvSpPr>
        <p:spPr bwMode="auto">
          <a:xfrm>
            <a:off x="5867400" y="3200400"/>
            <a:ext cx="266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model prediction</a:t>
            </a:r>
            <a:endParaRPr lang="en-US" sz="2000" dirty="0">
              <a:solidFill>
                <a:srgbClr val="32A031"/>
              </a:solidFill>
              <a:latin typeface="Calibri"/>
              <a:cs typeface="Calibri"/>
            </a:endParaRPr>
          </a:p>
        </p:txBody>
      </p:sp>
    </p:spTree>
    <p:extLst>
      <p:ext uri="{BB962C8B-B14F-4D97-AF65-F5344CB8AC3E}">
        <p14:creationId xmlns:p14="http://schemas.microsoft.com/office/powerpoint/2010/main" val="2967683047"/>
      </p:ext>
    </p:extLst>
  </p:cSld>
  <p:clrMapOvr>
    <a:masterClrMapping/>
  </p:clrMapOvr>
  <p:timing>
    <p:tnLst>
      <p:par>
        <p:cTn xmlns:p14="http://schemas.microsoft.com/office/powerpoint/2010/mai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76200"/>
            <a:ext cx="8534400" cy="685800"/>
          </a:xfrm>
        </p:spPr>
        <p:txBody>
          <a:bodyPr>
            <a:normAutofit fontScale="90000"/>
          </a:bodyPr>
          <a:lstStyle/>
          <a:p>
            <a:r>
              <a:rPr lang="en-US" dirty="0" smtClean="0">
                <a:latin typeface="Calibri"/>
              </a:rPr>
              <a:t>Ramp Loss Minimization</a:t>
            </a:r>
            <a:endParaRPr lang="en-US" sz="2800" dirty="0">
              <a:latin typeface="Calibri"/>
            </a:endParaRPr>
          </a:p>
        </p:txBody>
      </p:sp>
      <p:sp>
        <p:nvSpPr>
          <p:cNvPr id="22" name="Right Arrow 21"/>
          <p:cNvSpPr/>
          <p:nvPr/>
        </p:nvSpPr>
        <p:spPr>
          <a:xfrm>
            <a:off x="5486400" y="3352800"/>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a:spLocks noChangeArrowheads="1"/>
          </p:cNvSpPr>
          <p:nvPr/>
        </p:nvSpPr>
        <p:spPr bwMode="auto">
          <a:xfrm>
            <a:off x="5867400" y="3200400"/>
            <a:ext cx="266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model prediction</a:t>
            </a:r>
            <a:endParaRPr lang="en-US" sz="2000" dirty="0">
              <a:solidFill>
                <a:srgbClr val="32A031"/>
              </a:solidFill>
              <a:latin typeface="Calibri"/>
              <a:cs typeface="Calibri"/>
            </a:endParaRPr>
          </a:p>
        </p:txBody>
      </p:sp>
      <p:sp>
        <p:nvSpPr>
          <p:cNvPr id="15" name="Right Arrow 14"/>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TextBox 15"/>
          <p:cNvSpPr txBox="1">
            <a:spLocks noChangeArrowheads="1"/>
          </p:cNvSpPr>
          <p:nvPr/>
        </p:nvSpPr>
        <p:spPr bwMode="auto">
          <a:xfrm>
            <a:off x="5160819" y="4835235"/>
            <a:ext cx="21012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Tree>
    <p:extLst>
      <p:ext uri="{BB962C8B-B14F-4D97-AF65-F5344CB8AC3E}">
        <p14:creationId xmlns:p14="http://schemas.microsoft.com/office/powerpoint/2010/main" val="1243333512"/>
      </p:ext>
    </p:extLst>
  </p:cSld>
  <p:clrMapOvr>
    <a:masterClrMapping/>
  </p:clrMapOvr>
  <p:timing>
    <p:tnLst>
      <p:par>
        <p:cTn xmlns:p14="http://schemas.microsoft.com/office/powerpoint/2010/mai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304800"/>
            <a:ext cx="8534400" cy="685800"/>
          </a:xfrm>
        </p:spPr>
        <p:txBody>
          <a:bodyPr>
            <a:normAutofit fontScale="90000"/>
          </a:bodyPr>
          <a:lstStyle/>
          <a:p>
            <a:r>
              <a:rPr lang="en-US" dirty="0" smtClean="0">
                <a:latin typeface="Calibri"/>
              </a:rPr>
              <a:t>“Fear” Ramp Loss</a:t>
            </a:r>
            <a:r>
              <a:rPr lang="en-US" dirty="0">
                <a:latin typeface="Calibri"/>
              </a:rPr>
              <a:t/>
            </a:r>
            <a:br>
              <a:rPr lang="en-US" dirty="0">
                <a:latin typeface="Calibri"/>
              </a:rPr>
            </a:br>
            <a:r>
              <a:rPr lang="en-US" sz="2800" dirty="0" smtClean="0">
                <a:solidFill>
                  <a:srgbClr val="0062AC"/>
                </a:solidFill>
                <a:latin typeface="Calibri"/>
              </a:rPr>
              <a:t>(Do et al., 2008)</a:t>
            </a:r>
            <a:endParaRPr lang="en-US" sz="2800" dirty="0">
              <a:solidFill>
                <a:srgbClr val="0062AC"/>
              </a:solidFill>
              <a:latin typeface="Calibri"/>
            </a:endParaRPr>
          </a:p>
        </p:txBody>
      </p:sp>
      <p:sp>
        <p:nvSpPr>
          <p:cNvPr id="15" name="Right Arrow 14"/>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Right Arrow 21"/>
          <p:cNvSpPr/>
          <p:nvPr/>
        </p:nvSpPr>
        <p:spPr>
          <a:xfrm>
            <a:off x="5486400" y="3352800"/>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8" name="Rectangle 17"/>
          <p:cNvSpPr/>
          <p:nvPr/>
        </p:nvSpPr>
        <p:spPr>
          <a:xfrm>
            <a:off x="5192357" y="2438400"/>
            <a:ext cx="2961043" cy="774700"/>
          </a:xfrm>
          <a:prstGeom prst="rect">
            <a:avLst/>
          </a:prstGeom>
          <a:solidFill>
            <a:schemeClr val="bg1"/>
          </a:solidFill>
          <a:ln w="57150" cmpd="sng">
            <a:solidFill>
              <a:srgbClr val="32A03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4" name="TextBox 13"/>
          <p:cNvSpPr txBox="1">
            <a:spLocks noChangeArrowheads="1"/>
          </p:cNvSpPr>
          <p:nvPr/>
        </p:nvSpPr>
        <p:spPr bwMode="auto">
          <a:xfrm>
            <a:off x="5867400" y="3200400"/>
            <a:ext cx="266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model prediction</a:t>
            </a:r>
            <a:endParaRPr lang="en-US" sz="2000" dirty="0">
              <a:solidFill>
                <a:srgbClr val="32A031"/>
              </a:solidFill>
              <a:latin typeface="Calibri"/>
              <a:cs typeface="Calibri"/>
            </a:endParaRPr>
          </a:p>
        </p:txBody>
      </p:sp>
      <p:sp>
        <p:nvSpPr>
          <p:cNvPr id="21" name="TextBox 20"/>
          <p:cNvSpPr txBox="1">
            <a:spLocks noChangeArrowheads="1"/>
          </p:cNvSpPr>
          <p:nvPr/>
        </p:nvSpPr>
        <p:spPr bwMode="auto">
          <a:xfrm>
            <a:off x="5160819" y="4835235"/>
            <a:ext cx="21012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
        <p:nvSpPr>
          <p:cNvPr id="17" name="Rectangle 16"/>
          <p:cNvSpPr/>
          <p:nvPr/>
        </p:nvSpPr>
        <p:spPr>
          <a:xfrm>
            <a:off x="4343400" y="5264731"/>
            <a:ext cx="4713643" cy="756226"/>
          </a:xfrm>
          <a:prstGeom prst="rect">
            <a:avLst/>
          </a:prstGeom>
          <a:solidFill>
            <a:schemeClr val="bg1"/>
          </a:solidFill>
          <a:ln w="57150"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3" name="Picture 22"/>
          <p:cNvPicPr>
            <a:picLocks noChangeAspect="1"/>
          </p:cNvPicPr>
          <p:nvPr/>
        </p:nvPicPr>
        <p:blipFill>
          <a:blip r:embed="rId4"/>
          <a:stretch>
            <a:fillRect/>
          </a:stretch>
        </p:blipFill>
        <p:spPr>
          <a:xfrm>
            <a:off x="4472710" y="5365173"/>
            <a:ext cx="4457700" cy="571500"/>
          </a:xfrm>
          <a:prstGeom prst="rect">
            <a:avLst/>
          </a:prstGeom>
        </p:spPr>
      </p:pic>
      <p:pic>
        <p:nvPicPr>
          <p:cNvPr id="4" name="Picture 3"/>
          <p:cNvPicPr>
            <a:picLocks noChangeAspect="1"/>
          </p:cNvPicPr>
          <p:nvPr/>
        </p:nvPicPr>
        <p:blipFill>
          <a:blip r:embed="rId5"/>
          <a:stretch>
            <a:fillRect/>
          </a:stretch>
        </p:blipFill>
        <p:spPr>
          <a:xfrm>
            <a:off x="5485246" y="2573482"/>
            <a:ext cx="2501900" cy="520700"/>
          </a:xfrm>
          <a:prstGeom prst="rect">
            <a:avLst/>
          </a:prstGeom>
        </p:spPr>
      </p:pic>
    </p:spTree>
    <p:extLst>
      <p:ext uri="{BB962C8B-B14F-4D97-AF65-F5344CB8AC3E}">
        <p14:creationId xmlns:p14="http://schemas.microsoft.com/office/powerpoint/2010/main" val="1665716613"/>
      </p:ext>
    </p:extLst>
  </p:cSld>
  <p:clrMapOvr>
    <a:masterClrMapping/>
  </p:clrMapOvr>
  <p:timing>
    <p:tnLst>
      <p:par>
        <p:cTn xmlns:p14="http://schemas.microsoft.com/office/powerpoint/2010/mai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304800"/>
            <a:ext cx="8534400" cy="685800"/>
          </a:xfrm>
        </p:spPr>
        <p:txBody>
          <a:bodyPr>
            <a:normAutofit fontScale="90000"/>
          </a:bodyPr>
          <a:lstStyle/>
          <a:p>
            <a:r>
              <a:rPr lang="en-US" dirty="0" smtClean="0">
                <a:latin typeface="Calibri"/>
              </a:rPr>
              <a:t>“Fear” Ramp Loss</a:t>
            </a:r>
            <a:br>
              <a:rPr lang="en-US" dirty="0" smtClean="0">
                <a:latin typeface="Calibri"/>
              </a:rPr>
            </a:br>
            <a:r>
              <a:rPr lang="en-US" sz="2800" dirty="0" smtClean="0">
                <a:solidFill>
                  <a:srgbClr val="0062AC"/>
                </a:solidFill>
                <a:latin typeface="Calibri"/>
              </a:rPr>
              <a:t>(Do et al., 2008)</a:t>
            </a:r>
            <a:endParaRPr lang="en-US" sz="2800" dirty="0">
              <a:solidFill>
                <a:srgbClr val="0062AC"/>
              </a:solidFill>
              <a:latin typeface="Calibri"/>
            </a:endParaRPr>
          </a:p>
        </p:txBody>
      </p:sp>
      <p:sp>
        <p:nvSpPr>
          <p:cNvPr id="22" name="Right Arrow 21"/>
          <p:cNvSpPr/>
          <p:nvPr/>
        </p:nvSpPr>
        <p:spPr>
          <a:xfrm>
            <a:off x="5486400" y="3352800"/>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6" name="TextBox 11"/>
          <p:cNvSpPr txBox="1">
            <a:spLocks noChangeArrowheads="1"/>
          </p:cNvSpPr>
          <p:nvPr/>
        </p:nvSpPr>
        <p:spPr bwMode="auto">
          <a:xfrm>
            <a:off x="7510739" y="3962400"/>
            <a:ext cx="169148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r>
              <a:rPr lang="en-US" sz="2000" dirty="0" smtClean="0">
                <a:solidFill>
                  <a:srgbClr val="0062AC"/>
                </a:solidFill>
                <a:latin typeface="Calibri"/>
                <a:cs typeface="Calibri"/>
              </a:rPr>
              <a:t>gold standard</a:t>
            </a:r>
            <a:endParaRPr lang="en-US" sz="2000" dirty="0">
              <a:solidFill>
                <a:srgbClr val="0062AC"/>
              </a:solidFill>
              <a:latin typeface="Calibri"/>
              <a:cs typeface="Calibri"/>
            </a:endParaRPr>
          </a:p>
        </p:txBody>
      </p:sp>
      <p:sp>
        <p:nvSpPr>
          <p:cNvPr id="23" name="TextBox 22"/>
          <p:cNvSpPr txBox="1">
            <a:spLocks noChangeArrowheads="1"/>
          </p:cNvSpPr>
          <p:nvPr/>
        </p:nvSpPr>
        <p:spPr bwMode="auto">
          <a:xfrm>
            <a:off x="5867400" y="3200400"/>
            <a:ext cx="266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model prediction</a:t>
            </a:r>
            <a:endParaRPr lang="en-US" sz="2000" dirty="0">
              <a:solidFill>
                <a:srgbClr val="32A031"/>
              </a:solidFill>
              <a:latin typeface="Calibri"/>
              <a:cs typeface="Calibri"/>
            </a:endParaRPr>
          </a:p>
        </p:txBody>
      </p:sp>
      <p:sp>
        <p:nvSpPr>
          <p:cNvPr id="25" name="TextBox 24"/>
          <p:cNvSpPr txBox="1">
            <a:spLocks noChangeArrowheads="1"/>
          </p:cNvSpPr>
          <p:nvPr/>
        </p:nvSpPr>
        <p:spPr bwMode="auto">
          <a:xfrm>
            <a:off x="5160819" y="4835235"/>
            <a:ext cx="21012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
        <p:nvSpPr>
          <p:cNvPr id="26" name="Rectangle 25"/>
          <p:cNvSpPr/>
          <p:nvPr/>
        </p:nvSpPr>
        <p:spPr>
          <a:xfrm>
            <a:off x="4343400" y="5264731"/>
            <a:ext cx="4713643" cy="756226"/>
          </a:xfrm>
          <a:prstGeom prst="rect">
            <a:avLst/>
          </a:prstGeom>
          <a:solidFill>
            <a:schemeClr val="bg1"/>
          </a:solidFill>
          <a:ln w="57150"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27" name="Picture 26"/>
          <p:cNvPicPr>
            <a:picLocks noChangeAspect="1"/>
          </p:cNvPicPr>
          <p:nvPr/>
        </p:nvPicPr>
        <p:blipFill>
          <a:blip r:embed="rId4"/>
          <a:stretch>
            <a:fillRect/>
          </a:stretch>
        </p:blipFill>
        <p:spPr>
          <a:xfrm>
            <a:off x="4472710" y="5365173"/>
            <a:ext cx="4457700" cy="571500"/>
          </a:xfrm>
          <a:prstGeom prst="rect">
            <a:avLst/>
          </a:prstGeom>
        </p:spPr>
      </p:pic>
      <p:cxnSp>
        <p:nvCxnSpPr>
          <p:cNvPr id="17" name="Straight Arrow Connector 16"/>
          <p:cNvCxnSpPr/>
          <p:nvPr/>
        </p:nvCxnSpPr>
        <p:spPr bwMode="auto">
          <a:xfrm flipH="1">
            <a:off x="8081823" y="4385600"/>
            <a:ext cx="159211" cy="1063854"/>
          </a:xfrm>
          <a:prstGeom prst="straightConnector1">
            <a:avLst/>
          </a:prstGeom>
          <a:solidFill>
            <a:schemeClr val="accent1"/>
          </a:solidFill>
          <a:ln w="57150" cap="flat" cmpd="sng" algn="ctr">
            <a:solidFill>
              <a:srgbClr val="0062AC"/>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Right Arrow 27"/>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p:cNvSpPr/>
          <p:nvPr/>
        </p:nvSpPr>
        <p:spPr>
          <a:xfrm>
            <a:off x="5192357" y="2438400"/>
            <a:ext cx="2961043" cy="774700"/>
          </a:xfrm>
          <a:prstGeom prst="rect">
            <a:avLst/>
          </a:prstGeom>
          <a:solidFill>
            <a:schemeClr val="bg1"/>
          </a:solidFill>
          <a:ln w="57150" cmpd="sng">
            <a:solidFill>
              <a:srgbClr val="32A03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31" name="Picture 30"/>
          <p:cNvPicPr>
            <a:picLocks noChangeAspect="1"/>
          </p:cNvPicPr>
          <p:nvPr/>
        </p:nvPicPr>
        <p:blipFill>
          <a:blip r:embed="rId5"/>
          <a:stretch>
            <a:fillRect/>
          </a:stretch>
        </p:blipFill>
        <p:spPr>
          <a:xfrm>
            <a:off x="5485246" y="2573482"/>
            <a:ext cx="2501900" cy="520700"/>
          </a:xfrm>
          <a:prstGeom prst="rect">
            <a:avLst/>
          </a:prstGeom>
        </p:spPr>
      </p:pic>
    </p:spTree>
    <p:extLst>
      <p:ext uri="{BB962C8B-B14F-4D97-AF65-F5344CB8AC3E}">
        <p14:creationId xmlns:p14="http://schemas.microsoft.com/office/powerpoint/2010/main" val="1525486497"/>
      </p:ext>
    </p:extLst>
  </p:cSld>
  <p:clrMapOvr>
    <a:masterClrMapping/>
  </p:clrMapOvr>
  <p:timing>
    <p:tnLst>
      <p:par>
        <p:cTn xmlns:p14="http://schemas.microsoft.com/office/powerpoint/2010/mai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7" name="Title 1"/>
          <p:cNvSpPr>
            <a:spLocks noGrp="1"/>
          </p:cNvSpPr>
          <p:nvPr>
            <p:ph type="title"/>
          </p:nvPr>
        </p:nvSpPr>
        <p:spPr>
          <a:xfrm>
            <a:off x="304800" y="143170"/>
            <a:ext cx="8534400" cy="930564"/>
          </a:xfrm>
        </p:spPr>
        <p:txBody>
          <a:bodyPr>
            <a:normAutofit fontScale="90000"/>
          </a:bodyPr>
          <a:lstStyle/>
          <a:p>
            <a:r>
              <a:rPr lang="en-US" dirty="0" smtClean="0">
                <a:latin typeface="Calibri"/>
              </a:rPr>
              <a:t>“Hope” Ramp Loss</a:t>
            </a:r>
            <a:br>
              <a:rPr lang="en-US" dirty="0" smtClean="0">
                <a:latin typeface="Calibri"/>
              </a:rPr>
            </a:br>
            <a:r>
              <a:rPr lang="en-US" sz="2400" dirty="0" smtClean="0">
                <a:solidFill>
                  <a:srgbClr val="0062AC"/>
                </a:solidFill>
                <a:latin typeface="Calibri"/>
              </a:rPr>
              <a:t>(</a:t>
            </a:r>
            <a:r>
              <a:rPr lang="en-US" sz="2400" dirty="0" err="1" smtClean="0">
                <a:solidFill>
                  <a:srgbClr val="0062AC"/>
                </a:solidFill>
                <a:latin typeface="Calibri"/>
              </a:rPr>
              <a:t>McAllester</a:t>
            </a:r>
            <a:r>
              <a:rPr lang="en-US" sz="2400" dirty="0" smtClean="0">
                <a:solidFill>
                  <a:srgbClr val="0062AC"/>
                </a:solidFill>
                <a:latin typeface="Calibri"/>
              </a:rPr>
              <a:t> &amp; </a:t>
            </a:r>
            <a:r>
              <a:rPr lang="en-US" sz="2400" dirty="0" err="1" smtClean="0">
                <a:solidFill>
                  <a:srgbClr val="0062AC"/>
                </a:solidFill>
                <a:latin typeface="Calibri"/>
              </a:rPr>
              <a:t>Keshet</a:t>
            </a:r>
            <a:r>
              <a:rPr lang="en-US" sz="2400" dirty="0" smtClean="0">
                <a:solidFill>
                  <a:srgbClr val="0062AC"/>
                </a:solidFill>
                <a:latin typeface="Calibri"/>
              </a:rPr>
              <a:t>, 2011;</a:t>
            </a:r>
            <a:r>
              <a:rPr lang="en-US" sz="2400" dirty="0">
                <a:solidFill>
                  <a:srgbClr val="0062AC"/>
                </a:solidFill>
                <a:latin typeface="Calibri"/>
              </a:rPr>
              <a:t> </a:t>
            </a:r>
            <a:r>
              <a:rPr lang="en-US" sz="2400" dirty="0" smtClean="0">
                <a:solidFill>
                  <a:srgbClr val="0062AC"/>
                </a:solidFill>
                <a:latin typeface="Calibri"/>
              </a:rPr>
              <a:t>Liang et al., 2006)</a:t>
            </a:r>
            <a:endParaRPr lang="en-US" sz="2400" dirty="0">
              <a:solidFill>
                <a:srgbClr val="0062AC"/>
              </a:solidFill>
              <a:latin typeface="Calibri"/>
            </a:endParaRPr>
          </a:p>
        </p:txBody>
      </p:sp>
      <p:sp>
        <p:nvSpPr>
          <p:cNvPr id="9" name="Right Arrow 8"/>
          <p:cNvSpPr/>
          <p:nvPr/>
        </p:nvSpPr>
        <p:spPr>
          <a:xfrm rot="10800000">
            <a:off x="4508867" y="3341105"/>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TextBox 9"/>
          <p:cNvSpPr txBox="1">
            <a:spLocks noChangeArrowheads="1"/>
          </p:cNvSpPr>
          <p:nvPr/>
        </p:nvSpPr>
        <p:spPr bwMode="auto">
          <a:xfrm>
            <a:off x="5165440" y="3200400"/>
            <a:ext cx="266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spTree>
    <p:extLst>
      <p:ext uri="{BB962C8B-B14F-4D97-AF65-F5344CB8AC3E}">
        <p14:creationId xmlns:p14="http://schemas.microsoft.com/office/powerpoint/2010/main" val="2945237257"/>
      </p:ext>
    </p:extLst>
  </p:cSld>
  <p:clrMapOvr>
    <a:masterClrMapping/>
  </p:clrMapOvr>
  <p:timing>
    <p:tnLst>
      <p:par>
        <p:cTn xmlns:p14="http://schemas.microsoft.com/office/powerpoint/2010/mai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ight Arrow 21"/>
          <p:cNvSpPr/>
          <p:nvPr/>
        </p:nvSpPr>
        <p:spPr>
          <a:xfrm>
            <a:off x="4630271" y="2111514"/>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8" name="Rectangle 7"/>
          <p:cNvSpPr/>
          <p:nvPr/>
        </p:nvSpPr>
        <p:spPr>
          <a:xfrm>
            <a:off x="4343401" y="1219200"/>
            <a:ext cx="4724400" cy="774700"/>
          </a:xfrm>
          <a:prstGeom prst="rect">
            <a:avLst/>
          </a:prstGeom>
          <a:solidFill>
            <a:schemeClr val="bg1"/>
          </a:solidFill>
          <a:ln w="57150" cmpd="sng">
            <a:solidFill>
              <a:srgbClr val="32A03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12" name="Rectangle 11"/>
          <p:cNvSpPr/>
          <p:nvPr/>
        </p:nvSpPr>
        <p:spPr>
          <a:xfrm>
            <a:off x="5011271" y="39433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0" name="TextBox 19"/>
          <p:cNvSpPr txBox="1">
            <a:spLocks noChangeArrowheads="1"/>
          </p:cNvSpPr>
          <p:nvPr/>
        </p:nvSpPr>
        <p:spPr bwMode="auto">
          <a:xfrm>
            <a:off x="5165440" y="3200400"/>
            <a:ext cx="2667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model prediction</a:t>
            </a:r>
            <a:endParaRPr lang="en-US" sz="2000" dirty="0">
              <a:solidFill>
                <a:srgbClr val="C50C0C"/>
              </a:solidFill>
              <a:latin typeface="Calibri"/>
              <a:cs typeface="Calibri"/>
            </a:endParaRPr>
          </a:p>
        </p:txBody>
      </p:sp>
      <p:pic>
        <p:nvPicPr>
          <p:cNvPr id="2" name="Picture 1"/>
          <p:cNvPicPr>
            <a:picLocks noChangeAspect="1"/>
          </p:cNvPicPr>
          <p:nvPr/>
        </p:nvPicPr>
        <p:blipFill>
          <a:blip r:embed="rId4"/>
          <a:stretch>
            <a:fillRect/>
          </a:stretch>
        </p:blipFill>
        <p:spPr>
          <a:xfrm>
            <a:off x="4495800" y="1324264"/>
            <a:ext cx="4457700" cy="571500"/>
          </a:xfrm>
          <a:prstGeom prst="rect">
            <a:avLst/>
          </a:prstGeom>
        </p:spPr>
      </p:pic>
      <p:sp>
        <p:nvSpPr>
          <p:cNvPr id="21" name="Right Arrow 20"/>
          <p:cNvSpPr/>
          <p:nvPr/>
        </p:nvSpPr>
        <p:spPr>
          <a:xfrm rot="10800000">
            <a:off x="4508867" y="3341105"/>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TextBox 22"/>
          <p:cNvSpPr txBox="1">
            <a:spLocks noChangeArrowheads="1"/>
          </p:cNvSpPr>
          <p:nvPr/>
        </p:nvSpPr>
        <p:spPr bwMode="auto">
          <a:xfrm>
            <a:off x="5439244" y="2002669"/>
            <a:ext cx="22038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“hope”  translation</a:t>
            </a:r>
            <a:endParaRPr lang="en-US" sz="2000" dirty="0">
              <a:solidFill>
                <a:srgbClr val="32A031"/>
              </a:solidFill>
              <a:latin typeface="Calibri"/>
              <a:cs typeface="Calibri"/>
            </a:endParaRPr>
          </a:p>
        </p:txBody>
      </p:sp>
      <p:sp>
        <p:nvSpPr>
          <p:cNvPr id="26" name="Title 1"/>
          <p:cNvSpPr>
            <a:spLocks noGrp="1"/>
          </p:cNvSpPr>
          <p:nvPr>
            <p:ph type="title"/>
          </p:nvPr>
        </p:nvSpPr>
        <p:spPr>
          <a:xfrm>
            <a:off x="304800" y="143170"/>
            <a:ext cx="8534400" cy="930564"/>
          </a:xfrm>
        </p:spPr>
        <p:txBody>
          <a:bodyPr>
            <a:normAutofit fontScale="90000"/>
          </a:bodyPr>
          <a:lstStyle/>
          <a:p>
            <a:r>
              <a:rPr lang="en-US" dirty="0" smtClean="0">
                <a:latin typeface="Calibri"/>
              </a:rPr>
              <a:t>“Hope” Ramp Loss</a:t>
            </a:r>
            <a:br>
              <a:rPr lang="en-US" dirty="0" smtClean="0">
                <a:latin typeface="Calibri"/>
              </a:rPr>
            </a:br>
            <a:r>
              <a:rPr lang="en-US" sz="2400" dirty="0" smtClean="0">
                <a:solidFill>
                  <a:srgbClr val="0062AC"/>
                </a:solidFill>
                <a:latin typeface="Calibri"/>
              </a:rPr>
              <a:t>(</a:t>
            </a:r>
            <a:r>
              <a:rPr lang="en-US" sz="2400" dirty="0" err="1" smtClean="0">
                <a:solidFill>
                  <a:srgbClr val="0062AC"/>
                </a:solidFill>
                <a:latin typeface="Calibri"/>
              </a:rPr>
              <a:t>McAllester</a:t>
            </a:r>
            <a:r>
              <a:rPr lang="en-US" sz="2400" dirty="0" smtClean="0">
                <a:solidFill>
                  <a:srgbClr val="0062AC"/>
                </a:solidFill>
                <a:latin typeface="Calibri"/>
              </a:rPr>
              <a:t> &amp; </a:t>
            </a:r>
            <a:r>
              <a:rPr lang="en-US" sz="2400" dirty="0" err="1" smtClean="0">
                <a:solidFill>
                  <a:srgbClr val="0062AC"/>
                </a:solidFill>
                <a:latin typeface="Calibri"/>
              </a:rPr>
              <a:t>Keshet</a:t>
            </a:r>
            <a:r>
              <a:rPr lang="en-US" sz="2400" dirty="0" smtClean="0">
                <a:solidFill>
                  <a:srgbClr val="0062AC"/>
                </a:solidFill>
                <a:latin typeface="Calibri"/>
              </a:rPr>
              <a:t>, 2011;</a:t>
            </a:r>
            <a:r>
              <a:rPr lang="en-US" sz="2400" dirty="0">
                <a:solidFill>
                  <a:srgbClr val="0062AC"/>
                </a:solidFill>
                <a:latin typeface="Calibri"/>
              </a:rPr>
              <a:t> </a:t>
            </a:r>
            <a:r>
              <a:rPr lang="en-US" sz="2400" dirty="0" smtClean="0">
                <a:solidFill>
                  <a:srgbClr val="0062AC"/>
                </a:solidFill>
                <a:latin typeface="Calibri"/>
              </a:rPr>
              <a:t>Liang et al., 2006)</a:t>
            </a:r>
            <a:endParaRPr lang="en-US" sz="2400" dirty="0">
              <a:solidFill>
                <a:srgbClr val="0062AC"/>
              </a:solidFill>
              <a:latin typeface="Calibri"/>
            </a:endParaRPr>
          </a:p>
        </p:txBody>
      </p:sp>
    </p:spTree>
    <p:extLst>
      <p:ext uri="{BB962C8B-B14F-4D97-AF65-F5344CB8AC3E}">
        <p14:creationId xmlns:p14="http://schemas.microsoft.com/office/powerpoint/2010/main" val="855508607"/>
      </p:ext>
    </p:extLst>
  </p:cSld>
  <p:clrMapOvr>
    <a:masterClrMapping/>
  </p:clrMapOvr>
  <p:timing>
    <p:tnLst>
      <p:par>
        <p:cTn xmlns:p14="http://schemas.microsoft.com/office/powerpoint/2010/mai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ight Arrow 21"/>
          <p:cNvSpPr/>
          <p:nvPr/>
        </p:nvSpPr>
        <p:spPr>
          <a:xfrm>
            <a:off x="4630271" y="2111514"/>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1" name="Title 1"/>
          <p:cNvSpPr>
            <a:spLocks noGrp="1"/>
          </p:cNvSpPr>
          <p:nvPr>
            <p:ph type="title"/>
          </p:nvPr>
        </p:nvSpPr>
        <p:spPr>
          <a:xfrm>
            <a:off x="304800" y="304800"/>
            <a:ext cx="8534400" cy="685800"/>
          </a:xfrm>
        </p:spPr>
        <p:txBody>
          <a:bodyPr>
            <a:normAutofit fontScale="90000"/>
          </a:bodyPr>
          <a:lstStyle/>
          <a:p>
            <a:r>
              <a:rPr lang="en-US" dirty="0" smtClean="0">
                <a:latin typeface="Calibri"/>
              </a:rPr>
              <a:t>“Hope-Fear” Ramp Loss</a:t>
            </a:r>
            <a:br>
              <a:rPr lang="en-US" dirty="0" smtClean="0">
                <a:latin typeface="Calibri"/>
              </a:rPr>
            </a:br>
            <a:r>
              <a:rPr lang="en-US" sz="2400" dirty="0" smtClean="0">
                <a:solidFill>
                  <a:srgbClr val="0062AC"/>
                </a:solidFill>
                <a:latin typeface="Calibri"/>
              </a:rPr>
              <a:t>(Chiang et al., 2008; 2009</a:t>
            </a:r>
            <a:r>
              <a:rPr lang="en-US" sz="2400" dirty="0" smtClean="0">
                <a:solidFill>
                  <a:srgbClr val="0062AC"/>
                </a:solidFill>
              </a:rPr>
              <a:t>; Cherry &amp; Foster, 2012;</a:t>
            </a:r>
            <a:r>
              <a:rPr lang="en-US" sz="2400" dirty="0" smtClean="0">
                <a:solidFill>
                  <a:srgbClr val="0062AC"/>
                </a:solidFill>
                <a:latin typeface="Calibri"/>
              </a:rPr>
              <a:t> Chiang, 2012)</a:t>
            </a:r>
            <a:endParaRPr lang="en-US" sz="2400" dirty="0">
              <a:solidFill>
                <a:srgbClr val="0062AC"/>
              </a:solidFill>
              <a:latin typeface="Calibri"/>
            </a:endParaRPr>
          </a:p>
        </p:txBody>
      </p:sp>
      <p:sp>
        <p:nvSpPr>
          <p:cNvPr id="23" name="Right Arrow 22"/>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TextBox 26"/>
          <p:cNvSpPr txBox="1">
            <a:spLocks noChangeArrowheads="1"/>
          </p:cNvSpPr>
          <p:nvPr/>
        </p:nvSpPr>
        <p:spPr bwMode="auto">
          <a:xfrm>
            <a:off x="5439244" y="2002669"/>
            <a:ext cx="22038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“hope”  translation</a:t>
            </a:r>
            <a:endParaRPr lang="en-US" sz="2000" dirty="0">
              <a:solidFill>
                <a:srgbClr val="32A031"/>
              </a:solidFill>
              <a:latin typeface="Calibri"/>
              <a:cs typeface="Calibri"/>
            </a:endParaRPr>
          </a:p>
        </p:txBody>
      </p:sp>
      <p:sp>
        <p:nvSpPr>
          <p:cNvPr id="28" name="TextBox 27"/>
          <p:cNvSpPr txBox="1">
            <a:spLocks noChangeArrowheads="1"/>
          </p:cNvSpPr>
          <p:nvPr/>
        </p:nvSpPr>
        <p:spPr bwMode="auto">
          <a:xfrm>
            <a:off x="5160819" y="4835235"/>
            <a:ext cx="21012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Tree>
    <p:extLst>
      <p:ext uri="{BB962C8B-B14F-4D97-AF65-F5344CB8AC3E}">
        <p14:creationId xmlns:p14="http://schemas.microsoft.com/office/powerpoint/2010/main" val="586368562"/>
      </p:ext>
    </p:extLst>
  </p:cSld>
  <p:clrMapOvr>
    <a:masterClrMapping/>
  </p:clrMapOvr>
  <p:timing>
    <p:tnLst>
      <p:par>
        <p:cTn xmlns:p14="http://schemas.microsoft.com/office/powerpoint/2010/mai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Right Arrow 21"/>
          <p:cNvSpPr/>
          <p:nvPr/>
        </p:nvSpPr>
        <p:spPr>
          <a:xfrm>
            <a:off x="4630271" y="2111514"/>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011271" y="2736850"/>
            <a:ext cx="721192" cy="3048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21" name="Title 1"/>
          <p:cNvSpPr>
            <a:spLocks noGrp="1"/>
          </p:cNvSpPr>
          <p:nvPr>
            <p:ph type="title"/>
          </p:nvPr>
        </p:nvSpPr>
        <p:spPr>
          <a:xfrm>
            <a:off x="304800" y="304800"/>
            <a:ext cx="8534400" cy="685800"/>
          </a:xfrm>
        </p:spPr>
        <p:txBody>
          <a:bodyPr>
            <a:normAutofit fontScale="90000"/>
          </a:bodyPr>
          <a:lstStyle/>
          <a:p>
            <a:r>
              <a:rPr lang="en-US" dirty="0" smtClean="0">
                <a:latin typeface="Calibri"/>
              </a:rPr>
              <a:t>“Hope-Fear” Ramp Loss</a:t>
            </a:r>
            <a:br>
              <a:rPr lang="en-US" dirty="0" smtClean="0">
                <a:latin typeface="Calibri"/>
              </a:rPr>
            </a:br>
            <a:r>
              <a:rPr lang="en-US" sz="2400" dirty="0" smtClean="0">
                <a:solidFill>
                  <a:srgbClr val="0062AC"/>
                </a:solidFill>
                <a:latin typeface="Calibri"/>
              </a:rPr>
              <a:t>(Chiang et al., 2008; 2009</a:t>
            </a:r>
            <a:r>
              <a:rPr lang="en-US" sz="2400" dirty="0" smtClean="0">
                <a:solidFill>
                  <a:srgbClr val="0062AC"/>
                </a:solidFill>
              </a:rPr>
              <a:t>; Cherry &amp; Foster, 2012;</a:t>
            </a:r>
            <a:r>
              <a:rPr lang="en-US" sz="2400" dirty="0" smtClean="0">
                <a:solidFill>
                  <a:srgbClr val="0062AC"/>
                </a:solidFill>
                <a:latin typeface="Calibri"/>
              </a:rPr>
              <a:t> Chiang, 2012)</a:t>
            </a:r>
            <a:endParaRPr lang="en-US" sz="2400" dirty="0">
              <a:solidFill>
                <a:srgbClr val="0062AC"/>
              </a:solidFill>
              <a:latin typeface="Calibri"/>
            </a:endParaRPr>
          </a:p>
        </p:txBody>
      </p:sp>
      <p:sp>
        <p:nvSpPr>
          <p:cNvPr id="23" name="Right Arrow 22"/>
          <p:cNvSpPr/>
          <p:nvPr/>
        </p:nvSpPr>
        <p:spPr>
          <a:xfrm rot="10800000">
            <a:off x="4277958" y="496901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TextBox 26"/>
          <p:cNvSpPr txBox="1">
            <a:spLocks noChangeArrowheads="1"/>
          </p:cNvSpPr>
          <p:nvPr/>
        </p:nvSpPr>
        <p:spPr bwMode="auto">
          <a:xfrm>
            <a:off x="5439244" y="2002669"/>
            <a:ext cx="220384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32A031"/>
                </a:solidFill>
                <a:latin typeface="Calibri"/>
                <a:cs typeface="Calibri"/>
              </a:rPr>
              <a:t>“hope”  translation</a:t>
            </a:r>
            <a:endParaRPr lang="en-US" sz="2000" dirty="0">
              <a:solidFill>
                <a:srgbClr val="32A031"/>
              </a:solidFill>
              <a:latin typeface="Calibri"/>
              <a:cs typeface="Calibri"/>
            </a:endParaRPr>
          </a:p>
        </p:txBody>
      </p:sp>
      <p:sp>
        <p:nvSpPr>
          <p:cNvPr id="28" name="TextBox 27"/>
          <p:cNvSpPr txBox="1">
            <a:spLocks noChangeArrowheads="1"/>
          </p:cNvSpPr>
          <p:nvPr/>
        </p:nvSpPr>
        <p:spPr bwMode="auto">
          <a:xfrm>
            <a:off x="5160819" y="4835235"/>
            <a:ext cx="21012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dirty="0" smtClean="0">
                <a:solidFill>
                  <a:srgbClr val="C50C0C"/>
                </a:solidFill>
                <a:latin typeface="Calibri"/>
                <a:cs typeface="Calibri"/>
              </a:rPr>
              <a:t>“fear”  translation</a:t>
            </a:r>
            <a:endParaRPr lang="en-US" sz="2000" dirty="0">
              <a:solidFill>
                <a:srgbClr val="C50C0C"/>
              </a:solidFill>
              <a:latin typeface="Calibri"/>
              <a:cs typeface="Calibri"/>
            </a:endParaRPr>
          </a:p>
        </p:txBody>
      </p:sp>
      <p:sp>
        <p:nvSpPr>
          <p:cNvPr id="9" name="Rectangle 8"/>
          <p:cNvSpPr/>
          <p:nvPr/>
        </p:nvSpPr>
        <p:spPr>
          <a:xfrm>
            <a:off x="4343401" y="1219200"/>
            <a:ext cx="4724400" cy="774700"/>
          </a:xfrm>
          <a:prstGeom prst="rect">
            <a:avLst/>
          </a:prstGeom>
          <a:solidFill>
            <a:schemeClr val="bg1"/>
          </a:solidFill>
          <a:ln w="57150" cmpd="sng">
            <a:solidFill>
              <a:srgbClr val="32A031"/>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10" name="Picture 9"/>
          <p:cNvPicPr>
            <a:picLocks noChangeAspect="1"/>
          </p:cNvPicPr>
          <p:nvPr/>
        </p:nvPicPr>
        <p:blipFill>
          <a:blip r:embed="rId4"/>
          <a:stretch>
            <a:fillRect/>
          </a:stretch>
        </p:blipFill>
        <p:spPr>
          <a:xfrm>
            <a:off x="4495800" y="1324264"/>
            <a:ext cx="4457700" cy="571500"/>
          </a:xfrm>
          <a:prstGeom prst="rect">
            <a:avLst/>
          </a:prstGeom>
        </p:spPr>
      </p:pic>
      <p:sp>
        <p:nvSpPr>
          <p:cNvPr id="11" name="Rectangle 10"/>
          <p:cNvSpPr/>
          <p:nvPr/>
        </p:nvSpPr>
        <p:spPr>
          <a:xfrm>
            <a:off x="4343400" y="5264731"/>
            <a:ext cx="4713643" cy="756226"/>
          </a:xfrm>
          <a:prstGeom prst="rect">
            <a:avLst/>
          </a:prstGeom>
          <a:solidFill>
            <a:schemeClr val="bg1"/>
          </a:solidFill>
          <a:ln w="57150" cmpd="sng">
            <a:solidFill>
              <a:srgbClr val="C50C0C"/>
            </a:solid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pic>
        <p:nvPicPr>
          <p:cNvPr id="12" name="Picture 11"/>
          <p:cNvPicPr>
            <a:picLocks noChangeAspect="1"/>
          </p:cNvPicPr>
          <p:nvPr/>
        </p:nvPicPr>
        <p:blipFill>
          <a:blip r:embed="rId5"/>
          <a:stretch>
            <a:fillRect/>
          </a:stretch>
        </p:blipFill>
        <p:spPr>
          <a:xfrm>
            <a:off x="4472710" y="5365173"/>
            <a:ext cx="4457700" cy="571500"/>
          </a:xfrm>
          <a:prstGeom prst="rect">
            <a:avLst/>
          </a:prstGeom>
        </p:spPr>
      </p:pic>
    </p:spTree>
    <p:extLst>
      <p:ext uri="{BB962C8B-B14F-4D97-AF65-F5344CB8AC3E}">
        <p14:creationId xmlns:p14="http://schemas.microsoft.com/office/powerpoint/2010/main" val="2036545544"/>
      </p:ext>
    </p:extLst>
  </p:cSld>
  <p:clrMapOvr>
    <a:masterClrMapping/>
  </p:clrMapOvr>
  <p:timing>
    <p:tnLst>
      <p:par>
        <p:cTn xmlns:p14="http://schemas.microsoft.com/office/powerpoint/2010/mai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3967018" cy="1020618"/>
          </a:xfrm>
        </p:spPr>
        <p:txBody>
          <a:bodyPr/>
          <a:lstStyle/>
          <a:p>
            <a:r>
              <a:rPr lang="en-US" sz="3200" dirty="0" smtClean="0">
                <a:latin typeface="Calibri"/>
              </a:rPr>
              <a:t>Experiments</a:t>
            </a:r>
            <a:br>
              <a:rPr lang="en-US" sz="3200" dirty="0" smtClean="0">
                <a:latin typeface="Calibri"/>
              </a:rPr>
            </a:br>
            <a:r>
              <a:rPr lang="en-US" sz="2400" dirty="0">
                <a:solidFill>
                  <a:srgbClr val="0062AC"/>
                </a:solidFill>
              </a:rPr>
              <a:t>(Gimpel, 2012)</a:t>
            </a:r>
            <a:endParaRPr lang="en-US" sz="2400" dirty="0"/>
          </a:p>
        </p:txBody>
      </p:sp>
      <p:graphicFrame>
        <p:nvGraphicFramePr>
          <p:cNvPr id="4" name="Table 3"/>
          <p:cNvGraphicFramePr>
            <a:graphicFrameLocks noGrp="1"/>
          </p:cNvGraphicFramePr>
          <p:nvPr>
            <p:extLst>
              <p:ext uri="{D42A27DB-BD31-4B8C-83A1-F6EECF244321}">
                <p14:modId xmlns:p14="http://schemas.microsoft.com/office/powerpoint/2010/main" val="662985300"/>
              </p:ext>
            </p:extLst>
          </p:nvPr>
        </p:nvGraphicFramePr>
        <p:xfrm>
          <a:off x="304802" y="1371600"/>
          <a:ext cx="8482055" cy="2225040"/>
        </p:xfrm>
        <a:graphic>
          <a:graphicData uri="http://schemas.openxmlformats.org/drawingml/2006/table">
            <a:tbl>
              <a:tblPr firstRow="1" bandRow="1">
                <a:tableStyleId>{B301B821-A1FF-4177-AEE7-76D212191A09}</a:tableStyleId>
              </a:tblPr>
              <a:tblGrid>
                <a:gridCol w="4856478"/>
                <a:gridCol w="1849120"/>
                <a:gridCol w="1776457"/>
              </a:tblGrid>
              <a:tr h="370840">
                <a:tc>
                  <a:txBody>
                    <a:bodyPr/>
                    <a:lstStyle/>
                    <a:p>
                      <a:endParaRPr lang="en-US" dirty="0">
                        <a:latin typeface="Calibri"/>
                        <a:cs typeface="Calibri"/>
                      </a:endParaRPr>
                    </a:p>
                  </a:txBody>
                  <a:tcPr/>
                </a:tc>
                <a:tc>
                  <a:txBody>
                    <a:bodyPr/>
                    <a:lstStyle/>
                    <a:p>
                      <a:pPr algn="ctr"/>
                      <a:r>
                        <a:rPr lang="en-US" dirty="0" smtClean="0"/>
                        <a:t>Moses</a:t>
                      </a:r>
                      <a:endParaRPr lang="en-US" b="0" dirty="0">
                        <a:solidFill>
                          <a:schemeClr val="tx1"/>
                        </a:solidFill>
                        <a:latin typeface="Calibri"/>
                        <a:cs typeface="Calibri"/>
                      </a:endParaRPr>
                    </a:p>
                  </a:txBody>
                  <a:tcPr/>
                </a:tc>
                <a:tc>
                  <a:txBody>
                    <a:bodyPr/>
                    <a:lstStyle/>
                    <a:p>
                      <a:pPr algn="ctr"/>
                      <a:r>
                        <a:rPr lang="en-US" dirty="0" err="1" smtClean="0"/>
                        <a:t>Hiero</a:t>
                      </a:r>
                      <a:endParaRPr lang="en-US" b="0" dirty="0">
                        <a:solidFill>
                          <a:schemeClr val="tx1"/>
                        </a:solidFill>
                        <a:latin typeface="Calibri"/>
                        <a:cs typeface="Calibri"/>
                      </a:endParaRPr>
                    </a:p>
                  </a:txBody>
                  <a:tcPr/>
                </a:tc>
              </a:tr>
              <a:tr h="370840">
                <a:tc>
                  <a:txBody>
                    <a:bodyPr/>
                    <a:lstStyle/>
                    <a:p>
                      <a:endParaRPr lang="en-US" dirty="0">
                        <a:latin typeface="Calibri"/>
                        <a:cs typeface="Calibri"/>
                      </a:endParaRPr>
                    </a:p>
                  </a:txBody>
                  <a:tcPr>
                    <a:solidFill>
                      <a:srgbClr val="4E80BB"/>
                    </a:solidFill>
                  </a:tcPr>
                </a:tc>
                <a:tc>
                  <a:txBody>
                    <a:bodyPr/>
                    <a:lstStyle/>
                    <a:p>
                      <a:pPr algn="ctr"/>
                      <a:r>
                        <a:rPr lang="en-US" dirty="0" smtClean="0">
                          <a:solidFill>
                            <a:schemeClr val="bg1"/>
                          </a:solidFill>
                        </a:rPr>
                        <a:t>(%BLEU)</a:t>
                      </a:r>
                      <a:endParaRPr lang="en-US" dirty="0">
                        <a:solidFill>
                          <a:schemeClr val="bg1"/>
                        </a:solidFill>
                        <a:latin typeface="Calibri"/>
                        <a:cs typeface="Calibri"/>
                      </a:endParaRPr>
                    </a:p>
                  </a:txBody>
                  <a:tcPr>
                    <a:solidFill>
                      <a:srgbClr val="4E80BB"/>
                    </a:solidFill>
                  </a:tcPr>
                </a:tc>
                <a:tc>
                  <a:txBody>
                    <a:bodyPr/>
                    <a:lstStyle/>
                    <a:p>
                      <a:pPr algn="ctr"/>
                      <a:r>
                        <a:rPr lang="en-US" dirty="0" smtClean="0">
                          <a:solidFill>
                            <a:srgbClr val="FFFFFF"/>
                          </a:solidFill>
                        </a:rPr>
                        <a:t>(%BLEU)</a:t>
                      </a:r>
                      <a:endParaRPr lang="en-US" dirty="0">
                        <a:solidFill>
                          <a:srgbClr val="FFFFFF"/>
                        </a:solidFill>
                        <a:latin typeface="Calibri"/>
                        <a:cs typeface="Calibri"/>
                      </a:endParaRPr>
                    </a:p>
                  </a:txBody>
                  <a:tcPr>
                    <a:solidFill>
                      <a:srgbClr val="4E80BB"/>
                    </a:solidFill>
                  </a:tcPr>
                </a:tc>
              </a:tr>
              <a:tr h="370840">
                <a:tc>
                  <a:txBody>
                    <a:bodyPr/>
                    <a:lstStyle/>
                    <a:p>
                      <a:r>
                        <a:rPr lang="en-US" dirty="0" smtClean="0"/>
                        <a:t>MERT</a:t>
                      </a:r>
                      <a:endParaRPr lang="en-US" dirty="0">
                        <a:latin typeface="Calibri"/>
                        <a:cs typeface="Calibri"/>
                      </a:endParaRPr>
                    </a:p>
                  </a:txBody>
                  <a:tcPr/>
                </a:tc>
                <a:tc>
                  <a:txBody>
                    <a:bodyPr/>
                    <a:lstStyle/>
                    <a:p>
                      <a:pPr algn="ctr"/>
                      <a:r>
                        <a:rPr lang="en-US" dirty="0" smtClean="0"/>
                        <a:t>35.9</a:t>
                      </a:r>
                      <a:endParaRPr lang="en-US" b="1" dirty="0">
                        <a:latin typeface="Calibri"/>
                        <a:cs typeface="Calibri"/>
                      </a:endParaRPr>
                    </a:p>
                  </a:txBody>
                  <a:tcPr/>
                </a:tc>
                <a:tc>
                  <a:txBody>
                    <a:bodyPr/>
                    <a:lstStyle/>
                    <a:p>
                      <a:pPr algn="ctr"/>
                      <a:r>
                        <a:rPr lang="en-US" dirty="0" smtClean="0"/>
                        <a:t>37.0</a:t>
                      </a:r>
                      <a:endParaRPr lang="en-US" b="1" dirty="0">
                        <a:latin typeface="Calibri"/>
                        <a:cs typeface="Calibri"/>
                      </a:endParaRPr>
                    </a:p>
                  </a:txBody>
                  <a:tcPr/>
                </a:tc>
              </a:tr>
              <a:tr h="370840">
                <a:tc>
                  <a:txBody>
                    <a:bodyPr/>
                    <a:lstStyle/>
                    <a:p>
                      <a:r>
                        <a:rPr lang="en-US" dirty="0" smtClean="0"/>
                        <a:t>Fear Ramp (away from bad)</a:t>
                      </a:r>
                      <a:endParaRPr lang="en-US" dirty="0">
                        <a:latin typeface="Calibri"/>
                        <a:cs typeface="Calibri"/>
                      </a:endParaRPr>
                    </a:p>
                  </a:txBody>
                  <a:tcPr/>
                </a:tc>
                <a:tc>
                  <a:txBody>
                    <a:bodyPr/>
                    <a:lstStyle/>
                    <a:p>
                      <a:pPr algn="ctr"/>
                      <a:r>
                        <a:rPr lang="en-US" dirty="0" smtClean="0"/>
                        <a:t>34.9</a:t>
                      </a:r>
                      <a:endParaRPr lang="en-US" dirty="0">
                        <a:latin typeface="Calibri"/>
                        <a:cs typeface="Calibri"/>
                      </a:endParaRPr>
                    </a:p>
                  </a:txBody>
                  <a:tcPr/>
                </a:tc>
                <a:tc>
                  <a:txBody>
                    <a:bodyPr/>
                    <a:lstStyle/>
                    <a:p>
                      <a:pPr algn="ctr"/>
                      <a:r>
                        <a:rPr lang="en-US" dirty="0" smtClean="0"/>
                        <a:t>34.2</a:t>
                      </a:r>
                      <a:endParaRPr lang="en-US" dirty="0">
                        <a:latin typeface="Calibri"/>
                        <a:cs typeface="Calibri"/>
                      </a:endParaRPr>
                    </a:p>
                  </a:txBody>
                  <a:tcPr/>
                </a:tc>
              </a:tr>
              <a:tr h="370840">
                <a:tc>
                  <a:txBody>
                    <a:bodyPr/>
                    <a:lstStyle/>
                    <a:p>
                      <a:r>
                        <a:rPr lang="en-US" dirty="0" smtClean="0"/>
                        <a:t>Hope Ramp (toward good)</a:t>
                      </a:r>
                      <a:endParaRPr lang="en-US" dirty="0">
                        <a:latin typeface="Calibri"/>
                        <a:cs typeface="Calibri"/>
                      </a:endParaRPr>
                    </a:p>
                  </a:txBody>
                  <a:tcPr/>
                </a:tc>
                <a:tc>
                  <a:txBody>
                    <a:bodyPr/>
                    <a:lstStyle/>
                    <a:p>
                      <a:pPr algn="ctr"/>
                      <a:r>
                        <a:rPr lang="en-US" dirty="0" smtClean="0"/>
                        <a:t>35.2</a:t>
                      </a:r>
                      <a:endParaRPr lang="en-US" dirty="0">
                        <a:latin typeface="Calibri"/>
                        <a:cs typeface="Calibri"/>
                      </a:endParaRPr>
                    </a:p>
                  </a:txBody>
                  <a:tcPr/>
                </a:tc>
                <a:tc>
                  <a:txBody>
                    <a:bodyPr/>
                    <a:lstStyle/>
                    <a:p>
                      <a:pPr algn="ctr"/>
                      <a:r>
                        <a:rPr lang="en-US" dirty="0" smtClean="0"/>
                        <a:t>36.0</a:t>
                      </a:r>
                      <a:endParaRPr lang="en-US" dirty="0">
                        <a:latin typeface="Calibri"/>
                        <a:cs typeface="Calibri"/>
                      </a:endParaRPr>
                    </a:p>
                  </a:txBody>
                  <a:tcPr/>
                </a:tc>
              </a:tr>
              <a:tr h="370840">
                <a:tc>
                  <a:txBody>
                    <a:bodyPr/>
                    <a:lstStyle/>
                    <a:p>
                      <a:r>
                        <a:rPr lang="en-US" dirty="0" smtClean="0"/>
                        <a:t>Hope-Fear Ramp (toward good + away from bad)</a:t>
                      </a:r>
                      <a:endParaRPr lang="en-US" dirty="0">
                        <a:latin typeface="Calibri"/>
                        <a:cs typeface="Calibri"/>
                      </a:endParaRPr>
                    </a:p>
                  </a:txBody>
                  <a:tcPr/>
                </a:tc>
                <a:tc>
                  <a:txBody>
                    <a:bodyPr/>
                    <a:lstStyle/>
                    <a:p>
                      <a:pPr algn="ctr"/>
                      <a:r>
                        <a:rPr lang="en-US" dirty="0" smtClean="0"/>
                        <a:t>35.7</a:t>
                      </a:r>
                      <a:endParaRPr lang="en-US" dirty="0">
                        <a:latin typeface="Calibri"/>
                        <a:cs typeface="Calibri"/>
                      </a:endParaRPr>
                    </a:p>
                  </a:txBody>
                  <a:tcPr/>
                </a:tc>
                <a:tc>
                  <a:txBody>
                    <a:bodyPr/>
                    <a:lstStyle/>
                    <a:p>
                      <a:pPr algn="ctr"/>
                      <a:r>
                        <a:rPr lang="en-US" dirty="0" smtClean="0"/>
                        <a:t>37.0</a:t>
                      </a:r>
                      <a:endParaRPr lang="en-US" b="1" dirty="0">
                        <a:latin typeface="Calibri"/>
                        <a:cs typeface="Calibri"/>
                      </a:endParaRPr>
                    </a:p>
                  </a:txBody>
                  <a:tcPr/>
                </a:tc>
              </a:tr>
            </a:tbl>
          </a:graphicData>
        </a:graphic>
      </p:graphicFrame>
      <p:sp>
        <p:nvSpPr>
          <p:cNvPr id="6" name="Left Brace 5"/>
          <p:cNvSpPr/>
          <p:nvPr/>
        </p:nvSpPr>
        <p:spPr bwMode="auto">
          <a:xfrm rot="5400000">
            <a:off x="6570980" y="-469900"/>
            <a:ext cx="457200" cy="3286760"/>
          </a:xfrm>
          <a:prstGeom prst="leftBrace">
            <a:avLst>
              <a:gd name="adj1" fmla="val 63888"/>
              <a:gd name="adj2" fmla="val 50000"/>
            </a:avLst>
          </a:prstGeom>
          <a:noFill/>
          <a:ln w="28575" cap="flat" cmpd="sng" algn="ctr">
            <a:solidFill>
              <a:srgbClr val="0062AC"/>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
        <p:nvSpPr>
          <p:cNvPr id="7" name="TextBox 6"/>
          <p:cNvSpPr txBox="1">
            <a:spLocks noChangeArrowheads="1"/>
          </p:cNvSpPr>
          <p:nvPr/>
        </p:nvSpPr>
        <p:spPr bwMode="auto">
          <a:xfrm>
            <a:off x="4062487" y="640080"/>
            <a:ext cx="47243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i="0" dirty="0">
                <a:solidFill>
                  <a:srgbClr val="0062AC"/>
                </a:solidFill>
                <a:latin typeface="Calibri"/>
                <a:cs typeface="Calibri"/>
              </a:rPr>
              <a:t>a</a:t>
            </a:r>
            <a:r>
              <a:rPr lang="en-US" i="0" dirty="0" smtClean="0">
                <a:solidFill>
                  <a:srgbClr val="0062AC"/>
                </a:solidFill>
                <a:latin typeface="Calibri"/>
                <a:cs typeface="Calibri"/>
              </a:rPr>
              <a:t>verages over </a:t>
            </a:r>
            <a:r>
              <a:rPr lang="en-US" i="0" dirty="0">
                <a:solidFill>
                  <a:srgbClr val="0062AC"/>
                </a:solidFill>
                <a:latin typeface="Calibri"/>
                <a:cs typeface="Calibri"/>
              </a:rPr>
              <a:t>8</a:t>
            </a:r>
            <a:r>
              <a:rPr lang="en-US" i="0" dirty="0" smtClean="0">
                <a:solidFill>
                  <a:srgbClr val="0062AC"/>
                </a:solidFill>
                <a:latin typeface="Calibri"/>
                <a:cs typeface="Calibri"/>
              </a:rPr>
              <a:t> test sets across 3 language pairs</a:t>
            </a:r>
            <a:endParaRPr lang="en-US" i="0" dirty="0">
              <a:solidFill>
                <a:srgbClr val="0062AC"/>
              </a:solidFill>
              <a:latin typeface="Calibri"/>
              <a:cs typeface="Calibri"/>
            </a:endParaRPr>
          </a:p>
        </p:txBody>
      </p:sp>
    </p:spTree>
    <p:extLst>
      <p:ext uri="{BB962C8B-B14F-4D97-AF65-F5344CB8AC3E}">
        <p14:creationId xmlns:p14="http://schemas.microsoft.com/office/powerpoint/2010/main" val="362373873"/>
      </p:ext>
    </p:extLst>
  </p:cSld>
  <p:clrMapOvr>
    <a:masterClrMapping/>
  </p:clrMapOvr>
  <p:timing>
    <p:tnLst>
      <p:par>
        <p:cTn xmlns:p14="http://schemas.microsoft.com/office/powerpoint/2010/mai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31900"/>
            <a:ext cx="5580063"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304800" y="228600"/>
            <a:ext cx="8534400" cy="685800"/>
          </a:xfrm>
        </p:spPr>
        <p:txBody>
          <a:bodyPr>
            <a:normAutofit fontScale="90000"/>
          </a:bodyPr>
          <a:lstStyle/>
          <a:p>
            <a:r>
              <a:rPr lang="en-US" dirty="0"/>
              <a:t>Pairwise Ranking Optimization</a:t>
            </a:r>
            <a:r>
              <a:rPr lang="en-US" dirty="0" smtClean="0"/>
              <a:t/>
            </a:r>
            <a:br>
              <a:rPr lang="en-US" dirty="0" smtClean="0"/>
            </a:br>
            <a:r>
              <a:rPr lang="en-US" sz="2800" dirty="0" smtClean="0">
                <a:solidFill>
                  <a:srgbClr val="0062AC"/>
                </a:solidFill>
              </a:rPr>
              <a:t>(Hopkins &amp; May, 2011)</a:t>
            </a:r>
            <a:endParaRPr lang="en-US" sz="2800" dirty="0"/>
          </a:p>
        </p:txBody>
      </p:sp>
      <p:sp>
        <p:nvSpPr>
          <p:cNvPr id="12" name="Right Arrow 11"/>
          <p:cNvSpPr/>
          <p:nvPr/>
        </p:nvSpPr>
        <p:spPr>
          <a:xfrm rot="10800000">
            <a:off x="3840018" y="4791364"/>
            <a:ext cx="762000" cy="228600"/>
          </a:xfrm>
          <a:prstGeom prst="rightArrow">
            <a:avLst/>
          </a:prstGeom>
          <a:solidFill>
            <a:srgbClr val="C50C0C"/>
          </a:solidFill>
          <a:ln>
            <a:solidFill>
              <a:srgbClr val="C50C0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ight Arrow 19"/>
          <p:cNvSpPr/>
          <p:nvPr/>
        </p:nvSpPr>
        <p:spPr>
          <a:xfrm>
            <a:off x="3796145" y="2861968"/>
            <a:ext cx="762000" cy="228600"/>
          </a:xfrm>
          <a:prstGeom prst="rightArrow">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1143000" y="1600200"/>
            <a:ext cx="2438400" cy="4343400"/>
          </a:xfrm>
          <a:prstGeom prst="rect">
            <a:avLst/>
          </a:prstGeom>
          <a:solidFill>
            <a:schemeClr val="bg1">
              <a:alpha val="69000"/>
            </a:schemeClr>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1090365481"/>
      </p:ext>
    </p:extLst>
  </p:cSld>
  <p:clrMapOvr>
    <a:masterClrMapping/>
  </p:clrMapOvr>
  <p:timing>
    <p:tnLst>
      <p:par>
        <p:cTn xmlns:p14="http://schemas.microsoft.com/office/powerpoint/2010/mai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Roadmap</a:t>
            </a:r>
          </a:p>
        </p:txBody>
      </p:sp>
      <p:sp>
        <p:nvSpPr>
          <p:cNvPr id="3" name="Content Placeholder 2"/>
          <p:cNvSpPr>
            <a:spLocks noGrp="1"/>
          </p:cNvSpPr>
          <p:nvPr>
            <p:ph idx="1"/>
          </p:nvPr>
        </p:nvSpPr>
        <p:spPr>
          <a:xfrm>
            <a:off x="457200" y="926661"/>
            <a:ext cx="8229600" cy="5052424"/>
          </a:xfrm>
        </p:spPr>
        <p:txBody>
          <a:bodyPr>
            <a:noAutofit/>
          </a:bodyPr>
          <a:lstStyle/>
          <a:p>
            <a:r>
              <a:rPr lang="en-US" sz="2400" dirty="0"/>
              <a:t>words, morphology, lexical semantics</a:t>
            </a:r>
          </a:p>
          <a:p>
            <a:r>
              <a:rPr lang="en-US" sz="2400" dirty="0"/>
              <a:t>text classification</a:t>
            </a:r>
          </a:p>
          <a:p>
            <a:r>
              <a:rPr lang="en-US" sz="2400" dirty="0"/>
              <a:t>simple neural methods for NLP</a:t>
            </a:r>
          </a:p>
          <a:p>
            <a:r>
              <a:rPr lang="en-US" sz="2400" dirty="0"/>
              <a:t>language modeling and word </a:t>
            </a:r>
            <a:r>
              <a:rPr lang="en-US" sz="2400" dirty="0" err="1"/>
              <a:t>embeddings</a:t>
            </a:r>
            <a:endParaRPr lang="en-US" sz="2400" dirty="0"/>
          </a:p>
          <a:p>
            <a:r>
              <a:rPr lang="en-US" sz="2400" dirty="0"/>
              <a:t>recurrent/recursive/convolutional networks in NLP</a:t>
            </a:r>
          </a:p>
          <a:p>
            <a:r>
              <a:rPr lang="en-US" sz="2400" dirty="0"/>
              <a:t>sequence labeling, HMMs, dynamic programming</a:t>
            </a:r>
          </a:p>
          <a:p>
            <a:r>
              <a:rPr lang="en-US" sz="2400" dirty="0"/>
              <a:t>syntax and syntactic parsing</a:t>
            </a:r>
          </a:p>
          <a:p>
            <a:r>
              <a:rPr lang="en-US" sz="2400" dirty="0"/>
              <a:t>machine </a:t>
            </a:r>
            <a:r>
              <a:rPr lang="en-US" sz="2400" dirty="0" smtClean="0"/>
              <a:t>translation</a:t>
            </a:r>
          </a:p>
          <a:p>
            <a:r>
              <a:rPr lang="en-US" sz="2400" dirty="0" smtClean="0">
                <a:solidFill>
                  <a:srgbClr val="288CD2"/>
                </a:solidFill>
              </a:rPr>
              <a:t>semantics</a:t>
            </a:r>
            <a:endParaRPr lang="en-US" sz="2400" dirty="0">
              <a:solidFill>
                <a:srgbClr val="288CD2"/>
              </a:solidFill>
            </a:endParaRPr>
          </a:p>
        </p:txBody>
      </p:sp>
      <p:sp>
        <p:nvSpPr>
          <p:cNvPr id="4" name="Slide Number Placeholder 3"/>
          <p:cNvSpPr>
            <a:spLocks noGrp="1"/>
          </p:cNvSpPr>
          <p:nvPr>
            <p:ph type="sldNum" sz="quarter" idx="12"/>
          </p:nvPr>
        </p:nvSpPr>
        <p:spPr/>
        <p:txBody>
          <a:bodyPr/>
          <a:lstStyle/>
          <a:p>
            <a:fld id="{3CFF3AF9-2D61-8E40-AE3D-8390D801ED2C}" type="slidenum">
              <a:rPr lang="en-US" smtClean="0"/>
              <a:t>67</a:t>
            </a:fld>
            <a:endParaRPr lang="en-US"/>
          </a:p>
        </p:txBody>
      </p:sp>
    </p:spTree>
    <p:extLst>
      <p:ext uri="{BB962C8B-B14F-4D97-AF65-F5344CB8AC3E}">
        <p14:creationId xmlns:p14="http://schemas.microsoft.com/office/powerpoint/2010/main" val="12210409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Semantics</a:t>
            </a:r>
            <a:endParaRPr lang="en-US" dirty="0"/>
          </a:p>
        </p:txBody>
      </p:sp>
      <p:sp>
        <p:nvSpPr>
          <p:cNvPr id="3" name="Content Placeholder 2"/>
          <p:cNvSpPr>
            <a:spLocks noGrp="1"/>
          </p:cNvSpPr>
          <p:nvPr>
            <p:ph idx="1"/>
          </p:nvPr>
        </p:nvSpPr>
        <p:spPr/>
        <p:txBody>
          <a:bodyPr/>
          <a:lstStyle/>
          <a:p>
            <a:r>
              <a:rPr lang="en-US" dirty="0" smtClean="0"/>
              <a:t>we talked a lot about lexical semantics:</a:t>
            </a:r>
          </a:p>
          <a:p>
            <a:pPr lvl="1"/>
            <a:r>
              <a:rPr lang="en-US" dirty="0" smtClean="0"/>
              <a:t>word sense, </a:t>
            </a:r>
            <a:r>
              <a:rPr lang="en-US" dirty="0" err="1" smtClean="0"/>
              <a:t>WordNet</a:t>
            </a:r>
            <a:r>
              <a:rPr lang="en-US" dirty="0" smtClean="0"/>
              <a:t>, word </a:t>
            </a:r>
            <a:r>
              <a:rPr lang="en-US" dirty="0" err="1" smtClean="0"/>
              <a:t>embeddings</a:t>
            </a:r>
            <a:r>
              <a:rPr lang="en-US" dirty="0" smtClean="0"/>
              <a:t>/clusters</a:t>
            </a:r>
          </a:p>
          <a:p>
            <a:endParaRPr lang="en-US" dirty="0" smtClean="0"/>
          </a:p>
          <a:p>
            <a:r>
              <a:rPr lang="en-US" dirty="0" smtClean="0"/>
              <a:t>how about semantics beyond the word level?</a:t>
            </a:r>
          </a:p>
          <a:p>
            <a:endParaRPr lang="en-US" dirty="0"/>
          </a:p>
        </p:txBody>
      </p:sp>
    </p:spTree>
    <p:extLst>
      <p:ext uri="{BB962C8B-B14F-4D97-AF65-F5344CB8AC3E}">
        <p14:creationId xmlns:p14="http://schemas.microsoft.com/office/powerpoint/2010/main" val="283044738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Compositional Semantics</a:t>
            </a:r>
            <a:endParaRPr lang="en-US" dirty="0"/>
          </a:p>
        </p:txBody>
      </p:sp>
      <p:sp>
        <p:nvSpPr>
          <p:cNvPr id="3" name="Content Placeholder 2"/>
          <p:cNvSpPr>
            <a:spLocks noGrp="1"/>
          </p:cNvSpPr>
          <p:nvPr>
            <p:ph idx="1"/>
          </p:nvPr>
        </p:nvSpPr>
        <p:spPr/>
        <p:txBody>
          <a:bodyPr>
            <a:normAutofit/>
          </a:bodyPr>
          <a:lstStyle/>
          <a:p>
            <a:r>
              <a:rPr lang="en-US" dirty="0" smtClean="0"/>
              <a:t>“how should the meanings of words combine to create the meaning of something larger?”</a:t>
            </a:r>
          </a:p>
          <a:p>
            <a:r>
              <a:rPr lang="en-US" dirty="0" smtClean="0"/>
              <a:t>there’s currently a lot of work in producing vector representations of sentences and documents</a:t>
            </a:r>
          </a:p>
          <a:p>
            <a:r>
              <a:rPr lang="en-US" dirty="0" smtClean="0"/>
              <a:t>simplest case: how should two word vectors be combined to create a vector for a bigram?</a:t>
            </a:r>
          </a:p>
          <a:p>
            <a:r>
              <a:rPr lang="en-US" dirty="0" smtClean="0"/>
              <a:t>lots of work in this area in the neural era, but earlier work began ~2007</a:t>
            </a:r>
          </a:p>
        </p:txBody>
      </p:sp>
      <p:sp>
        <p:nvSpPr>
          <p:cNvPr id="4" name="Slide Number Placeholder 3"/>
          <p:cNvSpPr>
            <a:spLocks noGrp="1"/>
          </p:cNvSpPr>
          <p:nvPr>
            <p:ph type="sldNum" sz="quarter" idx="12"/>
          </p:nvPr>
        </p:nvSpPr>
        <p:spPr/>
        <p:txBody>
          <a:bodyPr/>
          <a:lstStyle/>
          <a:p>
            <a:fld id="{3CFF3AF9-2D61-8E40-AE3D-8390D801ED2C}" type="slidenum">
              <a:rPr lang="en-US" smtClean="0"/>
              <a:t>69</a:t>
            </a:fld>
            <a:endParaRPr lang="en-US"/>
          </a:p>
        </p:txBody>
      </p:sp>
    </p:spTree>
    <p:extLst>
      <p:ext uri="{BB962C8B-B14F-4D97-AF65-F5344CB8AC3E}">
        <p14:creationId xmlns:p14="http://schemas.microsoft.com/office/powerpoint/2010/main" val="916930757"/>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Evaluating Compositional Semantics</a:t>
            </a:r>
            <a:endParaRPr lang="en-US" dirty="0"/>
          </a:p>
        </p:txBody>
      </p:sp>
      <p:sp>
        <p:nvSpPr>
          <p:cNvPr id="3" name="Content Placeholder 2"/>
          <p:cNvSpPr>
            <a:spLocks noGrp="1"/>
          </p:cNvSpPr>
          <p:nvPr>
            <p:ph idx="1"/>
          </p:nvPr>
        </p:nvSpPr>
        <p:spPr>
          <a:xfrm>
            <a:off x="457200" y="1073740"/>
            <a:ext cx="8229600" cy="1710100"/>
          </a:xfrm>
        </p:spPr>
        <p:txBody>
          <a:bodyPr/>
          <a:lstStyle/>
          <a:p>
            <a:r>
              <a:rPr lang="en-US" dirty="0" smtClean="0"/>
              <a:t>compute similarity of two bigrams under your model, then compute correlation with human judgments:</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70</a:t>
            </a:fld>
            <a:endParaRPr lang="en-US"/>
          </a:p>
        </p:txBody>
      </p:sp>
      <p:sp>
        <p:nvSpPr>
          <p:cNvPr id="5" name="TextBox 4"/>
          <p:cNvSpPr txBox="1">
            <a:spLocks noChangeArrowheads="1"/>
          </p:cNvSpPr>
          <p:nvPr/>
        </p:nvSpPr>
        <p:spPr bwMode="auto">
          <a:xfrm>
            <a:off x="3157911" y="5218782"/>
            <a:ext cx="4624649" cy="492443"/>
          </a:xfrm>
          <a:prstGeom prst="rect">
            <a:avLst/>
          </a:prstGeom>
          <a:noFill/>
          <a:ln w="57150" cmpd="sng">
            <a:noFill/>
            <a:miter lim="800000"/>
            <a:headEnd/>
            <a:tailEnd/>
          </a:ln>
          <a:extLst/>
        </p:spPr>
        <p:txBody>
          <a:bodyPr wrap="square" lIns="91440" tIns="91440" rIns="91440" bIns="91440" anchor="ct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2000" i="0" dirty="0" smtClean="0">
                <a:solidFill>
                  <a:srgbClr val="0062AC"/>
                </a:solidFill>
                <a:latin typeface="Calibri"/>
                <a:cs typeface="Calibri"/>
              </a:rPr>
              <a:t>(Mitchell and </a:t>
            </a:r>
            <a:r>
              <a:rPr lang="en-US" sz="2000" i="0" dirty="0" err="1" smtClean="0">
                <a:solidFill>
                  <a:srgbClr val="0062AC"/>
                </a:solidFill>
                <a:latin typeface="Calibri"/>
                <a:cs typeface="Calibri"/>
              </a:rPr>
              <a:t>Lapata</a:t>
            </a:r>
            <a:r>
              <a:rPr lang="en-US" sz="2000" i="0" dirty="0" smtClean="0">
                <a:solidFill>
                  <a:srgbClr val="0062AC"/>
                </a:solidFill>
                <a:latin typeface="Calibri"/>
                <a:cs typeface="Calibri"/>
              </a:rPr>
              <a:t>, 2010)</a:t>
            </a:r>
          </a:p>
        </p:txBody>
      </p:sp>
      <p:graphicFrame>
        <p:nvGraphicFramePr>
          <p:cNvPr id="6" name="Table 5"/>
          <p:cNvGraphicFramePr>
            <a:graphicFrameLocks noGrp="1"/>
          </p:cNvGraphicFramePr>
          <p:nvPr>
            <p:extLst>
              <p:ext uri="{D42A27DB-BD31-4B8C-83A1-F6EECF244321}">
                <p14:modId xmlns:p14="http://schemas.microsoft.com/office/powerpoint/2010/main" val="1279945254"/>
              </p:ext>
            </p:extLst>
          </p:nvPr>
        </p:nvGraphicFramePr>
        <p:xfrm>
          <a:off x="404129" y="2859446"/>
          <a:ext cx="8335783" cy="2078160"/>
        </p:xfrm>
        <a:graphic>
          <a:graphicData uri="http://schemas.openxmlformats.org/drawingml/2006/table">
            <a:tbl>
              <a:tblPr firstRow="1" bandRow="1">
                <a:tableStyleId>{1FECB4D8-DB02-4DC6-A0A2-4F2EBAE1DC90}</a:tableStyleId>
              </a:tblPr>
              <a:tblGrid>
                <a:gridCol w="2778594"/>
                <a:gridCol w="2058913"/>
                <a:gridCol w="1708728"/>
                <a:gridCol w="1789548"/>
              </a:tblGrid>
              <a:tr h="523035">
                <a:tc>
                  <a:txBody>
                    <a:bodyPr/>
                    <a:lstStyle/>
                    <a:p>
                      <a:pPr algn="ctr"/>
                      <a:endParaRPr lang="en-US" sz="2000" b="0" dirty="0" smtClean="0">
                        <a:solidFill>
                          <a:schemeClr val="tx1"/>
                        </a:solidFill>
                        <a:latin typeface="Calibri"/>
                        <a:cs typeface="Calibri"/>
                      </a:endParaRPr>
                    </a:p>
                  </a:txBody>
                  <a:tcPr anchor="ctr">
                    <a:lnL w="1270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rgbClr r="0" g="0" b="0"/>
                      </a:solidFill>
                      <a:prstDash val="solid"/>
                      <a:round/>
                      <a:headEnd type="none" w="med" len="med"/>
                      <a:tailEnd type="none" w="med" len="med"/>
                    </a:lnB>
                    <a:noFill/>
                  </a:tcPr>
                </a:tc>
                <a:tc>
                  <a:txBody>
                    <a:bodyPr/>
                    <a:lstStyle/>
                    <a:p>
                      <a:pPr algn="ctr"/>
                      <a:endParaRPr lang="en-US" sz="2000" b="0" dirty="0" smtClean="0">
                        <a:solidFill>
                          <a:schemeClr val="tx1"/>
                        </a:solidFill>
                        <a:latin typeface="Calibri"/>
                        <a:cs typeface="Calibri"/>
                      </a:endParaRPr>
                    </a:p>
                  </a:txBody>
                  <a:tcPr anchor="ctr">
                    <a:lnL w="12700" cap="flat" cmpd="sng" algn="ctr">
                      <a:solidFill>
                        <a:srgbClr val="FFFFFF"/>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rgbClr r="0" g="0" b="0"/>
                      </a:solidFill>
                      <a:prstDash val="solid"/>
                      <a:round/>
                      <a:headEnd type="none" w="med" len="med"/>
                      <a:tailEnd type="none" w="med" len="med"/>
                    </a:lnB>
                    <a:noFill/>
                  </a:tcPr>
                </a:tc>
                <a:tc>
                  <a:txBody>
                    <a:bodyPr/>
                    <a:lstStyle/>
                    <a:p>
                      <a:pPr algn="ctr"/>
                      <a:r>
                        <a:rPr lang="en-US" sz="2400" b="0" dirty="0" smtClean="0">
                          <a:solidFill>
                            <a:schemeClr val="tx1"/>
                          </a:solidFill>
                          <a:latin typeface="Calibri"/>
                          <a:cs typeface="Calibri"/>
                        </a:rPr>
                        <a:t>BigramSim</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C5E0FF"/>
                    </a:solidFill>
                  </a:tcPr>
                </a:tc>
                <a:tc>
                  <a:txBody>
                    <a:bodyPr/>
                    <a:lstStyle/>
                    <a:p>
                      <a:pPr algn="ctr"/>
                      <a:r>
                        <a:rPr lang="en-US" sz="2400" b="0" dirty="0" smtClean="0">
                          <a:solidFill>
                            <a:schemeClr val="tx1"/>
                          </a:solidFill>
                          <a:latin typeface="Calibri"/>
                          <a:cs typeface="Calibri"/>
                        </a:rPr>
                        <a:t>BigramPara</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solidFill>
                      <a:srgbClr val="C5E0FF"/>
                    </a:solidFill>
                  </a:tcPr>
                </a:tc>
              </a:tr>
              <a:tr h="518375">
                <a:tc>
                  <a:txBody>
                    <a:bodyPr/>
                    <a:lstStyle/>
                    <a:p>
                      <a:pPr algn="ctr"/>
                      <a:r>
                        <a:rPr lang="en-US" sz="2000" b="0" dirty="0" smtClean="0">
                          <a:solidFill>
                            <a:schemeClr val="tx1"/>
                          </a:solidFill>
                          <a:latin typeface="Calibri"/>
                          <a:cs typeface="Calibri"/>
                        </a:rPr>
                        <a:t>television </a:t>
                      </a:r>
                      <a:r>
                        <a:rPr lang="en-US" sz="2000" b="0" dirty="0" err="1" smtClean="0">
                          <a:solidFill>
                            <a:schemeClr val="tx1"/>
                          </a:solidFill>
                          <a:latin typeface="Calibri"/>
                          <a:cs typeface="Calibri"/>
                        </a:rPr>
                        <a:t>programme</a:t>
                      </a:r>
                      <a:r>
                        <a:rPr lang="en-US" sz="2000" b="0" dirty="0" smtClean="0">
                          <a:solidFill>
                            <a:schemeClr val="tx1"/>
                          </a:solidFill>
                          <a:latin typeface="Calibri"/>
                          <a:cs typeface="Calibri"/>
                        </a:rPr>
                        <a:t> </a:t>
                      </a:r>
                    </a:p>
                  </a:txBody>
                  <a:tcPr anchor="ctr">
                    <a:lnL w="12700" cap="flat" cmpd="sng" algn="ctr">
                      <a:solidFill>
                        <a:scrgbClr r="0" g="0" b="0"/>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algn="ctr"/>
                      <a:r>
                        <a:rPr lang="en-US" sz="2000" b="0" dirty="0" err="1" smtClean="0">
                          <a:solidFill>
                            <a:schemeClr val="tx1"/>
                          </a:solidFill>
                          <a:latin typeface="Calibri"/>
                          <a:cs typeface="Calibri"/>
                        </a:rPr>
                        <a:t>tv</a:t>
                      </a:r>
                      <a:r>
                        <a:rPr lang="en-US" sz="2000" b="0" dirty="0" smtClean="0">
                          <a:solidFill>
                            <a:schemeClr val="tx1"/>
                          </a:solidFill>
                          <a:latin typeface="Calibri"/>
                          <a:cs typeface="Calibri"/>
                        </a:rPr>
                        <a:t> set</a:t>
                      </a:r>
                    </a:p>
                  </a:txBody>
                  <a:tcPr anchor="ctr">
                    <a:lnL w="12700" cap="flat" cmpd="sng" algn="ctr">
                      <a:solidFill>
                        <a:srgbClr val="FFFFFF"/>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algn="ctr"/>
                      <a:r>
                        <a:rPr lang="en-US" sz="2000" b="0" dirty="0" smtClean="0">
                          <a:solidFill>
                            <a:schemeClr val="tx1"/>
                          </a:solidFill>
                          <a:latin typeface="Calibri"/>
                          <a:cs typeface="Calibri"/>
                        </a:rPr>
                        <a:t>5.8</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algn="ctr"/>
                      <a:r>
                        <a:rPr lang="en-US" sz="2000" b="0" dirty="0" smtClean="0">
                          <a:solidFill>
                            <a:schemeClr val="tx1"/>
                          </a:solidFill>
                          <a:latin typeface="Calibri"/>
                          <a:cs typeface="Calibri"/>
                        </a:rPr>
                        <a:t>1.0</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r>
              <a:tr h="51837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smtClean="0">
                          <a:solidFill>
                            <a:schemeClr val="tx1"/>
                          </a:solidFill>
                          <a:latin typeface="Calibri"/>
                          <a:cs typeface="Calibri"/>
                        </a:rPr>
                        <a:t>training </a:t>
                      </a:r>
                      <a:r>
                        <a:rPr lang="en-US" sz="2000" b="0" dirty="0" err="1" smtClean="0">
                          <a:solidFill>
                            <a:schemeClr val="tx1"/>
                          </a:solidFill>
                          <a:latin typeface="Calibri"/>
                          <a:cs typeface="Calibri"/>
                        </a:rPr>
                        <a:t>programme</a:t>
                      </a:r>
                      <a:endParaRPr lang="en-US" sz="2000" b="0" dirty="0" smtClean="0">
                        <a:solidFill>
                          <a:schemeClr val="tx1"/>
                        </a:solidFill>
                        <a:latin typeface="Calibri"/>
                        <a:cs typeface="Calibri"/>
                      </a:endParaRPr>
                    </a:p>
                  </a:txBody>
                  <a:tcPr anchor="ctr">
                    <a:lnL w="12700" cap="flat" cmpd="sng" algn="ctr">
                      <a:solidFill>
                        <a:scrgbClr r="0" g="0" b="0"/>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b="0" dirty="0" smtClean="0">
                          <a:solidFill>
                            <a:schemeClr val="tx1"/>
                          </a:solidFill>
                          <a:latin typeface="Calibri"/>
                          <a:cs typeface="Calibri"/>
                        </a:rPr>
                        <a:t>education course</a:t>
                      </a:r>
                    </a:p>
                  </a:txBody>
                  <a:tcPr anchor="ctr">
                    <a:lnL w="12700" cap="flat" cmpd="sng" algn="ctr">
                      <a:solidFill>
                        <a:srgbClr val="FFFFFF"/>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algn="ctr"/>
                      <a:r>
                        <a:rPr lang="en-US" sz="2000" b="0" dirty="0" smtClean="0">
                          <a:solidFill>
                            <a:schemeClr val="tx1"/>
                          </a:solidFill>
                          <a:latin typeface="Calibri"/>
                          <a:cs typeface="Calibri"/>
                        </a:rPr>
                        <a:t>5.7</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c>
                  <a:txBody>
                    <a:bodyPr/>
                    <a:lstStyle/>
                    <a:p>
                      <a:pPr algn="ctr"/>
                      <a:r>
                        <a:rPr lang="en-US" sz="2000" b="0" dirty="0" smtClean="0">
                          <a:solidFill>
                            <a:schemeClr val="tx1"/>
                          </a:solidFill>
                          <a:latin typeface="Calibri"/>
                          <a:cs typeface="Calibri"/>
                        </a:rPr>
                        <a:t>5.0</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9050" cap="flat" cmpd="sng" algn="ctr">
                      <a:solidFill>
                        <a:scrgbClr r="0" g="0" b="0"/>
                      </a:solidFill>
                      <a:prstDash val="solid"/>
                      <a:round/>
                      <a:headEnd type="none" w="med" len="med"/>
                      <a:tailEnd type="none" w="med" len="med"/>
                    </a:lnB>
                  </a:tcPr>
                </a:tc>
              </a:tr>
              <a:tr h="518375">
                <a:tc>
                  <a:txBody>
                    <a:bodyPr/>
                    <a:lstStyle/>
                    <a:p>
                      <a:pPr algn="ctr"/>
                      <a:r>
                        <a:rPr lang="en-US" sz="2000" b="0" dirty="0" smtClean="0">
                          <a:solidFill>
                            <a:schemeClr val="tx1"/>
                          </a:solidFill>
                          <a:latin typeface="Calibri"/>
                          <a:cs typeface="Calibri"/>
                        </a:rPr>
                        <a:t>bedroom window</a:t>
                      </a:r>
                    </a:p>
                  </a:txBody>
                  <a:tcPr anchor="ctr">
                    <a:lnL w="12700" cap="flat" cmpd="sng" algn="ctr">
                      <a:solidFill>
                        <a:scrgbClr r="0" g="0" b="0"/>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crgbClr r="0" g="0" b="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0" dirty="0" smtClean="0">
                          <a:solidFill>
                            <a:schemeClr val="tx1"/>
                          </a:solidFill>
                          <a:latin typeface="Calibri"/>
                          <a:cs typeface="Calibri"/>
                        </a:rPr>
                        <a:t>education officer</a:t>
                      </a:r>
                    </a:p>
                  </a:txBody>
                  <a:tcPr anchor="ctr">
                    <a:lnL w="12700" cap="flat" cmpd="sng" algn="ctr">
                      <a:solidFill>
                        <a:srgbClr val="FFFFFF"/>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0" dirty="0" smtClean="0">
                          <a:solidFill>
                            <a:schemeClr val="tx1"/>
                          </a:solidFill>
                          <a:latin typeface="Calibri"/>
                          <a:cs typeface="Calibri"/>
                        </a:rPr>
                        <a:t>1.3</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n-US" sz="2000" b="0" dirty="0" smtClean="0">
                          <a:solidFill>
                            <a:schemeClr val="tx1"/>
                          </a:solidFill>
                          <a:latin typeface="Calibri"/>
                          <a:cs typeface="Calibri"/>
                        </a:rPr>
                        <a:t>1.0</a:t>
                      </a:r>
                    </a:p>
                  </a:txBody>
                  <a:tcPr anchor="ctr">
                    <a:lnL w="12700" cap="flat" cmpd="sng" algn="ctr">
                      <a:solidFill>
                        <a:scrgbClr r="0" g="0" b="0"/>
                      </a:solidFill>
                      <a:prstDash val="solid"/>
                      <a:round/>
                      <a:headEnd type="none" w="med" len="med"/>
                      <a:tailEnd type="none" w="med" len="med"/>
                    </a:lnL>
                    <a:lnR w="12700" cap="flat" cmpd="sng" algn="ctr">
                      <a:solidFill>
                        <a:scrgbClr r="0" g="0" b="0"/>
                      </a:solidFill>
                      <a:prstDash val="solid"/>
                      <a:round/>
                      <a:headEnd type="none" w="med" len="med"/>
                      <a:tailEnd type="none" w="med" len="med"/>
                    </a:lnR>
                    <a:lnT w="19050" cap="flat" cmpd="sng" algn="ctr">
                      <a:solidFill>
                        <a:scrgbClr r="0" g="0" b="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8" name="Rectangle 7"/>
          <p:cNvSpPr/>
          <p:nvPr/>
        </p:nvSpPr>
        <p:spPr>
          <a:xfrm>
            <a:off x="6961954" y="2715029"/>
            <a:ext cx="2008863" cy="2413000"/>
          </a:xfrm>
          <a:prstGeom prst="rect">
            <a:avLst/>
          </a:prstGeom>
          <a:solidFill>
            <a:schemeClr val="bg1"/>
          </a:solidFill>
          <a:ln>
            <a:noFill/>
          </a:ln>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smtClean="0">
              <a:ln>
                <a:noFill/>
              </a:ln>
              <a:solidFill>
                <a:schemeClr val="tx1"/>
              </a:solidFill>
              <a:effectLst/>
              <a:latin typeface="Times New Roman" pitchFamily="18" charset="0"/>
              <a:ea typeface="TIMES-ROMAN"/>
              <a:cs typeface="TIMES-ROMAN"/>
            </a:endParaRPr>
          </a:p>
        </p:txBody>
      </p:sp>
    </p:spTree>
    <p:extLst>
      <p:ext uri="{BB962C8B-B14F-4D97-AF65-F5344CB8AC3E}">
        <p14:creationId xmlns:p14="http://schemas.microsoft.com/office/powerpoint/2010/main" val="4115845632"/>
      </p:ext>
    </p:extLst>
  </p:cSld>
  <p:clrMapOvr>
    <a:masterClrMapping/>
  </p:clrMapOvr>
  <p:timing>
    <p:tnLst>
      <p:par>
        <p:cTn xmlns:p14="http://schemas.microsoft.com/office/powerpoint/2010/mai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71</a:t>
            </a:fld>
            <a:endParaRPr lang="en-US"/>
          </a:p>
        </p:txBody>
      </p:sp>
      <p:pic>
        <p:nvPicPr>
          <p:cNvPr id="5" name="Picture 4" descr="Screen Shot 2016-02-23 at 7.29.09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4700" y="0"/>
            <a:ext cx="7589150" cy="6858000"/>
          </a:xfrm>
          <a:prstGeom prst="rect">
            <a:avLst/>
          </a:prstGeom>
          <a:ln>
            <a:solidFill>
              <a:schemeClr val="tx1"/>
            </a:solidFill>
          </a:ln>
        </p:spPr>
      </p:pic>
    </p:spTree>
    <p:extLst>
      <p:ext uri="{BB962C8B-B14F-4D97-AF65-F5344CB8AC3E}">
        <p14:creationId xmlns:p14="http://schemas.microsoft.com/office/powerpoint/2010/main" val="2018039656"/>
      </p:ext>
    </p:extLst>
  </p:cSld>
  <p:clrMapOvr>
    <a:masterClrMapping/>
  </p:clrMapOvr>
  <p:timing>
    <p:tnLst>
      <p:par>
        <p:cTn xmlns:p14="http://schemas.microsoft.com/office/powerpoint/2010/mai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Bigram Composition Functions</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72</a:t>
            </a:fld>
            <a:endParaRPr lang="en-US"/>
          </a:p>
        </p:txBody>
      </p:sp>
      <p:pic>
        <p:nvPicPr>
          <p:cNvPr id="5" name="Picture 4" descr="Screen Shot 2016-02-23 at 7.31.41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 y="1001437"/>
            <a:ext cx="7945120" cy="5710834"/>
          </a:xfrm>
          <a:prstGeom prst="rect">
            <a:avLst/>
          </a:prstGeom>
          <a:ln>
            <a:solidFill>
              <a:srgbClr val="000000"/>
            </a:solidFill>
          </a:ln>
        </p:spPr>
      </p:pic>
    </p:spTree>
    <p:extLst>
      <p:ext uri="{BB962C8B-B14F-4D97-AF65-F5344CB8AC3E}">
        <p14:creationId xmlns:p14="http://schemas.microsoft.com/office/powerpoint/2010/main" val="958323846"/>
      </p:ext>
    </p:extLst>
  </p:cSld>
  <p:clrMapOvr>
    <a:masterClrMapping/>
  </p:clrMapOvr>
  <p:timing>
    <p:tnLst>
      <p:par>
        <p:cTn xmlns:p14="http://schemas.microsoft.com/office/powerpoint/2010/mai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26831"/>
          </a:xfrm>
        </p:spPr>
        <p:txBody>
          <a:bodyPr>
            <a:normAutofit fontScale="90000"/>
          </a:bodyPr>
          <a:lstStyle/>
          <a:p>
            <a:r>
              <a:rPr lang="en-US" dirty="0" smtClean="0"/>
              <a:t>Bigram Similarity Results</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73</a:t>
            </a:fld>
            <a:endParaRPr lang="en-US"/>
          </a:p>
        </p:txBody>
      </p:sp>
      <p:pic>
        <p:nvPicPr>
          <p:cNvPr id="3" name="Picture 2" descr="Screen Shot 2016-02-23 at 7.33.10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620" y="726831"/>
            <a:ext cx="8787660" cy="5823246"/>
          </a:xfrm>
          <a:prstGeom prst="rect">
            <a:avLst/>
          </a:prstGeom>
          <a:ln>
            <a:solidFill>
              <a:srgbClr val="000000"/>
            </a:solidFill>
          </a:ln>
        </p:spPr>
      </p:pic>
    </p:spTree>
    <p:extLst>
      <p:ext uri="{BB962C8B-B14F-4D97-AF65-F5344CB8AC3E}">
        <p14:creationId xmlns:p14="http://schemas.microsoft.com/office/powerpoint/2010/main" val="1034695159"/>
      </p:ext>
    </p:extLst>
  </p:cSld>
  <p:clrMapOvr>
    <a:masterClrMapping/>
  </p:clrMapOvr>
  <p:timing>
    <p:tnLst>
      <p:par>
        <p:cTn xmlns:p14="http://schemas.microsoft.com/office/powerpoint/2010/mai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does multiplication work?</a:t>
            </a:r>
            <a:endParaRPr lang="en-US" dirty="0"/>
          </a:p>
        </p:txBody>
      </p:sp>
      <p:sp>
        <p:nvSpPr>
          <p:cNvPr id="3" name="Content Placeholder 2"/>
          <p:cNvSpPr>
            <a:spLocks noGrp="1"/>
          </p:cNvSpPr>
          <p:nvPr>
            <p:ph idx="1"/>
          </p:nvPr>
        </p:nvSpPr>
        <p:spPr/>
        <p:txBody>
          <a:bodyPr/>
          <a:lstStyle/>
          <a:p>
            <a:r>
              <a:rPr lang="en-US" dirty="0" smtClean="0"/>
              <a:t>these vectors are built from co-occurrence counts (like in the first part of Assignment 1)</a:t>
            </a:r>
          </a:p>
          <a:p>
            <a:r>
              <a:rPr lang="en-US" dirty="0" smtClean="0"/>
              <a:t>so element-wise multiplication is like performing an AND operation on context counts</a:t>
            </a:r>
          </a:p>
          <a:p>
            <a:endParaRPr lang="en-US" dirty="0"/>
          </a:p>
          <a:p>
            <a:r>
              <a:rPr lang="en-US" dirty="0" smtClean="0"/>
              <a:t>when using skip-gram word vectors (or other neural network-derived vectors), addition often works better</a:t>
            </a:r>
          </a:p>
        </p:txBody>
      </p:sp>
      <p:sp>
        <p:nvSpPr>
          <p:cNvPr id="4" name="Slide Number Placeholder 3"/>
          <p:cNvSpPr>
            <a:spLocks noGrp="1"/>
          </p:cNvSpPr>
          <p:nvPr>
            <p:ph type="sldNum" sz="quarter" idx="12"/>
          </p:nvPr>
        </p:nvSpPr>
        <p:spPr/>
        <p:txBody>
          <a:bodyPr/>
          <a:lstStyle/>
          <a:p>
            <a:fld id="{3CFF3AF9-2D61-8E40-AE3D-8390D801ED2C}" type="slidenum">
              <a:rPr lang="en-US" smtClean="0"/>
              <a:t>74</a:t>
            </a:fld>
            <a:endParaRPr lang="en-US"/>
          </a:p>
        </p:txBody>
      </p:sp>
    </p:spTree>
    <p:extLst>
      <p:ext uri="{BB962C8B-B14F-4D97-AF65-F5344CB8AC3E}">
        <p14:creationId xmlns:p14="http://schemas.microsoft.com/office/powerpoint/2010/main" val="3116081693"/>
      </p:ext>
    </p:extLst>
  </p:cSld>
  <p:clrMapOvr>
    <a:masterClrMapping/>
  </p:clrMapOvr>
  <p:timing>
    <p:tnLst>
      <p:par>
        <p:cTn xmlns:p14="http://schemas.microsoft.com/office/powerpoint/2010/mai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75</a:t>
            </a:fld>
            <a:endParaRPr lang="en-US"/>
          </a:p>
        </p:txBody>
      </p:sp>
      <p:pic>
        <p:nvPicPr>
          <p:cNvPr id="5" name="Picture 4" descr="Screen Shot 2016-02-23 at 8.04.53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40" y="396579"/>
            <a:ext cx="7871249" cy="5959771"/>
          </a:xfrm>
          <a:prstGeom prst="rect">
            <a:avLst/>
          </a:prstGeom>
          <a:ln>
            <a:solidFill>
              <a:srgbClr val="000000"/>
            </a:solidFill>
          </a:ln>
        </p:spPr>
      </p:pic>
    </p:spTree>
    <p:extLst>
      <p:ext uri="{BB962C8B-B14F-4D97-AF65-F5344CB8AC3E}">
        <p14:creationId xmlns:p14="http://schemas.microsoft.com/office/powerpoint/2010/main" val="1953037787"/>
      </p:ext>
    </p:extLst>
  </p:cSld>
  <p:clrMapOvr>
    <a:masterClrMapping/>
  </p:clrMapOvr>
  <p:timing>
    <p:tnLst>
      <p:par>
        <p:cTn xmlns:p14="http://schemas.microsoft.com/office/powerpoint/2010/mai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71399"/>
            <a:ext cx="8229600" cy="549962"/>
          </a:xfrm>
        </p:spPr>
        <p:txBody>
          <a:bodyPr>
            <a:normAutofit fontScale="90000"/>
          </a:bodyPr>
          <a:lstStyle/>
          <a:p>
            <a:r>
              <a:rPr lang="en-US" dirty="0" smtClean="0"/>
              <a:t>Results</a:t>
            </a:r>
            <a:endParaRPr lang="en-US" dirty="0"/>
          </a:p>
        </p:txBody>
      </p:sp>
      <p:sp>
        <p:nvSpPr>
          <p:cNvPr id="3" name="Content Placeholder 2"/>
          <p:cNvSpPr>
            <a:spLocks noGrp="1"/>
          </p:cNvSpPr>
          <p:nvPr>
            <p:ph idx="1"/>
          </p:nvPr>
        </p:nvSpPr>
        <p:spPr>
          <a:xfrm>
            <a:off x="6410960" y="918120"/>
            <a:ext cx="2733040" cy="3156040"/>
          </a:xfrm>
        </p:spPr>
        <p:txBody>
          <a:bodyPr>
            <a:normAutofit fontScale="92500"/>
          </a:bodyPr>
          <a:lstStyle/>
          <a:p>
            <a:pPr marL="0" indent="0">
              <a:buNone/>
            </a:pPr>
            <a:r>
              <a:rPr lang="en-US" dirty="0" smtClean="0"/>
              <a:t>SDS = simple distributional semantic</a:t>
            </a:r>
          </a:p>
          <a:p>
            <a:pPr marL="0" indent="0">
              <a:buNone/>
            </a:pPr>
            <a:endParaRPr lang="en-US" dirty="0" smtClean="0"/>
          </a:p>
          <a:p>
            <a:pPr marL="0" indent="0">
              <a:buNone/>
            </a:pPr>
            <a:r>
              <a:rPr lang="en-US" dirty="0" smtClean="0"/>
              <a:t>NLM = neural language model</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76</a:t>
            </a:fld>
            <a:endParaRPr lang="en-US"/>
          </a:p>
        </p:txBody>
      </p:sp>
      <p:pic>
        <p:nvPicPr>
          <p:cNvPr id="5" name="Picture 4" descr="Screen Shot 2016-02-23 at 8.06.13 AM.png"/>
          <p:cNvPicPr>
            <a:picLocks noChangeAspect="1"/>
          </p:cNvPicPr>
          <p:nvPr/>
        </p:nvPicPr>
        <p:blipFill rotWithShape="1">
          <a:blip r:embed="rId2">
            <a:extLst>
              <a:ext uri="{28A0092B-C50C-407E-A947-70E740481C1C}">
                <a14:useLocalDpi xmlns:a14="http://schemas.microsoft.com/office/drawing/2010/main" val="0"/>
              </a:ext>
            </a:extLst>
          </a:blip>
          <a:srcRect t="46252"/>
          <a:stretch/>
        </p:blipFill>
        <p:spPr>
          <a:xfrm>
            <a:off x="223520" y="2506300"/>
            <a:ext cx="5906728" cy="3108960"/>
          </a:xfrm>
          <a:prstGeom prst="rect">
            <a:avLst/>
          </a:prstGeom>
          <a:ln>
            <a:solidFill>
              <a:srgbClr val="000000"/>
            </a:solidFill>
          </a:ln>
        </p:spPr>
      </p:pic>
      <p:pic>
        <p:nvPicPr>
          <p:cNvPr id="6" name="Picture 5" descr="Screen Shot 2016-02-23 at 8.06.13 AM.png"/>
          <p:cNvPicPr>
            <a:picLocks noChangeAspect="1"/>
          </p:cNvPicPr>
          <p:nvPr/>
        </p:nvPicPr>
        <p:blipFill rotWithShape="1">
          <a:blip r:embed="rId2">
            <a:extLst>
              <a:ext uri="{28A0092B-C50C-407E-A947-70E740481C1C}">
                <a14:useLocalDpi xmlns:a14="http://schemas.microsoft.com/office/drawing/2010/main" val="0"/>
              </a:ext>
            </a:extLst>
          </a:blip>
          <a:srcRect b="72543"/>
          <a:stretch/>
        </p:blipFill>
        <p:spPr>
          <a:xfrm>
            <a:off x="223520" y="918120"/>
            <a:ext cx="5906728" cy="1588180"/>
          </a:xfrm>
          <a:prstGeom prst="rect">
            <a:avLst/>
          </a:prstGeom>
          <a:ln>
            <a:solidFill>
              <a:srgbClr val="000000"/>
            </a:solidFill>
          </a:ln>
        </p:spPr>
      </p:pic>
      <p:sp>
        <p:nvSpPr>
          <p:cNvPr id="7" name="Donut 6"/>
          <p:cNvSpPr/>
          <p:nvPr/>
        </p:nvSpPr>
        <p:spPr>
          <a:xfrm>
            <a:off x="2997200" y="1229360"/>
            <a:ext cx="3352800" cy="995680"/>
          </a:xfrm>
          <a:prstGeom prst="donut">
            <a:avLst>
              <a:gd name="adj" fmla="val 753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8" name="Donut 7"/>
          <p:cNvSpPr/>
          <p:nvPr/>
        </p:nvSpPr>
        <p:spPr>
          <a:xfrm>
            <a:off x="2987040" y="2346960"/>
            <a:ext cx="3352800" cy="995680"/>
          </a:xfrm>
          <a:prstGeom prst="donut">
            <a:avLst>
              <a:gd name="adj" fmla="val 7536"/>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54307454"/>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r>
              <a:rPr lang="en-US" dirty="0" smtClean="0"/>
              <a:t>currently there is a lot of work on designing functional architectures for bigram, phrase, and sentence similarity</a:t>
            </a:r>
          </a:p>
          <a:p>
            <a:pPr lvl="1"/>
            <a:r>
              <a:rPr lang="en-US" dirty="0" smtClean="0"/>
              <a:t>e.g., word averaging, recurrent neural networks, LSTMs, recursive neural networks, etc.</a:t>
            </a:r>
          </a:p>
          <a:p>
            <a:r>
              <a:rPr lang="en-US" dirty="0" smtClean="0"/>
              <a:t>our recent results find that, for sentence similarity, word averaging is a surprisingly strong baseline</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77</a:t>
            </a:fld>
            <a:endParaRPr lang="en-US"/>
          </a:p>
        </p:txBody>
      </p:sp>
    </p:spTree>
    <p:extLst>
      <p:ext uri="{BB962C8B-B14F-4D97-AF65-F5344CB8AC3E}">
        <p14:creationId xmlns:p14="http://schemas.microsoft.com/office/powerpoint/2010/main" val="3283436727"/>
      </p:ext>
    </p:extLst>
  </p:cSld>
  <p:clrMapOvr>
    <a:masterClrMapping/>
  </p:clrMapOvr>
  <p:timing>
    <p:tnLst>
      <p:par>
        <p:cTn xmlns:p14="http://schemas.microsoft.com/office/powerpoint/2010/mai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78</a:t>
            </a:fld>
            <a:endParaRPr lang="en-US"/>
          </a:p>
        </p:txBody>
      </p:sp>
      <p:pic>
        <p:nvPicPr>
          <p:cNvPr id="5" name="Picture 4" descr="Screen Shot 2016-02-23 at 8.30.30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680" y="243840"/>
            <a:ext cx="8686800" cy="2449423"/>
          </a:xfrm>
          <a:prstGeom prst="rect">
            <a:avLst/>
          </a:prstGeom>
          <a:ln>
            <a:solidFill>
              <a:srgbClr val="000000"/>
            </a:solidFill>
          </a:ln>
        </p:spPr>
      </p:pic>
      <p:pic>
        <p:nvPicPr>
          <p:cNvPr id="7" name="Picture 6" descr="Screen Shot 2016-02-23 at 8.31.18 AM.png"/>
          <p:cNvPicPr>
            <a:picLocks noChangeAspect="1"/>
          </p:cNvPicPr>
          <p:nvPr/>
        </p:nvPicPr>
        <p:blipFill rotWithShape="1">
          <a:blip r:embed="rId3">
            <a:extLst>
              <a:ext uri="{28A0092B-C50C-407E-A947-70E740481C1C}">
                <a14:useLocalDpi xmlns:a14="http://schemas.microsoft.com/office/drawing/2010/main" val="0"/>
              </a:ext>
            </a:extLst>
          </a:blip>
          <a:srcRect r="76222"/>
          <a:stretch/>
        </p:blipFill>
        <p:spPr>
          <a:xfrm>
            <a:off x="2306320" y="2806700"/>
            <a:ext cx="2174240" cy="2960399"/>
          </a:xfrm>
          <a:prstGeom prst="rect">
            <a:avLst/>
          </a:prstGeom>
        </p:spPr>
      </p:pic>
      <p:pic>
        <p:nvPicPr>
          <p:cNvPr id="8" name="Picture 7" descr="Screen Shot 2016-02-23 at 8.31.18 AM.png"/>
          <p:cNvPicPr>
            <a:picLocks noChangeAspect="1"/>
          </p:cNvPicPr>
          <p:nvPr/>
        </p:nvPicPr>
        <p:blipFill rotWithShape="1">
          <a:blip r:embed="rId3">
            <a:extLst>
              <a:ext uri="{28A0092B-C50C-407E-A947-70E740481C1C}">
                <a14:useLocalDpi xmlns:a14="http://schemas.microsoft.com/office/drawing/2010/main" val="0"/>
              </a:ext>
            </a:extLst>
          </a:blip>
          <a:srcRect l="48667" r="25889"/>
          <a:stretch/>
        </p:blipFill>
        <p:spPr>
          <a:xfrm>
            <a:off x="4480560" y="2806700"/>
            <a:ext cx="2326640" cy="2960399"/>
          </a:xfrm>
          <a:prstGeom prst="rect">
            <a:avLst/>
          </a:prstGeom>
        </p:spPr>
      </p:pic>
      <p:sp>
        <p:nvSpPr>
          <p:cNvPr id="9" name="TextBox 8"/>
          <p:cNvSpPr txBox="1"/>
          <p:nvPr/>
        </p:nvSpPr>
        <p:spPr>
          <a:xfrm>
            <a:off x="1361440" y="5904845"/>
            <a:ext cx="6286547" cy="461665"/>
          </a:xfrm>
          <a:prstGeom prst="rect">
            <a:avLst/>
          </a:prstGeom>
          <a:noFill/>
        </p:spPr>
        <p:txBody>
          <a:bodyPr wrap="none" rtlCol="0">
            <a:spAutoFit/>
          </a:bodyPr>
          <a:lstStyle/>
          <a:p>
            <a:r>
              <a:rPr lang="en-US" sz="2400" b="1" dirty="0" smtClean="0">
                <a:solidFill>
                  <a:srgbClr val="288CD2"/>
                </a:solidFill>
              </a:rPr>
              <a:t>on similar data to training data, LSTM does best</a:t>
            </a:r>
            <a:endParaRPr lang="en-US" sz="2400" b="1" dirty="0">
              <a:solidFill>
                <a:srgbClr val="288CD2"/>
              </a:solidFill>
            </a:endParaRPr>
          </a:p>
        </p:txBody>
      </p:sp>
    </p:spTree>
    <p:extLst>
      <p:ext uri="{BB962C8B-B14F-4D97-AF65-F5344CB8AC3E}">
        <p14:creationId xmlns:p14="http://schemas.microsoft.com/office/powerpoint/2010/main" val="3393118020"/>
      </p:ext>
    </p:extLst>
  </p:cSld>
  <p:clrMapOvr>
    <a:masterClrMapping/>
  </p:clrMapOvr>
  <p:timing>
    <p:tnLst>
      <p:par>
        <p:cTn xmlns:p14="http://schemas.microsoft.com/office/powerpoint/2010/mai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CFF3AF9-2D61-8E40-AE3D-8390D801ED2C}" type="slidenum">
              <a:rPr lang="en-US" smtClean="0"/>
              <a:t>79</a:t>
            </a:fld>
            <a:endParaRPr lang="en-US"/>
          </a:p>
        </p:txBody>
      </p:sp>
      <p:pic>
        <p:nvPicPr>
          <p:cNvPr id="2" name="Picture 1" descr="Screen Shot 2016-02-23 at 8.33.06 AM.png"/>
          <p:cNvPicPr>
            <a:picLocks noChangeAspect="1"/>
          </p:cNvPicPr>
          <p:nvPr/>
        </p:nvPicPr>
        <p:blipFill rotWithShape="1">
          <a:blip r:embed="rId2">
            <a:extLst>
              <a:ext uri="{28A0092B-C50C-407E-A947-70E740481C1C}">
                <a14:useLocalDpi xmlns:a14="http://schemas.microsoft.com/office/drawing/2010/main" val="0"/>
              </a:ext>
            </a:extLst>
          </a:blip>
          <a:srcRect b="91956"/>
          <a:stretch/>
        </p:blipFill>
        <p:spPr>
          <a:xfrm>
            <a:off x="0" y="1493521"/>
            <a:ext cx="9144000" cy="457200"/>
          </a:xfrm>
          <a:prstGeom prst="rect">
            <a:avLst/>
          </a:prstGeom>
        </p:spPr>
      </p:pic>
      <p:pic>
        <p:nvPicPr>
          <p:cNvPr id="9" name="Picture 8" descr="Screen Shot 2016-02-23 at 8.33.06 AM.png"/>
          <p:cNvPicPr>
            <a:picLocks noChangeAspect="1"/>
          </p:cNvPicPr>
          <p:nvPr/>
        </p:nvPicPr>
        <p:blipFill rotWithShape="1">
          <a:blip r:embed="rId2">
            <a:extLst>
              <a:ext uri="{28A0092B-C50C-407E-A947-70E740481C1C}">
                <a14:useLocalDpi xmlns:a14="http://schemas.microsoft.com/office/drawing/2010/main" val="0"/>
              </a:ext>
            </a:extLst>
          </a:blip>
          <a:srcRect t="25204" b="70864"/>
          <a:stretch/>
        </p:blipFill>
        <p:spPr>
          <a:xfrm>
            <a:off x="0" y="1950721"/>
            <a:ext cx="9144000" cy="223519"/>
          </a:xfrm>
          <a:prstGeom prst="rect">
            <a:avLst/>
          </a:prstGeom>
        </p:spPr>
      </p:pic>
      <p:pic>
        <p:nvPicPr>
          <p:cNvPr id="10" name="Picture 9" descr="Screen Shot 2016-02-23 at 8.33.06 AM.png"/>
          <p:cNvPicPr>
            <a:picLocks noChangeAspect="1"/>
          </p:cNvPicPr>
          <p:nvPr/>
        </p:nvPicPr>
        <p:blipFill rotWithShape="1">
          <a:blip r:embed="rId2">
            <a:extLst>
              <a:ext uri="{28A0092B-C50C-407E-A947-70E740481C1C}">
                <a14:useLocalDpi xmlns:a14="http://schemas.microsoft.com/office/drawing/2010/main" val="0"/>
              </a:ext>
            </a:extLst>
          </a:blip>
          <a:srcRect t="42900" b="53525"/>
          <a:stretch/>
        </p:blipFill>
        <p:spPr>
          <a:xfrm>
            <a:off x="0" y="2174241"/>
            <a:ext cx="9144000" cy="203200"/>
          </a:xfrm>
          <a:prstGeom prst="rect">
            <a:avLst/>
          </a:prstGeom>
        </p:spPr>
      </p:pic>
      <p:pic>
        <p:nvPicPr>
          <p:cNvPr id="11" name="Picture 10" descr="Screen Shot 2016-02-23 at 8.33.06 AM.png"/>
          <p:cNvPicPr>
            <a:picLocks noChangeAspect="1"/>
          </p:cNvPicPr>
          <p:nvPr/>
        </p:nvPicPr>
        <p:blipFill rotWithShape="1">
          <a:blip r:embed="rId2">
            <a:extLst>
              <a:ext uri="{28A0092B-C50C-407E-A947-70E740481C1C}">
                <a14:useLocalDpi xmlns:a14="http://schemas.microsoft.com/office/drawing/2010/main" val="0"/>
              </a:ext>
            </a:extLst>
          </a:blip>
          <a:srcRect t="67209" b="29216"/>
          <a:stretch/>
        </p:blipFill>
        <p:spPr>
          <a:xfrm>
            <a:off x="0" y="2377441"/>
            <a:ext cx="9144000" cy="203199"/>
          </a:xfrm>
          <a:prstGeom prst="rect">
            <a:avLst/>
          </a:prstGeom>
        </p:spPr>
      </p:pic>
      <p:pic>
        <p:nvPicPr>
          <p:cNvPr id="12" name="Picture 11" descr="Screen Shot 2016-02-23 at 8.33.06 AM.png"/>
          <p:cNvPicPr>
            <a:picLocks noChangeAspect="1"/>
          </p:cNvPicPr>
          <p:nvPr/>
        </p:nvPicPr>
        <p:blipFill rotWithShape="1">
          <a:blip r:embed="rId2">
            <a:extLst>
              <a:ext uri="{28A0092B-C50C-407E-A947-70E740481C1C}">
                <a14:useLocalDpi xmlns:a14="http://schemas.microsoft.com/office/drawing/2010/main" val="0"/>
              </a:ext>
            </a:extLst>
          </a:blip>
          <a:srcRect t="88122" b="2"/>
          <a:stretch/>
        </p:blipFill>
        <p:spPr>
          <a:xfrm>
            <a:off x="0" y="2580640"/>
            <a:ext cx="9144000" cy="675014"/>
          </a:xfrm>
          <a:prstGeom prst="rect">
            <a:avLst/>
          </a:prstGeom>
        </p:spPr>
      </p:pic>
      <p:sp>
        <p:nvSpPr>
          <p:cNvPr id="3" name="TextBox 2"/>
          <p:cNvSpPr txBox="1"/>
          <p:nvPr/>
        </p:nvSpPr>
        <p:spPr>
          <a:xfrm>
            <a:off x="2885440" y="294640"/>
            <a:ext cx="1096950" cy="646331"/>
          </a:xfrm>
          <a:prstGeom prst="rect">
            <a:avLst/>
          </a:prstGeom>
          <a:noFill/>
        </p:spPr>
        <p:txBody>
          <a:bodyPr wrap="none" rtlCol="0">
            <a:spAutoFit/>
          </a:bodyPr>
          <a:lstStyle/>
          <a:p>
            <a:pPr algn="ctr"/>
            <a:r>
              <a:rPr lang="en-US" dirty="0" smtClean="0"/>
              <a:t>word</a:t>
            </a:r>
          </a:p>
          <a:p>
            <a:pPr algn="ctr"/>
            <a:r>
              <a:rPr lang="en-US" dirty="0" smtClean="0"/>
              <a:t>averaging</a:t>
            </a:r>
            <a:endParaRPr lang="en-US" dirty="0"/>
          </a:p>
        </p:txBody>
      </p:sp>
      <p:cxnSp>
        <p:nvCxnSpPr>
          <p:cNvPr id="13" name="Straight Arrow Connector 12"/>
          <p:cNvCxnSpPr>
            <a:stCxn id="3" idx="2"/>
          </p:cNvCxnSpPr>
          <p:nvPr/>
        </p:nvCxnSpPr>
        <p:spPr>
          <a:xfrm>
            <a:off x="3433915" y="940971"/>
            <a:ext cx="20485" cy="55255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43622" y="138331"/>
            <a:ext cx="1428596" cy="923330"/>
          </a:xfrm>
          <a:prstGeom prst="rect">
            <a:avLst/>
          </a:prstGeom>
          <a:noFill/>
        </p:spPr>
        <p:txBody>
          <a:bodyPr wrap="none" rtlCol="0">
            <a:spAutoFit/>
          </a:bodyPr>
          <a:lstStyle/>
          <a:p>
            <a:pPr algn="ctr"/>
            <a:r>
              <a:rPr lang="en-US" dirty="0" smtClean="0"/>
              <a:t>adding layers </a:t>
            </a:r>
          </a:p>
          <a:p>
            <a:pPr algn="ctr"/>
            <a:r>
              <a:rPr lang="en-US" dirty="0" smtClean="0"/>
              <a:t>to word</a:t>
            </a:r>
          </a:p>
          <a:p>
            <a:pPr algn="ctr"/>
            <a:r>
              <a:rPr lang="en-US" dirty="0" smtClean="0"/>
              <a:t>averaging</a:t>
            </a:r>
            <a:endParaRPr lang="en-US" dirty="0"/>
          </a:p>
        </p:txBody>
      </p:sp>
      <p:cxnSp>
        <p:nvCxnSpPr>
          <p:cNvPr id="15" name="Straight Arrow Connector 14"/>
          <p:cNvCxnSpPr>
            <a:stCxn id="14" idx="2"/>
            <a:endCxn id="2" idx="0"/>
          </p:cNvCxnSpPr>
          <p:nvPr/>
        </p:nvCxnSpPr>
        <p:spPr>
          <a:xfrm flipH="1">
            <a:off x="4572000" y="1061661"/>
            <a:ext cx="385920" cy="4318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stCxn id="14" idx="2"/>
          </p:cNvCxnSpPr>
          <p:nvPr/>
        </p:nvCxnSpPr>
        <p:spPr>
          <a:xfrm>
            <a:off x="4957920" y="1061661"/>
            <a:ext cx="183040" cy="4318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717040" y="3868379"/>
            <a:ext cx="5215190" cy="830997"/>
          </a:xfrm>
          <a:prstGeom prst="rect">
            <a:avLst/>
          </a:prstGeom>
          <a:noFill/>
        </p:spPr>
        <p:txBody>
          <a:bodyPr wrap="none" rtlCol="0">
            <a:spAutoFit/>
          </a:bodyPr>
          <a:lstStyle/>
          <a:p>
            <a:pPr algn="ctr"/>
            <a:r>
              <a:rPr lang="en-US" sz="2400" b="1" dirty="0" smtClean="0">
                <a:solidFill>
                  <a:srgbClr val="288CD2"/>
                </a:solidFill>
              </a:rPr>
              <a:t>but when evaluating on other datasets, </a:t>
            </a:r>
          </a:p>
          <a:p>
            <a:pPr algn="ctr"/>
            <a:r>
              <a:rPr lang="en-US" sz="2400" b="1" dirty="0" smtClean="0">
                <a:solidFill>
                  <a:srgbClr val="288CD2"/>
                </a:solidFill>
              </a:rPr>
              <a:t>word averaging models do best!</a:t>
            </a:r>
            <a:endParaRPr lang="en-US" sz="2400" b="1" dirty="0">
              <a:solidFill>
                <a:srgbClr val="288CD2"/>
              </a:solidFill>
            </a:endParaRPr>
          </a:p>
        </p:txBody>
      </p:sp>
    </p:spTree>
    <p:extLst>
      <p:ext uri="{BB962C8B-B14F-4D97-AF65-F5344CB8AC3E}">
        <p14:creationId xmlns:p14="http://schemas.microsoft.com/office/powerpoint/2010/main" val="3961053620"/>
      </p:ext>
    </p:extLst>
  </p:cSld>
  <p:clrMapOvr>
    <a:masterClrMapping/>
  </p:clrMapOvr>
  <p:timing>
    <p:tnLst>
      <p:par>
        <p:cTn xmlns:p14="http://schemas.microsoft.com/office/powerpoint/2010/mai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07836"/>
            <a:ext cx="8534400" cy="685800"/>
          </a:xfrm>
        </p:spPr>
        <p:txBody>
          <a:bodyPr>
            <a:normAutofit/>
          </a:bodyPr>
          <a:lstStyle/>
          <a:p>
            <a:pPr algn="r"/>
            <a:r>
              <a:rPr lang="en-US" sz="3600" i="1" dirty="0" smtClean="0"/>
              <a:t>--Ray Mooney</a:t>
            </a:r>
            <a:endParaRPr lang="en-US" sz="3600" i="1" dirty="0"/>
          </a:p>
        </p:txBody>
      </p:sp>
      <p:sp>
        <p:nvSpPr>
          <p:cNvPr id="4" name="Slide Number Placeholder 3"/>
          <p:cNvSpPr>
            <a:spLocks noGrp="1"/>
          </p:cNvSpPr>
          <p:nvPr>
            <p:ph type="sldNum" sz="quarter" idx="11"/>
          </p:nvPr>
        </p:nvSpPr>
        <p:spPr/>
        <p:txBody>
          <a:bodyPr/>
          <a:lstStyle/>
          <a:p>
            <a:fld id="{33F820A7-D46B-46D8-A3CF-66A8CEAA457D}" type="slidenum">
              <a:rPr lang="en-US" smtClean="0"/>
              <a:pPr/>
              <a:t>80</a:t>
            </a:fld>
            <a:endParaRPr lang="en-US"/>
          </a:p>
        </p:txBody>
      </p:sp>
      <p:pic>
        <p:nvPicPr>
          <p:cNvPr id="6" name="Picture 5" descr="Screen Shot 2015-03-15 at 7.47.4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909" y="431801"/>
            <a:ext cx="7677727" cy="1182814"/>
          </a:xfrm>
          <a:prstGeom prst="rect">
            <a:avLst/>
          </a:prstGeom>
        </p:spPr>
      </p:pic>
      <p:sp>
        <p:nvSpPr>
          <p:cNvPr id="5" name="Title 1"/>
          <p:cNvSpPr txBox="1">
            <a:spLocks/>
          </p:cNvSpPr>
          <p:nvPr/>
        </p:nvSpPr>
        <p:spPr bwMode="auto">
          <a:xfrm>
            <a:off x="387927" y="4488872"/>
            <a:ext cx="8534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a:solidFill>
                  <a:schemeClr val="tx1"/>
                </a:solidFill>
                <a:latin typeface="Calibri"/>
                <a:ea typeface="+mj-ea"/>
                <a:cs typeface="Calibri"/>
              </a:defRPr>
            </a:lvl1pPr>
            <a:lvl2pPr algn="ctr" rtl="0" fontAlgn="base">
              <a:spcBef>
                <a:spcPct val="0"/>
              </a:spcBef>
              <a:spcAft>
                <a:spcPct val="0"/>
              </a:spcAft>
              <a:defRPr sz="3600">
                <a:solidFill>
                  <a:schemeClr val="tx1"/>
                </a:solidFill>
                <a:latin typeface="Arial" pitchFamily="34" charset="0"/>
              </a:defRPr>
            </a:lvl2pPr>
            <a:lvl3pPr algn="ctr" rtl="0" fontAlgn="base">
              <a:spcBef>
                <a:spcPct val="0"/>
              </a:spcBef>
              <a:spcAft>
                <a:spcPct val="0"/>
              </a:spcAft>
              <a:defRPr sz="3600">
                <a:solidFill>
                  <a:schemeClr val="tx1"/>
                </a:solidFill>
                <a:latin typeface="Arial" pitchFamily="34" charset="0"/>
              </a:defRPr>
            </a:lvl3pPr>
            <a:lvl4pPr algn="ctr" rtl="0" fontAlgn="base">
              <a:spcBef>
                <a:spcPct val="0"/>
              </a:spcBef>
              <a:spcAft>
                <a:spcPct val="0"/>
              </a:spcAft>
              <a:defRPr sz="3600">
                <a:solidFill>
                  <a:schemeClr val="tx1"/>
                </a:solidFill>
                <a:latin typeface="Arial" pitchFamily="34" charset="0"/>
              </a:defRPr>
            </a:lvl4pPr>
            <a:lvl5pPr algn="ctr" rtl="0" fontAlgn="base">
              <a:spcBef>
                <a:spcPct val="0"/>
              </a:spcBef>
              <a:spcAft>
                <a:spcPct val="0"/>
              </a:spcAft>
              <a:defRPr sz="3600">
                <a:solidFill>
                  <a:schemeClr val="tx1"/>
                </a:solidFill>
                <a:latin typeface="Arial" pitchFamily="34" charset="0"/>
              </a:defRPr>
            </a:lvl5pPr>
            <a:lvl6pPr marL="457200" algn="ctr" rtl="0" fontAlgn="base">
              <a:spcBef>
                <a:spcPct val="0"/>
              </a:spcBef>
              <a:spcAft>
                <a:spcPct val="0"/>
              </a:spcAft>
              <a:defRPr sz="3600">
                <a:solidFill>
                  <a:schemeClr val="tx1"/>
                </a:solidFill>
                <a:latin typeface="Arial" pitchFamily="34" charset="0"/>
              </a:defRPr>
            </a:lvl6pPr>
            <a:lvl7pPr marL="914400" algn="ctr" rtl="0" fontAlgn="base">
              <a:spcBef>
                <a:spcPct val="0"/>
              </a:spcBef>
              <a:spcAft>
                <a:spcPct val="0"/>
              </a:spcAft>
              <a:defRPr sz="3600">
                <a:solidFill>
                  <a:schemeClr val="tx1"/>
                </a:solidFill>
                <a:latin typeface="Arial" pitchFamily="34" charset="0"/>
              </a:defRPr>
            </a:lvl7pPr>
            <a:lvl8pPr marL="1371600" algn="ctr" rtl="0" fontAlgn="base">
              <a:spcBef>
                <a:spcPct val="0"/>
              </a:spcBef>
              <a:spcAft>
                <a:spcPct val="0"/>
              </a:spcAft>
              <a:defRPr sz="3600">
                <a:solidFill>
                  <a:schemeClr val="tx1"/>
                </a:solidFill>
                <a:latin typeface="Arial" pitchFamily="34" charset="0"/>
              </a:defRPr>
            </a:lvl8pPr>
            <a:lvl9pPr marL="1828800" algn="ctr" rtl="0" fontAlgn="base">
              <a:spcBef>
                <a:spcPct val="0"/>
              </a:spcBef>
              <a:spcAft>
                <a:spcPct val="0"/>
              </a:spcAft>
              <a:defRPr sz="3600">
                <a:solidFill>
                  <a:schemeClr val="tx1"/>
                </a:solidFill>
                <a:latin typeface="Arial" pitchFamily="34" charset="0"/>
              </a:defRPr>
            </a:lvl9pPr>
          </a:lstStyle>
          <a:p>
            <a:pPr algn="r"/>
            <a:r>
              <a:rPr lang="en-US" sz="3200" i="1" dirty="0" smtClean="0"/>
              <a:t>--my interpretation</a:t>
            </a:r>
            <a:endParaRPr lang="en-US" sz="3200" i="1" dirty="0"/>
          </a:p>
        </p:txBody>
      </p:sp>
      <p:sp>
        <p:nvSpPr>
          <p:cNvPr id="7" name="Title 1"/>
          <p:cNvSpPr txBox="1">
            <a:spLocks/>
          </p:cNvSpPr>
          <p:nvPr/>
        </p:nvSpPr>
        <p:spPr bwMode="auto">
          <a:xfrm>
            <a:off x="272473" y="3151915"/>
            <a:ext cx="8534400" cy="100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a:solidFill>
                  <a:schemeClr val="tx1"/>
                </a:solidFill>
                <a:latin typeface="Calibri"/>
                <a:ea typeface="+mj-ea"/>
                <a:cs typeface="Calibri"/>
              </a:defRPr>
            </a:lvl1pPr>
            <a:lvl2pPr algn="ctr" rtl="0" fontAlgn="base">
              <a:spcBef>
                <a:spcPct val="0"/>
              </a:spcBef>
              <a:spcAft>
                <a:spcPct val="0"/>
              </a:spcAft>
              <a:defRPr sz="3600">
                <a:solidFill>
                  <a:schemeClr val="tx1"/>
                </a:solidFill>
                <a:latin typeface="Arial" pitchFamily="34" charset="0"/>
              </a:defRPr>
            </a:lvl2pPr>
            <a:lvl3pPr algn="ctr" rtl="0" fontAlgn="base">
              <a:spcBef>
                <a:spcPct val="0"/>
              </a:spcBef>
              <a:spcAft>
                <a:spcPct val="0"/>
              </a:spcAft>
              <a:defRPr sz="3600">
                <a:solidFill>
                  <a:schemeClr val="tx1"/>
                </a:solidFill>
                <a:latin typeface="Arial" pitchFamily="34" charset="0"/>
              </a:defRPr>
            </a:lvl3pPr>
            <a:lvl4pPr algn="ctr" rtl="0" fontAlgn="base">
              <a:spcBef>
                <a:spcPct val="0"/>
              </a:spcBef>
              <a:spcAft>
                <a:spcPct val="0"/>
              </a:spcAft>
              <a:defRPr sz="3600">
                <a:solidFill>
                  <a:schemeClr val="tx1"/>
                </a:solidFill>
                <a:latin typeface="Arial" pitchFamily="34" charset="0"/>
              </a:defRPr>
            </a:lvl4pPr>
            <a:lvl5pPr algn="ctr" rtl="0" fontAlgn="base">
              <a:spcBef>
                <a:spcPct val="0"/>
              </a:spcBef>
              <a:spcAft>
                <a:spcPct val="0"/>
              </a:spcAft>
              <a:defRPr sz="3600">
                <a:solidFill>
                  <a:schemeClr val="tx1"/>
                </a:solidFill>
                <a:latin typeface="Arial" pitchFamily="34" charset="0"/>
              </a:defRPr>
            </a:lvl5pPr>
            <a:lvl6pPr marL="457200" algn="ctr" rtl="0" fontAlgn="base">
              <a:spcBef>
                <a:spcPct val="0"/>
              </a:spcBef>
              <a:spcAft>
                <a:spcPct val="0"/>
              </a:spcAft>
              <a:defRPr sz="3600">
                <a:solidFill>
                  <a:schemeClr val="tx1"/>
                </a:solidFill>
                <a:latin typeface="Arial" pitchFamily="34" charset="0"/>
              </a:defRPr>
            </a:lvl6pPr>
            <a:lvl7pPr marL="914400" algn="ctr" rtl="0" fontAlgn="base">
              <a:spcBef>
                <a:spcPct val="0"/>
              </a:spcBef>
              <a:spcAft>
                <a:spcPct val="0"/>
              </a:spcAft>
              <a:defRPr sz="3600">
                <a:solidFill>
                  <a:schemeClr val="tx1"/>
                </a:solidFill>
                <a:latin typeface="Arial" pitchFamily="34" charset="0"/>
              </a:defRPr>
            </a:lvl7pPr>
            <a:lvl8pPr marL="1371600" algn="ctr" rtl="0" fontAlgn="base">
              <a:spcBef>
                <a:spcPct val="0"/>
              </a:spcBef>
              <a:spcAft>
                <a:spcPct val="0"/>
              </a:spcAft>
              <a:defRPr sz="3600">
                <a:solidFill>
                  <a:schemeClr val="tx1"/>
                </a:solidFill>
                <a:latin typeface="Arial" pitchFamily="34" charset="0"/>
              </a:defRPr>
            </a:lvl8pPr>
            <a:lvl9pPr marL="1828800" algn="ctr" rtl="0" fontAlgn="base">
              <a:spcBef>
                <a:spcPct val="0"/>
              </a:spcBef>
              <a:spcAft>
                <a:spcPct val="0"/>
              </a:spcAft>
              <a:defRPr sz="3600">
                <a:solidFill>
                  <a:schemeClr val="tx1"/>
                </a:solidFill>
                <a:latin typeface="Arial" pitchFamily="34" charset="0"/>
              </a:defRPr>
            </a:lvl9pPr>
          </a:lstStyle>
          <a:p>
            <a:r>
              <a:rPr lang="en-US" sz="2800" i="0" dirty="0" smtClean="0">
                <a:solidFill>
                  <a:srgbClr val="288CD2"/>
                </a:solidFill>
                <a:latin typeface="Times New Roman"/>
                <a:cs typeface="Times New Roman"/>
              </a:rPr>
              <a:t>“You can’t map all sentences into a cold, sterile space of meaningless, </a:t>
            </a:r>
            <a:r>
              <a:rPr lang="en-US" sz="2800" i="0" dirty="0" err="1" smtClean="0">
                <a:solidFill>
                  <a:srgbClr val="288CD2"/>
                </a:solidFill>
                <a:latin typeface="Times New Roman"/>
                <a:cs typeface="Times New Roman"/>
              </a:rPr>
              <a:t>uninterpretable</a:t>
            </a:r>
            <a:r>
              <a:rPr lang="en-US" sz="2800" i="0" dirty="0" smtClean="0">
                <a:solidFill>
                  <a:srgbClr val="288CD2"/>
                </a:solidFill>
                <a:latin typeface="Times New Roman"/>
                <a:cs typeface="Times New Roman"/>
              </a:rPr>
              <a:t> dimensions.</a:t>
            </a:r>
            <a:r>
              <a:rPr lang="en-US" sz="2800" i="0" dirty="0" smtClean="0">
                <a:solidFill>
                  <a:srgbClr val="FFFFFF"/>
                </a:solidFill>
                <a:latin typeface="Times New Roman"/>
                <a:cs typeface="Times New Roman"/>
              </a:rPr>
              <a:t>”</a:t>
            </a:r>
          </a:p>
          <a:p>
            <a:r>
              <a:rPr lang="en-US" sz="2800" i="0" dirty="0" smtClean="0">
                <a:solidFill>
                  <a:srgbClr val="288CD2"/>
                </a:solidFill>
                <a:latin typeface="Times New Roman"/>
                <a:cs typeface="Times New Roman"/>
              </a:rPr>
              <a:t>Symbolic representations can encode meaning much more efficiently.”</a:t>
            </a:r>
            <a:endParaRPr lang="en-US" sz="2800" i="0" dirty="0">
              <a:solidFill>
                <a:srgbClr val="288CD2"/>
              </a:solidFill>
              <a:latin typeface="Times New Roman"/>
              <a:cs typeface="Times New Roman"/>
            </a:endParaRPr>
          </a:p>
        </p:txBody>
      </p:sp>
    </p:spTree>
    <p:extLst>
      <p:ext uri="{BB962C8B-B14F-4D97-AF65-F5344CB8AC3E}">
        <p14:creationId xmlns:p14="http://schemas.microsoft.com/office/powerpoint/2010/main" val="1060732988"/>
      </p:ext>
    </p:extLst>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1"/>
          </p:nvPr>
        </p:nvSpPr>
        <p:spPr/>
        <p:txBody>
          <a:bodyPr/>
          <a:lstStyle/>
          <a:p>
            <a:fld id="{33F820A7-D46B-46D8-A3CF-66A8CEAA457D}" type="slidenum">
              <a:rPr lang="en-US" smtClean="0"/>
              <a:pPr/>
              <a:t>81</a:t>
            </a:fld>
            <a:endParaRPr lang="en-US"/>
          </a:p>
        </p:txBody>
      </p:sp>
      <p:sp>
        <p:nvSpPr>
          <p:cNvPr id="5" name="TextBox 4"/>
          <p:cNvSpPr txBox="1">
            <a:spLocks noChangeArrowheads="1"/>
          </p:cNvSpPr>
          <p:nvPr/>
        </p:nvSpPr>
        <p:spPr bwMode="auto">
          <a:xfrm>
            <a:off x="473367" y="2579256"/>
            <a:ext cx="8278091" cy="2739211"/>
          </a:xfrm>
          <a:prstGeom prst="rect">
            <a:avLst/>
          </a:prstGeom>
          <a:solidFill>
            <a:schemeClr val="tx1">
              <a:lumMod val="75000"/>
              <a:lumOff val="25000"/>
            </a:schemeClr>
          </a:solidFill>
          <a:ln w="38100" cmpd="sng">
            <a:noFill/>
            <a:miter lim="800000"/>
            <a:headEnd/>
            <a:tailEnd/>
          </a:ln>
          <a:extLst/>
        </p:spPr>
        <p:txBody>
          <a:bodyPr wrap="square" lIns="274320" tIns="137160" rIns="274320" bIns="137160">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algn="ctr" eaLnBrk="1" hangingPunct="1"/>
            <a:r>
              <a:rPr lang="en-US" sz="3600" i="0" dirty="0" smtClean="0">
                <a:solidFill>
                  <a:schemeClr val="bg1">
                    <a:lumMod val="95000"/>
                  </a:schemeClr>
                </a:solidFill>
                <a:latin typeface="Calibri"/>
                <a:cs typeface="Calibri"/>
              </a:rPr>
              <a:t>Why must we choose?</a:t>
            </a:r>
          </a:p>
          <a:p>
            <a:pPr algn="ctr" eaLnBrk="1" hangingPunct="1"/>
            <a:endParaRPr lang="en-US" sz="2400" i="0" dirty="0" smtClean="0">
              <a:solidFill>
                <a:schemeClr val="bg1">
                  <a:lumMod val="95000"/>
                </a:schemeClr>
              </a:solidFill>
              <a:latin typeface="Calibri"/>
              <a:cs typeface="Calibri"/>
            </a:endParaRPr>
          </a:p>
          <a:p>
            <a:pPr algn="ctr" eaLnBrk="1" hangingPunct="1"/>
            <a:r>
              <a:rPr lang="en-US" sz="3200" i="0" dirty="0" smtClean="0">
                <a:solidFill>
                  <a:schemeClr val="bg1">
                    <a:lumMod val="95000"/>
                  </a:schemeClr>
                </a:solidFill>
                <a:latin typeface="Calibri"/>
                <a:cs typeface="Calibri"/>
              </a:rPr>
              <a:t>Neural architectures for text understanding can combine discrete (symbolic)</a:t>
            </a:r>
          </a:p>
          <a:p>
            <a:pPr algn="ctr" eaLnBrk="1" hangingPunct="1"/>
            <a:r>
              <a:rPr lang="en-US" sz="3200" i="0" dirty="0" smtClean="0">
                <a:solidFill>
                  <a:schemeClr val="bg1">
                    <a:lumMod val="95000"/>
                  </a:schemeClr>
                </a:solidFill>
                <a:latin typeface="Calibri"/>
                <a:cs typeface="Calibri"/>
              </a:rPr>
              <a:t>and continuous representations</a:t>
            </a:r>
          </a:p>
        </p:txBody>
      </p:sp>
      <p:sp>
        <p:nvSpPr>
          <p:cNvPr id="7" name="Title 1"/>
          <p:cNvSpPr txBox="1">
            <a:spLocks/>
          </p:cNvSpPr>
          <p:nvPr/>
        </p:nvSpPr>
        <p:spPr bwMode="auto">
          <a:xfrm>
            <a:off x="304800" y="1507836"/>
            <a:ext cx="8534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3600">
                <a:solidFill>
                  <a:schemeClr val="tx1"/>
                </a:solidFill>
                <a:latin typeface="Calibri"/>
                <a:ea typeface="+mj-ea"/>
                <a:cs typeface="Calibri"/>
              </a:defRPr>
            </a:lvl1pPr>
            <a:lvl2pPr algn="ctr" rtl="0" fontAlgn="base">
              <a:spcBef>
                <a:spcPct val="0"/>
              </a:spcBef>
              <a:spcAft>
                <a:spcPct val="0"/>
              </a:spcAft>
              <a:defRPr sz="3600">
                <a:solidFill>
                  <a:schemeClr val="tx1"/>
                </a:solidFill>
                <a:latin typeface="Arial" pitchFamily="34" charset="0"/>
              </a:defRPr>
            </a:lvl2pPr>
            <a:lvl3pPr algn="ctr" rtl="0" fontAlgn="base">
              <a:spcBef>
                <a:spcPct val="0"/>
              </a:spcBef>
              <a:spcAft>
                <a:spcPct val="0"/>
              </a:spcAft>
              <a:defRPr sz="3600">
                <a:solidFill>
                  <a:schemeClr val="tx1"/>
                </a:solidFill>
                <a:latin typeface="Arial" pitchFamily="34" charset="0"/>
              </a:defRPr>
            </a:lvl3pPr>
            <a:lvl4pPr algn="ctr" rtl="0" fontAlgn="base">
              <a:spcBef>
                <a:spcPct val="0"/>
              </a:spcBef>
              <a:spcAft>
                <a:spcPct val="0"/>
              </a:spcAft>
              <a:defRPr sz="3600">
                <a:solidFill>
                  <a:schemeClr val="tx1"/>
                </a:solidFill>
                <a:latin typeface="Arial" pitchFamily="34" charset="0"/>
              </a:defRPr>
            </a:lvl4pPr>
            <a:lvl5pPr algn="ctr" rtl="0" fontAlgn="base">
              <a:spcBef>
                <a:spcPct val="0"/>
              </a:spcBef>
              <a:spcAft>
                <a:spcPct val="0"/>
              </a:spcAft>
              <a:defRPr sz="3600">
                <a:solidFill>
                  <a:schemeClr val="tx1"/>
                </a:solidFill>
                <a:latin typeface="Arial" pitchFamily="34" charset="0"/>
              </a:defRPr>
            </a:lvl5pPr>
            <a:lvl6pPr marL="457200" algn="ctr" rtl="0" fontAlgn="base">
              <a:spcBef>
                <a:spcPct val="0"/>
              </a:spcBef>
              <a:spcAft>
                <a:spcPct val="0"/>
              </a:spcAft>
              <a:defRPr sz="3600">
                <a:solidFill>
                  <a:schemeClr val="tx1"/>
                </a:solidFill>
                <a:latin typeface="Arial" pitchFamily="34" charset="0"/>
              </a:defRPr>
            </a:lvl6pPr>
            <a:lvl7pPr marL="914400" algn="ctr" rtl="0" fontAlgn="base">
              <a:spcBef>
                <a:spcPct val="0"/>
              </a:spcBef>
              <a:spcAft>
                <a:spcPct val="0"/>
              </a:spcAft>
              <a:defRPr sz="3600">
                <a:solidFill>
                  <a:schemeClr val="tx1"/>
                </a:solidFill>
                <a:latin typeface="Arial" pitchFamily="34" charset="0"/>
              </a:defRPr>
            </a:lvl7pPr>
            <a:lvl8pPr marL="1371600" algn="ctr" rtl="0" fontAlgn="base">
              <a:spcBef>
                <a:spcPct val="0"/>
              </a:spcBef>
              <a:spcAft>
                <a:spcPct val="0"/>
              </a:spcAft>
              <a:defRPr sz="3600">
                <a:solidFill>
                  <a:schemeClr val="tx1"/>
                </a:solidFill>
                <a:latin typeface="Arial" pitchFamily="34" charset="0"/>
              </a:defRPr>
            </a:lvl8pPr>
            <a:lvl9pPr marL="1828800" algn="ctr" rtl="0" fontAlgn="base">
              <a:spcBef>
                <a:spcPct val="0"/>
              </a:spcBef>
              <a:spcAft>
                <a:spcPct val="0"/>
              </a:spcAft>
              <a:defRPr sz="3600">
                <a:solidFill>
                  <a:schemeClr val="tx1"/>
                </a:solidFill>
                <a:latin typeface="Arial" pitchFamily="34" charset="0"/>
              </a:defRPr>
            </a:lvl9pPr>
          </a:lstStyle>
          <a:p>
            <a:pPr algn="r"/>
            <a:r>
              <a:rPr lang="en-US" i="1" dirty="0" smtClean="0"/>
              <a:t>--Ray Mooney</a:t>
            </a:r>
            <a:endParaRPr lang="en-US" i="1" dirty="0"/>
          </a:p>
        </p:txBody>
      </p:sp>
      <p:pic>
        <p:nvPicPr>
          <p:cNvPr id="8" name="Picture 7" descr="Screen Shot 2015-03-15 at 7.47.49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909" y="431801"/>
            <a:ext cx="7677727" cy="1182814"/>
          </a:xfrm>
          <a:prstGeom prst="rect">
            <a:avLst/>
          </a:prstGeom>
        </p:spPr>
      </p:pic>
    </p:spTree>
    <p:extLst>
      <p:ext uri="{BB962C8B-B14F-4D97-AF65-F5344CB8AC3E}">
        <p14:creationId xmlns:p14="http://schemas.microsoft.com/office/powerpoint/2010/main" val="3749071435"/>
      </p:ext>
    </p:extLst>
  </p:cSld>
  <p:clrMapOvr>
    <a:masterClrMapping/>
  </p:clrMapOvr>
  <p:timing>
    <p:tnLst>
      <p:par>
        <p:cTn xmlns:p14="http://schemas.microsoft.com/office/powerpoint/2010/mai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Syntax</a:t>
            </a:r>
            <a:r>
              <a:rPr lang="en-US" dirty="0"/>
              <a:t> </a:t>
            </a:r>
            <a:r>
              <a:rPr lang="en-US" dirty="0" smtClean="0"/>
              <a:t>and Semantics</a:t>
            </a:r>
            <a:endParaRPr lang="en-US" dirty="0"/>
          </a:p>
        </p:txBody>
      </p:sp>
      <p:sp>
        <p:nvSpPr>
          <p:cNvPr id="3" name="Content Placeholder 2"/>
          <p:cNvSpPr>
            <a:spLocks noGrp="1"/>
          </p:cNvSpPr>
          <p:nvPr>
            <p:ph idx="1"/>
          </p:nvPr>
        </p:nvSpPr>
        <p:spPr/>
        <p:txBody>
          <a:bodyPr/>
          <a:lstStyle/>
          <a:p>
            <a:r>
              <a:rPr lang="en-US" b="1" dirty="0" smtClean="0">
                <a:solidFill>
                  <a:srgbClr val="288CD2"/>
                </a:solidFill>
              </a:rPr>
              <a:t>syntax</a:t>
            </a:r>
            <a:r>
              <a:rPr lang="en-US" dirty="0" smtClean="0"/>
              <a:t>: rules, principles, processes that govern sentence structure of a language</a:t>
            </a:r>
          </a:p>
          <a:p>
            <a:r>
              <a:rPr lang="en-US" b="1" dirty="0" smtClean="0">
                <a:solidFill>
                  <a:srgbClr val="288CD2"/>
                </a:solidFill>
              </a:rPr>
              <a:t>semantics</a:t>
            </a:r>
            <a:r>
              <a:rPr lang="en-US" dirty="0" smtClean="0"/>
              <a:t>: what the sentence means</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82</a:t>
            </a:fld>
            <a:endParaRPr lang="en-US"/>
          </a:p>
        </p:txBody>
      </p:sp>
    </p:spTree>
    <p:extLst>
      <p:ext uri="{BB962C8B-B14F-4D97-AF65-F5344CB8AC3E}">
        <p14:creationId xmlns:p14="http://schemas.microsoft.com/office/powerpoint/2010/main" val="3933284940"/>
      </p:ext>
    </p:extLst>
  </p:cSld>
  <p:clrMapOvr>
    <a:masterClrMapping/>
  </p:clrMapOvr>
  <p:timing>
    <p:tnLst>
      <p:par>
        <p:cTn xmlns:p14="http://schemas.microsoft.com/office/powerpoint/2010/mai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US"/>
          </a:p>
        </p:txBody>
      </p:sp>
      <p:sp>
        <p:nvSpPr>
          <p:cNvPr id="3" name="Content Placeholder 2"/>
          <p:cNvSpPr>
            <a:spLocks noGrp="1"/>
          </p:cNvSpPr>
          <p:nvPr>
            <p:ph idx="1"/>
          </p:nvPr>
        </p:nvSpPr>
        <p:spPr/>
        <p:txBody>
          <a:bodyPr/>
          <a:lstStyle/>
          <a:p>
            <a:r>
              <a:rPr lang="en-US" dirty="0" smtClean="0"/>
              <a:t>we saw syntactic parsing, which produces a syntactic structure of a sentence</a:t>
            </a:r>
          </a:p>
          <a:p>
            <a:pPr lvl="1"/>
            <a:r>
              <a:rPr lang="en-US" dirty="0" smtClean="0"/>
              <a:t>helps to disambiguate attachments, </a:t>
            </a:r>
            <a:r>
              <a:rPr lang="en-US" dirty="0" err="1" smtClean="0"/>
              <a:t>coordinations</a:t>
            </a:r>
            <a:r>
              <a:rPr lang="en-US" dirty="0" smtClean="0"/>
              <a:t>, sometimes word sense</a:t>
            </a:r>
          </a:p>
          <a:p>
            <a:r>
              <a:rPr lang="en-US" dirty="0" smtClean="0"/>
              <a:t>now we’ll look at semantic parsing, which roughly means “produce a semantic structure of a sentence”	</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83</a:t>
            </a:fld>
            <a:endParaRPr lang="en-US"/>
          </a:p>
        </p:txBody>
      </p:sp>
    </p:spTree>
    <p:extLst>
      <p:ext uri="{BB962C8B-B14F-4D97-AF65-F5344CB8AC3E}">
        <p14:creationId xmlns:p14="http://schemas.microsoft.com/office/powerpoint/2010/main" val="3738711573"/>
      </p:ext>
    </p:extLst>
  </p:cSld>
  <p:clrMapOvr>
    <a:masterClrMapping/>
  </p:clrMapOvr>
  <p:timing>
    <p:tnLst>
      <p:par>
        <p:cTn xmlns:p14="http://schemas.microsoft.com/office/powerpoint/2010/mai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Several Kinds of Semantic Parsing</a:t>
            </a:r>
            <a:endParaRPr lang="en-US" dirty="0"/>
          </a:p>
        </p:txBody>
      </p:sp>
      <p:sp>
        <p:nvSpPr>
          <p:cNvPr id="3" name="Content Placeholder 2"/>
          <p:cNvSpPr>
            <a:spLocks noGrp="1"/>
          </p:cNvSpPr>
          <p:nvPr>
            <p:ph idx="1"/>
          </p:nvPr>
        </p:nvSpPr>
        <p:spPr/>
        <p:txBody>
          <a:bodyPr/>
          <a:lstStyle/>
          <a:p>
            <a:r>
              <a:rPr lang="en-US" dirty="0" smtClean="0"/>
              <a:t>semantic role labeling (SRL)</a:t>
            </a:r>
          </a:p>
          <a:p>
            <a:r>
              <a:rPr lang="en-US" dirty="0" smtClean="0"/>
              <a:t>frame-semantic parsing</a:t>
            </a:r>
          </a:p>
          <a:p>
            <a:r>
              <a:rPr lang="en-US" dirty="0" smtClean="0"/>
              <a:t>“semantic parsing” (first-order logic)</a:t>
            </a:r>
          </a:p>
          <a:p>
            <a:r>
              <a:rPr lang="en-US" dirty="0" smtClean="0"/>
              <a:t>abstract meaning representation (AMR)</a:t>
            </a:r>
          </a:p>
          <a:p>
            <a:r>
              <a:rPr lang="en-US" dirty="0" smtClean="0"/>
              <a:t>dependency-based compositional semantics</a:t>
            </a:r>
            <a:endParaRPr lang="en-US" dirty="0"/>
          </a:p>
        </p:txBody>
      </p:sp>
      <p:sp>
        <p:nvSpPr>
          <p:cNvPr id="4" name="Slide Number Placeholder 3"/>
          <p:cNvSpPr>
            <a:spLocks noGrp="1"/>
          </p:cNvSpPr>
          <p:nvPr>
            <p:ph type="sldNum" sz="quarter" idx="12"/>
          </p:nvPr>
        </p:nvSpPr>
        <p:spPr/>
        <p:txBody>
          <a:bodyPr/>
          <a:lstStyle/>
          <a:p>
            <a:fld id="{3CFF3AF9-2D61-8E40-AE3D-8390D801ED2C}" type="slidenum">
              <a:rPr lang="en-US" smtClean="0"/>
              <a:t>84</a:t>
            </a:fld>
            <a:endParaRPr lang="en-US"/>
          </a:p>
        </p:txBody>
      </p:sp>
    </p:spTree>
    <p:extLst>
      <p:ext uri="{BB962C8B-B14F-4D97-AF65-F5344CB8AC3E}">
        <p14:creationId xmlns:p14="http://schemas.microsoft.com/office/powerpoint/2010/main" val="2692806515"/>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68979</TotalTime>
  <Words>2896</Words>
  <Application>Microsoft Macintosh PowerPoint</Application>
  <PresentationFormat>On-screen Show (4:3)</PresentationFormat>
  <Paragraphs>486</Paragraphs>
  <Slides>84</Slides>
  <Notes>34</Notes>
  <HiddenSlides>0</HiddenSlides>
  <MMClips>0</MMClips>
  <ScaleCrop>false</ScaleCrop>
  <HeadingPairs>
    <vt:vector size="4" baseType="variant">
      <vt:variant>
        <vt:lpstr>Theme</vt:lpstr>
      </vt:variant>
      <vt:variant>
        <vt:i4>1</vt:i4>
      </vt:variant>
      <vt:variant>
        <vt:lpstr>Slide Titles</vt:lpstr>
      </vt:variant>
      <vt:variant>
        <vt:i4>84</vt:i4>
      </vt:variant>
    </vt:vector>
  </HeadingPairs>
  <TitlesOfParts>
    <vt:vector size="85" baseType="lpstr">
      <vt:lpstr>Office Theme</vt:lpstr>
      <vt:lpstr>TTIC 31190: Natural Language Processing</vt:lpstr>
      <vt:lpstr>Roadmap</vt:lpstr>
      <vt:lpstr>PowerPoint Presentation</vt:lpstr>
      <vt:lpstr>Google’s NMT System</vt:lpstr>
      <vt:lpstr>Google’s NMT System</vt:lpstr>
      <vt:lpstr>Google’s NMT System</vt:lpstr>
      <vt:lpstr>Google’s NMT System</vt:lpstr>
      <vt:lpstr>PowerPoint Presentation</vt:lpstr>
      <vt:lpstr>PowerPoint Presentation</vt:lpstr>
      <vt:lpstr>Noisy Channel Model</vt:lpstr>
      <vt:lpstr>Noisy Channel Model for Translating French (x) to English (y)</vt:lpstr>
      <vt:lpstr>Modeling for the Noisy Channel</vt:lpstr>
      <vt:lpstr>Modeling for the Noisy Channel</vt:lpstr>
      <vt:lpstr>Noisy Channel</vt:lpstr>
      <vt:lpstr>Noisy Channel</vt:lpstr>
      <vt:lpstr>Noisy Channel</vt:lpstr>
      <vt:lpstr>Noisy Channel</vt:lpstr>
      <vt:lpstr>Noisy Channel</vt:lpstr>
      <vt:lpstr>Noisy Channel</vt:lpstr>
      <vt:lpstr>Noisy Channel  Linear Model?</vt:lpstr>
      <vt:lpstr>Noisy Channel  Linear Model?</vt:lpstr>
      <vt:lpstr>Noisy Channel  Linear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Issue: gold standard translation is often unreachable by the model</vt:lpstr>
      <vt:lpstr>Free Translations</vt:lpstr>
      <vt:lpstr>Free Translations</vt:lpstr>
      <vt:lpstr>Loss Functions</vt:lpstr>
      <vt:lpstr>Loss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Perceptron Loss</vt:lpstr>
      <vt:lpstr>Perceptron Loss</vt:lpstr>
      <vt:lpstr>Perceptron Loss for MT? (Collins, 2002)</vt:lpstr>
      <vt:lpstr>k-Best Perceptron for MT (Liang et al., 2006)</vt:lpstr>
      <vt:lpstr>k-Best Perceptron for MT (Liang et al., 2006)</vt:lpstr>
      <vt:lpstr>k-Best Perceptron for MT (Liang et al., 2006)</vt:lpstr>
      <vt:lpstr>Ramp Loss Minimization</vt:lpstr>
      <vt:lpstr>Ramp Loss Minimization</vt:lpstr>
      <vt:lpstr>Ramp Loss Minimization</vt:lpstr>
      <vt:lpstr>“Fear” Ramp Loss (Do et al., 2008)</vt:lpstr>
      <vt:lpstr>“Fear” Ramp Loss (Do et al., 2008)</vt:lpstr>
      <vt:lpstr>“Hope” Ramp Loss (McAllester &amp; Keshet, 2011; Liang et al., 2006)</vt:lpstr>
      <vt:lpstr>“Hope” Ramp Loss (McAllester &amp; Keshet, 2011; Liang et al., 2006)</vt:lpstr>
      <vt:lpstr>“Hope-Fear” Ramp Loss (Chiang et al., 2008; 2009; Cherry &amp; Foster, 2012; Chiang, 2012)</vt:lpstr>
      <vt:lpstr>“Hope-Fear” Ramp Loss (Chiang et al., 2008; 2009; Cherry &amp; Foster, 2012; Chiang, 2012)</vt:lpstr>
      <vt:lpstr>Experiments (Gimpel, 2012)</vt:lpstr>
      <vt:lpstr>Pairwise Ranking Optimization (Hopkins &amp; May, 2011)</vt:lpstr>
      <vt:lpstr>Roadmap</vt:lpstr>
      <vt:lpstr>Semantics</vt:lpstr>
      <vt:lpstr>Compositional Semantics</vt:lpstr>
      <vt:lpstr>Evaluating Compositional Semantics</vt:lpstr>
      <vt:lpstr>PowerPoint Presentation</vt:lpstr>
      <vt:lpstr>Bigram Composition Functions</vt:lpstr>
      <vt:lpstr>Bigram Similarity Results</vt:lpstr>
      <vt:lpstr>Why does multiplication work?</vt:lpstr>
      <vt:lpstr>PowerPoint Presentation</vt:lpstr>
      <vt:lpstr>Results</vt:lpstr>
      <vt:lpstr>PowerPoint Presentation</vt:lpstr>
      <vt:lpstr>PowerPoint Presentation</vt:lpstr>
      <vt:lpstr>PowerPoint Presentation</vt:lpstr>
      <vt:lpstr>--Ray Mooney</vt:lpstr>
      <vt:lpstr>PowerPoint Presentation</vt:lpstr>
      <vt:lpstr>Syntax and Semantics</vt:lpstr>
      <vt:lpstr>PowerPoint Presentation</vt:lpstr>
      <vt:lpstr>Several Kinds of Semantic Parsing</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TTIC 31190: Natural Language Processing</dc:title>
  <dc:creator>Kevin Gimpel</dc:creator>
  <cp:lastModifiedBy>Kevin Gimpel</cp:lastModifiedBy>
  <cp:revision>2332</cp:revision>
  <cp:lastPrinted>2016-02-15T18:10:03Z</cp:lastPrinted>
  <dcterms:created xsi:type="dcterms:W3CDTF">2015-08-31T18:15:35Z</dcterms:created>
  <dcterms:modified xsi:type="dcterms:W3CDTF">2018-05-29T15:10:24Z</dcterms:modified>
</cp:coreProperties>
</file>