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3"/>
  </p:notesMasterIdLst>
  <p:handoutMasterIdLst>
    <p:handoutMasterId r:id="rId94"/>
  </p:handoutMasterIdLst>
  <p:sldIdLst>
    <p:sldId id="256" r:id="rId2"/>
    <p:sldId id="1364" r:id="rId3"/>
    <p:sldId id="1576" r:id="rId4"/>
    <p:sldId id="1659" r:id="rId5"/>
    <p:sldId id="1749" r:id="rId6"/>
    <p:sldId id="1760" r:id="rId7"/>
    <p:sldId id="1686" r:id="rId8"/>
    <p:sldId id="1778" r:id="rId9"/>
    <p:sldId id="1697" r:id="rId10"/>
    <p:sldId id="1698" r:id="rId11"/>
    <p:sldId id="1699" r:id="rId12"/>
    <p:sldId id="1700" r:id="rId13"/>
    <p:sldId id="1701" r:id="rId14"/>
    <p:sldId id="1702" r:id="rId15"/>
    <p:sldId id="1703" r:id="rId16"/>
    <p:sldId id="1704" r:id="rId17"/>
    <p:sldId id="1705" r:id="rId18"/>
    <p:sldId id="1772" r:id="rId19"/>
    <p:sldId id="1766" r:id="rId20"/>
    <p:sldId id="1775" r:id="rId21"/>
    <p:sldId id="1773" r:id="rId22"/>
    <p:sldId id="1774" r:id="rId23"/>
    <p:sldId id="1776" r:id="rId24"/>
    <p:sldId id="1779" r:id="rId25"/>
    <p:sldId id="1706" r:id="rId26"/>
    <p:sldId id="1707" r:id="rId27"/>
    <p:sldId id="1708" r:id="rId28"/>
    <p:sldId id="1709" r:id="rId29"/>
    <p:sldId id="1710" r:id="rId30"/>
    <p:sldId id="1726" r:id="rId31"/>
    <p:sldId id="1728" r:id="rId32"/>
    <p:sldId id="1729" r:id="rId33"/>
    <p:sldId id="1730" r:id="rId34"/>
    <p:sldId id="1731" r:id="rId35"/>
    <p:sldId id="1732" r:id="rId36"/>
    <p:sldId id="1733" r:id="rId37"/>
    <p:sldId id="1734" r:id="rId38"/>
    <p:sldId id="1735" r:id="rId39"/>
    <p:sldId id="1736" r:id="rId40"/>
    <p:sldId id="1737" r:id="rId41"/>
    <p:sldId id="1738" r:id="rId42"/>
    <p:sldId id="1739" r:id="rId43"/>
    <p:sldId id="1740" r:id="rId44"/>
    <p:sldId id="1767" r:id="rId45"/>
    <p:sldId id="1769" r:id="rId46"/>
    <p:sldId id="1768" r:id="rId47"/>
    <p:sldId id="1770" r:id="rId48"/>
    <p:sldId id="1783" r:id="rId49"/>
    <p:sldId id="1781" r:id="rId50"/>
    <p:sldId id="1782" r:id="rId51"/>
    <p:sldId id="1744" r:id="rId52"/>
    <p:sldId id="1785" r:id="rId53"/>
    <p:sldId id="1787" r:id="rId54"/>
    <p:sldId id="1788" r:id="rId55"/>
    <p:sldId id="1789" r:id="rId56"/>
    <p:sldId id="1790" r:id="rId57"/>
    <p:sldId id="1791" r:id="rId58"/>
    <p:sldId id="1792" r:id="rId59"/>
    <p:sldId id="1793" r:id="rId60"/>
    <p:sldId id="1794" r:id="rId61"/>
    <p:sldId id="1795" r:id="rId62"/>
    <p:sldId id="1796" r:id="rId63"/>
    <p:sldId id="1797" r:id="rId64"/>
    <p:sldId id="1798" r:id="rId65"/>
    <p:sldId id="1799" r:id="rId66"/>
    <p:sldId id="1800" r:id="rId67"/>
    <p:sldId id="1801" r:id="rId68"/>
    <p:sldId id="1802" r:id="rId69"/>
    <p:sldId id="1803" r:id="rId70"/>
    <p:sldId id="1804" r:id="rId71"/>
    <p:sldId id="1805" r:id="rId72"/>
    <p:sldId id="1806" r:id="rId73"/>
    <p:sldId id="1807" r:id="rId74"/>
    <p:sldId id="1808" r:id="rId75"/>
    <p:sldId id="1809" r:id="rId76"/>
    <p:sldId id="1810" r:id="rId77"/>
    <p:sldId id="1811" r:id="rId78"/>
    <p:sldId id="1812" r:id="rId79"/>
    <p:sldId id="1813" r:id="rId80"/>
    <p:sldId id="1814" r:id="rId81"/>
    <p:sldId id="1815" r:id="rId82"/>
    <p:sldId id="1745" r:id="rId83"/>
    <p:sldId id="1784" r:id="rId84"/>
    <p:sldId id="1746" r:id="rId85"/>
    <p:sldId id="1747" r:id="rId86"/>
    <p:sldId id="1748" r:id="rId87"/>
    <p:sldId id="1761" r:id="rId88"/>
    <p:sldId id="1762" r:id="rId89"/>
    <p:sldId id="1763" r:id="rId90"/>
    <p:sldId id="1764" r:id="rId91"/>
    <p:sldId id="1765" r:id="rId9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8CD2"/>
    <a:srgbClr val="006E2C"/>
    <a:srgbClr val="BC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87"/>
    <p:restoredTop sz="88469" autoAdjust="0"/>
  </p:normalViewPr>
  <p:slideViewPr>
    <p:cSldViewPr snapToGrid="0" snapToObjects="1">
      <p:cViewPr varScale="1">
        <p:scale>
          <a:sx n="67" d="100"/>
          <a:sy n="67" d="100"/>
        </p:scale>
        <p:origin x="-2280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notesMaster" Target="notesMasters/notesMaster1.xml"/><Relationship Id="rId94" Type="http://schemas.openxmlformats.org/officeDocument/2006/relationships/handoutMaster" Target="handoutMasters/handoutMaster1.xml"/><Relationship Id="rId95" Type="http://schemas.openxmlformats.org/officeDocument/2006/relationships/printerSettings" Target="printerSettings/printerSettings1.bin"/><Relationship Id="rId96" Type="http://schemas.openxmlformats.org/officeDocument/2006/relationships/presProps" Target="presProps.xml"/><Relationship Id="rId97" Type="http://schemas.openxmlformats.org/officeDocument/2006/relationships/viewProps" Target="viewProps.xml"/><Relationship Id="rId98" Type="http://schemas.openxmlformats.org/officeDocument/2006/relationships/theme" Target="theme/theme1.xml"/><Relationship Id="rId99" Type="http://schemas.openxmlformats.org/officeDocument/2006/relationships/tableStyles" Target="tableStyle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5/9/18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5/9/18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%P = 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frac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{|F\cap G|}{|F|}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 = \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frac</a:t>
            </a:r>
            <a:r>
              <a:rPr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{|F\cap G|}{|G|}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8751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43C0EA-AD99-034B-861B-80DAEBD7E6FD}" type="slidenum">
              <a:rPr lang="en-US"/>
              <a:pPr/>
              <a:t>21</a:t>
            </a:fld>
            <a:endParaRPr lang="en-US"/>
          </a:p>
        </p:txBody>
      </p:sp>
      <p:sp>
        <p:nvSpPr>
          <p:cNvPr id="506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06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Based on a treebank tree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0AC0DE-2769-3241-8910-0CA50890E702}" type="slidenum">
              <a:rPr lang="en-US"/>
              <a:pPr/>
              <a:t>22</a:t>
            </a:fld>
            <a:endParaRPr lang="en-US"/>
          </a:p>
        </p:txBody>
      </p:sp>
      <p:sp>
        <p:nvSpPr>
          <p:cNvPr id="508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08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Consider a single step in the CKY algorithm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0AC0DE-2769-3241-8910-0CA50890E702}" type="slidenum">
              <a:rPr lang="en-US"/>
              <a:pPr/>
              <a:t>23</a:t>
            </a:fld>
            <a:endParaRPr lang="en-US"/>
          </a:p>
        </p:txBody>
      </p:sp>
      <p:sp>
        <p:nvSpPr>
          <p:cNvPr id="508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08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Consider a single step in the CKY algorithm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2C67CE-4196-8C45-832E-470309CE0D95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01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2C67CE-4196-8C45-832E-470309CE0D95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01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Point out that this is not new; lots</a:t>
            </a:r>
            <a:r>
              <a:rPr lang="en-US" baseline="0" dirty="0" smtClean="0"/>
              <a:t> of interest in incremental greedy parsing for more than 10 years, too (cites on right).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2C67CE-4196-8C45-832E-470309CE0D95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1360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2C67CE-4196-8C45-832E-470309CE0D95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301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%nlp18:rvnn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{fell})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{apart})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{h}_1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{it})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{h}_5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{h}_4 = g\left(\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{W}\begin{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{h}_2\\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{h}_3 \end{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{b}\right)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{h}_5 = g\left(\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{W}\begin{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{h}_1\\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{h}_4 \end{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{b}\right)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5314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%nlp18:rvnn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{fell})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{apart})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{h}_1 =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mathit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{it})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{h}_5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{h}_4 = g\left(\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{W}\begin{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{h}_2\\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{h}_3 \end{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{b}\right)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{h}_5 = g\left(\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{W}\begin{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{h}_1\\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{h}_4 \end{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bmatrix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}+ \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mathbf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{b}\right)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119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5/9/18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5/9/18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5/9/18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5/9/18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5/9/18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5/9/18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5/9/18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5/9/18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5/9/18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5/9/18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5/9/18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5/9/18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4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4" Type="http://schemas.openxmlformats.org/officeDocument/2006/relationships/image" Target="../media/image8.emf"/><Relationship Id="rId5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4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emf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4" Type="http://schemas.openxmlformats.org/officeDocument/2006/relationships/image" Target="../media/image33.emf"/><Relationship Id="rId5" Type="http://schemas.openxmlformats.org/officeDocument/2006/relationships/image" Target="../media/image34.emf"/><Relationship Id="rId6" Type="http://schemas.openxmlformats.org/officeDocument/2006/relationships/image" Target="../media/image35.emf"/><Relationship Id="rId7" Type="http://schemas.openxmlformats.org/officeDocument/2006/relationships/image" Target="../media/image36.emf"/><Relationship Id="rId8" Type="http://schemas.openxmlformats.org/officeDocument/2006/relationships/image" Target="../media/image37.emf"/><Relationship Id="rId9" Type="http://schemas.openxmlformats.org/officeDocument/2006/relationships/image" Target="../media/image38.emf"/><Relationship Id="rId10" Type="http://schemas.openxmlformats.org/officeDocument/2006/relationships/image" Target="../media/image39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4" Type="http://schemas.openxmlformats.org/officeDocument/2006/relationships/image" Target="../media/image33.emf"/><Relationship Id="rId5" Type="http://schemas.openxmlformats.org/officeDocument/2006/relationships/image" Target="../media/image34.emf"/><Relationship Id="rId6" Type="http://schemas.openxmlformats.org/officeDocument/2006/relationships/image" Target="../media/image35.emf"/><Relationship Id="rId7" Type="http://schemas.openxmlformats.org/officeDocument/2006/relationships/image" Target="../media/image36.emf"/><Relationship Id="rId8" Type="http://schemas.openxmlformats.org/officeDocument/2006/relationships/image" Target="../media/image37.emf"/><Relationship Id="rId9" Type="http://schemas.openxmlformats.org/officeDocument/2006/relationships/image" Target="../media/image38.emf"/><Relationship Id="rId10" Type="http://schemas.openxmlformats.org/officeDocument/2006/relationships/image" Target="../media/image40.emf"/><Relationship Id="rId11" Type="http://schemas.openxmlformats.org/officeDocument/2006/relationships/image" Target="../media/image41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90.xml.rels><?xml version="1.0" encoding="UTF-8" standalone="yes"?>
<Relationships xmlns="http://schemas.openxmlformats.org/package/2006/relationships"><Relationship Id="rId11" Type="http://schemas.openxmlformats.org/officeDocument/2006/relationships/image" Target="../media/image42.emf"/><Relationship Id="rId12" Type="http://schemas.openxmlformats.org/officeDocument/2006/relationships/image" Target="../media/image4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emf"/><Relationship Id="rId3" Type="http://schemas.openxmlformats.org/officeDocument/2006/relationships/image" Target="../media/image33.emf"/><Relationship Id="rId4" Type="http://schemas.openxmlformats.org/officeDocument/2006/relationships/image" Target="../media/image34.emf"/><Relationship Id="rId5" Type="http://schemas.openxmlformats.org/officeDocument/2006/relationships/image" Target="../media/image35.emf"/><Relationship Id="rId6" Type="http://schemas.openxmlformats.org/officeDocument/2006/relationships/image" Target="../media/image36.emf"/><Relationship Id="rId7" Type="http://schemas.openxmlformats.org/officeDocument/2006/relationships/image" Target="../media/image37.emf"/><Relationship Id="rId8" Type="http://schemas.openxmlformats.org/officeDocument/2006/relationships/image" Target="../media/image38.emf"/><Relationship Id="rId9" Type="http://schemas.openxmlformats.org/officeDocument/2006/relationships/image" Target="../media/image40.emf"/><Relationship Id="rId10" Type="http://schemas.openxmlformats.org/officeDocument/2006/relationships/image" Target="../media/image41.emf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4" Type="http://schemas.openxmlformats.org/officeDocument/2006/relationships/image" Target="../media/image35.emf"/><Relationship Id="rId5" Type="http://schemas.openxmlformats.org/officeDocument/2006/relationships/image" Target="../media/image36.emf"/><Relationship Id="rId6" Type="http://schemas.openxmlformats.org/officeDocument/2006/relationships/image" Target="../media/image37.emf"/><Relationship Id="rId7" Type="http://schemas.openxmlformats.org/officeDocument/2006/relationships/image" Target="../media/image38.emf"/><Relationship Id="rId8" Type="http://schemas.openxmlformats.org/officeDocument/2006/relationships/image" Target="../media/image40.emf"/><Relationship Id="rId9" Type="http://schemas.openxmlformats.org/officeDocument/2006/relationships/image" Target="../media/image41.emf"/><Relationship Id="rId10" Type="http://schemas.openxmlformats.org/officeDocument/2006/relationships/image" Target="../media/image42.emf"/><Relationship Id="rId11" Type="http://schemas.openxmlformats.org/officeDocument/2006/relationships/image" Target="../media/image4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/>
          <a:lstStyle/>
          <a:p>
            <a:r>
              <a:rPr lang="en-US" dirty="0"/>
              <a:t>TTIC 31190:</a:t>
            </a:r>
            <a:br>
              <a:rPr lang="en-US" dirty="0"/>
            </a:br>
            <a:r>
              <a:rPr lang="en-US" dirty="0"/>
              <a:t>Natural Language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93899"/>
            <a:ext cx="6400800" cy="402967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>
                <a:solidFill>
                  <a:schemeClr val="tx1"/>
                </a:solidFill>
              </a:rPr>
              <a:t>Spring 2018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>
                <a:solidFill>
                  <a:schemeClr val="tx1"/>
                </a:solidFill>
              </a:rPr>
              <a:t>Lecture 14: </a:t>
            </a:r>
          </a:p>
          <a:p>
            <a:r>
              <a:rPr lang="en-US" sz="4000" dirty="0">
                <a:solidFill>
                  <a:schemeClr val="tx1"/>
                </a:solidFill>
              </a:rPr>
              <a:t>Syntax and Parsing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E2A21E-A132-7D44-8ED5-84134579E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FD6FFB4-3545-F54C-B55B-6C270DF5E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proposal due today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9609366-620D-FC40-8B86-032EAD7C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15701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Midterm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midterm in one week</a:t>
            </a:r>
          </a:p>
          <a:p>
            <a:r>
              <a:rPr lang="en-US" dirty="0"/>
              <a:t>you can bring notes</a:t>
            </a:r>
          </a:p>
          <a:p>
            <a:pPr lvl="1"/>
            <a:r>
              <a:rPr lang="en-US" dirty="0"/>
              <a:t>but we’ll try to give you all formulas/definitions you’ll need</a:t>
            </a:r>
          </a:p>
          <a:p>
            <a:r>
              <a:rPr lang="en-US" dirty="0"/>
              <a:t>Monday: review for midterm, including sample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109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sz="2400" dirty="0"/>
              <a:t>words, morphology, lexical semantics</a:t>
            </a:r>
          </a:p>
          <a:p>
            <a:r>
              <a:rPr lang="en-US" sz="2400" dirty="0"/>
              <a:t>text classification</a:t>
            </a:r>
          </a:p>
          <a:p>
            <a:r>
              <a:rPr lang="en-US" sz="2400" dirty="0"/>
              <a:t>language modeling</a:t>
            </a:r>
          </a:p>
          <a:p>
            <a:r>
              <a:rPr lang="en-US" sz="2400" dirty="0"/>
              <a:t>word </a:t>
            </a:r>
            <a:r>
              <a:rPr lang="en-US" sz="2400" dirty="0" err="1"/>
              <a:t>embeddings</a:t>
            </a:r>
            <a:endParaRPr lang="en-US" sz="2400" dirty="0"/>
          </a:p>
          <a:p>
            <a:r>
              <a:rPr lang="en-US" sz="2400" dirty="0"/>
              <a:t>recurrent/recursive/convolutional networks in NLP</a:t>
            </a:r>
          </a:p>
          <a:p>
            <a:r>
              <a:rPr lang="en-US" sz="2400" dirty="0"/>
              <a:t>sequence labeling, HMMs, dynamic programming</a:t>
            </a:r>
          </a:p>
          <a:p>
            <a:r>
              <a:rPr lang="en-US" sz="2400" dirty="0">
                <a:solidFill>
                  <a:srgbClr val="288CD2"/>
                </a:solidFill>
              </a:rPr>
              <a:t>syntax and syntactic parsing</a:t>
            </a:r>
          </a:p>
          <a:p>
            <a:r>
              <a:rPr lang="en-US" sz="2400" dirty="0"/>
              <a:t>semantics, compositionality, semantic parsing</a:t>
            </a:r>
          </a:p>
          <a:p>
            <a:r>
              <a:rPr lang="en-US" sz="2400" dirty="0"/>
              <a:t>machine translation and other NLP tasks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267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Syntax?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rules, principles, processes that govern sentence structure of a </a:t>
            </a:r>
            <a:r>
              <a:rPr lang="en-US" dirty="0" smtClean="0"/>
              <a:t>language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8993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Constituent Parse (Bracketing/</a:t>
            </a:r>
            <a:r>
              <a:rPr lang="en-US" dirty="0">
                <a:sym typeface="Wingdings"/>
              </a:rPr>
              <a:t>Tree)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7144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(S (NP the man) (VP walked (PP to (NP the park))))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6</a:t>
            </a:fld>
            <a:endParaRPr lang="en-US"/>
          </a:p>
        </p:txBody>
      </p:sp>
      <p:cxnSp>
        <p:nvCxnSpPr>
          <p:cNvPr id="6" name="Straight Connector 5"/>
          <p:cNvCxnSpPr>
            <a:stCxn id="5" idx="2"/>
          </p:cNvCxnSpPr>
          <p:nvPr/>
        </p:nvCxnSpPr>
        <p:spPr>
          <a:xfrm flipH="1">
            <a:off x="1402080" y="2061884"/>
            <a:ext cx="1065175" cy="91499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endCxn id="5" idx="2"/>
          </p:cNvCxnSpPr>
          <p:nvPr/>
        </p:nvCxnSpPr>
        <p:spPr>
          <a:xfrm flipH="1" flipV="1">
            <a:off x="2467255" y="2061884"/>
            <a:ext cx="1312265" cy="39683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690880" y="3464560"/>
            <a:ext cx="48768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 flipV="1">
            <a:off x="1178560" y="3464560"/>
            <a:ext cx="41656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6240" y="4954170"/>
            <a:ext cx="5365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man walked to the park</a:t>
            </a:r>
          </a:p>
        </p:txBody>
      </p:sp>
      <p:cxnSp>
        <p:nvCxnSpPr>
          <p:cNvPr id="14" name="Straight Connector 13"/>
          <p:cNvCxnSpPr>
            <a:stCxn id="21" idx="2"/>
          </p:cNvCxnSpPr>
          <p:nvPr/>
        </p:nvCxnSpPr>
        <p:spPr>
          <a:xfrm flipH="1">
            <a:off x="2753360" y="2935068"/>
            <a:ext cx="1115988" cy="169593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21" idx="2"/>
          </p:cNvCxnSpPr>
          <p:nvPr/>
        </p:nvCxnSpPr>
        <p:spPr>
          <a:xfrm>
            <a:off x="3869348" y="2935068"/>
            <a:ext cx="384181" cy="27434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30" idx="2"/>
          </p:cNvCxnSpPr>
          <p:nvPr/>
        </p:nvCxnSpPr>
        <p:spPr>
          <a:xfrm flipH="1">
            <a:off x="3830320" y="3631028"/>
            <a:ext cx="609600" cy="99997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30" idx="2"/>
          </p:cNvCxnSpPr>
          <p:nvPr/>
        </p:nvCxnSpPr>
        <p:spPr>
          <a:xfrm flipH="1" flipV="1">
            <a:off x="4439920" y="3631028"/>
            <a:ext cx="277830" cy="250092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9" idx="2"/>
          </p:cNvCxnSpPr>
          <p:nvPr/>
        </p:nvCxnSpPr>
        <p:spPr>
          <a:xfrm flipH="1">
            <a:off x="4439920" y="4320530"/>
            <a:ext cx="41624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92430" y="1538664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241" y="2920424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5190" y="3797310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2400" y="2411848"/>
            <a:ext cx="573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2089" y="3107808"/>
            <a:ext cx="555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PP</a:t>
            </a:r>
          </a:p>
        </p:txBody>
      </p:sp>
      <p:cxnSp>
        <p:nvCxnSpPr>
          <p:cNvPr id="43" name="Straight Connector 42"/>
          <p:cNvCxnSpPr>
            <a:endCxn id="19" idx="2"/>
          </p:cNvCxnSpPr>
          <p:nvPr/>
        </p:nvCxnSpPr>
        <p:spPr>
          <a:xfrm flipH="1" flipV="1">
            <a:off x="4856164" y="4320530"/>
            <a:ext cx="30097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997539" y="2420856"/>
            <a:ext cx="2836634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Key:</a:t>
            </a:r>
          </a:p>
          <a:p>
            <a:r>
              <a:rPr lang="en-US" sz="2000" dirty="0"/>
              <a:t>S = sentence</a:t>
            </a:r>
          </a:p>
          <a:p>
            <a:r>
              <a:rPr lang="en-US" sz="2000" dirty="0"/>
              <a:t>NP = noun phrase</a:t>
            </a:r>
          </a:p>
          <a:p>
            <a:r>
              <a:rPr lang="en-US" sz="2000" dirty="0"/>
              <a:t>VP = verb phrase</a:t>
            </a:r>
          </a:p>
          <a:p>
            <a:r>
              <a:rPr lang="en-US" sz="2000" dirty="0"/>
              <a:t>PP = prepositional phrase</a:t>
            </a:r>
          </a:p>
          <a:p>
            <a:r>
              <a:rPr lang="en-US" sz="2000" dirty="0"/>
              <a:t>DT = determiner</a:t>
            </a:r>
          </a:p>
          <a:p>
            <a:r>
              <a:rPr lang="en-US" sz="2000" dirty="0"/>
              <a:t>NN = noun</a:t>
            </a:r>
          </a:p>
          <a:p>
            <a:r>
              <a:rPr lang="en-US" sz="2000" dirty="0"/>
              <a:t>VBD = verb (past tense)</a:t>
            </a:r>
          </a:p>
          <a:p>
            <a:r>
              <a:rPr lang="en-US" sz="2000" dirty="0"/>
              <a:t>IN = preposition</a:t>
            </a:r>
          </a:p>
          <a:p>
            <a:endParaRPr lang="en-US" sz="2000" dirty="0"/>
          </a:p>
        </p:txBody>
      </p:sp>
      <p:sp>
        <p:nvSpPr>
          <p:cNvPr id="23" name="TextBox 22"/>
          <p:cNvSpPr txBox="1"/>
          <p:nvPr/>
        </p:nvSpPr>
        <p:spPr>
          <a:xfrm>
            <a:off x="440706" y="4589769"/>
            <a:ext cx="580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4841" y="4589769"/>
            <a:ext cx="6482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85975" y="4607538"/>
            <a:ext cx="3122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VBD      IN    DT    NN</a:t>
            </a:r>
          </a:p>
        </p:txBody>
      </p:sp>
    </p:spTree>
    <p:extLst>
      <p:ext uri="{BB962C8B-B14F-4D97-AF65-F5344CB8AC3E}">
        <p14:creationId xmlns:p14="http://schemas.microsoft.com/office/powerpoint/2010/main" val="5501636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Constituent Parse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7144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(S (NP the man) (VP walked (PP to (NP the park))))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</a:t>
            </a:fld>
            <a:endParaRPr lang="en-US"/>
          </a:p>
        </p:txBody>
      </p:sp>
      <p:cxnSp>
        <p:nvCxnSpPr>
          <p:cNvPr id="6" name="Straight Connector 5"/>
          <p:cNvCxnSpPr>
            <a:stCxn id="5" idx="2"/>
          </p:cNvCxnSpPr>
          <p:nvPr/>
        </p:nvCxnSpPr>
        <p:spPr>
          <a:xfrm flipH="1">
            <a:off x="1402080" y="2061884"/>
            <a:ext cx="1065175" cy="91499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endCxn id="5" idx="2"/>
          </p:cNvCxnSpPr>
          <p:nvPr/>
        </p:nvCxnSpPr>
        <p:spPr>
          <a:xfrm flipH="1" flipV="1">
            <a:off x="2467255" y="2061884"/>
            <a:ext cx="1312265" cy="39683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690880" y="3464560"/>
            <a:ext cx="48768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 flipV="1">
            <a:off x="1178560" y="3464560"/>
            <a:ext cx="41656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6240" y="4954170"/>
            <a:ext cx="5365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man walked to the park</a:t>
            </a:r>
          </a:p>
        </p:txBody>
      </p:sp>
      <p:cxnSp>
        <p:nvCxnSpPr>
          <p:cNvPr id="14" name="Straight Connector 13"/>
          <p:cNvCxnSpPr>
            <a:stCxn id="21" idx="2"/>
          </p:cNvCxnSpPr>
          <p:nvPr/>
        </p:nvCxnSpPr>
        <p:spPr>
          <a:xfrm flipH="1">
            <a:off x="2753360" y="2935068"/>
            <a:ext cx="1115988" cy="169593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21" idx="2"/>
          </p:cNvCxnSpPr>
          <p:nvPr/>
        </p:nvCxnSpPr>
        <p:spPr>
          <a:xfrm>
            <a:off x="3869348" y="2935068"/>
            <a:ext cx="384181" cy="27434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30" idx="2"/>
          </p:cNvCxnSpPr>
          <p:nvPr/>
        </p:nvCxnSpPr>
        <p:spPr>
          <a:xfrm flipH="1">
            <a:off x="3830320" y="3631028"/>
            <a:ext cx="609600" cy="99997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endCxn id="30" idx="2"/>
          </p:cNvCxnSpPr>
          <p:nvPr/>
        </p:nvCxnSpPr>
        <p:spPr>
          <a:xfrm flipH="1" flipV="1">
            <a:off x="4439920" y="3631028"/>
            <a:ext cx="277830" cy="250092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9" idx="2"/>
          </p:cNvCxnSpPr>
          <p:nvPr/>
        </p:nvCxnSpPr>
        <p:spPr>
          <a:xfrm flipH="1">
            <a:off x="4439920" y="4320530"/>
            <a:ext cx="41624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92430" y="1538664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241" y="2920424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5190" y="3797310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2400" y="2411848"/>
            <a:ext cx="573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2089" y="3107808"/>
            <a:ext cx="555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PP</a:t>
            </a:r>
          </a:p>
        </p:txBody>
      </p:sp>
      <p:cxnSp>
        <p:nvCxnSpPr>
          <p:cNvPr id="43" name="Straight Connector 42"/>
          <p:cNvCxnSpPr>
            <a:endCxn id="19" idx="2"/>
          </p:cNvCxnSpPr>
          <p:nvPr/>
        </p:nvCxnSpPr>
        <p:spPr>
          <a:xfrm flipH="1" flipV="1">
            <a:off x="4856164" y="4320530"/>
            <a:ext cx="30097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40706" y="4589769"/>
            <a:ext cx="580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04841" y="4589769"/>
            <a:ext cx="6482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85975" y="4607538"/>
            <a:ext cx="3122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VBD      IN    DT    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1360" y="4443828"/>
            <a:ext cx="2647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>
                <a:solidFill>
                  <a:srgbClr val="FF6600"/>
                </a:solidFill>
              </a:rPr>
              <a:t>preterminals</a:t>
            </a:r>
            <a:endParaRPr lang="en-US" sz="3600" b="1" dirty="0">
              <a:solidFill>
                <a:srgbClr val="FF6600"/>
              </a:solidFill>
            </a:endParaRPr>
          </a:p>
        </p:txBody>
      </p:sp>
      <p:sp>
        <p:nvSpPr>
          <p:cNvPr id="27" name="Frame 26"/>
          <p:cNvSpPr/>
          <p:nvPr/>
        </p:nvSpPr>
        <p:spPr>
          <a:xfrm>
            <a:off x="396240" y="1538664"/>
            <a:ext cx="5365571" cy="3010464"/>
          </a:xfrm>
          <a:prstGeom prst="frame">
            <a:avLst>
              <a:gd name="adj1" fmla="val 2384"/>
            </a:avLst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953760" y="2886242"/>
            <a:ext cx="27470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>
                <a:solidFill>
                  <a:srgbClr val="008000"/>
                </a:solidFill>
              </a:rPr>
              <a:t>nonterminals</a:t>
            </a:r>
            <a:endParaRPr lang="en-US" sz="3600" b="1" dirty="0">
              <a:solidFill>
                <a:srgbClr val="008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53760" y="5059678"/>
            <a:ext cx="2003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BC0000"/>
                </a:solidFill>
              </a:rPr>
              <a:t>terminals</a:t>
            </a:r>
          </a:p>
        </p:txBody>
      </p:sp>
      <p:sp>
        <p:nvSpPr>
          <p:cNvPr id="8" name="Frame 7"/>
          <p:cNvSpPr/>
          <p:nvPr/>
        </p:nvSpPr>
        <p:spPr>
          <a:xfrm>
            <a:off x="314960" y="4549128"/>
            <a:ext cx="5365571" cy="541031"/>
          </a:xfrm>
          <a:prstGeom prst="frame">
            <a:avLst>
              <a:gd name="adj1" fmla="val 8796"/>
            </a:avLst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Frame 28"/>
          <p:cNvSpPr/>
          <p:nvPr/>
        </p:nvSpPr>
        <p:spPr>
          <a:xfrm>
            <a:off x="396240" y="5090158"/>
            <a:ext cx="5365571" cy="479863"/>
          </a:xfrm>
          <a:prstGeom prst="frame">
            <a:avLst>
              <a:gd name="adj1" fmla="val 8796"/>
            </a:avLst>
          </a:prstGeom>
          <a:solidFill>
            <a:srgbClr val="BC0000"/>
          </a:solidFill>
          <a:ln>
            <a:solidFill>
              <a:srgbClr val="B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24484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7" grpId="0" animBg="1"/>
      <p:bldP spid="28" grpId="0"/>
      <p:bldP spid="31" grpId="0"/>
      <p:bldP spid="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Attachment Ambiguity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 descr="pp-attachment-24-903s0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6100" y="1280398"/>
            <a:ext cx="5511800" cy="3393202"/>
          </a:xfrm>
          <a:prstGeom prst="rect">
            <a:avLst/>
          </a:prstGeom>
        </p:spPr>
      </p:pic>
      <p:pic>
        <p:nvPicPr>
          <p:cNvPr id="3" name="Picture 2" descr="groucho-marx-comedian-one-morning-i-shot-an-elephant-in-my-pajamas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64" b="2499"/>
          <a:stretch/>
        </p:blipFill>
        <p:spPr>
          <a:xfrm>
            <a:off x="1610628" y="1051798"/>
            <a:ext cx="6060171" cy="557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5990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NLP Task: Constituent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2880" y="961980"/>
            <a:ext cx="8778240" cy="5052424"/>
          </a:xfrm>
        </p:spPr>
        <p:txBody>
          <a:bodyPr>
            <a:normAutofit/>
          </a:bodyPr>
          <a:lstStyle/>
          <a:p>
            <a:r>
              <a:rPr lang="en-US" dirty="0"/>
              <a:t>given a sentence, output its constituent parse</a:t>
            </a:r>
          </a:p>
          <a:p>
            <a:r>
              <a:rPr lang="en-US" dirty="0"/>
              <a:t>widely-studied task with a rich history</a:t>
            </a:r>
          </a:p>
          <a:p>
            <a:r>
              <a:rPr lang="en-US" dirty="0"/>
              <a:t>most based on the Penn Treebank (Marcus et al.), developed at Penn in early 1990s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Treebank = “corpus of annotated parse trees”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 descr="mitch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8460" y="2786572"/>
            <a:ext cx="1427480" cy="199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0320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Context-Free Grammar (CFG)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has “rewrite rules” to rewrite </a:t>
            </a:r>
            <a:r>
              <a:rPr lang="en-US" dirty="0" err="1"/>
              <a:t>nonterminals</a:t>
            </a:r>
            <a:r>
              <a:rPr lang="en-US" dirty="0"/>
              <a:t> as terminals or other </a:t>
            </a:r>
            <a:r>
              <a:rPr lang="en-US" dirty="0" err="1"/>
              <a:t>nonterminals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S </a:t>
            </a:r>
            <a:r>
              <a:rPr lang="en-US" dirty="0">
                <a:sym typeface="Wingdings"/>
              </a:rPr>
              <a:t> NP  VP</a:t>
            </a:r>
          </a:p>
          <a:p>
            <a:pPr marL="457200" lvl="1" indent="0">
              <a:buNone/>
            </a:pPr>
            <a:r>
              <a:rPr lang="en-US" i="1" dirty="0">
                <a:sym typeface="Wingdings"/>
              </a:rPr>
              <a:t>“S goes to NP  VP”</a:t>
            </a:r>
            <a:endParaRPr lang="en-US" i="1" dirty="0"/>
          </a:p>
          <a:p>
            <a:pPr marL="457200" lvl="1" indent="0">
              <a:buNone/>
            </a:pPr>
            <a:r>
              <a:rPr lang="en-US" dirty="0"/>
              <a:t>NP </a:t>
            </a:r>
            <a:r>
              <a:rPr lang="en-US" dirty="0">
                <a:sym typeface="Wingdings"/>
              </a:rPr>
              <a:t> DT  NN</a:t>
            </a:r>
          </a:p>
          <a:p>
            <a:pPr marL="457200" lvl="1" indent="0">
              <a:buNone/>
            </a:pPr>
            <a:r>
              <a:rPr lang="en-US" dirty="0">
                <a:sym typeface="Wingdings"/>
              </a:rPr>
              <a:t>VP  VBD  PP</a:t>
            </a:r>
          </a:p>
          <a:p>
            <a:pPr marL="457200" lvl="1" indent="0">
              <a:buNone/>
            </a:pPr>
            <a:r>
              <a:rPr lang="en-US" dirty="0">
                <a:sym typeface="Wingdings"/>
              </a:rPr>
              <a:t>PP  IN  NP</a:t>
            </a:r>
          </a:p>
          <a:p>
            <a:pPr marL="457200" lvl="1" indent="0">
              <a:buNone/>
            </a:pPr>
            <a:r>
              <a:rPr lang="en-US" dirty="0">
                <a:sym typeface="Wingdings"/>
              </a:rPr>
              <a:t>NN  man</a:t>
            </a:r>
          </a:p>
          <a:p>
            <a:pPr marL="457200" lvl="1" indent="0">
              <a:buNone/>
            </a:pPr>
            <a:r>
              <a:rPr lang="en-US" dirty="0">
                <a:sym typeface="Wingdings"/>
              </a:rPr>
              <a:t>DT  the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2322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Context-Free Grammar (CFG)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585200" cy="5052424"/>
          </a:xfrm>
        </p:spPr>
        <p:txBody>
          <a:bodyPr>
            <a:normAutofit/>
          </a:bodyPr>
          <a:lstStyle/>
          <a:p>
            <a:r>
              <a:rPr lang="en-US" dirty="0"/>
              <a:t>sequence of rewrites corresponds to a bracketing (induces a hierarchical tree structure)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11</a:t>
            </a:fld>
            <a:endParaRPr lang="en-US"/>
          </a:p>
        </p:txBody>
      </p:sp>
      <p:cxnSp>
        <p:nvCxnSpPr>
          <p:cNvPr id="5" name="Straight Connector 4"/>
          <p:cNvCxnSpPr>
            <a:stCxn id="15" idx="2"/>
          </p:cNvCxnSpPr>
          <p:nvPr/>
        </p:nvCxnSpPr>
        <p:spPr>
          <a:xfrm flipH="1">
            <a:off x="4304843" y="2542163"/>
            <a:ext cx="1065175" cy="91499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endCxn id="15" idx="2"/>
          </p:cNvCxnSpPr>
          <p:nvPr/>
        </p:nvCxnSpPr>
        <p:spPr>
          <a:xfrm flipH="1" flipV="1">
            <a:off x="5370018" y="2542163"/>
            <a:ext cx="1312265" cy="396836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3593643" y="3944839"/>
            <a:ext cx="48768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 flipV="1">
            <a:off x="4081323" y="3944839"/>
            <a:ext cx="416560" cy="116644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299003" y="5434449"/>
            <a:ext cx="5365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the man walked to the park</a:t>
            </a:r>
          </a:p>
        </p:txBody>
      </p:sp>
      <p:cxnSp>
        <p:nvCxnSpPr>
          <p:cNvPr id="10" name="Straight Connector 9"/>
          <p:cNvCxnSpPr>
            <a:stCxn id="18" idx="2"/>
          </p:cNvCxnSpPr>
          <p:nvPr/>
        </p:nvCxnSpPr>
        <p:spPr>
          <a:xfrm flipH="1">
            <a:off x="5656123" y="3415347"/>
            <a:ext cx="1115988" cy="169593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18" idx="2"/>
          </p:cNvCxnSpPr>
          <p:nvPr/>
        </p:nvCxnSpPr>
        <p:spPr>
          <a:xfrm>
            <a:off x="6772111" y="3415347"/>
            <a:ext cx="384181" cy="274340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19" idx="2"/>
          </p:cNvCxnSpPr>
          <p:nvPr/>
        </p:nvCxnSpPr>
        <p:spPr>
          <a:xfrm flipH="1">
            <a:off x="6733083" y="4111307"/>
            <a:ext cx="609600" cy="999977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endCxn id="19" idx="2"/>
          </p:cNvCxnSpPr>
          <p:nvPr/>
        </p:nvCxnSpPr>
        <p:spPr>
          <a:xfrm flipH="1" flipV="1">
            <a:off x="7342683" y="4111307"/>
            <a:ext cx="277830" cy="250092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17" idx="2"/>
          </p:cNvCxnSpPr>
          <p:nvPr/>
        </p:nvCxnSpPr>
        <p:spPr>
          <a:xfrm flipH="1">
            <a:off x="7342683" y="4800809"/>
            <a:ext cx="41624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195193" y="2018943"/>
            <a:ext cx="3496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4" y="3400703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7953" y="4277589"/>
            <a:ext cx="601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5163" y="2892127"/>
            <a:ext cx="5738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4852" y="3588087"/>
            <a:ext cx="5556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PP</a:t>
            </a:r>
          </a:p>
        </p:txBody>
      </p:sp>
      <p:cxnSp>
        <p:nvCxnSpPr>
          <p:cNvPr id="20" name="Straight Connector 19"/>
          <p:cNvCxnSpPr>
            <a:endCxn id="17" idx="2"/>
          </p:cNvCxnSpPr>
          <p:nvPr/>
        </p:nvCxnSpPr>
        <p:spPr>
          <a:xfrm flipH="1" flipV="1">
            <a:off x="7758927" y="4800809"/>
            <a:ext cx="300974" cy="310475"/>
          </a:xfrm>
          <a:prstGeom prst="line">
            <a:avLst/>
          </a:prstGeom>
          <a:ln w="57150" cap="rnd" cmpd="sng">
            <a:round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43469" y="5070048"/>
            <a:ext cx="5805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7604" y="5070048"/>
            <a:ext cx="6482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8738" y="5087817"/>
            <a:ext cx="3122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VBD      IN    DT    NN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7174" y="2542163"/>
            <a:ext cx="18618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BC0000"/>
                </a:solidFill>
              </a:rPr>
              <a:t>S </a:t>
            </a:r>
            <a:r>
              <a:rPr lang="en-US" sz="2800" b="1" dirty="0">
                <a:solidFill>
                  <a:srgbClr val="BC0000"/>
                </a:solidFill>
                <a:sym typeface="Wingdings"/>
              </a:rPr>
              <a:t> NP  VP</a:t>
            </a:r>
            <a:endParaRPr lang="en-US" sz="2800" b="1" dirty="0">
              <a:solidFill>
                <a:srgbClr val="BC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39574" y="3944839"/>
            <a:ext cx="21658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BC0000"/>
                </a:solidFill>
              </a:rPr>
              <a:t>NP </a:t>
            </a:r>
            <a:r>
              <a:rPr lang="en-US" sz="2800" b="1" dirty="0">
                <a:solidFill>
                  <a:srgbClr val="BC0000"/>
                </a:solidFill>
                <a:sym typeface="Wingdings"/>
              </a:rPr>
              <a:t> DT  NN</a:t>
            </a:r>
            <a:endParaRPr lang="en-US" sz="2800" b="1" dirty="0">
              <a:solidFill>
                <a:srgbClr val="BC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008001" y="3172679"/>
            <a:ext cx="2286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BC0000"/>
                </a:solidFill>
              </a:rPr>
              <a:t>VP </a:t>
            </a:r>
            <a:r>
              <a:rPr lang="en-US" sz="2800" b="1" dirty="0">
                <a:solidFill>
                  <a:srgbClr val="BC0000"/>
                </a:solidFill>
                <a:sym typeface="Wingdings"/>
              </a:rPr>
              <a:t> VBD PP</a:t>
            </a:r>
            <a:endParaRPr lang="en-US" sz="2800" b="1" dirty="0">
              <a:solidFill>
                <a:srgbClr val="BC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539574" y="5331658"/>
            <a:ext cx="1600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BC0000"/>
                </a:solidFill>
              </a:rPr>
              <a:t>DT </a:t>
            </a:r>
            <a:r>
              <a:rPr lang="en-US" sz="2800" b="1" dirty="0">
                <a:solidFill>
                  <a:srgbClr val="BC0000"/>
                </a:solidFill>
                <a:sym typeface="Wingdings"/>
              </a:rPr>
              <a:t> the</a:t>
            </a:r>
            <a:endParaRPr lang="en-US" sz="2800" b="1" dirty="0">
              <a:solidFill>
                <a:srgbClr val="BC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03184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“context-free”?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rule to rewrite NP does not depend on the context of NP</a:t>
            </a:r>
          </a:p>
          <a:p>
            <a:r>
              <a:rPr lang="en-US" dirty="0"/>
              <a:t>that is, the left-hand side of a rule is only a single non-terminal (without any other context)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6906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Probabilistic Context-Free Grammar (PCFG)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 probabilities to rewrite rules:</a:t>
            </a:r>
          </a:p>
          <a:p>
            <a:pPr marL="457200" lvl="1" indent="0">
              <a:buNone/>
            </a:pPr>
            <a:r>
              <a:rPr lang="en-US" dirty="0"/>
              <a:t>NP </a:t>
            </a:r>
            <a:r>
              <a:rPr lang="en-US" dirty="0">
                <a:sym typeface="Wingdings"/>
              </a:rPr>
              <a:t> DT  NN	0.5</a:t>
            </a:r>
          </a:p>
          <a:p>
            <a:pPr marL="457200" lvl="1" indent="0">
              <a:buNone/>
            </a:pPr>
            <a:r>
              <a:rPr lang="en-US" dirty="0">
                <a:sym typeface="Wingdings"/>
              </a:rPr>
              <a:t>NP  NNS		0.3</a:t>
            </a:r>
          </a:p>
          <a:p>
            <a:pPr marL="457200" lvl="1" indent="0">
              <a:buNone/>
            </a:pPr>
            <a:r>
              <a:rPr lang="en-US" dirty="0">
                <a:sym typeface="Wingdings"/>
              </a:rPr>
              <a:t>NP  NP  PP	0.2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1706880" y="3180080"/>
            <a:ext cx="335280" cy="812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 flipV="1">
            <a:off x="1239520" y="3180080"/>
            <a:ext cx="467360" cy="812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39520" y="4003040"/>
            <a:ext cx="56874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288CD2"/>
                </a:solidFill>
              </a:rPr>
              <a:t>same nonterminal can be on both left and right sides</a:t>
            </a:r>
          </a:p>
        </p:txBody>
      </p:sp>
    </p:spTree>
    <p:extLst>
      <p:ext uri="{BB962C8B-B14F-4D97-AF65-F5344CB8AC3E}">
        <p14:creationId xmlns:p14="http://schemas.microsoft.com/office/powerpoint/2010/main" val="2034145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Probabilistic Context-Free Grammar (PCFG)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 probabilities to rewrite rules:</a:t>
            </a:r>
          </a:p>
          <a:p>
            <a:pPr marL="457200" lvl="1" indent="0">
              <a:buNone/>
            </a:pPr>
            <a:r>
              <a:rPr lang="en-US" dirty="0"/>
              <a:t>NP </a:t>
            </a:r>
            <a:r>
              <a:rPr lang="en-US" dirty="0">
                <a:sym typeface="Wingdings"/>
              </a:rPr>
              <a:t> DT  NN	0.5</a:t>
            </a:r>
          </a:p>
          <a:p>
            <a:pPr marL="457200" lvl="1" indent="0">
              <a:buNone/>
            </a:pPr>
            <a:r>
              <a:rPr lang="en-US" dirty="0">
                <a:sym typeface="Wingdings"/>
              </a:rPr>
              <a:t>NP  NNS		0.3</a:t>
            </a:r>
          </a:p>
          <a:p>
            <a:pPr marL="457200" lvl="1" indent="0">
              <a:buNone/>
            </a:pPr>
            <a:r>
              <a:rPr lang="en-US" dirty="0">
                <a:sym typeface="Wingdings"/>
              </a:rPr>
              <a:t>NP  NP  PP	0.2</a:t>
            </a:r>
          </a:p>
          <a:p>
            <a:pPr marL="457200" lvl="1" indent="0">
              <a:buNone/>
            </a:pPr>
            <a:endParaRPr lang="en-US" dirty="0">
              <a:sym typeface="Wingdings"/>
            </a:endParaRPr>
          </a:p>
          <a:p>
            <a:pPr marL="457200" lvl="1" indent="0">
              <a:buNone/>
            </a:pPr>
            <a:r>
              <a:rPr lang="en-US" dirty="0">
                <a:sym typeface="Wingdings"/>
              </a:rPr>
              <a:t>probabilities must sum to one for each left-hand side nonterminal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0722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Probabilistic Context-Free Grammar (PCFG)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assign probabilities to rewrite rules:</a:t>
            </a:r>
          </a:p>
          <a:p>
            <a:pPr marL="457200" lvl="1" indent="0">
              <a:buNone/>
            </a:pPr>
            <a:r>
              <a:rPr lang="en-US" dirty="0"/>
              <a:t>NP </a:t>
            </a:r>
            <a:r>
              <a:rPr lang="en-US" dirty="0">
                <a:sym typeface="Wingdings"/>
              </a:rPr>
              <a:t> DT  NN	0.5</a:t>
            </a:r>
          </a:p>
          <a:p>
            <a:pPr marL="457200" lvl="1" indent="0">
              <a:buNone/>
            </a:pPr>
            <a:r>
              <a:rPr lang="en-US" dirty="0">
                <a:sym typeface="Wingdings"/>
              </a:rPr>
              <a:t>NP  NNS		0.3</a:t>
            </a:r>
          </a:p>
          <a:p>
            <a:pPr marL="457200" lvl="1" indent="0">
              <a:buNone/>
            </a:pPr>
            <a:r>
              <a:rPr lang="en-US" dirty="0">
                <a:sym typeface="Wingdings"/>
              </a:rPr>
              <a:t>NP  NP  PP	0.2</a:t>
            </a:r>
          </a:p>
          <a:p>
            <a:pPr marL="457200" lvl="1" indent="0">
              <a:buNone/>
            </a:pPr>
            <a:endParaRPr lang="en-US" dirty="0">
              <a:sym typeface="Wingdings"/>
            </a:endParaRPr>
          </a:p>
          <a:p>
            <a:pPr marL="457200" lvl="1" indent="0">
              <a:buNone/>
            </a:pPr>
            <a:r>
              <a:rPr lang="en-US" dirty="0">
                <a:sym typeface="Wingdings"/>
              </a:rPr>
              <a:t>NN  man		0.01</a:t>
            </a:r>
          </a:p>
          <a:p>
            <a:pPr marL="457200" lvl="1" indent="0">
              <a:buNone/>
            </a:pPr>
            <a:r>
              <a:rPr lang="en-US" dirty="0">
                <a:sym typeface="Wingdings"/>
              </a:rPr>
              <a:t>NN  park		0.0004</a:t>
            </a:r>
          </a:p>
          <a:p>
            <a:pPr marL="457200" lvl="1" indent="0">
              <a:buNone/>
            </a:pPr>
            <a:r>
              <a:rPr lang="en-US" dirty="0">
                <a:sym typeface="Wingdings"/>
              </a:rPr>
              <a:t>NN  walk		0.002</a:t>
            </a:r>
          </a:p>
          <a:p>
            <a:pPr marL="457200" lvl="1" indent="0">
              <a:buNone/>
            </a:pPr>
            <a:r>
              <a:rPr lang="en-US" dirty="0">
                <a:sym typeface="Wingdings"/>
              </a:rPr>
              <a:t>NN  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765041" y="1993483"/>
            <a:ext cx="42062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given a </a:t>
            </a:r>
            <a:r>
              <a:rPr lang="en-US" sz="2400" dirty="0" err="1"/>
              <a:t>treebank</a:t>
            </a:r>
            <a:r>
              <a:rPr lang="en-US" sz="2400" dirty="0"/>
              <a:t>, we can estimate these probabilities using maximum likelihood estimation </a:t>
            </a:r>
            <a:r>
              <a:rPr lang="en-US" sz="2400" dirty="0" smtClean="0"/>
              <a:t>(“</a:t>
            </a:r>
            <a:r>
              <a:rPr lang="en-US" sz="2400" dirty="0"/>
              <a:t>count and normalize”</a:t>
            </a:r>
            <a:r>
              <a:rPr lang="en-US" sz="2400" dirty="0" smtClean="0"/>
              <a:t>)</a:t>
            </a:r>
          </a:p>
          <a:p>
            <a:endParaRPr lang="en-US" sz="2400" dirty="0"/>
          </a:p>
          <a:p>
            <a:r>
              <a:rPr lang="en-US" sz="2400" dirty="0"/>
              <a:t>just like </a:t>
            </a:r>
            <a:r>
              <a:rPr lang="en-US" sz="2400" dirty="0" smtClean="0"/>
              <a:t>n</a:t>
            </a:r>
            <a:r>
              <a:rPr lang="en-US" sz="2400" dirty="0"/>
              <a:t>-gram </a:t>
            </a:r>
            <a:r>
              <a:rPr lang="en-US" sz="2400" dirty="0" smtClean="0"/>
              <a:t>language models </a:t>
            </a:r>
            <a:r>
              <a:rPr lang="en-US" sz="2400" dirty="0"/>
              <a:t>and HMMs for POS tagging</a:t>
            </a:r>
          </a:p>
        </p:txBody>
      </p:sp>
    </p:spTree>
    <p:extLst>
      <p:ext uri="{BB962C8B-B14F-4D97-AF65-F5344CB8AC3E}">
        <p14:creationId xmlns:p14="http://schemas.microsoft.com/office/powerpoint/2010/main" val="4747635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Probabilistic Context-Free Grammar (PCFG)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for each nonterminal, a PCFG has a probability distribution over possible right-hand side sequences</a:t>
            </a:r>
          </a:p>
          <a:p>
            <a:r>
              <a:rPr lang="en-US" dirty="0"/>
              <a:t>so, a PCFG assigns probabilities to:</a:t>
            </a:r>
          </a:p>
          <a:p>
            <a:pPr lvl="1"/>
            <a:r>
              <a:rPr lang="en-US" dirty="0" err="1"/>
              <a:t>bracketings</a:t>
            </a:r>
            <a:r>
              <a:rPr lang="en-US" dirty="0"/>
              <a:t> of sentences</a:t>
            </a:r>
          </a:p>
          <a:p>
            <a:pPr lvl="1"/>
            <a:r>
              <a:rPr lang="en-US" dirty="0"/>
              <a:t>sequences of rewrite operations (</a:t>
            </a:r>
            <a:r>
              <a:rPr lang="en-US" b="1" dirty="0">
                <a:solidFill>
                  <a:srgbClr val="288CD2"/>
                </a:solidFill>
              </a:rPr>
              <a:t>derivations</a:t>
            </a:r>
            <a:r>
              <a:rPr lang="en-US" dirty="0"/>
              <a:t>) that eventually terminate in terminals</a:t>
            </a:r>
          </a:p>
          <a:p>
            <a:pPr lvl="1"/>
            <a:r>
              <a:rPr lang="en-US" dirty="0"/>
              <a:t>hierarchical tree structures that ground out in sequences of terminals</a:t>
            </a:r>
          </a:p>
          <a:p>
            <a:r>
              <a:rPr lang="en-US" dirty="0"/>
              <a:t>these are different ways of saying the same thing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208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Constituent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evaluation: </a:t>
            </a:r>
            <a:r>
              <a:rPr lang="en-US" dirty="0" err="1">
                <a:latin typeface="Courier New"/>
                <a:cs typeface="Courier New"/>
              </a:rPr>
              <a:t>evalb</a:t>
            </a:r>
            <a:r>
              <a:rPr lang="en-US" dirty="0"/>
              <a:t> score</a:t>
            </a:r>
          </a:p>
          <a:p>
            <a:pPr lvl="1"/>
            <a:r>
              <a:rPr lang="en-US" dirty="0"/>
              <a:t>first compute precision and recall (at the level of constituents)</a:t>
            </a:r>
          </a:p>
          <a:p>
            <a:pPr lvl="1"/>
            <a:r>
              <a:rPr lang="en-US" dirty="0"/>
              <a:t>then compute F1 (harmonic mean of precision and recall)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0840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Precision, Recall, F1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83240"/>
            <a:ext cx="8229600" cy="5473110"/>
          </a:xfrm>
        </p:spPr>
        <p:txBody>
          <a:bodyPr>
            <a:normAutofit/>
          </a:bodyPr>
          <a:lstStyle/>
          <a:p>
            <a:r>
              <a:rPr lang="en-US" b="1" dirty="0" smtClean="0"/>
              <a:t>precision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what fraction of the things I found are good?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sz="1600" dirty="0"/>
          </a:p>
          <a:p>
            <a:r>
              <a:rPr lang="en-US" b="1" dirty="0" smtClean="0"/>
              <a:t>recall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what fraction of good things did I find?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sz="2000" dirty="0"/>
          </a:p>
          <a:p>
            <a:r>
              <a:rPr lang="en-US" b="1" dirty="0" smtClean="0"/>
              <a:t>F1 score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harmonic mean of precision and recall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3625" y="2178050"/>
            <a:ext cx="2228850" cy="9779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3624" y="4121150"/>
            <a:ext cx="2212975" cy="970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1122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Modeling, Inference, Learning</a:t>
            </a:r>
          </a:p>
        </p:txBody>
      </p:sp>
      <p:cxnSp>
        <p:nvCxnSpPr>
          <p:cNvPr id="8" name="Straight Arrow Connector 7"/>
          <p:cNvCxnSpPr/>
          <p:nvPr/>
        </p:nvCxnSpPr>
        <p:spPr bwMode="auto">
          <a:xfrm flipV="1">
            <a:off x="5907224" y="2527564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5366668" y="3056704"/>
            <a:ext cx="256031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lang="en-US" sz="2400" b="1" i="0" dirty="0">
                <a:solidFill>
                  <a:srgbClr val="FF0000"/>
                </a:solidFill>
                <a:latin typeface="Calibri"/>
                <a:cs typeface="Calibri"/>
              </a:rPr>
              <a:t>earning</a:t>
            </a:r>
            <a:r>
              <a:rPr lang="en-US" sz="2400" i="0" dirty="0">
                <a:solidFill>
                  <a:srgbClr val="FF0000"/>
                </a:solidFill>
                <a:latin typeface="Calibri"/>
                <a:cs typeface="Calibri"/>
              </a:rPr>
              <a:t>: choose  </a:t>
            </a: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endParaRPr lang="en-US" sz="2400" i="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cxnSp>
        <p:nvCxnSpPr>
          <p:cNvPr id="16" name="Straight Arrow Connector 15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383" y="1422405"/>
            <a:ext cx="647700" cy="152400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 bwMode="auto">
          <a:xfrm>
            <a:off x="3699925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1045609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625" y="1414131"/>
            <a:ext cx="990600" cy="2159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F0EE71DC-F7BE-E844-801B-07F60073C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4280" y="3253501"/>
            <a:ext cx="228600" cy="139700"/>
          </a:xfrm>
          <a:prstGeom prst="rect">
            <a:avLst/>
          </a:prstGeom>
        </p:spPr>
      </p:pic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305229" y="3056705"/>
            <a:ext cx="8686800" cy="3489198"/>
          </a:xfrm>
        </p:spPr>
        <p:txBody>
          <a:bodyPr>
            <a:normAutofit/>
          </a:bodyPr>
          <a:lstStyle/>
          <a:p>
            <a:r>
              <a:rPr lang="en-US" b="1" i="1" dirty="0"/>
              <a:t>x</a:t>
            </a:r>
            <a:r>
              <a:rPr lang="en-US" dirty="0"/>
              <a:t> = a sentence</a:t>
            </a:r>
          </a:p>
          <a:p>
            <a:r>
              <a:rPr lang="en-US" b="1" i="1" dirty="0"/>
              <a:t>y</a:t>
            </a:r>
            <a:r>
              <a:rPr lang="en-US" dirty="0"/>
              <a:t> = a constituent parse</a:t>
            </a:r>
          </a:p>
          <a:p>
            <a:r>
              <a:rPr lang="en-US" dirty="0"/>
              <a:t>inference requires iterating over all possible constituent parses!</a:t>
            </a:r>
          </a:p>
          <a:p>
            <a:r>
              <a:rPr lang="en-US" dirty="0"/>
              <a:t>this can be done using dynamic programming but is still expensive (cubic in the sentence length)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="" xmlns:a16="http://schemas.microsoft.com/office/drawing/2014/main" id="{C76FF297-B816-2747-9965-13AC5C409A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872" y="2208346"/>
            <a:ext cx="51816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2885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Inference in PCFGs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496300" cy="5052424"/>
          </a:xfrm>
        </p:spPr>
        <p:txBody>
          <a:bodyPr/>
          <a:lstStyle/>
          <a:p>
            <a:r>
              <a:rPr lang="en-US" dirty="0" smtClean="0"/>
              <a:t>to find max-probability tree for a sentence, use dynamic programming: </a:t>
            </a:r>
            <a:r>
              <a:rPr lang="en-US" b="1" dirty="0" smtClean="0">
                <a:solidFill>
                  <a:srgbClr val="288CD2"/>
                </a:solidFill>
              </a:rPr>
              <a:t>CKY algorithm</a:t>
            </a:r>
          </a:p>
          <a:p>
            <a:r>
              <a:rPr lang="en-US" dirty="0" smtClean="0"/>
              <a:t>to find the best way to build a tree covering words </a:t>
            </a:r>
            <a:r>
              <a:rPr lang="en-US" i="1" dirty="0" err="1" smtClean="0"/>
              <a:t>i</a:t>
            </a:r>
            <a:r>
              <a:rPr lang="en-US" dirty="0" smtClean="0"/>
              <a:t> to </a:t>
            </a:r>
            <a:r>
              <a:rPr lang="en-US" i="1" dirty="0" smtClean="0"/>
              <a:t>j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consider all possible “split points” </a:t>
            </a:r>
            <a:r>
              <a:rPr lang="en-US" i="1" dirty="0" smtClean="0"/>
              <a:t>k</a:t>
            </a:r>
            <a:r>
              <a:rPr lang="en-US" dirty="0" smtClean="0"/>
              <a:t> between </a:t>
            </a:r>
            <a:r>
              <a:rPr lang="en-US" i="1" dirty="0" err="1" smtClean="0"/>
              <a:t>i</a:t>
            </a:r>
            <a:r>
              <a:rPr lang="en-US" dirty="0" smtClean="0"/>
              <a:t> and </a:t>
            </a:r>
            <a:r>
              <a:rPr lang="en-US" i="1" dirty="0" smtClean="0"/>
              <a:t>j</a:t>
            </a:r>
          </a:p>
          <a:p>
            <a:pPr lvl="1"/>
            <a:r>
              <a:rPr lang="en-US" dirty="0" smtClean="0"/>
              <a:t>for each split point </a:t>
            </a:r>
            <a:r>
              <a:rPr lang="en-US" i="1" dirty="0" smtClean="0"/>
              <a:t>k</a:t>
            </a:r>
            <a:r>
              <a:rPr lang="en-US" dirty="0" smtClean="0"/>
              <a:t>, consider all possible </a:t>
            </a:r>
            <a:r>
              <a:rPr lang="en-US" dirty="0" err="1" smtClean="0"/>
              <a:t>nonterminals</a:t>
            </a:r>
            <a:r>
              <a:rPr lang="en-US" dirty="0" smtClean="0"/>
              <a:t> for the two smaller trees created by that split</a:t>
            </a:r>
            <a:endParaRPr lang="en-US" b="1" dirty="0" smtClean="0">
              <a:solidFill>
                <a:srgbClr val="288CD2"/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1305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86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533400"/>
            <a:ext cx="7762875" cy="5164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42668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91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800598"/>
            <a:ext cx="6629400" cy="4751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1138273"/>
            <a:ext cx="8140700" cy="4826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CKY Algorithm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1279" y="2369206"/>
            <a:ext cx="2526353" cy="1938992"/>
          </a:xfrm>
          <a:prstGeom prst="rect">
            <a:avLst/>
          </a:prstGeom>
          <a:solidFill>
            <a:srgbClr val="FFFFFF"/>
          </a:solidFill>
          <a:ln w="28575" cmpd="sng">
            <a:solidFill>
              <a:srgbClr val="80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800000"/>
                </a:solidFill>
              </a:rPr>
              <a:t>max probability </a:t>
            </a:r>
          </a:p>
          <a:p>
            <a:pPr algn="ctr"/>
            <a:r>
              <a:rPr lang="en-US" sz="2400" dirty="0" smtClean="0">
                <a:solidFill>
                  <a:srgbClr val="800000"/>
                </a:solidFill>
              </a:rPr>
              <a:t>of all ways to </a:t>
            </a:r>
          </a:p>
          <a:p>
            <a:pPr algn="ctr"/>
            <a:r>
              <a:rPr lang="en-US" sz="2400" dirty="0" smtClean="0">
                <a:solidFill>
                  <a:srgbClr val="800000"/>
                </a:solidFill>
              </a:rPr>
              <a:t>build a constituent </a:t>
            </a:r>
          </a:p>
          <a:p>
            <a:pPr algn="ctr"/>
            <a:r>
              <a:rPr lang="en-US" sz="2400" dirty="0" smtClean="0">
                <a:solidFill>
                  <a:srgbClr val="800000"/>
                </a:solidFill>
              </a:rPr>
              <a:t>with nonterminal</a:t>
            </a:r>
          </a:p>
          <a:p>
            <a:pPr algn="ctr"/>
            <a:r>
              <a:rPr lang="en-US" sz="2400" i="1" dirty="0" smtClean="0">
                <a:solidFill>
                  <a:srgbClr val="800000"/>
                </a:solidFill>
              </a:rPr>
              <a:t>Z</a:t>
            </a:r>
            <a:r>
              <a:rPr lang="en-US" sz="2400" dirty="0" smtClean="0">
                <a:solidFill>
                  <a:srgbClr val="800000"/>
                </a:solidFill>
              </a:rPr>
              <a:t> from </a:t>
            </a:r>
            <a:r>
              <a:rPr lang="en-US" sz="2400" i="1" dirty="0" err="1" smtClean="0">
                <a:solidFill>
                  <a:srgbClr val="800000"/>
                </a:solidFill>
              </a:rPr>
              <a:t>i</a:t>
            </a:r>
            <a:r>
              <a:rPr lang="en-US" sz="2400" dirty="0" smtClean="0">
                <a:solidFill>
                  <a:srgbClr val="800000"/>
                </a:solidFill>
              </a:rPr>
              <a:t> to </a:t>
            </a:r>
            <a:r>
              <a:rPr lang="en-US" sz="2400" i="1" dirty="0" smtClean="0">
                <a:solidFill>
                  <a:srgbClr val="800000"/>
                </a:solidFill>
              </a:rPr>
              <a:t>j</a:t>
            </a:r>
            <a:endParaRPr lang="en-US" sz="2400" i="1" dirty="0">
              <a:solidFill>
                <a:srgbClr val="800000"/>
              </a:solidFill>
            </a:endParaRPr>
          </a:p>
        </p:txBody>
      </p:sp>
      <p:cxnSp>
        <p:nvCxnSpPr>
          <p:cNvPr id="7" name="Straight Arrow Connector 6"/>
          <p:cNvCxnSpPr>
            <a:stCxn id="6" idx="0"/>
          </p:cNvCxnSpPr>
          <p:nvPr/>
        </p:nvCxnSpPr>
        <p:spPr bwMode="auto">
          <a:xfrm flipH="1" flipV="1">
            <a:off x="1143009" y="1508126"/>
            <a:ext cx="171447" cy="86108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80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3469706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91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800598"/>
            <a:ext cx="6629400" cy="4751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1138273"/>
            <a:ext cx="8140700" cy="4826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CKY Algorithm</a:t>
            </a:r>
            <a:endParaRPr lang="en-US" dirty="0"/>
          </a:p>
        </p:txBody>
      </p:sp>
      <p:cxnSp>
        <p:nvCxnSpPr>
          <p:cNvPr id="7" name="Straight Arrow Connector 6"/>
          <p:cNvCxnSpPr>
            <a:stCxn id="6" idx="0"/>
          </p:cNvCxnSpPr>
          <p:nvPr/>
        </p:nvCxnSpPr>
        <p:spPr bwMode="auto">
          <a:xfrm flipV="1">
            <a:off x="1704638" y="1620874"/>
            <a:ext cx="612592" cy="74833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80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Straight Arrow Connector 8"/>
          <p:cNvCxnSpPr/>
          <p:nvPr/>
        </p:nvCxnSpPr>
        <p:spPr bwMode="auto">
          <a:xfrm flipH="1" flipV="1">
            <a:off x="3048000" y="1620874"/>
            <a:ext cx="873125" cy="74833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80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/>
          <p:cNvSpPr txBox="1"/>
          <p:nvPr/>
        </p:nvSpPr>
        <p:spPr>
          <a:xfrm>
            <a:off x="924391" y="2369206"/>
            <a:ext cx="1560493" cy="830997"/>
          </a:xfrm>
          <a:prstGeom prst="rect">
            <a:avLst/>
          </a:prstGeom>
          <a:solidFill>
            <a:srgbClr val="FFFFFF"/>
          </a:solidFill>
          <a:ln w="28575" cmpd="sng">
            <a:solidFill>
              <a:srgbClr val="80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800000"/>
                </a:solidFill>
              </a:rPr>
              <a:t>max over</a:t>
            </a:r>
          </a:p>
          <a:p>
            <a:pPr algn="ctr"/>
            <a:r>
              <a:rPr lang="en-US" sz="2400" dirty="0" smtClean="0">
                <a:solidFill>
                  <a:srgbClr val="800000"/>
                </a:solidFill>
              </a:rPr>
              <a:t>split points</a:t>
            </a:r>
            <a:endParaRPr lang="en-US" sz="2400" dirty="0">
              <a:solidFill>
                <a:srgbClr val="8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13664" y="2363744"/>
            <a:ext cx="2239766" cy="1200328"/>
          </a:xfrm>
          <a:prstGeom prst="rect">
            <a:avLst/>
          </a:prstGeom>
          <a:solidFill>
            <a:schemeClr val="bg1"/>
          </a:solidFill>
          <a:ln w="28575" cmpd="sng">
            <a:solidFill>
              <a:srgbClr val="80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solidFill>
                  <a:srgbClr val="800000"/>
                </a:solidFill>
              </a:rPr>
              <a:t>max over</a:t>
            </a:r>
          </a:p>
          <a:p>
            <a:pPr algn="ctr"/>
            <a:r>
              <a:rPr lang="en-US" sz="2400" dirty="0" err="1" smtClean="0">
                <a:solidFill>
                  <a:srgbClr val="800000"/>
                </a:solidFill>
              </a:rPr>
              <a:t>nonterminals</a:t>
            </a:r>
            <a:endParaRPr lang="en-US" sz="2400" dirty="0">
              <a:solidFill>
                <a:srgbClr val="800000"/>
              </a:solidFill>
            </a:endParaRPr>
          </a:p>
          <a:p>
            <a:pPr algn="ctr"/>
            <a:r>
              <a:rPr lang="en-US" sz="2400" dirty="0" smtClean="0">
                <a:solidFill>
                  <a:srgbClr val="800000"/>
                </a:solidFill>
              </a:rPr>
              <a:t>for smaller trees</a:t>
            </a:r>
            <a:endParaRPr lang="en-US" sz="2400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39971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detail: CKY requires the PCFG to be in </a:t>
            </a:r>
            <a:r>
              <a:rPr lang="en-US" b="1" dirty="0" smtClean="0">
                <a:solidFill>
                  <a:srgbClr val="288CD2"/>
                </a:solidFill>
              </a:rPr>
              <a:t>Chomsky Normal Form (CNF)</a:t>
            </a:r>
          </a:p>
          <a:p>
            <a:r>
              <a:rPr lang="en-US" dirty="0" smtClean="0"/>
              <a:t>basically: every rule has either 2 </a:t>
            </a:r>
            <a:r>
              <a:rPr lang="en-US" dirty="0" err="1" smtClean="0"/>
              <a:t>nonterminals</a:t>
            </a:r>
            <a:r>
              <a:rPr lang="en-US" dirty="0" smtClean="0"/>
              <a:t> or 1 terminal on the </a:t>
            </a:r>
            <a:r>
              <a:rPr lang="en-US" dirty="0"/>
              <a:t>right-hand </a:t>
            </a:r>
            <a:r>
              <a:rPr lang="en-US" dirty="0" smtClean="0"/>
              <a:t>side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15608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well does a PCFG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PCFG learned from the Penn Treebank with maximum likelihood estimation (count &amp; normalize) gets about 73% F1 score</a:t>
            </a:r>
          </a:p>
          <a:p>
            <a:r>
              <a:rPr lang="en-US" dirty="0"/>
              <a:t>state-of-the-art parsers are around 92%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1515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well does a PCFG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PCFG learned from the Penn Treebank with maximum likelihood estimation (count &amp; normalize) gets about 73% F1 score</a:t>
            </a:r>
          </a:p>
          <a:p>
            <a:r>
              <a:rPr lang="en-US" dirty="0"/>
              <a:t>state-of-the-art parsers are around 92%</a:t>
            </a:r>
          </a:p>
          <a:p>
            <a:r>
              <a:rPr lang="en-US" dirty="0"/>
              <a:t>but, simple modifications can improve the PCFG a lot!</a:t>
            </a:r>
          </a:p>
          <a:p>
            <a:pPr lvl="1"/>
            <a:r>
              <a:rPr lang="en-US" dirty="0"/>
              <a:t>smoothing</a:t>
            </a:r>
          </a:p>
          <a:p>
            <a:pPr lvl="1"/>
            <a:r>
              <a:rPr lang="en-US" dirty="0"/>
              <a:t>tree transformations (selective flattening)</a:t>
            </a:r>
          </a:p>
          <a:p>
            <a:pPr lvl="1"/>
            <a:r>
              <a:rPr lang="en-US" dirty="0"/>
              <a:t>“parent annotation”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9808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Parent Annotation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ym typeface="Wingdings"/>
              </a:rPr>
              <a:t>VP  V  NP  PP</a:t>
            </a:r>
          </a:p>
          <a:p>
            <a:pPr marL="0" indent="0">
              <a:buNone/>
            </a:pPr>
            <a:endParaRPr lang="en-US" dirty="0">
              <a:sym typeface="Wingdings"/>
            </a:endParaRPr>
          </a:p>
          <a:p>
            <a:pPr marL="0" indent="0">
              <a:buNone/>
            </a:pPr>
            <a:endParaRPr lang="en-US" dirty="0">
              <a:sym typeface="Wingdings"/>
            </a:endParaRPr>
          </a:p>
          <a:p>
            <a:pPr marL="0" indent="0">
              <a:buNone/>
            </a:pPr>
            <a:r>
              <a:rPr lang="en-US" dirty="0">
                <a:sym typeface="Wingdings"/>
              </a:rPr>
              <a:t>VP</a:t>
            </a:r>
            <a:r>
              <a:rPr lang="en-US" baseline="30000" dirty="0">
                <a:sym typeface="Wingdings"/>
              </a:rPr>
              <a:t>S</a:t>
            </a:r>
            <a:r>
              <a:rPr lang="en-US" dirty="0">
                <a:sym typeface="Wingdings"/>
              </a:rPr>
              <a:t>  V  NP</a:t>
            </a:r>
            <a:r>
              <a:rPr lang="en-US" baseline="30000" dirty="0">
                <a:sym typeface="Wingdings"/>
              </a:rPr>
              <a:t>VP</a:t>
            </a:r>
            <a:r>
              <a:rPr lang="en-US" dirty="0">
                <a:sym typeface="Wingdings"/>
              </a:rPr>
              <a:t>  PP</a:t>
            </a:r>
            <a:r>
              <a:rPr lang="en-US" baseline="30000" dirty="0">
                <a:sym typeface="Wingdings"/>
              </a:rPr>
              <a:t>VP</a:t>
            </a:r>
          </a:p>
          <a:p>
            <a:pPr marL="0" indent="0">
              <a:buNone/>
            </a:pPr>
            <a:endParaRPr lang="en-US" baseline="30000" dirty="0">
              <a:sym typeface="Wingdings"/>
            </a:endParaRPr>
          </a:p>
          <a:p>
            <a:pPr marL="0" indent="0">
              <a:buNone/>
            </a:pPr>
            <a:r>
              <a:rPr lang="en-US" dirty="0">
                <a:sym typeface="Wingdings"/>
              </a:rPr>
              <a:t>adds more information, but also fragments counts, making parameter estimates noisier (since we’re just using MLE)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27</a:t>
            </a:fld>
            <a:endParaRPr lang="en-US"/>
          </a:p>
        </p:txBody>
      </p:sp>
      <p:sp>
        <p:nvSpPr>
          <p:cNvPr id="5" name="Down Arrow 4"/>
          <p:cNvSpPr/>
          <p:nvPr/>
        </p:nvSpPr>
        <p:spPr>
          <a:xfrm>
            <a:off x="1087120" y="2016760"/>
            <a:ext cx="426720" cy="59944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56104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Johnson (1998)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28</a:t>
            </a:fld>
            <a:endParaRPr lang="en-US"/>
          </a:p>
        </p:txBody>
      </p:sp>
      <p:pic>
        <p:nvPicPr>
          <p:cNvPr id="7" name="Picture 6" descr="Screen Shot 2016-02-10 at 10.35.00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020149"/>
            <a:ext cx="8056880" cy="55185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Donut 5"/>
          <p:cNvSpPr/>
          <p:nvPr/>
        </p:nvSpPr>
        <p:spPr>
          <a:xfrm>
            <a:off x="375920" y="4511040"/>
            <a:ext cx="8310880" cy="802640"/>
          </a:xfrm>
          <a:prstGeom prst="donut">
            <a:avLst>
              <a:gd name="adj" fmla="val 6297"/>
            </a:avLst>
          </a:prstGeom>
          <a:solidFill>
            <a:srgbClr val="C0504D"/>
          </a:solidFill>
          <a:ln>
            <a:solidFill>
              <a:srgbClr val="B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4986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Johnson (1998)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29</a:t>
            </a:fld>
            <a:endParaRPr lang="en-US"/>
          </a:p>
        </p:txBody>
      </p:sp>
      <p:pic>
        <p:nvPicPr>
          <p:cNvPr id="5" name="Picture 4" descr="Screen Shot 2016-02-10 at 10.32.59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76"/>
          <a:stretch/>
        </p:blipFill>
        <p:spPr>
          <a:xfrm>
            <a:off x="101600" y="1412240"/>
            <a:ext cx="8900160" cy="2175019"/>
          </a:xfrm>
          <a:prstGeom prst="rect">
            <a:avLst/>
          </a:prstGeom>
        </p:spPr>
      </p:pic>
      <p:sp>
        <p:nvSpPr>
          <p:cNvPr id="6" name="Donut 5"/>
          <p:cNvSpPr/>
          <p:nvPr/>
        </p:nvSpPr>
        <p:spPr>
          <a:xfrm>
            <a:off x="8199120" y="2042160"/>
            <a:ext cx="833120" cy="731520"/>
          </a:xfrm>
          <a:prstGeom prst="donut">
            <a:avLst>
              <a:gd name="adj" fmla="val 6297"/>
            </a:avLst>
          </a:prstGeom>
          <a:solidFill>
            <a:srgbClr val="C0504D"/>
          </a:solidFill>
          <a:ln>
            <a:solidFill>
              <a:srgbClr val="B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0594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well does a PCFG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PCFG learned from the Penn Treebank with MLE gets about 73% F1 score</a:t>
            </a:r>
          </a:p>
          <a:p>
            <a:r>
              <a:rPr lang="en-US" dirty="0"/>
              <a:t>state-of-the-art parsers are around 92%</a:t>
            </a:r>
          </a:p>
          <a:p>
            <a:r>
              <a:rPr lang="en-US" dirty="0"/>
              <a:t>simple modifications can improve PCFGs:</a:t>
            </a:r>
          </a:p>
          <a:p>
            <a:pPr lvl="1"/>
            <a:r>
              <a:rPr lang="en-US" dirty="0"/>
              <a:t>smoothing</a:t>
            </a:r>
          </a:p>
          <a:p>
            <a:pPr lvl="1"/>
            <a:r>
              <a:rPr lang="en-US" dirty="0"/>
              <a:t>tree transformations (selective flattening)</a:t>
            </a:r>
          </a:p>
          <a:p>
            <a:pPr lvl="1"/>
            <a:r>
              <a:rPr lang="en-US" dirty="0"/>
              <a:t>parent annotation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0961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well does a PCFG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PCFG learned from the Penn Treebank with MLE gets about 73% F1 score</a:t>
            </a:r>
          </a:p>
          <a:p>
            <a:r>
              <a:rPr lang="en-US" dirty="0"/>
              <a:t>state-of-the-art parsers are around 92%</a:t>
            </a:r>
          </a:p>
          <a:p>
            <a:r>
              <a:rPr lang="en-US" dirty="0"/>
              <a:t>simple modifications can improve PCFGs:</a:t>
            </a:r>
          </a:p>
          <a:p>
            <a:pPr lvl="1"/>
            <a:r>
              <a:rPr lang="en-US" dirty="0"/>
              <a:t>smoothing</a:t>
            </a:r>
          </a:p>
          <a:p>
            <a:pPr lvl="1"/>
            <a:r>
              <a:rPr lang="en-US" dirty="0"/>
              <a:t>tree transformations (selective flattening)</a:t>
            </a:r>
          </a:p>
          <a:p>
            <a:pPr lvl="1"/>
            <a:r>
              <a:rPr lang="en-US" dirty="0"/>
              <a:t>parent annotation</a:t>
            </a:r>
          </a:p>
          <a:p>
            <a:pPr lvl="1"/>
            <a:r>
              <a:rPr lang="en-US" b="1" dirty="0">
                <a:solidFill>
                  <a:srgbClr val="288CD2"/>
                </a:solidFill>
              </a:rPr>
              <a:t>lexicalization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7682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931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/>
              <a:t>Collins (1997)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32</a:t>
            </a:fld>
            <a:endParaRPr lang="en-US"/>
          </a:p>
        </p:txBody>
      </p:sp>
      <p:pic>
        <p:nvPicPr>
          <p:cNvPr id="5" name="Picture 4" descr="Screen Shot 2016-02-15 at 10.21.5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20" y="921966"/>
            <a:ext cx="8422640" cy="57423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980231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838"/>
            <a:ext cx="8229600" cy="726831"/>
          </a:xfrm>
        </p:spPr>
        <p:txBody>
          <a:bodyPr>
            <a:normAutofit/>
          </a:bodyPr>
          <a:lstStyle/>
          <a:p>
            <a:r>
              <a:rPr lang="en-US" sz="3200" dirty="0"/>
              <a:t>Lexicalized PCFGs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33</a:t>
            </a:fld>
            <a:endParaRPr lang="en-US"/>
          </a:p>
        </p:txBody>
      </p:sp>
      <p:pic>
        <p:nvPicPr>
          <p:cNvPr id="5" name="Picture 4" descr="Screen Shot 2016-02-15 at 10.27.08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280" y="786469"/>
            <a:ext cx="7117080" cy="4126160"/>
          </a:xfrm>
          <a:prstGeom prst="rect">
            <a:avLst/>
          </a:prstGeom>
        </p:spPr>
      </p:pic>
      <p:pic>
        <p:nvPicPr>
          <p:cNvPr id="6" name="Picture 5" descr="Screen Shot 2016-02-15 at 10.27.36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4602716"/>
            <a:ext cx="8321040" cy="2047639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 bwMode="auto">
          <a:xfrm flipH="1">
            <a:off x="4307796" y="1656080"/>
            <a:ext cx="1666284" cy="1151597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Straight Arrow Connector 8"/>
          <p:cNvCxnSpPr/>
          <p:nvPr/>
        </p:nvCxnSpPr>
        <p:spPr bwMode="auto">
          <a:xfrm>
            <a:off x="6421076" y="1656080"/>
            <a:ext cx="0" cy="1151597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/>
          <p:nvPr/>
        </p:nvCxnSpPr>
        <p:spPr bwMode="auto">
          <a:xfrm>
            <a:off x="6695440" y="1656080"/>
            <a:ext cx="502876" cy="1801837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TextBox 12"/>
          <p:cNvSpPr txBox="1"/>
          <p:nvPr/>
        </p:nvSpPr>
        <p:spPr>
          <a:xfrm>
            <a:off x="5064760" y="942183"/>
            <a:ext cx="3622040" cy="707886"/>
          </a:xfrm>
          <a:prstGeom prst="rect">
            <a:avLst/>
          </a:prstGeom>
          <a:noFill/>
          <a:ln w="38100" cmpd="sng">
            <a:solidFill>
              <a:srgbClr val="288CD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/>
              <a:t>nonterminals</a:t>
            </a:r>
            <a:r>
              <a:rPr lang="en-US" sz="2000" dirty="0"/>
              <a:t> are decorated with </a:t>
            </a:r>
          </a:p>
          <a:p>
            <a:pPr algn="ctr"/>
            <a:r>
              <a:rPr lang="en-US" sz="2000" dirty="0"/>
              <a:t>the </a:t>
            </a:r>
            <a:r>
              <a:rPr lang="en-US" sz="2000" b="1" dirty="0">
                <a:solidFill>
                  <a:srgbClr val="288CD2"/>
                </a:solidFill>
              </a:rPr>
              <a:t>head</a:t>
            </a:r>
            <a:r>
              <a:rPr lang="en-US" sz="2000" dirty="0"/>
              <a:t> word of the </a:t>
            </a:r>
            <a:r>
              <a:rPr lang="en-US" sz="2000" dirty="0" err="1"/>
              <a:t>subtree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778384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Lexicalization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adds a lot more rules!</a:t>
            </a:r>
          </a:p>
          <a:p>
            <a:r>
              <a:rPr lang="en-US" dirty="0"/>
              <a:t>many more parameters to estimate </a:t>
            </a:r>
            <a:r>
              <a:rPr lang="en-US" sz="2400" dirty="0">
                <a:sym typeface="Wingdings"/>
              </a:rPr>
              <a:t></a:t>
            </a:r>
            <a:r>
              <a:rPr lang="en-US" dirty="0">
                <a:sym typeface="Wingdings"/>
              </a:rPr>
              <a:t> </a:t>
            </a:r>
            <a:r>
              <a:rPr lang="en-US" dirty="0"/>
              <a:t> smoothing becomes much more important</a:t>
            </a:r>
          </a:p>
          <a:p>
            <a:pPr lvl="1"/>
            <a:r>
              <a:rPr lang="en-US" dirty="0"/>
              <a:t>e.g., right-hand side of rule might be factored into several steps</a:t>
            </a:r>
          </a:p>
          <a:p>
            <a:r>
              <a:rPr lang="en-US" dirty="0"/>
              <a:t>but it’s worth it because head words are really useful for constituent parsing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0721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(Collins, 1997)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35</a:t>
            </a:fld>
            <a:endParaRPr lang="en-US"/>
          </a:p>
        </p:txBody>
      </p:sp>
      <p:pic>
        <p:nvPicPr>
          <p:cNvPr id="5" name="Picture 4" descr="Screen Shot 2016-02-15 at 10.36.48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778"/>
          <a:stretch/>
        </p:blipFill>
        <p:spPr>
          <a:xfrm>
            <a:off x="1195999" y="1925320"/>
            <a:ext cx="6548148" cy="222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7582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Head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are heads decided?</a:t>
            </a:r>
          </a:p>
          <a:p>
            <a:r>
              <a:rPr lang="en-US" dirty="0" smtClean="0"/>
              <a:t>initially, researchers used </a:t>
            </a:r>
            <a:r>
              <a:rPr lang="en-US" dirty="0"/>
              <a:t>deterministic head rules (</a:t>
            </a:r>
            <a:r>
              <a:rPr lang="en-US" dirty="0" err="1"/>
              <a:t>Magerman</a:t>
            </a:r>
            <a:r>
              <a:rPr lang="en-US" dirty="0"/>
              <a:t>/Collins)</a:t>
            </a:r>
          </a:p>
          <a:p>
            <a:r>
              <a:rPr lang="en-US" dirty="0"/>
              <a:t>for a PCFG rule A </a:t>
            </a:r>
            <a:r>
              <a:rPr lang="en-US" dirty="0">
                <a:sym typeface="Wingdings"/>
              </a:rPr>
              <a:t> B</a:t>
            </a:r>
            <a:r>
              <a:rPr lang="en-US" baseline="-25000" dirty="0">
                <a:sym typeface="Wingdings"/>
              </a:rPr>
              <a:t>1</a:t>
            </a:r>
            <a:r>
              <a:rPr lang="en-US" dirty="0">
                <a:sym typeface="Wingdings"/>
              </a:rPr>
              <a:t> … B</a:t>
            </a:r>
            <a:r>
              <a:rPr lang="en-US" baseline="-25000" dirty="0">
                <a:sym typeface="Wingdings"/>
              </a:rPr>
              <a:t>N</a:t>
            </a:r>
            <a:r>
              <a:rPr lang="en-US" dirty="0">
                <a:sym typeface="Wingdings"/>
              </a:rPr>
              <a:t>, these head rules say which of B</a:t>
            </a:r>
            <a:r>
              <a:rPr lang="en-US" baseline="-25000" dirty="0">
                <a:sym typeface="Wingdings"/>
              </a:rPr>
              <a:t>1</a:t>
            </a:r>
            <a:r>
              <a:rPr lang="en-US" dirty="0">
                <a:sym typeface="Wingdings"/>
              </a:rPr>
              <a:t> … B</a:t>
            </a:r>
            <a:r>
              <a:rPr lang="en-US" baseline="-25000" dirty="0">
                <a:sym typeface="Wingdings"/>
              </a:rPr>
              <a:t>N </a:t>
            </a:r>
            <a:r>
              <a:rPr lang="en-US" dirty="0">
                <a:sym typeface="Wingdings"/>
              </a:rPr>
              <a:t>is the head of the rule</a:t>
            </a:r>
          </a:p>
          <a:p>
            <a:r>
              <a:rPr lang="en-US" dirty="0">
                <a:sym typeface="Wingdings"/>
              </a:rPr>
              <a:t>examples:</a:t>
            </a:r>
          </a:p>
          <a:p>
            <a:pPr marL="457200" lvl="1" indent="0">
              <a:buNone/>
            </a:pPr>
            <a:r>
              <a:rPr lang="en-US" dirty="0">
                <a:sym typeface="Wingdings"/>
              </a:rPr>
              <a:t>S  NP  </a:t>
            </a:r>
            <a:r>
              <a:rPr lang="en-US" u="sng" dirty="0">
                <a:sym typeface="Wingdings"/>
              </a:rPr>
              <a:t>VP</a:t>
            </a:r>
          </a:p>
          <a:p>
            <a:pPr marL="457200" lvl="1" indent="0">
              <a:buNone/>
            </a:pPr>
            <a:r>
              <a:rPr lang="en-US" dirty="0">
                <a:sym typeface="Wingdings"/>
              </a:rPr>
              <a:t>VP  </a:t>
            </a:r>
            <a:r>
              <a:rPr lang="en-US" u="sng" dirty="0">
                <a:sym typeface="Wingdings"/>
              </a:rPr>
              <a:t>VBD</a:t>
            </a:r>
            <a:r>
              <a:rPr lang="en-US" dirty="0">
                <a:sym typeface="Wingdings"/>
              </a:rPr>
              <a:t>  NP  PP</a:t>
            </a:r>
          </a:p>
          <a:p>
            <a:pPr marL="457200" lvl="1" indent="0">
              <a:buNone/>
            </a:pPr>
            <a:r>
              <a:rPr lang="en-US" dirty="0">
                <a:sym typeface="Wingdings"/>
              </a:rPr>
              <a:t>NP  DT  JJ  </a:t>
            </a:r>
            <a:r>
              <a:rPr lang="en-US" u="sng" dirty="0">
                <a:sym typeface="Wingdings"/>
              </a:rPr>
              <a:t>NN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4337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Head Annotation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37</a:t>
            </a:fld>
            <a:endParaRPr lang="en-US"/>
          </a:p>
        </p:txBody>
      </p:sp>
      <p:pic>
        <p:nvPicPr>
          <p:cNvPr id="5" name="Picture 4" descr="Screen Shot 2016-02-15 at 10.55.4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9381" y="1107440"/>
            <a:ext cx="5498173" cy="474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52640" y="6356350"/>
            <a:ext cx="179068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from Noah Smith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19235" y="941718"/>
            <a:ext cx="22247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heads have bold outline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e.g., VP is head of S -&gt; NP VP</a:t>
            </a:r>
            <a:endParaRPr lang="en-US" sz="2400" dirty="0"/>
          </a:p>
        </p:txBody>
      </p:sp>
      <p:cxnSp>
        <p:nvCxnSpPr>
          <p:cNvPr id="8" name="Straight Arrow Connector 7"/>
          <p:cNvCxnSpPr/>
          <p:nvPr/>
        </p:nvCxnSpPr>
        <p:spPr bwMode="auto">
          <a:xfrm flipH="1">
            <a:off x="4424380" y="1353201"/>
            <a:ext cx="2494856" cy="74267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2452340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Lexical Head Annotation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38</a:t>
            </a:fld>
            <a:endParaRPr lang="en-US"/>
          </a:p>
        </p:txBody>
      </p:sp>
      <p:pic>
        <p:nvPicPr>
          <p:cNvPr id="3" name="Picture 2" descr="Screen Shot 2016-02-15 at 10.56.2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1516" y="1178560"/>
            <a:ext cx="5525290" cy="4714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52640" y="6356350"/>
            <a:ext cx="179068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from Noah Smith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74345" y="1452136"/>
            <a:ext cx="24254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propagate lexical heads up the tree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305706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Lexical Head Annotation </a:t>
            </a:r>
            <a:r>
              <a:rPr lang="en-US" sz="3600" dirty="0">
                <a:sym typeface="Wingdings"/>
              </a:rPr>
              <a:t> Dependencies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39</a:t>
            </a:fld>
            <a:endParaRPr lang="en-US"/>
          </a:p>
        </p:txBody>
      </p:sp>
      <p:pic>
        <p:nvPicPr>
          <p:cNvPr id="5" name="Picture 4" descr="Screen Shot 2016-02-15 at 10.57.43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2897" y="1137920"/>
            <a:ext cx="5533264" cy="47791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1750" y="1137920"/>
            <a:ext cx="173913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remove </a:t>
            </a:r>
            <a:r>
              <a:rPr lang="en-US" sz="2400" b="1" dirty="0" err="1"/>
              <a:t>nonlexical</a:t>
            </a:r>
            <a:r>
              <a:rPr lang="en-US" sz="2400" b="1" dirty="0"/>
              <a:t> parts</a:t>
            </a:r>
            <a:r>
              <a:rPr lang="en-US" sz="2400" dirty="0"/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52640" y="6356350"/>
            <a:ext cx="179068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from Noah Smith</a:t>
            </a:r>
          </a:p>
        </p:txBody>
      </p:sp>
    </p:spTree>
    <p:extLst>
      <p:ext uri="{BB962C8B-B14F-4D97-AF65-F5344CB8AC3E}">
        <p14:creationId xmlns:p14="http://schemas.microsoft.com/office/powerpoint/2010/main" val="21228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ym typeface="Wingdings"/>
              </a:rPr>
              <a:t>Dependencies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1750" y="1137920"/>
            <a:ext cx="173913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merge redundant nodes: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52640" y="6356350"/>
            <a:ext cx="179068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from Noah Smith</a:t>
            </a:r>
          </a:p>
        </p:txBody>
      </p:sp>
      <p:pic>
        <p:nvPicPr>
          <p:cNvPr id="3" name="Picture 2" descr="Screen Shot 2016-02-15 at 11.00.32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960" y="1107439"/>
            <a:ext cx="4998720" cy="372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0636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41</a:t>
            </a:fld>
            <a:endParaRPr lang="en-US"/>
          </a:p>
        </p:txBody>
      </p:sp>
      <p:pic>
        <p:nvPicPr>
          <p:cNvPr id="5" name="Picture 4" descr="Screen Shot 2016-02-15 at 10.55.4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8" y="1268684"/>
            <a:ext cx="4228172" cy="3648756"/>
          </a:xfrm>
          <a:prstGeom prst="rect">
            <a:avLst/>
          </a:prstGeom>
        </p:spPr>
      </p:pic>
      <p:pic>
        <p:nvPicPr>
          <p:cNvPr id="6" name="Picture 5" descr="Screen Shot 2016-02-15 at 11.00.3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624" y="1268684"/>
            <a:ext cx="4344936" cy="3241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8320" y="508000"/>
            <a:ext cx="28910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constituent parse: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513060"/>
            <a:ext cx="30125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dependency parse:</a:t>
            </a:r>
          </a:p>
        </p:txBody>
      </p:sp>
    </p:spTree>
    <p:extLst>
      <p:ext uri="{BB962C8B-B14F-4D97-AF65-F5344CB8AC3E}">
        <p14:creationId xmlns:p14="http://schemas.microsoft.com/office/powerpoint/2010/main" val="24542345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42</a:t>
            </a:fld>
            <a:endParaRPr lang="en-US"/>
          </a:p>
        </p:txBody>
      </p:sp>
      <p:pic>
        <p:nvPicPr>
          <p:cNvPr id="5" name="Picture 4" descr="Screen Shot 2016-02-15 at 10.55.4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8" y="1268684"/>
            <a:ext cx="4228172" cy="3648756"/>
          </a:xfrm>
          <a:prstGeom prst="rect">
            <a:avLst/>
          </a:prstGeom>
        </p:spPr>
      </p:pic>
      <p:pic>
        <p:nvPicPr>
          <p:cNvPr id="6" name="Picture 5" descr="Screen Shot 2016-02-15 at 11.00.3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624" y="1268684"/>
            <a:ext cx="4344936" cy="3241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8320" y="508000"/>
            <a:ext cx="28910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constituent parse: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2800" y="513060"/>
            <a:ext cx="4194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288CD2"/>
                </a:solidFill>
              </a:rPr>
              <a:t>labeled</a:t>
            </a:r>
            <a:r>
              <a:rPr lang="en-US" sz="2800" b="1" dirty="0"/>
              <a:t> dependency parse: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4424" y="1827014"/>
            <a:ext cx="694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nsubj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682984" y="3137654"/>
            <a:ext cx="498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det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211580" y="2382798"/>
            <a:ext cx="604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dobj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466548" y="2770108"/>
            <a:ext cx="604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pobj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694664" y="3342640"/>
            <a:ext cx="498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det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998637" y="1827014"/>
            <a:ext cx="622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5334" y="4893548"/>
            <a:ext cx="297573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nsubj</a:t>
            </a:r>
            <a:r>
              <a:rPr lang="en-US" dirty="0"/>
              <a:t> = “nominal subject”</a:t>
            </a:r>
          </a:p>
          <a:p>
            <a:r>
              <a:rPr lang="en-US" dirty="0" err="1"/>
              <a:t>dobj</a:t>
            </a:r>
            <a:r>
              <a:rPr lang="en-US" dirty="0"/>
              <a:t> = “direct object”</a:t>
            </a:r>
          </a:p>
          <a:p>
            <a:r>
              <a:rPr lang="en-US" dirty="0"/>
              <a:t>prep = “preposition modifier”</a:t>
            </a:r>
          </a:p>
          <a:p>
            <a:r>
              <a:rPr lang="en-US" dirty="0" err="1"/>
              <a:t>pobj</a:t>
            </a:r>
            <a:r>
              <a:rPr lang="en-US" dirty="0"/>
              <a:t> = “object of preposition”</a:t>
            </a:r>
          </a:p>
          <a:p>
            <a:r>
              <a:rPr lang="en-US" dirty="0" err="1"/>
              <a:t>det</a:t>
            </a:r>
            <a:r>
              <a:rPr lang="en-US" dirty="0"/>
              <a:t> = “determiner”</a:t>
            </a:r>
          </a:p>
        </p:txBody>
      </p:sp>
    </p:spTree>
    <p:extLst>
      <p:ext uri="{BB962C8B-B14F-4D97-AF65-F5344CB8AC3E}">
        <p14:creationId xmlns:p14="http://schemas.microsoft.com/office/powerpoint/2010/main" val="12328613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43</a:t>
            </a:fld>
            <a:endParaRPr lang="en-US"/>
          </a:p>
        </p:txBody>
      </p:sp>
      <p:pic>
        <p:nvPicPr>
          <p:cNvPr id="5" name="Picture 4" descr="Screen Shot 2016-02-15 at 10.55.45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8" y="1268684"/>
            <a:ext cx="4228172" cy="3648756"/>
          </a:xfrm>
          <a:prstGeom prst="rect">
            <a:avLst/>
          </a:prstGeom>
        </p:spPr>
      </p:pic>
      <p:pic>
        <p:nvPicPr>
          <p:cNvPr id="6" name="Picture 5" descr="Screen Shot 2016-02-15 at 11.00.3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624" y="1268684"/>
            <a:ext cx="4344936" cy="3241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8320" y="508000"/>
            <a:ext cx="28910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constituent parse: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2800" y="513060"/>
            <a:ext cx="41942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288CD2"/>
                </a:solidFill>
              </a:rPr>
              <a:t>labeled</a:t>
            </a:r>
            <a:r>
              <a:rPr lang="en-US" sz="2800" b="1" dirty="0"/>
              <a:t> dependency parse: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4424" y="1827014"/>
            <a:ext cx="694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nsubj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682984" y="3137654"/>
            <a:ext cx="498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det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211580" y="2382798"/>
            <a:ext cx="604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dobj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466548" y="2770108"/>
            <a:ext cx="604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pobj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694664" y="3342640"/>
            <a:ext cx="498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det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998637" y="1827014"/>
            <a:ext cx="622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5334" y="4893548"/>
            <a:ext cx="2975732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nsubj</a:t>
            </a:r>
            <a:r>
              <a:rPr lang="en-US" dirty="0"/>
              <a:t> = “nominal subject”</a:t>
            </a:r>
          </a:p>
          <a:p>
            <a:r>
              <a:rPr lang="en-US" dirty="0" err="1"/>
              <a:t>dobj</a:t>
            </a:r>
            <a:r>
              <a:rPr lang="en-US" dirty="0"/>
              <a:t> = “direct object”</a:t>
            </a:r>
          </a:p>
          <a:p>
            <a:r>
              <a:rPr lang="en-US" dirty="0"/>
              <a:t>prep = “preposition modifier”</a:t>
            </a:r>
          </a:p>
          <a:p>
            <a:r>
              <a:rPr lang="en-US" dirty="0" err="1"/>
              <a:t>pobj</a:t>
            </a:r>
            <a:r>
              <a:rPr lang="en-US" dirty="0"/>
              <a:t> = “object of preposition”</a:t>
            </a:r>
          </a:p>
          <a:p>
            <a:r>
              <a:rPr lang="en-US" dirty="0" err="1"/>
              <a:t>det</a:t>
            </a:r>
            <a:r>
              <a:rPr lang="en-US" dirty="0"/>
              <a:t> = “determiner”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7624" y="335174"/>
            <a:ext cx="4089356" cy="954107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288CD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captures some semantic relationships</a:t>
            </a:r>
          </a:p>
        </p:txBody>
      </p:sp>
      <p:cxnSp>
        <p:nvCxnSpPr>
          <p:cNvPr id="17" name="Straight Arrow Connector 16"/>
          <p:cNvCxnSpPr>
            <a:stCxn id="16" idx="2"/>
          </p:cNvCxnSpPr>
          <p:nvPr/>
        </p:nvCxnSpPr>
        <p:spPr bwMode="auto">
          <a:xfrm flipH="1">
            <a:off x="5065334" y="1289281"/>
            <a:ext cx="1686968" cy="537733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Straight Arrow Connector 17"/>
          <p:cNvCxnSpPr>
            <a:stCxn id="16" idx="2"/>
            <a:endCxn id="11" idx="0"/>
          </p:cNvCxnSpPr>
          <p:nvPr/>
        </p:nvCxnSpPr>
        <p:spPr bwMode="auto">
          <a:xfrm flipH="1">
            <a:off x="6513669" y="1289281"/>
            <a:ext cx="238633" cy="1093517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9778414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 Typed Dependency Tree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44</a:t>
            </a:fld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771216" y="6321365"/>
            <a:ext cx="1260162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J&amp;M/SLP3</a:t>
            </a:r>
            <a:endParaRPr lang="en-US" sz="2000" i="0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  <p:pic>
        <p:nvPicPr>
          <p:cNvPr id="7" name="Picture 6" descr="Screen Shot 2018-05-08 at 9.50.50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300" y="2260600"/>
            <a:ext cx="63754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4599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Some Dependency Relations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45</a:t>
            </a:fld>
            <a:endParaRPr lang="en-US"/>
          </a:p>
        </p:txBody>
      </p:sp>
      <p:pic>
        <p:nvPicPr>
          <p:cNvPr id="5" name="Picture 4" descr="Screen Shot 2018-05-08 at 9.47.05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71" y="959068"/>
            <a:ext cx="8317729" cy="5397282"/>
          </a:xfrm>
          <a:prstGeom prst="rect">
            <a:avLst/>
          </a:prstGeom>
          <a:ln>
            <a:noFill/>
          </a:ln>
        </p:spPr>
      </p:pic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771216" y="6321365"/>
            <a:ext cx="1260162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J&amp;M/SLP3</a:t>
            </a:r>
            <a:endParaRPr lang="en-US" sz="2000" i="0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74825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Some Dependency Relations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46</a:t>
            </a:fld>
            <a:endParaRPr 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771216" y="6321365"/>
            <a:ext cx="1260162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J&amp;M/SLP3</a:t>
            </a:r>
            <a:endParaRPr lang="en-US" sz="2000" i="0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  <p:pic>
        <p:nvPicPr>
          <p:cNvPr id="3" name="Picture 2" descr="Screen Shot 2018-05-08 at 9.49.20 A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308"/>
          <a:stretch/>
        </p:blipFill>
        <p:spPr>
          <a:xfrm>
            <a:off x="588953" y="939800"/>
            <a:ext cx="8097847" cy="525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8627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>
                <a:sym typeface="Wingdings"/>
              </a:rPr>
              <a:t>Crossing </a:t>
            </a:r>
            <a:r>
              <a:rPr lang="en-US" sz="3600" dirty="0" smtClean="0">
                <a:sym typeface="Wingdings"/>
              </a:rPr>
              <a:t>Dependencies = </a:t>
            </a:r>
            <a:r>
              <a:rPr lang="en-US" sz="3600" dirty="0" err="1" smtClean="0">
                <a:sym typeface="Wingdings"/>
              </a:rPr>
              <a:t>Nonprojective</a:t>
            </a:r>
            <a:r>
              <a:rPr lang="en-US" sz="3600" dirty="0" smtClean="0">
                <a:sym typeface="Wingdings"/>
              </a:rPr>
              <a:t> Tree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21000" y="1244115"/>
            <a:ext cx="4165800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if dependencies cross (“</a:t>
            </a:r>
            <a:r>
              <a:rPr lang="en-US" sz="2400" dirty="0" err="1"/>
              <a:t>nonprojective</a:t>
            </a:r>
            <a:r>
              <a:rPr lang="en-US" sz="2400" dirty="0"/>
              <a:t>”), no longer corresponds to a </a:t>
            </a:r>
            <a:r>
              <a:rPr lang="en-US" sz="2400" dirty="0" smtClean="0"/>
              <a:t>CFG</a:t>
            </a:r>
            <a:endParaRPr lang="en-US" sz="2400" dirty="0"/>
          </a:p>
        </p:txBody>
      </p:sp>
      <p:pic>
        <p:nvPicPr>
          <p:cNvPr id="3" name="Picture 2" descr="Screen Shot 2018-05-08 at 9.52.41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114" y="2673317"/>
            <a:ext cx="8796639" cy="2093865"/>
          </a:xfrm>
          <a:prstGeom prst="rect">
            <a:avLst/>
          </a:prstGeom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7771216" y="6321365"/>
            <a:ext cx="1260162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J&amp;M/SLP3</a:t>
            </a:r>
            <a:endParaRPr lang="en-US" sz="2000" i="0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99366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Projective vs. </a:t>
            </a:r>
            <a:r>
              <a:rPr lang="en-US" sz="3200" dirty="0" err="1"/>
              <a:t>Nonprojective</a:t>
            </a:r>
            <a:r>
              <a:rPr lang="en-US" sz="3200" dirty="0"/>
              <a:t> </a:t>
            </a:r>
            <a:r>
              <a:rPr lang="en-US" sz="3200" dirty="0" smtClean="0"/>
              <a:t>Dependencies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English dependency </a:t>
            </a:r>
            <a:r>
              <a:rPr lang="en-US" dirty="0" err="1"/>
              <a:t>treebanks</a:t>
            </a:r>
            <a:r>
              <a:rPr lang="en-US" dirty="0"/>
              <a:t> are mostly projective</a:t>
            </a:r>
          </a:p>
          <a:p>
            <a:pPr lvl="1"/>
            <a:r>
              <a:rPr lang="en-US" dirty="0"/>
              <a:t>but when focusing more on semantic relationships, often becomes more </a:t>
            </a:r>
            <a:r>
              <a:rPr lang="en-US" dirty="0" err="1"/>
              <a:t>nonprojective</a:t>
            </a:r>
            <a:endParaRPr lang="en-US" dirty="0"/>
          </a:p>
          <a:p>
            <a:r>
              <a:rPr lang="en-US" dirty="0"/>
              <a:t>some (relatively) free word order languages, like Czech, are fairly </a:t>
            </a:r>
            <a:r>
              <a:rPr lang="en-US" dirty="0" err="1" smtClean="0"/>
              <a:t>nonprojective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8619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Annotating Dependencies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549" y="1073740"/>
            <a:ext cx="8686800" cy="5052424"/>
          </a:xfrm>
        </p:spPr>
        <p:txBody>
          <a:bodyPr/>
          <a:lstStyle/>
          <a:p>
            <a:r>
              <a:rPr lang="en-US" dirty="0" smtClean="0"/>
              <a:t>for many years, researchers build dependency parsers from deterministic head rules </a:t>
            </a:r>
          </a:p>
          <a:p>
            <a:r>
              <a:rPr lang="en-US" dirty="0" smtClean="0"/>
              <a:t>deterministic </a:t>
            </a:r>
            <a:r>
              <a:rPr lang="en-US" dirty="0"/>
              <a:t>head rules </a:t>
            </a:r>
            <a:r>
              <a:rPr lang="en-US" dirty="0" smtClean="0"/>
              <a:t>are a blunt instrument</a:t>
            </a:r>
          </a:p>
          <a:p>
            <a:r>
              <a:rPr lang="en-US" dirty="0" smtClean="0"/>
              <a:t>would be better to directly annotate dependencies!</a:t>
            </a:r>
          </a:p>
          <a:p>
            <a:r>
              <a:rPr lang="en-US" dirty="0" smtClean="0"/>
              <a:t>there have been many annotation efforts with this goal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7200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439"/>
            <a:ext cx="8229600" cy="612034"/>
          </a:xfrm>
        </p:spPr>
        <p:txBody>
          <a:bodyPr>
            <a:normAutofit/>
          </a:bodyPr>
          <a:lstStyle/>
          <a:p>
            <a:r>
              <a:rPr lang="en-US" sz="3200" dirty="0" smtClean="0"/>
              <a:t>Universal Dependencies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50</a:t>
            </a:fld>
            <a:endParaRPr lang="en-US"/>
          </a:p>
        </p:txBody>
      </p:sp>
      <p:pic>
        <p:nvPicPr>
          <p:cNvPr id="5" name="Picture 4" descr="Screen Shot 2018-05-09 at 12.00.44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9096"/>
          <a:stretch/>
        </p:blipFill>
        <p:spPr>
          <a:xfrm>
            <a:off x="901700" y="735953"/>
            <a:ext cx="7337162" cy="747822"/>
          </a:xfrm>
          <a:prstGeom prst="rect">
            <a:avLst/>
          </a:prstGeom>
        </p:spPr>
      </p:pic>
      <p:pic>
        <p:nvPicPr>
          <p:cNvPr id="6" name="Picture 5" descr="Screen Shot 2018-05-09 at 12.00.44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501"/>
          <a:stretch/>
        </p:blipFill>
        <p:spPr>
          <a:xfrm>
            <a:off x="901700" y="1679615"/>
            <a:ext cx="7337162" cy="4697626"/>
          </a:xfrm>
          <a:prstGeom prst="rect">
            <a:avLst/>
          </a:prstGeom>
        </p:spPr>
      </p:pic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6017861" y="6368845"/>
            <a:ext cx="3060997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dirty="0" err="1" smtClean="0">
                <a:solidFill>
                  <a:srgbClr val="0062AC"/>
                </a:solidFill>
                <a:latin typeface="Calibri"/>
                <a:cs typeface="Calibri"/>
              </a:rPr>
              <a:t>universaldependencies.org</a:t>
            </a:r>
            <a:endParaRPr lang="en-US" sz="2000" i="0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671451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Dependency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several widely-used algorithms</a:t>
            </a:r>
          </a:p>
          <a:p>
            <a:r>
              <a:rPr lang="en-US" dirty="0"/>
              <a:t>different guarantees but similar performance in practice</a:t>
            </a:r>
          </a:p>
          <a:p>
            <a:r>
              <a:rPr lang="en-US" dirty="0"/>
              <a:t>graph-based:</a:t>
            </a:r>
          </a:p>
          <a:p>
            <a:pPr lvl="1"/>
            <a:r>
              <a:rPr lang="en-US" dirty="0"/>
              <a:t>dynamic programming (Eisner, 1997)</a:t>
            </a:r>
          </a:p>
          <a:p>
            <a:pPr lvl="1"/>
            <a:r>
              <a:rPr lang="en-US" dirty="0"/>
              <a:t>minimum spanning tree (McDonald et al., 2005)</a:t>
            </a:r>
          </a:p>
          <a:p>
            <a:r>
              <a:rPr lang="en-US" dirty="0"/>
              <a:t>transition-based:</a:t>
            </a:r>
          </a:p>
          <a:p>
            <a:pPr lvl="1"/>
            <a:r>
              <a:rPr lang="en-US" dirty="0"/>
              <a:t>shift-reduce (</a:t>
            </a:r>
            <a:r>
              <a:rPr lang="en-US" dirty="0" err="1"/>
              <a:t>Nivre</a:t>
            </a:r>
            <a:r>
              <a:rPr lang="en-US" dirty="0"/>
              <a:t>, </a:t>
            </a:r>
            <a:r>
              <a:rPr lang="en-US" i="1" dirty="0"/>
              <a:t>inter alia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529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ym typeface="Wingdings"/>
              </a:rPr>
              <a:t>Transition-Based Dependency Parsing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52</a:t>
            </a:fld>
            <a:endParaRPr lang="en-US"/>
          </a:p>
        </p:txBody>
      </p:sp>
      <p:pic>
        <p:nvPicPr>
          <p:cNvPr id="5" name="Picture 4" descr="Screen Shot 2018-05-08 at 9.55.08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54" y="738541"/>
            <a:ext cx="8314946" cy="5768609"/>
          </a:xfrm>
          <a:prstGeom prst="rect">
            <a:avLst/>
          </a:prstGeom>
        </p:spPr>
      </p:pic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7771216" y="6321365"/>
            <a:ext cx="1260162" cy="400110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0062AC"/>
                </a:solidFill>
                <a:latin typeface="Calibri"/>
                <a:cs typeface="Calibri"/>
              </a:rPr>
              <a:t>J&amp;M/SLP3</a:t>
            </a:r>
            <a:endParaRPr lang="en-US" sz="2000" i="0" dirty="0">
              <a:solidFill>
                <a:srgbClr val="0062AC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488070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Transition-Based Parsing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there are many variations of greedy parsers that build parse structures as they process a sentence from left to right</a:t>
            </a:r>
          </a:p>
          <a:p>
            <a:pPr lvl="1"/>
            <a:r>
              <a:rPr lang="en-US" dirty="0" smtClean="0"/>
              <a:t>“shift-reduce”, “transition-based”, etc.</a:t>
            </a:r>
          </a:p>
          <a:p>
            <a:r>
              <a:rPr lang="en-US" dirty="0" smtClean="0"/>
              <a:t>these form the backbone of many modern neural dependency (and constituency!) parsers</a:t>
            </a:r>
          </a:p>
          <a:p>
            <a:r>
              <a:rPr lang="en-US" dirty="0" smtClean="0"/>
              <a:t>we’ll go through an example (thanks to Noah Smith for these slides)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0826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17568" y="1904834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dirty="0" smtClean="0"/>
              <a:t>Many </a:t>
            </a:r>
            <a:r>
              <a:rPr lang="en-US" sz="2000" dirty="0" err="1" smtClean="0"/>
              <a:t>millennials</a:t>
            </a:r>
            <a:r>
              <a:rPr lang="en-US" sz="2000" dirty="0" smtClean="0"/>
              <a:t>, of which 50 percent are estimated to have voted, say political parties must listen to their concerns to get support.</a:t>
            </a:r>
          </a:p>
          <a:p>
            <a:pPr marL="0" indent="0">
              <a:buFont typeface="Arial" charset="0"/>
              <a:buNone/>
            </a:pPr>
            <a:endParaRPr lang="en-US" sz="2000" dirty="0" smtClean="0"/>
          </a:p>
          <a:p>
            <a:pPr marL="0" indent="0">
              <a:buFont typeface="Arial" charset="0"/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957627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17568" y="263347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dirty="0" smtClean="0"/>
              <a:t>Many </a:t>
            </a:r>
            <a:r>
              <a:rPr lang="en-US" sz="2000" dirty="0" err="1" smtClean="0"/>
              <a:t>millennials</a:t>
            </a:r>
            <a:r>
              <a:rPr lang="en-US" sz="2000" dirty="0" smtClean="0"/>
              <a:t>, of which 50 percent are estimated to have voted, say political parties must listen to their concerns to get support.</a:t>
            </a:r>
          </a:p>
          <a:p>
            <a:pPr marL="0" indent="0">
              <a:buFont typeface="Arial" charset="0"/>
              <a:buNone/>
            </a:pPr>
            <a:endParaRPr lang="en-US" sz="2000" dirty="0" smtClean="0"/>
          </a:p>
          <a:p>
            <a:pPr marL="0" indent="0">
              <a:buFont typeface="Arial" charset="0"/>
              <a:buNone/>
            </a:pP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2414767" y="2824980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estimated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91083" y="3588441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voted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09800" y="411403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latin typeface="CMU Bright Roman" charset="0"/>
                <a:ea typeface="CMU Bright Roman" charset="0"/>
                <a:cs typeface="CMU Bright Roman" charset="0"/>
              </a:rPr>
              <a:t>50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63129" y="1415175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say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05529" y="1840034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latin typeface="CMU Bright Roman" charset="0"/>
                <a:ea typeface="CMU Bright Roman" charset="0"/>
                <a:cs typeface="CMU Bright Roman" charset="0"/>
              </a:rPr>
              <a:t>listen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2894" y="2754868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latin typeface="CMU Bright Roman" charset="0"/>
                <a:ea typeface="CMU Bright Roman" charset="0"/>
                <a:cs typeface="CMU Bright Roman" charset="0"/>
              </a:rPr>
              <a:t>get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1380" y="2225711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latin typeface="CMU Bright Roman" charset="0"/>
                <a:ea typeface="CMU Bright Roman" charset="0"/>
                <a:cs typeface="CMU Bright Roman" charset="0"/>
              </a:rPr>
              <a:t>millennials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2705059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Many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46945" y="3588441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of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58553" y="3588441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percent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08640" y="3588441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are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cxnSp>
        <p:nvCxnSpPr>
          <p:cNvPr id="20" name="Straight Arrow Connector 19"/>
          <p:cNvCxnSpPr>
            <a:stCxn id="15" idx="2"/>
          </p:cNvCxnSpPr>
          <p:nvPr/>
        </p:nvCxnSpPr>
        <p:spPr>
          <a:xfrm flipH="1">
            <a:off x="1452380" y="2595043"/>
            <a:ext cx="208264" cy="1100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5" idx="2"/>
          </p:cNvCxnSpPr>
          <p:nvPr/>
        </p:nvCxnSpPr>
        <p:spPr>
          <a:xfrm>
            <a:off x="1660644" y="2595043"/>
            <a:ext cx="754123" cy="2299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6" idx="2"/>
            <a:endCxn id="17" idx="0"/>
          </p:cNvCxnSpPr>
          <p:nvPr/>
        </p:nvCxnSpPr>
        <p:spPr>
          <a:xfrm flipH="1">
            <a:off x="1737061" y="3194312"/>
            <a:ext cx="1246933" cy="3941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2"/>
            <a:endCxn id="18" idx="0"/>
          </p:cNvCxnSpPr>
          <p:nvPr/>
        </p:nvCxnSpPr>
        <p:spPr>
          <a:xfrm flipH="1">
            <a:off x="2414768" y="3194312"/>
            <a:ext cx="569226" cy="3941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6" idx="2"/>
            <a:endCxn id="19" idx="0"/>
          </p:cNvCxnSpPr>
          <p:nvPr/>
        </p:nvCxnSpPr>
        <p:spPr>
          <a:xfrm>
            <a:off x="2983994" y="3194312"/>
            <a:ext cx="67661" cy="3941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7" idx="2"/>
            <a:endCxn id="37" idx="0"/>
          </p:cNvCxnSpPr>
          <p:nvPr/>
        </p:nvCxnSpPr>
        <p:spPr>
          <a:xfrm>
            <a:off x="1737061" y="3957773"/>
            <a:ext cx="9573" cy="1686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376180" y="4126468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which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cxnSp>
        <p:nvCxnSpPr>
          <p:cNvPr id="42" name="Straight Arrow Connector 41"/>
          <p:cNvCxnSpPr>
            <a:stCxn id="18" idx="2"/>
            <a:endCxn id="8" idx="0"/>
          </p:cNvCxnSpPr>
          <p:nvPr/>
        </p:nvCxnSpPr>
        <p:spPr>
          <a:xfrm>
            <a:off x="2414768" y="3957773"/>
            <a:ext cx="9193" cy="1562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6" idx="2"/>
            <a:endCxn id="7" idx="0"/>
          </p:cNvCxnSpPr>
          <p:nvPr/>
        </p:nvCxnSpPr>
        <p:spPr>
          <a:xfrm>
            <a:off x="2983994" y="3194312"/>
            <a:ext cx="781551" cy="3941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25992" y="4119770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latin typeface="CMU Bright Roman" charset="0"/>
                <a:ea typeface="CMU Bright Roman" charset="0"/>
                <a:cs typeface="CMU Bright Roman" charset="0"/>
              </a:rPr>
              <a:t>to have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cxnSp>
        <p:nvCxnSpPr>
          <p:cNvPr id="49" name="Straight Arrow Connector 48"/>
          <p:cNvCxnSpPr>
            <a:stCxn id="7" idx="2"/>
          </p:cNvCxnSpPr>
          <p:nvPr/>
        </p:nvCxnSpPr>
        <p:spPr>
          <a:xfrm flipH="1">
            <a:off x="3159349" y="3957773"/>
            <a:ext cx="606196" cy="1686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7" idx="2"/>
          </p:cNvCxnSpPr>
          <p:nvPr/>
        </p:nvCxnSpPr>
        <p:spPr>
          <a:xfrm flipH="1">
            <a:off x="3577490" y="3957773"/>
            <a:ext cx="188055" cy="2581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9" idx="2"/>
            <a:endCxn id="15" idx="3"/>
          </p:cNvCxnSpPr>
          <p:nvPr/>
        </p:nvCxnSpPr>
        <p:spPr>
          <a:xfrm flipH="1">
            <a:off x="2249908" y="1784507"/>
            <a:ext cx="2261847" cy="625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313826" y="2763929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parties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cxnSp>
        <p:nvCxnSpPr>
          <p:cNvPr id="59" name="Straight Arrow Connector 58"/>
          <p:cNvCxnSpPr/>
          <p:nvPr/>
        </p:nvCxnSpPr>
        <p:spPr>
          <a:xfrm>
            <a:off x="4732368" y="3133261"/>
            <a:ext cx="9573" cy="1686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272103" y="3301956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political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273224" y="2602468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must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cxnSp>
        <p:nvCxnSpPr>
          <p:cNvPr id="62" name="Straight Arrow Connector 61"/>
          <p:cNvCxnSpPr>
            <a:stCxn id="11" idx="2"/>
            <a:endCxn id="61" idx="0"/>
          </p:cNvCxnSpPr>
          <p:nvPr/>
        </p:nvCxnSpPr>
        <p:spPr>
          <a:xfrm flipH="1">
            <a:off x="5608412" y="2209366"/>
            <a:ext cx="144328" cy="3931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11" idx="2"/>
            <a:endCxn id="58" idx="0"/>
          </p:cNvCxnSpPr>
          <p:nvPr/>
        </p:nvCxnSpPr>
        <p:spPr>
          <a:xfrm flipH="1">
            <a:off x="4732371" y="2209366"/>
            <a:ext cx="1020369" cy="5545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9" idx="2"/>
            <a:endCxn id="11" idx="1"/>
          </p:cNvCxnSpPr>
          <p:nvPr/>
        </p:nvCxnSpPr>
        <p:spPr>
          <a:xfrm>
            <a:off x="4511755" y="1784507"/>
            <a:ext cx="893774" cy="2401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938929" y="3068729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concerns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6458460" y="3438061"/>
            <a:ext cx="9573" cy="1686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6152884" y="3606756"/>
            <a:ext cx="630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their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cxnSp>
        <p:nvCxnSpPr>
          <p:cNvPr id="75" name="Straight Arrow Connector 74"/>
          <p:cNvCxnSpPr>
            <a:stCxn id="11" idx="2"/>
          </p:cNvCxnSpPr>
          <p:nvPr/>
        </p:nvCxnSpPr>
        <p:spPr>
          <a:xfrm>
            <a:off x="5752740" y="2209366"/>
            <a:ext cx="592470" cy="2568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234740" y="2526268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to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cxnSp>
        <p:nvCxnSpPr>
          <p:cNvPr id="79" name="Straight Arrow Connector 78"/>
          <p:cNvCxnSpPr>
            <a:stCxn id="78" idx="2"/>
            <a:endCxn id="72" idx="0"/>
          </p:cNvCxnSpPr>
          <p:nvPr/>
        </p:nvCxnSpPr>
        <p:spPr>
          <a:xfrm>
            <a:off x="6432070" y="2895600"/>
            <a:ext cx="26393" cy="1731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11" idx="2"/>
            <a:endCxn id="13" idx="0"/>
          </p:cNvCxnSpPr>
          <p:nvPr/>
        </p:nvCxnSpPr>
        <p:spPr>
          <a:xfrm>
            <a:off x="5752740" y="2209366"/>
            <a:ext cx="1989582" cy="5455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7229749" y="3288268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to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839349" y="3288268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mtClean="0">
                <a:latin typeface="CMU Bright Roman" charset="0"/>
                <a:ea typeface="CMU Bright Roman" charset="0"/>
                <a:cs typeface="CMU Bright Roman" charset="0"/>
              </a:rPr>
              <a:t>support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cxnSp>
        <p:nvCxnSpPr>
          <p:cNvPr id="88" name="Straight Arrow Connector 87"/>
          <p:cNvCxnSpPr>
            <a:stCxn id="13" idx="2"/>
            <a:endCxn id="86" idx="0"/>
          </p:cNvCxnSpPr>
          <p:nvPr/>
        </p:nvCxnSpPr>
        <p:spPr>
          <a:xfrm flipH="1">
            <a:off x="7427079" y="3124200"/>
            <a:ext cx="315243" cy="16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13" idx="2"/>
          </p:cNvCxnSpPr>
          <p:nvPr/>
        </p:nvCxnSpPr>
        <p:spPr>
          <a:xfrm>
            <a:off x="7742322" y="3124200"/>
            <a:ext cx="249427" cy="16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6591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Greedy Parsing with a Stack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17568" y="5715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dirty="0" smtClean="0"/>
              <a:t>Many </a:t>
            </a:r>
            <a:r>
              <a:rPr lang="en-US" sz="2000" dirty="0" err="1" smtClean="0"/>
              <a:t>millennials</a:t>
            </a:r>
            <a:r>
              <a:rPr lang="en-US" sz="2000" dirty="0" smtClean="0"/>
              <a:t>, of which 50 percent are estimated to have voted, say political parties must listen to their concerns to get support.</a:t>
            </a:r>
          </a:p>
          <a:p>
            <a:pPr marL="0" indent="0">
              <a:buFont typeface="Arial" charset="0"/>
              <a:buNone/>
            </a:pPr>
            <a:endParaRPr lang="en-US" sz="2000" dirty="0" smtClean="0"/>
          </a:p>
          <a:p>
            <a:pPr marL="0" indent="0">
              <a:buFont typeface="Arial" charset="0"/>
              <a:buNone/>
            </a:pPr>
            <a:endParaRPr lang="en-US" sz="2000" dirty="0"/>
          </a:p>
        </p:txBody>
      </p:sp>
      <p:sp>
        <p:nvSpPr>
          <p:cNvPr id="5" name="Down Arrow 4"/>
          <p:cNvSpPr/>
          <p:nvPr/>
        </p:nvSpPr>
        <p:spPr>
          <a:xfrm>
            <a:off x="617568" y="5410199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5165" y="4991100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Buffer: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5165" y="1055688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Stack: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02875" y="1474787"/>
            <a:ext cx="6102725" cy="34972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1" name="Down Arrow 10"/>
          <p:cNvSpPr/>
          <p:nvPr/>
        </p:nvSpPr>
        <p:spPr>
          <a:xfrm rot="16200000">
            <a:off x="2574614" y="4691405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705600" y="2761753"/>
            <a:ext cx="23391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See:</a:t>
            </a:r>
          </a:p>
          <a:p>
            <a:r>
              <a:rPr lang="en-US" dirty="0" err="1" smtClean="0">
                <a:latin typeface="CMU Bright Roman" charset="0"/>
                <a:ea typeface="CMU Bright Roman" charset="0"/>
                <a:cs typeface="CMU Bright Roman" charset="0"/>
              </a:rPr>
              <a:t>Nivre</a:t>
            </a:r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 &amp; </a:t>
            </a:r>
            <a:r>
              <a:rPr lang="en-US" dirty="0" err="1" smtClean="0">
                <a:latin typeface="CMU Bright Roman" charset="0"/>
                <a:ea typeface="CMU Bright Roman" charset="0"/>
                <a:cs typeface="CMU Bright Roman" charset="0"/>
              </a:rPr>
              <a:t>Scholz</a:t>
            </a:r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, 2004</a:t>
            </a:r>
          </a:p>
          <a:p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Henderson, 2004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0967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Greedy Parsing with a Stack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17568" y="5715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dirty="0" smtClean="0"/>
              <a:t>Many </a:t>
            </a:r>
            <a:r>
              <a:rPr lang="en-US" sz="2000" dirty="0" err="1" smtClean="0"/>
              <a:t>millennials</a:t>
            </a:r>
            <a:r>
              <a:rPr lang="en-US" sz="2000" dirty="0" smtClean="0"/>
              <a:t>, of which 50 percent are estimated to have voted, say political parties must listen to their concerns to get support.</a:t>
            </a:r>
          </a:p>
          <a:p>
            <a:pPr marL="0" indent="0">
              <a:buFont typeface="Arial" charset="0"/>
              <a:buNone/>
            </a:pPr>
            <a:endParaRPr lang="en-US" sz="2000" dirty="0" smtClean="0"/>
          </a:p>
          <a:p>
            <a:pPr marL="0" indent="0">
              <a:buFont typeface="Arial" charset="0"/>
              <a:buNone/>
            </a:pPr>
            <a:endParaRPr lang="en-US" sz="2000" dirty="0"/>
          </a:p>
        </p:txBody>
      </p:sp>
      <p:sp>
        <p:nvSpPr>
          <p:cNvPr id="5" name="Down Arrow 4"/>
          <p:cNvSpPr/>
          <p:nvPr/>
        </p:nvSpPr>
        <p:spPr>
          <a:xfrm>
            <a:off x="617568" y="5410199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5165" y="4991100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Buffer: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5165" y="1055688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Stack: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02875" y="1474787"/>
            <a:ext cx="6102725" cy="34972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1" name="Down Arrow 10"/>
          <p:cNvSpPr/>
          <p:nvPr/>
        </p:nvSpPr>
        <p:spPr>
          <a:xfrm rot="16200000">
            <a:off x="2574614" y="4691405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3338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Parsing </a:t>
            </a:r>
            <a:r>
              <a:rPr lang="en-US" dirty="0" smtClean="0"/>
              <a:t>with a Stack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17568" y="5715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Many</a:t>
            </a:r>
            <a:r>
              <a:rPr lang="en-US" sz="2000" dirty="0" smtClean="0"/>
              <a:t> </a:t>
            </a:r>
            <a:r>
              <a:rPr lang="en-US" sz="2000" dirty="0" err="1" smtClean="0"/>
              <a:t>millennials</a:t>
            </a:r>
            <a:r>
              <a:rPr lang="en-US" sz="2000" dirty="0" smtClean="0"/>
              <a:t>, of which 50 percent are estimated to have voted, say political parties must listen to their concerns to get support.</a:t>
            </a:r>
          </a:p>
          <a:p>
            <a:pPr marL="0" indent="0">
              <a:buFont typeface="Arial" charset="0"/>
              <a:buNone/>
            </a:pPr>
            <a:endParaRPr lang="en-US" sz="2000" dirty="0" smtClean="0"/>
          </a:p>
          <a:p>
            <a:pPr marL="0" indent="0">
              <a:buFont typeface="Arial" charset="0"/>
              <a:buNone/>
            </a:pPr>
            <a:endParaRPr lang="en-US" sz="2000" dirty="0"/>
          </a:p>
        </p:txBody>
      </p:sp>
      <p:sp>
        <p:nvSpPr>
          <p:cNvPr id="5" name="Down Arrow 4"/>
          <p:cNvSpPr/>
          <p:nvPr/>
        </p:nvSpPr>
        <p:spPr>
          <a:xfrm>
            <a:off x="1303368" y="5410199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5165" y="4991100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Buffer: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5165" y="1055688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Stack: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02875" y="1474787"/>
            <a:ext cx="6102725" cy="34972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000" dirty="0" smtClean="0"/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Many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7418791" y="2900252"/>
            <a:ext cx="10358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smtClean="0">
                <a:latin typeface="CMU Bright Roman" charset="0"/>
                <a:ea typeface="CMU Bright Roman" charset="0"/>
                <a:cs typeface="CMU Bright Roman" charset="0"/>
              </a:rPr>
              <a:t>shift</a:t>
            </a:r>
            <a:endParaRPr lang="en-US" sz="3600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1" name="Down Arrow 10"/>
          <p:cNvSpPr/>
          <p:nvPr/>
        </p:nvSpPr>
        <p:spPr>
          <a:xfrm rot="16200000">
            <a:off x="2879414" y="4420567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1843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Parsing </a:t>
            </a:r>
            <a:r>
              <a:rPr lang="en-US" dirty="0" smtClean="0"/>
              <a:t>with a Stack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17568" y="5715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Many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chemeClr val="bg1">
                    <a:lumMod val="85000"/>
                  </a:schemeClr>
                </a:solidFill>
              </a:rPr>
              <a:t>millennials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,</a:t>
            </a:r>
            <a:r>
              <a:rPr lang="en-US" sz="2000" dirty="0" smtClean="0"/>
              <a:t> of which 50 percent are estimated to have voted, say political parties must listen to their concerns to get support.</a:t>
            </a:r>
          </a:p>
          <a:p>
            <a:pPr marL="0" indent="0">
              <a:buFont typeface="Arial" charset="0"/>
              <a:buNone/>
            </a:pPr>
            <a:endParaRPr lang="en-US" sz="2000" dirty="0" smtClean="0"/>
          </a:p>
          <a:p>
            <a:pPr marL="0" indent="0">
              <a:buFont typeface="Arial" charset="0"/>
              <a:buNone/>
            </a:pPr>
            <a:endParaRPr lang="en-US" sz="2000" dirty="0"/>
          </a:p>
        </p:txBody>
      </p:sp>
      <p:sp>
        <p:nvSpPr>
          <p:cNvPr id="5" name="Down Arrow 4"/>
          <p:cNvSpPr/>
          <p:nvPr/>
        </p:nvSpPr>
        <p:spPr>
          <a:xfrm>
            <a:off x="2522568" y="5410199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5165" y="4991100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Buffer: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5165" y="1055688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Stack: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02875" y="1474787"/>
            <a:ext cx="6102725" cy="34972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smtClean="0"/>
              <a:t>millennials</a:t>
            </a:r>
            <a:endParaRPr lang="en-US" sz="2000" dirty="0" smtClean="0"/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Many</a:t>
            </a:r>
            <a:endParaRPr lang="en-US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7418791" y="2900252"/>
            <a:ext cx="10358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smtClean="0">
                <a:latin typeface="CMU Bright Roman" charset="0"/>
                <a:ea typeface="CMU Bright Roman" charset="0"/>
                <a:cs typeface="CMU Bright Roman" charset="0"/>
              </a:rPr>
              <a:t>shift</a:t>
            </a:r>
            <a:endParaRPr lang="en-US" sz="3600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2" name="Down Arrow 11"/>
          <p:cNvSpPr/>
          <p:nvPr/>
        </p:nvSpPr>
        <p:spPr>
          <a:xfrm rot="16200000">
            <a:off x="2632884" y="4105606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8241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Parsing </a:t>
            </a:r>
            <a:r>
              <a:rPr lang="en-US" dirty="0" smtClean="0"/>
              <a:t>with a Stack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17568" y="5715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Many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chemeClr val="bg1">
                    <a:lumMod val="85000"/>
                  </a:schemeClr>
                </a:solidFill>
              </a:rPr>
              <a:t>millennials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,</a:t>
            </a:r>
            <a:r>
              <a:rPr lang="en-US" sz="2000" dirty="0" smtClean="0"/>
              <a:t> of which 50 percent are estimated to have voted, say political parties must listen to their concerns to get support.</a:t>
            </a:r>
          </a:p>
          <a:p>
            <a:pPr marL="0" indent="0">
              <a:buFont typeface="Arial" charset="0"/>
              <a:buNone/>
            </a:pPr>
            <a:endParaRPr lang="en-US" sz="2000" dirty="0" smtClean="0"/>
          </a:p>
          <a:p>
            <a:pPr marL="0" indent="0">
              <a:buFont typeface="Arial" charset="0"/>
              <a:buNone/>
            </a:pPr>
            <a:endParaRPr lang="en-US" sz="2000" dirty="0"/>
          </a:p>
        </p:txBody>
      </p:sp>
      <p:sp>
        <p:nvSpPr>
          <p:cNvPr id="5" name="Down Arrow 4"/>
          <p:cNvSpPr/>
          <p:nvPr/>
        </p:nvSpPr>
        <p:spPr>
          <a:xfrm>
            <a:off x="2522568" y="5410199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5165" y="4991100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Buffer: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5165" y="1055688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Stack: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602875" y="1474787"/>
            <a:ext cx="6102725" cy="34972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endParaRPr lang="en-US" sz="2000" dirty="0" smtClean="0"/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Many ← </a:t>
            </a:r>
            <a:r>
              <a:rPr lang="en-US" sz="2000" dirty="0" err="1" smtClean="0"/>
              <a:t>millennials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6805642" y="2900252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smtClean="0">
                <a:latin typeface="CMU Bright Roman" charset="0"/>
                <a:ea typeface="CMU Bright Roman" charset="0"/>
                <a:cs typeface="CMU Bright Roman" charset="0"/>
              </a:rPr>
              <a:t>reduce left</a:t>
            </a:r>
            <a:endParaRPr lang="en-US" sz="3600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0" name="Down Arrow 9"/>
          <p:cNvSpPr/>
          <p:nvPr/>
        </p:nvSpPr>
        <p:spPr>
          <a:xfrm rot="16200000">
            <a:off x="2117414" y="4350146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0384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Parsing </a:t>
            </a:r>
            <a:r>
              <a:rPr lang="en-US" dirty="0" smtClean="0"/>
              <a:t>with a Stack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17568" y="5715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Many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chemeClr val="bg1">
                    <a:lumMod val="85000"/>
                  </a:schemeClr>
                </a:solidFill>
              </a:rPr>
              <a:t>millennials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,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of</a:t>
            </a:r>
            <a:r>
              <a:rPr lang="en-US" sz="2000" dirty="0" smtClean="0"/>
              <a:t> which 50 percent are estimated to have voted, say political parties must listen to their concerns to get support.</a:t>
            </a:r>
          </a:p>
          <a:p>
            <a:pPr marL="0" indent="0">
              <a:buFont typeface="Arial" charset="0"/>
              <a:buNone/>
            </a:pPr>
            <a:endParaRPr lang="en-US" sz="2000" dirty="0" smtClean="0"/>
          </a:p>
          <a:p>
            <a:pPr marL="0" indent="0">
              <a:buFont typeface="Arial" charset="0"/>
              <a:buNone/>
            </a:pPr>
            <a:endParaRPr lang="en-US" sz="2000" dirty="0"/>
          </a:p>
        </p:txBody>
      </p:sp>
      <p:sp>
        <p:nvSpPr>
          <p:cNvPr id="5" name="Down Arrow 4"/>
          <p:cNvSpPr/>
          <p:nvPr/>
        </p:nvSpPr>
        <p:spPr>
          <a:xfrm>
            <a:off x="2827368" y="5410199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5165" y="4991100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Buffer: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5165" y="1055688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Stack: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602875" y="1474787"/>
            <a:ext cx="6102725" cy="34972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r>
              <a:rPr lang="en-US" sz="2000" dirty="0" smtClean="0"/>
              <a:t>of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Many ← </a:t>
            </a:r>
            <a:r>
              <a:rPr lang="en-US" sz="2000" dirty="0" err="1" smtClean="0"/>
              <a:t>millennials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7418791" y="2900252"/>
            <a:ext cx="10358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CMU Bright Roman" charset="0"/>
                <a:ea typeface="CMU Bright Roman" charset="0"/>
                <a:cs typeface="CMU Bright Roman" charset="0"/>
              </a:rPr>
              <a:t>shift</a:t>
            </a:r>
            <a:endParaRPr lang="en-US" sz="3600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0" name="Down Arrow 9"/>
          <p:cNvSpPr/>
          <p:nvPr/>
        </p:nvSpPr>
        <p:spPr>
          <a:xfrm rot="16200000">
            <a:off x="2997698" y="4045346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942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Parsing </a:t>
            </a:r>
            <a:r>
              <a:rPr lang="en-US" dirty="0" smtClean="0"/>
              <a:t>with a Stack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17568" y="5715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Many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chemeClr val="bg1">
                    <a:lumMod val="85000"/>
                  </a:schemeClr>
                </a:solidFill>
              </a:rPr>
              <a:t>millennials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,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of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which</a:t>
            </a:r>
            <a:r>
              <a:rPr lang="en-US" sz="2000" dirty="0" smtClean="0"/>
              <a:t> 50 percent are estimated to have voted, say political parties must listen to their concerns to get support.</a:t>
            </a:r>
          </a:p>
          <a:p>
            <a:pPr marL="0" indent="0">
              <a:buFont typeface="Arial" charset="0"/>
              <a:buNone/>
            </a:pPr>
            <a:endParaRPr lang="en-US" sz="2000" dirty="0" smtClean="0"/>
          </a:p>
          <a:p>
            <a:pPr marL="0" indent="0">
              <a:buFont typeface="Arial" charset="0"/>
              <a:buNone/>
            </a:pPr>
            <a:endParaRPr lang="en-US" sz="2000" dirty="0"/>
          </a:p>
        </p:txBody>
      </p:sp>
      <p:sp>
        <p:nvSpPr>
          <p:cNvPr id="5" name="Down Arrow 4"/>
          <p:cNvSpPr/>
          <p:nvPr/>
        </p:nvSpPr>
        <p:spPr>
          <a:xfrm>
            <a:off x="3513168" y="5410199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5165" y="4991100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Buffer: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5165" y="1055688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Stack: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602875" y="1474787"/>
            <a:ext cx="6102725" cy="34972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r>
              <a:rPr lang="en-US" sz="2000" dirty="0" smtClean="0"/>
              <a:t>which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of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Many ← </a:t>
            </a:r>
            <a:r>
              <a:rPr lang="en-US" sz="2000" dirty="0" err="1" smtClean="0"/>
              <a:t>millennials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7418791" y="2900252"/>
            <a:ext cx="10358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CMU Bright Roman" charset="0"/>
                <a:ea typeface="CMU Bright Roman" charset="0"/>
                <a:cs typeface="CMU Bright Roman" charset="0"/>
              </a:rPr>
              <a:t>shift</a:t>
            </a:r>
            <a:endParaRPr lang="en-US" sz="3600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0" name="Down Arrow 9"/>
          <p:cNvSpPr/>
          <p:nvPr/>
        </p:nvSpPr>
        <p:spPr>
          <a:xfrm rot="16200000">
            <a:off x="2803214" y="3673787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017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Parsing </a:t>
            </a:r>
            <a:r>
              <a:rPr lang="en-US" dirty="0" smtClean="0"/>
              <a:t>with a Stack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17568" y="5715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Many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chemeClr val="bg1">
                    <a:lumMod val="85000"/>
                  </a:schemeClr>
                </a:solidFill>
              </a:rPr>
              <a:t>millennials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,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of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which</a:t>
            </a:r>
            <a:r>
              <a:rPr lang="en-US" sz="2000" dirty="0" smtClean="0"/>
              <a:t> 50 percent are estimated to have voted, say political parties must listen to their concerns to get support.</a:t>
            </a:r>
          </a:p>
          <a:p>
            <a:pPr marL="0" indent="0">
              <a:buFont typeface="Arial" charset="0"/>
              <a:buNone/>
            </a:pPr>
            <a:endParaRPr lang="en-US" sz="2000" dirty="0" smtClean="0"/>
          </a:p>
          <a:p>
            <a:pPr marL="0" indent="0">
              <a:buFont typeface="Arial" charset="0"/>
              <a:buNone/>
            </a:pPr>
            <a:endParaRPr lang="en-US" sz="2000" dirty="0"/>
          </a:p>
        </p:txBody>
      </p:sp>
      <p:sp>
        <p:nvSpPr>
          <p:cNvPr id="5" name="Down Arrow 4"/>
          <p:cNvSpPr/>
          <p:nvPr/>
        </p:nvSpPr>
        <p:spPr>
          <a:xfrm>
            <a:off x="3513168" y="5410199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5165" y="4991100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Buffer: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5165" y="1055688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Stack: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602875" y="1474787"/>
            <a:ext cx="6102725" cy="34972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endParaRPr lang="en-US" sz="2000" dirty="0" smtClean="0"/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of → which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Many ← </a:t>
            </a:r>
            <a:r>
              <a:rPr lang="en-US" sz="2000" dirty="0" err="1" smtClean="0"/>
              <a:t>millennials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6667787" y="2900252"/>
            <a:ext cx="25378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CMU Bright Roman" charset="0"/>
                <a:ea typeface="CMU Bright Roman" charset="0"/>
                <a:cs typeface="CMU Bright Roman" charset="0"/>
              </a:rPr>
              <a:t>reduce right</a:t>
            </a:r>
            <a:endParaRPr lang="en-US" sz="3600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0" name="Down Arrow 9"/>
          <p:cNvSpPr/>
          <p:nvPr/>
        </p:nvSpPr>
        <p:spPr>
          <a:xfrm rot="16200000">
            <a:off x="2650814" y="4054787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5024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Parsing </a:t>
            </a:r>
            <a:r>
              <a:rPr lang="en-US" dirty="0" smtClean="0"/>
              <a:t>with a Stack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17568" y="5715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Many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chemeClr val="bg1">
                    <a:lumMod val="85000"/>
                  </a:schemeClr>
                </a:solidFill>
              </a:rPr>
              <a:t>millennials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,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of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which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50</a:t>
            </a:r>
            <a:r>
              <a:rPr lang="en-US" sz="2000" dirty="0" smtClean="0"/>
              <a:t> percent are estimated to have voted, say political parties must listen to their concerns to get support.</a:t>
            </a:r>
          </a:p>
          <a:p>
            <a:pPr marL="0" indent="0">
              <a:buFont typeface="Arial" charset="0"/>
              <a:buNone/>
            </a:pPr>
            <a:endParaRPr lang="en-US" sz="2000" dirty="0" smtClean="0"/>
          </a:p>
          <a:p>
            <a:pPr marL="0" indent="0">
              <a:buFont typeface="Arial" charset="0"/>
              <a:buNone/>
            </a:pPr>
            <a:endParaRPr lang="en-US" sz="2000" dirty="0"/>
          </a:p>
        </p:txBody>
      </p:sp>
      <p:sp>
        <p:nvSpPr>
          <p:cNvPr id="5" name="Down Arrow 4"/>
          <p:cNvSpPr/>
          <p:nvPr/>
        </p:nvSpPr>
        <p:spPr>
          <a:xfrm>
            <a:off x="3894168" y="5410199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5165" y="4991100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Buffer: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5165" y="1055688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Stack: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602875" y="1474787"/>
            <a:ext cx="6102725" cy="34972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endParaRPr lang="en-US" sz="2000" dirty="0" smtClean="0"/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50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of → which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Many ← </a:t>
            </a:r>
            <a:r>
              <a:rPr lang="en-US" sz="2000" dirty="0" err="1" smtClean="0"/>
              <a:t>millennials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7418794" y="2900252"/>
            <a:ext cx="10358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CMU Bright Roman" charset="0"/>
                <a:ea typeface="CMU Bright Roman" charset="0"/>
                <a:cs typeface="CMU Bright Roman" charset="0"/>
              </a:rPr>
              <a:t>shift</a:t>
            </a:r>
            <a:endParaRPr lang="en-US" sz="3600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0" name="Down Arrow 9"/>
          <p:cNvSpPr/>
          <p:nvPr/>
        </p:nvSpPr>
        <p:spPr>
          <a:xfrm rot="16200000">
            <a:off x="3031814" y="3673787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791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Parsing </a:t>
            </a:r>
            <a:r>
              <a:rPr lang="en-US" dirty="0" smtClean="0"/>
              <a:t>with a Stack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17568" y="5715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Many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chemeClr val="bg1">
                    <a:lumMod val="85000"/>
                  </a:schemeClr>
                </a:solidFill>
              </a:rPr>
              <a:t>millennials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,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of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which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50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percent</a:t>
            </a:r>
            <a:r>
              <a:rPr lang="en-US" sz="2000" dirty="0" smtClean="0"/>
              <a:t> are estimated to have voted, say political parties must listen to their concerns to get support.</a:t>
            </a:r>
          </a:p>
          <a:p>
            <a:pPr marL="0" indent="0">
              <a:buFont typeface="Arial" charset="0"/>
              <a:buNone/>
            </a:pPr>
            <a:endParaRPr lang="en-US" sz="2000" dirty="0" smtClean="0"/>
          </a:p>
          <a:p>
            <a:pPr marL="0" indent="0">
              <a:buFont typeface="Arial" charset="0"/>
              <a:buNone/>
            </a:pPr>
            <a:endParaRPr lang="en-US" sz="2000" dirty="0"/>
          </a:p>
        </p:txBody>
      </p:sp>
      <p:sp>
        <p:nvSpPr>
          <p:cNvPr id="5" name="Down Arrow 4"/>
          <p:cNvSpPr/>
          <p:nvPr/>
        </p:nvSpPr>
        <p:spPr>
          <a:xfrm>
            <a:off x="4724400" y="5410199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5165" y="4991100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Buffer: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5165" y="1055688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Stack: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602875" y="1474787"/>
            <a:ext cx="6102725" cy="34972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endParaRPr lang="en-US" sz="2000" dirty="0" smtClean="0"/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percent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50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of → which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Many ← </a:t>
            </a:r>
            <a:r>
              <a:rPr lang="en-US" sz="2000" dirty="0" err="1" smtClean="0"/>
              <a:t>millennials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7418794" y="2900252"/>
            <a:ext cx="10358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CMU Bright Roman" charset="0"/>
                <a:ea typeface="CMU Bright Roman" charset="0"/>
                <a:cs typeface="CMU Bright Roman" charset="0"/>
              </a:rPr>
              <a:t>shift</a:t>
            </a:r>
            <a:endParaRPr lang="en-US" sz="3600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0" name="Down Arrow 9"/>
          <p:cNvSpPr/>
          <p:nvPr/>
        </p:nvSpPr>
        <p:spPr>
          <a:xfrm rot="16200000">
            <a:off x="2727014" y="3335773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0030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Parsing </a:t>
            </a:r>
            <a:r>
              <a:rPr lang="en-US" dirty="0" smtClean="0"/>
              <a:t>with a Stack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17568" y="5715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Many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chemeClr val="bg1">
                    <a:lumMod val="85000"/>
                  </a:schemeClr>
                </a:solidFill>
              </a:rPr>
              <a:t>millennials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,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of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which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50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percent</a:t>
            </a:r>
            <a:r>
              <a:rPr lang="en-US" sz="2000" dirty="0" smtClean="0"/>
              <a:t> are estimated to have voted, say political parties must listen to their concerns to get support.</a:t>
            </a:r>
          </a:p>
          <a:p>
            <a:pPr marL="0" indent="0">
              <a:buFont typeface="Arial" charset="0"/>
              <a:buNone/>
            </a:pPr>
            <a:endParaRPr lang="en-US" sz="2000" dirty="0" smtClean="0"/>
          </a:p>
          <a:p>
            <a:pPr marL="0" indent="0">
              <a:buFont typeface="Arial" charset="0"/>
              <a:buNone/>
            </a:pPr>
            <a:endParaRPr lang="en-US" sz="2000" dirty="0"/>
          </a:p>
        </p:txBody>
      </p:sp>
      <p:sp>
        <p:nvSpPr>
          <p:cNvPr id="5" name="Down Arrow 4"/>
          <p:cNvSpPr/>
          <p:nvPr/>
        </p:nvSpPr>
        <p:spPr>
          <a:xfrm>
            <a:off x="4724400" y="5410199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5165" y="4991100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Buffer: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5165" y="1055688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Stack: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602875" y="1474787"/>
            <a:ext cx="6102725" cy="34972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endParaRPr lang="en-US" sz="2000" dirty="0" smtClean="0"/>
          </a:p>
          <a:p>
            <a:pPr marL="0" indent="0" algn="ctr">
              <a:buFont typeface="Arial" charset="0"/>
              <a:buNone/>
            </a:pPr>
            <a:endParaRPr lang="en-US" sz="2000" dirty="0" smtClean="0"/>
          </a:p>
          <a:p>
            <a:pPr marL="0" indent="0" algn="ctr">
              <a:buNone/>
            </a:pPr>
            <a:r>
              <a:rPr lang="en-US" sz="2000" dirty="0" smtClean="0"/>
              <a:t>50</a:t>
            </a:r>
            <a:r>
              <a:rPr lang="en-US" sz="2000" dirty="0"/>
              <a:t> </a:t>
            </a:r>
            <a:r>
              <a:rPr lang="en-US" sz="2000" dirty="0" smtClean="0"/>
              <a:t>→ percent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of → which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Many ← </a:t>
            </a:r>
            <a:r>
              <a:rPr lang="en-US" sz="2000" dirty="0" err="1" smtClean="0"/>
              <a:t>millennials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6667790" y="2900252"/>
            <a:ext cx="25378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CMU Bright Roman" charset="0"/>
                <a:ea typeface="CMU Bright Roman" charset="0"/>
                <a:cs typeface="CMU Bright Roman" charset="0"/>
              </a:rPr>
              <a:t>reduce right</a:t>
            </a:r>
            <a:endParaRPr lang="en-US" sz="3600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0" name="Down Arrow 9"/>
          <p:cNvSpPr/>
          <p:nvPr/>
        </p:nvSpPr>
        <p:spPr>
          <a:xfrm rot="16200000">
            <a:off x="2346014" y="3673787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14832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Parsing </a:t>
            </a:r>
            <a:r>
              <a:rPr lang="en-US" dirty="0" smtClean="0"/>
              <a:t>with a Stack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17568" y="5715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Many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chemeClr val="bg1">
                    <a:lumMod val="85000"/>
                  </a:schemeClr>
                </a:solidFill>
              </a:rPr>
              <a:t>millennials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,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of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which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50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percent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are</a:t>
            </a:r>
            <a:r>
              <a:rPr lang="en-US" sz="2000" dirty="0" smtClean="0"/>
              <a:t> estimated to have voted, say political parties must listen to their concerns to get support.</a:t>
            </a:r>
          </a:p>
          <a:p>
            <a:pPr marL="0" indent="0">
              <a:buFont typeface="Arial" charset="0"/>
              <a:buNone/>
            </a:pPr>
            <a:endParaRPr lang="en-US" sz="2000" dirty="0" smtClean="0"/>
          </a:p>
          <a:p>
            <a:pPr marL="0" indent="0">
              <a:buFont typeface="Arial" charset="0"/>
              <a:buNone/>
            </a:pPr>
            <a:endParaRPr lang="en-US" sz="2000" dirty="0"/>
          </a:p>
        </p:txBody>
      </p:sp>
      <p:sp>
        <p:nvSpPr>
          <p:cNvPr id="5" name="Down Arrow 4"/>
          <p:cNvSpPr/>
          <p:nvPr/>
        </p:nvSpPr>
        <p:spPr>
          <a:xfrm>
            <a:off x="5189568" y="5410199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5165" y="4991100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Buffer: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5165" y="1055688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Stack: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602875" y="1474787"/>
            <a:ext cx="6102725" cy="34972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endParaRPr lang="en-US" sz="2000" dirty="0" smtClean="0"/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are</a:t>
            </a:r>
          </a:p>
          <a:p>
            <a:pPr marL="0" indent="0" algn="ctr">
              <a:buNone/>
            </a:pPr>
            <a:r>
              <a:rPr lang="en-US" sz="2000" dirty="0" smtClean="0"/>
              <a:t>50</a:t>
            </a:r>
            <a:r>
              <a:rPr lang="en-US" sz="2000" dirty="0"/>
              <a:t> </a:t>
            </a:r>
            <a:r>
              <a:rPr lang="en-US" sz="2000" dirty="0" smtClean="0"/>
              <a:t>→ percent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of → which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Many ← </a:t>
            </a:r>
            <a:r>
              <a:rPr lang="en-US" sz="2000" dirty="0" err="1" smtClean="0"/>
              <a:t>millennials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7418797" y="2900252"/>
            <a:ext cx="10358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CMU Bright Roman" charset="0"/>
                <a:ea typeface="CMU Bright Roman" charset="0"/>
                <a:cs typeface="CMU Bright Roman" charset="0"/>
              </a:rPr>
              <a:t>shift</a:t>
            </a:r>
            <a:endParaRPr lang="en-US" sz="3600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0" name="Down Arrow 9"/>
          <p:cNvSpPr/>
          <p:nvPr/>
        </p:nvSpPr>
        <p:spPr>
          <a:xfrm rot="16200000">
            <a:off x="2955614" y="3376254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72510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Parsing </a:t>
            </a:r>
            <a:r>
              <a:rPr lang="en-US" dirty="0" smtClean="0"/>
              <a:t>with a Stack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17568" y="5715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Many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chemeClr val="bg1">
                    <a:lumMod val="85000"/>
                  </a:schemeClr>
                </a:solidFill>
              </a:rPr>
              <a:t>millennials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,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of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which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50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percent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are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estimated</a:t>
            </a:r>
            <a:r>
              <a:rPr lang="en-US" sz="2000" dirty="0" smtClean="0"/>
              <a:t> to have voted, say political parties must listen to their concerns to get support.</a:t>
            </a:r>
          </a:p>
          <a:p>
            <a:pPr marL="0" indent="0">
              <a:buFont typeface="Arial" charset="0"/>
              <a:buNone/>
            </a:pPr>
            <a:endParaRPr lang="en-US" sz="2000" dirty="0" smtClean="0"/>
          </a:p>
          <a:p>
            <a:pPr marL="0" indent="0">
              <a:buFont typeface="Arial" charset="0"/>
              <a:buNone/>
            </a:pPr>
            <a:endParaRPr lang="en-US" sz="2000" dirty="0"/>
          </a:p>
        </p:txBody>
      </p:sp>
      <p:sp>
        <p:nvSpPr>
          <p:cNvPr id="5" name="Down Arrow 4"/>
          <p:cNvSpPr/>
          <p:nvPr/>
        </p:nvSpPr>
        <p:spPr>
          <a:xfrm>
            <a:off x="6256368" y="5410199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5165" y="4991100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Buffer: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5165" y="1055688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Stack: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602875" y="1474787"/>
            <a:ext cx="6102725" cy="34972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endParaRPr lang="en-US" sz="2000" dirty="0" smtClean="0"/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estimated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are</a:t>
            </a:r>
          </a:p>
          <a:p>
            <a:pPr marL="0" indent="0" algn="ctr">
              <a:buNone/>
            </a:pPr>
            <a:r>
              <a:rPr lang="en-US" sz="2000" dirty="0" smtClean="0"/>
              <a:t>50</a:t>
            </a:r>
            <a:r>
              <a:rPr lang="en-US" sz="2000" dirty="0"/>
              <a:t> </a:t>
            </a:r>
            <a:r>
              <a:rPr lang="en-US" sz="2000" dirty="0" smtClean="0"/>
              <a:t>→ percent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of → which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Many ← </a:t>
            </a:r>
            <a:r>
              <a:rPr lang="en-US" sz="2000" dirty="0" err="1" smtClean="0"/>
              <a:t>millennials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7418797" y="2900252"/>
            <a:ext cx="10358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CMU Bright Roman" charset="0"/>
                <a:ea typeface="CMU Bright Roman" charset="0"/>
                <a:cs typeface="CMU Bright Roman" charset="0"/>
              </a:rPr>
              <a:t>shift</a:t>
            </a:r>
            <a:endParaRPr lang="en-US" sz="3600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0" name="Down Arrow 9"/>
          <p:cNvSpPr/>
          <p:nvPr/>
        </p:nvSpPr>
        <p:spPr>
          <a:xfrm rot="16200000">
            <a:off x="2650814" y="2995954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15452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Parsing </a:t>
            </a:r>
            <a:r>
              <a:rPr lang="en-US" dirty="0" smtClean="0"/>
              <a:t>with a Stack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17568" y="5715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Many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chemeClr val="bg1">
                    <a:lumMod val="85000"/>
                  </a:schemeClr>
                </a:solidFill>
              </a:rPr>
              <a:t>millennials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,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of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which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50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percent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are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estimated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to</a:t>
            </a:r>
            <a:r>
              <a:rPr lang="en-US" sz="2000" dirty="0" smtClean="0"/>
              <a:t> have voted, say political parties must listen to their concerns to get support.</a:t>
            </a:r>
          </a:p>
          <a:p>
            <a:pPr marL="0" indent="0">
              <a:buFont typeface="Arial" charset="0"/>
              <a:buNone/>
            </a:pPr>
            <a:endParaRPr lang="en-US" sz="2000" dirty="0" smtClean="0"/>
          </a:p>
          <a:p>
            <a:pPr marL="0" indent="0">
              <a:buFont typeface="Arial" charset="0"/>
              <a:buNone/>
            </a:pPr>
            <a:endParaRPr lang="en-US" sz="2000" dirty="0"/>
          </a:p>
        </p:txBody>
      </p:sp>
      <p:sp>
        <p:nvSpPr>
          <p:cNvPr id="5" name="Down Arrow 4"/>
          <p:cNvSpPr/>
          <p:nvPr/>
        </p:nvSpPr>
        <p:spPr>
          <a:xfrm>
            <a:off x="6637368" y="5410199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5165" y="4991100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Buffer: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5165" y="1055688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Stack: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602875" y="1474787"/>
            <a:ext cx="6102725" cy="34972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endParaRPr lang="en-US" sz="2000" dirty="0" smtClean="0"/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to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estimated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are</a:t>
            </a:r>
          </a:p>
          <a:p>
            <a:pPr marL="0" indent="0" algn="ctr">
              <a:buNone/>
            </a:pPr>
            <a:r>
              <a:rPr lang="en-US" sz="2000" dirty="0" smtClean="0"/>
              <a:t>50</a:t>
            </a:r>
            <a:r>
              <a:rPr lang="en-US" sz="2000" dirty="0"/>
              <a:t> </a:t>
            </a:r>
            <a:r>
              <a:rPr lang="en-US" sz="2000" dirty="0" smtClean="0"/>
              <a:t>→ percent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of → which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Many ← </a:t>
            </a:r>
            <a:r>
              <a:rPr lang="en-US" sz="2000" dirty="0" err="1" smtClean="0"/>
              <a:t>millennials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7418797" y="2900252"/>
            <a:ext cx="10358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CMU Bright Roman" charset="0"/>
                <a:ea typeface="CMU Bright Roman" charset="0"/>
                <a:cs typeface="CMU Bright Roman" charset="0"/>
              </a:rPr>
              <a:t>shift</a:t>
            </a:r>
            <a:endParaRPr lang="en-US" sz="3600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0" name="Down Arrow 9"/>
          <p:cNvSpPr/>
          <p:nvPr/>
        </p:nvSpPr>
        <p:spPr>
          <a:xfrm rot="16200000">
            <a:off x="2955614" y="2619607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79825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Parsing </a:t>
            </a:r>
            <a:r>
              <a:rPr lang="en-US" dirty="0" smtClean="0"/>
              <a:t>with a Stack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17568" y="5715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Many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chemeClr val="bg1">
                    <a:lumMod val="85000"/>
                  </a:schemeClr>
                </a:solidFill>
              </a:rPr>
              <a:t>millennials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,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of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which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50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percent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are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estimated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to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have</a:t>
            </a:r>
            <a:r>
              <a:rPr lang="en-US" sz="2000" dirty="0" smtClean="0"/>
              <a:t> voted, say political parties must listen to their concerns to get support.</a:t>
            </a:r>
          </a:p>
          <a:p>
            <a:pPr marL="0" indent="0">
              <a:buFont typeface="Arial" charset="0"/>
              <a:buNone/>
            </a:pPr>
            <a:endParaRPr lang="en-US" sz="2000" dirty="0" smtClean="0"/>
          </a:p>
          <a:p>
            <a:pPr marL="0" indent="0">
              <a:buFont typeface="Arial" charset="0"/>
              <a:buNone/>
            </a:pPr>
            <a:endParaRPr lang="en-US" sz="2000" dirty="0"/>
          </a:p>
        </p:txBody>
      </p:sp>
      <p:sp>
        <p:nvSpPr>
          <p:cNvPr id="5" name="Down Arrow 4"/>
          <p:cNvSpPr/>
          <p:nvPr/>
        </p:nvSpPr>
        <p:spPr>
          <a:xfrm>
            <a:off x="7170768" y="5410199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5165" y="4991100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Buffer: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5165" y="1055688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Stack: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602875" y="1474787"/>
            <a:ext cx="6102725" cy="34972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endParaRPr lang="en-US" sz="2000" dirty="0" smtClean="0"/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have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to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estimated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are</a:t>
            </a:r>
          </a:p>
          <a:p>
            <a:pPr marL="0" indent="0" algn="ctr">
              <a:buNone/>
            </a:pPr>
            <a:r>
              <a:rPr lang="en-US" sz="2000" dirty="0" smtClean="0"/>
              <a:t>50</a:t>
            </a:r>
            <a:r>
              <a:rPr lang="en-US" sz="2000" dirty="0"/>
              <a:t> </a:t>
            </a:r>
            <a:r>
              <a:rPr lang="en-US" sz="2000" dirty="0" smtClean="0"/>
              <a:t>→ percent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of → which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Many ← </a:t>
            </a:r>
            <a:r>
              <a:rPr lang="en-US" sz="2000" dirty="0" err="1" smtClean="0"/>
              <a:t>millennials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7418797" y="2900252"/>
            <a:ext cx="10358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CMU Bright Roman" charset="0"/>
                <a:ea typeface="CMU Bright Roman" charset="0"/>
                <a:cs typeface="CMU Bright Roman" charset="0"/>
              </a:rPr>
              <a:t>shift</a:t>
            </a:r>
            <a:endParaRPr lang="en-US" sz="3600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0" name="Down Arrow 9"/>
          <p:cNvSpPr/>
          <p:nvPr/>
        </p:nvSpPr>
        <p:spPr>
          <a:xfrm rot="16200000">
            <a:off x="2879414" y="2302187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3849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Parsing </a:t>
            </a:r>
            <a:r>
              <a:rPr lang="en-US" dirty="0" smtClean="0"/>
              <a:t>with a Stack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17568" y="5715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Many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chemeClr val="bg1">
                    <a:lumMod val="85000"/>
                  </a:schemeClr>
                </a:solidFill>
              </a:rPr>
              <a:t>millennials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,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of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which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50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percent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are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estimated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to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have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voted,</a:t>
            </a:r>
            <a:r>
              <a:rPr lang="en-US" sz="2000" dirty="0" smtClean="0"/>
              <a:t> say political parties must listen to their concerns to get support.</a:t>
            </a:r>
          </a:p>
          <a:p>
            <a:pPr marL="0" indent="0">
              <a:buFont typeface="Arial" charset="0"/>
              <a:buNone/>
            </a:pPr>
            <a:endParaRPr lang="en-US" sz="2000" dirty="0" smtClean="0"/>
          </a:p>
          <a:p>
            <a:pPr marL="0" indent="0">
              <a:buFont typeface="Arial" charset="0"/>
              <a:buNone/>
            </a:pPr>
            <a:endParaRPr lang="en-US" sz="2000" dirty="0"/>
          </a:p>
        </p:txBody>
      </p:sp>
      <p:sp>
        <p:nvSpPr>
          <p:cNvPr id="5" name="Down Arrow 4"/>
          <p:cNvSpPr/>
          <p:nvPr/>
        </p:nvSpPr>
        <p:spPr>
          <a:xfrm>
            <a:off x="7932768" y="5410199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5165" y="4991100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Buffer: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5165" y="1055688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Stack: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602875" y="1474787"/>
            <a:ext cx="6102725" cy="34972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endParaRPr lang="en-US" sz="2000" dirty="0" smtClean="0"/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voted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have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to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estimated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are</a:t>
            </a:r>
          </a:p>
          <a:p>
            <a:pPr marL="0" indent="0" algn="ctr">
              <a:buNone/>
            </a:pPr>
            <a:r>
              <a:rPr lang="en-US" sz="2000" dirty="0" smtClean="0"/>
              <a:t>50</a:t>
            </a:r>
            <a:r>
              <a:rPr lang="en-US" sz="2000" dirty="0"/>
              <a:t> </a:t>
            </a:r>
            <a:r>
              <a:rPr lang="en-US" sz="2000" dirty="0" smtClean="0"/>
              <a:t>→ percent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of → which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Many ← </a:t>
            </a:r>
            <a:r>
              <a:rPr lang="en-US" sz="2000" dirty="0" err="1" smtClean="0"/>
              <a:t>millennials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7418800" y="2900252"/>
            <a:ext cx="10358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CMU Bright Roman" charset="0"/>
                <a:ea typeface="CMU Bright Roman" charset="0"/>
                <a:cs typeface="CMU Bright Roman" charset="0"/>
              </a:rPr>
              <a:t>shift</a:t>
            </a:r>
            <a:endParaRPr lang="en-US" sz="3600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0" name="Down Arrow 9"/>
          <p:cNvSpPr/>
          <p:nvPr/>
        </p:nvSpPr>
        <p:spPr>
          <a:xfrm rot="16200000">
            <a:off x="2879414" y="1928399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915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Parsing </a:t>
            </a:r>
            <a:r>
              <a:rPr lang="en-US" dirty="0" smtClean="0"/>
              <a:t>with a Stack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17568" y="5715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Many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chemeClr val="bg1">
                    <a:lumMod val="85000"/>
                  </a:schemeClr>
                </a:solidFill>
              </a:rPr>
              <a:t>millennials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,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of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which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50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percent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are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estimated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to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have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voted,</a:t>
            </a:r>
            <a:r>
              <a:rPr lang="en-US" sz="2000" dirty="0" smtClean="0"/>
              <a:t> say political parties must listen to their concerns to get support.</a:t>
            </a:r>
          </a:p>
          <a:p>
            <a:pPr marL="0" indent="0">
              <a:buFont typeface="Arial" charset="0"/>
              <a:buNone/>
            </a:pPr>
            <a:endParaRPr lang="en-US" sz="2000" dirty="0" smtClean="0"/>
          </a:p>
          <a:p>
            <a:pPr marL="0" indent="0">
              <a:buFont typeface="Arial" charset="0"/>
              <a:buNone/>
            </a:pPr>
            <a:endParaRPr lang="en-US" sz="2000" dirty="0"/>
          </a:p>
        </p:txBody>
      </p:sp>
      <p:sp>
        <p:nvSpPr>
          <p:cNvPr id="5" name="Down Arrow 4"/>
          <p:cNvSpPr/>
          <p:nvPr/>
        </p:nvSpPr>
        <p:spPr>
          <a:xfrm>
            <a:off x="7932768" y="5410199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5165" y="4991100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Buffer: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5165" y="1055688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Stack: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602875" y="1474787"/>
            <a:ext cx="6102725" cy="34972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endParaRPr lang="en-US" sz="2000" dirty="0" smtClean="0"/>
          </a:p>
          <a:p>
            <a:pPr marL="0" indent="0" algn="ctr">
              <a:buNone/>
            </a:pPr>
            <a:r>
              <a:rPr lang="en-US" sz="2000" dirty="0" smtClean="0"/>
              <a:t>have ← voted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to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estimated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are</a:t>
            </a:r>
          </a:p>
          <a:p>
            <a:pPr marL="0" indent="0" algn="ctr">
              <a:buNone/>
            </a:pPr>
            <a:r>
              <a:rPr lang="en-US" sz="2000" dirty="0" smtClean="0"/>
              <a:t>50</a:t>
            </a:r>
            <a:r>
              <a:rPr lang="en-US" sz="2000" dirty="0"/>
              <a:t> </a:t>
            </a:r>
            <a:r>
              <a:rPr lang="en-US" sz="2000" dirty="0" smtClean="0"/>
              <a:t>→ percent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of → which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Many ← </a:t>
            </a:r>
            <a:r>
              <a:rPr lang="en-US" sz="2000" dirty="0" err="1" smtClean="0"/>
              <a:t>millennials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6805654" y="2900252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CMU Bright Roman" charset="0"/>
                <a:ea typeface="CMU Bright Roman" charset="0"/>
                <a:cs typeface="CMU Bright Roman" charset="0"/>
              </a:rPr>
              <a:t>reduce left</a:t>
            </a:r>
            <a:endParaRPr lang="en-US" sz="3600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0" name="Down Arrow 9"/>
          <p:cNvSpPr/>
          <p:nvPr/>
        </p:nvSpPr>
        <p:spPr>
          <a:xfrm rot="16200000">
            <a:off x="2346014" y="2225987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9364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Parsing </a:t>
            </a:r>
            <a:r>
              <a:rPr lang="en-US" dirty="0" smtClean="0"/>
              <a:t>with a Stack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17568" y="5715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Many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chemeClr val="bg1">
                    <a:lumMod val="85000"/>
                  </a:schemeClr>
                </a:solidFill>
              </a:rPr>
              <a:t>millennials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,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of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which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50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percent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are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estimated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to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have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voted,</a:t>
            </a:r>
            <a:r>
              <a:rPr lang="en-US" sz="2000" dirty="0" smtClean="0"/>
              <a:t> say political parties must listen to their concerns to get support.</a:t>
            </a:r>
          </a:p>
          <a:p>
            <a:pPr marL="0" indent="0">
              <a:buFont typeface="Arial" charset="0"/>
              <a:buNone/>
            </a:pPr>
            <a:endParaRPr lang="en-US" sz="2000" dirty="0" smtClean="0"/>
          </a:p>
          <a:p>
            <a:pPr marL="0" indent="0">
              <a:buFont typeface="Arial" charset="0"/>
              <a:buNone/>
            </a:pPr>
            <a:endParaRPr lang="en-US" sz="2000" dirty="0"/>
          </a:p>
        </p:txBody>
      </p:sp>
      <p:sp>
        <p:nvSpPr>
          <p:cNvPr id="5" name="Down Arrow 4"/>
          <p:cNvSpPr/>
          <p:nvPr/>
        </p:nvSpPr>
        <p:spPr>
          <a:xfrm>
            <a:off x="7932768" y="5410199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5165" y="4991100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Buffer: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5165" y="1055688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Stack: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602875" y="1474787"/>
            <a:ext cx="6102725" cy="34972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endParaRPr lang="en-US" sz="2000" dirty="0" smtClean="0"/>
          </a:p>
          <a:p>
            <a:pPr marL="0" indent="0" algn="ctr">
              <a:buNone/>
            </a:pPr>
            <a:r>
              <a:rPr lang="en-US" sz="2000" dirty="0" smtClean="0"/>
              <a:t>(to have) ← voted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estimated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are</a:t>
            </a:r>
          </a:p>
          <a:p>
            <a:pPr marL="0" indent="0" algn="ctr">
              <a:buNone/>
            </a:pPr>
            <a:r>
              <a:rPr lang="en-US" sz="2000" dirty="0" smtClean="0"/>
              <a:t>50</a:t>
            </a:r>
            <a:r>
              <a:rPr lang="en-US" sz="2000" dirty="0"/>
              <a:t> </a:t>
            </a:r>
            <a:r>
              <a:rPr lang="en-US" sz="2000" dirty="0" smtClean="0"/>
              <a:t>→ percent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of → which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Many ← </a:t>
            </a:r>
            <a:r>
              <a:rPr lang="en-US" sz="2000" dirty="0" err="1" smtClean="0"/>
              <a:t>millennials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6805654" y="2900252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CMU Bright Roman" charset="0"/>
                <a:ea typeface="CMU Bright Roman" charset="0"/>
                <a:cs typeface="CMU Bright Roman" charset="0"/>
              </a:rPr>
              <a:t>reduce left</a:t>
            </a:r>
            <a:endParaRPr lang="en-US" sz="3600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0" name="Down Arrow 9"/>
          <p:cNvSpPr/>
          <p:nvPr/>
        </p:nvSpPr>
        <p:spPr>
          <a:xfrm rot="16200000">
            <a:off x="2081554" y="2606987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0210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Parsing </a:t>
            </a:r>
            <a:r>
              <a:rPr lang="en-US" dirty="0" smtClean="0"/>
              <a:t>with a Stack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17568" y="5715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Many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chemeClr val="bg1">
                    <a:lumMod val="85000"/>
                  </a:schemeClr>
                </a:solidFill>
              </a:rPr>
              <a:t>millennials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,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of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which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50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percent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are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estimated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to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have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voted,</a:t>
            </a:r>
            <a:r>
              <a:rPr lang="en-US" sz="2000" dirty="0" smtClean="0"/>
              <a:t> say political parties must listen to their concerns to get support.</a:t>
            </a:r>
          </a:p>
          <a:p>
            <a:pPr marL="0" indent="0">
              <a:buFont typeface="Arial" charset="0"/>
              <a:buNone/>
            </a:pPr>
            <a:endParaRPr lang="en-US" sz="2000" dirty="0" smtClean="0"/>
          </a:p>
          <a:p>
            <a:pPr marL="0" indent="0">
              <a:buFont typeface="Arial" charset="0"/>
              <a:buNone/>
            </a:pPr>
            <a:endParaRPr lang="en-US" sz="2000" dirty="0"/>
          </a:p>
        </p:txBody>
      </p:sp>
      <p:sp>
        <p:nvSpPr>
          <p:cNvPr id="5" name="Down Arrow 4"/>
          <p:cNvSpPr/>
          <p:nvPr/>
        </p:nvSpPr>
        <p:spPr>
          <a:xfrm>
            <a:off x="7932768" y="5410199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5165" y="4991100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Buffer: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5165" y="1055688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Stack: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602875" y="1474787"/>
            <a:ext cx="6102725" cy="34972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endParaRPr lang="en-US" sz="2000" dirty="0" smtClean="0"/>
          </a:p>
          <a:p>
            <a:pPr marL="0" indent="0" algn="ctr">
              <a:buNone/>
            </a:pPr>
            <a:r>
              <a:rPr lang="en-US" sz="2000" dirty="0" smtClean="0"/>
              <a:t>estimated → ((</a:t>
            </a:r>
            <a:r>
              <a:rPr lang="en-US" sz="2000" dirty="0"/>
              <a:t>to have) ← </a:t>
            </a:r>
            <a:r>
              <a:rPr lang="en-US" sz="2000" dirty="0" smtClean="0"/>
              <a:t>voted)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are</a:t>
            </a:r>
          </a:p>
          <a:p>
            <a:pPr marL="0" indent="0" algn="ctr">
              <a:buNone/>
            </a:pPr>
            <a:r>
              <a:rPr lang="en-US" sz="2000" dirty="0" smtClean="0"/>
              <a:t>50</a:t>
            </a:r>
            <a:r>
              <a:rPr lang="en-US" sz="2000" dirty="0"/>
              <a:t> </a:t>
            </a:r>
            <a:r>
              <a:rPr lang="en-US" sz="2000" dirty="0" smtClean="0"/>
              <a:t>→ percent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of → which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Many ← </a:t>
            </a:r>
            <a:r>
              <a:rPr lang="en-US" sz="2000" dirty="0" err="1" smtClean="0"/>
              <a:t>millennials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6667796" y="2900252"/>
            <a:ext cx="25378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CMU Bright Roman" charset="0"/>
                <a:ea typeface="CMU Bright Roman" charset="0"/>
                <a:cs typeface="CMU Bright Roman" charset="0"/>
              </a:rPr>
              <a:t>reduce right</a:t>
            </a:r>
            <a:endParaRPr lang="en-US" sz="3600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0" name="Down Arrow 9"/>
          <p:cNvSpPr/>
          <p:nvPr/>
        </p:nvSpPr>
        <p:spPr>
          <a:xfrm rot="16200000">
            <a:off x="1355414" y="2987987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5936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Parsing </a:t>
            </a:r>
            <a:r>
              <a:rPr lang="en-US" dirty="0" smtClean="0"/>
              <a:t>with a Stack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17568" y="5715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Many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chemeClr val="bg1">
                    <a:lumMod val="85000"/>
                  </a:schemeClr>
                </a:solidFill>
              </a:rPr>
              <a:t>millennials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,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of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which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50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percent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are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estimated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to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have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chemeClr val="bg1">
                    <a:lumMod val="85000"/>
                  </a:schemeClr>
                </a:solidFill>
              </a:rPr>
              <a:t>voted,</a:t>
            </a:r>
            <a:r>
              <a:rPr lang="en-US" sz="2000" dirty="0" smtClean="0"/>
              <a:t> say political parties must listen to their concerns to get support.</a:t>
            </a:r>
          </a:p>
          <a:p>
            <a:pPr marL="0" indent="0">
              <a:buFont typeface="Arial" charset="0"/>
              <a:buNone/>
            </a:pPr>
            <a:endParaRPr lang="en-US" sz="2000" dirty="0" smtClean="0"/>
          </a:p>
          <a:p>
            <a:pPr marL="0" indent="0">
              <a:buFont typeface="Arial" charset="0"/>
              <a:buNone/>
            </a:pPr>
            <a:endParaRPr lang="en-US" sz="2000" dirty="0"/>
          </a:p>
        </p:txBody>
      </p:sp>
      <p:sp>
        <p:nvSpPr>
          <p:cNvPr id="5" name="Down Arrow 4"/>
          <p:cNvSpPr/>
          <p:nvPr/>
        </p:nvSpPr>
        <p:spPr>
          <a:xfrm>
            <a:off x="7932768" y="5410199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85165" y="4991100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Buffer: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85165" y="1055688"/>
            <a:ext cx="98163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i="1" dirty="0" smtClean="0"/>
              <a:t>Stack: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 bwMode="auto">
          <a:xfrm>
            <a:off x="602875" y="1474787"/>
            <a:ext cx="6102725" cy="349726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charset="0"/>
              <a:buNone/>
            </a:pPr>
            <a:endParaRPr lang="en-US" sz="2000" dirty="0" smtClean="0"/>
          </a:p>
          <a:p>
            <a:pPr marL="0" indent="0" algn="ctr">
              <a:buNone/>
            </a:pPr>
            <a:r>
              <a:rPr lang="en-US" sz="2000" dirty="0" smtClean="0"/>
              <a:t>are</a:t>
            </a:r>
            <a:r>
              <a:rPr lang="en-US" sz="2000" dirty="0"/>
              <a:t> ←</a:t>
            </a:r>
            <a:r>
              <a:rPr lang="en-US" sz="2000" dirty="0" smtClean="0"/>
              <a:t> estimated → ((</a:t>
            </a:r>
            <a:r>
              <a:rPr lang="en-US" sz="2000" dirty="0"/>
              <a:t>to have) ← </a:t>
            </a:r>
            <a:r>
              <a:rPr lang="en-US" sz="2000" dirty="0" smtClean="0"/>
              <a:t>voted)</a:t>
            </a:r>
          </a:p>
          <a:p>
            <a:pPr marL="0" indent="0" algn="ctr">
              <a:buNone/>
            </a:pPr>
            <a:r>
              <a:rPr lang="en-US" sz="2000" dirty="0" smtClean="0"/>
              <a:t>50 → percent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of → which</a:t>
            </a:r>
          </a:p>
          <a:p>
            <a:pPr marL="0" indent="0" algn="ctr">
              <a:buFont typeface="Arial" charset="0"/>
              <a:buNone/>
            </a:pPr>
            <a:r>
              <a:rPr lang="en-US" sz="2000" dirty="0" smtClean="0"/>
              <a:t>Many ← </a:t>
            </a:r>
            <a:r>
              <a:rPr lang="en-US" sz="2000" dirty="0" err="1" smtClean="0"/>
              <a:t>millennials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6805655" y="2900252"/>
            <a:ext cx="2262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 smtClean="0">
                <a:latin typeface="CMU Bright Roman" charset="0"/>
                <a:ea typeface="CMU Bright Roman" charset="0"/>
                <a:cs typeface="CMU Bright Roman" charset="0"/>
              </a:rPr>
              <a:t>reduce left</a:t>
            </a:r>
            <a:endParaRPr lang="en-US" sz="3600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0" name="Down Arrow 9"/>
          <p:cNvSpPr/>
          <p:nvPr/>
        </p:nvSpPr>
        <p:spPr>
          <a:xfrm rot="16200000">
            <a:off x="956483" y="3415725"/>
            <a:ext cx="220632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287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617568" y="5715000"/>
            <a:ext cx="82296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2pPr>
            <a:lvl3pPr marL="11430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3pPr>
            <a:lvl4pPr marL="16002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4pPr>
            <a:lvl5pPr marL="2057400" indent="-228600" algn="l" defTabSz="457200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MU Bright Roman"/>
                <a:ea typeface="ＭＳ Ｐゴシック" pitchFamily="-65" charset="-128"/>
                <a:cs typeface="CMU Bright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charset="0"/>
              <a:buNone/>
            </a:pPr>
            <a:r>
              <a:rPr lang="en-US" sz="2000" smtClean="0"/>
              <a:t>Many </a:t>
            </a:r>
            <a:r>
              <a:rPr lang="en-US" sz="2000" dirty="0" err="1" smtClean="0"/>
              <a:t>millennials</a:t>
            </a:r>
            <a:r>
              <a:rPr lang="en-US" sz="2000" dirty="0" smtClean="0"/>
              <a:t>, of which 50 percent are estimated to have voted, say political parties must listen to their concerns to get support.</a:t>
            </a:r>
          </a:p>
          <a:p>
            <a:pPr marL="0" indent="0">
              <a:buFont typeface="Arial" charset="0"/>
              <a:buNone/>
            </a:pPr>
            <a:endParaRPr lang="en-US" sz="2000" dirty="0" smtClean="0"/>
          </a:p>
          <a:p>
            <a:pPr marL="0" indent="0">
              <a:buFont typeface="Arial" charset="0"/>
              <a:buNone/>
            </a:pP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2414767" y="2824980"/>
            <a:ext cx="11384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estimated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91083" y="3588441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voted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09800" y="411403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latin typeface="CMU Bright Roman" charset="0"/>
                <a:ea typeface="CMU Bright Roman" charset="0"/>
                <a:cs typeface="CMU Bright Roman" charset="0"/>
              </a:rPr>
              <a:t>50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63129" y="1415175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say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05529" y="1840034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latin typeface="CMU Bright Roman" charset="0"/>
                <a:ea typeface="CMU Bright Roman" charset="0"/>
                <a:cs typeface="CMU Bright Roman" charset="0"/>
              </a:rPr>
              <a:t>listen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2894" y="2754868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latin typeface="CMU Bright Roman" charset="0"/>
                <a:ea typeface="CMU Bright Roman" charset="0"/>
                <a:cs typeface="CMU Bright Roman" charset="0"/>
              </a:rPr>
              <a:t>get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1380" y="2225711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latin typeface="CMU Bright Roman" charset="0"/>
                <a:ea typeface="CMU Bright Roman" charset="0"/>
                <a:cs typeface="CMU Bright Roman" charset="0"/>
              </a:rPr>
              <a:t>millennials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4400" y="2705059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Many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46945" y="3588441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of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958553" y="3588441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percent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08640" y="3588441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are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cxnSp>
        <p:nvCxnSpPr>
          <p:cNvPr id="20" name="Straight Arrow Connector 19"/>
          <p:cNvCxnSpPr>
            <a:stCxn id="15" idx="2"/>
          </p:cNvCxnSpPr>
          <p:nvPr/>
        </p:nvCxnSpPr>
        <p:spPr>
          <a:xfrm flipH="1">
            <a:off x="1452380" y="2595043"/>
            <a:ext cx="208264" cy="1100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5" idx="2"/>
          </p:cNvCxnSpPr>
          <p:nvPr/>
        </p:nvCxnSpPr>
        <p:spPr>
          <a:xfrm>
            <a:off x="1660644" y="2595043"/>
            <a:ext cx="754123" cy="2299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6" idx="2"/>
            <a:endCxn id="17" idx="0"/>
          </p:cNvCxnSpPr>
          <p:nvPr/>
        </p:nvCxnSpPr>
        <p:spPr>
          <a:xfrm flipH="1">
            <a:off x="1737061" y="3194312"/>
            <a:ext cx="1246933" cy="3941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6" idx="2"/>
            <a:endCxn id="18" idx="0"/>
          </p:cNvCxnSpPr>
          <p:nvPr/>
        </p:nvCxnSpPr>
        <p:spPr>
          <a:xfrm flipH="1">
            <a:off x="2414768" y="3194312"/>
            <a:ext cx="569226" cy="3941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6" idx="2"/>
            <a:endCxn id="19" idx="0"/>
          </p:cNvCxnSpPr>
          <p:nvPr/>
        </p:nvCxnSpPr>
        <p:spPr>
          <a:xfrm>
            <a:off x="2983994" y="3194312"/>
            <a:ext cx="67661" cy="3941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7" idx="2"/>
            <a:endCxn id="37" idx="0"/>
          </p:cNvCxnSpPr>
          <p:nvPr/>
        </p:nvCxnSpPr>
        <p:spPr>
          <a:xfrm>
            <a:off x="1737061" y="3957773"/>
            <a:ext cx="9573" cy="1686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376180" y="4126468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which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cxnSp>
        <p:nvCxnSpPr>
          <p:cNvPr id="42" name="Straight Arrow Connector 41"/>
          <p:cNvCxnSpPr>
            <a:stCxn id="18" idx="2"/>
            <a:endCxn id="8" idx="0"/>
          </p:cNvCxnSpPr>
          <p:nvPr/>
        </p:nvCxnSpPr>
        <p:spPr>
          <a:xfrm>
            <a:off x="2414768" y="3957773"/>
            <a:ext cx="9193" cy="1562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6" idx="2"/>
            <a:endCxn id="7" idx="0"/>
          </p:cNvCxnSpPr>
          <p:nvPr/>
        </p:nvCxnSpPr>
        <p:spPr>
          <a:xfrm>
            <a:off x="2983994" y="3194312"/>
            <a:ext cx="781551" cy="3941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2925992" y="4119770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latin typeface="CMU Bright Roman" charset="0"/>
                <a:ea typeface="CMU Bright Roman" charset="0"/>
                <a:cs typeface="CMU Bright Roman" charset="0"/>
              </a:rPr>
              <a:t>to have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cxnSp>
        <p:nvCxnSpPr>
          <p:cNvPr id="49" name="Straight Arrow Connector 48"/>
          <p:cNvCxnSpPr>
            <a:stCxn id="7" idx="2"/>
          </p:cNvCxnSpPr>
          <p:nvPr/>
        </p:nvCxnSpPr>
        <p:spPr>
          <a:xfrm flipH="1">
            <a:off x="3159349" y="3957773"/>
            <a:ext cx="606196" cy="1686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7" idx="2"/>
          </p:cNvCxnSpPr>
          <p:nvPr/>
        </p:nvCxnSpPr>
        <p:spPr>
          <a:xfrm flipH="1">
            <a:off x="3577490" y="3957773"/>
            <a:ext cx="188055" cy="2581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>
            <a:stCxn id="9" idx="2"/>
            <a:endCxn id="15" idx="3"/>
          </p:cNvCxnSpPr>
          <p:nvPr/>
        </p:nvCxnSpPr>
        <p:spPr>
          <a:xfrm flipH="1">
            <a:off x="2249908" y="1784507"/>
            <a:ext cx="2261847" cy="6258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4313826" y="2763929"/>
            <a:ext cx="837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parties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cxnSp>
        <p:nvCxnSpPr>
          <p:cNvPr id="59" name="Straight Arrow Connector 58"/>
          <p:cNvCxnSpPr/>
          <p:nvPr/>
        </p:nvCxnSpPr>
        <p:spPr>
          <a:xfrm>
            <a:off x="4732368" y="3133261"/>
            <a:ext cx="9573" cy="1686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4272103" y="3301956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political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5273224" y="2602468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must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cxnSp>
        <p:nvCxnSpPr>
          <p:cNvPr id="62" name="Straight Arrow Connector 61"/>
          <p:cNvCxnSpPr>
            <a:stCxn id="11" idx="2"/>
            <a:endCxn id="61" idx="0"/>
          </p:cNvCxnSpPr>
          <p:nvPr/>
        </p:nvCxnSpPr>
        <p:spPr>
          <a:xfrm flipH="1">
            <a:off x="5608412" y="2209366"/>
            <a:ext cx="144328" cy="3931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11" idx="2"/>
            <a:endCxn id="58" idx="0"/>
          </p:cNvCxnSpPr>
          <p:nvPr/>
        </p:nvCxnSpPr>
        <p:spPr>
          <a:xfrm flipH="1">
            <a:off x="4732371" y="2209366"/>
            <a:ext cx="1020369" cy="5545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9" idx="2"/>
            <a:endCxn id="11" idx="1"/>
          </p:cNvCxnSpPr>
          <p:nvPr/>
        </p:nvCxnSpPr>
        <p:spPr>
          <a:xfrm>
            <a:off x="4511755" y="1784507"/>
            <a:ext cx="893774" cy="2401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5938929" y="3068729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concerns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6458460" y="3438061"/>
            <a:ext cx="9573" cy="1686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6152884" y="3606756"/>
            <a:ext cx="630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their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cxnSp>
        <p:nvCxnSpPr>
          <p:cNvPr id="75" name="Straight Arrow Connector 74"/>
          <p:cNvCxnSpPr>
            <a:stCxn id="11" idx="2"/>
          </p:cNvCxnSpPr>
          <p:nvPr/>
        </p:nvCxnSpPr>
        <p:spPr>
          <a:xfrm>
            <a:off x="5752740" y="2209366"/>
            <a:ext cx="592470" cy="2568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234740" y="2526268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to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cxnSp>
        <p:nvCxnSpPr>
          <p:cNvPr id="79" name="Straight Arrow Connector 78"/>
          <p:cNvCxnSpPr>
            <a:stCxn id="78" idx="2"/>
            <a:endCxn id="72" idx="0"/>
          </p:cNvCxnSpPr>
          <p:nvPr/>
        </p:nvCxnSpPr>
        <p:spPr>
          <a:xfrm>
            <a:off x="6432070" y="2895600"/>
            <a:ext cx="26393" cy="1731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>
            <a:stCxn id="11" idx="2"/>
            <a:endCxn id="13" idx="0"/>
          </p:cNvCxnSpPr>
          <p:nvPr/>
        </p:nvCxnSpPr>
        <p:spPr>
          <a:xfrm>
            <a:off x="5752740" y="2209366"/>
            <a:ext cx="1989582" cy="5455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7229749" y="3288268"/>
            <a:ext cx="39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to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839349" y="3288268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mtClean="0">
                <a:latin typeface="CMU Bright Roman" charset="0"/>
                <a:ea typeface="CMU Bright Roman" charset="0"/>
                <a:cs typeface="CMU Bright Roman" charset="0"/>
              </a:rPr>
              <a:t>support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cxnSp>
        <p:nvCxnSpPr>
          <p:cNvPr id="88" name="Straight Arrow Connector 87"/>
          <p:cNvCxnSpPr>
            <a:stCxn id="13" idx="2"/>
            <a:endCxn id="86" idx="0"/>
          </p:cNvCxnSpPr>
          <p:nvPr/>
        </p:nvCxnSpPr>
        <p:spPr>
          <a:xfrm flipH="1">
            <a:off x="7427079" y="3124200"/>
            <a:ext cx="315243" cy="16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>
            <a:stCxn id="13" idx="2"/>
          </p:cNvCxnSpPr>
          <p:nvPr/>
        </p:nvCxnSpPr>
        <p:spPr>
          <a:xfrm>
            <a:off x="7742322" y="3124200"/>
            <a:ext cx="249427" cy="1640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0463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331255" y="6356350"/>
            <a:ext cx="2210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Dyer et al. (ACL 2015)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6000"/>
            <a:ext cx="9144000" cy="227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6962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Early work used multi-class linear classifiers to output a </a:t>
            </a:r>
            <a:r>
              <a:rPr lang="en-US" dirty="0"/>
              <a:t>parsing decision (shift, reduce-left, or reduce-right)</a:t>
            </a:r>
            <a:endParaRPr lang="en-US" dirty="0" smtClean="0"/>
          </a:p>
          <a:p>
            <a:r>
              <a:rPr lang="en-US" dirty="0" smtClean="0"/>
              <a:t>Chen et al. (2014) used a feed-forward network for this</a:t>
            </a:r>
          </a:p>
          <a:p>
            <a:r>
              <a:rPr lang="en-US" dirty="0" smtClean="0"/>
              <a:t>Dyer et al. (2015) used RNNs to model the history of parsing decisions, the partial parses so far (the “stack”), and the sentence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06723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Stack RNNs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79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7000"/>
            <a:ext cx="9144000" cy="4042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1255" y="6356350"/>
            <a:ext cx="2210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Dyer et al. (ACL 2015)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5696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331255" y="6356350"/>
            <a:ext cx="2210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Dyer et al. (ACL 2015)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62" y="155761"/>
            <a:ext cx="8967744" cy="608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4882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Stack LSTM Parser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356203" y="6319031"/>
            <a:ext cx="49648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  <a:latin typeface="CMU Bright Roman" charset="0"/>
                <a:ea typeface="CMU Bright Roman" charset="0"/>
                <a:cs typeface="CMU Bright Roman" charset="0"/>
              </a:rPr>
              <a:t>50   percent  are </a:t>
            </a:r>
            <a:r>
              <a:rPr lang="en-US" dirty="0">
                <a:solidFill>
                  <a:prstClr val="black"/>
                </a:solidFill>
                <a:latin typeface="CMU Bright Roman" charset="0"/>
                <a:ea typeface="CMU Bright Roman" charset="0"/>
                <a:cs typeface="CMU Bright Roman" charset="0"/>
              </a:rPr>
              <a:t>estimated </a:t>
            </a:r>
            <a:r>
              <a:rPr lang="en-US" dirty="0" smtClean="0">
                <a:solidFill>
                  <a:prstClr val="black"/>
                </a:solidFill>
                <a:latin typeface="CMU Bright Roman" charset="0"/>
                <a:ea typeface="CMU Bright Roman" charset="0"/>
                <a:cs typeface="CMU Bright Roman" charset="0"/>
              </a:rPr>
              <a:t> to     have voted …</a:t>
            </a:r>
            <a:endParaRPr lang="en-US" sz="1600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5" name="Cube 4"/>
          <p:cNvSpPr/>
          <p:nvPr/>
        </p:nvSpPr>
        <p:spPr>
          <a:xfrm>
            <a:off x="4390941" y="5709250"/>
            <a:ext cx="381000" cy="381000"/>
          </a:xfrm>
          <a:prstGeom prst="cube">
            <a:avLst/>
          </a:prstGeom>
          <a:solidFill>
            <a:srgbClr val="0070C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/>
          <p:cNvSpPr/>
          <p:nvPr/>
        </p:nvSpPr>
        <p:spPr>
          <a:xfrm rot="16200000">
            <a:off x="4491817" y="6144684"/>
            <a:ext cx="163899" cy="1959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 rot="10800000">
            <a:off x="4836642" y="5812367"/>
            <a:ext cx="163899" cy="1959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be 7"/>
          <p:cNvSpPr/>
          <p:nvPr/>
        </p:nvSpPr>
        <p:spPr>
          <a:xfrm>
            <a:off x="5065241" y="5706375"/>
            <a:ext cx="381000" cy="381000"/>
          </a:xfrm>
          <a:prstGeom prst="cube">
            <a:avLst/>
          </a:prstGeom>
          <a:solidFill>
            <a:srgbClr val="0070C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 rot="16200000">
            <a:off x="5166117" y="6141809"/>
            <a:ext cx="163899" cy="1959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rot="10800000">
            <a:off x="5510942" y="5809492"/>
            <a:ext cx="163899" cy="1959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ube 10"/>
          <p:cNvSpPr/>
          <p:nvPr/>
        </p:nvSpPr>
        <p:spPr>
          <a:xfrm>
            <a:off x="5739541" y="5704938"/>
            <a:ext cx="381000" cy="381000"/>
          </a:xfrm>
          <a:prstGeom prst="cube">
            <a:avLst/>
          </a:prstGeom>
          <a:solidFill>
            <a:srgbClr val="0070C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 rot="16200000">
            <a:off x="5840417" y="6140372"/>
            <a:ext cx="163899" cy="1959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 rot="10800000">
            <a:off x="6185242" y="5808055"/>
            <a:ext cx="163899" cy="1959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ube 13"/>
          <p:cNvSpPr/>
          <p:nvPr/>
        </p:nvSpPr>
        <p:spPr>
          <a:xfrm>
            <a:off x="6412244" y="5704219"/>
            <a:ext cx="381000" cy="381000"/>
          </a:xfrm>
          <a:prstGeom prst="cube">
            <a:avLst/>
          </a:prstGeom>
          <a:solidFill>
            <a:srgbClr val="0070C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 rot="16200000">
            <a:off x="6513120" y="6139653"/>
            <a:ext cx="163899" cy="1959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 rot="10800000">
            <a:off x="6857945" y="5807336"/>
            <a:ext cx="163899" cy="1959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ube 16"/>
          <p:cNvSpPr/>
          <p:nvPr/>
        </p:nvSpPr>
        <p:spPr>
          <a:xfrm>
            <a:off x="7124644" y="5703860"/>
            <a:ext cx="381000" cy="381000"/>
          </a:xfrm>
          <a:prstGeom prst="cube">
            <a:avLst/>
          </a:prstGeom>
          <a:solidFill>
            <a:srgbClr val="0070C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Arrow 17"/>
          <p:cNvSpPr/>
          <p:nvPr/>
        </p:nvSpPr>
        <p:spPr>
          <a:xfrm rot="16200000">
            <a:off x="7225520" y="6139294"/>
            <a:ext cx="163899" cy="1959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Arrow 18"/>
          <p:cNvSpPr/>
          <p:nvPr/>
        </p:nvSpPr>
        <p:spPr>
          <a:xfrm rot="10800000">
            <a:off x="7570345" y="5806977"/>
            <a:ext cx="163899" cy="1959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ube 19"/>
          <p:cNvSpPr/>
          <p:nvPr/>
        </p:nvSpPr>
        <p:spPr>
          <a:xfrm>
            <a:off x="7837044" y="5703681"/>
            <a:ext cx="381000" cy="381000"/>
          </a:xfrm>
          <a:prstGeom prst="cube">
            <a:avLst/>
          </a:prstGeom>
          <a:solidFill>
            <a:srgbClr val="0070C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/>
          <p:cNvSpPr/>
          <p:nvPr/>
        </p:nvSpPr>
        <p:spPr>
          <a:xfrm rot="16200000">
            <a:off x="7937920" y="6139115"/>
            <a:ext cx="163899" cy="1959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/>
          <p:cNvSpPr/>
          <p:nvPr/>
        </p:nvSpPr>
        <p:spPr>
          <a:xfrm rot="10800000">
            <a:off x="8282745" y="5806798"/>
            <a:ext cx="163899" cy="1959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ube 22"/>
          <p:cNvSpPr/>
          <p:nvPr/>
        </p:nvSpPr>
        <p:spPr>
          <a:xfrm>
            <a:off x="8534400" y="5690415"/>
            <a:ext cx="381000" cy="381000"/>
          </a:xfrm>
          <a:prstGeom prst="cube">
            <a:avLst/>
          </a:prstGeom>
          <a:solidFill>
            <a:srgbClr val="0070C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/>
          <p:cNvSpPr/>
          <p:nvPr/>
        </p:nvSpPr>
        <p:spPr>
          <a:xfrm rot="16200000">
            <a:off x="8635276" y="6125849"/>
            <a:ext cx="163899" cy="1959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/>
          <p:cNvSpPr/>
          <p:nvPr/>
        </p:nvSpPr>
        <p:spPr>
          <a:xfrm rot="10800000">
            <a:off x="8980101" y="5793532"/>
            <a:ext cx="163899" cy="1959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802672" y="4419600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latin typeface="CMU Bright Roman" charset="0"/>
                <a:ea typeface="CMU Bright Roman" charset="0"/>
                <a:cs typeface="CMU Bright Roman" charset="0"/>
              </a:rPr>
              <a:t>millennials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5692" y="4898948"/>
            <a:ext cx="72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Many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cxnSp>
        <p:nvCxnSpPr>
          <p:cNvPr id="28" name="Straight Arrow Connector 27"/>
          <p:cNvCxnSpPr/>
          <p:nvPr/>
        </p:nvCxnSpPr>
        <p:spPr>
          <a:xfrm flipH="1">
            <a:off x="1183672" y="4788932"/>
            <a:ext cx="208264" cy="1100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84440" y="3327575"/>
            <a:ext cx="3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of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cxnSp>
        <p:nvCxnSpPr>
          <p:cNvPr id="30" name="Straight Arrow Connector 29"/>
          <p:cNvCxnSpPr>
            <a:stCxn id="29" idx="2"/>
          </p:cNvCxnSpPr>
          <p:nvPr/>
        </p:nvCxnSpPr>
        <p:spPr>
          <a:xfrm>
            <a:off x="1374556" y="3696907"/>
            <a:ext cx="226985" cy="16869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154119" y="3865602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MU Bright Roman" charset="0"/>
                <a:ea typeface="CMU Bright Roman" charset="0"/>
                <a:cs typeface="CMU Bright Roman" charset="0"/>
              </a:rPr>
              <a:t>which</a:t>
            </a:r>
            <a:endParaRPr lang="en-US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33" name="Down Arrow 32"/>
          <p:cNvSpPr/>
          <p:nvPr/>
        </p:nvSpPr>
        <p:spPr>
          <a:xfrm rot="17374011">
            <a:off x="4072294" y="5415940"/>
            <a:ext cx="152158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own Arrow 33"/>
          <p:cNvSpPr/>
          <p:nvPr/>
        </p:nvSpPr>
        <p:spPr>
          <a:xfrm rot="17374011">
            <a:off x="2111647" y="3106716"/>
            <a:ext cx="152158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ube 34"/>
          <p:cNvSpPr/>
          <p:nvPr/>
        </p:nvSpPr>
        <p:spPr>
          <a:xfrm>
            <a:off x="2438400" y="3484602"/>
            <a:ext cx="381000" cy="381000"/>
          </a:xfrm>
          <a:prstGeom prst="cube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/>
          <p:cNvSpPr/>
          <p:nvPr/>
        </p:nvSpPr>
        <p:spPr>
          <a:xfrm rot="16200000">
            <a:off x="2539276" y="4098784"/>
            <a:ext cx="163899" cy="1959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Arrow 36"/>
          <p:cNvSpPr/>
          <p:nvPr/>
        </p:nvSpPr>
        <p:spPr>
          <a:xfrm>
            <a:off x="2209800" y="3581400"/>
            <a:ext cx="163899" cy="1959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ube 37"/>
          <p:cNvSpPr/>
          <p:nvPr/>
        </p:nvSpPr>
        <p:spPr>
          <a:xfrm>
            <a:off x="2425967" y="4517948"/>
            <a:ext cx="381000" cy="381000"/>
          </a:xfrm>
          <a:prstGeom prst="cube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/>
          <p:cNvSpPr/>
          <p:nvPr/>
        </p:nvSpPr>
        <p:spPr>
          <a:xfrm rot="16200000">
            <a:off x="2526843" y="5077884"/>
            <a:ext cx="163899" cy="1959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/>
          <p:cNvSpPr/>
          <p:nvPr/>
        </p:nvSpPr>
        <p:spPr>
          <a:xfrm>
            <a:off x="2197367" y="4614746"/>
            <a:ext cx="163899" cy="1959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ube 40"/>
          <p:cNvSpPr/>
          <p:nvPr/>
        </p:nvSpPr>
        <p:spPr>
          <a:xfrm>
            <a:off x="2416314" y="5499915"/>
            <a:ext cx="381000" cy="381000"/>
          </a:xfrm>
          <a:prstGeom prst="cube">
            <a:avLst/>
          </a:prstGeom>
          <a:solidFill>
            <a:srgbClr val="FF000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ight Arrow 42"/>
          <p:cNvSpPr/>
          <p:nvPr/>
        </p:nvSpPr>
        <p:spPr>
          <a:xfrm>
            <a:off x="2187714" y="5596713"/>
            <a:ext cx="163899" cy="1959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 flipH="1" flipV="1">
            <a:off x="1354506" y="5538126"/>
            <a:ext cx="3401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MU Bright Roman" charset="0"/>
                <a:ea typeface="CMU Bright Roman" charset="0"/>
                <a:cs typeface="CMU Bright Roman" charset="0"/>
              </a:rPr>
              <a:t>∅</a:t>
            </a:r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7421080" y="3346609"/>
            <a:ext cx="1494320" cy="22159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 smtClean="0">
                <a:solidFill>
                  <a:prstClr val="black"/>
                </a:solidFill>
                <a:latin typeface="CMU Bright Roman" charset="0"/>
                <a:ea typeface="CMU Bright Roman" charset="0"/>
                <a:cs typeface="CMU Bright Roman" charset="0"/>
              </a:rPr>
              <a:t>reduce right</a:t>
            </a:r>
          </a:p>
          <a:p>
            <a:pPr algn="ctr"/>
            <a:r>
              <a:rPr lang="en-US" sz="2000" dirty="0" smtClean="0">
                <a:solidFill>
                  <a:prstClr val="black"/>
                </a:solidFill>
                <a:latin typeface="CMU Bright Roman" charset="0"/>
                <a:ea typeface="CMU Bright Roman" charset="0"/>
                <a:cs typeface="CMU Bright Roman" charset="0"/>
              </a:rPr>
              <a:t>shift</a:t>
            </a:r>
          </a:p>
          <a:p>
            <a:pPr algn="ctr"/>
            <a:r>
              <a:rPr lang="en-US" sz="2000" dirty="0" smtClean="0">
                <a:solidFill>
                  <a:prstClr val="black"/>
                </a:solidFill>
                <a:latin typeface="CMU Bright Roman" charset="0"/>
                <a:ea typeface="CMU Bright Roman" charset="0"/>
                <a:cs typeface="CMU Bright Roman" charset="0"/>
              </a:rPr>
              <a:t>shift</a:t>
            </a:r>
          </a:p>
          <a:p>
            <a:pPr algn="ctr"/>
            <a:r>
              <a:rPr lang="en-US" sz="2000" dirty="0" smtClean="0">
                <a:solidFill>
                  <a:prstClr val="black"/>
                </a:solidFill>
                <a:latin typeface="CMU Bright Roman" charset="0"/>
                <a:ea typeface="CMU Bright Roman" charset="0"/>
                <a:cs typeface="CMU Bright Roman" charset="0"/>
              </a:rPr>
              <a:t>reduce left</a:t>
            </a:r>
          </a:p>
          <a:p>
            <a:pPr algn="ctr"/>
            <a:r>
              <a:rPr lang="en-US" sz="2000" dirty="0" smtClean="0">
                <a:solidFill>
                  <a:prstClr val="black"/>
                </a:solidFill>
                <a:latin typeface="CMU Bright Roman" charset="0"/>
                <a:ea typeface="CMU Bright Roman" charset="0"/>
                <a:cs typeface="CMU Bright Roman" charset="0"/>
              </a:rPr>
              <a:t>shift</a:t>
            </a:r>
          </a:p>
          <a:p>
            <a:pPr algn="ctr"/>
            <a:r>
              <a:rPr lang="en-US" sz="2000" dirty="0" smtClean="0">
                <a:solidFill>
                  <a:prstClr val="black"/>
                </a:solidFill>
                <a:latin typeface="CMU Bright Roman" charset="0"/>
                <a:ea typeface="CMU Bright Roman" charset="0"/>
                <a:cs typeface="CMU Bright Roman" charset="0"/>
              </a:rPr>
              <a:t>shift</a:t>
            </a:r>
          </a:p>
          <a:p>
            <a:pPr algn="ctr"/>
            <a:r>
              <a:rPr lang="en-US" dirty="0">
                <a:latin typeface="CMU Bright Roman" charset="0"/>
                <a:ea typeface="CMU Bright Roman" charset="0"/>
                <a:cs typeface="CMU Bright Roman" charset="0"/>
              </a:rPr>
              <a:t>∅</a:t>
            </a:r>
          </a:p>
        </p:txBody>
      </p:sp>
      <p:sp>
        <p:nvSpPr>
          <p:cNvPr id="46" name="Right Arrow 45"/>
          <p:cNvSpPr/>
          <p:nvPr/>
        </p:nvSpPr>
        <p:spPr>
          <a:xfrm rot="16200000">
            <a:off x="7144214" y="4544894"/>
            <a:ext cx="83834" cy="10021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ube 46"/>
          <p:cNvSpPr/>
          <p:nvPr/>
        </p:nvSpPr>
        <p:spPr>
          <a:xfrm>
            <a:off x="7087678" y="4645873"/>
            <a:ext cx="194881" cy="194881"/>
          </a:xfrm>
          <a:prstGeom prst="cube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ight Arrow 47"/>
          <p:cNvSpPr/>
          <p:nvPr/>
        </p:nvSpPr>
        <p:spPr>
          <a:xfrm rot="10800000">
            <a:off x="7303543" y="4675897"/>
            <a:ext cx="83834" cy="10021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ight Arrow 48"/>
          <p:cNvSpPr/>
          <p:nvPr/>
        </p:nvSpPr>
        <p:spPr>
          <a:xfrm rot="16200000">
            <a:off x="7146157" y="4842543"/>
            <a:ext cx="83834" cy="10021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ube 49"/>
          <p:cNvSpPr/>
          <p:nvPr/>
        </p:nvSpPr>
        <p:spPr>
          <a:xfrm>
            <a:off x="7089622" y="4943522"/>
            <a:ext cx="194881" cy="194881"/>
          </a:xfrm>
          <a:prstGeom prst="cube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ight Arrow 50"/>
          <p:cNvSpPr/>
          <p:nvPr/>
        </p:nvSpPr>
        <p:spPr>
          <a:xfrm rot="10800000">
            <a:off x="7305487" y="4973546"/>
            <a:ext cx="83834" cy="10021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ight Arrow 51"/>
          <p:cNvSpPr/>
          <p:nvPr/>
        </p:nvSpPr>
        <p:spPr>
          <a:xfrm rot="16200000">
            <a:off x="7149724" y="3948199"/>
            <a:ext cx="83834" cy="10021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Cube 52"/>
          <p:cNvSpPr/>
          <p:nvPr/>
        </p:nvSpPr>
        <p:spPr>
          <a:xfrm>
            <a:off x="7093188" y="4049179"/>
            <a:ext cx="194881" cy="194881"/>
          </a:xfrm>
          <a:prstGeom prst="cube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ight Arrow 53"/>
          <p:cNvSpPr/>
          <p:nvPr/>
        </p:nvSpPr>
        <p:spPr>
          <a:xfrm rot="10800000">
            <a:off x="7309053" y="4079203"/>
            <a:ext cx="83834" cy="10021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ight Arrow 54"/>
          <p:cNvSpPr/>
          <p:nvPr/>
        </p:nvSpPr>
        <p:spPr>
          <a:xfrm rot="16200000">
            <a:off x="7151667" y="4245849"/>
            <a:ext cx="83834" cy="10021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Cube 55"/>
          <p:cNvSpPr/>
          <p:nvPr/>
        </p:nvSpPr>
        <p:spPr>
          <a:xfrm>
            <a:off x="7095132" y="4346828"/>
            <a:ext cx="194881" cy="194881"/>
          </a:xfrm>
          <a:prstGeom prst="cube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ight Arrow 56"/>
          <p:cNvSpPr/>
          <p:nvPr/>
        </p:nvSpPr>
        <p:spPr>
          <a:xfrm rot="10800000">
            <a:off x="7310997" y="4376852"/>
            <a:ext cx="83834" cy="10021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ube 58"/>
          <p:cNvSpPr/>
          <p:nvPr/>
        </p:nvSpPr>
        <p:spPr>
          <a:xfrm>
            <a:off x="7101726" y="3452713"/>
            <a:ext cx="194881" cy="194881"/>
          </a:xfrm>
          <a:prstGeom prst="cube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ight Arrow 59"/>
          <p:cNvSpPr/>
          <p:nvPr/>
        </p:nvSpPr>
        <p:spPr>
          <a:xfrm rot="10800000">
            <a:off x="7317591" y="3482737"/>
            <a:ext cx="83834" cy="10021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ight Arrow 60"/>
          <p:cNvSpPr/>
          <p:nvPr/>
        </p:nvSpPr>
        <p:spPr>
          <a:xfrm rot="16200000">
            <a:off x="7160205" y="3649383"/>
            <a:ext cx="83834" cy="10021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Cube 61"/>
          <p:cNvSpPr/>
          <p:nvPr/>
        </p:nvSpPr>
        <p:spPr>
          <a:xfrm>
            <a:off x="7103670" y="3750362"/>
            <a:ext cx="194881" cy="194881"/>
          </a:xfrm>
          <a:prstGeom prst="cube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ight Arrow 62"/>
          <p:cNvSpPr/>
          <p:nvPr/>
        </p:nvSpPr>
        <p:spPr>
          <a:xfrm rot="10800000">
            <a:off x="7319535" y="3780386"/>
            <a:ext cx="83834" cy="10021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ight Arrow 63"/>
          <p:cNvSpPr/>
          <p:nvPr/>
        </p:nvSpPr>
        <p:spPr>
          <a:xfrm rot="16200000">
            <a:off x="7139629" y="5144913"/>
            <a:ext cx="83834" cy="10021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Cube 64"/>
          <p:cNvSpPr/>
          <p:nvPr/>
        </p:nvSpPr>
        <p:spPr>
          <a:xfrm>
            <a:off x="7083093" y="5245892"/>
            <a:ext cx="194881" cy="194881"/>
          </a:xfrm>
          <a:prstGeom prst="cube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ight Arrow 65"/>
          <p:cNvSpPr/>
          <p:nvPr/>
        </p:nvSpPr>
        <p:spPr>
          <a:xfrm rot="10800000">
            <a:off x="7298958" y="5275916"/>
            <a:ext cx="83834" cy="100219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Down Arrow 67"/>
          <p:cNvSpPr/>
          <p:nvPr/>
        </p:nvSpPr>
        <p:spPr>
          <a:xfrm rot="4200000">
            <a:off x="7586443" y="3128923"/>
            <a:ext cx="152158" cy="340659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ight Arrow 68"/>
          <p:cNvSpPr/>
          <p:nvPr/>
        </p:nvSpPr>
        <p:spPr>
          <a:xfrm rot="16200000">
            <a:off x="3343197" y="4312568"/>
            <a:ext cx="2420269" cy="1959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Bent-Up Arrow 70"/>
          <p:cNvSpPr/>
          <p:nvPr/>
        </p:nvSpPr>
        <p:spPr>
          <a:xfrm>
            <a:off x="3048000" y="3200400"/>
            <a:ext cx="990600" cy="496507"/>
          </a:xfrm>
          <a:prstGeom prst="bentUpArrow">
            <a:avLst>
              <a:gd name="adj1" fmla="val 19475"/>
              <a:gd name="adj2" fmla="val 25000"/>
              <a:gd name="adj3" fmla="val 25000"/>
            </a:avLst>
          </a:prstGeom>
          <a:noFill/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Bent-Up Arrow 73"/>
          <p:cNvSpPr/>
          <p:nvPr/>
        </p:nvSpPr>
        <p:spPr>
          <a:xfrm flipH="1">
            <a:off x="5098388" y="3200400"/>
            <a:ext cx="1912012" cy="369332"/>
          </a:xfrm>
          <a:prstGeom prst="bentUpArrow">
            <a:avLst/>
          </a:prstGeom>
          <a:noFill/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Cube 74"/>
          <p:cNvSpPr/>
          <p:nvPr/>
        </p:nvSpPr>
        <p:spPr>
          <a:xfrm>
            <a:off x="3674947" y="2691733"/>
            <a:ext cx="1771294" cy="381000"/>
          </a:xfrm>
          <a:prstGeom prst="cube">
            <a:avLst/>
          </a:prstGeom>
          <a:solidFill>
            <a:srgbClr val="7030A0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ight Arrow 75"/>
          <p:cNvSpPr/>
          <p:nvPr/>
        </p:nvSpPr>
        <p:spPr>
          <a:xfrm rot="16200000">
            <a:off x="4471382" y="2394643"/>
            <a:ext cx="163899" cy="195932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Rectangle 76"/>
          <p:cNvSpPr/>
          <p:nvPr/>
        </p:nvSpPr>
        <p:spPr>
          <a:xfrm>
            <a:off x="2883779" y="1874526"/>
            <a:ext cx="33522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prstClr val="black"/>
                </a:solidFill>
                <a:latin typeface="CMU Bright Roman" charset="0"/>
                <a:ea typeface="CMU Bright Roman" charset="0"/>
                <a:cs typeface="CMU Bright Roman" charset="0"/>
              </a:rPr>
              <a:t>{shift, reduce right, reduce left}</a:t>
            </a:r>
            <a:endParaRPr lang="en-US" sz="1600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412244" y="2535134"/>
            <a:ext cx="1630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latin typeface="CMU Bright Roman" charset="0"/>
                <a:ea typeface="CMU Bright Roman" charset="0"/>
                <a:cs typeface="CMU Bright Roman" charset="0"/>
              </a:rPr>
              <a:t>A</a:t>
            </a:r>
            <a:r>
              <a:rPr lang="en-US" i="1" dirty="0" smtClean="0">
                <a:latin typeface="CMU Bright Roman" charset="0"/>
                <a:ea typeface="CMU Bright Roman" charset="0"/>
                <a:cs typeface="CMU Bright Roman" charset="0"/>
              </a:rPr>
              <a:t>ction history:</a:t>
            </a:r>
            <a:endParaRPr lang="en-US" i="1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1761703" y="2520490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latin typeface="CMU Bright Roman" charset="0"/>
                <a:ea typeface="CMU Bright Roman" charset="0"/>
                <a:cs typeface="CMU Bright Roman" charset="0"/>
              </a:rPr>
              <a:t>Stack:</a:t>
            </a:r>
            <a:endParaRPr lang="en-US" i="1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3200400" y="6324600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smtClean="0">
                <a:latin typeface="CMU Bright Roman" charset="0"/>
                <a:ea typeface="CMU Bright Roman" charset="0"/>
                <a:cs typeface="CMU Bright Roman" charset="0"/>
              </a:rPr>
              <a:t>Buffer:</a:t>
            </a:r>
            <a:endParaRPr lang="en-US" i="1" dirty="0">
              <a:latin typeface="CMU Bright Roman" charset="0"/>
              <a:ea typeface="CMU Bright Roman" charset="0"/>
              <a:cs typeface="CMU Bright Roman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1073934" y="3337338"/>
            <a:ext cx="828227" cy="951125"/>
          </a:xfrm>
          <a:prstGeom prst="ellipse">
            <a:avLst/>
          </a:prstGeom>
          <a:noFill/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585723" y="4343400"/>
            <a:ext cx="1471677" cy="1032736"/>
          </a:xfrm>
          <a:prstGeom prst="ellipse">
            <a:avLst/>
          </a:prstGeom>
          <a:noFill/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0017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Dependency Parsers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Stanford parser</a:t>
            </a:r>
          </a:p>
          <a:p>
            <a:r>
              <a:rPr lang="en-US" dirty="0" err="1"/>
              <a:t>TurboParser</a:t>
            </a:r>
            <a:endParaRPr lang="en-US" dirty="0"/>
          </a:p>
          <a:p>
            <a:r>
              <a:rPr lang="en-US" dirty="0" err="1"/>
              <a:t>Joakim</a:t>
            </a:r>
            <a:r>
              <a:rPr lang="en-US" dirty="0"/>
              <a:t> </a:t>
            </a:r>
            <a:r>
              <a:rPr lang="en-US" dirty="0" err="1"/>
              <a:t>Nivre’s</a:t>
            </a:r>
            <a:r>
              <a:rPr lang="en-US" dirty="0"/>
              <a:t> MALT parser</a:t>
            </a:r>
          </a:p>
          <a:p>
            <a:r>
              <a:rPr lang="en-US" dirty="0"/>
              <a:t>Ryan McDonald’s MST parser</a:t>
            </a:r>
          </a:p>
          <a:p>
            <a:r>
              <a:rPr lang="en-US" dirty="0"/>
              <a:t>and many others for many non-English languages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8291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Projective vs. </a:t>
            </a:r>
            <a:r>
              <a:rPr lang="en-US" sz="2800" dirty="0" err="1"/>
              <a:t>Nonprojective</a:t>
            </a:r>
            <a:r>
              <a:rPr lang="en-US" sz="2800" dirty="0"/>
              <a:t> </a:t>
            </a:r>
            <a:r>
              <a:rPr lang="en-US" sz="2800" dirty="0" smtClean="0"/>
              <a:t>Dependency Parsing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nonprojective</a:t>
            </a:r>
            <a:r>
              <a:rPr lang="en-US" dirty="0" smtClean="0"/>
              <a:t> </a:t>
            </a:r>
            <a:r>
              <a:rPr lang="en-US" dirty="0"/>
              <a:t>parsing can be formulated as a minimum spanning tree </a:t>
            </a:r>
            <a:r>
              <a:rPr lang="en-US" dirty="0" smtClean="0"/>
              <a:t>problem</a:t>
            </a:r>
          </a:p>
          <a:p>
            <a:endParaRPr lang="en-US" dirty="0"/>
          </a:p>
          <a:p>
            <a:r>
              <a:rPr lang="en-US" dirty="0"/>
              <a:t>projective parsing </a:t>
            </a:r>
            <a:r>
              <a:rPr lang="en-US" dirty="0" smtClean="0"/>
              <a:t>cannot, but dynamic programming algorithms can be used (variations of CKY) as well as transition-based parsers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990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Complexity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constituent parsing: </a:t>
            </a:r>
            <a:r>
              <a:rPr lang="en-US" b="1" dirty="0">
                <a:solidFill>
                  <a:srgbClr val="288CD2"/>
                </a:solidFill>
              </a:rPr>
              <a:t>O(Gn</a:t>
            </a:r>
            <a:r>
              <a:rPr lang="en-US" b="1" baseline="30000" dirty="0">
                <a:solidFill>
                  <a:srgbClr val="288CD2"/>
                </a:solidFill>
              </a:rPr>
              <a:t>3</a:t>
            </a:r>
            <a:r>
              <a:rPr lang="en-US" b="1" dirty="0">
                <a:solidFill>
                  <a:srgbClr val="288CD2"/>
                </a:solidFill>
              </a:rPr>
              <a:t>)</a:t>
            </a:r>
          </a:p>
          <a:p>
            <a:pPr lvl="1"/>
            <a:r>
              <a:rPr lang="en-US" dirty="0"/>
              <a:t>parsing complexity depends on grammar structure (“grammar constant” G)</a:t>
            </a:r>
          </a:p>
          <a:p>
            <a:pPr lvl="1"/>
            <a:r>
              <a:rPr lang="en-US" dirty="0"/>
              <a:t>since it has lots of nonterminal-only rules at the top of the tree, there are many rule probabilities to estimate</a:t>
            </a:r>
          </a:p>
          <a:p>
            <a:r>
              <a:rPr lang="en-US" dirty="0"/>
              <a:t>dependency parsing: </a:t>
            </a:r>
            <a:r>
              <a:rPr lang="en-US" b="1" dirty="0">
                <a:solidFill>
                  <a:srgbClr val="288CD2"/>
                </a:solidFill>
              </a:rPr>
              <a:t>O(n</a:t>
            </a:r>
            <a:r>
              <a:rPr lang="en-US" b="1" baseline="30000" dirty="0">
                <a:solidFill>
                  <a:srgbClr val="288CD2"/>
                </a:solidFill>
              </a:rPr>
              <a:t>3</a:t>
            </a:r>
            <a:r>
              <a:rPr lang="en-US" b="1" dirty="0">
                <a:solidFill>
                  <a:srgbClr val="288CD2"/>
                </a:solidFill>
              </a:rPr>
              <a:t>)</a:t>
            </a:r>
          </a:p>
          <a:p>
            <a:pPr lvl="1"/>
            <a:r>
              <a:rPr lang="en-US" dirty="0"/>
              <a:t>operates directly on words, so parsing complexity has no grammar constant</a:t>
            </a:r>
          </a:p>
          <a:p>
            <a:pPr lvl="1"/>
            <a:r>
              <a:rPr lang="en-US" dirty="0"/>
              <a:t>features designed on possible dependencies (pairs of words) and larger structures</a:t>
            </a:r>
          </a:p>
          <a:p>
            <a:pPr lvl="1"/>
            <a:r>
              <a:rPr lang="en-US" dirty="0"/>
              <a:t>transition-based parsing algorithms are O(n), though not optimal; also, non-projective parsing is faster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27802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Applications of Dependency Parsing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widely used for NLP tasks because:</a:t>
            </a:r>
          </a:p>
          <a:p>
            <a:pPr lvl="1"/>
            <a:r>
              <a:rPr lang="en-US" dirty="0"/>
              <a:t>faster than constituent parsing</a:t>
            </a:r>
          </a:p>
          <a:p>
            <a:pPr lvl="1"/>
            <a:r>
              <a:rPr lang="en-US" dirty="0"/>
              <a:t>captures more semantic information</a:t>
            </a:r>
          </a:p>
          <a:p>
            <a:r>
              <a:rPr lang="en-US" dirty="0"/>
              <a:t>text classification (features on dependencies)</a:t>
            </a:r>
          </a:p>
          <a:p>
            <a:r>
              <a:rPr lang="en-US" dirty="0"/>
              <a:t>syntax-based machine translation</a:t>
            </a:r>
          </a:p>
          <a:p>
            <a:r>
              <a:rPr lang="en-US" dirty="0"/>
              <a:t>relation extraction</a:t>
            </a:r>
          </a:p>
          <a:p>
            <a:pPr lvl="1"/>
            <a:r>
              <a:rPr lang="en-US" dirty="0"/>
              <a:t>e.g., extract relation between Sam Smith and </a:t>
            </a:r>
            <a:r>
              <a:rPr lang="en-US" dirty="0" err="1"/>
              <a:t>AITech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i="1" dirty="0"/>
              <a:t>Sam Smith was named new CEO of </a:t>
            </a:r>
            <a:r>
              <a:rPr lang="en-US" i="1" dirty="0" err="1"/>
              <a:t>AITech</a:t>
            </a:r>
            <a:r>
              <a:rPr lang="en-US" i="1" dirty="0"/>
              <a:t>.</a:t>
            </a:r>
          </a:p>
          <a:p>
            <a:pPr lvl="1"/>
            <a:r>
              <a:rPr lang="en-US" dirty="0"/>
              <a:t>use dependency path between </a:t>
            </a:r>
            <a:r>
              <a:rPr lang="en-US" i="1" dirty="0"/>
              <a:t>Sam Smith </a:t>
            </a:r>
            <a:r>
              <a:rPr lang="en-US" dirty="0"/>
              <a:t>and </a:t>
            </a:r>
            <a:r>
              <a:rPr lang="en-US" i="1" dirty="0" err="1"/>
              <a:t>AITech</a:t>
            </a:r>
            <a:r>
              <a:rPr lang="en-US" i="1" dirty="0"/>
              <a:t>:</a:t>
            </a:r>
            <a:endParaRPr lang="en-US" dirty="0"/>
          </a:p>
          <a:p>
            <a:pPr lvl="2"/>
            <a:r>
              <a:rPr lang="en-US" dirty="0"/>
              <a:t>Smith </a:t>
            </a:r>
            <a:r>
              <a:rPr lang="en-US" dirty="0">
                <a:sym typeface="Wingdings"/>
              </a:rPr>
              <a:t> named, named  CEO, CEO  of, of  </a:t>
            </a:r>
            <a:r>
              <a:rPr lang="en-US" dirty="0" err="1">
                <a:sym typeface="Wingdings"/>
              </a:rPr>
              <a:t>AITech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1703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Summary: two types of grammars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phrase structure / constituent grammars</a:t>
            </a:r>
          </a:p>
          <a:p>
            <a:pPr lvl="1"/>
            <a:r>
              <a:rPr lang="en-US" dirty="0"/>
              <a:t>inspired mostly by Chomsky and others</a:t>
            </a:r>
          </a:p>
          <a:p>
            <a:pPr lvl="1"/>
            <a:r>
              <a:rPr lang="en-US" dirty="0"/>
              <a:t>only appropriate for certain languages (e.g., English)</a:t>
            </a:r>
          </a:p>
          <a:p>
            <a:r>
              <a:rPr lang="en-US" dirty="0"/>
              <a:t>dependency grammars </a:t>
            </a:r>
          </a:p>
          <a:p>
            <a:pPr lvl="1"/>
            <a:r>
              <a:rPr lang="en-US" dirty="0"/>
              <a:t>closer to a semantic representation; some have made this more explicit</a:t>
            </a:r>
          </a:p>
          <a:p>
            <a:pPr lvl="1"/>
            <a:r>
              <a:rPr lang="en-US" dirty="0"/>
              <a:t>problematic for certain syntactic structures (e.g., conjunctions, nesting of noun phrases, etc.)</a:t>
            </a:r>
          </a:p>
          <a:p>
            <a:r>
              <a:rPr lang="en-US" dirty="0"/>
              <a:t>both are widely used in NLP</a:t>
            </a:r>
          </a:p>
          <a:p>
            <a:r>
              <a:rPr lang="en-US" dirty="0"/>
              <a:t>you can find constituent parsers and dependency parsers for several languages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384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Recursive Neural Networks for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2512"/>
            <a:ext cx="8229600" cy="1898126"/>
          </a:xfrm>
        </p:spPr>
        <p:txBody>
          <a:bodyPr/>
          <a:lstStyle/>
          <a:p>
            <a:r>
              <a:rPr lang="en-US" dirty="0"/>
              <a:t>run a syntactic parser on the sentence</a:t>
            </a:r>
          </a:p>
          <a:p>
            <a:r>
              <a:rPr lang="en-US" dirty="0"/>
              <a:t>construct vector recursively at each split point: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4F6D7955-C25C-A340-834F-B178AA9A6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40" y="1179026"/>
            <a:ext cx="508000" cy="152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C1153CA-CB7F-2B4A-86CA-7BFA8C636166}"/>
              </a:ext>
            </a:extLst>
          </p:cNvPr>
          <p:cNvSpPr txBox="1"/>
          <p:nvPr/>
        </p:nvSpPr>
        <p:spPr>
          <a:xfrm>
            <a:off x="2382718" y="996645"/>
            <a:ext cx="15584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288CD2"/>
                </a:solidFill>
              </a:rPr>
              <a:t>it fell apart</a:t>
            </a:r>
          </a:p>
        </p:txBody>
      </p:sp>
    </p:spTree>
    <p:extLst>
      <p:ext uri="{BB962C8B-B14F-4D97-AF65-F5344CB8AC3E}">
        <p14:creationId xmlns:p14="http://schemas.microsoft.com/office/powerpoint/2010/main" val="13397988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Recursive Neural Networks for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2512"/>
            <a:ext cx="8229600" cy="1898126"/>
          </a:xfrm>
        </p:spPr>
        <p:txBody>
          <a:bodyPr/>
          <a:lstStyle/>
          <a:p>
            <a:r>
              <a:rPr lang="en-US" dirty="0"/>
              <a:t>run a syntactic parser on the sentence</a:t>
            </a:r>
          </a:p>
          <a:p>
            <a:r>
              <a:rPr lang="en-US" dirty="0"/>
              <a:t>construct vector recursively at each split point: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4F6D7955-C25C-A340-834F-B178AA9A6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540" y="1179026"/>
            <a:ext cx="508000" cy="152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C1153CA-CB7F-2B4A-86CA-7BFA8C636166}"/>
              </a:ext>
            </a:extLst>
          </p:cNvPr>
          <p:cNvSpPr txBox="1"/>
          <p:nvPr/>
        </p:nvSpPr>
        <p:spPr>
          <a:xfrm>
            <a:off x="2382718" y="996645"/>
            <a:ext cx="15584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288CD2"/>
                </a:solidFill>
              </a:rPr>
              <a:t>it fell apart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A1A9B9AA-E26C-C445-BDC6-49F9F2A0F611}"/>
              </a:ext>
            </a:extLst>
          </p:cNvPr>
          <p:cNvCxnSpPr>
            <a:cxnSpLocks/>
          </p:cNvCxnSpPr>
          <p:nvPr/>
        </p:nvCxnSpPr>
        <p:spPr bwMode="auto">
          <a:xfrm flipV="1">
            <a:off x="1291066" y="3526016"/>
            <a:ext cx="622441" cy="62987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Oval 8">
            <a:extLst>
              <a:ext uri="{FF2B5EF4-FFF2-40B4-BE49-F238E27FC236}">
                <a16:creationId xmlns="" xmlns:a16="http://schemas.microsoft.com/office/drawing/2014/main" id="{B2CF7C42-516F-3F48-8CC0-5304C0CF901E}"/>
              </a:ext>
            </a:extLst>
          </p:cNvPr>
          <p:cNvSpPr/>
          <p:nvPr/>
        </p:nvSpPr>
        <p:spPr>
          <a:xfrm>
            <a:off x="1813277" y="280787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="" xmlns:a16="http://schemas.microsoft.com/office/drawing/2014/main" id="{0A2CF02D-808F-3D42-A9EC-339E1939387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636688" y="3504840"/>
            <a:ext cx="601658" cy="6607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C6E3812B-2A6B-2D4B-9B2F-6466A5463229}"/>
              </a:ext>
            </a:extLst>
          </p:cNvPr>
          <p:cNvSpPr/>
          <p:nvPr/>
        </p:nvSpPr>
        <p:spPr>
          <a:xfrm>
            <a:off x="3141965" y="399063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43ABF8F4-69AB-5944-923E-21FFFEC1971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939975" y="4735164"/>
            <a:ext cx="601658" cy="6607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F0196B6D-4CD2-6542-AC18-FD27DB39DB33}"/>
              </a:ext>
            </a:extLst>
          </p:cNvPr>
          <p:cNvCxnSpPr>
            <a:cxnSpLocks/>
          </p:cNvCxnSpPr>
          <p:nvPr/>
        </p:nvCxnSpPr>
        <p:spPr bwMode="auto">
          <a:xfrm flipV="1">
            <a:off x="2636688" y="4735164"/>
            <a:ext cx="598962" cy="60611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F4E8B9A3-1307-AC4B-9723-E05B7EF8AFF4}"/>
              </a:ext>
            </a:extLst>
          </p:cNvPr>
          <p:cNvSpPr/>
          <p:nvPr/>
        </p:nvSpPr>
        <p:spPr>
          <a:xfrm>
            <a:off x="1833097" y="517339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333825A3-8703-104F-95D3-D8595360FC4F}"/>
              </a:ext>
            </a:extLst>
          </p:cNvPr>
          <p:cNvSpPr/>
          <p:nvPr/>
        </p:nvSpPr>
        <p:spPr>
          <a:xfrm>
            <a:off x="4516232" y="511678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CA4B6D59-BFE1-AB42-B2C5-8901DCBAD2B5}"/>
              </a:ext>
            </a:extLst>
          </p:cNvPr>
          <p:cNvSpPr/>
          <p:nvPr/>
        </p:nvSpPr>
        <p:spPr>
          <a:xfrm>
            <a:off x="486254" y="399063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="" xmlns:a16="http://schemas.microsoft.com/office/drawing/2014/main" id="{D54F3E9E-ACE5-5B4E-B039-427FC1C1C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958030"/>
            <a:ext cx="977900" cy="317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E51BBD84-B10D-0747-A2F5-326153999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8868" y="6174526"/>
            <a:ext cx="1206500" cy="317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FB8B6879-223F-EE4A-8138-0F6A6554C1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5808" y="6122257"/>
            <a:ext cx="1485900" cy="317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="" xmlns:a16="http://schemas.microsoft.com/office/drawing/2014/main" id="{7393E6FD-B78D-834B-8DB5-DE13839FDC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034" y="4307195"/>
            <a:ext cx="292100" cy="2667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="" xmlns:a16="http://schemas.microsoft.com/office/drawing/2014/main" id="{D0D236E6-A710-8D4F-90C2-6801FAB423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61477" y="5499670"/>
            <a:ext cx="304800" cy="2667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F06B9250-A6A6-4B45-9ED9-BCA3DEB688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6358" y="5428509"/>
            <a:ext cx="304800" cy="2794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="" xmlns:a16="http://schemas.microsoft.com/office/drawing/2014/main" id="{D5E83156-487E-4748-9523-55C5249D311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5026" y="3806903"/>
            <a:ext cx="17653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8044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Recursive Neural Networks for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2512"/>
            <a:ext cx="8229600" cy="1898126"/>
          </a:xfrm>
        </p:spPr>
        <p:txBody>
          <a:bodyPr/>
          <a:lstStyle/>
          <a:p>
            <a:r>
              <a:rPr lang="en-US" dirty="0"/>
              <a:t>run a syntactic parser on the sentence</a:t>
            </a:r>
          </a:p>
          <a:p>
            <a:r>
              <a:rPr lang="en-US" dirty="0"/>
              <a:t>construct vector recursively at each split point: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89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4F6D7955-C25C-A340-834F-B178AA9A6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540" y="1179026"/>
            <a:ext cx="508000" cy="152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C1153CA-CB7F-2B4A-86CA-7BFA8C636166}"/>
              </a:ext>
            </a:extLst>
          </p:cNvPr>
          <p:cNvSpPr txBox="1"/>
          <p:nvPr/>
        </p:nvSpPr>
        <p:spPr>
          <a:xfrm>
            <a:off x="2382718" y="996645"/>
            <a:ext cx="15584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288CD2"/>
                </a:solidFill>
              </a:rPr>
              <a:t>it fell apart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A1A9B9AA-E26C-C445-BDC6-49F9F2A0F611}"/>
              </a:ext>
            </a:extLst>
          </p:cNvPr>
          <p:cNvCxnSpPr>
            <a:cxnSpLocks/>
          </p:cNvCxnSpPr>
          <p:nvPr/>
        </p:nvCxnSpPr>
        <p:spPr bwMode="auto">
          <a:xfrm flipV="1">
            <a:off x="1291066" y="3526016"/>
            <a:ext cx="622441" cy="62987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Oval 8">
            <a:extLst>
              <a:ext uri="{FF2B5EF4-FFF2-40B4-BE49-F238E27FC236}">
                <a16:creationId xmlns="" xmlns:a16="http://schemas.microsoft.com/office/drawing/2014/main" id="{B2CF7C42-516F-3F48-8CC0-5304C0CF901E}"/>
              </a:ext>
            </a:extLst>
          </p:cNvPr>
          <p:cNvSpPr/>
          <p:nvPr/>
        </p:nvSpPr>
        <p:spPr>
          <a:xfrm>
            <a:off x="1813277" y="280787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="" xmlns:a16="http://schemas.microsoft.com/office/drawing/2014/main" id="{0A2CF02D-808F-3D42-A9EC-339E1939387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636688" y="3504840"/>
            <a:ext cx="601658" cy="6607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C6E3812B-2A6B-2D4B-9B2F-6466A5463229}"/>
              </a:ext>
            </a:extLst>
          </p:cNvPr>
          <p:cNvSpPr/>
          <p:nvPr/>
        </p:nvSpPr>
        <p:spPr>
          <a:xfrm>
            <a:off x="3141965" y="399063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43ABF8F4-69AB-5944-923E-21FFFEC1971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939975" y="4735164"/>
            <a:ext cx="601658" cy="6607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F0196B6D-4CD2-6542-AC18-FD27DB39DB33}"/>
              </a:ext>
            </a:extLst>
          </p:cNvPr>
          <p:cNvCxnSpPr>
            <a:cxnSpLocks/>
          </p:cNvCxnSpPr>
          <p:nvPr/>
        </p:nvCxnSpPr>
        <p:spPr bwMode="auto">
          <a:xfrm flipV="1">
            <a:off x="2636688" y="4735164"/>
            <a:ext cx="598962" cy="60611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F4E8B9A3-1307-AC4B-9723-E05B7EF8AFF4}"/>
              </a:ext>
            </a:extLst>
          </p:cNvPr>
          <p:cNvSpPr/>
          <p:nvPr/>
        </p:nvSpPr>
        <p:spPr>
          <a:xfrm>
            <a:off x="1833097" y="517339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333825A3-8703-104F-95D3-D8595360FC4F}"/>
              </a:ext>
            </a:extLst>
          </p:cNvPr>
          <p:cNvSpPr/>
          <p:nvPr/>
        </p:nvSpPr>
        <p:spPr>
          <a:xfrm>
            <a:off x="4516232" y="511678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CA4B6D59-BFE1-AB42-B2C5-8901DCBAD2B5}"/>
              </a:ext>
            </a:extLst>
          </p:cNvPr>
          <p:cNvSpPr/>
          <p:nvPr/>
        </p:nvSpPr>
        <p:spPr>
          <a:xfrm>
            <a:off x="486254" y="399063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="" xmlns:a16="http://schemas.microsoft.com/office/drawing/2014/main" id="{D54F3E9E-ACE5-5B4E-B039-427FC1C1C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958030"/>
            <a:ext cx="977900" cy="317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E51BBD84-B10D-0747-A2F5-326153999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8868" y="6174526"/>
            <a:ext cx="1206500" cy="317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FB8B6879-223F-EE4A-8138-0F6A6554C1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5808" y="6122257"/>
            <a:ext cx="1485900" cy="317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="" xmlns:a16="http://schemas.microsoft.com/office/drawing/2014/main" id="{7393E6FD-B78D-834B-8DB5-DE13839FDC7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034" y="4307195"/>
            <a:ext cx="292100" cy="2667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="" xmlns:a16="http://schemas.microsoft.com/office/drawing/2014/main" id="{D0D236E6-A710-8D4F-90C2-6801FAB423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61477" y="5499670"/>
            <a:ext cx="304800" cy="2667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F06B9250-A6A6-4B45-9ED9-BCA3DEB688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6358" y="5428509"/>
            <a:ext cx="304800" cy="2794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1094E379-04BD-A64E-A2CD-09E7E9EFA73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4757" y="4014447"/>
            <a:ext cx="3073400" cy="762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3119DF70-4EF7-484E-BD7C-DF4FD3FDAF9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64496" y="4302299"/>
            <a:ext cx="3048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9344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Recursive Neural Networks for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32512"/>
            <a:ext cx="8229600" cy="1898126"/>
          </a:xfrm>
        </p:spPr>
        <p:txBody>
          <a:bodyPr/>
          <a:lstStyle/>
          <a:p>
            <a:r>
              <a:rPr lang="en-US" dirty="0"/>
              <a:t>run a syntactic parser on the sentence</a:t>
            </a:r>
          </a:p>
          <a:p>
            <a:r>
              <a:rPr lang="en-US" dirty="0"/>
              <a:t>construct vector recursively at each split point: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4F6D7955-C25C-A340-834F-B178AA9A6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540" y="1179026"/>
            <a:ext cx="508000" cy="152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C1153CA-CB7F-2B4A-86CA-7BFA8C636166}"/>
              </a:ext>
            </a:extLst>
          </p:cNvPr>
          <p:cNvSpPr txBox="1"/>
          <p:nvPr/>
        </p:nvSpPr>
        <p:spPr>
          <a:xfrm>
            <a:off x="2382718" y="996645"/>
            <a:ext cx="15584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288CD2"/>
                </a:solidFill>
              </a:rPr>
              <a:t>it fell apart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A1A9B9AA-E26C-C445-BDC6-49F9F2A0F611}"/>
              </a:ext>
            </a:extLst>
          </p:cNvPr>
          <p:cNvCxnSpPr>
            <a:cxnSpLocks/>
          </p:cNvCxnSpPr>
          <p:nvPr/>
        </p:nvCxnSpPr>
        <p:spPr bwMode="auto">
          <a:xfrm flipV="1">
            <a:off x="1291066" y="3526016"/>
            <a:ext cx="622441" cy="62987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Oval 8">
            <a:extLst>
              <a:ext uri="{FF2B5EF4-FFF2-40B4-BE49-F238E27FC236}">
                <a16:creationId xmlns="" xmlns:a16="http://schemas.microsoft.com/office/drawing/2014/main" id="{B2CF7C42-516F-3F48-8CC0-5304C0CF901E}"/>
              </a:ext>
            </a:extLst>
          </p:cNvPr>
          <p:cNvSpPr/>
          <p:nvPr/>
        </p:nvSpPr>
        <p:spPr>
          <a:xfrm>
            <a:off x="1813277" y="280787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="" xmlns:a16="http://schemas.microsoft.com/office/drawing/2014/main" id="{0A2CF02D-808F-3D42-A9EC-339E1939387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636688" y="3504840"/>
            <a:ext cx="601658" cy="6607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C6E3812B-2A6B-2D4B-9B2F-6466A5463229}"/>
              </a:ext>
            </a:extLst>
          </p:cNvPr>
          <p:cNvSpPr/>
          <p:nvPr/>
        </p:nvSpPr>
        <p:spPr>
          <a:xfrm>
            <a:off x="3141965" y="399063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43ABF8F4-69AB-5944-923E-21FFFEC1971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939975" y="4735164"/>
            <a:ext cx="601658" cy="6607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F0196B6D-4CD2-6542-AC18-FD27DB39DB33}"/>
              </a:ext>
            </a:extLst>
          </p:cNvPr>
          <p:cNvCxnSpPr>
            <a:cxnSpLocks/>
          </p:cNvCxnSpPr>
          <p:nvPr/>
        </p:nvCxnSpPr>
        <p:spPr bwMode="auto">
          <a:xfrm flipV="1">
            <a:off x="2636688" y="4735164"/>
            <a:ext cx="598962" cy="60611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F4E8B9A3-1307-AC4B-9723-E05B7EF8AFF4}"/>
              </a:ext>
            </a:extLst>
          </p:cNvPr>
          <p:cNvSpPr/>
          <p:nvPr/>
        </p:nvSpPr>
        <p:spPr>
          <a:xfrm>
            <a:off x="1833097" y="517339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333825A3-8703-104F-95D3-D8595360FC4F}"/>
              </a:ext>
            </a:extLst>
          </p:cNvPr>
          <p:cNvSpPr/>
          <p:nvPr/>
        </p:nvSpPr>
        <p:spPr>
          <a:xfrm>
            <a:off x="4516232" y="511678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CA4B6D59-BFE1-AB42-B2C5-8901DCBAD2B5}"/>
              </a:ext>
            </a:extLst>
          </p:cNvPr>
          <p:cNvSpPr/>
          <p:nvPr/>
        </p:nvSpPr>
        <p:spPr>
          <a:xfrm>
            <a:off x="486254" y="399063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="" xmlns:a16="http://schemas.microsoft.com/office/drawing/2014/main" id="{D54F3E9E-ACE5-5B4E-B039-427FC1C1CA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958030"/>
            <a:ext cx="977900" cy="317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E51BBD84-B10D-0747-A2F5-326153999A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8868" y="6174526"/>
            <a:ext cx="1206500" cy="317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FB8B6879-223F-EE4A-8138-0F6A6554C1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5808" y="6122257"/>
            <a:ext cx="1485900" cy="317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="" xmlns:a16="http://schemas.microsoft.com/office/drawing/2014/main" id="{7393E6FD-B78D-834B-8DB5-DE13839FDC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034" y="4307195"/>
            <a:ext cx="292100" cy="2667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="" xmlns:a16="http://schemas.microsoft.com/office/drawing/2014/main" id="{D0D236E6-A710-8D4F-90C2-6801FAB423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1477" y="5499670"/>
            <a:ext cx="304800" cy="2667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F06B9250-A6A6-4B45-9ED9-BCA3DEB688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26358" y="5428509"/>
            <a:ext cx="304800" cy="2794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1094E379-04BD-A64E-A2CD-09E7E9EFA73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4757" y="4014447"/>
            <a:ext cx="3073400" cy="762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3119DF70-4EF7-484E-BD7C-DF4FD3FDAF9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64496" y="4302299"/>
            <a:ext cx="304800" cy="2667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="" xmlns:a16="http://schemas.microsoft.com/office/drawing/2014/main" id="{36E656C7-504B-164A-8214-271CBE6E7BC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44543" y="3129089"/>
            <a:ext cx="304800" cy="2794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="" xmlns:a16="http://schemas.microsoft.com/office/drawing/2014/main" id="{2AE032CB-2AB7-544C-A9FD-26535FB2CE1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01849" y="2886086"/>
            <a:ext cx="30734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0442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Recursive Neural Networks for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05996"/>
            <a:ext cx="8229600" cy="1785039"/>
          </a:xfrm>
          <a:ln w="28575">
            <a:solidFill>
              <a:srgbClr val="288CD2"/>
            </a:solidFill>
          </a:ln>
        </p:spPr>
        <p:txBody>
          <a:bodyPr anchor="ctr"/>
          <a:lstStyle/>
          <a:p>
            <a:r>
              <a:rPr lang="en-US" dirty="0"/>
              <a:t>same parameters used at every split point</a:t>
            </a:r>
          </a:p>
          <a:p>
            <a:r>
              <a:rPr lang="en-US" dirty="0"/>
              <a:t>order of children matters (different weights used for left and right child)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91</a:t>
            </a:fld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="" xmlns:a16="http://schemas.microsoft.com/office/drawing/2014/main" id="{A1A9B9AA-E26C-C445-BDC6-49F9F2A0F611}"/>
              </a:ext>
            </a:extLst>
          </p:cNvPr>
          <p:cNvCxnSpPr>
            <a:cxnSpLocks/>
          </p:cNvCxnSpPr>
          <p:nvPr/>
        </p:nvCxnSpPr>
        <p:spPr bwMode="auto">
          <a:xfrm flipV="1">
            <a:off x="1291066" y="3526016"/>
            <a:ext cx="622441" cy="62987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Oval 8">
            <a:extLst>
              <a:ext uri="{FF2B5EF4-FFF2-40B4-BE49-F238E27FC236}">
                <a16:creationId xmlns="" xmlns:a16="http://schemas.microsoft.com/office/drawing/2014/main" id="{B2CF7C42-516F-3F48-8CC0-5304C0CF901E}"/>
              </a:ext>
            </a:extLst>
          </p:cNvPr>
          <p:cNvSpPr/>
          <p:nvPr/>
        </p:nvSpPr>
        <p:spPr>
          <a:xfrm>
            <a:off x="1813277" y="2807877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="" xmlns:a16="http://schemas.microsoft.com/office/drawing/2014/main" id="{0A2CF02D-808F-3D42-A9EC-339E19393872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636688" y="3504840"/>
            <a:ext cx="601658" cy="6607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C6E3812B-2A6B-2D4B-9B2F-6466A5463229}"/>
              </a:ext>
            </a:extLst>
          </p:cNvPr>
          <p:cNvSpPr/>
          <p:nvPr/>
        </p:nvSpPr>
        <p:spPr>
          <a:xfrm>
            <a:off x="3141965" y="399063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="" xmlns:a16="http://schemas.microsoft.com/office/drawing/2014/main" id="{43ABF8F4-69AB-5944-923E-21FFFEC1971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939975" y="4735164"/>
            <a:ext cx="601658" cy="660760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="" xmlns:a16="http://schemas.microsoft.com/office/drawing/2014/main" id="{F0196B6D-4CD2-6542-AC18-FD27DB39DB33}"/>
              </a:ext>
            </a:extLst>
          </p:cNvPr>
          <p:cNvCxnSpPr>
            <a:cxnSpLocks/>
          </p:cNvCxnSpPr>
          <p:nvPr/>
        </p:nvCxnSpPr>
        <p:spPr bwMode="auto">
          <a:xfrm flipV="1">
            <a:off x="2636688" y="4735164"/>
            <a:ext cx="598962" cy="606116"/>
          </a:xfrm>
          <a:prstGeom prst="straightConnector1">
            <a:avLst/>
          </a:prstGeom>
          <a:solidFill>
            <a:schemeClr val="accent1"/>
          </a:solidFill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Oval 15">
            <a:extLst>
              <a:ext uri="{FF2B5EF4-FFF2-40B4-BE49-F238E27FC236}">
                <a16:creationId xmlns="" xmlns:a16="http://schemas.microsoft.com/office/drawing/2014/main" id="{F4E8B9A3-1307-AC4B-9723-E05B7EF8AFF4}"/>
              </a:ext>
            </a:extLst>
          </p:cNvPr>
          <p:cNvSpPr/>
          <p:nvPr/>
        </p:nvSpPr>
        <p:spPr>
          <a:xfrm>
            <a:off x="1833097" y="517339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="" xmlns:a16="http://schemas.microsoft.com/office/drawing/2014/main" id="{333825A3-8703-104F-95D3-D8595360FC4F}"/>
              </a:ext>
            </a:extLst>
          </p:cNvPr>
          <p:cNvSpPr/>
          <p:nvPr/>
        </p:nvSpPr>
        <p:spPr>
          <a:xfrm>
            <a:off x="4516232" y="5116780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CA4B6D59-BFE1-AB42-B2C5-8901DCBAD2B5}"/>
              </a:ext>
            </a:extLst>
          </p:cNvPr>
          <p:cNvSpPr/>
          <p:nvPr/>
        </p:nvSpPr>
        <p:spPr>
          <a:xfrm>
            <a:off x="486254" y="3990636"/>
            <a:ext cx="902858" cy="902858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="" xmlns:a16="http://schemas.microsoft.com/office/drawing/2014/main" id="{D54F3E9E-ACE5-5B4E-B039-427FC1C1C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958030"/>
            <a:ext cx="977900" cy="317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E51BBD84-B10D-0747-A2F5-326153999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868" y="6174526"/>
            <a:ext cx="1206500" cy="3175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FB8B6879-223F-EE4A-8138-0F6A6554C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5808" y="6122257"/>
            <a:ext cx="1485900" cy="317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="" xmlns:a16="http://schemas.microsoft.com/office/drawing/2014/main" id="{7393E6FD-B78D-834B-8DB5-DE13839FD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034" y="4307195"/>
            <a:ext cx="292100" cy="2667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="" xmlns:a16="http://schemas.microsoft.com/office/drawing/2014/main" id="{D0D236E6-A710-8D4F-90C2-6801FAB423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1477" y="5499670"/>
            <a:ext cx="304800" cy="2667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F06B9250-A6A6-4B45-9ED9-BCA3DEB688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6358" y="5428509"/>
            <a:ext cx="304800" cy="2794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1094E379-04BD-A64E-A2CD-09E7E9EFA7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4757" y="4014447"/>
            <a:ext cx="3073400" cy="762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3119DF70-4EF7-484E-BD7C-DF4FD3FDAF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64496" y="4302299"/>
            <a:ext cx="304800" cy="2667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="" xmlns:a16="http://schemas.microsoft.com/office/drawing/2014/main" id="{36E656C7-504B-164A-8214-271CBE6E7B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4543" y="3129089"/>
            <a:ext cx="304800" cy="2794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="" xmlns:a16="http://schemas.microsoft.com/office/drawing/2014/main" id="{2AE032CB-2AB7-544C-A9FD-26535FB2CE1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1849" y="2886086"/>
            <a:ext cx="30734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58269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4"/>
        </a:lnRef>
        <a:fillRef idx="0">
          <a:schemeClr val="accent4"/>
        </a:fillRef>
        <a:effectRef idx="0">
          <a:schemeClr val="accent4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47041</TotalTime>
  <Words>3668</Words>
  <Application>Microsoft Macintosh PowerPoint</Application>
  <PresentationFormat>On-screen Show (4:3)</PresentationFormat>
  <Paragraphs>712</Paragraphs>
  <Slides>91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91</vt:i4>
      </vt:variant>
    </vt:vector>
  </HeadingPairs>
  <TitlesOfParts>
    <vt:vector size="92" baseType="lpstr">
      <vt:lpstr>Office Theme</vt:lpstr>
      <vt:lpstr>TTIC 31190: Natural Language Processing</vt:lpstr>
      <vt:lpstr>Project Proposal</vt:lpstr>
      <vt:lpstr>Midterm</vt:lpstr>
      <vt:lpstr>Roadmap</vt:lpstr>
      <vt:lpstr>What is Syntax?</vt:lpstr>
      <vt:lpstr>Constituent Parse (Bracketing/Tree)</vt:lpstr>
      <vt:lpstr>Constituent Parse</vt:lpstr>
      <vt:lpstr>Attachment Ambiguity</vt:lpstr>
      <vt:lpstr>NLP Task: Constituent Parsing</vt:lpstr>
      <vt:lpstr>Context-Free Grammar (CFG)</vt:lpstr>
      <vt:lpstr>Context-Free Grammar (CFG)</vt:lpstr>
      <vt:lpstr>Why “context-free”?</vt:lpstr>
      <vt:lpstr>Probabilistic Context-Free Grammar (PCFG)</vt:lpstr>
      <vt:lpstr>Probabilistic Context-Free Grammar (PCFG)</vt:lpstr>
      <vt:lpstr>Probabilistic Context-Free Grammar (PCFG)</vt:lpstr>
      <vt:lpstr>Probabilistic Context-Free Grammar (PCFG)</vt:lpstr>
      <vt:lpstr>Constituent Parsing</vt:lpstr>
      <vt:lpstr>Precision, Recall, F1</vt:lpstr>
      <vt:lpstr>Modeling, Inference, Learning</vt:lpstr>
      <vt:lpstr>Inference in PCFGs</vt:lpstr>
      <vt:lpstr>PowerPoint Presentation</vt:lpstr>
      <vt:lpstr>CKY Algorithm</vt:lpstr>
      <vt:lpstr>CKY Algorithm</vt:lpstr>
      <vt:lpstr>PowerPoint Presentation</vt:lpstr>
      <vt:lpstr>How well does a PCFG work?</vt:lpstr>
      <vt:lpstr>How well does a PCFG work?</vt:lpstr>
      <vt:lpstr>Parent Annotation</vt:lpstr>
      <vt:lpstr>Johnson (1998)</vt:lpstr>
      <vt:lpstr>Johnson (1998)</vt:lpstr>
      <vt:lpstr>How well does a PCFG work?</vt:lpstr>
      <vt:lpstr>How well does a PCFG work?</vt:lpstr>
      <vt:lpstr>Collins (1997)</vt:lpstr>
      <vt:lpstr>Lexicalized PCFGs</vt:lpstr>
      <vt:lpstr>Lexicalization</vt:lpstr>
      <vt:lpstr>Results (Collins, 1997)</vt:lpstr>
      <vt:lpstr>Head Rules</vt:lpstr>
      <vt:lpstr>Head Annotation</vt:lpstr>
      <vt:lpstr>Lexical Head Annotation</vt:lpstr>
      <vt:lpstr>Lexical Head Annotation  Dependencies</vt:lpstr>
      <vt:lpstr>Dependencies</vt:lpstr>
      <vt:lpstr>PowerPoint Presentation</vt:lpstr>
      <vt:lpstr>PowerPoint Presentation</vt:lpstr>
      <vt:lpstr>PowerPoint Presentation</vt:lpstr>
      <vt:lpstr>A Typed Dependency Tree</vt:lpstr>
      <vt:lpstr>Some Dependency Relations</vt:lpstr>
      <vt:lpstr>Some Dependency Relations</vt:lpstr>
      <vt:lpstr>Crossing Dependencies = Nonprojective Tree</vt:lpstr>
      <vt:lpstr>Projective vs. Nonprojective Dependencies</vt:lpstr>
      <vt:lpstr>Annotating Dependencies</vt:lpstr>
      <vt:lpstr>Universal Dependencies</vt:lpstr>
      <vt:lpstr>Dependency Parsing</vt:lpstr>
      <vt:lpstr>Transition-Based Dependency Parsing</vt:lpstr>
      <vt:lpstr>Transition-Based Parsing</vt:lpstr>
      <vt:lpstr>PowerPoint Presentation</vt:lpstr>
      <vt:lpstr>PowerPoint Presentation</vt:lpstr>
      <vt:lpstr>Greedy Parsing with a Stack</vt:lpstr>
      <vt:lpstr>Greedy Parsing with a Stack</vt:lpstr>
      <vt:lpstr>Greedy Parsing with a Stack</vt:lpstr>
      <vt:lpstr>Greedy Parsing with a Stack</vt:lpstr>
      <vt:lpstr>Greedy Parsing with a Stack</vt:lpstr>
      <vt:lpstr>Greedy Parsing with a Stack</vt:lpstr>
      <vt:lpstr>Greedy Parsing with a Stack</vt:lpstr>
      <vt:lpstr>Greedy Parsing with a Stack</vt:lpstr>
      <vt:lpstr>Greedy Parsing with a Stack</vt:lpstr>
      <vt:lpstr>Greedy Parsing with a Stack</vt:lpstr>
      <vt:lpstr>Greedy Parsing with a Stack</vt:lpstr>
      <vt:lpstr>Greedy Parsing with a Stack</vt:lpstr>
      <vt:lpstr>Greedy Parsing with a Stack</vt:lpstr>
      <vt:lpstr>Greedy Parsing with a Stack</vt:lpstr>
      <vt:lpstr>Greedy Parsing with a Stack</vt:lpstr>
      <vt:lpstr>Greedy Parsing with a Stack</vt:lpstr>
      <vt:lpstr>Greedy Parsing with a Stack</vt:lpstr>
      <vt:lpstr>Greedy Parsing with a Stack</vt:lpstr>
      <vt:lpstr>Greedy Parsing with a Stack</vt:lpstr>
      <vt:lpstr>Greedy Parsing with a Stack</vt:lpstr>
      <vt:lpstr>PowerPoint Presentation</vt:lpstr>
      <vt:lpstr>PowerPoint Presentation</vt:lpstr>
      <vt:lpstr>PowerPoint Presentation</vt:lpstr>
      <vt:lpstr>Stack RNNs</vt:lpstr>
      <vt:lpstr>PowerPoint Presentation</vt:lpstr>
      <vt:lpstr>Stack LSTM Parser</vt:lpstr>
      <vt:lpstr>Dependency Parsers</vt:lpstr>
      <vt:lpstr>Projective vs. Nonprojective Dependency Parsing</vt:lpstr>
      <vt:lpstr>Complexity Comparison</vt:lpstr>
      <vt:lpstr>Applications of Dependency Parsing</vt:lpstr>
      <vt:lpstr>Summary: two types of grammars</vt:lpstr>
      <vt:lpstr>Recursive Neural Networks for NLP</vt:lpstr>
      <vt:lpstr>Recursive Neural Networks for NLP</vt:lpstr>
      <vt:lpstr>Recursive Neural Networks for NLP</vt:lpstr>
      <vt:lpstr>Recursive Neural Networks for NLP</vt:lpstr>
      <vt:lpstr>Recursive Neural Networks for NLP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</cp:lastModifiedBy>
  <cp:revision>991</cp:revision>
  <dcterms:created xsi:type="dcterms:W3CDTF">2015-08-31T18:15:35Z</dcterms:created>
  <dcterms:modified xsi:type="dcterms:W3CDTF">2018-05-09T22:18:54Z</dcterms:modified>
</cp:coreProperties>
</file>