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7"/>
  </p:notesMasterIdLst>
  <p:handoutMasterIdLst>
    <p:handoutMasterId r:id="rId88"/>
  </p:handoutMasterIdLst>
  <p:sldIdLst>
    <p:sldId id="256" r:id="rId2"/>
    <p:sldId id="691" r:id="rId3"/>
    <p:sldId id="520" r:id="rId4"/>
    <p:sldId id="260" r:id="rId5"/>
    <p:sldId id="528" r:id="rId6"/>
    <p:sldId id="261" r:id="rId7"/>
    <p:sldId id="296" r:id="rId8"/>
    <p:sldId id="297" r:id="rId9"/>
    <p:sldId id="302" r:id="rId10"/>
    <p:sldId id="298" r:id="rId11"/>
    <p:sldId id="530" r:id="rId12"/>
    <p:sldId id="543" r:id="rId13"/>
    <p:sldId id="686" r:id="rId14"/>
    <p:sldId id="683" r:id="rId15"/>
    <p:sldId id="684" r:id="rId16"/>
    <p:sldId id="565" r:id="rId17"/>
    <p:sldId id="562" r:id="rId18"/>
    <p:sldId id="640" r:id="rId19"/>
    <p:sldId id="567" r:id="rId20"/>
    <p:sldId id="568" r:id="rId21"/>
    <p:sldId id="569" r:id="rId22"/>
    <p:sldId id="570" r:id="rId23"/>
    <p:sldId id="571" r:id="rId24"/>
    <p:sldId id="572" r:id="rId25"/>
    <p:sldId id="687" r:id="rId26"/>
    <p:sldId id="573" r:id="rId27"/>
    <p:sldId id="574" r:id="rId28"/>
    <p:sldId id="641" r:id="rId29"/>
    <p:sldId id="576" r:id="rId30"/>
    <p:sldId id="642" r:id="rId31"/>
    <p:sldId id="643" r:id="rId32"/>
    <p:sldId id="579" r:id="rId33"/>
    <p:sldId id="580" r:id="rId34"/>
    <p:sldId id="581" r:id="rId35"/>
    <p:sldId id="582" r:id="rId36"/>
    <p:sldId id="583" r:id="rId37"/>
    <p:sldId id="584" r:id="rId38"/>
    <p:sldId id="585" r:id="rId39"/>
    <p:sldId id="586" r:id="rId40"/>
    <p:sldId id="587" r:id="rId41"/>
    <p:sldId id="644" r:id="rId42"/>
    <p:sldId id="645" r:id="rId43"/>
    <p:sldId id="646" r:id="rId44"/>
    <p:sldId id="647" r:id="rId45"/>
    <p:sldId id="648" r:id="rId46"/>
    <p:sldId id="649" r:id="rId47"/>
    <p:sldId id="650" r:id="rId48"/>
    <p:sldId id="651" r:id="rId49"/>
    <p:sldId id="652" r:id="rId50"/>
    <p:sldId id="653" r:id="rId51"/>
    <p:sldId id="654" r:id="rId52"/>
    <p:sldId id="655" r:id="rId53"/>
    <p:sldId id="656" r:id="rId54"/>
    <p:sldId id="657" r:id="rId55"/>
    <p:sldId id="658" r:id="rId56"/>
    <p:sldId id="659" r:id="rId57"/>
    <p:sldId id="660" r:id="rId58"/>
    <p:sldId id="663" r:id="rId59"/>
    <p:sldId id="662" r:id="rId60"/>
    <p:sldId id="674" r:id="rId61"/>
    <p:sldId id="675" r:id="rId62"/>
    <p:sldId id="676" r:id="rId63"/>
    <p:sldId id="680" r:id="rId64"/>
    <p:sldId id="681" r:id="rId65"/>
    <p:sldId id="670" r:id="rId66"/>
    <p:sldId id="671" r:id="rId67"/>
    <p:sldId id="673" r:id="rId68"/>
    <p:sldId id="667" r:id="rId69"/>
    <p:sldId id="668" r:id="rId70"/>
    <p:sldId id="692" r:id="rId71"/>
    <p:sldId id="597" r:id="rId72"/>
    <p:sldId id="598" r:id="rId73"/>
    <p:sldId id="599" r:id="rId74"/>
    <p:sldId id="600" r:id="rId75"/>
    <p:sldId id="601" r:id="rId76"/>
    <p:sldId id="602" r:id="rId77"/>
    <p:sldId id="603" r:id="rId78"/>
    <p:sldId id="604" r:id="rId79"/>
    <p:sldId id="605" r:id="rId80"/>
    <p:sldId id="606" r:id="rId81"/>
    <p:sldId id="607" r:id="rId82"/>
    <p:sldId id="608" r:id="rId83"/>
    <p:sldId id="633" r:id="rId84"/>
    <p:sldId id="634" r:id="rId85"/>
    <p:sldId id="635" r:id="rId8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8CD2"/>
    <a:srgbClr val="B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89718" autoAdjust="0"/>
  </p:normalViewPr>
  <p:slideViewPr>
    <p:cSldViewPr snapToGrid="0" snapToObjects="1">
      <p:cViewPr varScale="1">
        <p:scale>
          <a:sx n="66" d="100"/>
          <a:sy n="66" d="100"/>
        </p:scale>
        <p:origin x="-1576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notesMaster" Target="notesMasters/notesMaster1.xml"/><Relationship Id="rId88" Type="http://schemas.openxmlformats.org/officeDocument/2006/relationships/handoutMaster" Target="handoutMasters/handoutMaster1.xml"/><Relationship Id="rId89" Type="http://schemas.openxmlformats.org/officeDocument/2006/relationships/printerSettings" Target="printerSettings/printerSettings1.bin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4/9/18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4/9/18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renewcommand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}[1]{\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{#1}}}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{x},y,\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{w})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{w}^\top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{f}(\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{x},y)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theta_i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f_i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{x},y)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nonumber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38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843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4/9/18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4/9/18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4/9/18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4/9/18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4/9/18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4/9/18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4/9/18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4/9/18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4/9/18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4/9/18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4/9/18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4/9/18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Relationship Id="rId3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3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4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4" Type="http://schemas.openxmlformats.org/officeDocument/2006/relationships/image" Target="../media/image3.emf"/><Relationship Id="rId5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4" Type="http://schemas.openxmlformats.org/officeDocument/2006/relationships/image" Target="../media/image9.emf"/><Relationship Id="rId5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4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4" Type="http://schemas.openxmlformats.org/officeDocument/2006/relationships/image" Target="../media/image3.emf"/><Relationship Id="rId5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emf"/><Relationship Id="rId3" Type="http://schemas.openxmlformats.org/officeDocument/2006/relationships/image" Target="../media/image1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4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emf"/><Relationship Id="rId3" Type="http://schemas.openxmlformats.org/officeDocument/2006/relationships/image" Target="../media/image16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4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4" Type="http://schemas.openxmlformats.org/officeDocument/2006/relationships/image" Target="../media/image22.emf"/><Relationship Id="rId5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4" Type="http://schemas.openxmlformats.org/officeDocument/2006/relationships/image" Target="../media/image22.emf"/><Relationship Id="rId5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emf"/><Relationship Id="rId3" Type="http://schemas.openxmlformats.org/officeDocument/2006/relationships/image" Target="../media/image24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emf"/><Relationship Id="rId3" Type="http://schemas.openxmlformats.org/officeDocument/2006/relationships/image" Target="../media/image24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emf"/><Relationship Id="rId3" Type="http://schemas.openxmlformats.org/officeDocument/2006/relationships/image" Target="../media/image25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4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emf"/><Relationship Id="rId3" Type="http://schemas.openxmlformats.org/officeDocument/2006/relationships/image" Target="../media/image27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emf"/><Relationship Id="rId3" Type="http://schemas.openxmlformats.org/officeDocument/2006/relationships/image" Target="../media/image27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4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4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4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4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4" Type="http://schemas.openxmlformats.org/officeDocument/2006/relationships/image" Target="../media/image29.emf"/><Relationship Id="rId5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4" Type="http://schemas.openxmlformats.org/officeDocument/2006/relationships/image" Target="../media/image33.emf"/><Relationship Id="rId5" Type="http://schemas.openxmlformats.org/officeDocument/2006/relationships/image" Target="../media/image34.emf"/><Relationship Id="rId6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4" Type="http://schemas.openxmlformats.org/officeDocument/2006/relationships/image" Target="../media/image33.emf"/><Relationship Id="rId5" Type="http://schemas.openxmlformats.org/officeDocument/2006/relationships/image" Target="../media/image34.emf"/><Relationship Id="rId6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4" Type="http://schemas.openxmlformats.org/officeDocument/2006/relationships/image" Target="../media/image33.emf"/><Relationship Id="rId5" Type="http://schemas.openxmlformats.org/officeDocument/2006/relationships/image" Target="../media/image34.emf"/><Relationship Id="rId6" Type="http://schemas.openxmlformats.org/officeDocument/2006/relationships/image" Target="../media/image35.emf"/><Relationship Id="rId7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4" Type="http://schemas.openxmlformats.org/officeDocument/2006/relationships/image" Target="../media/image33.emf"/><Relationship Id="rId5" Type="http://schemas.openxmlformats.org/officeDocument/2006/relationships/image" Target="../media/image34.emf"/><Relationship Id="rId6" Type="http://schemas.openxmlformats.org/officeDocument/2006/relationships/image" Target="../media/image35.emf"/><Relationship Id="rId7" Type="http://schemas.openxmlformats.org/officeDocument/2006/relationships/image" Target="../media/image36.jpeg"/><Relationship Id="rId8" Type="http://schemas.openxmlformats.org/officeDocument/2006/relationships/image" Target="../media/image37.emf"/><Relationship Id="rId9" Type="http://schemas.openxmlformats.org/officeDocument/2006/relationships/image" Target="../media/image38.emf"/><Relationship Id="rId10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4" Type="http://schemas.openxmlformats.org/officeDocument/2006/relationships/image" Target="../media/image33.emf"/><Relationship Id="rId5" Type="http://schemas.openxmlformats.org/officeDocument/2006/relationships/image" Target="../media/image34.emf"/><Relationship Id="rId6" Type="http://schemas.openxmlformats.org/officeDocument/2006/relationships/image" Target="../media/image35.emf"/><Relationship Id="rId7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e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4" Type="http://schemas.openxmlformats.org/officeDocument/2006/relationships/image" Target="../media/image33.emf"/><Relationship Id="rId5" Type="http://schemas.openxmlformats.org/officeDocument/2006/relationships/image" Target="../media/image34.emf"/><Relationship Id="rId6" Type="http://schemas.openxmlformats.org/officeDocument/2006/relationships/image" Target="../media/image35.emf"/><Relationship Id="rId7" Type="http://schemas.openxmlformats.org/officeDocument/2006/relationships/image" Target="../media/image36.jpeg"/><Relationship Id="rId8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4" Type="http://schemas.openxmlformats.org/officeDocument/2006/relationships/image" Target="../media/image33.emf"/><Relationship Id="rId5" Type="http://schemas.openxmlformats.org/officeDocument/2006/relationships/image" Target="../media/image34.emf"/><Relationship Id="rId6" Type="http://schemas.openxmlformats.org/officeDocument/2006/relationships/image" Target="../media/image35.emf"/><Relationship Id="rId7" Type="http://schemas.openxmlformats.org/officeDocument/2006/relationships/image" Target="../media/image36.jpeg"/><Relationship Id="rId8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4" Type="http://schemas.openxmlformats.org/officeDocument/2006/relationships/image" Target="../media/image32.emf"/><Relationship Id="rId5" Type="http://schemas.openxmlformats.org/officeDocument/2006/relationships/image" Target="../media/image33.emf"/><Relationship Id="rId6" Type="http://schemas.openxmlformats.org/officeDocument/2006/relationships/image" Target="../media/image34.emf"/><Relationship Id="rId7" Type="http://schemas.openxmlformats.org/officeDocument/2006/relationships/image" Target="../media/image35.emf"/><Relationship Id="rId8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e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4" Type="http://schemas.openxmlformats.org/officeDocument/2006/relationships/image" Target="../media/image33.emf"/><Relationship Id="rId5" Type="http://schemas.openxmlformats.org/officeDocument/2006/relationships/image" Target="../media/image34.emf"/><Relationship Id="rId6" Type="http://schemas.openxmlformats.org/officeDocument/2006/relationships/image" Target="../media/image35.emf"/><Relationship Id="rId7" Type="http://schemas.openxmlformats.org/officeDocument/2006/relationships/image" Target="../media/image36.jpeg"/><Relationship Id="rId8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4" Type="http://schemas.openxmlformats.org/officeDocument/2006/relationships/image" Target="../media/image33.emf"/><Relationship Id="rId5" Type="http://schemas.openxmlformats.org/officeDocument/2006/relationships/image" Target="../media/image34.emf"/><Relationship Id="rId6" Type="http://schemas.openxmlformats.org/officeDocument/2006/relationships/image" Target="../media/image35.emf"/><Relationship Id="rId7" Type="http://schemas.openxmlformats.org/officeDocument/2006/relationships/image" Target="../media/image36.jpeg"/><Relationship Id="rId8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4" Type="http://schemas.openxmlformats.org/officeDocument/2006/relationships/image" Target="../media/image33.emf"/><Relationship Id="rId5" Type="http://schemas.openxmlformats.org/officeDocument/2006/relationships/image" Target="../media/image34.emf"/><Relationship Id="rId6" Type="http://schemas.openxmlformats.org/officeDocument/2006/relationships/image" Target="../media/image35.emf"/><Relationship Id="rId7" Type="http://schemas.openxmlformats.org/officeDocument/2006/relationships/image" Target="../media/image36.jpeg"/><Relationship Id="rId8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4" Type="http://schemas.openxmlformats.org/officeDocument/2006/relationships/image" Target="../media/image33.emf"/><Relationship Id="rId5" Type="http://schemas.openxmlformats.org/officeDocument/2006/relationships/image" Target="../media/image34.emf"/><Relationship Id="rId6" Type="http://schemas.openxmlformats.org/officeDocument/2006/relationships/image" Target="../media/image35.emf"/><Relationship Id="rId7" Type="http://schemas.openxmlformats.org/officeDocument/2006/relationships/image" Target="../media/image36.jpeg"/><Relationship Id="rId8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e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4" Type="http://schemas.openxmlformats.org/officeDocument/2006/relationships/image" Target="../media/image33.emf"/><Relationship Id="rId5" Type="http://schemas.openxmlformats.org/officeDocument/2006/relationships/image" Target="../media/image34.emf"/><Relationship Id="rId6" Type="http://schemas.openxmlformats.org/officeDocument/2006/relationships/image" Target="../media/image35.emf"/><Relationship Id="rId7" Type="http://schemas.openxmlformats.org/officeDocument/2006/relationships/image" Target="../media/image36.jpeg"/><Relationship Id="rId8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4" Type="http://schemas.openxmlformats.org/officeDocument/2006/relationships/image" Target="../media/image33.emf"/><Relationship Id="rId5" Type="http://schemas.openxmlformats.org/officeDocument/2006/relationships/image" Target="../media/image34.emf"/><Relationship Id="rId6" Type="http://schemas.openxmlformats.org/officeDocument/2006/relationships/image" Target="../media/image35.emf"/><Relationship Id="rId7" Type="http://schemas.openxmlformats.org/officeDocument/2006/relationships/image" Target="../media/image36.jpeg"/><Relationship Id="rId8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4" Type="http://schemas.openxmlformats.org/officeDocument/2006/relationships/image" Target="../media/image33.emf"/><Relationship Id="rId5" Type="http://schemas.openxmlformats.org/officeDocument/2006/relationships/image" Target="../media/image34.emf"/><Relationship Id="rId6" Type="http://schemas.openxmlformats.org/officeDocument/2006/relationships/image" Target="../media/image35.emf"/><Relationship Id="rId7" Type="http://schemas.openxmlformats.org/officeDocument/2006/relationships/image" Target="../media/image36.jpeg"/><Relationship Id="rId8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4" Type="http://schemas.openxmlformats.org/officeDocument/2006/relationships/image" Target="../media/image33.emf"/><Relationship Id="rId5" Type="http://schemas.openxmlformats.org/officeDocument/2006/relationships/image" Target="../media/image34.emf"/><Relationship Id="rId6" Type="http://schemas.openxmlformats.org/officeDocument/2006/relationships/image" Target="../media/image35.emf"/><Relationship Id="rId7" Type="http://schemas.openxmlformats.org/officeDocument/2006/relationships/image" Target="../media/image36.jpeg"/><Relationship Id="rId8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em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em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emf"/><Relationship Id="rId3" Type="http://schemas.openxmlformats.org/officeDocument/2006/relationships/image" Target="../media/image42.e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emf"/><Relationship Id="rId3" Type="http://schemas.openxmlformats.org/officeDocument/2006/relationships/image" Target="../media/image28.emf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emf"/><Relationship Id="rId3" Type="http://schemas.openxmlformats.org/officeDocument/2006/relationships/image" Target="../media/image28.emf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emf"/><Relationship Id="rId3" Type="http://schemas.openxmlformats.org/officeDocument/2006/relationships/image" Target="../media/image28.emf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emf"/><Relationship Id="rId3" Type="http://schemas.openxmlformats.org/officeDocument/2006/relationships/image" Target="../media/image23.emf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emf"/><Relationship Id="rId3" Type="http://schemas.openxmlformats.org/officeDocument/2006/relationships/image" Target="../media/image44.e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emf"/><Relationship Id="rId3" Type="http://schemas.openxmlformats.org/officeDocument/2006/relationships/image" Target="../media/image44.emf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emf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emf"/><Relationship Id="rId3" Type="http://schemas.openxmlformats.org/officeDocument/2006/relationships/image" Target="../media/image46.emf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image" Target="../media/image48.e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4" Type="http://schemas.openxmlformats.org/officeDocument/2006/relationships/image" Target="../media/image48.emf"/><Relationship Id="rId5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4" Type="http://schemas.openxmlformats.org/officeDocument/2006/relationships/image" Target="../media/image48.emf"/><Relationship Id="rId5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4" Type="http://schemas.openxmlformats.org/officeDocument/2006/relationships/image" Target="../media/image48.emf"/><Relationship Id="rId5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4" Type="http://schemas.openxmlformats.org/officeDocument/2006/relationships/image" Target="../media/image48.emf"/><Relationship Id="rId5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4" Type="http://schemas.openxmlformats.org/officeDocument/2006/relationships/image" Target="../media/image48.emf"/><Relationship Id="rId5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emf"/><Relationship Id="rId3" Type="http://schemas.openxmlformats.org/officeDocument/2006/relationships/image" Target="../media/image29.emf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4" Type="http://schemas.openxmlformats.org/officeDocument/2006/relationships/image" Target="../media/image54.emf"/><Relationship Id="rId5" Type="http://schemas.openxmlformats.org/officeDocument/2006/relationships/image" Target="../media/image55.emf"/><Relationship Id="rId6" Type="http://schemas.openxmlformats.org/officeDocument/2006/relationships/image" Target="../media/image5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gi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4" Type="http://schemas.openxmlformats.org/officeDocument/2006/relationships/image" Target="../media/image55.emf"/><Relationship Id="rId5" Type="http://schemas.openxmlformats.org/officeDocument/2006/relationships/image" Target="../media/image52.gif"/><Relationship Id="rId6" Type="http://schemas.openxmlformats.org/officeDocument/2006/relationships/image" Target="../media/image5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em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4" Type="http://schemas.openxmlformats.org/officeDocument/2006/relationships/image" Target="../media/image54.emf"/><Relationship Id="rId5" Type="http://schemas.openxmlformats.org/officeDocument/2006/relationships/image" Target="../media/image55.emf"/><Relationship Id="rId6" Type="http://schemas.openxmlformats.org/officeDocument/2006/relationships/image" Target="../media/image52.gif"/><Relationship Id="rId7" Type="http://schemas.openxmlformats.org/officeDocument/2006/relationships/image" Target="../media/image56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/>
          <a:lstStyle/>
          <a:p>
            <a:r>
              <a:rPr lang="en-US" dirty="0"/>
              <a:t>TTIC 31190:</a:t>
            </a:r>
            <a:br>
              <a:rPr lang="en-US" dirty="0"/>
            </a:br>
            <a:r>
              <a:rPr lang="en-US" dirty="0"/>
              <a:t>Natural Language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93900"/>
            <a:ext cx="6400800" cy="34036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>
                <a:solidFill>
                  <a:schemeClr val="tx1"/>
                </a:solidFill>
              </a:rPr>
              <a:t>Spring 2018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>
                <a:solidFill>
                  <a:schemeClr val="tx1"/>
                </a:solidFill>
              </a:rPr>
              <a:t>Lecture </a:t>
            </a:r>
            <a:r>
              <a:rPr lang="en-US" sz="4000" dirty="0" smtClean="0">
                <a:solidFill>
                  <a:schemeClr val="tx1"/>
                </a:solidFill>
              </a:rPr>
              <a:t>5: </a:t>
            </a:r>
            <a:r>
              <a:rPr lang="en-US" sz="4000" dirty="0">
                <a:solidFill>
                  <a:schemeClr val="tx1"/>
                </a:solidFill>
              </a:rPr>
              <a:t>Text </a:t>
            </a:r>
            <a:r>
              <a:rPr lang="en-US" sz="4000" dirty="0" smtClean="0">
                <a:solidFill>
                  <a:schemeClr val="tx1"/>
                </a:solidFill>
              </a:rPr>
              <a:t>Classification (Learning)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Assignment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 not increment counts for the center word when counting context words:</a:t>
            </a:r>
          </a:p>
          <a:p>
            <a:pPr marL="0" indent="0">
              <a:buNone/>
            </a:pPr>
            <a:r>
              <a:rPr lang="en-US" sz="2800" dirty="0" smtClean="0">
                <a:latin typeface="Courier New"/>
                <a:cs typeface="Courier New"/>
              </a:rPr>
              <a:t>&lt;s&gt; the cat ran . &lt;/s&gt;</a:t>
            </a:r>
            <a:endParaRPr lang="en-US" dirty="0" smtClean="0"/>
          </a:p>
          <a:p>
            <a:r>
              <a:rPr lang="en-US" dirty="0" smtClean="0"/>
              <a:t>for center word </a:t>
            </a:r>
            <a:r>
              <a:rPr lang="en-US" dirty="0">
                <a:latin typeface="Courier New"/>
                <a:cs typeface="Courier New"/>
              </a:rPr>
              <a:t>cat</a:t>
            </a:r>
            <a:r>
              <a:rPr lang="en-US" dirty="0" smtClean="0"/>
              <a:t>, do not increment count for </a:t>
            </a:r>
            <a:r>
              <a:rPr lang="en-US" dirty="0" smtClean="0">
                <a:latin typeface="Courier New"/>
                <a:cs typeface="Courier New"/>
              </a:rPr>
              <a:t>(cat, cat)</a:t>
            </a:r>
          </a:p>
          <a:p>
            <a:r>
              <a:rPr lang="en-US" dirty="0" smtClean="0"/>
              <a:t>sorry for not making this clearer in the assignment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55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sz="2400" dirty="0"/>
              <a:t>words, morphology, lexical semantics</a:t>
            </a:r>
          </a:p>
          <a:p>
            <a:r>
              <a:rPr lang="en-US" sz="2400" dirty="0">
                <a:solidFill>
                  <a:srgbClr val="288CD2"/>
                </a:solidFill>
              </a:rPr>
              <a:t>text classification</a:t>
            </a:r>
          </a:p>
          <a:p>
            <a:r>
              <a:rPr lang="en-US" sz="2400" dirty="0"/>
              <a:t>simple neural methods for NLP</a:t>
            </a:r>
          </a:p>
          <a:p>
            <a:r>
              <a:rPr lang="en-US" sz="2400" dirty="0"/>
              <a:t>language modeling and word </a:t>
            </a:r>
            <a:r>
              <a:rPr lang="en-US" sz="2400" dirty="0" err="1"/>
              <a:t>embeddings</a:t>
            </a:r>
            <a:endParaRPr lang="en-US" sz="2400" dirty="0"/>
          </a:p>
          <a:p>
            <a:r>
              <a:rPr lang="en-US" sz="2400" dirty="0"/>
              <a:t>recurrent/recursive/convolutional networks in NLP</a:t>
            </a:r>
          </a:p>
          <a:p>
            <a:r>
              <a:rPr lang="en-US" sz="2400" dirty="0"/>
              <a:t>sequence labeling, HMMs, dynamic programming</a:t>
            </a:r>
          </a:p>
          <a:p>
            <a:r>
              <a:rPr lang="en-US" sz="2400" dirty="0"/>
              <a:t>syntax and syntactic parsing</a:t>
            </a:r>
          </a:p>
          <a:p>
            <a:r>
              <a:rPr lang="en-US" sz="2400" dirty="0"/>
              <a:t>semantics, compositionality, semantic parsing</a:t>
            </a:r>
          </a:p>
          <a:p>
            <a:r>
              <a:rPr lang="en-US" sz="2400" dirty="0"/>
              <a:t>machine translation and other NLP tasks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1991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746"/>
            <a:ext cx="8229600" cy="5536604"/>
          </a:xfrm>
        </p:spPr>
        <p:txBody>
          <a:bodyPr/>
          <a:lstStyle/>
          <a:p>
            <a:r>
              <a:rPr lang="en-US" dirty="0"/>
              <a:t>simplest user-facing NLP application</a:t>
            </a:r>
          </a:p>
          <a:p>
            <a:r>
              <a:rPr lang="en-US" dirty="0"/>
              <a:t>email (spam, priority, categories):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sentiment: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topic classification</a:t>
            </a:r>
          </a:p>
          <a:p>
            <a:r>
              <a:rPr lang="en-US" dirty="0"/>
              <a:t>others?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 descr="Gmail_inbox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65" t="32371" b="49018"/>
          <a:stretch/>
        </p:blipFill>
        <p:spPr>
          <a:xfrm>
            <a:off x="1953843" y="2041772"/>
            <a:ext cx="7062002" cy="1074615"/>
          </a:xfrm>
          <a:prstGeom prst="rect">
            <a:avLst/>
          </a:prstGeom>
          <a:ln>
            <a:noFill/>
          </a:ln>
        </p:spPr>
      </p:pic>
      <p:pic>
        <p:nvPicPr>
          <p:cNvPr id="6" name="Picture 5" descr="twitrratr1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02" b="39886"/>
          <a:stretch/>
        </p:blipFill>
        <p:spPr>
          <a:xfrm>
            <a:off x="2749106" y="3386849"/>
            <a:ext cx="6045112" cy="1526950"/>
          </a:xfrm>
          <a:prstGeom prst="rect">
            <a:avLst/>
          </a:prstGeom>
          <a:ln>
            <a:noFill/>
          </a:ln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927930" y="252413"/>
            <a:ext cx="3091870" cy="507831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800" i="0" dirty="0">
                <a:solidFill>
                  <a:schemeClr val="bg1"/>
                </a:solidFill>
                <a:latin typeface="Calibri"/>
                <a:cs typeface="Calibri"/>
              </a:rPr>
              <a:t>Text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3981256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dirty="0"/>
              <a:t>datasets</a:t>
            </a:r>
          </a:p>
          <a:p>
            <a:r>
              <a:rPr lang="en-US" dirty="0">
                <a:solidFill>
                  <a:srgbClr val="288CD2"/>
                </a:solidFill>
              </a:rPr>
              <a:t>classification</a:t>
            </a:r>
          </a:p>
          <a:p>
            <a:pPr lvl="1"/>
            <a:r>
              <a:rPr lang="en-US" dirty="0"/>
              <a:t>modeling</a:t>
            </a:r>
          </a:p>
          <a:p>
            <a:pPr lvl="1"/>
            <a:r>
              <a:rPr lang="en-US" dirty="0"/>
              <a:t>inference</a:t>
            </a:r>
          </a:p>
          <a:p>
            <a:pPr lvl="1"/>
            <a:r>
              <a:rPr lang="en-US" dirty="0"/>
              <a:t>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995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a classifier?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1073740"/>
            <a:ext cx="8585200" cy="4145960"/>
          </a:xfrm>
        </p:spPr>
        <p:txBody>
          <a:bodyPr>
            <a:normAutofit/>
          </a:bodyPr>
          <a:lstStyle/>
          <a:p>
            <a:r>
              <a:rPr lang="en-US" dirty="0"/>
              <a:t>a function from inputs </a:t>
            </a:r>
            <a:r>
              <a:rPr lang="en-US" b="1" i="1" dirty="0"/>
              <a:t>x</a:t>
            </a:r>
            <a:r>
              <a:rPr lang="en-US" dirty="0"/>
              <a:t> to classification labels </a:t>
            </a:r>
            <a:r>
              <a:rPr lang="en-US" i="1" dirty="0"/>
              <a:t>y</a:t>
            </a:r>
          </a:p>
          <a:p>
            <a:r>
              <a:rPr lang="en-US" dirty="0"/>
              <a:t>one simple type of classifier:</a:t>
            </a:r>
          </a:p>
          <a:p>
            <a:pPr lvl="1"/>
            <a:r>
              <a:rPr lang="en-US" dirty="0"/>
              <a:t>for any input </a:t>
            </a:r>
            <a:r>
              <a:rPr lang="en-US" b="1" i="1" dirty="0">
                <a:cs typeface="Monotype Corsiva"/>
              </a:rPr>
              <a:t>x</a:t>
            </a:r>
            <a:r>
              <a:rPr lang="en-US" dirty="0"/>
              <a:t>, assign a score to each label </a:t>
            </a:r>
            <a:r>
              <a:rPr lang="en-US" i="1" dirty="0" smtClean="0">
                <a:cs typeface="Century Schoolbook"/>
              </a:rPr>
              <a:t>y</a:t>
            </a:r>
            <a:endParaRPr lang="en-US" dirty="0">
              <a:cs typeface="Century Schoolbook"/>
            </a:endParaRP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classify by choosing highest-scoring label: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56C8D43C-5181-4744-A185-274A9C167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818" y="4870259"/>
            <a:ext cx="6903590" cy="6988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45D46CF7-F27B-3F40-BF46-860208812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857" y="2978451"/>
            <a:ext cx="2558796" cy="44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299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Modeling, Inference, Learning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9437CCE-6D64-A548-8B3E-D23ECB07C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146" y="2187112"/>
            <a:ext cx="51435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8631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Modeling, Inference,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193841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88CD2"/>
                </a:solidFill>
              </a:rPr>
              <a:t>Modeling</a:t>
            </a:r>
            <a:r>
              <a:rPr lang="en-US" dirty="0"/>
              <a:t>: How do we assign a score to an (</a:t>
            </a:r>
            <a:r>
              <a:rPr lang="en-US" b="1" i="1" dirty="0" err="1"/>
              <a:t>x</a:t>
            </a:r>
            <a:r>
              <a:rPr lang="en-US" dirty="0" err="1"/>
              <a:t>,</a:t>
            </a:r>
            <a:r>
              <a:rPr lang="en-US" i="1" dirty="0" err="1"/>
              <a:t>y</a:t>
            </a:r>
            <a:r>
              <a:rPr lang="en-US" dirty="0"/>
              <a:t>) pair using parameters </a:t>
            </a:r>
            <a:r>
              <a:rPr lang="en-US" b="1" i="1" dirty="0"/>
              <a:t>w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862475A7-106F-114E-8ED7-2ABD12E10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146" y="2187112"/>
            <a:ext cx="51435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1108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Modeling, Inference,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193841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8000"/>
                </a:solidFill>
              </a:rPr>
              <a:t>Inference</a:t>
            </a:r>
            <a:r>
              <a:rPr lang="en-US" dirty="0"/>
              <a:t>: How do we efficiently search over the space of all labels?</a:t>
            </a:r>
          </a:p>
          <a:p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 bwMode="auto">
          <a:xfrm>
            <a:off x="3699925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1045609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625" y="1414131"/>
            <a:ext cx="990600" cy="215900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39F38051-E37E-224A-936C-5876AF132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146" y="2187112"/>
            <a:ext cx="51435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4008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Modeling, Inference,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193841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Learning</a:t>
            </a:r>
            <a:r>
              <a:rPr lang="en-US" dirty="0"/>
              <a:t>: How do we choose the weights </a:t>
            </a:r>
            <a:r>
              <a:rPr lang="en-US" b="1" i="1" dirty="0"/>
              <a:t>w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 bwMode="auto">
          <a:xfrm>
            <a:off x="3699925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1045609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625" y="1414131"/>
            <a:ext cx="990600" cy="215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="" xmlns:a16="http://schemas.microsoft.com/office/drawing/2014/main" id="{3A7C2899-69A8-4241-AC9E-0C5A9ACB9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146" y="2187112"/>
            <a:ext cx="5143500" cy="520700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98270859-B3C3-664D-9748-3C7C4A1CFACE}"/>
              </a:ext>
            </a:extLst>
          </p:cNvPr>
          <p:cNvCxnSpPr/>
          <p:nvPr/>
        </p:nvCxnSpPr>
        <p:spPr bwMode="auto">
          <a:xfrm flipV="1">
            <a:off x="5907224" y="2527564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4532883D-CC44-794C-BC83-08DFFAAB3019}"/>
              </a:ext>
            </a:extLst>
          </p:cNvPr>
          <p:cNvSpPr txBox="1"/>
          <p:nvPr/>
        </p:nvSpPr>
        <p:spPr>
          <a:xfrm>
            <a:off x="5366668" y="3056704"/>
            <a:ext cx="256031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lang="en-US" sz="2400" b="1" i="0" dirty="0">
                <a:solidFill>
                  <a:srgbClr val="FF0000"/>
                </a:solidFill>
                <a:latin typeface="Calibri"/>
                <a:cs typeface="Calibri"/>
              </a:rPr>
              <a:t>earning</a:t>
            </a:r>
            <a:r>
              <a:rPr lang="en-US" sz="2400" i="0" dirty="0">
                <a:solidFill>
                  <a:srgbClr val="FF0000"/>
                </a:solidFill>
                <a:latin typeface="Calibri"/>
                <a:cs typeface="Calibri"/>
              </a:rPr>
              <a:t>: choose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endParaRPr lang="en-US" sz="2400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11140D70-99E4-C945-833A-2E618C2FFC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280" y="3253501"/>
            <a:ext cx="228600" cy="1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2252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dirty="0"/>
              <a:t>datasets</a:t>
            </a:r>
          </a:p>
          <a:p>
            <a:r>
              <a:rPr lang="en-US" dirty="0"/>
              <a:t>classification</a:t>
            </a:r>
          </a:p>
          <a:p>
            <a:pPr lvl="1"/>
            <a:r>
              <a:rPr lang="en-US" dirty="0">
                <a:solidFill>
                  <a:srgbClr val="288CD2"/>
                </a:solidFill>
              </a:rPr>
              <a:t>modeling</a:t>
            </a:r>
          </a:p>
          <a:p>
            <a:pPr lvl="1"/>
            <a:r>
              <a:rPr lang="en-US" dirty="0"/>
              <a:t>inference</a:t>
            </a:r>
          </a:p>
          <a:p>
            <a:pPr lvl="1"/>
            <a:r>
              <a:rPr lang="en-US" dirty="0"/>
              <a:t>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0721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parameters are arranged in a vector</a:t>
            </a:r>
          </a:p>
          <a:p>
            <a:r>
              <a:rPr lang="en-US" dirty="0"/>
              <a:t>score function is linear in      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i="1" dirty="0"/>
              <a:t>   </a:t>
            </a:r>
            <a:r>
              <a:rPr lang="en-US" dirty="0"/>
              <a:t>: vector of feature functions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CE860707-DDDD-1442-86DA-7113C2F60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300" y="2460204"/>
            <a:ext cx="5763320" cy="676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4CD838FB-0AC4-D148-BC2C-D3ACB82C6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672" y="1327404"/>
            <a:ext cx="341376" cy="1991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754DB0B6-41DC-8E4B-86AE-2BA0FA6B25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" y="3552444"/>
            <a:ext cx="175260" cy="3213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71055FF3-1DC1-DF40-922D-BB61B42DB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408" y="1916664"/>
            <a:ext cx="341376" cy="19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7450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4239"/>
            <a:ext cx="8229600" cy="5801925"/>
          </a:xfrm>
        </p:spPr>
        <p:txBody>
          <a:bodyPr>
            <a:normAutofit fontScale="92500"/>
          </a:bodyPr>
          <a:lstStyle/>
          <a:p>
            <a:r>
              <a:rPr lang="en-US" dirty="0"/>
              <a:t>a</a:t>
            </a:r>
            <a:r>
              <a:rPr lang="en-US" dirty="0" smtClean="0"/>
              <a:t>ll features look at the label </a:t>
            </a:r>
            <a:r>
              <a:rPr lang="en-US" i="1" dirty="0" smtClean="0"/>
              <a:t>y</a:t>
            </a:r>
            <a:r>
              <a:rPr lang="en-US" dirty="0" smtClean="0"/>
              <a:t>!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this may be different from what you’re used to</a:t>
            </a:r>
          </a:p>
          <a:p>
            <a:pPr lvl="1"/>
            <a:r>
              <a:rPr lang="en-US" dirty="0" smtClean="0"/>
              <a:t>when using dense feature vectors in machine learning, the machine learning algorithm may create weights for every output label for every feature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e.g., you specify a feature like:</a:t>
            </a:r>
          </a:p>
          <a:p>
            <a:pPr lvl="1"/>
            <a:endParaRPr lang="en-US" dirty="0" smtClean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and then the ML code creates weights for all labels for this feature: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013567"/>
            <a:ext cx="61722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4845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4239"/>
            <a:ext cx="8229600" cy="5801925"/>
          </a:xfrm>
        </p:spPr>
        <p:txBody>
          <a:bodyPr>
            <a:normAutofit fontScale="92500"/>
          </a:bodyPr>
          <a:lstStyle/>
          <a:p>
            <a:r>
              <a:rPr lang="en-US" dirty="0"/>
              <a:t>a</a:t>
            </a:r>
            <a:r>
              <a:rPr lang="en-US" dirty="0" smtClean="0"/>
              <a:t>ll features look at the label </a:t>
            </a:r>
            <a:r>
              <a:rPr lang="en-US" i="1" dirty="0" smtClean="0"/>
              <a:t>y</a:t>
            </a:r>
            <a:r>
              <a:rPr lang="en-US" dirty="0" smtClean="0"/>
              <a:t>!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this may be different from what you’re used to</a:t>
            </a:r>
          </a:p>
          <a:p>
            <a:pPr lvl="1"/>
            <a:r>
              <a:rPr lang="en-US" dirty="0" smtClean="0"/>
              <a:t>when using dense feature vectors in machine learning, the machine learning algorithm may create weights for every output label for every feature</a:t>
            </a:r>
          </a:p>
          <a:p>
            <a:pPr lvl="1"/>
            <a:r>
              <a:rPr lang="en-US" dirty="0" smtClean="0"/>
              <a:t>e.g., you specify a feature like: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and then the ML code creates weights for all labels for this feature: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680" y="4385559"/>
            <a:ext cx="3771900" cy="330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013567"/>
            <a:ext cx="6172200" cy="787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5790" y="5338764"/>
            <a:ext cx="2286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881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Example: Part-of-Speech Tagging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there are 45 part-of-speech (POS) tags in the Penn Treebank</a:t>
            </a:r>
          </a:p>
          <a:p>
            <a:r>
              <a:rPr lang="en-US" dirty="0" smtClean="0"/>
              <a:t>we don’t want to create features for all 45*|V| combinations of tags and words</a:t>
            </a:r>
          </a:p>
          <a:p>
            <a:pPr lvl="1"/>
            <a:r>
              <a:rPr lang="en-US" dirty="0" smtClean="0"/>
              <a:t>too many features to store in memory and too many feature weights to learn</a:t>
            </a:r>
          </a:p>
          <a:p>
            <a:r>
              <a:rPr lang="en-US" dirty="0" smtClean="0"/>
              <a:t>most words appear with &lt;= 3 unique POS tags in the training set</a:t>
            </a:r>
          </a:p>
          <a:p>
            <a:r>
              <a:rPr lang="en-US" dirty="0" smtClean="0"/>
              <a:t>so we use feature count cut-offs and only create features for combinations that appear enough times in the training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4014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dirty="0"/>
              <a:t>datasets</a:t>
            </a:r>
          </a:p>
          <a:p>
            <a:r>
              <a:rPr lang="en-US" dirty="0"/>
              <a:t>classification</a:t>
            </a:r>
          </a:p>
          <a:p>
            <a:pPr lvl="1"/>
            <a:r>
              <a:rPr lang="en-US" dirty="0"/>
              <a:t>modeling</a:t>
            </a:r>
          </a:p>
          <a:p>
            <a:pPr lvl="1"/>
            <a:r>
              <a:rPr lang="en-US" dirty="0"/>
              <a:t>inference</a:t>
            </a:r>
          </a:p>
          <a:p>
            <a:pPr lvl="1"/>
            <a:r>
              <a:rPr lang="en-US" dirty="0">
                <a:solidFill>
                  <a:srgbClr val="288CD2"/>
                </a:solidFill>
              </a:rPr>
              <a:t>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919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/>
              <a:t>Modeling, Inference,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193841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Learning</a:t>
            </a:r>
            <a:r>
              <a:rPr lang="en-US" dirty="0"/>
              <a:t>: How should we choose values for the weights?</a:t>
            </a:r>
          </a:p>
          <a:p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 bwMode="auto">
          <a:xfrm>
            <a:off x="3699925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1045609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625" y="1414131"/>
            <a:ext cx="990600" cy="215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="" xmlns:a16="http://schemas.microsoft.com/office/drawing/2014/main" id="{3A7C2899-69A8-4241-AC9E-0C5A9ACB9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146" y="2187112"/>
            <a:ext cx="5143500" cy="520700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98270859-B3C3-664D-9748-3C7C4A1CFACE}"/>
              </a:ext>
            </a:extLst>
          </p:cNvPr>
          <p:cNvCxnSpPr/>
          <p:nvPr/>
        </p:nvCxnSpPr>
        <p:spPr bwMode="auto">
          <a:xfrm flipV="1">
            <a:off x="5907224" y="2527564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4532883D-CC44-794C-BC83-08DFFAAB3019}"/>
              </a:ext>
            </a:extLst>
          </p:cNvPr>
          <p:cNvSpPr txBox="1"/>
          <p:nvPr/>
        </p:nvSpPr>
        <p:spPr>
          <a:xfrm>
            <a:off x="5366668" y="3056704"/>
            <a:ext cx="256031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lang="en-US" sz="2400" b="1" i="0" dirty="0">
                <a:solidFill>
                  <a:srgbClr val="FF0000"/>
                </a:solidFill>
                <a:latin typeface="Calibri"/>
                <a:cs typeface="Calibri"/>
              </a:rPr>
              <a:t>earning</a:t>
            </a:r>
            <a:r>
              <a:rPr lang="en-US" sz="2400" i="0" dirty="0">
                <a:solidFill>
                  <a:srgbClr val="FF0000"/>
                </a:solidFill>
                <a:latin typeface="Calibri"/>
                <a:cs typeface="Calibri"/>
              </a:rPr>
              <a:t>: choose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endParaRPr lang="en-US" sz="2400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11140D70-99E4-C945-833A-2E618C2FFC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280" y="3253501"/>
            <a:ext cx="228600" cy="1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2508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dirty="0" smtClean="0"/>
              <a:t>modeling</a:t>
            </a:r>
            <a:endParaRPr lang="en-US" dirty="0"/>
          </a:p>
          <a:p>
            <a:r>
              <a:rPr lang="en-US" dirty="0"/>
              <a:t>inference</a:t>
            </a:r>
          </a:p>
          <a:p>
            <a:r>
              <a:rPr lang="en-US" dirty="0" smtClean="0">
                <a:solidFill>
                  <a:srgbClr val="288CD2"/>
                </a:solidFill>
              </a:rPr>
              <a:t>learning</a:t>
            </a:r>
          </a:p>
          <a:p>
            <a:pPr lvl="1"/>
            <a:r>
              <a:rPr lang="en-US" dirty="0">
                <a:solidFill>
                  <a:srgbClr val="288CD2"/>
                </a:solidFill>
              </a:rPr>
              <a:t>empirical risk minimization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surrogate loss functions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gradient-based optimization</a:t>
            </a:r>
          </a:p>
          <a:p>
            <a:pPr lvl="2"/>
            <a:endParaRPr lang="en-US" dirty="0">
              <a:solidFill>
                <a:srgbClr val="288CD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2838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Learning</a:t>
            </a:r>
            <a:r>
              <a:rPr lang="en-US" dirty="0" smtClean="0"/>
              <a:t>: Empirical Risk Minimization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a machine learning course, you learn about many different learning frameworks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24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Learning</a:t>
            </a:r>
            <a:r>
              <a:rPr lang="en-US" dirty="0" smtClean="0"/>
              <a:t>: Empirical Risk Minimization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a machine learning course, you learn about many different learning frameworks</a:t>
            </a:r>
          </a:p>
          <a:p>
            <a:r>
              <a:rPr lang="en-US" dirty="0" smtClean="0"/>
              <a:t>Since we have limited time, we will be greedy and focus on a single framework that maximizes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 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(</a:t>
            </a:r>
            <a:r>
              <a:rPr lang="en-US" sz="2800" dirty="0" smtClean="0"/>
              <a:t>for some positive constants               )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We will start it today but continue to add to it later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4095750"/>
            <a:ext cx="7226300" cy="342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650" y="5054600"/>
            <a:ext cx="9525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7718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Cost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940"/>
            <a:ext cx="8229600" cy="5052424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288CD2"/>
                </a:solidFill>
              </a:rPr>
              <a:t>cost function</a:t>
            </a:r>
            <a:r>
              <a:rPr lang="en-US" sz="2800" dirty="0" smtClean="0"/>
              <a:t>: scores outputs against a gold standard</a:t>
            </a:r>
          </a:p>
          <a:p>
            <a:endParaRPr lang="en-US" sz="2800" dirty="0" smtClean="0"/>
          </a:p>
          <a:p>
            <a:r>
              <a:rPr lang="en-US" sz="2800" dirty="0" smtClean="0"/>
              <a:t>should be as close as possible to the actual evaluation metric for your task</a:t>
            </a:r>
          </a:p>
          <a:p>
            <a:r>
              <a:rPr lang="en-US" sz="2800" dirty="0" smtClean="0"/>
              <a:t>usual conventions:</a:t>
            </a:r>
            <a:endParaRPr lang="en-US" sz="2800" dirty="0"/>
          </a:p>
          <a:p>
            <a:r>
              <a:rPr lang="en-US" sz="2800" dirty="0" smtClean="0">
                <a:solidFill>
                  <a:schemeClr val="bg1"/>
                </a:solidFill>
              </a:rPr>
              <a:t>for classification, what cost should we use?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800" dirty="0" smtClean="0">
              <a:solidFill>
                <a:schemeClr val="bg1"/>
              </a:solidFill>
            </a:endParaRPr>
          </a:p>
          <a:p>
            <a:r>
              <a:rPr lang="en-US" sz="2800" dirty="0" smtClean="0">
                <a:solidFill>
                  <a:schemeClr val="bg1"/>
                </a:solidFill>
              </a:rPr>
              <a:t>how about for other NLP tasks?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300" y="1587500"/>
            <a:ext cx="2552700" cy="317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300" y="3022600"/>
            <a:ext cx="1752600" cy="317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700" y="3416300"/>
            <a:ext cx="29845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7755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Cost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940"/>
            <a:ext cx="8229600" cy="5052424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288CD2"/>
                </a:solidFill>
              </a:rPr>
              <a:t>cost function</a:t>
            </a:r>
            <a:r>
              <a:rPr lang="en-US" sz="2800" dirty="0" smtClean="0"/>
              <a:t>: scores outputs against a gold standard</a:t>
            </a:r>
          </a:p>
          <a:p>
            <a:endParaRPr lang="en-US" sz="2800" dirty="0" smtClean="0"/>
          </a:p>
          <a:p>
            <a:r>
              <a:rPr lang="en-US" sz="2800" dirty="0" smtClean="0"/>
              <a:t>should be as close as possible to the actual evaluation metric for your task</a:t>
            </a:r>
          </a:p>
          <a:p>
            <a:endParaRPr lang="en-US" sz="2800" dirty="0" smtClean="0"/>
          </a:p>
          <a:p>
            <a:r>
              <a:rPr lang="en-US" sz="2800" dirty="0" smtClean="0"/>
              <a:t>for classification, what cost should we use?</a:t>
            </a:r>
          </a:p>
          <a:p>
            <a:endParaRPr lang="en-US" sz="2800" dirty="0"/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 smtClean="0">
                <a:solidFill>
                  <a:srgbClr val="FFFFFF"/>
                </a:solidFill>
              </a:rPr>
              <a:t>how about for other NLP tasks?</a:t>
            </a:r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300" y="1587500"/>
            <a:ext cx="25527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345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Cost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940"/>
            <a:ext cx="8229600" cy="5052424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288CD2"/>
                </a:solidFill>
              </a:rPr>
              <a:t>cost function</a:t>
            </a:r>
            <a:r>
              <a:rPr lang="en-US" sz="2800" dirty="0" smtClean="0"/>
              <a:t>: scores outputs against a gold standard</a:t>
            </a:r>
          </a:p>
          <a:p>
            <a:endParaRPr lang="en-US" sz="2800" dirty="0" smtClean="0"/>
          </a:p>
          <a:p>
            <a:r>
              <a:rPr lang="en-US" sz="2800" dirty="0" smtClean="0"/>
              <a:t>should be as close as possible to the actual evaluation metric for your task</a:t>
            </a:r>
          </a:p>
          <a:p>
            <a:endParaRPr lang="en-US" sz="2800" dirty="0" smtClean="0"/>
          </a:p>
          <a:p>
            <a:r>
              <a:rPr lang="en-US" sz="2800" dirty="0" smtClean="0"/>
              <a:t>for classification, what cost should we use?</a:t>
            </a:r>
          </a:p>
          <a:p>
            <a:endParaRPr lang="en-US" sz="2800" dirty="0"/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 smtClean="0"/>
              <a:t>how about for other NLP tasks?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700" y="4279900"/>
            <a:ext cx="2768600" cy="330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300" y="1587500"/>
            <a:ext cx="25527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7597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Risk Minimization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77800" y="1165531"/>
            <a:ext cx="8623300" cy="3342969"/>
          </a:xfrm>
        </p:spPr>
        <p:txBody>
          <a:bodyPr>
            <a:normAutofit/>
          </a:bodyPr>
          <a:lstStyle/>
          <a:p>
            <a:r>
              <a:rPr lang="en-US" sz="2800" dirty="0"/>
              <a:t>g</a:t>
            </a:r>
            <a:r>
              <a:rPr lang="en-US" sz="2800" dirty="0" smtClean="0"/>
              <a:t>iven training data:                               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where each</a:t>
            </a:r>
            <a:r>
              <a:rPr lang="en-US" sz="2800" dirty="0"/>
              <a:t> </a:t>
            </a:r>
            <a:r>
              <a:rPr lang="en-US" sz="2800" dirty="0" smtClean="0"/>
              <a:t>                is a label</a:t>
            </a:r>
          </a:p>
          <a:p>
            <a:r>
              <a:rPr lang="en-US" sz="2800" dirty="0" smtClean="0"/>
              <a:t>assume data is drawn </a:t>
            </a:r>
            <a:r>
              <a:rPr lang="en-US" sz="2800" dirty="0" err="1" smtClean="0"/>
              <a:t>iid</a:t>
            </a:r>
            <a:r>
              <a:rPr lang="en-US" sz="2800" dirty="0" smtClean="0"/>
              <a:t> (independently and identically distributed) from (unknown) joint distribution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965" y="1233588"/>
            <a:ext cx="2641600" cy="406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799699"/>
            <a:ext cx="1028700" cy="355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0" y="2791600"/>
            <a:ext cx="9398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647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Risk Minimization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25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77800" y="1165531"/>
            <a:ext cx="8623300" cy="3342969"/>
          </a:xfrm>
        </p:spPr>
        <p:txBody>
          <a:bodyPr>
            <a:normAutofit/>
          </a:bodyPr>
          <a:lstStyle/>
          <a:p>
            <a:r>
              <a:rPr lang="en-US" sz="2800" dirty="0"/>
              <a:t>g</a:t>
            </a:r>
            <a:r>
              <a:rPr lang="en-US" sz="2800" dirty="0" smtClean="0"/>
              <a:t>iven training data:                               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where each</a:t>
            </a:r>
            <a:r>
              <a:rPr lang="en-US" sz="2800" dirty="0"/>
              <a:t> </a:t>
            </a:r>
            <a:r>
              <a:rPr lang="en-US" sz="2800" dirty="0" smtClean="0"/>
              <a:t>                is a label</a:t>
            </a:r>
          </a:p>
          <a:p>
            <a:r>
              <a:rPr lang="en-US" sz="2800" dirty="0" smtClean="0"/>
              <a:t>assume data is drawn </a:t>
            </a:r>
            <a:r>
              <a:rPr lang="en-US" sz="2800" dirty="0" err="1" smtClean="0"/>
              <a:t>iid</a:t>
            </a:r>
            <a:r>
              <a:rPr lang="en-US" sz="2800" dirty="0" smtClean="0"/>
              <a:t> (independently and identically distributed) from (unknown) joint distribution </a:t>
            </a:r>
          </a:p>
          <a:p>
            <a:r>
              <a:rPr lang="en-US" sz="2800" dirty="0" smtClean="0"/>
              <a:t>we want to solve the following: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965" y="1233588"/>
            <a:ext cx="2641600" cy="406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799699"/>
            <a:ext cx="1028700" cy="355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0" y="2791600"/>
            <a:ext cx="939800" cy="317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4025900"/>
            <a:ext cx="57785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0906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Risk Minimization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26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77800" y="1165531"/>
            <a:ext cx="8623300" cy="3342969"/>
          </a:xfrm>
        </p:spPr>
        <p:txBody>
          <a:bodyPr>
            <a:normAutofit/>
          </a:bodyPr>
          <a:lstStyle/>
          <a:p>
            <a:r>
              <a:rPr lang="en-US" sz="2800" dirty="0"/>
              <a:t>g</a:t>
            </a:r>
            <a:r>
              <a:rPr lang="en-US" sz="2800" dirty="0" smtClean="0"/>
              <a:t>iven training data:                               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where each</a:t>
            </a:r>
            <a:r>
              <a:rPr lang="en-US" sz="2800" dirty="0"/>
              <a:t> </a:t>
            </a:r>
            <a:r>
              <a:rPr lang="en-US" sz="2800" dirty="0" smtClean="0"/>
              <a:t>                is a label</a:t>
            </a:r>
          </a:p>
          <a:p>
            <a:r>
              <a:rPr lang="en-US" sz="2800" dirty="0" smtClean="0"/>
              <a:t>assume data is drawn </a:t>
            </a:r>
            <a:r>
              <a:rPr lang="en-US" sz="2800" dirty="0" err="1" smtClean="0"/>
              <a:t>iid</a:t>
            </a:r>
            <a:r>
              <a:rPr lang="en-US" sz="2800" dirty="0" smtClean="0"/>
              <a:t> (independently and identically distributed) from (unknown) joint distribution </a:t>
            </a:r>
          </a:p>
          <a:p>
            <a:r>
              <a:rPr lang="en-US" sz="2800" dirty="0" smtClean="0"/>
              <a:t>we want to solve the following: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965" y="1233588"/>
            <a:ext cx="2641600" cy="406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799699"/>
            <a:ext cx="1028700" cy="355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0" y="2791600"/>
            <a:ext cx="939800" cy="317500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 bwMode="auto">
          <a:xfrm flipV="1">
            <a:off x="3690738" y="4526685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TextBox 9"/>
          <p:cNvSpPr txBox="1"/>
          <p:nvPr/>
        </p:nvSpPr>
        <p:spPr>
          <a:xfrm>
            <a:off x="1446277" y="5101112"/>
            <a:ext cx="4560823" cy="584776"/>
          </a:xfrm>
          <a:prstGeom prst="rect">
            <a:avLst/>
          </a:prstGeom>
          <a:solidFill>
            <a:srgbClr val="BC0000"/>
          </a:solidFill>
          <a:ln w="3175" cmpd="sng">
            <a:solidFill>
              <a:srgbClr val="FFFFFF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problem: </a:t>
            </a:r>
            <a:r>
              <a:rPr lang="en-US" sz="3200" i="1" dirty="0" smtClean="0">
                <a:solidFill>
                  <a:schemeClr val="bg1"/>
                </a:solidFill>
                <a:cs typeface="Calibri"/>
              </a:rPr>
              <a:t>P</a:t>
            </a:r>
            <a:r>
              <a:rPr lang="en-US" sz="3200" dirty="0" smtClean="0">
                <a:solidFill>
                  <a:schemeClr val="bg1"/>
                </a:solidFill>
                <a:cs typeface="Calibri"/>
              </a:rPr>
              <a:t> is unknown</a:t>
            </a:r>
            <a:endParaRPr lang="en-US" sz="3200" dirty="0" smtClean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4025900"/>
            <a:ext cx="57785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6926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solidFill>
                  <a:srgbClr val="288CD2"/>
                </a:solidFill>
              </a:rPr>
              <a:t>Empirical</a:t>
            </a:r>
            <a:r>
              <a:rPr lang="en-US" sz="3600" dirty="0" smtClean="0"/>
              <a:t> Risk Minimization</a:t>
            </a:r>
            <a:br>
              <a:rPr lang="en-US" sz="3600" dirty="0" smtClean="0"/>
            </a:br>
            <a:r>
              <a:rPr lang="en-US" sz="2700" dirty="0" smtClean="0"/>
              <a:t>(</a:t>
            </a:r>
            <a:r>
              <a:rPr lang="en-US" sz="2700" dirty="0" err="1" smtClean="0"/>
              <a:t>Vapnik</a:t>
            </a:r>
            <a:r>
              <a:rPr lang="en-US" sz="2700" dirty="0" smtClean="0"/>
              <a:t> et al.)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27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77800" y="1165531"/>
            <a:ext cx="8623300" cy="334296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replace expectation with sum over examples:</a:t>
            </a:r>
          </a:p>
        </p:txBody>
      </p:sp>
      <p:cxnSp>
        <p:nvCxnSpPr>
          <p:cNvPr id="9" name="Straight Arrow Connector 8"/>
          <p:cNvCxnSpPr/>
          <p:nvPr/>
        </p:nvCxnSpPr>
        <p:spPr bwMode="auto">
          <a:xfrm>
            <a:off x="3656851" y="2501900"/>
            <a:ext cx="0" cy="95798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019300"/>
            <a:ext cx="5778500" cy="482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128" y="3626987"/>
            <a:ext cx="56769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1304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solidFill>
                  <a:srgbClr val="288CD2"/>
                </a:solidFill>
              </a:rPr>
              <a:t>Empirical</a:t>
            </a:r>
            <a:r>
              <a:rPr lang="en-US" sz="3600" dirty="0" smtClean="0"/>
              <a:t> Risk Minimization</a:t>
            </a:r>
            <a:br>
              <a:rPr lang="en-US" sz="3600" dirty="0" smtClean="0"/>
            </a:br>
            <a:r>
              <a:rPr lang="en-US" sz="2700" dirty="0" smtClean="0"/>
              <a:t>(</a:t>
            </a:r>
            <a:r>
              <a:rPr lang="en-US" sz="2700" dirty="0" err="1" smtClean="0"/>
              <a:t>Vapnik</a:t>
            </a:r>
            <a:r>
              <a:rPr lang="en-US" sz="2700" dirty="0" smtClean="0"/>
              <a:t> et al.)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28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77800" y="1165531"/>
            <a:ext cx="8623300" cy="334296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replace expectation with sum over examples:</a:t>
            </a:r>
          </a:p>
        </p:txBody>
      </p:sp>
      <p:cxnSp>
        <p:nvCxnSpPr>
          <p:cNvPr id="9" name="Straight Arrow Connector 8"/>
          <p:cNvCxnSpPr/>
          <p:nvPr/>
        </p:nvCxnSpPr>
        <p:spPr bwMode="auto">
          <a:xfrm>
            <a:off x="3656851" y="2501900"/>
            <a:ext cx="0" cy="95798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019300"/>
            <a:ext cx="5778500" cy="482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128" y="3626987"/>
            <a:ext cx="5676900" cy="939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84300" y="4875867"/>
            <a:ext cx="6451600" cy="1077218"/>
          </a:xfrm>
          <a:prstGeom prst="rect">
            <a:avLst/>
          </a:prstGeom>
          <a:solidFill>
            <a:srgbClr val="BC0000"/>
          </a:solidFill>
          <a:ln w="3175" cmpd="sng">
            <a:solidFill>
              <a:srgbClr val="FFFFFF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problem: NP-hard even for binary classification with linear models</a:t>
            </a:r>
            <a:endParaRPr lang="en-US" sz="3200" dirty="0" smtClean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62400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29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384300" y="224228"/>
            <a:ext cx="6451600" cy="1569660"/>
          </a:xfrm>
          <a:prstGeom prst="rect">
            <a:avLst/>
          </a:prstGeom>
          <a:solidFill>
            <a:srgbClr val="288CD2"/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solution: replace “cost loss” (also called “0-1” loss) with a </a:t>
            </a:r>
            <a:r>
              <a:rPr lang="en-US" sz="3200" b="1" dirty="0" smtClean="0">
                <a:solidFill>
                  <a:schemeClr val="bg1"/>
                </a:solidFill>
                <a:cs typeface="Calibri"/>
              </a:rPr>
              <a:t>surrogate</a:t>
            </a:r>
            <a:r>
              <a:rPr lang="en-US" sz="3200" dirty="0" smtClean="0">
                <a:solidFill>
                  <a:schemeClr val="bg1"/>
                </a:solidFill>
                <a:cs typeface="Calibri"/>
              </a:rPr>
              <a:t> function that is easier to optimize</a:t>
            </a:r>
            <a:endParaRPr lang="en-US" sz="3200" dirty="0" smtClean="0">
              <a:solidFill>
                <a:schemeClr val="bg1"/>
              </a:solidFill>
              <a:latin typeface="Calibri"/>
              <a:cs typeface="Calibri"/>
            </a:endParaRPr>
          </a:p>
        </p:txBody>
      </p:sp>
      <p:cxnSp>
        <p:nvCxnSpPr>
          <p:cNvPr id="14" name="Straight Arrow Connector 13"/>
          <p:cNvCxnSpPr/>
          <p:nvPr/>
        </p:nvCxnSpPr>
        <p:spPr bwMode="auto">
          <a:xfrm>
            <a:off x="2971051" y="2980892"/>
            <a:ext cx="0" cy="95798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2971051" y="3105817"/>
            <a:ext cx="5054600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generalize to permit any loss function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2000562"/>
            <a:ext cx="5676900" cy="9398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" y="3992917"/>
            <a:ext cx="44450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7582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30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384300" y="224228"/>
            <a:ext cx="6451600" cy="1569660"/>
          </a:xfrm>
          <a:prstGeom prst="rect">
            <a:avLst/>
          </a:prstGeom>
          <a:solidFill>
            <a:srgbClr val="288CD2"/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solution: replace “cost loss” (also called “0-1” loss) with a </a:t>
            </a:r>
            <a:r>
              <a:rPr lang="en-US" sz="3200" b="1" dirty="0" smtClean="0">
                <a:solidFill>
                  <a:schemeClr val="bg1"/>
                </a:solidFill>
                <a:cs typeface="Calibri"/>
              </a:rPr>
              <a:t>surrogate</a:t>
            </a:r>
            <a:r>
              <a:rPr lang="en-US" sz="3200" dirty="0" smtClean="0">
                <a:solidFill>
                  <a:schemeClr val="bg1"/>
                </a:solidFill>
                <a:cs typeface="Calibri"/>
              </a:rPr>
              <a:t> function that is easier to optimize</a:t>
            </a:r>
            <a:endParaRPr lang="en-US" sz="3200" dirty="0" smtClean="0">
              <a:solidFill>
                <a:schemeClr val="bg1"/>
              </a:solidFill>
              <a:latin typeface="Calibri"/>
              <a:cs typeface="Calibri"/>
            </a:endParaRPr>
          </a:p>
        </p:txBody>
      </p:sp>
      <p:cxnSp>
        <p:nvCxnSpPr>
          <p:cNvPr id="14" name="Straight Arrow Connector 13"/>
          <p:cNvCxnSpPr/>
          <p:nvPr/>
        </p:nvCxnSpPr>
        <p:spPr bwMode="auto">
          <a:xfrm>
            <a:off x="2971051" y="2980892"/>
            <a:ext cx="0" cy="95798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2971051" y="3105817"/>
            <a:ext cx="5054600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generalize to permit any loss function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2000562"/>
            <a:ext cx="5676900" cy="9398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" y="3992917"/>
            <a:ext cx="4445000" cy="939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9451" y="5341017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  <a:cs typeface="Calibri"/>
              </a:rPr>
              <a:t>cost loss / 0-1 loss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169" y="5485182"/>
            <a:ext cx="52578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6935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dirty="0" smtClean="0"/>
              <a:t>modeling</a:t>
            </a:r>
            <a:endParaRPr lang="en-US" dirty="0"/>
          </a:p>
          <a:p>
            <a:r>
              <a:rPr lang="en-US" dirty="0"/>
              <a:t>inference</a:t>
            </a:r>
          </a:p>
          <a:p>
            <a:r>
              <a:rPr lang="en-US" dirty="0" smtClean="0">
                <a:solidFill>
                  <a:srgbClr val="288CD2"/>
                </a:solidFill>
              </a:rPr>
              <a:t>learning</a:t>
            </a:r>
          </a:p>
          <a:p>
            <a:pPr lvl="1"/>
            <a:r>
              <a:rPr lang="en-US" dirty="0"/>
              <a:t>empirical risk minimization</a:t>
            </a:r>
          </a:p>
          <a:p>
            <a:pPr lvl="1"/>
            <a:r>
              <a:rPr lang="en-US" dirty="0">
                <a:solidFill>
                  <a:srgbClr val="288CD2"/>
                </a:solidFill>
              </a:rPr>
              <a:t>surrogate loss functions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gradient-based optimization</a:t>
            </a:r>
          </a:p>
          <a:p>
            <a:pPr lvl="2"/>
            <a:endParaRPr lang="en-US" dirty="0">
              <a:solidFill>
                <a:srgbClr val="288CD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370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288CD2"/>
                </a:solidFill>
              </a:rPr>
              <a:t>Surrogate Loss Functions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32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89801" y="1226217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  <a:cs typeface="Calibri"/>
              </a:rPr>
              <a:t>cost loss / 0-1 loss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32801" y="2620697"/>
            <a:ext cx="5645899" cy="52322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cs typeface="Calibri"/>
              </a:rPr>
              <a:t>why is this so difficult to optimize?</a:t>
            </a:r>
            <a:endParaRPr lang="en-US" sz="2800" dirty="0" smtClean="0">
              <a:latin typeface="Calibri"/>
              <a:cs typeface="Calibri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849" y="1370382"/>
            <a:ext cx="52578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8202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288CD2"/>
                </a:solidFill>
              </a:rPr>
              <a:t>Surrogate Loss Functions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33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89801" y="1226217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  <a:cs typeface="Calibri"/>
              </a:rPr>
              <a:t>cost loss / 0-1 loss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32801" y="2620697"/>
            <a:ext cx="5645899" cy="138499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cs typeface="Calibri"/>
              </a:rPr>
              <a:t>why is this so difficult to optimize?</a:t>
            </a:r>
          </a:p>
          <a:p>
            <a:pPr algn="ctr"/>
            <a:r>
              <a:rPr lang="en-US" sz="2800" dirty="0" smtClean="0">
                <a:latin typeface="Calibri"/>
                <a:cs typeface="Calibri"/>
              </a:rPr>
              <a:t>not necessarily continuous, can’t use gradient-based optimization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849" y="1370382"/>
            <a:ext cx="52578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5317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Surrogate Loss Functions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34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89801" y="1226217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cost loss / 0-1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2213570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  <a:cs typeface="Calibri"/>
              </a:rPr>
              <a:t>max-score loss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849" y="1370382"/>
            <a:ext cx="5257800" cy="317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100" y="2959942"/>
            <a:ext cx="49911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057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Surrogate Loss Functions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35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89801" y="1226217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cost loss / 0-1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2213570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  <a:cs typeface="Calibri"/>
              </a:rPr>
              <a:t>max-score loss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02601" y="4043097"/>
            <a:ext cx="6953999" cy="52322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cs typeface="Calibri"/>
              </a:rPr>
              <a:t>this is continuous, but what are its drawbacks?</a:t>
            </a:r>
            <a:endParaRPr lang="en-US" sz="2800" dirty="0" smtClean="0">
              <a:latin typeface="Calibri"/>
              <a:cs typeface="Calibri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849" y="1370382"/>
            <a:ext cx="5257800" cy="317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100" y="2959942"/>
            <a:ext cx="49911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9348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Surrogate Loss Functions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36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89801" y="1226217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cost loss / 0-1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2213570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max-score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36277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  <a:cs typeface="Calibri"/>
              </a:rPr>
              <a:t>perceptron loss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849" y="1370382"/>
            <a:ext cx="5257800" cy="3175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100" y="2959942"/>
            <a:ext cx="4991100" cy="317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0" y="4309839"/>
            <a:ext cx="74295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8468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Surrogate Loss Functions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37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89801" y="1226217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cost loss / 0-1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2213570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max-score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36277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  <a:cs typeface="Calibri"/>
              </a:rPr>
              <a:t>perceptron loss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02601" y="5173397"/>
            <a:ext cx="6953999" cy="954107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cs typeface="Calibri"/>
              </a:rPr>
              <a:t>loss function underlying perceptron algorithm (Rosenblatt, 1957-58)</a:t>
            </a:r>
            <a:endParaRPr lang="en-US" sz="2800" dirty="0" smtClean="0">
              <a:latin typeface="Calibri"/>
              <a:cs typeface="Calibri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849" y="1370382"/>
            <a:ext cx="5257800" cy="3175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100" y="2959942"/>
            <a:ext cx="4991100" cy="3175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0" y="4309839"/>
            <a:ext cx="74295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4307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Surrogate Loss Functions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38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89801" y="1226217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cost loss / 0-1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6700" y="34499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  <a:cs typeface="Calibri"/>
              </a:rPr>
              <a:t>hinge loss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9600" y="20275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perceptron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849" y="1370382"/>
            <a:ext cx="5257800" cy="3175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00" y="2769702"/>
            <a:ext cx="7429500" cy="495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" y="4105568"/>
            <a:ext cx="8394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2174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Surrogate Loss Functions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39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89801" y="1226217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cost loss / 0-1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6700" y="34499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  <a:cs typeface="Calibri"/>
              </a:rPr>
              <a:t>hinge loss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9600" y="20275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perceptron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80249" y="5173397"/>
            <a:ext cx="7480300" cy="52322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cs typeface="Calibri"/>
              </a:rPr>
              <a:t>loss function underlying support vector machines</a:t>
            </a:r>
            <a:endParaRPr lang="en-US" sz="2800" dirty="0" smtClean="0">
              <a:latin typeface="Calibri"/>
              <a:cs typeface="Calibri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849" y="1370382"/>
            <a:ext cx="5257800" cy="3175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00" y="2769702"/>
            <a:ext cx="7429500" cy="4953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" y="4105568"/>
            <a:ext cx="8394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8073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Surrogate Loss Functions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40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89801" y="1226217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cost loss / 0-1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6700" y="34499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  <a:cs typeface="Calibri"/>
              </a:rPr>
              <a:t>hinge loss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9600" y="20275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perceptron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3549" y="4659784"/>
            <a:ext cx="5003800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288CD2"/>
                </a:solidFill>
                <a:cs typeface="Calibri"/>
              </a:rPr>
              <a:t>hinge loss</a:t>
            </a:r>
            <a:r>
              <a:rPr lang="en-US" sz="2400" dirty="0">
                <a:solidFill>
                  <a:srgbClr val="000000"/>
                </a:solidFill>
                <a:cs typeface="Calibri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cs typeface="Calibri"/>
              </a:rPr>
              <a:t>for our classification setting: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62398" y="6023917"/>
            <a:ext cx="3352051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tunable </a:t>
            </a:r>
            <a:r>
              <a:rPr lang="en-US" sz="2400" dirty="0" err="1" smtClean="0">
                <a:solidFill>
                  <a:srgbClr val="000000"/>
                </a:solidFill>
                <a:cs typeface="Calibri"/>
              </a:rPr>
              <a:t>hyperparameter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cxnSp>
        <p:nvCxnSpPr>
          <p:cNvPr id="16" name="Straight Arrow Connector 15"/>
          <p:cNvCxnSpPr/>
          <p:nvPr/>
        </p:nvCxnSpPr>
        <p:spPr bwMode="auto">
          <a:xfrm flipV="1">
            <a:off x="6890935" y="5521260"/>
            <a:ext cx="608023" cy="49169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849" y="1370382"/>
            <a:ext cx="5257800" cy="3175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00" y="2769702"/>
            <a:ext cx="7429500" cy="4953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" y="4105568"/>
            <a:ext cx="8394700" cy="457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00" y="5220911"/>
            <a:ext cx="8394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126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Visualization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47749" y="6061106"/>
            <a:ext cx="28829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five possible outputs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6" name="Left Brace 25"/>
          <p:cNvSpPr/>
          <p:nvPr/>
        </p:nvSpPr>
        <p:spPr>
          <a:xfrm rot="16200000">
            <a:off x="2209800" y="4241800"/>
            <a:ext cx="482600" cy="3124200"/>
          </a:xfrm>
          <a:prstGeom prst="leftBrace">
            <a:avLst>
              <a:gd name="adj1" fmla="val 5307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039490" y="849513"/>
            <a:ext cx="5003800" cy="52322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0000"/>
                </a:solidFill>
                <a:cs typeface="Calibri"/>
              </a:rPr>
              <a:t>for a single input </a:t>
            </a:r>
            <a:r>
              <a:rPr lang="en-US" sz="2800" b="1" i="1" dirty="0" smtClean="0">
                <a:solidFill>
                  <a:srgbClr val="000000"/>
                </a:solidFill>
                <a:cs typeface="Calibri"/>
              </a:rPr>
              <a:t>x</a:t>
            </a:r>
            <a:endParaRPr lang="en-US" sz="2800" b="1" i="1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93440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Visualization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42</a:t>
            </a:fld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solidFill>
              <a:srgbClr val="BC0000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cost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0750" y="4226582"/>
            <a:ext cx="444500" cy="9906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81150" y="4696482"/>
            <a:ext cx="444500" cy="520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35200" y="39243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870200" y="39243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047749" y="6061106"/>
            <a:ext cx="28829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five possible outputs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5" name="Left Brace 24"/>
          <p:cNvSpPr/>
          <p:nvPr/>
        </p:nvSpPr>
        <p:spPr>
          <a:xfrm rot="16200000">
            <a:off x="2209800" y="4241800"/>
            <a:ext cx="482600" cy="3124200"/>
          </a:xfrm>
          <a:prstGeom prst="leftBrace">
            <a:avLst>
              <a:gd name="adj1" fmla="val 5307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039490" y="849513"/>
            <a:ext cx="5003800" cy="52322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0000"/>
                </a:solidFill>
                <a:cs typeface="Calibri"/>
              </a:rPr>
              <a:t>for a single input </a:t>
            </a:r>
            <a:r>
              <a:rPr lang="en-US" sz="2800" b="1" i="1" dirty="0" smtClean="0">
                <a:solidFill>
                  <a:srgbClr val="000000"/>
                </a:solidFill>
                <a:cs typeface="Calibri"/>
              </a:rPr>
              <a:t>x</a:t>
            </a:r>
            <a:endParaRPr lang="en-US" sz="2800" b="1" i="1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00506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Visualization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43</a:t>
            </a:fld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solidFill>
              <a:srgbClr val="BC0000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cost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0750" y="4226582"/>
            <a:ext cx="444500" cy="9906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81150" y="4696482"/>
            <a:ext cx="444500" cy="520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35200" y="39243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870200" y="39243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2039490" y="849513"/>
            <a:ext cx="5003800" cy="52322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0000"/>
                </a:solidFill>
                <a:cs typeface="Calibri"/>
              </a:rPr>
              <a:t>for a single input </a:t>
            </a:r>
            <a:r>
              <a:rPr lang="en-US" sz="2800" b="1" i="1" dirty="0" smtClean="0">
                <a:solidFill>
                  <a:srgbClr val="000000"/>
                </a:solidFill>
                <a:cs typeface="Calibri"/>
              </a:rPr>
              <a:t>x</a:t>
            </a:r>
            <a:endParaRPr lang="en-US" sz="2800" b="1" i="1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15271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Visualization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44</a:t>
            </a:fld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solidFill>
              <a:srgbClr val="BC0000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cost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0750" y="4226582"/>
            <a:ext cx="444500" cy="9906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81150" y="4696482"/>
            <a:ext cx="444500" cy="520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35200" y="39243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870200" y="39243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849" y="3879850"/>
            <a:ext cx="1435100" cy="3175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4400" y="4912382"/>
            <a:ext cx="1435100" cy="317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3506" y="4378982"/>
            <a:ext cx="1435100" cy="317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039490" y="849513"/>
            <a:ext cx="5003800" cy="52322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0000"/>
                </a:solidFill>
                <a:cs typeface="Calibri"/>
              </a:rPr>
              <a:t>for a single input </a:t>
            </a:r>
            <a:r>
              <a:rPr lang="en-US" sz="2800" b="1" i="1" dirty="0" smtClean="0">
                <a:solidFill>
                  <a:srgbClr val="000000"/>
                </a:solidFill>
                <a:cs typeface="Calibri"/>
              </a:rPr>
              <a:t>x</a:t>
            </a:r>
            <a:endParaRPr lang="en-US" sz="2800" b="1" i="1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49495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Visualization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1511300"/>
            <a:ext cx="0" cy="3708400"/>
          </a:xfrm>
          <a:prstGeom prst="straightConnector1">
            <a:avLst/>
          </a:prstGeom>
          <a:ln w="44450" cmpd="sng">
            <a:solidFill>
              <a:schemeClr val="accent4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495932" y="3374366"/>
            <a:ext cx="1639563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 + cost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0750" y="2438400"/>
            <a:ext cx="444500" cy="9906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81150" y="3784600"/>
            <a:ext cx="444500" cy="520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35200" y="17145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870200" y="34290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039490" y="849513"/>
            <a:ext cx="5003800" cy="52322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0000"/>
                </a:solidFill>
                <a:cs typeface="Calibri"/>
              </a:rPr>
              <a:t>for a single input </a:t>
            </a:r>
            <a:r>
              <a:rPr lang="en-US" sz="2800" b="1" i="1" dirty="0" smtClean="0">
                <a:solidFill>
                  <a:srgbClr val="000000"/>
                </a:solidFill>
                <a:cs typeface="Calibri"/>
              </a:rPr>
              <a:t>x</a:t>
            </a:r>
            <a:endParaRPr lang="en-US" sz="2800" b="1" i="1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99837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100" y="352517"/>
            <a:ext cx="49911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2315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pic>
        <p:nvPicPr>
          <p:cNvPr id="13" name="Picture 12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3860800" y="812800"/>
            <a:ext cx="1841500" cy="2946400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0100" y="352517"/>
            <a:ext cx="49911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9471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pic>
        <p:nvPicPr>
          <p:cNvPr id="13" name="Picture 12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3860800" y="812800"/>
            <a:ext cx="1841500" cy="2946400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75200" y="2890391"/>
            <a:ext cx="3911600" cy="58477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cs typeface="Calibri"/>
              </a:rPr>
              <a:t>effect of learning?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0100" y="352517"/>
            <a:ext cx="49911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0436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100" y="352517"/>
            <a:ext cx="4991100" cy="3175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580140"/>
            <a:ext cx="444500" cy="163955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495800"/>
            <a:ext cx="444500" cy="723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759200"/>
            <a:ext cx="444500" cy="1460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3225800"/>
            <a:ext cx="444500" cy="19939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pic>
        <p:nvPicPr>
          <p:cNvPr id="13" name="Picture 12" descr="smiley-face-clip-art-emotions-RidMBKdi9.jpe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75200" y="2890391"/>
            <a:ext cx="3911600" cy="156966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cs typeface="Calibri"/>
              </a:rPr>
              <a:t>effect of learning:</a:t>
            </a:r>
          </a:p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score of gold standard will go to infinity</a:t>
            </a:r>
            <a:endParaRPr lang="en-US" sz="3200" dirty="0" smtClean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530600" y="0"/>
            <a:ext cx="444500" cy="5219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2608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50</a:t>
            </a:fld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164351" y="1860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perceptron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04" y="770226"/>
            <a:ext cx="74295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4247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pic>
        <p:nvPicPr>
          <p:cNvPr id="13" name="Picture 12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3784600" y="1168400"/>
            <a:ext cx="254000" cy="2590800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4351" y="1860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perceptron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3" name="Left Brace 22"/>
          <p:cNvSpPr/>
          <p:nvPr/>
        </p:nvSpPr>
        <p:spPr>
          <a:xfrm rot="16200000">
            <a:off x="6593277" y="36123"/>
            <a:ext cx="482600" cy="2721754"/>
          </a:xfrm>
          <a:prstGeom prst="leftBrace">
            <a:avLst>
              <a:gd name="adj1" fmla="val 53070"/>
              <a:gd name="adj2" fmla="val 50000"/>
            </a:avLst>
          </a:prstGeom>
          <a:noFill/>
          <a:ln w="571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804" y="770226"/>
            <a:ext cx="74295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928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pic>
        <p:nvPicPr>
          <p:cNvPr id="13" name="Picture 12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4351" y="1860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perceptron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3" name="Left Brace 22"/>
          <p:cNvSpPr/>
          <p:nvPr/>
        </p:nvSpPr>
        <p:spPr>
          <a:xfrm rot="16200000">
            <a:off x="6593277" y="36123"/>
            <a:ext cx="482600" cy="2721754"/>
          </a:xfrm>
          <a:prstGeom prst="leftBrace">
            <a:avLst>
              <a:gd name="adj1" fmla="val 53070"/>
              <a:gd name="adj2" fmla="val 50000"/>
            </a:avLst>
          </a:prstGeom>
          <a:noFill/>
          <a:ln w="571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2489200" y="1638300"/>
            <a:ext cx="4343400" cy="1282700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3784600" y="1168400"/>
            <a:ext cx="254000" cy="2590800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804" y="770226"/>
            <a:ext cx="74295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6212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pic>
        <p:nvPicPr>
          <p:cNvPr id="13" name="Picture 12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4351" y="1860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perceptron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3" name="Left Brace 22"/>
          <p:cNvSpPr/>
          <p:nvPr/>
        </p:nvSpPr>
        <p:spPr>
          <a:xfrm rot="16200000">
            <a:off x="6593277" y="36123"/>
            <a:ext cx="482600" cy="2721754"/>
          </a:xfrm>
          <a:prstGeom prst="leftBrace">
            <a:avLst>
              <a:gd name="adj1" fmla="val 53070"/>
              <a:gd name="adj2" fmla="val 50000"/>
            </a:avLst>
          </a:prstGeom>
          <a:noFill/>
          <a:ln w="571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2489200" y="1638300"/>
            <a:ext cx="4343400" cy="1282700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3784600" y="1168400"/>
            <a:ext cx="254000" cy="2590800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775200" y="2890391"/>
            <a:ext cx="3911600" cy="58477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cs typeface="Calibri"/>
              </a:rPr>
              <a:t>effect of learning?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804" y="770226"/>
            <a:ext cx="74295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5331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076700"/>
            <a:ext cx="444500" cy="1143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340100"/>
            <a:ext cx="444500" cy="1879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460051"/>
            <a:ext cx="444500" cy="75964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251200"/>
            <a:ext cx="444500" cy="19685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2176804"/>
            <a:ext cx="0" cy="3042896"/>
          </a:xfrm>
          <a:prstGeom prst="straightConnector1">
            <a:avLst/>
          </a:prstGeom>
          <a:ln w="44450" cmpd="sng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88901" y="2967335"/>
            <a:ext cx="825501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pic>
        <p:nvPicPr>
          <p:cNvPr id="13" name="Picture 12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4351" y="186035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00"/>
                </a:solidFill>
                <a:cs typeface="Calibri"/>
              </a:rPr>
              <a:t>perceptron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75200" y="2890391"/>
            <a:ext cx="3911600" cy="156966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cs typeface="Calibri"/>
              </a:rPr>
              <a:t>effect of learning:</a:t>
            </a:r>
          </a:p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gold standard will have highest score</a:t>
            </a:r>
            <a:endParaRPr lang="en-US" sz="3200" dirty="0" smtClean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804" y="770226"/>
            <a:ext cx="74295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5579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55</a:t>
            </a:fld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266700" y="70618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  <a:cs typeface="Calibri"/>
              </a:rPr>
              <a:t>hinge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579465"/>
            <a:ext cx="8394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1549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1511300"/>
            <a:ext cx="0" cy="3708400"/>
          </a:xfrm>
          <a:prstGeom prst="straightConnector1">
            <a:avLst/>
          </a:prstGeom>
          <a:ln w="44450" cmpd="sng">
            <a:solidFill>
              <a:schemeClr val="accent4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495932" y="3374366"/>
            <a:ext cx="1639563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 + cost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0750" y="2438400"/>
            <a:ext cx="444500" cy="9906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81150" y="3784600"/>
            <a:ext cx="444500" cy="520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35200" y="2616200"/>
            <a:ext cx="444500" cy="393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870200" y="34290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6700" y="70618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  <a:cs typeface="Calibri"/>
              </a:rPr>
              <a:t>hinge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8" name="Left Brace 27"/>
          <p:cNvSpPr/>
          <p:nvPr/>
        </p:nvSpPr>
        <p:spPr>
          <a:xfrm rot="16200000">
            <a:off x="6559067" y="-907568"/>
            <a:ext cx="482600" cy="4126534"/>
          </a:xfrm>
          <a:prstGeom prst="leftBrace">
            <a:avLst>
              <a:gd name="adj1" fmla="val 53070"/>
              <a:gd name="adj2" fmla="val 50000"/>
            </a:avLst>
          </a:prstGeom>
          <a:noFill/>
          <a:ln w="571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3314700" y="1017116"/>
            <a:ext cx="469900" cy="2742084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300" y="579465"/>
            <a:ext cx="8394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7604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1511300"/>
            <a:ext cx="0" cy="3708400"/>
          </a:xfrm>
          <a:prstGeom prst="straightConnector1">
            <a:avLst/>
          </a:prstGeom>
          <a:ln w="44450" cmpd="sng">
            <a:solidFill>
              <a:schemeClr val="accent4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495932" y="3374366"/>
            <a:ext cx="1639563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 + cost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0750" y="2438400"/>
            <a:ext cx="444500" cy="9906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81150" y="3784600"/>
            <a:ext cx="444500" cy="520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35200" y="2616200"/>
            <a:ext cx="444500" cy="393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870200" y="34290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6700" y="70618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  <a:cs typeface="Calibri"/>
              </a:rPr>
              <a:t>hinge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3314700" y="1017116"/>
            <a:ext cx="469900" cy="2742084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endCxn id="21" idx="0"/>
          </p:cNvCxnSpPr>
          <p:nvPr/>
        </p:nvCxnSpPr>
        <p:spPr>
          <a:xfrm flipH="1">
            <a:off x="1143000" y="1396999"/>
            <a:ext cx="5626330" cy="1041401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Left Brace 32"/>
          <p:cNvSpPr/>
          <p:nvPr/>
        </p:nvSpPr>
        <p:spPr>
          <a:xfrm rot="16200000">
            <a:off x="6559067" y="-907568"/>
            <a:ext cx="482600" cy="4126534"/>
          </a:xfrm>
          <a:prstGeom prst="leftBrace">
            <a:avLst>
              <a:gd name="adj1" fmla="val 53070"/>
              <a:gd name="adj2" fmla="val 50000"/>
            </a:avLst>
          </a:prstGeom>
          <a:noFill/>
          <a:ln w="571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300" y="579465"/>
            <a:ext cx="8394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9764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009900"/>
            <a:ext cx="444500" cy="2209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3924300"/>
            <a:ext cx="444500" cy="129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1511300"/>
            <a:ext cx="0" cy="3708400"/>
          </a:xfrm>
          <a:prstGeom prst="straightConnector1">
            <a:avLst/>
          </a:prstGeom>
          <a:ln w="44450" cmpd="sng">
            <a:solidFill>
              <a:schemeClr val="accent4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495932" y="3374366"/>
            <a:ext cx="1639563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 + cost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0750" y="2438400"/>
            <a:ext cx="444500" cy="9906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81150" y="3784600"/>
            <a:ext cx="444500" cy="520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35200" y="2616200"/>
            <a:ext cx="444500" cy="393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870200" y="34290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6700" y="70618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  <a:cs typeface="Calibri"/>
              </a:rPr>
              <a:t>hinge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3314700" y="1017116"/>
            <a:ext cx="469900" cy="2742084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endCxn id="21" idx="0"/>
          </p:cNvCxnSpPr>
          <p:nvPr/>
        </p:nvCxnSpPr>
        <p:spPr>
          <a:xfrm flipH="1">
            <a:off x="1143000" y="1396999"/>
            <a:ext cx="5626330" cy="1041401"/>
          </a:xfrm>
          <a:prstGeom prst="straightConnector1">
            <a:avLst/>
          </a:prstGeom>
          <a:ln w="57150" cmpd="sng">
            <a:solidFill>
              <a:schemeClr val="tx1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Left Brace 32"/>
          <p:cNvSpPr/>
          <p:nvPr/>
        </p:nvSpPr>
        <p:spPr>
          <a:xfrm rot="16200000">
            <a:off x="6559067" y="-907568"/>
            <a:ext cx="482600" cy="4126534"/>
          </a:xfrm>
          <a:prstGeom prst="leftBrace">
            <a:avLst>
              <a:gd name="adj1" fmla="val 53070"/>
              <a:gd name="adj2" fmla="val 50000"/>
            </a:avLst>
          </a:prstGeom>
          <a:noFill/>
          <a:ln w="571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300" y="579465"/>
            <a:ext cx="83947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775200" y="2890391"/>
            <a:ext cx="3911600" cy="58477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cs typeface="Calibri"/>
              </a:rPr>
              <a:t>effect of learning?</a:t>
            </a:r>
          </a:p>
        </p:txBody>
      </p:sp>
    </p:spTree>
    <p:extLst>
      <p:ext uri="{BB962C8B-B14F-4D97-AF65-F5344CB8AC3E}">
        <p14:creationId xmlns:p14="http://schemas.microsoft.com/office/powerpoint/2010/main" val="32372634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20750" y="3937000"/>
            <a:ext cx="444500" cy="1282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81150" y="4305300"/>
            <a:ext cx="4445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35200" y="3429000"/>
            <a:ext cx="444500" cy="1790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70200" y="4724400"/>
            <a:ext cx="444500" cy="4953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30600" y="2890391"/>
            <a:ext cx="444500" cy="232930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60400" y="1511300"/>
            <a:ext cx="0" cy="3708400"/>
          </a:xfrm>
          <a:prstGeom prst="straightConnector1">
            <a:avLst/>
          </a:prstGeom>
          <a:ln w="44450" cmpd="sng">
            <a:solidFill>
              <a:schemeClr val="accent4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-495932" y="3374366"/>
            <a:ext cx="1639563" cy="400110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00"/>
                </a:solidFill>
                <a:cs typeface="Calibri"/>
              </a:rPr>
              <a:t>score + cost</a:t>
            </a:r>
            <a:endParaRPr lang="en-US" sz="20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5397500"/>
            <a:ext cx="254000" cy="20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5397500"/>
            <a:ext cx="254000" cy="20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397500"/>
            <a:ext cx="266700" cy="20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400" y="5397500"/>
            <a:ext cx="266700" cy="20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6800" y="5397500"/>
            <a:ext cx="254000" cy="203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20750" y="2946400"/>
            <a:ext cx="444500" cy="9906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581150" y="3784600"/>
            <a:ext cx="444500" cy="520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235200" y="3035300"/>
            <a:ext cx="444500" cy="3937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870200" y="3429000"/>
            <a:ext cx="444500" cy="1295400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BC0000"/>
              </a:gs>
              <a:gs pos="0">
                <a:srgbClr val="FF0000"/>
              </a:gs>
            </a:gsLst>
            <a:lin ang="5400000" scaled="0"/>
            <a:tileRect/>
          </a:gra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smiley-face-clip-art-emotions-RidMBKdi9.jpe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2" y="5676899"/>
            <a:ext cx="550333" cy="55033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46400" y="6293787"/>
            <a:ext cx="1628806" cy="400110"/>
          </a:xfrm>
          <a:prstGeom prst="rect">
            <a:avLst/>
          </a:prstGeom>
          <a:solidFill>
            <a:schemeClr val="tx1"/>
          </a:solidFill>
          <a:ln w="3175" cmpd="sng"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cs typeface="Calibri"/>
              </a:rPr>
              <a:t>gold standard</a:t>
            </a:r>
            <a:endParaRPr lang="en-US" sz="2000" dirty="0" smtClean="0">
              <a:solidFill>
                <a:srgbClr val="FFFF00"/>
              </a:solidFill>
              <a:latin typeface="Calibri"/>
              <a:cs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6700" y="70618"/>
            <a:ext cx="2515349" cy="461665"/>
          </a:xfrm>
          <a:prstGeom prst="rect">
            <a:avLst/>
          </a:prstGeom>
          <a:noFill/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  <a:cs typeface="Calibri"/>
              </a:rPr>
              <a:t>hinge loss:</a:t>
            </a:r>
            <a:endParaRPr lang="en-US" sz="2400" dirty="0" smtClean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775200" y="2890391"/>
            <a:ext cx="3911600" cy="2554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  <a:cs typeface="Calibri"/>
              </a:rPr>
              <a:t>effect of learning:</a:t>
            </a:r>
          </a:p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score of gold standard will be higher than </a:t>
            </a:r>
            <a:r>
              <a:rPr lang="en-US" sz="3200" dirty="0" err="1" smtClean="0">
                <a:solidFill>
                  <a:schemeClr val="bg1"/>
                </a:solidFill>
                <a:cs typeface="Calibri"/>
              </a:rPr>
              <a:t>score+cost</a:t>
            </a:r>
            <a:r>
              <a:rPr lang="en-US" sz="3200" dirty="0" smtClean="0">
                <a:solidFill>
                  <a:schemeClr val="bg1"/>
                </a:solidFill>
                <a:cs typeface="Calibri"/>
              </a:rPr>
              <a:t> of all others</a:t>
            </a:r>
            <a:endParaRPr lang="en-US" sz="3200" dirty="0" smtClean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300" y="579465"/>
            <a:ext cx="8394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990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Log Loss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6960"/>
            <a:ext cx="8229600" cy="3779204"/>
          </a:xfrm>
        </p:spPr>
        <p:txBody>
          <a:bodyPr/>
          <a:lstStyle/>
          <a:p>
            <a:r>
              <a:rPr lang="en-US" dirty="0" smtClean="0"/>
              <a:t>minimize negative log of conditional probability of output given input</a:t>
            </a:r>
          </a:p>
          <a:p>
            <a:pPr lvl="1"/>
            <a:r>
              <a:rPr lang="en-US" dirty="0" smtClean="0"/>
              <a:t>sometimes called “maximizing conditional likelihood”</a:t>
            </a:r>
          </a:p>
          <a:p>
            <a:r>
              <a:rPr lang="en-US" dirty="0" smtClean="0"/>
              <a:t>but wait, we don’t have a probabilistic model, we just have a score function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60</a:t>
            </a:fld>
            <a:endParaRPr lang="en-US"/>
          </a:p>
        </p:txBody>
      </p:sp>
      <p:cxnSp>
        <p:nvCxnSpPr>
          <p:cNvPr id="9" name="Straight Arrow Connector 8"/>
          <p:cNvCxnSpPr/>
          <p:nvPr/>
        </p:nvCxnSpPr>
        <p:spPr bwMode="auto">
          <a:xfrm flipV="1">
            <a:off x="2306320" y="1719580"/>
            <a:ext cx="3449792" cy="290322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0" y="1223894"/>
            <a:ext cx="43180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035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Score </a:t>
            </a:r>
            <a:r>
              <a:rPr lang="en-US" sz="3100" dirty="0" smtClean="0">
                <a:sym typeface="Wingdings"/>
              </a:rPr>
              <a:t></a:t>
            </a:r>
            <a:r>
              <a:rPr lang="en-US" dirty="0" smtClean="0">
                <a:sym typeface="Wingdings"/>
              </a:rPr>
              <a:t> Probability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 turn score into probability by </a:t>
            </a:r>
            <a:r>
              <a:rPr lang="en-US" dirty="0" err="1" smtClean="0"/>
              <a:t>exponentiating</a:t>
            </a:r>
            <a:r>
              <a:rPr lang="en-US" dirty="0" smtClean="0"/>
              <a:t> (to make it positive) and normalizing: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this is often called a “</a:t>
            </a:r>
            <a:r>
              <a:rPr lang="en-US" dirty="0" err="1" smtClean="0"/>
              <a:t>softmax</a:t>
            </a:r>
            <a:r>
              <a:rPr lang="en-US" dirty="0" smtClean="0"/>
              <a:t>” function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00" y="2841721"/>
            <a:ext cx="4241800" cy="317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700" y="3710799"/>
            <a:ext cx="53086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372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Log Loss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03441"/>
            <a:ext cx="8229600" cy="1499939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similar to perceptron loss!</a:t>
            </a:r>
          </a:p>
          <a:p>
            <a:r>
              <a:rPr lang="en-US" dirty="0" smtClean="0"/>
              <a:t>replace max with “</a:t>
            </a:r>
            <a:r>
              <a:rPr lang="en-US" dirty="0" err="1" smtClean="0"/>
              <a:t>softmax</a:t>
            </a:r>
            <a:r>
              <a:rPr lang="en-US" dirty="0" smtClean="0"/>
              <a:t>” (a different kind of </a:t>
            </a:r>
            <a:r>
              <a:rPr lang="en-US" dirty="0" err="1" smtClean="0"/>
              <a:t>softmax</a:t>
            </a:r>
            <a:r>
              <a:rPr lang="en-US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104963"/>
            <a:ext cx="8445500" cy="2095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04" y="5147457"/>
            <a:ext cx="74295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1010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Log Loss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03442"/>
            <a:ext cx="8229600" cy="1178244"/>
          </a:xfrm>
        </p:spPr>
        <p:txBody>
          <a:bodyPr>
            <a:normAutofit/>
          </a:bodyPr>
          <a:lstStyle/>
          <a:p>
            <a:r>
              <a:rPr lang="en-US" dirty="0" smtClean="0"/>
              <a:t>similar to perceptron loss!</a:t>
            </a:r>
          </a:p>
          <a:p>
            <a:r>
              <a:rPr lang="en-US" dirty="0" smtClean="0"/>
              <a:t>just replace max with </a:t>
            </a:r>
            <a:r>
              <a:rPr lang="en-US" dirty="0" err="1" smtClean="0"/>
              <a:t>softmax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104963"/>
            <a:ext cx="8445500" cy="2095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04" y="5147457"/>
            <a:ext cx="74295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3372838"/>
            <a:ext cx="6807200" cy="2062103"/>
          </a:xfrm>
          <a:prstGeom prst="rect">
            <a:avLst/>
          </a:prstGeom>
          <a:solidFill>
            <a:srgbClr val="288CD2"/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log loss is used in:</a:t>
            </a:r>
          </a:p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logistic regression classifiers,</a:t>
            </a:r>
          </a:p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conditional random fields,</a:t>
            </a:r>
          </a:p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maximum entropy (“</a:t>
            </a:r>
            <a:r>
              <a:rPr lang="en-US" sz="3200" dirty="0" err="1" smtClean="0">
                <a:solidFill>
                  <a:schemeClr val="bg1"/>
                </a:solidFill>
                <a:cs typeface="Calibri"/>
              </a:rPr>
              <a:t>maxent</a:t>
            </a:r>
            <a:r>
              <a:rPr lang="en-US" sz="3200" dirty="0" smtClean="0">
                <a:solidFill>
                  <a:schemeClr val="bg1"/>
                </a:solidFill>
                <a:cs typeface="Calibri"/>
              </a:rPr>
              <a:t>”) models</a:t>
            </a:r>
          </a:p>
        </p:txBody>
      </p:sp>
    </p:spTree>
    <p:extLst>
      <p:ext uri="{BB962C8B-B14F-4D97-AF65-F5344CB8AC3E}">
        <p14:creationId xmlns:p14="http://schemas.microsoft.com/office/powerpoint/2010/main" val="935190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Log Loss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104963"/>
            <a:ext cx="8445500" cy="2095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04" y="5147457"/>
            <a:ext cx="7429500" cy="495300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57200" y="3635852"/>
            <a:ext cx="8229600" cy="1178244"/>
          </a:xfrm>
        </p:spPr>
        <p:txBody>
          <a:bodyPr>
            <a:normAutofit/>
          </a:bodyPr>
          <a:lstStyle/>
          <a:p>
            <a:r>
              <a:rPr lang="en-US" dirty="0" smtClean="0"/>
              <a:t>issue: can be very expensive due to summation over all possible outputs!</a:t>
            </a:r>
          </a:p>
        </p:txBody>
      </p:sp>
      <p:cxnSp>
        <p:nvCxnSpPr>
          <p:cNvPr id="10" name="Straight Arrow Connector 9"/>
          <p:cNvCxnSpPr/>
          <p:nvPr/>
        </p:nvCxnSpPr>
        <p:spPr bwMode="auto">
          <a:xfrm flipV="1">
            <a:off x="2796909" y="3039745"/>
            <a:ext cx="2702327" cy="1296956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6253527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65</a:t>
            </a:fld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 bwMode="auto">
          <a:xfrm>
            <a:off x="3619609" y="2022907"/>
            <a:ext cx="0" cy="598028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261" y="2779969"/>
            <a:ext cx="4445000" cy="939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261" y="1424862"/>
            <a:ext cx="5778500" cy="4826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Empirical </a:t>
            </a:r>
            <a:r>
              <a:rPr lang="en-US" sz="3600" dirty="0" smtClean="0"/>
              <a:t>Risk Minimization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90601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66</a:t>
            </a:fld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 bwMode="auto">
          <a:xfrm>
            <a:off x="3619609" y="2022907"/>
            <a:ext cx="0" cy="598028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261" y="1424862"/>
            <a:ext cx="5778500" cy="4826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288CD2"/>
                </a:solidFill>
              </a:rPr>
              <a:t>Regularized</a:t>
            </a:r>
            <a:r>
              <a:rPr lang="en-US" sz="3600" dirty="0" smtClean="0">
                <a:solidFill>
                  <a:srgbClr val="000000"/>
                </a:solidFill>
              </a:rPr>
              <a:t> Empirical </a:t>
            </a:r>
            <a:r>
              <a:rPr lang="en-US" sz="3600" dirty="0" smtClean="0"/>
              <a:t>Risk Minimization</a:t>
            </a:r>
            <a:endParaRPr lang="en-US" sz="3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261" y="2783470"/>
            <a:ext cx="57150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3126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67</a:t>
            </a:fld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 bwMode="auto">
          <a:xfrm>
            <a:off x="3619609" y="2022907"/>
            <a:ext cx="0" cy="598028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261" y="1424862"/>
            <a:ext cx="5778500" cy="4826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288CD2"/>
                </a:solidFill>
              </a:rPr>
              <a:t>Regularized</a:t>
            </a:r>
            <a:r>
              <a:rPr lang="en-US" sz="3600" dirty="0" smtClean="0">
                <a:solidFill>
                  <a:srgbClr val="000000"/>
                </a:solidFill>
              </a:rPr>
              <a:t> Empirical </a:t>
            </a:r>
            <a:r>
              <a:rPr lang="en-US" sz="3600" dirty="0" smtClean="0"/>
              <a:t>Risk Minimization</a:t>
            </a:r>
            <a:endParaRPr lang="en-US" sz="3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261" y="2783470"/>
            <a:ext cx="5715000" cy="939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80782" y="3714096"/>
            <a:ext cx="2235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288CD2"/>
                </a:solidFill>
              </a:rPr>
              <a:t>regularization term</a:t>
            </a:r>
          </a:p>
        </p:txBody>
      </p:sp>
      <p:sp>
        <p:nvSpPr>
          <p:cNvPr id="12" name="Left Brace 11"/>
          <p:cNvSpPr/>
          <p:nvPr/>
        </p:nvSpPr>
        <p:spPr>
          <a:xfrm rot="16200000">
            <a:off x="6737973" y="3178918"/>
            <a:ext cx="292921" cy="735581"/>
          </a:xfrm>
          <a:prstGeom prst="leftBrace">
            <a:avLst>
              <a:gd name="adj1" fmla="val 64855"/>
              <a:gd name="adj2" fmla="val 50000"/>
            </a:avLst>
          </a:prstGeom>
          <a:ln>
            <a:solidFill>
              <a:srgbClr val="288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6475896" y="2620935"/>
            <a:ext cx="455574" cy="437115"/>
          </a:xfrm>
          <a:prstGeom prst="straightConnector1">
            <a:avLst/>
          </a:prstGeom>
          <a:ln w="38100">
            <a:solidFill>
              <a:srgbClr val="288CD2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76227" y="1789938"/>
            <a:ext cx="2235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288CD2"/>
                </a:solidFill>
              </a:rPr>
              <a:t>regularization strength</a:t>
            </a:r>
          </a:p>
        </p:txBody>
      </p:sp>
    </p:spTree>
    <p:extLst>
      <p:ext uri="{BB962C8B-B14F-4D97-AF65-F5344CB8AC3E}">
        <p14:creationId xmlns:p14="http://schemas.microsoft.com/office/powerpoint/2010/main" val="27054728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  <p:bldP spid="1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Regularization Terms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40560"/>
            <a:ext cx="8412480" cy="399288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most common: penalize large parameter values</a:t>
            </a:r>
          </a:p>
          <a:p>
            <a:r>
              <a:rPr lang="en-US" dirty="0" smtClean="0"/>
              <a:t>intuition: large parameters might be instances of </a:t>
            </a:r>
            <a:r>
              <a:rPr lang="en-US" dirty="0" err="1" smtClean="0"/>
              <a:t>overfitting</a:t>
            </a:r>
            <a:endParaRPr lang="en-US" dirty="0" smtClean="0"/>
          </a:p>
          <a:p>
            <a:r>
              <a:rPr lang="en-US" dirty="0" smtClean="0"/>
              <a:t>examples:</a:t>
            </a:r>
          </a:p>
          <a:p>
            <a:pPr marL="457200" lvl="1" indent="0">
              <a:buNone/>
            </a:pPr>
            <a:r>
              <a:rPr lang="en-US" b="1" i="1" dirty="0" smtClean="0">
                <a:solidFill>
                  <a:srgbClr val="288CD2"/>
                </a:solidFill>
              </a:rPr>
              <a:t>L</a:t>
            </a:r>
            <a:r>
              <a:rPr lang="en-US" b="1" i="1" baseline="-25000" dirty="0" smtClean="0">
                <a:solidFill>
                  <a:srgbClr val="288CD2"/>
                </a:solidFill>
              </a:rPr>
              <a:t>2</a:t>
            </a:r>
            <a:r>
              <a:rPr lang="en-US" dirty="0" smtClean="0">
                <a:solidFill>
                  <a:srgbClr val="288CD2"/>
                </a:solidFill>
              </a:rPr>
              <a:t> </a:t>
            </a:r>
            <a:r>
              <a:rPr lang="en-US" b="1" dirty="0" smtClean="0">
                <a:solidFill>
                  <a:srgbClr val="288CD2"/>
                </a:solidFill>
              </a:rPr>
              <a:t>regularization</a:t>
            </a:r>
            <a:r>
              <a:rPr lang="en-US" dirty="0" smtClean="0"/>
              <a:t>:</a:t>
            </a:r>
          </a:p>
          <a:p>
            <a:pPr marL="457200" lvl="1" indent="0">
              <a:buNone/>
            </a:pPr>
            <a:r>
              <a:rPr lang="en-US" sz="2200" dirty="0" smtClean="0"/>
              <a:t>(also called </a:t>
            </a:r>
            <a:r>
              <a:rPr lang="en-US" sz="2200" dirty="0" err="1" smtClean="0"/>
              <a:t>Tikhonov</a:t>
            </a:r>
            <a:r>
              <a:rPr lang="en-US" sz="2200" dirty="0" smtClean="0"/>
              <a:t> regularization </a:t>
            </a:r>
          </a:p>
          <a:p>
            <a:pPr marL="457200" lvl="1" indent="0">
              <a:buNone/>
            </a:pPr>
            <a:r>
              <a:rPr lang="en-US" sz="2200" dirty="0" smtClean="0"/>
              <a:t>or ridge regression)</a:t>
            </a:r>
          </a:p>
          <a:p>
            <a:pPr marL="457200" lvl="1" indent="0">
              <a:buNone/>
            </a:pPr>
            <a:r>
              <a:rPr lang="en-US" b="1" i="1" dirty="0" smtClean="0">
                <a:solidFill>
                  <a:srgbClr val="288CD2"/>
                </a:solidFill>
              </a:rPr>
              <a:t>L</a:t>
            </a:r>
            <a:r>
              <a:rPr lang="en-US" b="1" i="1" baseline="-25000" dirty="0" smtClean="0">
                <a:solidFill>
                  <a:srgbClr val="288CD2"/>
                </a:solidFill>
              </a:rPr>
              <a:t>1</a:t>
            </a:r>
            <a:r>
              <a:rPr lang="en-US" b="1" dirty="0" smtClean="0">
                <a:solidFill>
                  <a:srgbClr val="288CD2"/>
                </a:solidFill>
              </a:rPr>
              <a:t> regularization</a:t>
            </a:r>
            <a:r>
              <a:rPr lang="en-US" dirty="0" smtClean="0"/>
              <a:t>:</a:t>
            </a:r>
          </a:p>
          <a:p>
            <a:pPr marL="457200" lvl="1" indent="0">
              <a:buNone/>
            </a:pPr>
            <a:r>
              <a:rPr lang="en-US" sz="2200" dirty="0" smtClean="0"/>
              <a:t>(also called basis pursuit or LASSO)</a:t>
            </a: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68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842" y="726831"/>
            <a:ext cx="57150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4024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Regularization Terms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61440"/>
            <a:ext cx="8412480" cy="3992880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r>
              <a:rPr lang="en-US" sz="3200" b="1" i="1" dirty="0" smtClean="0"/>
              <a:t>L</a:t>
            </a:r>
            <a:r>
              <a:rPr lang="en-US" sz="3200" b="1" i="1" baseline="-25000" dirty="0" smtClean="0"/>
              <a:t>2</a:t>
            </a:r>
            <a:r>
              <a:rPr lang="en-US" sz="3200" dirty="0" smtClean="0"/>
              <a:t> </a:t>
            </a:r>
            <a:r>
              <a:rPr lang="en-US" sz="3200" b="1" dirty="0" smtClean="0"/>
              <a:t>regularization</a:t>
            </a:r>
            <a:r>
              <a:rPr lang="en-US" sz="3200" dirty="0" smtClean="0"/>
              <a:t>:</a:t>
            </a:r>
          </a:p>
          <a:p>
            <a:pPr marL="457200" lvl="1" indent="0">
              <a:buNone/>
            </a:pPr>
            <a:endParaRPr lang="en-US" sz="2400" dirty="0" smtClean="0"/>
          </a:p>
          <a:p>
            <a:pPr marL="457200" lvl="1" indent="0">
              <a:buNone/>
            </a:pPr>
            <a:r>
              <a:rPr lang="en-US" sz="2400" dirty="0" smtClean="0"/>
              <a:t>differentiable, widely-used</a:t>
            </a:r>
          </a:p>
          <a:p>
            <a:pPr marL="457200" lvl="1" indent="0">
              <a:buNone/>
            </a:pPr>
            <a:endParaRPr lang="en-US" sz="2400" dirty="0" smtClean="0"/>
          </a:p>
          <a:p>
            <a:pPr marL="457200" lvl="1" indent="0">
              <a:buNone/>
            </a:pPr>
            <a:endParaRPr lang="en-US" sz="2400" dirty="0" smtClean="0"/>
          </a:p>
          <a:p>
            <a:pPr marL="457200" lvl="1" indent="0">
              <a:buNone/>
            </a:pPr>
            <a:r>
              <a:rPr lang="en-US" sz="3200" b="1" i="1" dirty="0" smtClean="0"/>
              <a:t>L</a:t>
            </a:r>
            <a:r>
              <a:rPr lang="en-US" sz="3200" b="1" i="1" baseline="-25000" dirty="0" smtClean="0"/>
              <a:t>1</a:t>
            </a:r>
            <a:r>
              <a:rPr lang="en-US" sz="3200" b="1" dirty="0" smtClean="0"/>
              <a:t> regularization</a:t>
            </a:r>
            <a:r>
              <a:rPr lang="en-US" sz="3200" dirty="0" smtClean="0"/>
              <a:t>:</a:t>
            </a:r>
          </a:p>
          <a:p>
            <a:pPr marL="457200" lvl="1" indent="0">
              <a:buNone/>
            </a:pPr>
            <a:endParaRPr lang="en-US" sz="2400" dirty="0" smtClean="0"/>
          </a:p>
          <a:p>
            <a:pPr marL="457200" lvl="1" indent="0">
              <a:buNone/>
            </a:pPr>
            <a:r>
              <a:rPr lang="en-US" sz="2400" dirty="0" smtClean="0"/>
              <a:t>not differentiable (but is </a:t>
            </a:r>
            <a:r>
              <a:rPr lang="en-US" sz="2400" dirty="0" err="1" smtClean="0"/>
              <a:t>subdifferentiable</a:t>
            </a:r>
            <a:r>
              <a:rPr lang="en-US" sz="2400" dirty="0" smtClean="0"/>
              <a:t>)</a:t>
            </a:r>
          </a:p>
          <a:p>
            <a:pPr marL="457200" lvl="1" indent="0">
              <a:buNone/>
            </a:pPr>
            <a:r>
              <a:rPr lang="en-US" sz="2400" dirty="0" smtClean="0"/>
              <a:t>leads to sparse solutions (many parameters become zero!)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051" y="1464904"/>
            <a:ext cx="3378200" cy="6731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051" y="3585969"/>
            <a:ext cx="34925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3232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dirty="0" smtClean="0"/>
              <a:t>modeling</a:t>
            </a:r>
            <a:endParaRPr lang="en-US" dirty="0"/>
          </a:p>
          <a:p>
            <a:r>
              <a:rPr lang="en-US" dirty="0"/>
              <a:t>inference</a:t>
            </a:r>
          </a:p>
          <a:p>
            <a:r>
              <a:rPr lang="en-US" dirty="0" smtClean="0">
                <a:solidFill>
                  <a:srgbClr val="288CD2"/>
                </a:solidFill>
              </a:rPr>
              <a:t>learning</a:t>
            </a:r>
          </a:p>
          <a:p>
            <a:pPr lvl="1"/>
            <a:r>
              <a:rPr lang="en-US" dirty="0"/>
              <a:t>empirical risk minimization</a:t>
            </a:r>
          </a:p>
          <a:p>
            <a:pPr lvl="1"/>
            <a:r>
              <a:rPr lang="en-US" dirty="0"/>
              <a:t>surrogate loss functions</a:t>
            </a:r>
          </a:p>
          <a:p>
            <a:pPr lvl="1"/>
            <a:r>
              <a:rPr lang="en-US" dirty="0">
                <a:solidFill>
                  <a:srgbClr val="288CD2"/>
                </a:solidFill>
              </a:rPr>
              <a:t>gradient-based optimization</a:t>
            </a:r>
          </a:p>
          <a:p>
            <a:pPr lvl="2"/>
            <a:endParaRPr lang="en-US" dirty="0">
              <a:solidFill>
                <a:srgbClr val="288CD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562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dient_descen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635" y="1502315"/>
            <a:ext cx="3659039" cy="40158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Gradient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946740"/>
            <a:ext cx="8229600" cy="553026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minimizes a function </a:t>
            </a:r>
            <a:r>
              <a:rPr lang="en-US" sz="2800" i="1" dirty="0" smtClean="0"/>
              <a:t>F</a:t>
            </a:r>
            <a:r>
              <a:rPr lang="en-US" sz="2800" dirty="0" smtClean="0"/>
              <a:t> by taking steps in proportion to the negative of the gradient:</a:t>
            </a:r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71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226285"/>
            <a:ext cx="37084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8188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dient_descen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635" y="1502315"/>
            <a:ext cx="3659039" cy="4015834"/>
          </a:xfrm>
          <a:prstGeom prst="rect">
            <a:avLst/>
          </a:prstGeom>
        </p:spPr>
      </p:pic>
      <p:sp>
        <p:nvSpPr>
          <p:cNvPr id="12" name="Content Placeholder 2"/>
          <p:cNvSpPr txBox="1">
            <a:spLocks/>
          </p:cNvSpPr>
          <p:nvPr/>
        </p:nvSpPr>
        <p:spPr>
          <a:xfrm>
            <a:off x="546100" y="3263901"/>
            <a:ext cx="42926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 smtClean="0"/>
              <a:t>        : </a:t>
            </a:r>
            <a:r>
              <a:rPr lang="en-US" sz="2800" dirty="0" err="1" smtClean="0"/>
              <a:t>stepsize</a:t>
            </a:r>
            <a:r>
              <a:rPr lang="en-US" sz="2800" dirty="0" smtClean="0"/>
              <a:t> at iteration </a:t>
            </a:r>
            <a:r>
              <a:rPr lang="en-US" sz="2800" i="1" dirty="0" smtClean="0"/>
              <a:t>t</a:t>
            </a:r>
          </a:p>
          <a:p>
            <a:pPr marL="0" indent="0">
              <a:buNone/>
            </a:pPr>
            <a:endParaRPr lang="en-US" sz="400" dirty="0" smtClean="0"/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         : gradient of objective function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Gradient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946740"/>
            <a:ext cx="8229600" cy="553026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minimizes a function </a:t>
            </a:r>
            <a:r>
              <a:rPr lang="en-US" sz="2800" i="1" dirty="0" smtClean="0"/>
              <a:t>F </a:t>
            </a:r>
            <a:r>
              <a:rPr lang="en-US" sz="2800" dirty="0" smtClean="0"/>
              <a:t>by taking steps in proportion to the negative of the gradient:</a:t>
            </a:r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with conditions </a:t>
            </a:r>
            <a:r>
              <a:rPr lang="en-US" sz="2800" dirty="0"/>
              <a:t>on </a:t>
            </a:r>
            <a:r>
              <a:rPr lang="en-US" sz="2800" dirty="0" err="1"/>
              <a:t>stepsize</a:t>
            </a:r>
            <a:r>
              <a:rPr lang="en-US" sz="2800" dirty="0"/>
              <a:t> and objective function, will converge to local minimum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3328627"/>
            <a:ext cx="431800" cy="3556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226285"/>
            <a:ext cx="3708400" cy="381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848100"/>
            <a:ext cx="12065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2637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dient_descen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635" y="1502315"/>
            <a:ext cx="3659039" cy="4015834"/>
          </a:xfrm>
          <a:prstGeom prst="rect">
            <a:avLst/>
          </a:prstGeom>
        </p:spPr>
      </p:pic>
      <p:sp>
        <p:nvSpPr>
          <p:cNvPr id="12" name="Content Placeholder 2"/>
          <p:cNvSpPr txBox="1">
            <a:spLocks/>
          </p:cNvSpPr>
          <p:nvPr/>
        </p:nvSpPr>
        <p:spPr>
          <a:xfrm>
            <a:off x="546100" y="3263901"/>
            <a:ext cx="42926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 smtClean="0"/>
              <a:t>        : </a:t>
            </a:r>
            <a:r>
              <a:rPr lang="en-US" sz="2800" dirty="0" err="1" smtClean="0"/>
              <a:t>stepsize</a:t>
            </a:r>
            <a:r>
              <a:rPr lang="en-US" sz="2800" dirty="0" smtClean="0"/>
              <a:t> at iteration </a:t>
            </a:r>
            <a:r>
              <a:rPr lang="en-US" sz="2800" i="1" dirty="0" smtClean="0"/>
              <a:t>t</a:t>
            </a:r>
          </a:p>
          <a:p>
            <a:pPr marL="0" indent="0">
              <a:buNone/>
            </a:pPr>
            <a:endParaRPr lang="en-US" sz="400" dirty="0" smtClean="0"/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         : gradient of objective function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Gradient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946740"/>
            <a:ext cx="8229600" cy="553026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minimizes a function </a:t>
            </a:r>
            <a:r>
              <a:rPr lang="en-US" sz="2800" i="1" dirty="0" smtClean="0"/>
              <a:t>F </a:t>
            </a:r>
            <a:r>
              <a:rPr lang="en-US" sz="2800" dirty="0" smtClean="0"/>
              <a:t>by taking steps in proportion to the negative of the gradient:</a:t>
            </a:r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with conditions </a:t>
            </a:r>
            <a:r>
              <a:rPr lang="en-US" sz="2800" dirty="0"/>
              <a:t>on </a:t>
            </a:r>
            <a:r>
              <a:rPr lang="en-US" sz="2800" dirty="0" err="1"/>
              <a:t>stepsize</a:t>
            </a:r>
            <a:r>
              <a:rPr lang="en-US" sz="2800" dirty="0"/>
              <a:t> and objective function, will converge to local minimum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73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064635" y="3537972"/>
            <a:ext cx="3770196" cy="1815882"/>
          </a:xfrm>
          <a:prstGeom prst="rect">
            <a:avLst/>
          </a:prstGeom>
          <a:solidFill>
            <a:schemeClr val="bg1"/>
          </a:solidFill>
          <a:ln w="3175" cmpd="sng"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cs typeface="Calibri"/>
              </a:rPr>
              <a:t>to speed convergence, can use line search to choose better </a:t>
            </a:r>
            <a:r>
              <a:rPr lang="en-US" sz="2800" dirty="0" err="1" smtClean="0">
                <a:cs typeface="Calibri"/>
              </a:rPr>
              <a:t>stepsizes</a:t>
            </a:r>
            <a:r>
              <a:rPr lang="en-US" sz="2800" dirty="0" smtClean="0">
                <a:cs typeface="Calibri"/>
              </a:rPr>
              <a:t>; also see L-BFGS</a:t>
            </a:r>
            <a:endParaRPr lang="en-US" sz="2800" i="0" dirty="0"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3328627"/>
            <a:ext cx="431800" cy="3556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226285"/>
            <a:ext cx="3708400" cy="381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848100"/>
            <a:ext cx="12065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123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dient_descen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635" y="1502315"/>
            <a:ext cx="3659039" cy="4015834"/>
          </a:xfrm>
          <a:prstGeom prst="rect">
            <a:avLst/>
          </a:prstGeom>
        </p:spPr>
      </p:pic>
      <p:sp>
        <p:nvSpPr>
          <p:cNvPr id="12" name="Content Placeholder 2"/>
          <p:cNvSpPr txBox="1">
            <a:spLocks/>
          </p:cNvSpPr>
          <p:nvPr/>
        </p:nvSpPr>
        <p:spPr>
          <a:xfrm>
            <a:off x="546100" y="3263901"/>
            <a:ext cx="42926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 smtClean="0"/>
              <a:t>        : </a:t>
            </a:r>
            <a:r>
              <a:rPr lang="en-US" sz="2800" dirty="0" err="1" smtClean="0"/>
              <a:t>stepsize</a:t>
            </a:r>
            <a:r>
              <a:rPr lang="en-US" sz="2800" dirty="0" smtClean="0"/>
              <a:t> at iteration </a:t>
            </a:r>
            <a:r>
              <a:rPr lang="en-US" sz="2800" i="1" dirty="0" smtClean="0"/>
              <a:t>t</a:t>
            </a:r>
          </a:p>
          <a:p>
            <a:pPr marL="0" indent="0">
              <a:buNone/>
            </a:pPr>
            <a:endParaRPr lang="en-US" sz="400" dirty="0" smtClean="0"/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         : gradient of objective function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Gradient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946740"/>
            <a:ext cx="8229600" cy="553026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minimizes a function </a:t>
            </a:r>
            <a:r>
              <a:rPr lang="en-US" sz="2800" i="1" dirty="0" smtClean="0"/>
              <a:t>F </a:t>
            </a:r>
            <a:r>
              <a:rPr lang="en-US" sz="2800" dirty="0" smtClean="0"/>
              <a:t>by taking steps in proportion to the negative of the gradient:</a:t>
            </a:r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with conditions </a:t>
            </a:r>
            <a:r>
              <a:rPr lang="en-US" sz="2800" dirty="0"/>
              <a:t>on </a:t>
            </a:r>
            <a:r>
              <a:rPr lang="en-US" sz="2800" dirty="0" err="1"/>
              <a:t>stepsize</a:t>
            </a:r>
            <a:r>
              <a:rPr lang="en-US" sz="2800" dirty="0"/>
              <a:t> and objective function, will converge to local minimum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74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064635" y="3537972"/>
            <a:ext cx="3770196" cy="1815882"/>
          </a:xfrm>
          <a:prstGeom prst="rect">
            <a:avLst/>
          </a:prstGeom>
          <a:solidFill>
            <a:schemeClr val="bg1"/>
          </a:solidFill>
          <a:ln w="3175" cmpd="sng"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cs typeface="Calibri"/>
              </a:rPr>
              <a:t>to speed convergence, can use line search to choose better </a:t>
            </a:r>
            <a:r>
              <a:rPr lang="en-US" sz="2800" dirty="0" err="1" smtClean="0">
                <a:cs typeface="Calibri"/>
              </a:rPr>
              <a:t>stepsizes</a:t>
            </a:r>
            <a:r>
              <a:rPr lang="en-US" sz="2800" dirty="0" smtClean="0">
                <a:cs typeface="Calibri"/>
              </a:rPr>
              <a:t>; also see L-BFGS</a:t>
            </a:r>
            <a:endParaRPr lang="en-US" sz="2800" i="0" dirty="0">
              <a:latin typeface="Calibri"/>
              <a:cs typeface="Calibri"/>
            </a:endParaRPr>
          </a:p>
        </p:txBody>
      </p:sp>
      <p:cxnSp>
        <p:nvCxnSpPr>
          <p:cNvPr id="11" name="Straight Arrow Connector 10"/>
          <p:cNvCxnSpPr/>
          <p:nvPr/>
        </p:nvCxnSpPr>
        <p:spPr bwMode="auto">
          <a:xfrm flipV="1">
            <a:off x="3398638" y="2631458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2741677" y="3205885"/>
            <a:ext cx="4979923" cy="1077218"/>
          </a:xfrm>
          <a:prstGeom prst="rect">
            <a:avLst/>
          </a:prstGeom>
          <a:solidFill>
            <a:srgbClr val="BC0000"/>
          </a:solidFill>
          <a:ln w="3175" cmpd="sng">
            <a:solidFill>
              <a:srgbClr val="FFFFFF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efficiency concern</a:t>
            </a:r>
            <a:r>
              <a:rPr lang="en-US" sz="3200" dirty="0">
                <a:solidFill>
                  <a:schemeClr val="bg1"/>
                </a:solidFill>
                <a:cs typeface="Calibri"/>
              </a:rPr>
              <a:t>: </a:t>
            </a:r>
            <a:r>
              <a:rPr lang="en-US" sz="3200" i="1" dirty="0" smtClean="0">
                <a:solidFill>
                  <a:schemeClr val="bg1"/>
                </a:solidFill>
                <a:cs typeface="Calibri"/>
              </a:rPr>
              <a:t>F</a:t>
            </a:r>
            <a:r>
              <a:rPr lang="en-US" sz="3200" dirty="0" smtClean="0">
                <a:solidFill>
                  <a:schemeClr val="bg1"/>
                </a:solidFill>
                <a:cs typeface="Calibri"/>
              </a:rPr>
              <a:t> </a:t>
            </a:r>
            <a:r>
              <a:rPr lang="en-US" sz="3200" dirty="0" smtClean="0">
                <a:solidFill>
                  <a:schemeClr val="bg1"/>
                </a:solidFill>
                <a:latin typeface="Calibri"/>
                <a:cs typeface="Calibri"/>
              </a:rPr>
              <a:t>is a sum over all training examples! 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3328627"/>
            <a:ext cx="431800" cy="355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226285"/>
            <a:ext cx="3708400" cy="3810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848100"/>
            <a:ext cx="12065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104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dient_descen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635" y="1502315"/>
            <a:ext cx="3659039" cy="4015834"/>
          </a:xfrm>
          <a:prstGeom prst="rect">
            <a:avLst/>
          </a:prstGeom>
        </p:spPr>
      </p:pic>
      <p:sp>
        <p:nvSpPr>
          <p:cNvPr id="12" name="Content Placeholder 2"/>
          <p:cNvSpPr txBox="1">
            <a:spLocks/>
          </p:cNvSpPr>
          <p:nvPr/>
        </p:nvSpPr>
        <p:spPr>
          <a:xfrm>
            <a:off x="546100" y="3263901"/>
            <a:ext cx="42926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 smtClean="0"/>
              <a:t>        : </a:t>
            </a:r>
            <a:r>
              <a:rPr lang="en-US" sz="2800" dirty="0" err="1" smtClean="0"/>
              <a:t>stepsize</a:t>
            </a:r>
            <a:r>
              <a:rPr lang="en-US" sz="2800" dirty="0" smtClean="0"/>
              <a:t> at iteration </a:t>
            </a:r>
            <a:r>
              <a:rPr lang="en-US" sz="2800" i="1" dirty="0" smtClean="0"/>
              <a:t>t</a:t>
            </a:r>
          </a:p>
          <a:p>
            <a:pPr marL="0" indent="0">
              <a:buNone/>
            </a:pPr>
            <a:endParaRPr lang="en-US" sz="400" dirty="0" smtClean="0"/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         : gradient of objective function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Gradient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946740"/>
            <a:ext cx="8229600" cy="553026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minimizes a function </a:t>
            </a:r>
            <a:r>
              <a:rPr lang="en-US" sz="2800" i="1" dirty="0" smtClean="0"/>
              <a:t>F </a:t>
            </a:r>
            <a:r>
              <a:rPr lang="en-US" sz="2800" dirty="0" smtClean="0"/>
              <a:t>by taking steps in proportion to the negative of the gradient:</a:t>
            </a:r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with conditions </a:t>
            </a:r>
            <a:r>
              <a:rPr lang="en-US" sz="2800" dirty="0"/>
              <a:t>on </a:t>
            </a:r>
            <a:r>
              <a:rPr lang="en-US" sz="2800" dirty="0" err="1"/>
              <a:t>stepsize</a:t>
            </a:r>
            <a:r>
              <a:rPr lang="en-US" sz="2800" dirty="0"/>
              <a:t> and objective function, will converge to local minimum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75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064635" y="3537972"/>
            <a:ext cx="3770196" cy="1815882"/>
          </a:xfrm>
          <a:prstGeom prst="rect">
            <a:avLst/>
          </a:prstGeom>
          <a:solidFill>
            <a:schemeClr val="bg1"/>
          </a:solidFill>
          <a:ln w="3175" cmpd="sng"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cs typeface="Calibri"/>
              </a:rPr>
              <a:t>to speed convergence, can use line search to choose better </a:t>
            </a:r>
            <a:r>
              <a:rPr lang="en-US" sz="2800" dirty="0" err="1" smtClean="0">
                <a:cs typeface="Calibri"/>
              </a:rPr>
              <a:t>stepsizes</a:t>
            </a:r>
            <a:r>
              <a:rPr lang="en-US" sz="2800" dirty="0" smtClean="0">
                <a:cs typeface="Calibri"/>
              </a:rPr>
              <a:t>; also see L-BFGS</a:t>
            </a:r>
            <a:endParaRPr lang="en-US" sz="2800" i="0" dirty="0">
              <a:latin typeface="Calibri"/>
              <a:cs typeface="Calibri"/>
            </a:endParaRPr>
          </a:p>
        </p:txBody>
      </p:sp>
      <p:cxnSp>
        <p:nvCxnSpPr>
          <p:cNvPr id="11" name="Straight Arrow Connector 10"/>
          <p:cNvCxnSpPr/>
          <p:nvPr/>
        </p:nvCxnSpPr>
        <p:spPr bwMode="auto">
          <a:xfrm flipV="1">
            <a:off x="3398638" y="2631458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2741677" y="3205885"/>
            <a:ext cx="4979923" cy="2769989"/>
          </a:xfrm>
          <a:prstGeom prst="rect">
            <a:avLst/>
          </a:prstGeom>
          <a:solidFill>
            <a:srgbClr val="BC0000"/>
          </a:solidFill>
          <a:ln w="3175" cmpd="sng">
            <a:solidFill>
              <a:srgbClr val="FFFFFF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efficiency concern</a:t>
            </a:r>
            <a:r>
              <a:rPr lang="en-US" sz="3200" dirty="0">
                <a:solidFill>
                  <a:schemeClr val="bg1"/>
                </a:solidFill>
                <a:cs typeface="Calibri"/>
              </a:rPr>
              <a:t>: </a:t>
            </a:r>
            <a:r>
              <a:rPr lang="en-US" sz="3200" i="1" dirty="0" smtClean="0">
                <a:solidFill>
                  <a:schemeClr val="bg1"/>
                </a:solidFill>
                <a:cs typeface="Calibri"/>
              </a:rPr>
              <a:t>F</a:t>
            </a:r>
            <a:r>
              <a:rPr lang="en-US" sz="3200" dirty="0" smtClean="0">
                <a:solidFill>
                  <a:schemeClr val="bg1"/>
                </a:solidFill>
                <a:cs typeface="Calibri"/>
              </a:rPr>
              <a:t> </a:t>
            </a:r>
            <a:r>
              <a:rPr lang="en-US" sz="3200" dirty="0" smtClean="0">
                <a:solidFill>
                  <a:schemeClr val="bg1"/>
                </a:solidFill>
                <a:latin typeface="Calibri"/>
                <a:cs typeface="Calibri"/>
              </a:rPr>
              <a:t>is a sum over all training examples! </a:t>
            </a:r>
          </a:p>
          <a:p>
            <a:pPr algn="ctr"/>
            <a:endParaRPr lang="en-US" sz="1400" dirty="0" smtClean="0">
              <a:solidFill>
                <a:schemeClr val="bg1"/>
              </a:solidFill>
              <a:latin typeface="Calibri"/>
              <a:cs typeface="Calibri"/>
            </a:endParaRPr>
          </a:p>
          <a:p>
            <a:pPr algn="ctr"/>
            <a:r>
              <a:rPr lang="en-US" sz="3200" dirty="0" smtClean="0">
                <a:solidFill>
                  <a:schemeClr val="bg1"/>
                </a:solidFill>
                <a:latin typeface="Calibri"/>
                <a:cs typeface="Calibri"/>
              </a:rPr>
              <a:t>e</a:t>
            </a:r>
            <a:r>
              <a:rPr lang="en-US" sz="3200" i="0" dirty="0" smtClean="0">
                <a:solidFill>
                  <a:schemeClr val="bg1"/>
                </a:solidFill>
                <a:latin typeface="Calibri"/>
                <a:cs typeface="Calibri"/>
              </a:rPr>
              <a:t>very parameter update requires iterating through entire training set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3328627"/>
            <a:ext cx="431800" cy="355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226285"/>
            <a:ext cx="3708400" cy="3810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848100"/>
            <a:ext cx="12065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625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dient_descen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635" y="1502315"/>
            <a:ext cx="3659039" cy="4015834"/>
          </a:xfrm>
          <a:prstGeom prst="rect">
            <a:avLst/>
          </a:prstGeom>
        </p:spPr>
      </p:pic>
      <p:sp>
        <p:nvSpPr>
          <p:cNvPr id="12" name="Content Placeholder 2"/>
          <p:cNvSpPr txBox="1">
            <a:spLocks/>
          </p:cNvSpPr>
          <p:nvPr/>
        </p:nvSpPr>
        <p:spPr>
          <a:xfrm>
            <a:off x="546100" y="3263901"/>
            <a:ext cx="42926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 smtClean="0"/>
              <a:t>        : </a:t>
            </a:r>
            <a:r>
              <a:rPr lang="en-US" sz="2800" dirty="0" err="1" smtClean="0"/>
              <a:t>stepsize</a:t>
            </a:r>
            <a:r>
              <a:rPr lang="en-US" sz="2800" dirty="0" smtClean="0"/>
              <a:t> at iteration </a:t>
            </a:r>
            <a:r>
              <a:rPr lang="en-US" sz="2800" i="1" dirty="0" smtClean="0"/>
              <a:t>t</a:t>
            </a:r>
          </a:p>
          <a:p>
            <a:pPr marL="0" indent="0">
              <a:buNone/>
            </a:pPr>
            <a:endParaRPr lang="en-US" sz="400" dirty="0" smtClean="0"/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         : gradient of objective function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Gradient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946740"/>
            <a:ext cx="8229600" cy="553026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minimizes a function </a:t>
            </a:r>
            <a:r>
              <a:rPr lang="en-US" sz="2800" i="1" dirty="0" smtClean="0"/>
              <a:t>F</a:t>
            </a:r>
            <a:r>
              <a:rPr lang="en-US" sz="2800" dirty="0" smtClean="0"/>
              <a:t> by taking steps in proportion to the negative of the gradient:</a:t>
            </a:r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with conditions </a:t>
            </a:r>
            <a:r>
              <a:rPr lang="en-US" sz="2800" dirty="0"/>
              <a:t>on </a:t>
            </a:r>
            <a:r>
              <a:rPr lang="en-US" sz="2800" dirty="0" err="1"/>
              <a:t>stepsize</a:t>
            </a:r>
            <a:r>
              <a:rPr lang="en-US" sz="2800" dirty="0"/>
              <a:t> and objective function, will converge to local minimum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76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064635" y="3537972"/>
            <a:ext cx="3770196" cy="1815882"/>
          </a:xfrm>
          <a:prstGeom prst="rect">
            <a:avLst/>
          </a:prstGeom>
          <a:solidFill>
            <a:schemeClr val="bg1"/>
          </a:solidFill>
          <a:ln w="3175" cmpd="sng"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cs typeface="Calibri"/>
              </a:rPr>
              <a:t>to speed convergence, can use line search to choose better </a:t>
            </a:r>
            <a:r>
              <a:rPr lang="en-US" sz="2800" dirty="0" err="1" smtClean="0">
                <a:cs typeface="Calibri"/>
              </a:rPr>
              <a:t>stepsizes</a:t>
            </a:r>
            <a:r>
              <a:rPr lang="en-US" sz="2800" dirty="0" smtClean="0">
                <a:cs typeface="Calibri"/>
              </a:rPr>
              <a:t>; also see L-BFGS</a:t>
            </a:r>
            <a:endParaRPr lang="en-US" sz="2800" i="0" dirty="0">
              <a:latin typeface="Calibri"/>
              <a:cs typeface="Calibri"/>
            </a:endParaRPr>
          </a:p>
        </p:txBody>
      </p:sp>
      <p:cxnSp>
        <p:nvCxnSpPr>
          <p:cNvPr id="11" name="Straight Arrow Connector 10"/>
          <p:cNvCxnSpPr/>
          <p:nvPr/>
        </p:nvCxnSpPr>
        <p:spPr bwMode="auto">
          <a:xfrm flipV="1">
            <a:off x="3398638" y="2631458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2741677" y="3205885"/>
            <a:ext cx="4979923" cy="3570208"/>
          </a:xfrm>
          <a:prstGeom prst="rect">
            <a:avLst/>
          </a:prstGeom>
          <a:solidFill>
            <a:srgbClr val="BC0000"/>
          </a:solidFill>
          <a:ln w="3175" cmpd="sng">
            <a:solidFill>
              <a:srgbClr val="FFFFFF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alibri"/>
              </a:rPr>
              <a:t>efficiency concern</a:t>
            </a:r>
            <a:r>
              <a:rPr lang="en-US" sz="3200" dirty="0">
                <a:solidFill>
                  <a:schemeClr val="bg1"/>
                </a:solidFill>
                <a:cs typeface="Calibri"/>
              </a:rPr>
              <a:t>: </a:t>
            </a:r>
            <a:r>
              <a:rPr lang="en-US" sz="3200" i="1" dirty="0" smtClean="0">
                <a:solidFill>
                  <a:schemeClr val="bg1"/>
                </a:solidFill>
                <a:cs typeface="Calibri"/>
              </a:rPr>
              <a:t>F</a:t>
            </a:r>
            <a:r>
              <a:rPr lang="en-US" sz="3200" dirty="0" smtClean="0">
                <a:solidFill>
                  <a:schemeClr val="bg1"/>
                </a:solidFill>
                <a:cs typeface="Calibri"/>
              </a:rPr>
              <a:t> </a:t>
            </a:r>
            <a:r>
              <a:rPr lang="en-US" sz="3200" dirty="0" smtClean="0">
                <a:solidFill>
                  <a:schemeClr val="bg1"/>
                </a:solidFill>
                <a:latin typeface="Calibri"/>
                <a:cs typeface="Calibri"/>
              </a:rPr>
              <a:t>is a sum over all training examples! </a:t>
            </a:r>
          </a:p>
          <a:p>
            <a:pPr algn="ctr"/>
            <a:endParaRPr lang="en-US" sz="1400" dirty="0" smtClean="0">
              <a:solidFill>
                <a:schemeClr val="bg1"/>
              </a:solidFill>
              <a:latin typeface="Calibri"/>
              <a:cs typeface="Calibri"/>
            </a:endParaRPr>
          </a:p>
          <a:p>
            <a:pPr algn="ctr"/>
            <a:r>
              <a:rPr lang="en-US" sz="3200" dirty="0" smtClean="0">
                <a:solidFill>
                  <a:schemeClr val="bg1"/>
                </a:solidFill>
                <a:latin typeface="Calibri"/>
                <a:cs typeface="Calibri"/>
              </a:rPr>
              <a:t>e</a:t>
            </a:r>
            <a:r>
              <a:rPr lang="en-US" sz="3200" i="0" dirty="0" smtClean="0">
                <a:solidFill>
                  <a:schemeClr val="bg1"/>
                </a:solidFill>
                <a:latin typeface="Calibri"/>
                <a:cs typeface="Calibri"/>
              </a:rPr>
              <a:t>very parameter update requires iterating through entire training set</a:t>
            </a:r>
          </a:p>
          <a:p>
            <a:pPr algn="ctr"/>
            <a:endParaRPr lang="en-US" sz="1400" i="0" dirty="0" smtClean="0">
              <a:solidFill>
                <a:schemeClr val="bg1"/>
              </a:solidFill>
              <a:latin typeface="Calibri"/>
              <a:cs typeface="Calibri"/>
            </a:endParaRPr>
          </a:p>
          <a:p>
            <a:pPr algn="ctr"/>
            <a:r>
              <a:rPr lang="en-US" sz="3200" b="1" i="0" dirty="0" smtClean="0">
                <a:solidFill>
                  <a:schemeClr val="bg1"/>
                </a:solidFill>
                <a:latin typeface="Calibri"/>
                <a:cs typeface="Calibri"/>
              </a:rPr>
              <a:t>“batch” algorithm</a:t>
            </a:r>
            <a:endParaRPr lang="en-US" sz="3200" b="1" i="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3328627"/>
            <a:ext cx="431800" cy="355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226285"/>
            <a:ext cx="3708400" cy="381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848100"/>
            <a:ext cx="12065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5747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Stochastic</a:t>
            </a:r>
            <a:r>
              <a:rPr lang="en-US" dirty="0" smtClean="0"/>
              <a:t> Gradient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946740"/>
            <a:ext cx="8229600" cy="5123860"/>
          </a:xfrm>
        </p:spPr>
        <p:txBody>
          <a:bodyPr>
            <a:normAutofit/>
          </a:bodyPr>
          <a:lstStyle/>
          <a:p>
            <a:r>
              <a:rPr lang="en-US" sz="2800" dirty="0"/>
              <a:t>applicable when objective </a:t>
            </a:r>
            <a:r>
              <a:rPr lang="en-US" sz="2800" dirty="0" smtClean="0"/>
              <a:t>function is </a:t>
            </a:r>
            <a:r>
              <a:rPr lang="en-US" sz="2800" dirty="0"/>
              <a:t>a </a:t>
            </a:r>
            <a:r>
              <a:rPr lang="en-US" sz="2800" dirty="0" smtClean="0"/>
              <a:t>sum</a:t>
            </a:r>
          </a:p>
          <a:p>
            <a:r>
              <a:rPr lang="en-US" sz="2800" dirty="0" smtClean="0"/>
              <a:t>like gradient descent, except calculates gradient on a single example at a time (“</a:t>
            </a:r>
            <a:r>
              <a:rPr lang="en-US" sz="2800" dirty="0" smtClean="0">
                <a:solidFill>
                  <a:srgbClr val="288CD2"/>
                </a:solidFill>
              </a:rPr>
              <a:t>online</a:t>
            </a:r>
            <a:r>
              <a:rPr lang="en-US" sz="2800" dirty="0" smtClean="0"/>
              <a:t>”) or on a small set of examples (“</a:t>
            </a:r>
            <a:r>
              <a:rPr lang="en-US" sz="2800" dirty="0" smtClean="0">
                <a:solidFill>
                  <a:srgbClr val="288CD2"/>
                </a:solidFill>
              </a:rPr>
              <a:t>mini-batch</a:t>
            </a:r>
            <a:r>
              <a:rPr lang="en-US" sz="2800" dirty="0" smtClean="0"/>
              <a:t>”)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3778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Stochastic</a:t>
            </a:r>
            <a:r>
              <a:rPr lang="en-US" dirty="0" smtClean="0"/>
              <a:t> Gradient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946740"/>
            <a:ext cx="8229600" cy="5123860"/>
          </a:xfrm>
        </p:spPr>
        <p:txBody>
          <a:bodyPr>
            <a:normAutofit/>
          </a:bodyPr>
          <a:lstStyle/>
          <a:p>
            <a:r>
              <a:rPr lang="en-US" sz="2800" dirty="0"/>
              <a:t>applicable when objective </a:t>
            </a:r>
            <a:r>
              <a:rPr lang="en-US" sz="2800" dirty="0" smtClean="0"/>
              <a:t>function is </a:t>
            </a:r>
            <a:r>
              <a:rPr lang="en-US" sz="2800" dirty="0"/>
              <a:t>a </a:t>
            </a:r>
            <a:r>
              <a:rPr lang="en-US" sz="2800" dirty="0" smtClean="0"/>
              <a:t>sum</a:t>
            </a:r>
          </a:p>
          <a:p>
            <a:r>
              <a:rPr lang="en-US" sz="2800" dirty="0" smtClean="0"/>
              <a:t>like gradient descent, except calculates gradient on a single example at a time (“</a:t>
            </a:r>
            <a:r>
              <a:rPr lang="en-US" sz="2800" dirty="0" smtClean="0">
                <a:solidFill>
                  <a:srgbClr val="288CD2"/>
                </a:solidFill>
              </a:rPr>
              <a:t>online</a:t>
            </a:r>
            <a:r>
              <a:rPr lang="en-US" sz="2800" dirty="0" smtClean="0"/>
              <a:t>”) or on a small set of examples (“</a:t>
            </a:r>
            <a:r>
              <a:rPr lang="en-US" sz="2800" dirty="0" smtClean="0">
                <a:solidFill>
                  <a:srgbClr val="288CD2"/>
                </a:solidFill>
              </a:rPr>
              <a:t>mini-batch</a:t>
            </a:r>
            <a:r>
              <a:rPr lang="en-US" sz="2800" dirty="0" smtClean="0"/>
              <a:t>”)</a:t>
            </a:r>
          </a:p>
          <a:p>
            <a:r>
              <a:rPr lang="en-US" sz="2800" dirty="0" smtClean="0"/>
              <a:t>converges much faster than (batch) gradient descent</a:t>
            </a:r>
          </a:p>
          <a:p>
            <a:r>
              <a:rPr lang="en-US" sz="2800" dirty="0" smtClean="0"/>
              <a:t>with conditions </a:t>
            </a:r>
            <a:r>
              <a:rPr lang="en-US" sz="2800" dirty="0"/>
              <a:t>on </a:t>
            </a:r>
            <a:r>
              <a:rPr lang="en-US" sz="2800" dirty="0" err="1"/>
              <a:t>stepsize</a:t>
            </a:r>
            <a:r>
              <a:rPr lang="en-US" sz="2800" dirty="0"/>
              <a:t> and objective function, will converge to local </a:t>
            </a:r>
            <a:r>
              <a:rPr lang="en-US" sz="2800" dirty="0" smtClean="0"/>
              <a:t>minimum</a:t>
            </a:r>
          </a:p>
          <a:p>
            <a:r>
              <a:rPr lang="en-US" sz="2800" dirty="0" smtClean="0"/>
              <a:t>there are many popular variants: </a:t>
            </a:r>
          </a:p>
          <a:p>
            <a:pPr marL="0" indent="0">
              <a:buNone/>
            </a:pPr>
            <a:r>
              <a:rPr lang="en-US" sz="2400" dirty="0" smtClean="0"/>
              <a:t>     </a:t>
            </a:r>
            <a:r>
              <a:rPr lang="en-US" sz="2400" dirty="0" err="1" smtClean="0"/>
              <a:t>SGD+momentum</a:t>
            </a:r>
            <a:r>
              <a:rPr lang="en-US" sz="2400" dirty="0" smtClean="0"/>
              <a:t>,</a:t>
            </a:r>
            <a:r>
              <a:rPr lang="en-US" sz="2800" dirty="0" smtClean="0"/>
              <a:t> </a:t>
            </a:r>
            <a:r>
              <a:rPr lang="en-US" sz="2400" dirty="0" err="1" smtClean="0"/>
              <a:t>AdaGrad</a:t>
            </a:r>
            <a:r>
              <a:rPr lang="en-US" sz="2400" dirty="0" smtClean="0"/>
              <a:t>, </a:t>
            </a:r>
            <a:r>
              <a:rPr lang="en-US" sz="2400" dirty="0" err="1" smtClean="0"/>
              <a:t>AdaDelta</a:t>
            </a:r>
            <a:r>
              <a:rPr lang="en-US" sz="2400" dirty="0" smtClean="0"/>
              <a:t>, Adam, </a:t>
            </a:r>
            <a:r>
              <a:rPr lang="en-US" sz="2400" dirty="0" err="1" smtClean="0"/>
              <a:t>RMSprop</a:t>
            </a:r>
            <a:r>
              <a:rPr lang="en-US" sz="2400" dirty="0" smtClean="0"/>
              <a:t>, etc.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9910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if </a:t>
            </a:r>
            <a:r>
              <a:rPr lang="en-US" i="1" dirty="0" smtClean="0"/>
              <a:t>F</a:t>
            </a:r>
            <a:r>
              <a:rPr lang="en-US" dirty="0" smtClean="0"/>
              <a:t> is not differentiable?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946740"/>
            <a:ext cx="8229600" cy="432376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some loss functions are not differentiable:</a:t>
            </a:r>
          </a:p>
          <a:p>
            <a:endParaRPr lang="en-US" sz="2800" dirty="0" smtClean="0"/>
          </a:p>
          <a:p>
            <a:endParaRPr lang="en-US" sz="2800" dirty="0"/>
          </a:p>
          <a:p>
            <a:pPr marL="0" indent="0">
              <a:buNone/>
            </a:pPr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but they </a:t>
            </a:r>
            <a:r>
              <a:rPr lang="en-US" sz="2800" i="1" dirty="0" smtClean="0"/>
              <a:t>are</a:t>
            </a:r>
            <a:r>
              <a:rPr lang="en-US" sz="2800" dirty="0" smtClean="0"/>
              <a:t> </a:t>
            </a:r>
            <a:r>
              <a:rPr lang="en-US" sz="2800" dirty="0" err="1" smtClean="0">
                <a:solidFill>
                  <a:srgbClr val="288CD2"/>
                </a:solidFill>
              </a:rPr>
              <a:t>subdifferentiable</a:t>
            </a:r>
            <a:r>
              <a:rPr lang="en-US" sz="2800" dirty="0" smtClean="0"/>
              <a:t>, so we can compute </a:t>
            </a:r>
            <a:r>
              <a:rPr lang="en-US" sz="2800" dirty="0" err="1" smtClean="0">
                <a:solidFill>
                  <a:srgbClr val="288CD2"/>
                </a:solidFill>
              </a:rPr>
              <a:t>subgradients</a:t>
            </a:r>
            <a:r>
              <a:rPr lang="en-US" sz="2800" dirty="0"/>
              <a:t> </a:t>
            </a:r>
            <a:r>
              <a:rPr lang="en-US" sz="2800" dirty="0" smtClean="0"/>
              <a:t>and use (stochastic) </a:t>
            </a:r>
            <a:r>
              <a:rPr lang="en-US" sz="2800" dirty="0" err="1" smtClean="0"/>
              <a:t>subgradient</a:t>
            </a:r>
            <a:r>
              <a:rPr lang="en-US" sz="2800" dirty="0" smtClean="0"/>
              <a:t> descent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136" y="1769964"/>
            <a:ext cx="7429500" cy="4953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0" y="2687021"/>
            <a:ext cx="8394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650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Subderivatives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946740"/>
            <a:ext cx="8229600" cy="5555660"/>
          </a:xfrm>
        </p:spPr>
        <p:txBody>
          <a:bodyPr>
            <a:normAutofit/>
          </a:bodyPr>
          <a:lstStyle/>
          <a:p>
            <a:r>
              <a:rPr lang="en-US" sz="2800" dirty="0" err="1" smtClean="0">
                <a:solidFill>
                  <a:srgbClr val="288CD2"/>
                </a:solidFill>
              </a:rPr>
              <a:t>subderivative</a:t>
            </a:r>
            <a:r>
              <a:rPr lang="en-US" sz="2800" dirty="0"/>
              <a:t>:</a:t>
            </a:r>
            <a:r>
              <a:rPr lang="en-US" sz="2800" dirty="0" smtClean="0"/>
              <a:t> generalization of derivative for </a:t>
            </a:r>
            <a:r>
              <a:rPr lang="en-US" sz="2800" dirty="0" err="1" smtClean="0"/>
              <a:t>nondifferentiable</a:t>
            </a:r>
            <a:r>
              <a:rPr lang="en-US" sz="2800" dirty="0" smtClean="0"/>
              <a:t>, convex functions</a:t>
            </a:r>
          </a:p>
          <a:p>
            <a:endParaRPr lang="en-US" sz="2800" dirty="0" smtClean="0"/>
          </a:p>
          <a:p>
            <a:r>
              <a:rPr lang="en-US" sz="2800" dirty="0" smtClean="0"/>
              <a:t>there may be multiple </a:t>
            </a:r>
          </a:p>
          <a:p>
            <a:pPr marL="0" indent="0">
              <a:buNone/>
            </a:pPr>
            <a:r>
              <a:rPr lang="en-US" sz="2800" dirty="0" smtClean="0"/>
              <a:t>    </a:t>
            </a:r>
            <a:r>
              <a:rPr lang="en-US" sz="2800" dirty="0" err="1" smtClean="0"/>
              <a:t>subderivatives</a:t>
            </a:r>
            <a:r>
              <a:rPr lang="en-US" sz="2800" dirty="0" smtClean="0"/>
              <a:t> at a point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(red lines)</a:t>
            </a:r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 smtClean="0"/>
              <a:t>this set is called the </a:t>
            </a:r>
            <a:r>
              <a:rPr lang="en-US" sz="2800" dirty="0" err="1" smtClean="0">
                <a:solidFill>
                  <a:srgbClr val="288CD2"/>
                </a:solidFill>
              </a:rPr>
              <a:t>subdifferential</a:t>
            </a:r>
            <a:endParaRPr lang="en-US" sz="2800" dirty="0" smtClean="0">
              <a:solidFill>
                <a:srgbClr val="288CD2"/>
              </a:solidFill>
            </a:endParaRPr>
          </a:p>
          <a:p>
            <a:r>
              <a:rPr lang="en-US" sz="2800" dirty="0" smtClean="0"/>
              <a:t>a convex function </a:t>
            </a:r>
            <a:r>
              <a:rPr lang="en-US" sz="2800" i="1" dirty="0" smtClean="0"/>
              <a:t>g</a:t>
            </a:r>
            <a:r>
              <a:rPr lang="en-US" sz="2800" dirty="0" smtClean="0"/>
              <a:t> is differentiable at point x</a:t>
            </a:r>
            <a:r>
              <a:rPr lang="en-US" sz="2800" baseline="-25000" dirty="0" smtClean="0"/>
              <a:t>0</a:t>
            </a:r>
            <a:r>
              <a:rPr lang="en-US" sz="2800" dirty="0" smtClean="0"/>
              <a:t> if and only if the </a:t>
            </a:r>
            <a:r>
              <a:rPr lang="en-US" sz="2800" dirty="0" err="1" smtClean="0"/>
              <a:t>subdifferential</a:t>
            </a:r>
            <a:r>
              <a:rPr lang="en-US" sz="2800" dirty="0" smtClean="0"/>
              <a:t> of </a:t>
            </a:r>
            <a:r>
              <a:rPr lang="en-US" sz="2800" i="1" dirty="0" smtClean="0"/>
              <a:t>g</a:t>
            </a:r>
            <a:r>
              <a:rPr lang="en-US" sz="2800" dirty="0" smtClean="0"/>
              <a:t> at x</a:t>
            </a:r>
            <a:r>
              <a:rPr lang="en-US" sz="2800" baseline="-25000" dirty="0" smtClean="0"/>
              <a:t>0 </a:t>
            </a:r>
            <a:r>
              <a:rPr lang="en-US" sz="2800" dirty="0" smtClean="0"/>
              <a:t>contains only the derivative of </a:t>
            </a:r>
            <a:r>
              <a:rPr lang="en-US" sz="2800" i="1" dirty="0" smtClean="0"/>
              <a:t>g </a:t>
            </a:r>
            <a:r>
              <a:rPr lang="en-US" sz="2800" dirty="0" smtClean="0"/>
              <a:t>at </a:t>
            </a:r>
            <a:r>
              <a:rPr lang="en-US" sz="2800" dirty="0"/>
              <a:t>x</a:t>
            </a:r>
            <a:r>
              <a:rPr lang="en-US" sz="2800" baseline="-25000" dirty="0"/>
              <a:t>0</a:t>
            </a:r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80</a:t>
            </a:fld>
            <a:endParaRPr lang="en-US"/>
          </a:p>
        </p:txBody>
      </p:sp>
      <p:pic>
        <p:nvPicPr>
          <p:cNvPr id="5" name="Picture 4" descr="220px-Subderivative_illustratio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771" y="1689100"/>
            <a:ext cx="2594429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6246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Stochastic </a:t>
            </a:r>
            <a:r>
              <a:rPr lang="en-US" dirty="0" err="1" smtClean="0"/>
              <a:t>Subgradient</a:t>
            </a:r>
            <a:r>
              <a:rPr lang="en-US" dirty="0" smtClean="0"/>
              <a:t>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just like stochastic gradient descent, except replace gradients with </a:t>
            </a:r>
            <a:r>
              <a:rPr lang="en-US" dirty="0" err="1" smtClean="0"/>
              <a:t>subgradients</a:t>
            </a:r>
            <a:endParaRPr lang="en-US" dirty="0" smtClean="0"/>
          </a:p>
          <a:p>
            <a:r>
              <a:rPr lang="en-US" dirty="0" smtClean="0"/>
              <a:t>similarly strong theoretical guarantees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384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Calculating </a:t>
            </a:r>
            <a:r>
              <a:rPr lang="en-US" dirty="0" err="1" smtClean="0"/>
              <a:t>Subgradients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 points of differentiability, just use your rules for calculating gradients</a:t>
            </a:r>
          </a:p>
          <a:p>
            <a:r>
              <a:rPr lang="en-US" dirty="0" smtClean="0"/>
              <a:t>at points of </a:t>
            </a:r>
            <a:r>
              <a:rPr lang="en-US" dirty="0" err="1" smtClean="0"/>
              <a:t>nondifferentiability</a:t>
            </a:r>
            <a:r>
              <a:rPr lang="en-US" dirty="0" smtClean="0"/>
              <a:t>, just find a single </a:t>
            </a:r>
            <a:r>
              <a:rPr lang="en-US" dirty="0" err="1" smtClean="0"/>
              <a:t>subgradient</a:t>
            </a:r>
            <a:r>
              <a:rPr lang="en-US" dirty="0" smtClean="0"/>
              <a:t>; </a:t>
            </a:r>
            <a:r>
              <a:rPr lang="en-US" i="1" dirty="0" smtClean="0"/>
              <a:t>any </a:t>
            </a:r>
            <a:r>
              <a:rPr lang="en-US" dirty="0" err="1" smtClean="0"/>
              <a:t>subgradient</a:t>
            </a:r>
            <a:r>
              <a:rPr lang="en-US" dirty="0" smtClean="0"/>
              <a:t> will do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008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Subgradient</a:t>
            </a:r>
            <a:r>
              <a:rPr lang="en-US" dirty="0" smtClean="0"/>
              <a:t>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83</a:t>
            </a:fld>
            <a:endParaRPr lang="en-US"/>
          </a:p>
        </p:txBody>
      </p:sp>
      <p:pic>
        <p:nvPicPr>
          <p:cNvPr id="6" name="Picture 5" descr="AbsReal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155700"/>
            <a:ext cx="4137471" cy="2781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4457700"/>
            <a:ext cx="2921000" cy="317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914900"/>
            <a:ext cx="2679700" cy="317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00" y="5378450"/>
            <a:ext cx="3060700" cy="3175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073400" y="4267200"/>
            <a:ext cx="1206500" cy="161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930400"/>
            <a:ext cx="32258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8313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Subgradient</a:t>
            </a:r>
            <a:r>
              <a:rPr lang="en-US" dirty="0" smtClean="0"/>
              <a:t>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" y="4457700"/>
            <a:ext cx="2921000" cy="317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914900"/>
            <a:ext cx="2679700" cy="317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" y="5378450"/>
            <a:ext cx="3060700" cy="3175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073400" y="5257800"/>
            <a:ext cx="1206500" cy="673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bsReal.gi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155700"/>
            <a:ext cx="4137471" cy="27813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930400"/>
            <a:ext cx="32258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7172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Subgradient</a:t>
            </a:r>
            <a:r>
              <a:rPr lang="en-US" dirty="0" smtClean="0"/>
              <a:t>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85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4457700"/>
            <a:ext cx="2921000" cy="317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914900"/>
            <a:ext cx="2679700" cy="317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00" y="5378450"/>
            <a:ext cx="3060700" cy="317500"/>
          </a:xfrm>
          <a:prstGeom prst="rect">
            <a:avLst/>
          </a:prstGeom>
        </p:spPr>
      </p:pic>
      <p:pic>
        <p:nvPicPr>
          <p:cNvPr id="11" name="Picture 10" descr="AbsReal.gi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155700"/>
            <a:ext cx="4137471" cy="27813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930400"/>
            <a:ext cx="3225800" cy="317500"/>
          </a:xfrm>
          <a:prstGeom prst="rect">
            <a:avLst/>
          </a:prstGeom>
        </p:spPr>
      </p:pic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064000" y="4084785"/>
            <a:ext cx="4927600" cy="2636690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to find a </a:t>
            </a:r>
            <a:r>
              <a:rPr lang="en-US" sz="2800" dirty="0" err="1" smtClean="0"/>
              <a:t>subgradient</a:t>
            </a:r>
            <a:r>
              <a:rPr lang="en-US" sz="2800" dirty="0" smtClean="0"/>
              <a:t> of max of convex functions at a point, choose one function that achieves the max at that point and choose any of its </a:t>
            </a:r>
            <a:r>
              <a:rPr lang="en-US" sz="2800" dirty="0" err="1" smtClean="0"/>
              <a:t>subgradients</a:t>
            </a:r>
            <a:r>
              <a:rPr lang="en-US" sz="2800" dirty="0" smtClean="0"/>
              <a:t> at the point</a:t>
            </a:r>
          </a:p>
        </p:txBody>
      </p:sp>
    </p:spTree>
    <p:extLst>
      <p:ext uri="{BB962C8B-B14F-4D97-AF65-F5344CB8AC3E}">
        <p14:creationId xmlns:p14="http://schemas.microsoft.com/office/powerpoint/2010/main" val="40684987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40886</TotalTime>
  <Words>2447</Words>
  <Application>Microsoft Macintosh PowerPoint</Application>
  <PresentationFormat>On-screen Show (4:3)</PresentationFormat>
  <Paragraphs>542</Paragraphs>
  <Slides>85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6" baseType="lpstr">
      <vt:lpstr>Office Theme</vt:lpstr>
      <vt:lpstr>TTIC 31190: Natural Language Processing</vt:lpstr>
      <vt:lpstr>Assignment 1</vt:lpstr>
      <vt:lpstr>Roadmap</vt:lpstr>
      <vt:lpstr>PowerPoint Presentation</vt:lpstr>
      <vt:lpstr>Text Classification</vt:lpstr>
      <vt:lpstr>What is a classifier?</vt:lpstr>
      <vt:lpstr>Modeling, Inference, Learning</vt:lpstr>
      <vt:lpstr>Modeling, Inference, Learning</vt:lpstr>
      <vt:lpstr>Modeling, Inference, Learning</vt:lpstr>
      <vt:lpstr>Modeling, Inference, Learning</vt:lpstr>
      <vt:lpstr>Text Classification</vt:lpstr>
      <vt:lpstr>Linear Models</vt:lpstr>
      <vt:lpstr>PowerPoint Presentation</vt:lpstr>
      <vt:lpstr>PowerPoint Presentation</vt:lpstr>
      <vt:lpstr>Example: Part-of-Speech Tagging</vt:lpstr>
      <vt:lpstr>Text Classification</vt:lpstr>
      <vt:lpstr>Modeling, Inference, Learning</vt:lpstr>
      <vt:lpstr>Text Classification</vt:lpstr>
      <vt:lpstr>Learning: Empirical Risk Minimization</vt:lpstr>
      <vt:lpstr>Learning: Empirical Risk Minimization</vt:lpstr>
      <vt:lpstr>Cost Functions</vt:lpstr>
      <vt:lpstr>Cost Functions</vt:lpstr>
      <vt:lpstr>Cost Functions</vt:lpstr>
      <vt:lpstr>Risk Minimization</vt:lpstr>
      <vt:lpstr>Risk Minimization</vt:lpstr>
      <vt:lpstr>Risk Minimization</vt:lpstr>
      <vt:lpstr>Empirical Risk Minimization (Vapnik et al.)</vt:lpstr>
      <vt:lpstr>Empirical Risk Minimization (Vapnik et al.)</vt:lpstr>
      <vt:lpstr>PowerPoint Presentation</vt:lpstr>
      <vt:lpstr>PowerPoint Presentation</vt:lpstr>
      <vt:lpstr>Text Classification</vt:lpstr>
      <vt:lpstr>Surrogate Loss Functions</vt:lpstr>
      <vt:lpstr>Surrogate Loss Functions</vt:lpstr>
      <vt:lpstr>Surrogate Loss Functions</vt:lpstr>
      <vt:lpstr>Surrogate Loss Functions</vt:lpstr>
      <vt:lpstr>Surrogate Loss Functions</vt:lpstr>
      <vt:lpstr>Surrogate Loss Functions</vt:lpstr>
      <vt:lpstr>Surrogate Loss Functions</vt:lpstr>
      <vt:lpstr>Surrogate Loss Functions</vt:lpstr>
      <vt:lpstr>Surrogate Loss Functions</vt:lpstr>
      <vt:lpstr>Visualization</vt:lpstr>
      <vt:lpstr>Visualization</vt:lpstr>
      <vt:lpstr>Visualization</vt:lpstr>
      <vt:lpstr>Visualization</vt:lpstr>
      <vt:lpstr>Visualization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 Loss</vt:lpstr>
      <vt:lpstr>Score  Probability</vt:lpstr>
      <vt:lpstr>Log Loss</vt:lpstr>
      <vt:lpstr>Log Loss</vt:lpstr>
      <vt:lpstr>Log Loss</vt:lpstr>
      <vt:lpstr>Empirical Risk Minimization</vt:lpstr>
      <vt:lpstr>Regularized Empirical Risk Minimization</vt:lpstr>
      <vt:lpstr>Regularized Empirical Risk Minimization</vt:lpstr>
      <vt:lpstr>Regularization Terms</vt:lpstr>
      <vt:lpstr>Regularization Terms</vt:lpstr>
      <vt:lpstr>Text Classification</vt:lpstr>
      <vt:lpstr>Gradient Descent</vt:lpstr>
      <vt:lpstr>Gradient Descent</vt:lpstr>
      <vt:lpstr>Gradient Descent</vt:lpstr>
      <vt:lpstr>Gradient Descent</vt:lpstr>
      <vt:lpstr>Gradient Descent</vt:lpstr>
      <vt:lpstr>Gradient Descent</vt:lpstr>
      <vt:lpstr>Stochastic Gradient Descent</vt:lpstr>
      <vt:lpstr>Stochastic Gradient Descent</vt:lpstr>
      <vt:lpstr>What if F is not differentiable?</vt:lpstr>
      <vt:lpstr>Subderivatives</vt:lpstr>
      <vt:lpstr>Stochastic Subgradient Descent</vt:lpstr>
      <vt:lpstr>Calculating Subgradients</vt:lpstr>
      <vt:lpstr>Subgradient Examples</vt:lpstr>
      <vt:lpstr>Subgradient Examples</vt:lpstr>
      <vt:lpstr>Subgradient Examples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</cp:lastModifiedBy>
  <cp:revision>457</cp:revision>
  <dcterms:created xsi:type="dcterms:W3CDTF">2015-08-31T18:15:35Z</dcterms:created>
  <dcterms:modified xsi:type="dcterms:W3CDTF">2018-04-09T22:34:51Z</dcterms:modified>
</cp:coreProperties>
</file>