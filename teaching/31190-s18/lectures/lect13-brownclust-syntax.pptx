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256" r:id="rId2"/>
    <p:sldId id="1364" r:id="rId3"/>
    <p:sldId id="1576" r:id="rId4"/>
    <p:sldId id="520" r:id="rId5"/>
    <p:sldId id="1455" r:id="rId6"/>
    <p:sldId id="1504" r:id="rId7"/>
    <p:sldId id="1509" r:id="rId8"/>
    <p:sldId id="1765" r:id="rId9"/>
    <p:sldId id="1672" r:id="rId10"/>
    <p:sldId id="1762" r:id="rId11"/>
    <p:sldId id="1671" r:id="rId12"/>
    <p:sldId id="1763" r:id="rId13"/>
    <p:sldId id="1764" r:id="rId14"/>
    <p:sldId id="1662" r:id="rId15"/>
    <p:sldId id="1658" r:id="rId16"/>
    <p:sldId id="1665" r:id="rId17"/>
    <p:sldId id="1600" r:id="rId18"/>
    <p:sldId id="1601" r:id="rId19"/>
    <p:sldId id="1668" r:id="rId20"/>
    <p:sldId id="1603" r:id="rId21"/>
    <p:sldId id="1670" r:id="rId22"/>
    <p:sldId id="1604" r:id="rId23"/>
    <p:sldId id="1460" r:id="rId24"/>
    <p:sldId id="1461" r:id="rId25"/>
    <p:sldId id="1462" r:id="rId26"/>
    <p:sldId id="1465" r:id="rId27"/>
    <p:sldId id="1675" r:id="rId28"/>
    <p:sldId id="1468" r:id="rId29"/>
    <p:sldId id="1676" r:id="rId30"/>
    <p:sldId id="1469" r:id="rId31"/>
    <p:sldId id="1480" r:id="rId32"/>
    <p:sldId id="1481" r:id="rId33"/>
    <p:sldId id="1482" r:id="rId34"/>
    <p:sldId id="1483" r:id="rId35"/>
    <p:sldId id="1486" r:id="rId36"/>
    <p:sldId id="1484" r:id="rId37"/>
    <p:sldId id="1485" r:id="rId38"/>
    <p:sldId id="1760" r:id="rId39"/>
    <p:sldId id="1661" r:id="rId40"/>
    <p:sldId id="1660" r:id="rId41"/>
    <p:sldId id="1659" r:id="rId42"/>
    <p:sldId id="1749" r:id="rId43"/>
    <p:sldId id="1678" r:id="rId44"/>
    <p:sldId id="1679" r:id="rId45"/>
    <p:sldId id="1680" r:id="rId46"/>
    <p:sldId id="1681" r:id="rId47"/>
    <p:sldId id="1682" r:id="rId48"/>
    <p:sldId id="1683" r:id="rId49"/>
    <p:sldId id="1684" r:id="rId50"/>
    <p:sldId id="1757" r:id="rId51"/>
    <p:sldId id="1758" r:id="rId52"/>
    <p:sldId id="1685" r:id="rId53"/>
    <p:sldId id="1686" r:id="rId54"/>
    <p:sldId id="1687" r:id="rId55"/>
    <p:sldId id="1688" r:id="rId56"/>
    <p:sldId id="1689" r:id="rId57"/>
    <p:sldId id="1691" r:id="rId58"/>
    <p:sldId id="1692" r:id="rId59"/>
    <p:sldId id="1716" r:id="rId60"/>
    <p:sldId id="1717" r:id="rId61"/>
    <p:sldId id="1718" r:id="rId62"/>
    <p:sldId id="1693" r:id="rId63"/>
    <p:sldId id="1694" r:id="rId64"/>
    <p:sldId id="1719" r:id="rId65"/>
    <p:sldId id="1720" r:id="rId66"/>
    <p:sldId id="1697" r:id="rId67"/>
    <p:sldId id="1761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006E2C"/>
    <a:srgbClr val="BC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6"/>
    <p:restoredTop sz="87347" autoAdjust="0"/>
  </p:normalViewPr>
  <p:slideViewPr>
    <p:cSldViewPr snapToGrid="0" snapToObjects="1">
      <p:cViewPr varScale="1">
        <p:scale>
          <a:sx n="111" d="100"/>
          <a:sy n="111" d="100"/>
        </p:scale>
        <p:origin x="112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2/7/19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2/7/19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&amp;V(1,y)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{&lt;s&gt;}},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\max_{y'\in\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y',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+ V(m-1, y')\right)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9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y_{i-1},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 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&amp;V(1,y)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{&lt;s&gt;}},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\max_{y'\in\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y',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+ V(m-1, y')\right)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15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y_{i-1},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 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&amp;V(1,y)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{&lt;s&gt;}},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\max_{y'\in\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y',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+ V(m-1, y')\right)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63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y_{i-1},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= \sum_{\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{x}_r^{\phantom{'}},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{y}_r\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{parts}(\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{y})}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{x}_r^{\phantom{'}},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{y}_r,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&amp;V(1,y)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{&lt;s&gt;}},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&amp;V(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\max_{y'\in\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{L}}\left(\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y', y\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+ V(m-1, y')\right)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40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%nlp18:hmm-ex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 = \{\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{noun},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{verb}, ...\}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{for}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{verb})\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{walk}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{verb})\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{for}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{noun})\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{walk}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{noun})\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{verb}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{noun})\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{noun}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{noun})\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{17})\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{2}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{17})\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{for}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{17})\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{walk}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{17})\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= \log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{\eta}}(x' \mid y')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y_{i-1}) \;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&amp;...\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9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_{\boldsymbol{w}} \:\sum_{i=1}^{N} \log p_{\boldsymbol{w}}(\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{x}^{(i)}, 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{y}^{(i)})</a:t>
            </a:r>
          </a:p>
          <a:p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_{\boldsymbol{w}} \:\sum_{i=1}^{N} \log \sum_{\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{y}} p_{\boldsymbol{w}}(\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{x}^{(i)}, 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{y})</a:t>
            </a:r>
          </a:p>
          <a:p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%p_{\boldsymbol{w}}(\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{x}^{(i)}, \</a:t>
            </a:r>
            <a:r>
              <a:rPr lang="da-DK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da-DK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{y}^{(i)})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61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 err="1"/>
              <a:t>misse</a:t>
            </a:r>
            <a:r>
              <a:rPr lang="en-US" dirty="0"/>
              <a:t> </a:t>
            </a:r>
            <a:r>
              <a:rPr lang="en-US" dirty="0" err="1"/>
              <a:t>loveddd</a:t>
            </a:r>
            <a:r>
              <a:rPr lang="en-US" dirty="0"/>
              <a:t> </a:t>
            </a:r>
            <a:r>
              <a:rPr lang="en-US" dirty="0" err="1"/>
              <a:t>mised</a:t>
            </a:r>
            <a:r>
              <a:rPr lang="en-US" dirty="0"/>
              <a:t> </a:t>
            </a:r>
            <a:r>
              <a:rPr lang="en-US" dirty="0" err="1"/>
              <a:t>luv'd</a:t>
            </a:r>
            <a:r>
              <a:rPr lang="en-US" dirty="0"/>
              <a:t> </a:t>
            </a:r>
            <a:r>
              <a:rPr lang="en-US" dirty="0" err="1"/>
              <a:t>mis</a:t>
            </a:r>
            <a:r>
              <a:rPr lang="en-US" dirty="0"/>
              <a:t>-read </a:t>
            </a:r>
            <a:r>
              <a:rPr lang="en-US" dirty="0" err="1"/>
              <a:t>loooooved</a:t>
            </a:r>
            <a:r>
              <a:rPr lang="en-US" dirty="0"/>
              <a:t> resented </a:t>
            </a:r>
            <a:r>
              <a:rPr lang="en-US" dirty="0" err="1"/>
              <a:t>lovedddd</a:t>
            </a:r>
            <a:r>
              <a:rPr lang="en-US" dirty="0"/>
              <a:t> </a:t>
            </a:r>
            <a:r>
              <a:rPr lang="en-US" dirty="0" err="1"/>
              <a:t>choosed</a:t>
            </a:r>
            <a:r>
              <a:rPr lang="en-US" dirty="0"/>
              <a:t> </a:t>
            </a:r>
            <a:r>
              <a:rPr lang="en-US" dirty="0" err="1"/>
              <a:t>missedd</a:t>
            </a:r>
            <a:r>
              <a:rPr lang="en-US" dirty="0"/>
              <a:t> </a:t>
            </a:r>
            <a:r>
              <a:rPr lang="en-US" dirty="0" err="1"/>
              <a:t>loveed</a:t>
            </a:r>
            <a:r>
              <a:rPr lang="en-US" dirty="0"/>
              <a:t> </a:t>
            </a:r>
            <a:r>
              <a:rPr lang="en-US" dirty="0" err="1"/>
              <a:t>pvr'd</a:t>
            </a:r>
            <a:r>
              <a:rPr lang="en-US" dirty="0"/>
              <a:t> detested </a:t>
            </a:r>
            <a:r>
              <a:rPr lang="en-US" dirty="0" err="1"/>
              <a:t>looooooved</a:t>
            </a:r>
            <a:r>
              <a:rPr lang="en-US" dirty="0"/>
              <a:t> biffed </a:t>
            </a:r>
            <a:r>
              <a:rPr lang="en-US" dirty="0" err="1"/>
              <a:t>looved</a:t>
            </a:r>
            <a:r>
              <a:rPr lang="en-US" dirty="0"/>
              <a:t> </a:t>
            </a:r>
            <a:r>
              <a:rPr lang="en-US" dirty="0" err="1"/>
              <a:t>miss'd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 err="1"/>
              <a:t>misse</a:t>
            </a:r>
            <a:r>
              <a:rPr lang="en-US" dirty="0"/>
              <a:t> </a:t>
            </a:r>
            <a:r>
              <a:rPr lang="en-US" dirty="0" err="1"/>
              <a:t>loveddd</a:t>
            </a:r>
            <a:r>
              <a:rPr lang="en-US" dirty="0"/>
              <a:t> </a:t>
            </a:r>
            <a:r>
              <a:rPr lang="en-US" dirty="0" err="1"/>
              <a:t>mised</a:t>
            </a:r>
            <a:r>
              <a:rPr lang="en-US" dirty="0"/>
              <a:t> </a:t>
            </a:r>
            <a:r>
              <a:rPr lang="en-US" dirty="0" err="1"/>
              <a:t>luv'd</a:t>
            </a:r>
            <a:r>
              <a:rPr lang="en-US" dirty="0"/>
              <a:t> </a:t>
            </a:r>
            <a:r>
              <a:rPr lang="en-US" dirty="0" err="1"/>
              <a:t>mis</a:t>
            </a:r>
            <a:r>
              <a:rPr lang="en-US" dirty="0"/>
              <a:t>-read </a:t>
            </a:r>
            <a:r>
              <a:rPr lang="en-US" dirty="0" err="1"/>
              <a:t>loooooved</a:t>
            </a:r>
            <a:r>
              <a:rPr lang="en-US" dirty="0"/>
              <a:t> resented </a:t>
            </a:r>
            <a:r>
              <a:rPr lang="en-US" dirty="0" err="1"/>
              <a:t>lovedddd</a:t>
            </a:r>
            <a:r>
              <a:rPr lang="en-US" dirty="0"/>
              <a:t> </a:t>
            </a:r>
            <a:r>
              <a:rPr lang="en-US" dirty="0" err="1"/>
              <a:t>choosed</a:t>
            </a:r>
            <a:r>
              <a:rPr lang="en-US" dirty="0"/>
              <a:t> </a:t>
            </a:r>
            <a:r>
              <a:rPr lang="en-US" dirty="0" err="1"/>
              <a:t>missedd</a:t>
            </a:r>
            <a:r>
              <a:rPr lang="en-US" dirty="0"/>
              <a:t> </a:t>
            </a:r>
            <a:r>
              <a:rPr lang="en-US" dirty="0" err="1"/>
              <a:t>loveed</a:t>
            </a:r>
            <a:r>
              <a:rPr lang="en-US" dirty="0"/>
              <a:t> </a:t>
            </a:r>
            <a:r>
              <a:rPr lang="en-US" dirty="0" err="1"/>
              <a:t>pvr'd</a:t>
            </a:r>
            <a:r>
              <a:rPr lang="en-US" dirty="0"/>
              <a:t> detested </a:t>
            </a:r>
            <a:r>
              <a:rPr lang="en-US" dirty="0" err="1"/>
              <a:t>looooooved</a:t>
            </a:r>
            <a:r>
              <a:rPr lang="en-US" dirty="0"/>
              <a:t> biffed </a:t>
            </a:r>
            <a:r>
              <a:rPr lang="en-US" dirty="0" err="1"/>
              <a:t>looved</a:t>
            </a:r>
            <a:r>
              <a:rPr lang="en-US" dirty="0"/>
              <a:t> </a:t>
            </a:r>
            <a:r>
              <a:rPr lang="en-US" dirty="0" err="1"/>
              <a:t>miss'd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sooooooooooooooooooooo</a:t>
            </a:r>
            <a:r>
              <a:rPr lang="en-US" dirty="0"/>
              <a:t> so0o0o </a:t>
            </a:r>
            <a:r>
              <a:rPr lang="en-US" dirty="0" err="1"/>
              <a:t>sososososo</a:t>
            </a:r>
            <a:r>
              <a:rPr lang="en-US" dirty="0"/>
              <a:t> </a:t>
            </a:r>
            <a:r>
              <a:rPr lang="en-US" dirty="0" err="1"/>
              <a:t>soooooooooooooooooooooo</a:t>
            </a:r>
            <a:r>
              <a:rPr lang="en-US" dirty="0"/>
              <a:t> </a:t>
            </a:r>
            <a:r>
              <a:rPr lang="en-US" dirty="0" err="1"/>
              <a:t>sssoooo</a:t>
            </a:r>
            <a:r>
              <a:rPr lang="en-US" dirty="0"/>
              <a:t> </a:t>
            </a:r>
            <a:r>
              <a:rPr lang="en-US" dirty="0" err="1"/>
              <a:t>ssooooo</a:t>
            </a:r>
            <a:r>
              <a:rPr lang="en-US" dirty="0"/>
              <a:t> </a:t>
            </a:r>
            <a:r>
              <a:rPr lang="en-US" dirty="0" err="1"/>
              <a:t>superrrrr</a:t>
            </a:r>
            <a:r>
              <a:rPr lang="en-US" dirty="0"/>
              <a:t> very2 s000 </a:t>
            </a:r>
            <a:r>
              <a:rPr lang="en-US" dirty="0" err="1"/>
              <a:t>soooooooooooooooooooooooo</a:t>
            </a:r>
            <a:r>
              <a:rPr lang="en-US" dirty="0"/>
              <a:t> </a:t>
            </a:r>
            <a:r>
              <a:rPr lang="en-US" dirty="0" err="1"/>
              <a:t>sooooooooooooooooooooooooo</a:t>
            </a:r>
            <a:r>
              <a:rPr lang="en-US" dirty="0"/>
              <a:t> </a:t>
            </a:r>
            <a:r>
              <a:rPr lang="en-US" dirty="0" err="1"/>
              <a:t>sooooooooooooooooooooooo</a:t>
            </a:r>
            <a:r>
              <a:rPr lang="en-US" dirty="0"/>
              <a:t> _so_ </a:t>
            </a:r>
            <a:r>
              <a:rPr lang="en-US" dirty="0" err="1"/>
              <a:t>soooooooooooooooooooooooooo</a:t>
            </a:r>
            <a:r>
              <a:rPr lang="en-US" dirty="0"/>
              <a:t> /so/ </a:t>
            </a:r>
            <a:r>
              <a:rPr lang="en-US" dirty="0" err="1"/>
              <a:t>sssooooo</a:t>
            </a:r>
            <a:r>
              <a:rPr lang="en-US" dirty="0"/>
              <a:t> </a:t>
            </a:r>
            <a:r>
              <a:rPr lang="en-US" dirty="0" err="1"/>
              <a:t>sosososososo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endParaRPr lang="en-US" sz="1100" dirty="0"/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sz="1100" dirty="0"/>
              <a:t>crazy nuts insane </a:t>
            </a:r>
            <a:r>
              <a:rPr lang="en-US" sz="1100" dirty="0" err="1"/>
              <a:t>cray</a:t>
            </a:r>
            <a:r>
              <a:rPr lang="en-US" sz="1100" dirty="0"/>
              <a:t> tuff </a:t>
            </a:r>
            <a:r>
              <a:rPr lang="en-US" sz="1100" dirty="0" err="1"/>
              <a:t>krazy</a:t>
            </a:r>
            <a:r>
              <a:rPr lang="en-US" sz="1100" dirty="0"/>
              <a:t> </a:t>
            </a:r>
            <a:r>
              <a:rPr lang="en-US" sz="1100" dirty="0" err="1"/>
              <a:t>crazyy</a:t>
            </a:r>
            <a:r>
              <a:rPr lang="en-US" sz="1100" dirty="0"/>
              <a:t> bonkers </a:t>
            </a:r>
            <a:r>
              <a:rPr lang="en-US" sz="1100" dirty="0" err="1"/>
              <a:t>crazyyy</a:t>
            </a:r>
            <a:r>
              <a:rPr lang="en-US" sz="1100" dirty="0"/>
              <a:t> </a:t>
            </a:r>
            <a:r>
              <a:rPr lang="en-US" sz="1100" dirty="0" err="1"/>
              <a:t>nutz</a:t>
            </a:r>
            <a:r>
              <a:rPr lang="en-US" sz="1100" dirty="0"/>
              <a:t> </a:t>
            </a:r>
            <a:r>
              <a:rPr lang="en-US" sz="1100" dirty="0" err="1"/>
              <a:t>smoove</a:t>
            </a:r>
            <a:r>
              <a:rPr lang="en-US" sz="1100" dirty="0"/>
              <a:t> </a:t>
            </a:r>
            <a:r>
              <a:rPr lang="en-US" sz="1100" dirty="0" err="1"/>
              <a:t>crzy</a:t>
            </a:r>
            <a:r>
              <a:rPr lang="en-US" sz="1100" dirty="0"/>
              <a:t> </a:t>
            </a:r>
            <a:r>
              <a:rPr lang="en-US" sz="1100" dirty="0" err="1"/>
              <a:t>crazyyyy</a:t>
            </a:r>
            <a:r>
              <a:rPr lang="en-US" sz="1100" dirty="0"/>
              <a:t> </a:t>
            </a:r>
            <a:r>
              <a:rPr lang="en-US" sz="1100" dirty="0" err="1"/>
              <a:t>crazzy</a:t>
            </a:r>
            <a:r>
              <a:rPr lang="en-US" sz="1100" dirty="0"/>
              <a:t> </a:t>
            </a:r>
            <a:r>
              <a:rPr lang="en-US" sz="1100" dirty="0" err="1"/>
              <a:t>crazii</a:t>
            </a:r>
            <a:r>
              <a:rPr lang="en-US" sz="1100" dirty="0"/>
              <a:t> </a:t>
            </a:r>
            <a:r>
              <a:rPr lang="en-US" sz="1100" dirty="0" err="1"/>
              <a:t>batshit</a:t>
            </a:r>
            <a:r>
              <a:rPr lang="en-US" sz="1100" dirty="0"/>
              <a:t> screwy </a:t>
            </a:r>
            <a:r>
              <a:rPr lang="en-US" sz="1100" dirty="0" err="1"/>
              <a:t>craaazy</a:t>
            </a:r>
            <a:r>
              <a:rPr lang="en-US" sz="1100" dirty="0"/>
              <a:t> </a:t>
            </a:r>
            <a:r>
              <a:rPr lang="en-US" sz="1100" dirty="0" err="1"/>
              <a:t>crazi</a:t>
            </a:r>
            <a:r>
              <a:rPr lang="en-US" sz="1100" dirty="0"/>
              <a:t> #</a:t>
            </a:r>
            <a:r>
              <a:rPr lang="en-US" sz="1100" dirty="0" err="1"/>
              <a:t>playedout</a:t>
            </a:r>
            <a:r>
              <a:rPr lang="en-US" sz="1100" dirty="0"/>
              <a:t> </a:t>
            </a:r>
            <a:r>
              <a:rPr lang="en-US" sz="1100" dirty="0" err="1"/>
              <a:t>craaaazy</a:t>
            </a:r>
            <a:r>
              <a:rPr lang="en-US" sz="1100" dirty="0"/>
              <a:t> </a:t>
            </a:r>
            <a:r>
              <a:rPr lang="en-US" sz="1100" dirty="0" err="1"/>
              <a:t>brazy</a:t>
            </a:r>
            <a:r>
              <a:rPr lang="en-US" sz="1100" dirty="0"/>
              <a:t> </a:t>
            </a:r>
            <a:r>
              <a:rPr lang="en-US" sz="1100" dirty="0" err="1"/>
              <a:t>liveee</a:t>
            </a:r>
            <a:r>
              <a:rPr lang="en-US" sz="1100" dirty="0"/>
              <a:t> </a:t>
            </a:r>
            <a:r>
              <a:rPr lang="en-US" sz="1100" dirty="0" err="1"/>
              <a:t>crazzzy</a:t>
            </a:r>
            <a:r>
              <a:rPr lang="en-US" sz="1100" dirty="0"/>
              <a:t> </a:t>
            </a:r>
            <a:r>
              <a:rPr lang="en-US" sz="1100" dirty="0" err="1"/>
              <a:t>nutts</a:t>
            </a:r>
            <a:r>
              <a:rPr lang="en-US" sz="1100" dirty="0"/>
              <a:t> </a:t>
            </a:r>
            <a:r>
              <a:rPr lang="en-US" sz="1100" dirty="0" err="1"/>
              <a:t>crazyyyyy</a:t>
            </a:r>
            <a:r>
              <a:rPr lang="en-US" sz="1100" dirty="0"/>
              <a:t> cross-eyed </a:t>
            </a:r>
            <a:r>
              <a:rPr lang="en-US" sz="1100" dirty="0" err="1"/>
              <a:t>faf</a:t>
            </a:r>
            <a:r>
              <a:rPr lang="en-US" sz="1100" dirty="0"/>
              <a:t> </a:t>
            </a:r>
            <a:r>
              <a:rPr lang="en-US" sz="1100" dirty="0" err="1"/>
              <a:t>physco</a:t>
            </a:r>
            <a:r>
              <a:rPr lang="en-US" sz="1100" dirty="0"/>
              <a:t> kaput </a:t>
            </a:r>
            <a:r>
              <a:rPr lang="en-US" sz="1100" dirty="0" err="1"/>
              <a:t>kray</a:t>
            </a:r>
            <a:r>
              <a:rPr lang="en-US" sz="1100" dirty="0"/>
              <a:t> </a:t>
            </a:r>
            <a:r>
              <a:rPr lang="en-US" sz="1100" dirty="0" err="1"/>
              <a:t>reet</a:t>
            </a:r>
            <a:r>
              <a:rPr lang="en-US" sz="1100" dirty="0"/>
              <a:t> </a:t>
            </a:r>
            <a:r>
              <a:rPr lang="en-US" sz="1100" dirty="0" err="1"/>
              <a:t>wackk</a:t>
            </a:r>
            <a:r>
              <a:rPr lang="en-US" sz="1100" dirty="0"/>
              <a:t> </a:t>
            </a:r>
            <a:r>
              <a:rPr lang="en-US" sz="1100" dirty="0" err="1"/>
              <a:t>nutso</a:t>
            </a:r>
            <a:r>
              <a:rPr lang="en-US" sz="1100" dirty="0"/>
              <a:t> </a:t>
            </a:r>
            <a:r>
              <a:rPr lang="en-US" sz="1100" dirty="0" err="1"/>
              <a:t>craazy</a:t>
            </a:r>
            <a:r>
              <a:rPr lang="en-US" sz="1100" dirty="0"/>
              <a:t> </a:t>
            </a:r>
            <a:r>
              <a:rPr lang="en-US" sz="1100" dirty="0" err="1"/>
              <a:t>madt</a:t>
            </a:r>
            <a:r>
              <a:rPr lang="en-US" sz="1100" dirty="0"/>
              <a:t> </a:t>
            </a:r>
            <a:r>
              <a:rPr lang="en-US" sz="1100" dirty="0" err="1"/>
              <a:t>guu</a:t>
            </a:r>
            <a:r>
              <a:rPr lang="en-US" sz="1100" dirty="0"/>
              <a:t> </a:t>
            </a:r>
            <a:r>
              <a:rPr lang="en-US" sz="1100" dirty="0" err="1"/>
              <a:t>liveeee</a:t>
            </a:r>
            <a:r>
              <a:rPr lang="en-US" sz="1100" dirty="0"/>
              <a:t> #outrageous </a:t>
            </a:r>
            <a:r>
              <a:rPr lang="en-US" sz="1100" dirty="0" err="1"/>
              <a:t>crazzzzy</a:t>
            </a:r>
            <a:r>
              <a:rPr lang="en-US" sz="1100" dirty="0"/>
              <a:t> </a:t>
            </a:r>
            <a:r>
              <a:rPr lang="en-US" sz="1100" dirty="0" err="1"/>
              <a:t>craaaaazy</a:t>
            </a:r>
            <a:r>
              <a:rPr lang="en-US" sz="1100" dirty="0"/>
              <a:t> </a:t>
            </a:r>
            <a:r>
              <a:rPr lang="en-US" sz="1100" dirty="0" err="1"/>
              <a:t>dunzo</a:t>
            </a:r>
            <a:r>
              <a:rPr lang="en-US" sz="1100" dirty="0"/>
              <a:t> </a:t>
            </a:r>
            <a:r>
              <a:rPr lang="en-US" sz="1100" dirty="0" err="1"/>
              <a:t>gayyyy</a:t>
            </a:r>
            <a:r>
              <a:rPr lang="en-US" sz="1100" dirty="0"/>
              <a:t> </a:t>
            </a:r>
            <a:r>
              <a:rPr lang="en-US" sz="1100" dirty="0" err="1"/>
              <a:t>crazee</a:t>
            </a:r>
            <a:r>
              <a:rPr lang="en-US" sz="1100" dirty="0"/>
              <a:t> </a:t>
            </a:r>
            <a:r>
              <a:rPr lang="en-US" sz="1100" dirty="0" err="1"/>
              <a:t>crazyyyyyy</a:t>
            </a:r>
            <a:r>
              <a:rPr lang="en-US" sz="1100" dirty="0"/>
              <a:t> </a:t>
            </a:r>
            <a:r>
              <a:rPr lang="en-US" sz="1100" dirty="0" err="1"/>
              <a:t>craz</a:t>
            </a:r>
            <a:r>
              <a:rPr lang="en-US" sz="1100" dirty="0"/>
              <a:t> </a:t>
            </a:r>
            <a:r>
              <a:rPr lang="en-US" sz="1100" dirty="0" err="1"/>
              <a:t>crazzyy</a:t>
            </a:r>
            <a:r>
              <a:rPr lang="en-US" sz="1100" dirty="0"/>
              <a:t> </a:t>
            </a:r>
            <a:r>
              <a:rPr lang="en-US" sz="1100" dirty="0" err="1"/>
              <a:t>greezy</a:t>
            </a:r>
            <a:r>
              <a:rPr lang="en-US" sz="1100" dirty="0"/>
              <a:t> </a:t>
            </a:r>
            <a:r>
              <a:rPr lang="en-US" sz="1100" dirty="0" err="1"/>
              <a:t>wildd</a:t>
            </a:r>
            <a:r>
              <a:rPr lang="en-US" sz="1100" dirty="0"/>
              <a:t> </a:t>
            </a:r>
            <a:r>
              <a:rPr lang="en-US" sz="1100" dirty="0" err="1"/>
              <a:t>buckwild</a:t>
            </a:r>
            <a:endParaRPr lang="en-US" sz="1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sz="1100" dirty="0">
                <a:latin typeface="Arial" pitchFamily="34" charset="0"/>
              </a:rPr>
              <a:t>010011010111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sz="1100" dirty="0">
                <a:latin typeface="Arial" pitchFamily="34" charset="0"/>
              </a:rPr>
              <a:t>01101111111010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09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2/7/19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2/7/19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2/7/19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2/7/19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2/7/19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2/7/19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7" Type="http://schemas.openxmlformats.org/officeDocument/2006/relationships/image" Target="../media/image6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12.emf"/><Relationship Id="rId7" Type="http://schemas.openxmlformats.org/officeDocument/2006/relationships/image" Target="../media/image2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Relationship Id="rId9" Type="http://schemas.openxmlformats.org/officeDocument/2006/relationships/image" Target="../media/image2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7" Type="http://schemas.openxmlformats.org/officeDocument/2006/relationships/image" Target="../media/image3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image" Target="../media/image32.emf"/><Relationship Id="rId4" Type="http://schemas.openxmlformats.org/officeDocument/2006/relationships/image" Target="../media/image3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/>
              <a:t>TTIC 31190:</a:t>
            </a:r>
            <a:br>
              <a:rPr lang="en-US" dirty="0"/>
            </a:br>
            <a:r>
              <a:rPr lang="en-US" dirty="0"/>
              <a:t>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899"/>
            <a:ext cx="6400800" cy="402967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13: </a:t>
            </a:r>
          </a:p>
          <a:p>
            <a:r>
              <a:rPr lang="en-US" sz="4000" dirty="0">
                <a:solidFill>
                  <a:schemeClr val="tx1"/>
                </a:solidFill>
              </a:rPr>
              <a:t>Brown Clustering;</a:t>
            </a:r>
          </a:p>
          <a:p>
            <a:r>
              <a:rPr lang="en-US" sz="4000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A21E-A132-7D44-8ED5-84134579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6FFB4-3545-F54C-B55B-6C270DF5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proposal due Wednesday</a:t>
            </a:r>
          </a:p>
          <a:p>
            <a:endParaRPr lang="en-US" dirty="0"/>
          </a:p>
          <a:p>
            <a:r>
              <a:rPr lang="en-US" dirty="0"/>
              <a:t>if you’re still scrambling for project ideas, let me know and I can suggest a “default”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09366-620D-FC40-8B86-032EAD7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57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on Wednesday, May 16</a:t>
            </a:r>
            <a:r>
              <a:rPr lang="en-US" baseline="30000" dirty="0"/>
              <a:t>th</a:t>
            </a:r>
            <a:endParaRPr lang="en-US" dirty="0"/>
          </a:p>
          <a:p>
            <a:r>
              <a:rPr lang="en-US" dirty="0"/>
              <a:t>you can bring notes</a:t>
            </a:r>
          </a:p>
          <a:p>
            <a:r>
              <a:rPr lang="en-US" dirty="0"/>
              <a:t>we’ll try to give you all the formulas/definitions you will need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1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/>
              <a:t>words, morphology, lexical semantics</a:t>
            </a:r>
          </a:p>
          <a:p>
            <a:r>
              <a:rPr lang="en-US" sz="2400" dirty="0"/>
              <a:t>text classification</a:t>
            </a:r>
          </a:p>
          <a:p>
            <a:r>
              <a:rPr lang="en-US" sz="2400" dirty="0"/>
              <a:t>language modeling</a:t>
            </a:r>
          </a:p>
          <a:p>
            <a:r>
              <a:rPr lang="en-US" sz="2400" dirty="0"/>
              <a:t>word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/>
              <a:t>recurrent/recursive/convolutional networks in NLP</a:t>
            </a:r>
          </a:p>
          <a:p>
            <a:r>
              <a:rPr lang="en-US" sz="2400" dirty="0">
                <a:solidFill>
                  <a:srgbClr val="288CD2"/>
                </a:solidFill>
              </a:rPr>
              <a:t>sequence labeling, HMMs, dynamic programming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/>
              <a:t>semantics, compositionality, semantic parsing</a:t>
            </a:r>
          </a:p>
          <a:p>
            <a:r>
              <a:rPr lang="en-US" sz="2400" dirty="0"/>
              <a:t>machine translation and other NLP tasks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9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Graphical Model for an HMM</a:t>
            </a:r>
            <a:br>
              <a:rPr lang="en-US" sz="3200" dirty="0"/>
            </a:br>
            <a:r>
              <a:rPr lang="en-US" sz="2400" dirty="0"/>
              <a:t>(for a sequence of length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0240" y="4732176"/>
            <a:ext cx="7630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ym typeface="Wingdings"/>
            </a:endParaRPr>
          </a:p>
          <a:p>
            <a:r>
              <a:rPr lang="en-US" sz="2000" b="1" dirty="0">
                <a:sym typeface="Wingdings"/>
              </a:rPr>
              <a:t>transition parameters:</a:t>
            </a:r>
          </a:p>
          <a:p>
            <a:r>
              <a:rPr lang="en-US" sz="2000" b="1" dirty="0">
                <a:sym typeface="Wingdings"/>
              </a:rPr>
              <a:t> </a:t>
            </a:r>
          </a:p>
          <a:p>
            <a:r>
              <a:rPr lang="en-US" sz="2000" b="1" dirty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62" y="5036142"/>
            <a:ext cx="1892300" cy="36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66" y="5682460"/>
            <a:ext cx="1536700" cy="38100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3421B118-0972-1C4C-AC3A-358722A33509}"/>
              </a:ext>
            </a:extLst>
          </p:cNvPr>
          <p:cNvSpPr/>
          <p:nvPr/>
        </p:nvSpPr>
        <p:spPr>
          <a:xfrm>
            <a:off x="214053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0ED8812-3399-D644-B0BA-D7B315F1EC1A}"/>
              </a:ext>
            </a:extLst>
          </p:cNvPr>
          <p:cNvSpPr/>
          <p:nvPr/>
        </p:nvSpPr>
        <p:spPr>
          <a:xfrm>
            <a:off x="35744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0F0CA20-4AA4-244A-815E-80A85C2E7891}"/>
              </a:ext>
            </a:extLst>
          </p:cNvPr>
          <p:cNvSpPr/>
          <p:nvPr/>
        </p:nvSpPr>
        <p:spPr>
          <a:xfrm>
            <a:off x="48698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9FC6A7-3FC8-FF4C-91AE-06BCC0FF527C}"/>
              </a:ext>
            </a:extLst>
          </p:cNvPr>
          <p:cNvCxnSpPr>
            <a:stCxn id="37" idx="6"/>
            <a:endCxn id="38" idx="2"/>
          </p:cNvCxnSpPr>
          <p:nvPr/>
        </p:nvCxnSpPr>
        <p:spPr bwMode="auto">
          <a:xfrm>
            <a:off x="2826334" y="151778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B245AB-F823-B545-B5C2-22D12B9BDBBD}"/>
              </a:ext>
            </a:extLst>
          </p:cNvPr>
          <p:cNvCxnSpPr>
            <a:stCxn id="38" idx="6"/>
            <a:endCxn id="39" idx="2"/>
          </p:cNvCxnSpPr>
          <p:nvPr/>
        </p:nvCxnSpPr>
        <p:spPr bwMode="auto">
          <a:xfrm>
            <a:off x="42602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769E2C-C37D-5145-A5C5-76872D20F69B}"/>
              </a:ext>
            </a:extLst>
          </p:cNvPr>
          <p:cNvCxnSpPr>
            <a:stCxn id="37" idx="4"/>
          </p:cNvCxnSpPr>
          <p:nvPr/>
        </p:nvCxnSpPr>
        <p:spPr bwMode="auto">
          <a:xfrm>
            <a:off x="2483434" y="186068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D44739B-E124-CF42-876F-ECC2513E4C2A}"/>
              </a:ext>
            </a:extLst>
          </p:cNvPr>
          <p:cNvCxnSpPr>
            <a:stCxn id="38" idx="4"/>
          </p:cNvCxnSpPr>
          <p:nvPr/>
        </p:nvCxnSpPr>
        <p:spPr bwMode="auto">
          <a:xfrm>
            <a:off x="3917374" y="186068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B1EB32E-E48A-9A43-8DC3-AAC8B6D430EE}"/>
              </a:ext>
            </a:extLst>
          </p:cNvPr>
          <p:cNvCxnSpPr>
            <a:stCxn id="39" idx="4"/>
          </p:cNvCxnSpPr>
          <p:nvPr/>
        </p:nvCxnSpPr>
        <p:spPr bwMode="auto">
          <a:xfrm>
            <a:off x="5212774" y="186068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4E6E83B-5FE4-9441-B240-F5E1C1C582C4}"/>
              </a:ext>
            </a:extLst>
          </p:cNvPr>
          <p:cNvSpPr/>
          <p:nvPr/>
        </p:nvSpPr>
        <p:spPr>
          <a:xfrm>
            <a:off x="61652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8AA959-040A-2A4A-B8B7-48609FBAB717}"/>
              </a:ext>
            </a:extLst>
          </p:cNvPr>
          <p:cNvCxnSpPr>
            <a:stCxn id="45" idx="4"/>
          </p:cNvCxnSpPr>
          <p:nvPr/>
        </p:nvCxnSpPr>
        <p:spPr bwMode="auto">
          <a:xfrm>
            <a:off x="6508174" y="186068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7EE6EC9-735E-F347-BA18-6C057F2D6F1C}"/>
              </a:ext>
            </a:extLst>
          </p:cNvPr>
          <p:cNvCxnSpPr>
            <a:stCxn id="39" idx="6"/>
            <a:endCxn id="45" idx="2"/>
          </p:cNvCxnSpPr>
          <p:nvPr/>
        </p:nvCxnSpPr>
        <p:spPr bwMode="auto">
          <a:xfrm>
            <a:off x="55556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31776BE-291D-3145-BD87-A5A114B74073}"/>
              </a:ext>
            </a:extLst>
          </p:cNvPr>
          <p:cNvSpPr/>
          <p:nvPr/>
        </p:nvSpPr>
        <p:spPr>
          <a:xfrm>
            <a:off x="214514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1BF2738-3543-9D49-91A8-F6DFBA95782D}"/>
              </a:ext>
            </a:extLst>
          </p:cNvPr>
          <p:cNvSpPr/>
          <p:nvPr/>
        </p:nvSpPr>
        <p:spPr>
          <a:xfrm>
            <a:off x="35790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48BD2D2-97BA-3740-8CBF-F75EE265D820}"/>
              </a:ext>
            </a:extLst>
          </p:cNvPr>
          <p:cNvSpPr/>
          <p:nvPr/>
        </p:nvSpPr>
        <p:spPr>
          <a:xfrm>
            <a:off x="48744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7954364-B3F2-AA4F-95FD-DBDB505643B3}"/>
              </a:ext>
            </a:extLst>
          </p:cNvPr>
          <p:cNvSpPr/>
          <p:nvPr/>
        </p:nvSpPr>
        <p:spPr>
          <a:xfrm>
            <a:off x="61698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1A883AF-2036-6C4C-87ED-820BFD61D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896" y="1395621"/>
            <a:ext cx="266700" cy="2540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BD82CA2-B6E0-E944-A733-D9BC7AF5C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807" y="1395621"/>
            <a:ext cx="266700" cy="254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3F37D71-BAC9-A146-88AE-5C1A4C2B8F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030" y="1395621"/>
            <a:ext cx="279400" cy="254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0BCB89A-A6A1-9347-A4F6-026C206E10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3" y="1395621"/>
            <a:ext cx="279400" cy="254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574A032-B7D1-F047-99CD-B284E173EE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6256" y="2485303"/>
            <a:ext cx="355600" cy="2540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C3C33E-9836-9B49-A09D-9AEB92A67B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4786" y="2485303"/>
            <a:ext cx="355600" cy="2540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2A4B229-4D45-F142-8CF5-855AF301FE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3429" y="2485303"/>
            <a:ext cx="355600" cy="2540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AFC6B34-9DB4-9E4F-ACDE-1B6741B6E3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1796" y="2485303"/>
            <a:ext cx="342900" cy="254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350E9FD-65C8-594B-8A93-FBAD72C2BF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744" y="3400812"/>
            <a:ext cx="7526511" cy="100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2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HMMs for Part-of-Speech Tagging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0240" y="2813159"/>
            <a:ext cx="76301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Wingdings"/>
              </a:rPr>
              <a:t>each                  is a part-of-speech tag</a:t>
            </a:r>
          </a:p>
          <a:p>
            <a:r>
              <a:rPr lang="en-US" sz="2800" dirty="0">
                <a:sym typeface="Wingdings"/>
              </a:rPr>
              <a:t>so, label space is</a:t>
            </a:r>
          </a:p>
          <a:p>
            <a:endParaRPr lang="en-US" sz="2800" dirty="0">
              <a:sym typeface="Wingding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84" y="2931374"/>
            <a:ext cx="1104900" cy="381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0" y="3357299"/>
            <a:ext cx="3086100" cy="368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2332" y="3896545"/>
            <a:ext cx="2874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ym typeface="Wingdings"/>
            </a:endParaRPr>
          </a:p>
          <a:p>
            <a:r>
              <a:rPr lang="en-US" sz="2000" b="1" dirty="0">
                <a:sym typeface="Wingdings"/>
              </a:rPr>
              <a:t>transition parameters:</a:t>
            </a:r>
          </a:p>
          <a:p>
            <a:r>
              <a:rPr lang="en-US" sz="2000" b="1" dirty="0">
                <a:sym typeface="Wingdings"/>
              </a:rPr>
              <a:t> </a:t>
            </a:r>
          </a:p>
          <a:p>
            <a:r>
              <a:rPr lang="en-US" sz="2000" b="1" dirty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158" y="4846829"/>
            <a:ext cx="1536700" cy="3810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5158" y="4198154"/>
            <a:ext cx="1892300" cy="36830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2140534" y="877914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3574474" y="877914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869874" y="877914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4" name="Straight Arrow Connector 33"/>
          <p:cNvCxnSpPr/>
          <p:nvPr/>
        </p:nvCxnSpPr>
        <p:spPr bwMode="auto">
          <a:xfrm>
            <a:off x="2826334" y="1220814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/>
          <p:cNvCxnSpPr/>
          <p:nvPr/>
        </p:nvCxnSpPr>
        <p:spPr bwMode="auto">
          <a:xfrm>
            <a:off x="4260274" y="1220814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Oval 56"/>
          <p:cNvSpPr/>
          <p:nvPr/>
        </p:nvSpPr>
        <p:spPr>
          <a:xfrm>
            <a:off x="2043542" y="1972434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3429001" y="1972434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825999" y="1972434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0" name="Straight Arrow Connector 59"/>
          <p:cNvCxnSpPr/>
          <p:nvPr/>
        </p:nvCxnSpPr>
        <p:spPr bwMode="auto">
          <a:xfrm>
            <a:off x="2483434" y="1563714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/>
          <p:cNvCxnSpPr/>
          <p:nvPr/>
        </p:nvCxnSpPr>
        <p:spPr bwMode="auto">
          <a:xfrm>
            <a:off x="3917374" y="1563714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Straight Arrow Connector 61"/>
          <p:cNvCxnSpPr/>
          <p:nvPr/>
        </p:nvCxnSpPr>
        <p:spPr bwMode="auto">
          <a:xfrm>
            <a:off x="5212774" y="1563714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Oval 62"/>
          <p:cNvSpPr/>
          <p:nvPr/>
        </p:nvSpPr>
        <p:spPr>
          <a:xfrm>
            <a:off x="6165274" y="877914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5888183" y="1972434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/>
          <p:cNvCxnSpPr/>
          <p:nvPr/>
        </p:nvCxnSpPr>
        <p:spPr bwMode="auto">
          <a:xfrm>
            <a:off x="6508174" y="1563714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>
            <a:off x="5555674" y="1220814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TextBox 66"/>
          <p:cNvSpPr txBox="1"/>
          <p:nvPr/>
        </p:nvSpPr>
        <p:spPr>
          <a:xfrm>
            <a:off x="2117447" y="2100185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>
                <a:latin typeface="Calibri"/>
                <a:cs typeface="Calibri"/>
              </a:rPr>
              <a:t>justin</a:t>
            </a:r>
            <a:r>
              <a:rPr lang="en-US" sz="2000" i="0" dirty="0">
                <a:latin typeface="Calibri"/>
                <a:cs typeface="Calibri"/>
              </a:rPr>
              <a:t>               </a:t>
            </a:r>
            <a:r>
              <a:rPr lang="en-US" sz="2000" i="0" dirty="0" err="1">
                <a:latin typeface="Calibri"/>
                <a:cs typeface="Calibri"/>
              </a:rPr>
              <a:t>bieber</a:t>
            </a:r>
            <a:r>
              <a:rPr lang="en-US" sz="2000" i="0" dirty="0">
                <a:latin typeface="Calibri"/>
                <a:cs typeface="Calibri"/>
              </a:rPr>
              <a:t>              for            president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94342" y="877914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dirty="0">
                <a:cs typeface="BKM-cmcsc10"/>
              </a:rPr>
              <a:t>proper noun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29672" y="872282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 dirty="0">
                <a:cs typeface="BKM-cmcsc10"/>
              </a:rPr>
              <a:t>proper noun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3682" y="872282"/>
            <a:ext cx="782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>
                <a:cs typeface="BKM-cmcsc10"/>
              </a:rPr>
              <a:t>prepo-sition</a:t>
            </a:r>
            <a:endParaRPr lang="en-US" sz="2400" i="0" baseline="-25000" dirty="0">
              <a:cs typeface="BKM-cmcsc1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130168" y="960733"/>
            <a:ext cx="782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baseline="-25000">
                <a:cs typeface="BKM-cmcsc10"/>
              </a:rPr>
              <a:t>noun</a:t>
            </a:r>
            <a:endParaRPr lang="en-US" sz="2400" i="0" baseline="-25000" dirty="0">
              <a:cs typeface="BKM-cmcsc10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774" y="4369084"/>
            <a:ext cx="37338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in HMMs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870525"/>
            <a:ext cx="8229600" cy="3601575"/>
          </a:xfrm>
        </p:spPr>
        <p:txBody>
          <a:bodyPr>
            <a:normAutofit/>
          </a:bodyPr>
          <a:lstStyle/>
          <a:p>
            <a:r>
              <a:rPr lang="en-US" dirty="0"/>
              <a:t>output is a sequence; </a:t>
            </a:r>
            <a:r>
              <a:rPr lang="en-US" dirty="0" err="1"/>
              <a:t>argmax</a:t>
            </a:r>
            <a:r>
              <a:rPr lang="en-US" dirty="0"/>
              <a:t> requires iterating over an exponentially-large set</a:t>
            </a:r>
          </a:p>
          <a:p>
            <a:r>
              <a:rPr lang="en-US" b="1" dirty="0">
                <a:solidFill>
                  <a:srgbClr val="288CD2"/>
                </a:solidFill>
              </a:rPr>
              <a:t>dynamic programming (DP)</a:t>
            </a:r>
            <a:r>
              <a:rPr lang="en-US" dirty="0"/>
              <a:t> can be used to solve such problems exactly</a:t>
            </a:r>
          </a:p>
          <a:p>
            <a:r>
              <a:rPr lang="en-US" dirty="0"/>
              <a:t>for HMMs (&amp; other sequence models):        </a:t>
            </a:r>
            <a:r>
              <a:rPr lang="en-US" b="1" dirty="0">
                <a:solidFill>
                  <a:srgbClr val="288CD2"/>
                </a:solidFill>
              </a:rPr>
              <a:t>Viterbi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A88F4-8C48-BC42-BD2C-7ECCBB3CA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4" y="1080753"/>
            <a:ext cx="8936531" cy="166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3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009"/>
            <a:ext cx="8229600" cy="5052424"/>
          </a:xfrm>
        </p:spPr>
        <p:txBody>
          <a:bodyPr/>
          <a:lstStyle/>
          <a:p>
            <a:r>
              <a:rPr lang="en-US" dirty="0"/>
              <a:t>recursive equations + </a:t>
            </a:r>
            <a:r>
              <a:rPr lang="en-US" dirty="0" err="1"/>
              <a:t>memoization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8649"/>
          <a:stretch/>
        </p:blipFill>
        <p:spPr>
          <a:xfrm>
            <a:off x="1206500" y="2994660"/>
            <a:ext cx="6731000" cy="38862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1300480" y="2311400"/>
            <a:ext cx="203200" cy="6121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206500" y="3957320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574542"/>
            <a:ext cx="6942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base case: </a:t>
            </a:r>
          </a:p>
          <a:p>
            <a:r>
              <a:rPr lang="en-US" sz="2000" dirty="0">
                <a:solidFill>
                  <a:srgbClr val="288CD2"/>
                </a:solidFill>
              </a:rPr>
              <a:t>returns probability of sequence starting with label </a:t>
            </a:r>
            <a:r>
              <a:rPr lang="en-US" sz="2000" i="1" dirty="0">
                <a:solidFill>
                  <a:srgbClr val="288CD2"/>
                </a:solidFill>
              </a:rPr>
              <a:t>y</a:t>
            </a:r>
            <a:r>
              <a:rPr lang="en-US" sz="2000" dirty="0">
                <a:solidFill>
                  <a:srgbClr val="288CD2"/>
                </a:solidFill>
              </a:rPr>
              <a:t> for first 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28" y="4446508"/>
            <a:ext cx="5209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recursive case:</a:t>
            </a:r>
          </a:p>
          <a:p>
            <a:r>
              <a:rPr lang="en-US" sz="2000" dirty="0">
                <a:solidFill>
                  <a:srgbClr val="288CD2"/>
                </a:solidFill>
              </a:rPr>
              <a:t>computes probability of max-probability label sequence that ends with label </a:t>
            </a:r>
            <a:r>
              <a:rPr lang="en-US" sz="2000" i="1" dirty="0">
                <a:solidFill>
                  <a:srgbClr val="288CD2"/>
                </a:solidFill>
              </a:rPr>
              <a:t>y</a:t>
            </a:r>
            <a:r>
              <a:rPr lang="en-US" sz="2000" dirty="0">
                <a:solidFill>
                  <a:srgbClr val="288CD2"/>
                </a:solidFill>
              </a:rPr>
              <a:t> at position </a:t>
            </a:r>
            <a:r>
              <a:rPr lang="en-US" sz="2000" i="1" dirty="0">
                <a:solidFill>
                  <a:srgbClr val="288CD2"/>
                </a:solidFill>
              </a:rPr>
              <a:t>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43784"/>
          <a:stretch/>
        </p:blipFill>
        <p:spPr>
          <a:xfrm>
            <a:off x="1206500" y="3556000"/>
            <a:ext cx="6731000" cy="528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3680" y="5747378"/>
            <a:ext cx="2065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final value is in: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E0C3A-BCBD-344E-9A96-316D5BB85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606" y="5803114"/>
            <a:ext cx="5074936" cy="46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6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Sequence Models</a:t>
            </a:r>
            <a:br>
              <a:rPr lang="en-US" dirty="0"/>
            </a:br>
            <a:r>
              <a:rPr lang="en-US" sz="3100" dirty="0"/>
              <a:t>(with tag bigram features)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3373120" y="2670543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1510762" y="3203943"/>
            <a:ext cx="71760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score function for label bigram &lt;</a:t>
            </a:r>
            <a:r>
              <a:rPr lang="en-US" sz="3200" i="1" dirty="0"/>
              <a:t>y</a:t>
            </a:r>
            <a:r>
              <a:rPr lang="en-US" sz="3200" dirty="0"/>
              <a:t>’, </a:t>
            </a:r>
            <a:r>
              <a:rPr lang="en-US" sz="3200" i="1" dirty="0"/>
              <a:t>y</a:t>
            </a:r>
            <a:r>
              <a:rPr lang="en-US" sz="3200" dirty="0"/>
              <a:t>&gt; ending at position </a:t>
            </a:r>
            <a:r>
              <a:rPr lang="en-US" sz="3200" i="1" dirty="0"/>
              <a:t>m</a:t>
            </a:r>
            <a:r>
              <a:rPr lang="en-US" sz="3200" dirty="0"/>
              <a:t> in </a:t>
            </a:r>
            <a:r>
              <a:rPr lang="en-US" sz="3200" b="1" i="1" dirty="0"/>
              <a:t>x</a:t>
            </a:r>
          </a:p>
          <a:p>
            <a:endParaRPr lang="en-US" sz="3200" b="1" i="1" dirty="0"/>
          </a:p>
          <a:p>
            <a:r>
              <a:rPr lang="en-US" sz="3200" dirty="0"/>
              <a:t>could be anything!</a:t>
            </a:r>
          </a:p>
          <a:p>
            <a:r>
              <a:rPr lang="en-US" sz="3200" dirty="0"/>
              <a:t>linear model, feed-forward network, LSTM,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8EAA67-2FB0-5F4E-B23E-13425BEB5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1808853"/>
            <a:ext cx="73787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9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Sequence Models</a:t>
            </a:r>
            <a:br>
              <a:rPr lang="en-US" dirty="0"/>
            </a:br>
            <a:r>
              <a:rPr lang="en-US" sz="3100" dirty="0"/>
              <a:t>(with tag bigram features)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3373120" y="2670543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1510762" y="3203943"/>
            <a:ext cx="717603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score function for label bigram &lt;</a:t>
            </a:r>
            <a:r>
              <a:rPr lang="en-US" sz="3200" i="1" dirty="0"/>
              <a:t>y</a:t>
            </a:r>
            <a:r>
              <a:rPr lang="en-US" sz="3200" dirty="0"/>
              <a:t>’, </a:t>
            </a:r>
            <a:r>
              <a:rPr lang="en-US" sz="3200" i="1" dirty="0"/>
              <a:t>y</a:t>
            </a:r>
            <a:r>
              <a:rPr lang="en-US" sz="3200" dirty="0"/>
              <a:t>&gt; ending at position </a:t>
            </a:r>
            <a:r>
              <a:rPr lang="en-US" sz="3200" i="1" dirty="0"/>
              <a:t>m</a:t>
            </a:r>
            <a:r>
              <a:rPr lang="en-US" sz="3200" dirty="0"/>
              <a:t> in </a:t>
            </a:r>
            <a:r>
              <a:rPr lang="en-US" sz="3200" b="1" i="1" dirty="0"/>
              <a:t>x</a:t>
            </a:r>
          </a:p>
          <a:p>
            <a:endParaRPr lang="en-US" sz="3200" b="1" i="1" dirty="0"/>
          </a:p>
          <a:p>
            <a:r>
              <a:rPr lang="en-US" sz="3200" dirty="0"/>
              <a:t>score for entire sequence: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2400" dirty="0"/>
              <a:t>(with appropriate handling of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&lt;s&gt; </a:t>
            </a:r>
            <a:r>
              <a:rPr lang="en-US" sz="2400" dirty="0"/>
              <a:t>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&lt;/s&gt;</a:t>
            </a:r>
            <a:r>
              <a:rPr lang="en-US" sz="2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8EAA67-2FB0-5F4E-B23E-13425BEB5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1808853"/>
            <a:ext cx="7378700" cy="96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C652E5-72B8-DD42-90D2-6F2F6771C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850" y="5345426"/>
            <a:ext cx="5956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8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Sequence Models</a:t>
            </a:r>
            <a:br>
              <a:rPr lang="en-US" dirty="0"/>
            </a:br>
            <a:r>
              <a:rPr lang="en-US" sz="3100" dirty="0"/>
              <a:t>(with tag bigram features)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00480" y="2311400"/>
            <a:ext cx="203200" cy="6121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206500" y="3957320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574542"/>
            <a:ext cx="6150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base case: </a:t>
            </a:r>
          </a:p>
          <a:p>
            <a:r>
              <a:rPr lang="en-US" sz="2000" dirty="0">
                <a:solidFill>
                  <a:srgbClr val="288CD2"/>
                </a:solidFill>
              </a:rPr>
              <a:t>returns score of sequence starting with label </a:t>
            </a:r>
            <a:r>
              <a:rPr lang="en-US" sz="2000" i="1" dirty="0">
                <a:solidFill>
                  <a:srgbClr val="288CD2"/>
                </a:solidFill>
              </a:rPr>
              <a:t>y</a:t>
            </a:r>
            <a:r>
              <a:rPr lang="en-US" sz="2000" dirty="0">
                <a:solidFill>
                  <a:srgbClr val="288CD2"/>
                </a:solidFill>
              </a:rPr>
              <a:t> for word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28" y="4446508"/>
            <a:ext cx="54820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recursive case:</a:t>
            </a:r>
          </a:p>
          <a:p>
            <a:r>
              <a:rPr lang="en-US" sz="2000" dirty="0">
                <a:solidFill>
                  <a:srgbClr val="288CD2"/>
                </a:solidFill>
              </a:rPr>
              <a:t>computes score of max-scoring label sequence that ends with label </a:t>
            </a:r>
            <a:r>
              <a:rPr lang="en-US" sz="2000" i="1" dirty="0">
                <a:solidFill>
                  <a:srgbClr val="288CD2"/>
                </a:solidFill>
              </a:rPr>
              <a:t>y</a:t>
            </a:r>
            <a:r>
              <a:rPr lang="en-US" sz="2000" dirty="0">
                <a:solidFill>
                  <a:srgbClr val="288CD2"/>
                </a:solidFill>
              </a:rPr>
              <a:t> at position </a:t>
            </a:r>
            <a:r>
              <a:rPr lang="en-US" sz="2000" i="1" dirty="0">
                <a:solidFill>
                  <a:srgbClr val="288CD2"/>
                </a:solidFill>
              </a:rPr>
              <a:t>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08CA66-8263-F047-9676-98DDD9F30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50" y="3062309"/>
            <a:ext cx="73787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70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Sequence Models with Tag Bigram Features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4598" y="3203943"/>
            <a:ext cx="78422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to recover HMM from this generalized score function, use the linear model features and weights we discussed last time</a:t>
            </a:r>
          </a:p>
          <a:p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652E5-72B8-DD42-90D2-6F2F6771C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762" y="2035062"/>
            <a:ext cx="5956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43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1598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/>
              <a:t>Structured Models with Parts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4598" y="3106223"/>
            <a:ext cx="784220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general: structured prediction relies on decomposition of input/output into “parts”</a:t>
            </a:r>
          </a:p>
          <a:p>
            <a:endParaRPr lang="en-US" sz="3200" dirty="0"/>
          </a:p>
          <a:p>
            <a:r>
              <a:rPr lang="en-US" sz="3200" dirty="0"/>
              <a:t>score function defined on individual parts</a:t>
            </a:r>
          </a:p>
          <a:p>
            <a:endParaRPr lang="en-US" sz="3200" dirty="0"/>
          </a:p>
          <a:p>
            <a:r>
              <a:rPr lang="en-US" sz="3200" dirty="0"/>
              <a:t>size of each part (in terms of </a:t>
            </a:r>
            <a:r>
              <a:rPr lang="en-US" sz="3200" b="1" i="1" dirty="0"/>
              <a:t>y</a:t>
            </a:r>
            <a:r>
              <a:rPr lang="en-US" sz="3200" dirty="0"/>
              <a:t>) affects complexity of inference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652E5-72B8-DD42-90D2-6F2F6771C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12" y="1044610"/>
            <a:ext cx="5956300" cy="673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DB9EFD-0E09-D44A-9B51-D2E7A1148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912" y="2059741"/>
            <a:ext cx="6858000" cy="825500"/>
          </a:xfrm>
          <a:prstGeom prst="rect">
            <a:avLst/>
          </a:prstGeom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0820D5BA-4B3D-4944-82DD-0158100DCCC2}"/>
              </a:ext>
            </a:extLst>
          </p:cNvPr>
          <p:cNvSpPr/>
          <p:nvPr/>
        </p:nvSpPr>
        <p:spPr>
          <a:xfrm>
            <a:off x="2941998" y="1587548"/>
            <a:ext cx="436880" cy="47219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0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1" y="1265325"/>
            <a:ext cx="5531146" cy="22657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b="22527"/>
          <a:stretch/>
        </p:blipFill>
        <p:spPr>
          <a:xfrm>
            <a:off x="254721" y="3267364"/>
            <a:ext cx="8656224" cy="2310694"/>
          </a:xfrm>
          <a:prstGeom prst="rect">
            <a:avLst/>
          </a:prstGeom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848588" y="5729997"/>
            <a:ext cx="3276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i="1" dirty="0">
                <a:solidFill>
                  <a:srgbClr val="0062AC"/>
                </a:solidFill>
                <a:latin typeface="Calibri"/>
                <a:cs typeface="Calibri"/>
              </a:rPr>
              <a:t>Computational Linguistics</a:t>
            </a:r>
            <a:r>
              <a:rPr lang="en-US" i="0" dirty="0">
                <a:solidFill>
                  <a:srgbClr val="0062AC"/>
                </a:solidFill>
                <a:latin typeface="Calibri"/>
                <a:cs typeface="Calibri"/>
              </a:rPr>
              <a:t>, 1992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634676" y="175493"/>
            <a:ext cx="3865417" cy="861774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274320" tIns="182880" rIns="274320" bIns="1828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>
                <a:latin typeface="Calibri"/>
                <a:cs typeface="Calibri"/>
              </a:rPr>
              <a:t>“Brown Clustering”</a:t>
            </a:r>
          </a:p>
        </p:txBody>
      </p:sp>
    </p:spTree>
    <p:extLst>
      <p:ext uri="{BB962C8B-B14F-4D97-AF65-F5344CB8AC3E}">
        <p14:creationId xmlns:p14="http://schemas.microsoft.com/office/powerpoint/2010/main" val="2925385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HMMs for Word Clustering</a:t>
            </a:r>
            <a:br>
              <a:rPr lang="en-US" sz="3200" dirty="0"/>
            </a:br>
            <a:r>
              <a:rPr lang="en-US" sz="2400" dirty="0"/>
              <a:t>(Brown et al., 1992)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0240" y="3280519"/>
            <a:ext cx="7630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Wingdings"/>
              </a:rPr>
              <a:t>each                  is a cluster ID</a:t>
            </a:r>
          </a:p>
          <a:p>
            <a:r>
              <a:rPr lang="en-US" sz="2800" dirty="0">
                <a:sym typeface="Wingdings"/>
              </a:rPr>
              <a:t>so, label space is</a:t>
            </a:r>
          </a:p>
        </p:txBody>
      </p:sp>
      <p:sp>
        <p:nvSpPr>
          <p:cNvPr id="37" name="Oval 36"/>
          <p:cNvSpPr/>
          <p:nvPr/>
        </p:nvSpPr>
        <p:spPr>
          <a:xfrm>
            <a:off x="214053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35744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48698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0" name="Straight Arrow Connector 39"/>
          <p:cNvCxnSpPr>
            <a:stCxn id="37" idx="6"/>
            <a:endCxn id="38" idx="2"/>
          </p:cNvCxnSpPr>
          <p:nvPr/>
        </p:nvCxnSpPr>
        <p:spPr bwMode="auto">
          <a:xfrm>
            <a:off x="2826334" y="1607177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38" idx="6"/>
            <a:endCxn id="39" idx="2"/>
          </p:cNvCxnSpPr>
          <p:nvPr/>
        </p:nvCxnSpPr>
        <p:spPr bwMode="auto">
          <a:xfrm>
            <a:off x="4260274" y="1607177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Oval 41"/>
          <p:cNvSpPr/>
          <p:nvPr/>
        </p:nvSpPr>
        <p:spPr>
          <a:xfrm>
            <a:off x="2043542" y="2358797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3429001" y="2358797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825999" y="2358797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5" name="Straight Arrow Connector 44"/>
          <p:cNvCxnSpPr>
            <a:stCxn id="37" idx="4"/>
            <a:endCxn id="42" idx="0"/>
          </p:cNvCxnSpPr>
          <p:nvPr/>
        </p:nvCxnSpPr>
        <p:spPr bwMode="auto">
          <a:xfrm>
            <a:off x="2483434" y="1950077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/>
          <p:cNvCxnSpPr>
            <a:stCxn id="38" idx="4"/>
            <a:endCxn id="43" idx="0"/>
          </p:cNvCxnSpPr>
          <p:nvPr/>
        </p:nvCxnSpPr>
        <p:spPr bwMode="auto">
          <a:xfrm>
            <a:off x="3917374" y="1950077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stCxn id="39" idx="4"/>
            <a:endCxn id="44" idx="0"/>
          </p:cNvCxnSpPr>
          <p:nvPr/>
        </p:nvCxnSpPr>
        <p:spPr bwMode="auto">
          <a:xfrm>
            <a:off x="5212774" y="1950077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Oval 47"/>
          <p:cNvSpPr/>
          <p:nvPr/>
        </p:nvSpPr>
        <p:spPr>
          <a:xfrm>
            <a:off x="61652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5888183" y="2358797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0" name="Straight Arrow Connector 49"/>
          <p:cNvCxnSpPr>
            <a:stCxn id="48" idx="4"/>
            <a:endCxn id="49" idx="0"/>
          </p:cNvCxnSpPr>
          <p:nvPr/>
        </p:nvCxnSpPr>
        <p:spPr bwMode="auto">
          <a:xfrm>
            <a:off x="6508174" y="1950077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Arrow Connector 50"/>
          <p:cNvCxnSpPr>
            <a:stCxn id="39" idx="6"/>
            <a:endCxn id="48" idx="2"/>
          </p:cNvCxnSpPr>
          <p:nvPr/>
        </p:nvCxnSpPr>
        <p:spPr bwMode="auto">
          <a:xfrm>
            <a:off x="5555674" y="1607177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Box 51"/>
          <p:cNvSpPr txBox="1"/>
          <p:nvPr/>
        </p:nvSpPr>
        <p:spPr>
          <a:xfrm>
            <a:off x="2117447" y="2445908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>
                <a:latin typeface="Calibri"/>
                <a:cs typeface="Calibri"/>
              </a:rPr>
              <a:t>justin</a:t>
            </a:r>
            <a:r>
              <a:rPr lang="en-US" sz="2000" i="0" dirty="0">
                <a:latin typeface="Calibri"/>
                <a:cs typeface="Calibri"/>
              </a:rPr>
              <a:t>               </a:t>
            </a:r>
            <a:r>
              <a:rPr lang="en-US" sz="2000" i="0" dirty="0" err="1">
                <a:latin typeface="Calibri"/>
                <a:cs typeface="Calibri"/>
              </a:rPr>
              <a:t>bieber</a:t>
            </a:r>
            <a:r>
              <a:rPr lang="en-US" sz="2000" i="0" dirty="0">
                <a:latin typeface="Calibri"/>
                <a:cs typeface="Calibri"/>
              </a:rPr>
              <a:t>             for            president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84" y="3398734"/>
            <a:ext cx="110490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514" y="3800054"/>
            <a:ext cx="3086100" cy="4191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55A0D086-B7D5-274B-949B-7F775EB3B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896" y="1477917"/>
            <a:ext cx="266700" cy="2540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1F9EE00-5D53-0A4B-9354-6D2E4CAA2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807" y="1477917"/>
            <a:ext cx="266700" cy="254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020EA490-E3F6-C742-9913-A46ED0F44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030" y="1477917"/>
            <a:ext cx="279400" cy="2540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7BBAE671-E4B2-A24C-B1AB-55A521F31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83" y="1477917"/>
            <a:ext cx="2794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1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401468" y="3027340"/>
            <a:ext cx="38407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sym typeface="Wingdings"/>
              </a:rPr>
              <a:t>transition parameters:</a:t>
            </a:r>
          </a:p>
          <a:p>
            <a:endParaRPr lang="en-US" sz="2400" b="1" dirty="0">
              <a:solidFill>
                <a:srgbClr val="000000"/>
              </a:solidFill>
              <a:sym typeface="Wingdings"/>
            </a:endParaRPr>
          </a:p>
          <a:p>
            <a:endParaRPr lang="en-US" sz="2400" b="1" dirty="0">
              <a:solidFill>
                <a:srgbClr val="000000"/>
              </a:solidFill>
              <a:sym typeface="Wingdings"/>
            </a:endParaRPr>
          </a:p>
          <a:p>
            <a:endParaRPr lang="en-US" sz="2400" b="1" dirty="0">
              <a:solidFill>
                <a:srgbClr val="000000"/>
              </a:solidFill>
              <a:sym typeface="Wingdings"/>
            </a:endParaRPr>
          </a:p>
          <a:p>
            <a:endParaRPr lang="en-US" sz="2400" b="1" dirty="0">
              <a:solidFill>
                <a:srgbClr val="000000"/>
              </a:solidFill>
              <a:sym typeface="Wingdings"/>
            </a:endParaRPr>
          </a:p>
          <a:p>
            <a:r>
              <a:rPr lang="en-US" sz="2400" b="1" dirty="0">
                <a:solidFill>
                  <a:srgbClr val="000000"/>
                </a:solidFill>
                <a:sym typeface="Wingdings"/>
              </a:rPr>
              <a:t>emission parameters: 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40684" y="3027340"/>
            <a:ext cx="3203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sym typeface="Wingdings"/>
              </a:rPr>
              <a:t>transition parameters:</a:t>
            </a:r>
          </a:p>
          <a:p>
            <a:endParaRPr lang="en-US" sz="2400" b="1" dirty="0">
              <a:solidFill>
                <a:srgbClr val="000000"/>
              </a:solidFill>
              <a:sym typeface="Wingdings"/>
            </a:endParaRPr>
          </a:p>
          <a:p>
            <a:endParaRPr lang="en-US" sz="2400" b="1" dirty="0">
              <a:solidFill>
                <a:srgbClr val="000000"/>
              </a:solidFill>
              <a:sym typeface="Wingdings"/>
            </a:endParaRPr>
          </a:p>
          <a:p>
            <a:endParaRPr lang="en-US" sz="2400" b="1" dirty="0">
              <a:solidFill>
                <a:srgbClr val="000000"/>
              </a:solidFill>
              <a:sym typeface="Wingdings"/>
            </a:endParaRPr>
          </a:p>
          <a:p>
            <a:endParaRPr lang="en-US" sz="2400" b="1" dirty="0">
              <a:solidFill>
                <a:srgbClr val="000000"/>
              </a:solidFill>
              <a:sym typeface="Wingdings"/>
            </a:endParaRPr>
          </a:p>
          <a:p>
            <a:r>
              <a:rPr lang="en-US" sz="2400" b="1" dirty="0">
                <a:solidFill>
                  <a:srgbClr val="000000"/>
                </a:solidFill>
                <a:sym typeface="Wingdings"/>
              </a:rPr>
              <a:t>emission parameters: 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732" y="101200"/>
            <a:ext cx="4548268" cy="954689"/>
          </a:xfrm>
        </p:spPr>
        <p:txBody>
          <a:bodyPr>
            <a:noAutofit/>
          </a:bodyPr>
          <a:lstStyle/>
          <a:p>
            <a:r>
              <a:rPr lang="en-US" sz="2800" dirty="0"/>
              <a:t>HMMs for Word Clustering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818313" y="1342603"/>
            <a:ext cx="426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Wingdings"/>
              </a:rPr>
              <a:t>each                  is a cluster ID</a:t>
            </a:r>
          </a:p>
          <a:p>
            <a:r>
              <a:rPr lang="en-US" sz="2800" dirty="0">
                <a:sym typeface="Wingdings"/>
              </a:rPr>
              <a:t>so, label space is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157" y="1460818"/>
            <a:ext cx="110490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470" y="2296710"/>
            <a:ext cx="3086100" cy="419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435" y="5461023"/>
            <a:ext cx="2070100" cy="1155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435" y="3611034"/>
            <a:ext cx="2120900" cy="1155700"/>
          </a:xfrm>
          <a:prstGeom prst="rect">
            <a:avLst/>
          </a:prstGeom>
        </p:spPr>
      </p:pic>
      <p:sp>
        <p:nvSpPr>
          <p:cNvPr id="30" name="Title 1"/>
          <p:cNvSpPr txBox="1">
            <a:spLocks/>
          </p:cNvSpPr>
          <p:nvPr/>
        </p:nvSpPr>
        <p:spPr>
          <a:xfrm>
            <a:off x="101629" y="101200"/>
            <a:ext cx="4311714" cy="9546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HMMs for POS Tagging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165493" y="1343588"/>
            <a:ext cx="426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Wingdings"/>
              </a:rPr>
              <a:t>each                  is a POS tag</a:t>
            </a:r>
          </a:p>
          <a:p>
            <a:r>
              <a:rPr lang="en-US" sz="2800" dirty="0">
                <a:sym typeface="Wingdings"/>
              </a:rPr>
              <a:t>so, label space is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37" y="1461803"/>
            <a:ext cx="1104900" cy="38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94" y="2319746"/>
            <a:ext cx="3348034" cy="40048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556453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7387" y="3611034"/>
            <a:ext cx="1257300" cy="11557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7387" y="5461023"/>
            <a:ext cx="17145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0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HMMs for Word Clustering</a:t>
            </a:r>
            <a:br>
              <a:rPr lang="en-US" sz="3200" dirty="0"/>
            </a:br>
            <a:r>
              <a:rPr lang="en-US" sz="2400" dirty="0"/>
              <a:t>(Brown et al., 1992)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101600" y="1157287"/>
            <a:ext cx="88519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/>
              <a:buChar char="•"/>
            </a:pPr>
            <a:r>
              <a:rPr lang="en-US" sz="2800" dirty="0">
                <a:sym typeface="Wingdings"/>
              </a:rPr>
              <a:t>given a set of sentences, how should we learn the parameters of our model?</a:t>
            </a:r>
          </a:p>
          <a:p>
            <a:pPr marL="284163" indent="-284163">
              <a:buFont typeface="Arial"/>
              <a:buChar char="•"/>
            </a:pPr>
            <a:endParaRPr lang="en-US" sz="2800" dirty="0">
              <a:sym typeface="Wingdings"/>
            </a:endParaRPr>
          </a:p>
          <a:p>
            <a:pPr marL="284163" indent="-284163">
              <a:buFont typeface="Arial"/>
              <a:buChar char="•"/>
            </a:pPr>
            <a:r>
              <a:rPr lang="en-US" sz="2800" dirty="0">
                <a:sym typeface="Wingdings"/>
              </a:rPr>
              <a:t>how about we use maximum likelihood estimation, e.g.:</a:t>
            </a:r>
          </a:p>
          <a:p>
            <a:pPr marL="284163" indent="-284163">
              <a:buFont typeface="Arial"/>
              <a:buChar char="•"/>
            </a:pPr>
            <a:endParaRPr lang="en-US" sz="2800" dirty="0">
              <a:sym typeface="Wingdings"/>
            </a:endParaRPr>
          </a:p>
          <a:p>
            <a:pPr marL="284163" indent="-284163">
              <a:buFont typeface="Arial"/>
              <a:buChar char="•"/>
            </a:pPr>
            <a:endParaRPr lang="en-US" sz="2800" dirty="0">
              <a:sym typeface="Wingdings"/>
            </a:endParaRPr>
          </a:p>
          <a:p>
            <a:pPr marL="284163" indent="-284163">
              <a:buFont typeface="Arial"/>
              <a:buChar char="•"/>
            </a:pPr>
            <a:endParaRPr lang="en-US" sz="2800" dirty="0">
              <a:sym typeface="Wingdings"/>
            </a:endParaRPr>
          </a:p>
          <a:p>
            <a:pPr marL="284163" indent="-284163">
              <a:buFont typeface="Arial"/>
              <a:buChar char="•"/>
            </a:pPr>
            <a:endParaRPr lang="en-US" sz="2800" dirty="0">
              <a:sym typeface="Wingdings"/>
            </a:endParaRPr>
          </a:p>
          <a:p>
            <a:pPr marL="284163" indent="-284163">
              <a:buFont typeface="Arial"/>
              <a:buChar char="•"/>
            </a:pPr>
            <a:r>
              <a:rPr lang="en-US" sz="2800" dirty="0">
                <a:sym typeface="Wingdings"/>
              </a:rPr>
              <a:t>problem: we don’t have any          ’s!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780" y="4599841"/>
            <a:ext cx="584200" cy="469900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 bwMode="auto">
          <a:xfrm flipV="1">
            <a:off x="5300980" y="3982721"/>
            <a:ext cx="957536" cy="61712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Box 56"/>
          <p:cNvSpPr txBox="1"/>
          <p:nvPr/>
        </p:nvSpPr>
        <p:spPr>
          <a:xfrm>
            <a:off x="101600" y="5200967"/>
            <a:ext cx="8851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/>
              <a:buChar char="•"/>
            </a:pPr>
            <a:r>
              <a:rPr lang="en-US" sz="2800" dirty="0">
                <a:sym typeface="Wingdings"/>
              </a:rPr>
              <a:t>we only have a set of </a:t>
            </a:r>
            <a:r>
              <a:rPr lang="en-US" sz="2800" b="1" dirty="0">
                <a:sym typeface="Wingdings"/>
              </a:rPr>
              <a:t>unlabeled </a:t>
            </a:r>
            <a:r>
              <a:rPr lang="en-US" sz="2800" dirty="0">
                <a:sym typeface="Wingdings"/>
              </a:rPr>
              <a:t>sentences:</a:t>
            </a:r>
          </a:p>
          <a:p>
            <a:pPr marL="284163" indent="-284163">
              <a:buFont typeface="Arial"/>
              <a:buChar char="•"/>
            </a:pPr>
            <a:endParaRPr lang="en-US" sz="2800" dirty="0">
              <a:sym typeface="Wingdings"/>
            </a:endParaRP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180" y="5291991"/>
            <a:ext cx="1346200" cy="444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902" y="3077881"/>
            <a:ext cx="49657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2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77" y="296445"/>
            <a:ext cx="8952824" cy="2893795"/>
          </a:xfrm>
        </p:spPr>
        <p:txBody>
          <a:bodyPr>
            <a:normAutofit/>
          </a:bodyPr>
          <a:lstStyle/>
          <a:p>
            <a:r>
              <a:rPr lang="en-US" dirty="0"/>
              <a:t>we want to maximize likelihood, but:</a:t>
            </a:r>
          </a:p>
          <a:p>
            <a:pPr lvl="1"/>
            <a:r>
              <a:rPr lang="en-US" dirty="0"/>
              <a:t>our HMM defines</a:t>
            </a:r>
          </a:p>
          <a:p>
            <a:pPr lvl="1"/>
            <a:r>
              <a:rPr lang="en-US" dirty="0"/>
              <a:t>our data only contains</a:t>
            </a:r>
          </a:p>
          <a:p>
            <a:r>
              <a:rPr lang="en-US" dirty="0"/>
              <a:t>solution: marginalize out </a:t>
            </a:r>
          </a:p>
          <a:p>
            <a:r>
              <a:rPr lang="en-US" dirty="0"/>
              <a:t>this idea underlies much of unsupervised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170" y="1597605"/>
            <a:ext cx="241300" cy="20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735" y="2166565"/>
            <a:ext cx="241300" cy="279400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4833620" y="4013411"/>
            <a:ext cx="436880" cy="80243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2155" y="866425"/>
            <a:ext cx="2273300" cy="482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9902" y="3077881"/>
            <a:ext cx="4965700" cy="1193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5800" y="4769952"/>
            <a:ext cx="5232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0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77" y="296445"/>
            <a:ext cx="8952824" cy="2893795"/>
          </a:xfrm>
        </p:spPr>
        <p:txBody>
          <a:bodyPr>
            <a:normAutofit/>
          </a:bodyPr>
          <a:lstStyle/>
          <a:p>
            <a:r>
              <a:rPr lang="en-US" dirty="0"/>
              <a:t>we want to maximize likelihood, but:</a:t>
            </a:r>
          </a:p>
          <a:p>
            <a:pPr lvl="1"/>
            <a:r>
              <a:rPr lang="en-US" dirty="0"/>
              <a:t>our HMM defines</a:t>
            </a:r>
          </a:p>
          <a:p>
            <a:pPr lvl="1"/>
            <a:r>
              <a:rPr lang="en-US" dirty="0"/>
              <a:t>our data only contains</a:t>
            </a:r>
          </a:p>
          <a:p>
            <a:r>
              <a:rPr lang="en-US" dirty="0"/>
              <a:t>solution: marginalize out </a:t>
            </a:r>
          </a:p>
          <a:p>
            <a:r>
              <a:rPr lang="en-US" dirty="0"/>
              <a:t>this idea underlies much of unsupervised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170" y="1597605"/>
            <a:ext cx="241300" cy="20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735" y="2166565"/>
            <a:ext cx="241300" cy="279400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4833620" y="4013411"/>
            <a:ext cx="436880" cy="80243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155" y="866425"/>
            <a:ext cx="2273300" cy="482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902" y="3077881"/>
            <a:ext cx="4965700" cy="1193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00" y="4769952"/>
            <a:ext cx="5232400" cy="1257300"/>
          </a:xfrm>
          <a:prstGeom prst="rect">
            <a:avLst/>
          </a:prstGeom>
        </p:spPr>
      </p:pic>
      <p:sp>
        <p:nvSpPr>
          <p:cNvPr id="10" name="Donut 9"/>
          <p:cNvSpPr/>
          <p:nvPr/>
        </p:nvSpPr>
        <p:spPr>
          <a:xfrm>
            <a:off x="4134409" y="4732919"/>
            <a:ext cx="1743761" cy="1623432"/>
          </a:xfrm>
          <a:prstGeom prst="donut">
            <a:avLst>
              <a:gd name="adj" fmla="val 999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05050" y="3503793"/>
            <a:ext cx="5110480" cy="13849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lIns="365760" tIns="137160" rIns="365760" bIns="137160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 sum over an exponentially-large set</a:t>
            </a:r>
          </a:p>
        </p:txBody>
      </p:sp>
    </p:spTree>
    <p:extLst>
      <p:ext uri="{BB962C8B-B14F-4D97-AF65-F5344CB8AC3E}">
        <p14:creationId xmlns:p14="http://schemas.microsoft.com/office/powerpoint/2010/main" val="1696670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245" y="296445"/>
            <a:ext cx="8952825" cy="5890995"/>
          </a:xfrm>
        </p:spPr>
        <p:txBody>
          <a:bodyPr>
            <a:normAutofit/>
          </a:bodyPr>
          <a:lstStyle/>
          <a:p>
            <a:r>
              <a:rPr lang="en-US" dirty="0"/>
              <a:t>learning requires sum over exponentially-large set</a:t>
            </a:r>
          </a:p>
          <a:p>
            <a:pPr lvl="1"/>
            <a:r>
              <a:rPr lang="en-US" dirty="0"/>
              <a:t>all possible </a:t>
            </a:r>
            <a:r>
              <a:rPr lang="en-US" dirty="0" err="1"/>
              <a:t>clusterings</a:t>
            </a:r>
            <a:r>
              <a:rPr lang="en-US" dirty="0"/>
              <a:t> of the words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for HMMs, we can compute this sum in polynomial time using dynamic programming </a:t>
            </a:r>
          </a:p>
          <a:p>
            <a:r>
              <a:rPr lang="en-US" dirty="0"/>
              <a:t>however, Brown clustering uses simplifying assumption: </a:t>
            </a:r>
            <a:r>
              <a:rPr lang="en-US" b="1" dirty="0"/>
              <a:t>each word is in exactly one cluster</a:t>
            </a:r>
          </a:p>
          <a:p>
            <a:r>
              <a:rPr lang="en-US" dirty="0"/>
              <a:t>the summation above becomes trivial to compute!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65" y="1438245"/>
            <a:ext cx="4566362" cy="109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1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Cluster Per Word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80710"/>
            <a:ext cx="8229600" cy="3545453"/>
          </a:xfrm>
        </p:spPr>
        <p:txBody>
          <a:bodyPr>
            <a:normAutofit/>
          </a:bodyPr>
          <a:lstStyle/>
          <a:p>
            <a:r>
              <a:rPr lang="en-US" dirty="0"/>
              <a:t>summation becomes trivial, so we can easily compute the log-likelihood of any given model</a:t>
            </a:r>
          </a:p>
          <a:p>
            <a:r>
              <a:rPr lang="en-US" dirty="0"/>
              <a:t>but how should we do learning?</a:t>
            </a:r>
          </a:p>
          <a:p>
            <a:pPr lvl="1"/>
            <a:r>
              <a:rPr lang="en-US" dirty="0"/>
              <a:t>gradient-based optimization is tricky due to the constraints</a:t>
            </a:r>
          </a:p>
          <a:p>
            <a:pPr lvl="1"/>
            <a:r>
              <a:rPr lang="en-US" dirty="0"/>
              <a:t>and it’s too expensive to iterate through all possible </a:t>
            </a:r>
            <a:r>
              <a:rPr lang="en-US" dirty="0" err="1"/>
              <a:t>clusterings</a:t>
            </a:r>
            <a:r>
              <a:rPr lang="en-US" dirty="0"/>
              <a:t> and compute their likelihoods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65" y="1178808"/>
            <a:ext cx="4566362" cy="109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9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 bwMode="auto">
          <a:xfrm>
            <a:off x="711200" y="1650543"/>
            <a:ext cx="7965440" cy="2701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i="0" dirty="0"/>
              <a:t>greedy algorithm:</a:t>
            </a:r>
          </a:p>
          <a:p>
            <a:pPr marL="0" indent="0">
              <a:buFont typeface="Wingdings" pitchFamily="2" charset="2"/>
              <a:buNone/>
            </a:pPr>
            <a:r>
              <a:rPr lang="en-US" sz="2800" i="0" dirty="0"/>
              <a:t>  </a:t>
            </a:r>
            <a:r>
              <a:rPr lang="en-US" sz="2800" i="0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800" i="0" dirty="0"/>
              <a:t>  initialize each word as its own cluster</a:t>
            </a:r>
          </a:p>
          <a:p>
            <a:pPr marL="0" indent="0">
              <a:buNone/>
            </a:pPr>
            <a:r>
              <a:rPr lang="en-US" sz="2800" i="0" dirty="0"/>
              <a:t>  </a:t>
            </a:r>
            <a:r>
              <a:rPr lang="en-US" sz="2800" i="0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800" i="0" dirty="0"/>
              <a:t>  greedily merge clusters to improve data likelihood</a:t>
            </a:r>
          </a:p>
          <a:p>
            <a:pPr marL="0" indent="0">
              <a:buNone/>
            </a:pPr>
            <a:endParaRPr lang="en-US" sz="1600" i="0" dirty="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487680" y="175493"/>
            <a:ext cx="8188960" cy="92333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274320" tIns="182880" rIns="274320" bIns="1828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600" i="0" dirty="0">
                <a:latin typeface="Calibri"/>
                <a:cs typeface="Calibri"/>
              </a:rPr>
              <a:t>Algorithm for Brown Clustering</a:t>
            </a:r>
            <a:endParaRPr lang="en-US" sz="3200" i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9469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induced 1000 Brown clusters from 56 million English tweets (1 billion words)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only words that appeared at least 40 times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rgbClr val="0062AC"/>
                </a:solidFill>
              </a:rPr>
              <a:t>(</a:t>
            </a:r>
            <a:r>
              <a:rPr lang="en-US" sz="2400" dirty="0" err="1">
                <a:solidFill>
                  <a:srgbClr val="0062AC"/>
                </a:solidFill>
              </a:rPr>
              <a:t>Owoputi</a:t>
            </a:r>
            <a:r>
              <a:rPr lang="en-US" sz="2400" dirty="0">
                <a:solidFill>
                  <a:srgbClr val="0062AC"/>
                </a:solidFill>
              </a:rPr>
              <a:t>, O’Connor, Dyer, Gimpel, Schneider, and Smith, 2013)</a:t>
            </a:r>
            <a:endParaRPr lang="en-US" dirty="0">
              <a:solidFill>
                <a:srgbClr val="0062A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29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missed loved hated misread admired underestimated resisted adored disliked regretted </a:t>
            </a:r>
            <a:r>
              <a:rPr lang="en-US" dirty="0" err="1"/>
              <a:t>missd</a:t>
            </a:r>
            <a:r>
              <a:rPr lang="en-US" dirty="0"/>
              <a:t> fancied </a:t>
            </a:r>
            <a:r>
              <a:rPr lang="en-US" dirty="0" err="1"/>
              <a:t>luved</a:t>
            </a:r>
            <a:r>
              <a:rPr lang="en-US" dirty="0"/>
              <a:t> </a:t>
            </a:r>
            <a:r>
              <a:rPr lang="en-US" dirty="0" err="1"/>
              <a:t>prefered</a:t>
            </a:r>
            <a:r>
              <a:rPr lang="en-US" dirty="0"/>
              <a:t> </a:t>
            </a:r>
            <a:r>
              <a:rPr lang="en-US" dirty="0" err="1"/>
              <a:t>luvd</a:t>
            </a:r>
            <a:r>
              <a:rPr lang="en-US" dirty="0"/>
              <a:t> overdid mistyped </a:t>
            </a:r>
            <a:r>
              <a:rPr lang="en-US" dirty="0" err="1"/>
              <a:t>misd</a:t>
            </a:r>
            <a:r>
              <a:rPr lang="en-US" dirty="0"/>
              <a:t> </a:t>
            </a:r>
            <a:r>
              <a:rPr lang="en-US" dirty="0" err="1"/>
              <a:t>misssed</a:t>
            </a:r>
            <a:r>
              <a:rPr lang="en-US" dirty="0"/>
              <a:t> </a:t>
            </a:r>
            <a:r>
              <a:rPr lang="en-US" dirty="0" err="1"/>
              <a:t>looooved</a:t>
            </a:r>
            <a:r>
              <a:rPr lang="en-US" dirty="0"/>
              <a:t> misjudged </a:t>
            </a:r>
            <a:r>
              <a:rPr lang="en-US" dirty="0" err="1"/>
              <a:t>lovedd</a:t>
            </a:r>
            <a:r>
              <a:rPr lang="en-US" dirty="0"/>
              <a:t> </a:t>
            </a:r>
            <a:r>
              <a:rPr lang="en-US" dirty="0" err="1"/>
              <a:t>loooved</a:t>
            </a:r>
            <a:r>
              <a:rPr lang="en-US" dirty="0"/>
              <a:t> loathed </a:t>
            </a:r>
            <a:r>
              <a:rPr lang="en-US" dirty="0" err="1"/>
              <a:t>lurves</a:t>
            </a:r>
            <a:r>
              <a:rPr lang="en-US" dirty="0"/>
              <a:t> </a:t>
            </a:r>
            <a:r>
              <a:rPr lang="en-US" dirty="0" err="1"/>
              <a:t>lovd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72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missed loved hated misread admired underestimated resisted adored disliked regretted </a:t>
            </a:r>
            <a:r>
              <a:rPr lang="en-US" dirty="0" err="1"/>
              <a:t>missd</a:t>
            </a:r>
            <a:r>
              <a:rPr lang="en-US" dirty="0"/>
              <a:t> fancied </a:t>
            </a:r>
            <a:r>
              <a:rPr lang="en-US" dirty="0" err="1"/>
              <a:t>luved</a:t>
            </a:r>
            <a:r>
              <a:rPr lang="en-US" dirty="0"/>
              <a:t> </a:t>
            </a:r>
            <a:r>
              <a:rPr lang="en-US" dirty="0" err="1"/>
              <a:t>prefered</a:t>
            </a:r>
            <a:r>
              <a:rPr lang="en-US" dirty="0"/>
              <a:t> </a:t>
            </a:r>
            <a:r>
              <a:rPr lang="en-US" dirty="0" err="1"/>
              <a:t>luvd</a:t>
            </a:r>
            <a:r>
              <a:rPr lang="en-US" dirty="0"/>
              <a:t> overdid mistyped </a:t>
            </a:r>
            <a:r>
              <a:rPr lang="en-US" dirty="0" err="1"/>
              <a:t>misd</a:t>
            </a:r>
            <a:r>
              <a:rPr lang="en-US" dirty="0"/>
              <a:t> </a:t>
            </a:r>
            <a:r>
              <a:rPr lang="en-US" dirty="0" err="1"/>
              <a:t>misssed</a:t>
            </a:r>
            <a:r>
              <a:rPr lang="en-US" dirty="0"/>
              <a:t> </a:t>
            </a:r>
            <a:r>
              <a:rPr lang="en-US" dirty="0" err="1"/>
              <a:t>looooved</a:t>
            </a:r>
            <a:r>
              <a:rPr lang="en-US" dirty="0"/>
              <a:t> misjudged </a:t>
            </a:r>
            <a:r>
              <a:rPr lang="en-US" dirty="0" err="1"/>
              <a:t>lovedd</a:t>
            </a:r>
            <a:r>
              <a:rPr lang="en-US" dirty="0"/>
              <a:t> </a:t>
            </a:r>
            <a:r>
              <a:rPr lang="en-US" dirty="0" err="1"/>
              <a:t>loooved</a:t>
            </a:r>
            <a:r>
              <a:rPr lang="en-US" dirty="0"/>
              <a:t> loathed </a:t>
            </a:r>
            <a:r>
              <a:rPr lang="en-US" dirty="0" err="1"/>
              <a:t>lurves</a:t>
            </a:r>
            <a:r>
              <a:rPr lang="en-US" dirty="0"/>
              <a:t> </a:t>
            </a:r>
            <a:r>
              <a:rPr lang="en-US" dirty="0" err="1"/>
              <a:t>lovd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066637" y="1995974"/>
            <a:ext cx="1212274" cy="762000"/>
          </a:xfrm>
          <a:prstGeom prst="ellipse">
            <a:avLst/>
          </a:prstGeom>
          <a:ln w="57150" cmpd="sng">
            <a:solidFill>
              <a:srgbClr val="288CD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 flipV="1">
            <a:off x="2976863" y="2700248"/>
            <a:ext cx="971682" cy="1496294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itle 1"/>
          <p:cNvSpPr txBox="1">
            <a:spLocks/>
          </p:cNvSpPr>
          <p:nvPr/>
        </p:nvSpPr>
        <p:spPr bwMode="auto">
          <a:xfrm>
            <a:off x="3498276" y="4138804"/>
            <a:ext cx="1928091" cy="90055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Gill Sans MT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800" i="0" dirty="0">
                <a:solidFill>
                  <a:srgbClr val="288CD2"/>
                </a:solidFill>
                <a:latin typeface="Calibri"/>
                <a:cs typeface="Calibri"/>
              </a:rPr>
              <a:t>spelling</a:t>
            </a:r>
          </a:p>
          <a:p>
            <a:r>
              <a:rPr lang="en-US" sz="2800" i="0" dirty="0">
                <a:solidFill>
                  <a:srgbClr val="288CD2"/>
                </a:solidFill>
                <a:latin typeface="Calibri"/>
                <a:cs typeface="Calibri"/>
              </a:rPr>
              <a:t>variation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4354946" y="2460102"/>
            <a:ext cx="1452418" cy="762000"/>
          </a:xfrm>
          <a:prstGeom prst="ellipse">
            <a:avLst/>
          </a:prstGeom>
          <a:ln w="57150" cmpd="sng">
            <a:solidFill>
              <a:srgbClr val="288CD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4675909" y="3222103"/>
            <a:ext cx="312172" cy="870530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1"/>
          <p:cNvSpPr/>
          <p:nvPr/>
        </p:nvSpPr>
        <p:spPr>
          <a:xfrm>
            <a:off x="3398982" y="2508590"/>
            <a:ext cx="988291" cy="671950"/>
          </a:xfrm>
          <a:prstGeom prst="ellipse">
            <a:avLst/>
          </a:prstGeom>
          <a:ln w="57150" cmpd="sng">
            <a:solidFill>
              <a:srgbClr val="288CD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/>
          <p:cNvCxnSpPr>
            <a:endCxn id="12" idx="4"/>
          </p:cNvCxnSpPr>
          <p:nvPr/>
        </p:nvCxnSpPr>
        <p:spPr bwMode="auto">
          <a:xfrm flipH="1" flipV="1">
            <a:off x="3893128" y="3180540"/>
            <a:ext cx="427181" cy="937493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52539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“really”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really rly </a:t>
            </a:r>
            <a:r>
              <a:rPr lang="en-US" dirty="0" err="1"/>
              <a:t>realy</a:t>
            </a:r>
            <a:r>
              <a:rPr lang="en-US" dirty="0"/>
              <a:t> genuinely </a:t>
            </a:r>
            <a:r>
              <a:rPr lang="en-US" dirty="0" err="1"/>
              <a:t>rlly</a:t>
            </a:r>
            <a:r>
              <a:rPr lang="en-US" dirty="0"/>
              <a:t> </a:t>
            </a:r>
            <a:r>
              <a:rPr lang="en-US" dirty="0" err="1"/>
              <a:t>reallly</a:t>
            </a:r>
            <a:r>
              <a:rPr lang="en-US" dirty="0"/>
              <a:t> </a:t>
            </a:r>
            <a:r>
              <a:rPr lang="en-US" dirty="0" err="1"/>
              <a:t>realllly</a:t>
            </a:r>
            <a:r>
              <a:rPr lang="en-US" dirty="0"/>
              <a:t> </a:t>
            </a:r>
            <a:r>
              <a:rPr lang="en-US" dirty="0" err="1"/>
              <a:t>reallyy</a:t>
            </a:r>
            <a:r>
              <a:rPr lang="en-US" dirty="0"/>
              <a:t> </a:t>
            </a:r>
            <a:r>
              <a:rPr lang="en-US" dirty="0" err="1"/>
              <a:t>rele</a:t>
            </a:r>
            <a:r>
              <a:rPr lang="en-US" dirty="0"/>
              <a:t> </a:t>
            </a:r>
            <a:r>
              <a:rPr lang="en-US" dirty="0" err="1"/>
              <a:t>realli</a:t>
            </a:r>
            <a:r>
              <a:rPr lang="en-US" dirty="0"/>
              <a:t> </a:t>
            </a:r>
            <a:r>
              <a:rPr lang="en-US" dirty="0" err="1"/>
              <a:t>relly</a:t>
            </a:r>
            <a:r>
              <a:rPr lang="en-US" dirty="0"/>
              <a:t> </a:t>
            </a:r>
            <a:r>
              <a:rPr lang="en-US" dirty="0" err="1"/>
              <a:t>reallllly</a:t>
            </a:r>
            <a:r>
              <a:rPr lang="en-US" dirty="0"/>
              <a:t> </a:t>
            </a:r>
            <a:r>
              <a:rPr lang="en-US" dirty="0" err="1"/>
              <a:t>reli</a:t>
            </a:r>
            <a:r>
              <a:rPr lang="en-US" dirty="0"/>
              <a:t> </a:t>
            </a:r>
            <a:r>
              <a:rPr lang="en-US" dirty="0" err="1"/>
              <a:t>reali</a:t>
            </a:r>
            <a:r>
              <a:rPr lang="en-US" dirty="0"/>
              <a:t> </a:t>
            </a:r>
            <a:r>
              <a:rPr lang="en-US" dirty="0" err="1"/>
              <a:t>sholl</a:t>
            </a:r>
            <a:r>
              <a:rPr lang="en-US" dirty="0"/>
              <a:t> </a:t>
            </a:r>
            <a:r>
              <a:rPr lang="en-US" dirty="0" err="1"/>
              <a:t>rily</a:t>
            </a:r>
            <a:r>
              <a:rPr lang="en-US" dirty="0"/>
              <a:t> </a:t>
            </a:r>
            <a:r>
              <a:rPr lang="en-US" dirty="0" err="1"/>
              <a:t>reallyyy</a:t>
            </a:r>
            <a:r>
              <a:rPr lang="en-US" dirty="0"/>
              <a:t> </a:t>
            </a:r>
            <a:r>
              <a:rPr lang="en-US" dirty="0" err="1"/>
              <a:t>reeeeally</a:t>
            </a:r>
            <a:r>
              <a:rPr lang="en-US" dirty="0"/>
              <a:t> </a:t>
            </a:r>
            <a:r>
              <a:rPr lang="en-US" dirty="0" err="1"/>
              <a:t>realllllly</a:t>
            </a:r>
            <a:r>
              <a:rPr lang="en-US" dirty="0"/>
              <a:t> </a:t>
            </a:r>
            <a:r>
              <a:rPr lang="en-US" dirty="0" err="1"/>
              <a:t>reaally</a:t>
            </a:r>
            <a:r>
              <a:rPr lang="en-US" dirty="0"/>
              <a:t> </a:t>
            </a:r>
            <a:r>
              <a:rPr lang="en-US" dirty="0" err="1"/>
              <a:t>reeeally</a:t>
            </a:r>
            <a:r>
              <a:rPr lang="en-US" dirty="0"/>
              <a:t> </a:t>
            </a:r>
            <a:r>
              <a:rPr lang="en-US" dirty="0" err="1"/>
              <a:t>rili</a:t>
            </a:r>
            <a:r>
              <a:rPr lang="en-US" dirty="0"/>
              <a:t> </a:t>
            </a:r>
            <a:r>
              <a:rPr lang="en-US" dirty="0" err="1"/>
              <a:t>reaaally</a:t>
            </a:r>
            <a:r>
              <a:rPr lang="en-US" dirty="0"/>
              <a:t> </a:t>
            </a:r>
            <a:r>
              <a:rPr lang="en-US" dirty="0" err="1"/>
              <a:t>reaaaally</a:t>
            </a:r>
            <a:r>
              <a:rPr lang="en-US" dirty="0"/>
              <a:t> </a:t>
            </a:r>
            <a:r>
              <a:rPr lang="en-US" dirty="0" err="1"/>
              <a:t>reallyyyy</a:t>
            </a:r>
            <a:r>
              <a:rPr lang="en-US" dirty="0"/>
              <a:t> </a:t>
            </a:r>
            <a:r>
              <a:rPr lang="en-US" dirty="0" err="1"/>
              <a:t>rilly</a:t>
            </a:r>
            <a:r>
              <a:rPr lang="en-US" dirty="0"/>
              <a:t> </a:t>
            </a:r>
            <a:r>
              <a:rPr lang="en-US" dirty="0" err="1"/>
              <a:t>reallllllly</a:t>
            </a:r>
            <a:r>
              <a:rPr lang="en-US" dirty="0"/>
              <a:t> </a:t>
            </a:r>
            <a:r>
              <a:rPr lang="en-US" dirty="0" err="1"/>
              <a:t>reeeeeally</a:t>
            </a:r>
            <a:r>
              <a:rPr lang="en-US" dirty="0"/>
              <a:t> </a:t>
            </a:r>
            <a:r>
              <a:rPr lang="en-US" dirty="0" err="1"/>
              <a:t>reeally</a:t>
            </a:r>
            <a:r>
              <a:rPr lang="en-US" dirty="0"/>
              <a:t> </a:t>
            </a:r>
            <a:r>
              <a:rPr lang="en-US" dirty="0" err="1"/>
              <a:t>shol</a:t>
            </a:r>
            <a:r>
              <a:rPr lang="en-US" dirty="0"/>
              <a:t> </a:t>
            </a:r>
            <a:r>
              <a:rPr lang="en-US" dirty="0" err="1"/>
              <a:t>realllyyy</a:t>
            </a:r>
            <a:r>
              <a:rPr lang="en-US" dirty="0"/>
              <a:t> </a:t>
            </a:r>
            <a:r>
              <a:rPr lang="en-US" dirty="0" err="1"/>
              <a:t>reely</a:t>
            </a:r>
            <a:r>
              <a:rPr lang="en-US" dirty="0"/>
              <a:t> </a:t>
            </a:r>
            <a:r>
              <a:rPr lang="en-US" dirty="0" err="1"/>
              <a:t>relle</a:t>
            </a:r>
            <a:r>
              <a:rPr lang="en-US" dirty="0"/>
              <a:t> </a:t>
            </a:r>
            <a:r>
              <a:rPr lang="en-US" dirty="0" err="1"/>
              <a:t>reaaaaally</a:t>
            </a:r>
            <a:r>
              <a:rPr lang="en-US" dirty="0"/>
              <a:t> </a:t>
            </a:r>
            <a:r>
              <a:rPr lang="en-US" dirty="0" err="1"/>
              <a:t>shole</a:t>
            </a:r>
            <a:r>
              <a:rPr lang="en-US" dirty="0"/>
              <a:t> really2 </a:t>
            </a:r>
            <a:r>
              <a:rPr lang="en-US" dirty="0" err="1"/>
              <a:t>reallyyyyy</a:t>
            </a:r>
            <a:r>
              <a:rPr lang="en-US" dirty="0"/>
              <a:t> _really_ </a:t>
            </a:r>
            <a:r>
              <a:rPr lang="en-US" dirty="0" err="1"/>
              <a:t>realllllllly</a:t>
            </a:r>
            <a:r>
              <a:rPr lang="en-US" dirty="0"/>
              <a:t> </a:t>
            </a:r>
            <a:r>
              <a:rPr lang="en-US" dirty="0" err="1"/>
              <a:t>reaaly</a:t>
            </a:r>
            <a:r>
              <a:rPr lang="en-US" dirty="0"/>
              <a:t> </a:t>
            </a:r>
            <a:r>
              <a:rPr lang="en-US" dirty="0" err="1"/>
              <a:t>realllyy</a:t>
            </a:r>
            <a:r>
              <a:rPr lang="en-US" dirty="0"/>
              <a:t> </a:t>
            </a:r>
            <a:r>
              <a:rPr lang="en-US" dirty="0" err="1"/>
              <a:t>reallii</a:t>
            </a:r>
            <a:r>
              <a:rPr lang="en-US" dirty="0"/>
              <a:t> </a:t>
            </a:r>
            <a:r>
              <a:rPr lang="en-US" dirty="0" err="1"/>
              <a:t>reallt</a:t>
            </a:r>
            <a:r>
              <a:rPr lang="en-US" dirty="0"/>
              <a:t> </a:t>
            </a:r>
            <a:r>
              <a:rPr lang="en-US" dirty="0" err="1"/>
              <a:t>genuinly</a:t>
            </a:r>
            <a:r>
              <a:rPr lang="en-US" dirty="0"/>
              <a:t> </a:t>
            </a:r>
            <a:r>
              <a:rPr lang="en-US" dirty="0" err="1"/>
              <a:t>relli</a:t>
            </a:r>
            <a:r>
              <a:rPr lang="en-US" dirty="0"/>
              <a:t> </a:t>
            </a:r>
            <a:r>
              <a:rPr lang="en-US" dirty="0" err="1"/>
              <a:t>realllyyyy</a:t>
            </a:r>
            <a:r>
              <a:rPr lang="en-US" dirty="0"/>
              <a:t> </a:t>
            </a:r>
            <a:r>
              <a:rPr lang="en-US" dirty="0" err="1"/>
              <a:t>reeeeeeally</a:t>
            </a:r>
            <a:r>
              <a:rPr lang="en-US" dirty="0"/>
              <a:t> </a:t>
            </a:r>
            <a:r>
              <a:rPr lang="en-US" dirty="0" err="1"/>
              <a:t>weally</a:t>
            </a:r>
            <a:r>
              <a:rPr lang="en-US" dirty="0"/>
              <a:t> </a:t>
            </a:r>
            <a:r>
              <a:rPr lang="en-US" dirty="0" err="1"/>
              <a:t>reaaallly</a:t>
            </a:r>
            <a:r>
              <a:rPr lang="en-US" dirty="0"/>
              <a:t> </a:t>
            </a:r>
            <a:r>
              <a:rPr lang="en-US" dirty="0" err="1"/>
              <a:t>reallllyyy</a:t>
            </a:r>
            <a:r>
              <a:rPr lang="en-US" dirty="0"/>
              <a:t> </a:t>
            </a:r>
            <a:r>
              <a:rPr lang="en-US" dirty="0" err="1"/>
              <a:t>reallllllllly</a:t>
            </a:r>
            <a:r>
              <a:rPr lang="en-US" dirty="0"/>
              <a:t> </a:t>
            </a:r>
            <a:r>
              <a:rPr lang="en-US" dirty="0" err="1"/>
              <a:t>reaallly</a:t>
            </a:r>
            <a:r>
              <a:rPr lang="en-US" dirty="0"/>
              <a:t> </a:t>
            </a:r>
            <a:r>
              <a:rPr lang="en-US" dirty="0" err="1"/>
              <a:t>realyy</a:t>
            </a:r>
            <a:r>
              <a:rPr lang="en-US" dirty="0"/>
              <a:t> /really/ </a:t>
            </a:r>
            <a:r>
              <a:rPr lang="en-US" dirty="0" err="1"/>
              <a:t>reaaaaaally</a:t>
            </a:r>
            <a:r>
              <a:rPr lang="en-US" dirty="0"/>
              <a:t> </a:t>
            </a:r>
            <a:r>
              <a:rPr lang="en-US" sz="2400" dirty="0" err="1"/>
              <a:t>reallu</a:t>
            </a:r>
            <a:r>
              <a:rPr lang="en-US" sz="2400" dirty="0"/>
              <a:t> </a:t>
            </a:r>
            <a:r>
              <a:rPr lang="en-US" sz="2400" dirty="0" err="1"/>
              <a:t>reaaaallly</a:t>
            </a:r>
            <a:r>
              <a:rPr lang="en-US" sz="2400" dirty="0"/>
              <a:t> </a:t>
            </a:r>
            <a:r>
              <a:rPr lang="en-US" sz="2400" dirty="0" err="1"/>
              <a:t>reeaally</a:t>
            </a:r>
            <a:r>
              <a:rPr lang="en-US" sz="2400" dirty="0"/>
              <a:t> </a:t>
            </a:r>
            <a:r>
              <a:rPr lang="en-US" sz="2400" dirty="0" err="1"/>
              <a:t>rreally</a:t>
            </a:r>
            <a:r>
              <a:rPr lang="en-US" sz="2400" dirty="0"/>
              <a:t> </a:t>
            </a:r>
            <a:r>
              <a:rPr lang="en-US" sz="2400" dirty="0" err="1"/>
              <a:t>reallyreally</a:t>
            </a:r>
            <a:r>
              <a:rPr lang="en-US" sz="2400" dirty="0"/>
              <a:t> </a:t>
            </a:r>
            <a:r>
              <a:rPr lang="en-US" sz="2400" dirty="0" err="1"/>
              <a:t>eally</a:t>
            </a:r>
            <a:r>
              <a:rPr lang="en-US" sz="2400" dirty="0"/>
              <a:t> </a:t>
            </a:r>
            <a:r>
              <a:rPr lang="en-US" sz="2400" dirty="0" err="1"/>
              <a:t>reeeaaally</a:t>
            </a:r>
            <a:r>
              <a:rPr lang="en-US" sz="2400" dirty="0"/>
              <a:t> </a:t>
            </a:r>
            <a:r>
              <a:rPr lang="en-US" sz="2400" dirty="0" err="1"/>
              <a:t>reeeaaally</a:t>
            </a:r>
            <a:r>
              <a:rPr lang="en-US" sz="2400" dirty="0"/>
              <a:t> </a:t>
            </a:r>
            <a:r>
              <a:rPr lang="en-US" sz="2400" dirty="0" err="1"/>
              <a:t>reaallyy</a:t>
            </a:r>
            <a:r>
              <a:rPr lang="en-US" sz="2400" dirty="0"/>
              <a:t> </a:t>
            </a:r>
            <a:r>
              <a:rPr lang="en-US" sz="2400" dirty="0" err="1"/>
              <a:t>reallyyyyyy</a:t>
            </a:r>
            <a:r>
              <a:rPr lang="en-US" sz="2400" dirty="0"/>
              <a:t> –really- </a:t>
            </a:r>
            <a:r>
              <a:rPr lang="en-US" sz="2400" dirty="0" err="1"/>
              <a:t>reallyreallyreally</a:t>
            </a:r>
            <a:r>
              <a:rPr lang="en-US" sz="2400" dirty="0"/>
              <a:t> </a:t>
            </a:r>
            <a:r>
              <a:rPr lang="en-US" sz="2400" dirty="0" err="1"/>
              <a:t>rilli</a:t>
            </a:r>
            <a:r>
              <a:rPr lang="en-US" sz="2400" dirty="0"/>
              <a:t> </a:t>
            </a:r>
            <a:r>
              <a:rPr lang="en-US" sz="2400" dirty="0" err="1"/>
              <a:t>reallllyyyy</a:t>
            </a:r>
            <a:r>
              <a:rPr lang="en-US" sz="2400" dirty="0"/>
              <a:t> </a:t>
            </a:r>
            <a:r>
              <a:rPr lang="en-US" sz="2400" dirty="0" err="1"/>
              <a:t>relaly</a:t>
            </a:r>
            <a:r>
              <a:rPr lang="en-US" sz="2400" dirty="0"/>
              <a:t> </a:t>
            </a:r>
            <a:r>
              <a:rPr lang="en-US" sz="2400" dirty="0" err="1"/>
              <a:t>reallllyy</a:t>
            </a:r>
            <a:r>
              <a:rPr lang="en-US" sz="2400" dirty="0"/>
              <a:t> really-really r3ally </a:t>
            </a:r>
            <a:r>
              <a:rPr lang="en-US" sz="2400" dirty="0" err="1"/>
              <a:t>reeli</a:t>
            </a:r>
            <a:r>
              <a:rPr lang="en-US" sz="2400" dirty="0"/>
              <a:t> </a:t>
            </a:r>
            <a:r>
              <a:rPr lang="en-US" sz="2400" dirty="0" err="1"/>
              <a:t>reallie</a:t>
            </a:r>
            <a:r>
              <a:rPr lang="en-US" sz="2400" dirty="0"/>
              <a:t> </a:t>
            </a:r>
            <a:r>
              <a:rPr lang="en-US" sz="2400" dirty="0" err="1"/>
              <a:t>realllllyyy</a:t>
            </a:r>
            <a:r>
              <a:rPr lang="en-US" sz="2400" dirty="0"/>
              <a:t> </a:t>
            </a:r>
            <a:r>
              <a:rPr lang="en-US" sz="2400" dirty="0" err="1"/>
              <a:t>rli</a:t>
            </a:r>
            <a:r>
              <a:rPr lang="en-US" sz="2400" dirty="0"/>
              <a:t> </a:t>
            </a:r>
            <a:r>
              <a:rPr lang="en-US" sz="2400" dirty="0" err="1"/>
              <a:t>realllllllllly</a:t>
            </a:r>
            <a:r>
              <a:rPr lang="en-US" sz="2400" dirty="0"/>
              <a:t> </a:t>
            </a:r>
            <a:r>
              <a:rPr lang="en-US" sz="2400" dirty="0" err="1"/>
              <a:t>reaaaly</a:t>
            </a:r>
            <a:r>
              <a:rPr lang="en-US" sz="2400" dirty="0"/>
              <a:t> </a:t>
            </a:r>
            <a:r>
              <a:rPr lang="en-US" sz="2400" dirty="0" err="1"/>
              <a:t>reeeeeeeally</a:t>
            </a:r>
            <a:endParaRPr lang="en-US" sz="24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576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“so”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soo</a:t>
            </a:r>
            <a:r>
              <a:rPr lang="en-US" dirty="0"/>
              <a:t> </a:t>
            </a:r>
            <a:r>
              <a:rPr lang="en-US" dirty="0" err="1"/>
              <a:t>sooo</a:t>
            </a:r>
            <a:r>
              <a:rPr lang="en-US" dirty="0"/>
              <a:t> </a:t>
            </a:r>
            <a:r>
              <a:rPr lang="en-US" dirty="0" err="1"/>
              <a:t>soooo</a:t>
            </a:r>
            <a:r>
              <a:rPr lang="en-US" dirty="0"/>
              <a:t> </a:t>
            </a:r>
            <a:r>
              <a:rPr lang="en-US" dirty="0" err="1"/>
              <a:t>sooooo</a:t>
            </a:r>
            <a:r>
              <a:rPr lang="en-US" dirty="0"/>
              <a:t> </a:t>
            </a:r>
            <a:r>
              <a:rPr lang="en-US" dirty="0" err="1"/>
              <a:t>soooooo</a:t>
            </a:r>
            <a:r>
              <a:rPr lang="en-US" dirty="0"/>
              <a:t> </a:t>
            </a:r>
            <a:r>
              <a:rPr lang="en-US" dirty="0" err="1"/>
              <a:t>sooooooo</a:t>
            </a:r>
            <a:r>
              <a:rPr lang="en-US" dirty="0"/>
              <a:t> </a:t>
            </a:r>
            <a:r>
              <a:rPr lang="en-US" dirty="0" err="1"/>
              <a:t>soooooooo</a:t>
            </a:r>
            <a:r>
              <a:rPr lang="en-US" dirty="0"/>
              <a:t> </a:t>
            </a:r>
            <a:r>
              <a:rPr lang="en-US" dirty="0" err="1"/>
              <a:t>sooooooooo</a:t>
            </a:r>
            <a:r>
              <a:rPr lang="en-US" dirty="0"/>
              <a:t> </a:t>
            </a:r>
            <a:r>
              <a:rPr lang="en-US" dirty="0" err="1"/>
              <a:t>soooooooooo</a:t>
            </a:r>
            <a:r>
              <a:rPr lang="en-US" dirty="0"/>
              <a:t> </a:t>
            </a:r>
            <a:r>
              <a:rPr lang="en-US" dirty="0" err="1"/>
              <a:t>sooooooooooo</a:t>
            </a:r>
            <a:r>
              <a:rPr lang="en-US" dirty="0"/>
              <a:t> </a:t>
            </a:r>
            <a:r>
              <a:rPr lang="en-US" dirty="0" err="1"/>
              <a:t>soooooooooooo</a:t>
            </a:r>
            <a:r>
              <a:rPr lang="en-US" dirty="0"/>
              <a:t> </a:t>
            </a:r>
            <a:r>
              <a:rPr lang="en-US" dirty="0" err="1"/>
              <a:t>sooooooooooooo</a:t>
            </a:r>
            <a:r>
              <a:rPr lang="en-US" dirty="0"/>
              <a:t> </a:t>
            </a:r>
            <a:r>
              <a:rPr lang="en-US" dirty="0" err="1"/>
              <a:t>soso</a:t>
            </a:r>
            <a:r>
              <a:rPr lang="en-US" dirty="0"/>
              <a:t> </a:t>
            </a:r>
            <a:r>
              <a:rPr lang="en-US" dirty="0" err="1"/>
              <a:t>soooooooooooooo</a:t>
            </a:r>
            <a:r>
              <a:rPr lang="en-US" dirty="0"/>
              <a:t> </a:t>
            </a:r>
            <a:r>
              <a:rPr lang="en-US" dirty="0" err="1"/>
              <a:t>sooooooooooooooo</a:t>
            </a:r>
            <a:r>
              <a:rPr lang="en-US" dirty="0"/>
              <a:t> </a:t>
            </a:r>
            <a:r>
              <a:rPr lang="en-US" dirty="0" err="1"/>
              <a:t>soooooooooooooooo</a:t>
            </a:r>
            <a:r>
              <a:rPr lang="en-US" dirty="0"/>
              <a:t> </a:t>
            </a:r>
            <a:r>
              <a:rPr lang="en-US" dirty="0" err="1"/>
              <a:t>sososo</a:t>
            </a:r>
            <a:r>
              <a:rPr lang="en-US" dirty="0"/>
              <a:t> </a:t>
            </a:r>
            <a:r>
              <a:rPr lang="en-US" dirty="0" err="1"/>
              <a:t>superrr</a:t>
            </a:r>
            <a:r>
              <a:rPr lang="en-US" dirty="0"/>
              <a:t> </a:t>
            </a:r>
            <a:r>
              <a:rPr lang="en-US" dirty="0" err="1"/>
              <a:t>sooooooooooooooooo</a:t>
            </a:r>
            <a:r>
              <a:rPr lang="en-US" dirty="0"/>
              <a:t> </a:t>
            </a:r>
            <a:r>
              <a:rPr lang="en-US" dirty="0" err="1"/>
              <a:t>ssooo</a:t>
            </a:r>
            <a:r>
              <a:rPr lang="en-US" dirty="0"/>
              <a:t> so0o </a:t>
            </a:r>
            <a:r>
              <a:rPr lang="en-US" dirty="0" err="1"/>
              <a:t>superrrr</a:t>
            </a:r>
            <a:r>
              <a:rPr lang="en-US" dirty="0"/>
              <a:t> so0 </a:t>
            </a:r>
            <a:r>
              <a:rPr lang="en-US" dirty="0" err="1"/>
              <a:t>soooooooooooooooooo</a:t>
            </a:r>
            <a:r>
              <a:rPr lang="en-US" dirty="0"/>
              <a:t> </a:t>
            </a:r>
            <a:r>
              <a:rPr lang="en-US" dirty="0" err="1"/>
              <a:t>sosososo</a:t>
            </a:r>
            <a:r>
              <a:rPr lang="en-US" dirty="0"/>
              <a:t> </a:t>
            </a:r>
            <a:r>
              <a:rPr lang="en-US" dirty="0" err="1"/>
              <a:t>sooooooooooooooooooo</a:t>
            </a:r>
            <a:r>
              <a:rPr lang="en-US" dirty="0"/>
              <a:t> </a:t>
            </a:r>
            <a:r>
              <a:rPr lang="en-US" dirty="0" err="1"/>
              <a:t>ssoo</a:t>
            </a:r>
            <a:r>
              <a:rPr lang="en-US" dirty="0"/>
              <a:t> </a:t>
            </a:r>
            <a:r>
              <a:rPr lang="en-US" dirty="0" err="1"/>
              <a:t>sssooo</a:t>
            </a:r>
            <a:r>
              <a:rPr lang="en-US" dirty="0"/>
              <a:t> </a:t>
            </a:r>
            <a:r>
              <a:rPr lang="en-US" dirty="0" err="1"/>
              <a:t>soooooooooooooooooooo</a:t>
            </a:r>
            <a:r>
              <a:rPr lang="en-US" dirty="0"/>
              <a:t> #too s0o </a:t>
            </a:r>
            <a:r>
              <a:rPr lang="en-US" dirty="0" err="1"/>
              <a:t>ssoooo</a:t>
            </a:r>
            <a:r>
              <a:rPr lang="en-US" dirty="0"/>
              <a:t> s00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31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hot fried peanut homemade grilled spicy soy cheesy coconut veggie roasted leftover blueberry icy </a:t>
            </a:r>
            <a:r>
              <a:rPr lang="en-US" sz="2400" dirty="0" err="1"/>
              <a:t>dunkin</a:t>
            </a:r>
            <a:r>
              <a:rPr lang="en-US" sz="2400" dirty="0"/>
              <a:t> mashed rotten mellow boiling crispy peppermint fruity toasted crunchy scrambled creamy boiled chunky funnel soggy clam steamed </a:t>
            </a:r>
            <a:r>
              <a:rPr lang="en-US" sz="2400" dirty="0" err="1"/>
              <a:t>cajun</a:t>
            </a:r>
            <a:r>
              <a:rPr lang="en-US" sz="2400" dirty="0"/>
              <a:t> steaming chewy steamy nacho mince </a:t>
            </a:r>
            <a:r>
              <a:rPr lang="en-US" sz="2400" dirty="0" err="1"/>
              <a:t>reese's</a:t>
            </a:r>
            <a:r>
              <a:rPr lang="en-US" sz="2400" dirty="0"/>
              <a:t> shredded salted glazed spiced </a:t>
            </a:r>
            <a:r>
              <a:rPr lang="en-US" sz="2400" dirty="0" err="1"/>
              <a:t>venti</a:t>
            </a:r>
            <a:r>
              <a:rPr lang="en-US" sz="2400" dirty="0"/>
              <a:t> pickled powdered butternut miso beet sizzling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Food-Related Adjectives</a:t>
            </a:r>
          </a:p>
        </p:txBody>
      </p:sp>
    </p:spTree>
    <p:extLst>
      <p:ext uri="{BB962C8B-B14F-4D97-AF65-F5344CB8AC3E}">
        <p14:creationId xmlns:p14="http://schemas.microsoft.com/office/powerpoint/2010/main" val="1590198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“going to”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gonna</a:t>
            </a:r>
            <a:r>
              <a:rPr lang="en-US" dirty="0"/>
              <a:t> </a:t>
            </a:r>
            <a:r>
              <a:rPr lang="en-US" dirty="0" err="1"/>
              <a:t>gunna</a:t>
            </a:r>
            <a:r>
              <a:rPr lang="en-US" dirty="0"/>
              <a:t> </a:t>
            </a:r>
            <a:r>
              <a:rPr lang="en-US" dirty="0" err="1"/>
              <a:t>gona</a:t>
            </a:r>
            <a:r>
              <a:rPr lang="en-US" dirty="0"/>
              <a:t> </a:t>
            </a:r>
            <a:r>
              <a:rPr lang="en-US" dirty="0" err="1"/>
              <a:t>gna</a:t>
            </a:r>
            <a:r>
              <a:rPr lang="en-US" dirty="0"/>
              <a:t> </a:t>
            </a:r>
            <a:r>
              <a:rPr lang="en-US" dirty="0" err="1"/>
              <a:t>guna</a:t>
            </a:r>
            <a:r>
              <a:rPr lang="en-US" dirty="0"/>
              <a:t> </a:t>
            </a:r>
            <a:r>
              <a:rPr lang="en-US" dirty="0" err="1"/>
              <a:t>gnna</a:t>
            </a:r>
            <a:r>
              <a:rPr lang="en-US" dirty="0"/>
              <a:t> </a:t>
            </a:r>
            <a:r>
              <a:rPr lang="en-US" dirty="0" err="1"/>
              <a:t>ganna</a:t>
            </a:r>
            <a:r>
              <a:rPr lang="en-US" dirty="0"/>
              <a:t> </a:t>
            </a:r>
            <a:r>
              <a:rPr lang="en-US" dirty="0" err="1"/>
              <a:t>qonna</a:t>
            </a:r>
            <a:r>
              <a:rPr lang="en-US" dirty="0"/>
              <a:t> </a:t>
            </a:r>
            <a:r>
              <a:rPr lang="en-US" dirty="0" err="1"/>
              <a:t>gonnna</a:t>
            </a:r>
            <a:r>
              <a:rPr lang="en-US" dirty="0"/>
              <a:t> </a:t>
            </a:r>
            <a:r>
              <a:rPr lang="en-US" dirty="0" err="1"/>
              <a:t>gana</a:t>
            </a:r>
            <a:r>
              <a:rPr lang="en-US" dirty="0"/>
              <a:t> </a:t>
            </a:r>
            <a:r>
              <a:rPr lang="en-US" dirty="0" err="1"/>
              <a:t>qunna</a:t>
            </a:r>
            <a:r>
              <a:rPr lang="en-US" dirty="0"/>
              <a:t> </a:t>
            </a:r>
            <a:r>
              <a:rPr lang="en-US" dirty="0" err="1"/>
              <a:t>gonne</a:t>
            </a:r>
            <a:r>
              <a:rPr lang="en-US" dirty="0"/>
              <a:t> </a:t>
            </a:r>
            <a:r>
              <a:rPr lang="en-US" dirty="0" err="1"/>
              <a:t>goona</a:t>
            </a:r>
            <a:r>
              <a:rPr lang="en-US" dirty="0"/>
              <a:t> </a:t>
            </a:r>
            <a:r>
              <a:rPr lang="en-US" dirty="0" err="1"/>
              <a:t>gonnaa</a:t>
            </a:r>
            <a:r>
              <a:rPr lang="en-US" dirty="0"/>
              <a:t> g0nna </a:t>
            </a:r>
            <a:r>
              <a:rPr lang="en-US" dirty="0" err="1"/>
              <a:t>goina</a:t>
            </a:r>
            <a:r>
              <a:rPr lang="en-US" dirty="0"/>
              <a:t> </a:t>
            </a:r>
            <a:r>
              <a:rPr lang="en-US" dirty="0" err="1"/>
              <a:t>gonnah</a:t>
            </a:r>
            <a:r>
              <a:rPr lang="en-US" dirty="0"/>
              <a:t> </a:t>
            </a:r>
            <a:r>
              <a:rPr lang="en-US" dirty="0" err="1"/>
              <a:t>goingto</a:t>
            </a:r>
            <a:r>
              <a:rPr lang="en-US" dirty="0"/>
              <a:t> </a:t>
            </a:r>
            <a:r>
              <a:rPr lang="en-US" dirty="0" err="1"/>
              <a:t>gunnah</a:t>
            </a:r>
            <a:r>
              <a:rPr lang="en-US" dirty="0"/>
              <a:t> </a:t>
            </a:r>
            <a:r>
              <a:rPr lang="en-US" dirty="0" err="1"/>
              <a:t>gonaa</a:t>
            </a:r>
            <a:r>
              <a:rPr lang="en-US" dirty="0"/>
              <a:t> </a:t>
            </a:r>
            <a:r>
              <a:rPr lang="en-US" dirty="0" err="1"/>
              <a:t>gonan</a:t>
            </a:r>
            <a:r>
              <a:rPr lang="en-US" dirty="0"/>
              <a:t> </a:t>
            </a:r>
            <a:r>
              <a:rPr lang="en-US" dirty="0" err="1"/>
              <a:t>gunnna</a:t>
            </a:r>
            <a:r>
              <a:rPr lang="en-US" dirty="0"/>
              <a:t> going2 </a:t>
            </a:r>
            <a:r>
              <a:rPr lang="en-US" dirty="0" err="1"/>
              <a:t>gonnnnagunnaa</a:t>
            </a:r>
            <a:r>
              <a:rPr lang="en-US" dirty="0"/>
              <a:t> </a:t>
            </a:r>
            <a:r>
              <a:rPr lang="en-US" dirty="0" err="1"/>
              <a:t>gonny</a:t>
            </a:r>
            <a:r>
              <a:rPr lang="en-US" dirty="0"/>
              <a:t> </a:t>
            </a:r>
            <a:r>
              <a:rPr lang="en-US" dirty="0" err="1"/>
              <a:t>gunaa</a:t>
            </a:r>
            <a:r>
              <a:rPr lang="en-US" dirty="0"/>
              <a:t> </a:t>
            </a:r>
            <a:r>
              <a:rPr lang="en-US" dirty="0" err="1"/>
              <a:t>quna</a:t>
            </a:r>
            <a:r>
              <a:rPr lang="en-US" dirty="0"/>
              <a:t> </a:t>
            </a:r>
            <a:r>
              <a:rPr lang="en-US" dirty="0" err="1"/>
              <a:t>goonna</a:t>
            </a:r>
            <a:r>
              <a:rPr lang="en-US" dirty="0"/>
              <a:t> </a:t>
            </a:r>
            <a:r>
              <a:rPr lang="en-US" dirty="0" err="1"/>
              <a:t>qona</a:t>
            </a:r>
            <a:r>
              <a:rPr lang="en-US" dirty="0"/>
              <a:t> </a:t>
            </a:r>
            <a:r>
              <a:rPr lang="en-US" dirty="0" err="1"/>
              <a:t>gonns</a:t>
            </a:r>
            <a:r>
              <a:rPr lang="en-US" dirty="0"/>
              <a:t> </a:t>
            </a:r>
            <a:r>
              <a:rPr lang="en-US" dirty="0" err="1"/>
              <a:t>goinna</a:t>
            </a:r>
            <a:r>
              <a:rPr lang="en-US" dirty="0"/>
              <a:t> </a:t>
            </a:r>
            <a:r>
              <a:rPr lang="en-US" dirty="0" err="1"/>
              <a:t>gonnae</a:t>
            </a:r>
            <a:r>
              <a:rPr lang="en-US" dirty="0"/>
              <a:t> </a:t>
            </a:r>
            <a:r>
              <a:rPr lang="en-US" dirty="0" err="1"/>
              <a:t>qnna</a:t>
            </a:r>
            <a:r>
              <a:rPr lang="en-US" dirty="0"/>
              <a:t> </a:t>
            </a:r>
            <a:r>
              <a:rPr lang="en-US" dirty="0" err="1"/>
              <a:t>gonnaaa</a:t>
            </a:r>
            <a:r>
              <a:rPr lang="en-US" dirty="0"/>
              <a:t> </a:t>
            </a:r>
            <a:r>
              <a:rPr lang="en-US" dirty="0" err="1"/>
              <a:t>gnaa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5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Adjective Intensifiers/Qualifiers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err="1"/>
              <a:t>kinda</a:t>
            </a:r>
            <a:r>
              <a:rPr lang="en-US" sz="2800" dirty="0"/>
              <a:t> </a:t>
            </a:r>
            <a:r>
              <a:rPr lang="en-US" sz="2800" dirty="0" err="1"/>
              <a:t>hella</a:t>
            </a:r>
            <a:r>
              <a:rPr lang="en-US" sz="2800" dirty="0"/>
              <a:t> </a:t>
            </a:r>
            <a:r>
              <a:rPr lang="en-US" sz="2800" dirty="0" err="1"/>
              <a:t>sorta</a:t>
            </a:r>
            <a:r>
              <a:rPr lang="en-US" sz="2800" dirty="0"/>
              <a:t> </a:t>
            </a:r>
            <a:r>
              <a:rPr lang="en-US" sz="2800" dirty="0" err="1"/>
              <a:t>hecka</a:t>
            </a:r>
            <a:r>
              <a:rPr lang="en-US" sz="2800" dirty="0"/>
              <a:t> </a:t>
            </a:r>
            <a:r>
              <a:rPr lang="en-US" sz="2800" dirty="0" err="1"/>
              <a:t>kindof</a:t>
            </a:r>
            <a:r>
              <a:rPr lang="en-US" sz="2800" dirty="0"/>
              <a:t> </a:t>
            </a:r>
            <a:r>
              <a:rPr lang="en-US" sz="2800" dirty="0" err="1"/>
              <a:t>kindaa</a:t>
            </a:r>
            <a:r>
              <a:rPr lang="en-US" sz="2800" dirty="0"/>
              <a:t> </a:t>
            </a:r>
            <a:r>
              <a:rPr lang="en-US" sz="2800" dirty="0" err="1"/>
              <a:t>kinna</a:t>
            </a:r>
            <a:r>
              <a:rPr lang="en-US" sz="2800" dirty="0"/>
              <a:t> </a:t>
            </a:r>
            <a:r>
              <a:rPr lang="en-US" sz="2800" dirty="0" err="1"/>
              <a:t>hellla</a:t>
            </a:r>
            <a:r>
              <a:rPr lang="en-US" sz="2800" dirty="0"/>
              <a:t> </a:t>
            </a:r>
            <a:r>
              <a:rPr lang="en-US" sz="2800" dirty="0" err="1"/>
              <a:t>propa</a:t>
            </a:r>
            <a:r>
              <a:rPr lang="en-US" sz="2800" dirty="0"/>
              <a:t> </a:t>
            </a:r>
            <a:r>
              <a:rPr lang="en-US" sz="2800" dirty="0" err="1"/>
              <a:t>helluh</a:t>
            </a:r>
            <a:r>
              <a:rPr lang="en-US" sz="2800" dirty="0"/>
              <a:t> </a:t>
            </a:r>
            <a:r>
              <a:rPr lang="en-US" sz="2800" dirty="0" err="1"/>
              <a:t>kindda</a:t>
            </a:r>
            <a:r>
              <a:rPr lang="en-US" sz="2800" dirty="0"/>
              <a:t> </a:t>
            </a:r>
            <a:r>
              <a:rPr lang="en-US" sz="2800" dirty="0" err="1"/>
              <a:t>justa</a:t>
            </a:r>
            <a:r>
              <a:rPr lang="en-US" sz="2800" dirty="0"/>
              <a:t> #slick </a:t>
            </a:r>
            <a:r>
              <a:rPr lang="en-US" sz="2800" dirty="0" err="1"/>
              <a:t>helllla</a:t>
            </a:r>
            <a:r>
              <a:rPr lang="en-US" sz="2800" dirty="0"/>
              <a:t> </a:t>
            </a:r>
            <a:r>
              <a:rPr lang="en-US" sz="2800" dirty="0" err="1"/>
              <a:t>hela</a:t>
            </a:r>
            <a:r>
              <a:rPr lang="en-US" sz="2800" dirty="0"/>
              <a:t> </a:t>
            </a:r>
            <a:r>
              <a:rPr lang="en-US" sz="2800" dirty="0" err="1"/>
              <a:t>jii</a:t>
            </a:r>
            <a:r>
              <a:rPr lang="en-US" sz="2800" dirty="0"/>
              <a:t> </a:t>
            </a:r>
            <a:r>
              <a:rPr lang="en-US" sz="2800" dirty="0" err="1"/>
              <a:t>sortof</a:t>
            </a:r>
            <a:r>
              <a:rPr lang="en-US" sz="2800" dirty="0"/>
              <a:t> </a:t>
            </a:r>
            <a:r>
              <a:rPr lang="en-US" sz="2800" dirty="0" err="1"/>
              <a:t>hellaa</a:t>
            </a:r>
            <a:r>
              <a:rPr lang="en-US" sz="2800" dirty="0"/>
              <a:t> </a:t>
            </a:r>
            <a:r>
              <a:rPr lang="en-US" sz="2800" dirty="0" err="1"/>
              <a:t>kida</a:t>
            </a:r>
            <a:r>
              <a:rPr lang="en-US" sz="2800" dirty="0"/>
              <a:t> </a:t>
            </a:r>
            <a:r>
              <a:rPr lang="en-US" sz="2800" dirty="0" err="1"/>
              <a:t>wiggity</a:t>
            </a:r>
            <a:r>
              <a:rPr lang="en-US" sz="2800" dirty="0"/>
              <a:t> </a:t>
            </a:r>
            <a:r>
              <a:rPr lang="en-US" sz="2800" dirty="0" err="1"/>
              <a:t>hellllla</a:t>
            </a:r>
            <a:r>
              <a:rPr lang="en-US" sz="2800" dirty="0"/>
              <a:t> </a:t>
            </a:r>
            <a:r>
              <a:rPr lang="en-US" sz="2800" dirty="0" err="1"/>
              <a:t>hekka</a:t>
            </a:r>
            <a:r>
              <a:rPr lang="en-US" sz="2800" dirty="0"/>
              <a:t> </a:t>
            </a:r>
            <a:r>
              <a:rPr lang="en-US" sz="2800" dirty="0" err="1"/>
              <a:t>hellah</a:t>
            </a:r>
            <a:r>
              <a:rPr lang="en-US" sz="2800" dirty="0"/>
              <a:t> </a:t>
            </a:r>
            <a:r>
              <a:rPr lang="en-US" sz="2800" dirty="0" err="1"/>
              <a:t>kindaaa</a:t>
            </a:r>
            <a:r>
              <a:rPr lang="en-US" sz="2800" dirty="0"/>
              <a:t> </a:t>
            </a:r>
            <a:r>
              <a:rPr lang="en-US" sz="2800" dirty="0" err="1"/>
              <a:t>hellaaa</a:t>
            </a:r>
            <a:r>
              <a:rPr lang="en-US" sz="2800" dirty="0"/>
              <a:t> </a:t>
            </a:r>
            <a:r>
              <a:rPr lang="en-US" sz="2800" dirty="0" err="1"/>
              <a:t>kindah</a:t>
            </a:r>
            <a:r>
              <a:rPr lang="en-US" sz="2800" dirty="0"/>
              <a:t> </a:t>
            </a:r>
            <a:r>
              <a:rPr lang="en-US" sz="2800" dirty="0" err="1"/>
              <a:t>knda</a:t>
            </a:r>
            <a:r>
              <a:rPr lang="en-US" sz="2800" dirty="0"/>
              <a:t> kind-of </a:t>
            </a:r>
            <a:r>
              <a:rPr lang="en-US" sz="2800" dirty="0" err="1"/>
              <a:t>slicc</a:t>
            </a:r>
            <a:r>
              <a:rPr lang="en-US" sz="2800" dirty="0"/>
              <a:t> </a:t>
            </a:r>
            <a:r>
              <a:rPr lang="en-US" sz="2800" dirty="0" err="1"/>
              <a:t>wiggidy</a:t>
            </a:r>
            <a:r>
              <a:rPr lang="en-US" sz="2800" dirty="0"/>
              <a:t> </a:t>
            </a:r>
            <a:r>
              <a:rPr lang="en-US" sz="2800" dirty="0" err="1"/>
              <a:t>helllllla</a:t>
            </a:r>
            <a:r>
              <a:rPr lang="en-US" sz="2800" dirty="0"/>
              <a:t> </a:t>
            </a:r>
            <a:r>
              <a:rPr lang="en-US" sz="2800" dirty="0" err="1"/>
              <a:t>jih</a:t>
            </a:r>
            <a:r>
              <a:rPr lang="en-US" sz="2800" dirty="0"/>
              <a:t> </a:t>
            </a:r>
            <a:r>
              <a:rPr lang="en-US" sz="2800" dirty="0" err="1"/>
              <a:t>jye</a:t>
            </a:r>
            <a:r>
              <a:rPr lang="en-US" sz="2800" dirty="0"/>
              <a:t> </a:t>
            </a:r>
            <a:r>
              <a:rPr lang="en-US" sz="2800" dirty="0" err="1"/>
              <a:t>kinnda</a:t>
            </a:r>
            <a:r>
              <a:rPr lang="en-US" sz="2800" dirty="0"/>
              <a:t> </a:t>
            </a:r>
            <a:r>
              <a:rPr lang="en-US" sz="2800" dirty="0" err="1"/>
              <a:t>odhee</a:t>
            </a:r>
            <a:r>
              <a:rPr lang="en-US" sz="2800" dirty="0"/>
              <a:t> </a:t>
            </a:r>
            <a:r>
              <a:rPr lang="en-US" sz="2800" dirty="0" err="1"/>
              <a:t>kiinda</a:t>
            </a:r>
            <a:r>
              <a:rPr lang="en-US" sz="2800" dirty="0"/>
              <a:t> </a:t>
            </a:r>
            <a:r>
              <a:rPr lang="en-US" sz="2800" dirty="0" err="1"/>
              <a:t>heka</a:t>
            </a:r>
            <a:r>
              <a:rPr lang="en-US" sz="2800" dirty="0"/>
              <a:t> </a:t>
            </a:r>
            <a:r>
              <a:rPr lang="en-US" sz="2800" dirty="0" err="1"/>
              <a:t>sorda</a:t>
            </a:r>
            <a:r>
              <a:rPr lang="en-US" sz="2800" dirty="0"/>
              <a:t> </a:t>
            </a:r>
            <a:r>
              <a:rPr lang="en-US" sz="2800" dirty="0" err="1"/>
              <a:t>ohde</a:t>
            </a:r>
            <a:r>
              <a:rPr lang="en-US" sz="2800" dirty="0"/>
              <a:t> </a:t>
            </a:r>
            <a:r>
              <a:rPr lang="en-US" sz="2800" dirty="0" err="1"/>
              <a:t>kind've</a:t>
            </a:r>
            <a:r>
              <a:rPr lang="en-US" sz="2800" dirty="0"/>
              <a:t> </a:t>
            </a:r>
            <a:r>
              <a:rPr lang="en-US" sz="2800" dirty="0" err="1"/>
              <a:t>kidna</a:t>
            </a:r>
            <a:r>
              <a:rPr lang="en-US" sz="2800" dirty="0"/>
              <a:t> </a:t>
            </a:r>
            <a:r>
              <a:rPr lang="en-US" sz="2800" dirty="0" err="1"/>
              <a:t>baree</a:t>
            </a:r>
            <a:r>
              <a:rPr lang="en-US" sz="2800" dirty="0"/>
              <a:t> </a:t>
            </a:r>
            <a:r>
              <a:rPr lang="en-US" sz="2800" dirty="0" err="1"/>
              <a:t>rle</a:t>
            </a:r>
            <a:r>
              <a:rPr lang="en-US" sz="2800" dirty="0"/>
              <a:t> </a:t>
            </a:r>
            <a:r>
              <a:rPr lang="en-US" sz="2800" dirty="0" err="1"/>
              <a:t>hellaaaa</a:t>
            </a:r>
            <a:r>
              <a:rPr lang="en-US" sz="2800" dirty="0"/>
              <a:t> </a:t>
            </a:r>
            <a:r>
              <a:rPr lang="en-US" sz="2800" dirty="0" err="1"/>
              <a:t>jussa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42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53" y="171398"/>
            <a:ext cx="8876013" cy="726831"/>
          </a:xfrm>
        </p:spPr>
        <p:txBody>
          <a:bodyPr>
            <a:noAutofit/>
          </a:bodyPr>
          <a:lstStyle/>
          <a:p>
            <a:r>
              <a:rPr lang="en-US" sz="3600" dirty="0"/>
              <a:t>Hierarchical Clustering from Brown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 have a sequence of clustering decisions </a:t>
            </a:r>
          </a:p>
          <a:p>
            <a:r>
              <a:rPr lang="en-US" sz="2800" dirty="0"/>
              <a:t>we can use the order in which clusters are merged to create a </a:t>
            </a:r>
            <a:r>
              <a:rPr lang="en-US" sz="2800" b="1" dirty="0"/>
              <a:t>hierarchical clustering</a:t>
            </a:r>
            <a:r>
              <a:rPr lang="en-US" sz="2800" dirty="0"/>
              <a:t> </a:t>
            </a:r>
          </a:p>
          <a:p>
            <a:pPr lvl="1"/>
            <a:r>
              <a:rPr lang="en-US" sz="2400" dirty="0"/>
              <a:t>build a binary tree to represent the merges</a:t>
            </a:r>
          </a:p>
          <a:p>
            <a:pPr lvl="1"/>
            <a:r>
              <a:rPr lang="en-US" sz="2400" dirty="0"/>
              <a:t>word similarity is captured by distance in the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31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A9A816-76E8-D946-9960-81F7866491B6}"/>
              </a:ext>
            </a:extLst>
          </p:cNvPr>
          <p:cNvCxnSpPr/>
          <p:nvPr/>
        </p:nvCxnSpPr>
        <p:spPr bwMode="auto">
          <a:xfrm flipH="1">
            <a:off x="2945455" y="3633304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4A2EC7-BFE5-4F41-B00F-DF3594054771}"/>
              </a:ext>
            </a:extLst>
          </p:cNvPr>
          <p:cNvCxnSpPr/>
          <p:nvPr/>
        </p:nvCxnSpPr>
        <p:spPr bwMode="auto">
          <a:xfrm>
            <a:off x="3799820" y="3626376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B7679A-2953-EC46-89F8-1F45A06869FD}"/>
              </a:ext>
            </a:extLst>
          </p:cNvPr>
          <p:cNvCxnSpPr/>
          <p:nvPr/>
        </p:nvCxnSpPr>
        <p:spPr bwMode="auto">
          <a:xfrm flipH="1">
            <a:off x="3765185" y="4118213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03577C-4373-DC4D-9879-BC82D7DEE418}"/>
              </a:ext>
            </a:extLst>
          </p:cNvPr>
          <p:cNvCxnSpPr/>
          <p:nvPr/>
        </p:nvCxnSpPr>
        <p:spPr bwMode="auto">
          <a:xfrm>
            <a:off x="4815820" y="4099740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7A1064-4AAC-664E-82F8-EF36265FC2B9}"/>
              </a:ext>
            </a:extLst>
          </p:cNvPr>
          <p:cNvCxnSpPr/>
          <p:nvPr/>
        </p:nvCxnSpPr>
        <p:spPr bwMode="auto">
          <a:xfrm flipH="1">
            <a:off x="5249930" y="4580031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D51C5C-2111-B34A-8D37-3A8BA6C6E375}"/>
              </a:ext>
            </a:extLst>
          </p:cNvPr>
          <p:cNvCxnSpPr/>
          <p:nvPr/>
        </p:nvCxnSpPr>
        <p:spPr bwMode="auto">
          <a:xfrm>
            <a:off x="5665568" y="4580031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D4DAEEF-DAFF-DC47-88A2-2F6D0E4F8A16}"/>
              </a:ext>
            </a:extLst>
          </p:cNvPr>
          <p:cNvSpPr txBox="1">
            <a:spLocks/>
          </p:cNvSpPr>
          <p:nvPr/>
        </p:nvSpPr>
        <p:spPr bwMode="auto">
          <a:xfrm>
            <a:off x="4721147" y="5111119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figured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dirty="0"/>
              <a:t>…</a:t>
            </a:r>
            <a:endParaRPr lang="en-US" sz="2000" i="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C92432-BD7C-3B47-8467-9B3953432B3F}"/>
              </a:ext>
            </a:extLst>
          </p:cNvPr>
          <p:cNvCxnSpPr/>
          <p:nvPr/>
        </p:nvCxnSpPr>
        <p:spPr bwMode="auto">
          <a:xfrm>
            <a:off x="3762877" y="4605431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6229057-59D4-B140-9C53-14773A67D675}"/>
              </a:ext>
            </a:extLst>
          </p:cNvPr>
          <p:cNvSpPr txBox="1">
            <a:spLocks/>
          </p:cNvSpPr>
          <p:nvPr/>
        </p:nvSpPr>
        <p:spPr bwMode="auto">
          <a:xfrm>
            <a:off x="2449002" y="5101886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saww</a:t>
            </a:r>
            <a:endParaRPr lang="en-US" sz="2000" i="0" dirty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dirty="0"/>
              <a:t>…</a:t>
            </a:r>
            <a:endParaRPr lang="en-US" sz="2000" i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ED0C65-ACDC-6349-BDF9-0068CD45EEDD}"/>
              </a:ext>
            </a:extLst>
          </p:cNvPr>
          <p:cNvCxnSpPr/>
          <p:nvPr/>
        </p:nvCxnSpPr>
        <p:spPr bwMode="auto">
          <a:xfrm flipH="1">
            <a:off x="3084002" y="4593886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92FDCD7-8761-F944-A561-4AB2C274D8F2}"/>
              </a:ext>
            </a:extLst>
          </p:cNvPr>
          <p:cNvSpPr txBox="1">
            <a:spLocks/>
          </p:cNvSpPr>
          <p:nvPr/>
        </p:nvSpPr>
        <p:spPr bwMode="auto">
          <a:xfrm>
            <a:off x="3571216" y="5115739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ate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dirty="0"/>
              <a:t>…</a:t>
            </a:r>
            <a:endParaRPr lang="en-US" sz="2000" i="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713AF80-4D67-3B4A-8DBF-6486C7499586}"/>
              </a:ext>
            </a:extLst>
          </p:cNvPr>
          <p:cNvSpPr txBox="1">
            <a:spLocks/>
          </p:cNvSpPr>
          <p:nvPr/>
        </p:nvSpPr>
        <p:spPr bwMode="auto">
          <a:xfrm>
            <a:off x="5751007" y="5101884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hated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dirty="0"/>
              <a:t>…</a:t>
            </a:r>
            <a:endParaRPr lang="en-US" sz="2000" i="0" dirty="0"/>
          </a:p>
        </p:txBody>
      </p:sp>
    </p:spTree>
    <p:extLst>
      <p:ext uri="{BB962C8B-B14F-4D97-AF65-F5344CB8AC3E}">
        <p14:creationId xmlns:p14="http://schemas.microsoft.com/office/powerpoint/2010/main" val="6443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6" grpId="0"/>
      <p:bldP spid="18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32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figured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ate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hated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1805710" y="669636"/>
            <a:ext cx="1046017" cy="1237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36249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33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figured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ate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hated</a:t>
            </a:r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watchin</a:t>
            </a:r>
            <a:endParaRPr lang="en-US" sz="2000" i="0" dirty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hearing</a:t>
            </a:r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liking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>
                <a:solidFill>
                  <a:srgbClr val="288CD2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49097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34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figured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ate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hated</a:t>
            </a:r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watchin</a:t>
            </a:r>
            <a:endParaRPr lang="en-US" sz="2000" i="0" dirty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hearing</a:t>
            </a:r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liking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6315355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6730993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6886870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7204357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6262269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6326918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6883393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7422578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7740065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6800284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7435282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7620009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8042569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89462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unique</a:t>
            </a: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7091229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rough</a:t>
            </a:r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6089086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common</a:t>
            </a:r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7726209" y="48260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8141847" y="48260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 flipH="1">
            <a:off x="8297724" y="967520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>
            <a:off x="8615211" y="967520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7673123" y="0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>
                <a:solidFill>
                  <a:srgbClr val="288CD2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22384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35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1281536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1697174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1853051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2170538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1228450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1293099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1849574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2388759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2706246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1766465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2401463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2586190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3008750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2955643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unique</a:t>
            </a: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2057410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rough</a:t>
            </a:r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1055267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common</a:t>
            </a:r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5449456" y="519545"/>
            <a:ext cx="1073726" cy="42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6548574" y="517246"/>
            <a:ext cx="1106062" cy="4756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6079850" y="3463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4883727" y="958282"/>
            <a:ext cx="558792" cy="4502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Connector 68"/>
          <p:cNvCxnSpPr/>
          <p:nvPr/>
        </p:nvCxnSpPr>
        <p:spPr bwMode="auto">
          <a:xfrm>
            <a:off x="5454065" y="958282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69"/>
          <p:cNvCxnSpPr/>
          <p:nvPr/>
        </p:nvCxnSpPr>
        <p:spPr bwMode="auto">
          <a:xfrm flipH="1">
            <a:off x="5502554" y="144549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>
            <a:off x="5929737" y="144549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" name="Content Placeholder 2"/>
          <p:cNvSpPr txBox="1">
            <a:spLocks/>
          </p:cNvSpPr>
          <p:nvPr/>
        </p:nvSpPr>
        <p:spPr bwMode="auto">
          <a:xfrm>
            <a:off x="5195455" y="2018164"/>
            <a:ext cx="588820" cy="1237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;)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:P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:-)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XD</a:t>
            </a:r>
          </a:p>
        </p:txBody>
      </p:sp>
      <p:sp>
        <p:nvSpPr>
          <p:cNvPr id="73" name="Content Placeholder 2"/>
          <p:cNvSpPr txBox="1">
            <a:spLocks/>
          </p:cNvSpPr>
          <p:nvPr/>
        </p:nvSpPr>
        <p:spPr bwMode="auto">
          <a:xfrm>
            <a:off x="4414991" y="1489385"/>
            <a:ext cx="757375" cy="1212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:D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^^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=D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*-*</a:t>
            </a:r>
          </a:p>
        </p:txBody>
      </p:sp>
      <p:sp>
        <p:nvSpPr>
          <p:cNvPr id="74" name="Content Placeholder 2"/>
          <p:cNvSpPr txBox="1">
            <a:spLocks/>
          </p:cNvSpPr>
          <p:nvPr/>
        </p:nvSpPr>
        <p:spPr bwMode="auto">
          <a:xfrm>
            <a:off x="5973625" y="1985834"/>
            <a:ext cx="992908" cy="1362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:)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(: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=)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  <a:sym typeface="Wingdings"/>
              </a:rPr>
              <a:t>:))</a:t>
            </a:r>
            <a:endParaRPr lang="en-US" sz="2000" i="0" dirty="0">
              <a:latin typeface="+mj-lt"/>
            </a:endParaRPr>
          </a:p>
        </p:txBody>
      </p:sp>
      <p:sp>
        <p:nvSpPr>
          <p:cNvPr id="75" name="Content Placeholder 2"/>
          <p:cNvSpPr txBox="1">
            <a:spLocks/>
          </p:cNvSpPr>
          <p:nvPr/>
        </p:nvSpPr>
        <p:spPr bwMode="auto">
          <a:xfrm>
            <a:off x="6853390" y="1503234"/>
            <a:ext cx="778158" cy="1244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:o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err="1">
                <a:latin typeface="+mj-lt"/>
              </a:rPr>
              <a:t>o_o</a:t>
            </a:r>
            <a:endParaRPr lang="en-US" sz="2000" i="0" dirty="0">
              <a:latin typeface="+mj-lt"/>
            </a:endParaRP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&lt;&lt;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err="1">
                <a:latin typeface="+mj-lt"/>
              </a:rPr>
              <a:t>o.o</a:t>
            </a:r>
            <a:endParaRPr lang="en-US" sz="2000" i="0" dirty="0">
              <a:latin typeface="+mj-lt"/>
            </a:endParaRP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endParaRPr lang="en-US" sz="2000" i="0" dirty="0">
              <a:latin typeface="+mj-lt"/>
            </a:endParaRPr>
          </a:p>
        </p:txBody>
      </p:sp>
      <p:cxnSp>
        <p:nvCxnSpPr>
          <p:cNvPr id="76" name="Straight Connector 75"/>
          <p:cNvCxnSpPr/>
          <p:nvPr/>
        </p:nvCxnSpPr>
        <p:spPr bwMode="auto">
          <a:xfrm flipH="1">
            <a:off x="7236682" y="1009081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Straight Connector 76"/>
          <p:cNvCxnSpPr/>
          <p:nvPr/>
        </p:nvCxnSpPr>
        <p:spPr bwMode="auto">
          <a:xfrm>
            <a:off x="7663865" y="1009081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Content Placeholder 2"/>
          <p:cNvSpPr txBox="1">
            <a:spLocks/>
          </p:cNvSpPr>
          <p:nvPr/>
        </p:nvSpPr>
        <p:spPr bwMode="auto">
          <a:xfrm>
            <a:off x="7790884" y="1540179"/>
            <a:ext cx="778158" cy="149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:(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:/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-_-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-.-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endParaRPr lang="en-US" sz="2000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4409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36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figured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ate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hated</a:t>
            </a:r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watchin</a:t>
            </a:r>
            <a:endParaRPr lang="en-US" sz="2000" i="0" dirty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hearing</a:t>
            </a:r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liking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6315355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6730993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6886870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7204357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6262269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6326918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6883393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7422578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7740065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6800284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7435282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7620009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8042569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89462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unique</a:t>
            </a: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7091229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rough</a:t>
            </a:r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6089086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common</a:t>
            </a:r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7726209" y="48260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8141847" y="48260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 flipH="1">
            <a:off x="8297724" y="967520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>
            <a:off x="8615211" y="967520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7673123" y="0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>
                <a:solidFill>
                  <a:srgbClr val="288CD2"/>
                </a:solidFill>
              </a:rPr>
              <a:t>…</a:t>
            </a:r>
          </a:p>
        </p:txBody>
      </p:sp>
      <p:sp>
        <p:nvSpPr>
          <p:cNvPr id="70" name="Content Placeholder 2"/>
          <p:cNvSpPr txBox="1">
            <a:spLocks/>
          </p:cNvSpPr>
          <p:nvPr/>
        </p:nvSpPr>
        <p:spPr bwMode="auto">
          <a:xfrm>
            <a:off x="2389911" y="464125"/>
            <a:ext cx="1177636" cy="3902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400" i="0" dirty="0">
                <a:solidFill>
                  <a:schemeClr val="bg1"/>
                </a:solidFill>
              </a:rPr>
              <a:t>verbs?</a:t>
            </a:r>
          </a:p>
        </p:txBody>
      </p:sp>
      <p:sp>
        <p:nvSpPr>
          <p:cNvPr id="71" name="Content Placeholder 2"/>
          <p:cNvSpPr txBox="1">
            <a:spLocks/>
          </p:cNvSpPr>
          <p:nvPr/>
        </p:nvSpPr>
        <p:spPr bwMode="auto">
          <a:xfrm>
            <a:off x="5784270" y="270162"/>
            <a:ext cx="1644072" cy="39023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400" i="0" dirty="0">
                <a:solidFill>
                  <a:schemeClr val="bg1"/>
                </a:solidFill>
              </a:rPr>
              <a:t>adjectives?</a:t>
            </a:r>
          </a:p>
        </p:txBody>
      </p:sp>
    </p:spTree>
    <p:extLst>
      <p:ext uri="{BB962C8B-B14F-4D97-AF65-F5344CB8AC3E}">
        <p14:creationId xmlns:p14="http://schemas.microsoft.com/office/powerpoint/2010/main" val="247673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37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figured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ate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hated</a:t>
            </a:r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watchin</a:t>
            </a:r>
            <a:endParaRPr lang="en-US" sz="2000" i="0" dirty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hearing</a:t>
            </a:r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liking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6315355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6730993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6886870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7204357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6262269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6326918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6883393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7422578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7740065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6800284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7435282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7620009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8042569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89462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unique</a:t>
            </a: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7091229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rough</a:t>
            </a:r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6089086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common</a:t>
            </a:r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7726209" y="48260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8141847" y="48260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 flipH="1">
            <a:off x="8297724" y="967520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>
            <a:off x="8615211" y="967520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7673123" y="0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>
                <a:solidFill>
                  <a:srgbClr val="288CD2"/>
                </a:solidFill>
              </a:rPr>
              <a:t>…</a:t>
            </a:r>
          </a:p>
        </p:txBody>
      </p:sp>
      <p:cxnSp>
        <p:nvCxnSpPr>
          <p:cNvPr id="70" name="Straight Connector 69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Connector 73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Oval 75"/>
          <p:cNvSpPr/>
          <p:nvPr/>
        </p:nvSpPr>
        <p:spPr>
          <a:xfrm>
            <a:off x="196271" y="3856182"/>
            <a:ext cx="646547" cy="454886"/>
          </a:xfrm>
          <a:prstGeom prst="ellipse">
            <a:avLst/>
          </a:prstGeom>
          <a:ln w="57150" cmpd="sng">
            <a:solidFill>
              <a:srgbClr val="C50C0C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7" name="Straight Arrow Connector 76"/>
          <p:cNvCxnSpPr/>
          <p:nvPr/>
        </p:nvCxnSpPr>
        <p:spPr bwMode="auto">
          <a:xfrm flipV="1">
            <a:off x="3382818" y="3583709"/>
            <a:ext cx="690864" cy="1357746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itle 1"/>
          <p:cNvSpPr txBox="1">
            <a:spLocks/>
          </p:cNvSpPr>
          <p:nvPr/>
        </p:nvSpPr>
        <p:spPr bwMode="auto">
          <a:xfrm>
            <a:off x="484927" y="4953001"/>
            <a:ext cx="8254984" cy="83127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Gill Sans MT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800" i="0" dirty="0">
                <a:solidFill>
                  <a:srgbClr val="C50C0C"/>
                </a:solidFill>
                <a:latin typeface="Calibri"/>
                <a:cs typeface="Calibri"/>
              </a:rPr>
              <a:t>could be verbs or nouns, but</a:t>
            </a:r>
          </a:p>
          <a:p>
            <a:pPr>
              <a:lnSpc>
                <a:spcPct val="80000"/>
              </a:lnSpc>
            </a:pPr>
            <a:r>
              <a:rPr lang="en-US" sz="2800" i="0" dirty="0">
                <a:solidFill>
                  <a:srgbClr val="C50C0C"/>
                </a:solidFill>
                <a:latin typeface="Calibri"/>
                <a:cs typeface="Calibri"/>
              </a:rPr>
              <a:t>Brown clustering uses one-cluster-per-word constraint</a:t>
            </a:r>
            <a:endParaRPr lang="en-US" sz="2400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560617" y="3045684"/>
            <a:ext cx="988291" cy="498770"/>
          </a:xfrm>
          <a:prstGeom prst="ellipse">
            <a:avLst/>
          </a:prstGeom>
          <a:ln w="57150" cmpd="sng">
            <a:solidFill>
              <a:srgbClr val="C50C0C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80" name="Straight Arrow Connector 79"/>
          <p:cNvCxnSpPr/>
          <p:nvPr/>
        </p:nvCxnSpPr>
        <p:spPr bwMode="auto">
          <a:xfrm flipH="1" flipV="1">
            <a:off x="752765" y="4271818"/>
            <a:ext cx="1660235" cy="773546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43785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38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figured</a:t>
            </a:r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ate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hated</a:t>
            </a:r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watchin</a:t>
            </a:r>
            <a:endParaRPr lang="en-US" sz="2000" i="0" dirty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hearing</a:t>
            </a:r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liking</a:t>
            </a:r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6315355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6730993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6886870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7204357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6262269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6326918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6883393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7422578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7740065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6800284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7435282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7620009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8042569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89462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unique</a:t>
            </a: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7091229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rough</a:t>
            </a:r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6089086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/>
              <a:t>common</a:t>
            </a:r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7726209" y="48260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8141847" y="48260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 flipH="1">
            <a:off x="8297724" y="967520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>
            <a:off x="8615211" y="967520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7673123" y="0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>
                <a:solidFill>
                  <a:srgbClr val="288CD2"/>
                </a:solidFill>
              </a:rPr>
              <a:t>…</a:t>
            </a:r>
          </a:p>
        </p:txBody>
      </p:sp>
      <p:cxnSp>
        <p:nvCxnSpPr>
          <p:cNvPr id="70" name="Straight Connector 69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Connector 73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Oval 75"/>
          <p:cNvSpPr/>
          <p:nvPr/>
        </p:nvSpPr>
        <p:spPr>
          <a:xfrm>
            <a:off x="196271" y="3856182"/>
            <a:ext cx="646547" cy="454886"/>
          </a:xfrm>
          <a:prstGeom prst="ellipse">
            <a:avLst/>
          </a:prstGeom>
          <a:ln w="57150" cmpd="sng">
            <a:solidFill>
              <a:srgbClr val="C50C0C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7" name="Straight Arrow Connector 76"/>
          <p:cNvCxnSpPr/>
          <p:nvPr/>
        </p:nvCxnSpPr>
        <p:spPr bwMode="auto">
          <a:xfrm flipV="1">
            <a:off x="3382818" y="3583709"/>
            <a:ext cx="690864" cy="1357746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itle 1"/>
          <p:cNvSpPr txBox="1">
            <a:spLocks/>
          </p:cNvSpPr>
          <p:nvPr/>
        </p:nvSpPr>
        <p:spPr bwMode="auto">
          <a:xfrm>
            <a:off x="119406" y="4953001"/>
            <a:ext cx="9015370" cy="113696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Gill Sans MT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800" i="0" dirty="0">
                <a:solidFill>
                  <a:srgbClr val="C50C0C"/>
                </a:solidFill>
                <a:latin typeface="Calibri"/>
                <a:cs typeface="Calibri"/>
              </a:rPr>
              <a:t>could be verbs or nouns, but one-cluster-per-word</a:t>
            </a:r>
          </a:p>
          <a:p>
            <a:pPr>
              <a:lnSpc>
                <a:spcPct val="80000"/>
              </a:lnSpc>
            </a:pPr>
            <a:endParaRPr lang="en-US" sz="2800" i="0" dirty="0">
              <a:solidFill>
                <a:srgbClr val="C50C0C"/>
              </a:solidFill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800" i="0" dirty="0">
                <a:solidFill>
                  <a:srgbClr val="C50C0C"/>
                </a:solidFill>
                <a:latin typeface="Calibri"/>
                <a:cs typeface="Calibri"/>
              </a:rPr>
              <a:t>even so, Brown clusters are good unsupervised POS tags!</a:t>
            </a:r>
          </a:p>
        </p:txBody>
      </p:sp>
      <p:sp>
        <p:nvSpPr>
          <p:cNvPr id="79" name="Oval 78"/>
          <p:cNvSpPr/>
          <p:nvPr/>
        </p:nvSpPr>
        <p:spPr>
          <a:xfrm>
            <a:off x="3560617" y="3045684"/>
            <a:ext cx="988291" cy="498770"/>
          </a:xfrm>
          <a:prstGeom prst="ellipse">
            <a:avLst/>
          </a:prstGeom>
          <a:ln w="57150" cmpd="sng">
            <a:solidFill>
              <a:srgbClr val="C50C0C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80" name="Straight Arrow Connector 79"/>
          <p:cNvCxnSpPr/>
          <p:nvPr/>
        </p:nvCxnSpPr>
        <p:spPr bwMode="auto">
          <a:xfrm flipH="1" flipV="1">
            <a:off x="752765" y="4271818"/>
            <a:ext cx="1660235" cy="773546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97198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Brown Clusters as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cluster merging represented by a binary tree</a:t>
            </a:r>
          </a:p>
          <a:p>
            <a:r>
              <a:rPr lang="en-US" sz="2800" dirty="0"/>
              <a:t>each word can be represented by its binary string = path from root to leaf</a:t>
            </a:r>
          </a:p>
          <a:p>
            <a:r>
              <a:rPr lang="en-US" sz="2800" dirty="0"/>
              <a:t>each intermediate node is a cluster </a:t>
            </a:r>
          </a:p>
          <a:p>
            <a:r>
              <a:rPr lang="en-US" sz="2800" i="1" dirty="0"/>
              <a:t>chairman </a:t>
            </a:r>
            <a:r>
              <a:rPr lang="en-US" sz="2800" dirty="0"/>
              <a:t>is 0010, “months” = 01, verbs = 1: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" y="4071070"/>
            <a:ext cx="8991600" cy="197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5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6BE4-4963-134C-880D-8918D68E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Brown Clusters for Downstream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F251B-293F-2148-BE9B-D91813073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39"/>
            <a:ext cx="8503920" cy="538271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even with one-cluster-per-word constraint, Brown clusters are really useful for syntactic tasks (tagging, parsing, etc.)</a:t>
            </a:r>
          </a:p>
          <a:p>
            <a:endParaRPr lang="en-US" dirty="0"/>
          </a:p>
          <a:p>
            <a:r>
              <a:rPr lang="en-US" dirty="0"/>
              <a:t>also helps to use different granularities of the hierarchical clustering:</a:t>
            </a:r>
          </a:p>
          <a:p>
            <a:pPr lvl="1"/>
            <a:r>
              <a:rPr lang="en-US" dirty="0"/>
              <a:t>define features based on prefixes of binary strings: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November and October will share feature that looks at “length-2 prefix of binary string”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BAB91-9536-5C47-ABC8-C7A2F508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80140-C74F-2949-9A58-1B346C1542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23" t="23748" r="29845" b="14245"/>
          <a:stretch/>
        </p:blipFill>
        <p:spPr>
          <a:xfrm>
            <a:off x="3345510" y="4095237"/>
            <a:ext cx="2727299" cy="122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9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/>
              <a:t>words, morphology, lexical semantics</a:t>
            </a:r>
          </a:p>
          <a:p>
            <a:r>
              <a:rPr lang="en-US" sz="2400" dirty="0"/>
              <a:t>text classification</a:t>
            </a:r>
          </a:p>
          <a:p>
            <a:r>
              <a:rPr lang="en-US" sz="2400" dirty="0"/>
              <a:t>language modeling</a:t>
            </a:r>
          </a:p>
          <a:p>
            <a:r>
              <a:rPr lang="en-US" sz="2400" dirty="0"/>
              <a:t>word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/>
              <a:t>recurrent/recursive/convolutional networks in NLP</a:t>
            </a:r>
          </a:p>
          <a:p>
            <a:r>
              <a:rPr lang="en-US" sz="2400" dirty="0"/>
              <a:t>sequence labeling, HMMs, dynamic programming</a:t>
            </a:r>
          </a:p>
          <a:p>
            <a:r>
              <a:rPr lang="en-US" sz="2400" dirty="0">
                <a:solidFill>
                  <a:srgbClr val="288CD2"/>
                </a:solidFill>
              </a:rPr>
              <a:t>syntax and syntactic parsing</a:t>
            </a:r>
          </a:p>
          <a:p>
            <a:r>
              <a:rPr lang="en-US" sz="2400" dirty="0"/>
              <a:t>semantics, compositionality, semantic parsing</a:t>
            </a:r>
          </a:p>
          <a:p>
            <a:r>
              <a:rPr lang="en-US" sz="2400" dirty="0"/>
              <a:t>machine translation and other NLP tasks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26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Syntax?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rules, principles, processes that govern sentence structure of a language</a:t>
            </a:r>
          </a:p>
          <a:p>
            <a:r>
              <a:rPr lang="en-US" dirty="0"/>
              <a:t>can differ widely among languages</a:t>
            </a:r>
          </a:p>
          <a:p>
            <a:r>
              <a:rPr lang="en-US" dirty="0"/>
              <a:t>but every language has systematic structural principles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89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Subject, Verb,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5649"/>
            <a:ext cx="8229600" cy="5052424"/>
          </a:xfrm>
        </p:spPr>
        <p:txBody>
          <a:bodyPr/>
          <a:lstStyle/>
          <a:p>
            <a:r>
              <a:rPr lang="en-US" dirty="0"/>
              <a:t>syntax determines the ordering of these three objects in a sentence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 descr="Screen Shot 2016-02-10 at 1.54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" y="2278380"/>
            <a:ext cx="8206740" cy="398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2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Yodish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537380"/>
          </a:xfrm>
        </p:spPr>
        <p:txBody>
          <a:bodyPr/>
          <a:lstStyle/>
          <a:p>
            <a:r>
              <a:rPr lang="en-US" dirty="0"/>
              <a:t>often (though certainly not always) Yoda uses object-subject-verb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 descr="yo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12" y="2397760"/>
            <a:ext cx="3501294" cy="3599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21200" y="3149600"/>
            <a:ext cx="3860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“Powerful you have become. The dark side I sense in you.” </a:t>
            </a:r>
          </a:p>
        </p:txBody>
      </p:sp>
    </p:spTree>
    <p:extLst>
      <p:ext uri="{BB962C8B-B14F-4D97-AF65-F5344CB8AC3E}">
        <p14:creationId xmlns:p14="http://schemas.microsoft.com/office/powerpoint/2010/main" val="34883841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use </a:t>
            </a:r>
            <a:r>
              <a:rPr lang="en-US" b="1" dirty="0">
                <a:solidFill>
                  <a:srgbClr val="288CD2"/>
                </a:solidFill>
              </a:rPr>
              <a:t>grammar</a:t>
            </a:r>
            <a:r>
              <a:rPr lang="en-US" dirty="0"/>
              <a:t> to denote a formal object that represents the rules/principles/processes that determine sentence structure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84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phrase structure / constituent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680" y="1043260"/>
            <a:ext cx="8757920" cy="5052424"/>
          </a:xfrm>
        </p:spPr>
        <p:txBody>
          <a:bodyPr>
            <a:noAutofit/>
          </a:bodyPr>
          <a:lstStyle/>
          <a:p>
            <a:r>
              <a:rPr lang="en-US" sz="2800" dirty="0"/>
              <a:t>focuses on the </a:t>
            </a:r>
            <a:r>
              <a:rPr lang="en-US" sz="2800" b="1" dirty="0">
                <a:solidFill>
                  <a:srgbClr val="288CD2"/>
                </a:solidFill>
              </a:rPr>
              <a:t>constituent </a:t>
            </a:r>
            <a:r>
              <a:rPr lang="en-US" sz="2800" dirty="0"/>
              <a:t>relation</a:t>
            </a:r>
          </a:p>
          <a:p>
            <a:r>
              <a:rPr lang="en-US" sz="2800" dirty="0"/>
              <a:t>informally: “sentences have hierarchical structure”</a:t>
            </a:r>
          </a:p>
          <a:p>
            <a:r>
              <a:rPr lang="en-US" sz="2800" dirty="0"/>
              <a:t>a sentence is made up of two pieces:</a:t>
            </a:r>
          </a:p>
          <a:p>
            <a:pPr lvl="1"/>
            <a:r>
              <a:rPr lang="en-US" sz="2400" dirty="0"/>
              <a:t>subject, typically a </a:t>
            </a:r>
            <a:r>
              <a:rPr lang="en-US" sz="2400" b="1" dirty="0">
                <a:solidFill>
                  <a:srgbClr val="288CD2"/>
                </a:solidFill>
              </a:rPr>
              <a:t>noun phrase (NP)</a:t>
            </a:r>
          </a:p>
          <a:p>
            <a:pPr lvl="1"/>
            <a:r>
              <a:rPr lang="en-US" sz="2400" dirty="0"/>
              <a:t>predicate, typically a </a:t>
            </a:r>
            <a:r>
              <a:rPr lang="en-US" sz="2400" b="1" dirty="0">
                <a:solidFill>
                  <a:srgbClr val="288CD2"/>
                </a:solidFill>
              </a:rPr>
              <a:t>verb phrase (VP)</a:t>
            </a:r>
          </a:p>
          <a:p>
            <a:r>
              <a:rPr lang="en-US" sz="2800" dirty="0"/>
              <a:t>NPs and VPs are in turn made of up of pieces:</a:t>
            </a:r>
          </a:p>
          <a:p>
            <a:pPr lvl="1"/>
            <a:r>
              <a:rPr lang="en-US" sz="2400" dirty="0"/>
              <a:t>old books = (old + books)</a:t>
            </a:r>
          </a:p>
          <a:p>
            <a:pPr lvl="1"/>
            <a:r>
              <a:rPr lang="en-US" sz="2400" dirty="0"/>
              <a:t>the old books = (the + (old + books))</a:t>
            </a:r>
          </a:p>
          <a:p>
            <a:pPr lvl="1"/>
            <a:r>
              <a:rPr lang="en-US" sz="2400" dirty="0"/>
              <a:t>walked to the park = (walked + (to + (the + park)))</a:t>
            </a:r>
          </a:p>
          <a:p>
            <a:r>
              <a:rPr lang="en-US" sz="2800" dirty="0"/>
              <a:t>each parenthesized phrase is a </a:t>
            </a:r>
            <a:r>
              <a:rPr lang="en-US" sz="2800" b="1" dirty="0">
                <a:solidFill>
                  <a:srgbClr val="288CD2"/>
                </a:solidFill>
              </a:rPr>
              <a:t>constituent </a:t>
            </a:r>
            <a:r>
              <a:rPr lang="en-US" sz="2800" dirty="0"/>
              <a:t>in the </a:t>
            </a:r>
            <a:r>
              <a:rPr lang="en-US" sz="2800" b="1" dirty="0">
                <a:solidFill>
                  <a:srgbClr val="288CD2"/>
                </a:solidFill>
              </a:rPr>
              <a:t>constituent parse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Bracketing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constituent parse = </a:t>
            </a:r>
            <a:r>
              <a:rPr lang="en-US" b="1" dirty="0">
                <a:solidFill>
                  <a:srgbClr val="288CD2"/>
                </a:solidFill>
              </a:rPr>
              <a:t>bracketing</a:t>
            </a:r>
            <a:r>
              <a:rPr lang="en-US" dirty="0"/>
              <a:t> (that represents the hierarchical structure)</a:t>
            </a:r>
          </a:p>
          <a:p>
            <a:r>
              <a:rPr lang="en-US" dirty="0"/>
              <a:t>e.g., sentence:</a:t>
            </a:r>
          </a:p>
          <a:p>
            <a:pPr marL="0" indent="0">
              <a:buNone/>
            </a:pPr>
            <a:r>
              <a:rPr lang="en-US" i="1" dirty="0"/>
              <a:t>the man walked to the park</a:t>
            </a:r>
          </a:p>
          <a:p>
            <a:r>
              <a:rPr lang="en-US" dirty="0"/>
              <a:t>bracketing:</a:t>
            </a:r>
          </a:p>
          <a:p>
            <a:pPr marL="0" indent="0">
              <a:buNone/>
            </a:pPr>
            <a:r>
              <a:rPr lang="en-US" i="1" dirty="0"/>
              <a:t>((the man) (walked (to (the park))))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Bracketing </a:t>
            </a:r>
            <a:r>
              <a:rPr lang="en-US" dirty="0">
                <a:sym typeface="Wingdings"/>
              </a:rPr>
              <a:t>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9785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((the man) (walked (to (the park))))</a:t>
            </a:r>
          </a:p>
          <a:p>
            <a:pPr marL="0" indent="0">
              <a:buNone/>
            </a:pPr>
            <a:r>
              <a:rPr lang="en-US" dirty="0"/>
              <a:t>we often draw the bracketing as a tree: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584960" y="2214880"/>
            <a:ext cx="894080" cy="8534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479040" y="2214880"/>
            <a:ext cx="1381760" cy="61976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068320"/>
            <a:ext cx="894080" cy="8534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47752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390144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2753360" y="2834640"/>
            <a:ext cx="1107440" cy="11074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60800" y="2834640"/>
            <a:ext cx="619760" cy="45720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3779520" y="3302000"/>
            <a:ext cx="701040" cy="64008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4480560" y="3302000"/>
            <a:ext cx="701040" cy="64008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4378960" y="3622040"/>
            <a:ext cx="452120" cy="3200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14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Labeled </a:t>
            </a:r>
            <a:r>
              <a:rPr lang="en-US" dirty="0" err="1"/>
              <a:t>Bracketings</a:t>
            </a:r>
            <a:r>
              <a:rPr lang="en-US" dirty="0"/>
              <a:t>/Trees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(S (NP the man) (VP walked (PP to (NP the park))))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631005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PP</a:t>
            </a:r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2420856"/>
            <a:ext cx="28366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Key:</a:t>
            </a:r>
          </a:p>
          <a:p>
            <a:r>
              <a:rPr lang="en-US" sz="2000" dirty="0"/>
              <a:t>S = sentence</a:t>
            </a:r>
          </a:p>
          <a:p>
            <a:r>
              <a:rPr lang="en-US" sz="2000" dirty="0"/>
              <a:t>NP = noun phrase</a:t>
            </a:r>
          </a:p>
          <a:p>
            <a:r>
              <a:rPr lang="en-US" sz="2000" dirty="0"/>
              <a:t>VP = verb phrase</a:t>
            </a:r>
          </a:p>
          <a:p>
            <a:r>
              <a:rPr lang="en-US" sz="2000" dirty="0"/>
              <a:t>PP = prepositional phrase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181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Labels </a:t>
            </a:r>
            <a:r>
              <a:rPr lang="en-US" sz="31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dirty="0"/>
              <a:t>Substitutability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2539526" y="1584912"/>
            <a:ext cx="1645762" cy="100724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 flipV="1">
            <a:off x="4201272" y="1584912"/>
            <a:ext cx="1703861" cy="950791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97027" y="3079839"/>
            <a:ext cx="1801382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2398410" y="3079840"/>
            <a:ext cx="1645763" cy="1166444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7027" y="4289931"/>
            <a:ext cx="359743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man</a:t>
            </a:r>
          </a:p>
          <a:p>
            <a:r>
              <a:rPr lang="en-US" sz="2800" dirty="0"/>
              <a:t>John</a:t>
            </a:r>
          </a:p>
          <a:p>
            <a:r>
              <a:rPr lang="en-US" sz="2800" dirty="0"/>
              <a:t>the first boss I ever had</a:t>
            </a:r>
          </a:p>
        </p:txBody>
      </p:sp>
      <p:cxnSp>
        <p:nvCxnSpPr>
          <p:cNvPr id="33" name="Straight Connector 32"/>
          <p:cNvCxnSpPr>
            <a:stCxn id="41" idx="2"/>
          </p:cNvCxnSpPr>
          <p:nvPr/>
        </p:nvCxnSpPr>
        <p:spPr>
          <a:xfrm flipH="1">
            <a:off x="4700226" y="3058923"/>
            <a:ext cx="1326874" cy="1187361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41" idx="2"/>
          </p:cNvCxnSpPr>
          <p:nvPr/>
        </p:nvCxnSpPr>
        <p:spPr>
          <a:xfrm>
            <a:off x="6027100" y="3058923"/>
            <a:ext cx="1755951" cy="1187361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19636" y="1061692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2233" y="2535703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0152" y="2535703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cxnSp>
        <p:nvCxnSpPr>
          <p:cNvPr id="49" name="Straight Connector 48"/>
          <p:cNvCxnSpPr/>
          <p:nvPr/>
        </p:nvCxnSpPr>
        <p:spPr>
          <a:xfrm flipH="1">
            <a:off x="597028" y="4246284"/>
            <a:ext cx="3447145" cy="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700226" y="4246284"/>
            <a:ext cx="3082825" cy="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682600" y="4246507"/>
            <a:ext cx="291610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walked to the park</a:t>
            </a:r>
          </a:p>
          <a:p>
            <a:r>
              <a:rPr lang="en-US" sz="2800" dirty="0"/>
              <a:t>fell asleep</a:t>
            </a:r>
          </a:p>
          <a:p>
            <a:r>
              <a:rPr lang="en-US" sz="2800" dirty="0"/>
              <a:t>is here</a:t>
            </a:r>
          </a:p>
        </p:txBody>
      </p:sp>
    </p:spTree>
    <p:extLst>
      <p:ext uri="{BB962C8B-B14F-4D97-AF65-F5344CB8AC3E}">
        <p14:creationId xmlns:p14="http://schemas.microsoft.com/office/powerpoint/2010/main" val="26088401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Labeled </a:t>
            </a:r>
            <a:r>
              <a:rPr lang="en-US" dirty="0" err="1"/>
              <a:t>Bracketings</a:t>
            </a:r>
            <a:r>
              <a:rPr lang="en-US" dirty="0"/>
              <a:t>/Trees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(S (NP the man) (VP walked (PP to (NP the park))))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631005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PP</a:t>
            </a:r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2420856"/>
            <a:ext cx="28366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Key:</a:t>
            </a:r>
          </a:p>
          <a:p>
            <a:r>
              <a:rPr lang="en-US" sz="2000" dirty="0"/>
              <a:t>S = sentence</a:t>
            </a:r>
          </a:p>
          <a:p>
            <a:r>
              <a:rPr lang="en-US" sz="2000" dirty="0"/>
              <a:t>NP = noun phrase</a:t>
            </a:r>
          </a:p>
          <a:p>
            <a:r>
              <a:rPr lang="en-US" sz="2000" dirty="0"/>
              <a:t>VP = verb phrase</a:t>
            </a:r>
          </a:p>
          <a:p>
            <a:r>
              <a:rPr lang="en-US" sz="2000" dirty="0"/>
              <a:t>PP = prepositional phrase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49740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Labeled </a:t>
            </a:r>
            <a:r>
              <a:rPr lang="en-US" dirty="0" err="1"/>
              <a:t>Bracketings</a:t>
            </a:r>
            <a:r>
              <a:rPr lang="en-US" dirty="0"/>
              <a:t>/Trees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(S (NP the man) (VP walked (PP to (NP the park))))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PP</a:t>
            </a:r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2420856"/>
            <a:ext cx="283663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Key:</a:t>
            </a:r>
          </a:p>
          <a:p>
            <a:r>
              <a:rPr lang="en-US" sz="2000" dirty="0"/>
              <a:t>S = sentence</a:t>
            </a:r>
          </a:p>
          <a:p>
            <a:r>
              <a:rPr lang="en-US" sz="2000" dirty="0"/>
              <a:t>NP = noun phrase</a:t>
            </a:r>
          </a:p>
          <a:p>
            <a:r>
              <a:rPr lang="en-US" sz="2000" dirty="0"/>
              <a:t>VP = verb phrase</a:t>
            </a:r>
          </a:p>
          <a:p>
            <a:r>
              <a:rPr lang="en-US" sz="2000" dirty="0"/>
              <a:t>PP = prepositional phrase</a:t>
            </a:r>
          </a:p>
          <a:p>
            <a:r>
              <a:rPr lang="en-US" sz="2000" dirty="0"/>
              <a:t>DT = determiner</a:t>
            </a:r>
          </a:p>
          <a:p>
            <a:r>
              <a:rPr lang="en-US" sz="2000" dirty="0"/>
              <a:t>NN = noun</a:t>
            </a:r>
          </a:p>
          <a:p>
            <a:r>
              <a:rPr lang="en-US" sz="2000" dirty="0"/>
              <a:t>VBD = verb (past tense)</a:t>
            </a:r>
          </a:p>
          <a:p>
            <a:r>
              <a:rPr lang="en-US" sz="2000" dirty="0"/>
              <a:t>IN = preposition</a:t>
            </a:r>
          </a:p>
          <a:p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VBD      IN    DT    NN</a:t>
            </a:r>
          </a:p>
        </p:txBody>
      </p:sp>
    </p:spTree>
    <p:extLst>
      <p:ext uri="{BB962C8B-B14F-4D97-AF65-F5344CB8AC3E}">
        <p14:creationId xmlns:p14="http://schemas.microsoft.com/office/powerpoint/2010/main" val="2318596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Labeled </a:t>
            </a:r>
            <a:r>
              <a:rPr lang="en-US" dirty="0" err="1"/>
              <a:t>Bracketings</a:t>
            </a:r>
            <a:r>
              <a:rPr lang="en-US" dirty="0"/>
              <a:t>/Trees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(S (NP the man) (VP walked (PP to (NP the park))))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PP</a:t>
            </a:r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VBD      IN    DT    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1360" y="4443828"/>
            <a:ext cx="2647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FF6600"/>
                </a:solidFill>
              </a:rPr>
              <a:t>preterminals</a:t>
            </a:r>
            <a:endParaRPr lang="en-US" sz="3600" b="1" dirty="0">
              <a:solidFill>
                <a:srgbClr val="FF6600"/>
              </a:solidFill>
            </a:endParaRPr>
          </a:p>
        </p:txBody>
      </p:sp>
      <p:sp>
        <p:nvSpPr>
          <p:cNvPr id="27" name="Frame 26"/>
          <p:cNvSpPr/>
          <p:nvPr/>
        </p:nvSpPr>
        <p:spPr>
          <a:xfrm>
            <a:off x="396240" y="1538664"/>
            <a:ext cx="5365571" cy="3010464"/>
          </a:xfrm>
          <a:prstGeom prst="frame">
            <a:avLst>
              <a:gd name="adj1" fmla="val 2384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53760" y="2886242"/>
            <a:ext cx="2747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008000"/>
                </a:solidFill>
              </a:rPr>
              <a:t>nonterminals</a:t>
            </a:r>
            <a:endParaRPr lang="en-US" sz="3600" b="1" dirty="0">
              <a:solidFill>
                <a:srgbClr val="008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53760" y="5059678"/>
            <a:ext cx="2003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BC0000"/>
                </a:solidFill>
              </a:rPr>
              <a:t>terminals</a:t>
            </a:r>
          </a:p>
        </p:txBody>
      </p:sp>
      <p:sp>
        <p:nvSpPr>
          <p:cNvPr id="8" name="Frame 7"/>
          <p:cNvSpPr/>
          <p:nvPr/>
        </p:nvSpPr>
        <p:spPr>
          <a:xfrm>
            <a:off x="314960" y="4549128"/>
            <a:ext cx="5365571" cy="541031"/>
          </a:xfrm>
          <a:prstGeom prst="frame">
            <a:avLst>
              <a:gd name="adj1" fmla="val 879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ame 28"/>
          <p:cNvSpPr/>
          <p:nvPr/>
        </p:nvSpPr>
        <p:spPr>
          <a:xfrm>
            <a:off x="396240" y="5090158"/>
            <a:ext cx="5365571" cy="479863"/>
          </a:xfrm>
          <a:prstGeom prst="frame">
            <a:avLst>
              <a:gd name="adj1" fmla="val 8796"/>
            </a:avLst>
          </a:prstGeom>
          <a:solidFill>
            <a:srgbClr val="BC0000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44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 animBg="1"/>
      <p:bldP spid="28" grpId="0"/>
      <p:bldP spid="31" grpId="0"/>
      <p:bldP spid="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998"/>
            <a:ext cx="1584960" cy="1911402"/>
          </a:xfrm>
        </p:spPr>
        <p:txBody>
          <a:bodyPr>
            <a:normAutofit/>
          </a:bodyPr>
          <a:lstStyle/>
          <a:p>
            <a:r>
              <a:rPr lang="en-US" sz="2800" dirty="0"/>
              <a:t>Penn Treebank tag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  <p:pic>
        <p:nvPicPr>
          <p:cNvPr id="7" name="Picture 6" descr="Screen Shot 2016-01-23 at 2.26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318" y="130758"/>
            <a:ext cx="7558682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613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440" y="18998"/>
            <a:ext cx="4815840" cy="458522"/>
          </a:xfrm>
        </p:spPr>
        <p:txBody>
          <a:bodyPr>
            <a:noAutofit/>
          </a:bodyPr>
          <a:lstStyle/>
          <a:p>
            <a:r>
              <a:rPr lang="en-US" sz="2800" dirty="0"/>
              <a:t>Penn Treebank </a:t>
            </a:r>
            <a:r>
              <a:rPr lang="en-US" sz="2800" dirty="0" err="1"/>
              <a:t>Nonterminals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  <p:pic>
        <p:nvPicPr>
          <p:cNvPr id="3" name="Picture 2" descr="Screen Shot 2016-02-10 at 4.33.5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" t="1133" r="1924" b="-1"/>
          <a:stretch/>
        </p:blipFill>
        <p:spPr>
          <a:xfrm>
            <a:off x="132080" y="587190"/>
            <a:ext cx="4165600" cy="602696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Picture 4" descr="Screen Shot 2016-02-10 at 4.35.04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" r="1906" b="597"/>
          <a:stretch/>
        </p:blipFill>
        <p:spPr>
          <a:xfrm>
            <a:off x="4531360" y="587191"/>
            <a:ext cx="4521200" cy="60269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11842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Syntactic Ambiguities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Time flies like an arrow.</a:t>
            </a:r>
          </a:p>
          <a:p>
            <a:pPr marL="0" indent="0">
              <a:buNone/>
            </a:pPr>
            <a:r>
              <a:rPr lang="en-US" i="1" dirty="0"/>
              <a:t>Fruit flies like a banana.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 descr="constituent-dependency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" t="10379" r="43175" b="3215"/>
          <a:stretch/>
        </p:blipFill>
        <p:spPr>
          <a:xfrm>
            <a:off x="2123439" y="2444750"/>
            <a:ext cx="4429761" cy="39116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7648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Syntactic Ambiguities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attachment ambiguity</a:t>
            </a:r>
          </a:p>
          <a:p>
            <a:r>
              <a:rPr lang="en-US" dirty="0"/>
              <a:t>coordination ambiguity</a:t>
            </a:r>
          </a:p>
          <a:p>
            <a:r>
              <a:rPr lang="en-US" dirty="0"/>
              <a:t>noun compound ambiguity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456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Attachment Ambiguity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 descr="pp-attachment-24-903s05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44"/>
          <a:stretch/>
        </p:blipFill>
        <p:spPr>
          <a:xfrm>
            <a:off x="1679771" y="1096412"/>
            <a:ext cx="5777629" cy="32494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89443" y="4429069"/>
            <a:ext cx="662252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Sherlock saw the man using binoculars</a:t>
            </a:r>
          </a:p>
        </p:txBody>
      </p:sp>
    </p:spTree>
    <p:extLst>
      <p:ext uri="{BB962C8B-B14F-4D97-AF65-F5344CB8AC3E}">
        <p14:creationId xmlns:p14="http://schemas.microsoft.com/office/powerpoint/2010/main" val="25316618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Attachment Ambiguity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 descr="pp-attachment-24-903s05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44"/>
          <a:stretch/>
        </p:blipFill>
        <p:spPr>
          <a:xfrm>
            <a:off x="1679771" y="1096412"/>
            <a:ext cx="5777629" cy="32494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710" y="4429069"/>
            <a:ext cx="736912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Sherlock (saw (the man) (using binoculars))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5079" y="5165243"/>
            <a:ext cx="738596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Sherlock (saw (the man (using binoculars)))</a:t>
            </a:r>
          </a:p>
        </p:txBody>
      </p:sp>
    </p:spTree>
    <p:extLst>
      <p:ext uri="{BB962C8B-B14F-4D97-AF65-F5344CB8AC3E}">
        <p14:creationId xmlns:p14="http://schemas.microsoft.com/office/powerpoint/2010/main" val="31187308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attachment ambiguities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Infant pulled from car involved in short police pursuit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Somali tied to militants held on U.S. ship for months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309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attachment ambiguities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(</a:t>
            </a:r>
            <a:r>
              <a:rPr lang="en-US" sz="2800" dirty="0">
                <a:solidFill>
                  <a:srgbClr val="288CD2"/>
                </a:solidFill>
              </a:rPr>
              <a:t>Infant pulled from car</a:t>
            </a:r>
            <a:r>
              <a:rPr lang="en-US" sz="2800" dirty="0"/>
              <a:t>) involved in short police pursuit</a:t>
            </a:r>
          </a:p>
          <a:p>
            <a:pPr marL="0" indent="0">
              <a:buNone/>
            </a:pPr>
            <a:r>
              <a:rPr lang="en-US" sz="2800" dirty="0"/>
              <a:t>Infant pulled from (</a:t>
            </a:r>
            <a:r>
              <a:rPr lang="en-US" sz="2800" dirty="0">
                <a:solidFill>
                  <a:srgbClr val="288CD2"/>
                </a:solidFill>
              </a:rPr>
              <a:t>car involved in short police pursuit</a:t>
            </a:r>
            <a:r>
              <a:rPr lang="en-US" sz="2800" dirty="0"/>
              <a:t>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(</a:t>
            </a:r>
            <a:r>
              <a:rPr lang="en-US" sz="2800" dirty="0">
                <a:solidFill>
                  <a:srgbClr val="BC0000"/>
                </a:solidFill>
              </a:rPr>
              <a:t>Somali tied to militants</a:t>
            </a:r>
            <a:r>
              <a:rPr lang="en-US" sz="2800" dirty="0"/>
              <a:t>) held on U.S. ship for months</a:t>
            </a:r>
          </a:p>
          <a:p>
            <a:pPr marL="0" indent="0">
              <a:buNone/>
            </a:pPr>
            <a:r>
              <a:rPr lang="en-US" sz="2800" dirty="0"/>
              <a:t>Somali tied to (</a:t>
            </a:r>
            <a:r>
              <a:rPr lang="en-US" sz="2800" dirty="0">
                <a:solidFill>
                  <a:srgbClr val="BC0000"/>
                </a:solidFill>
              </a:rPr>
              <a:t>militants held on U.S. ship for months</a:t>
            </a:r>
            <a:r>
              <a:rPr lang="en-US" sz="2800" dirty="0"/>
              <a:t>)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17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coordination ambiguities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found when modifiers are used with conjunctions:</a:t>
            </a:r>
          </a:p>
          <a:p>
            <a:pPr marL="457200" lvl="1" indent="0">
              <a:buNone/>
            </a:pPr>
            <a:r>
              <a:rPr lang="en-US" dirty="0"/>
              <a:t>keyboard and monitor with the Apple logo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old men and women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485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coordination ambiguities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found when modifiers are used with conjunctions:</a:t>
            </a:r>
          </a:p>
          <a:p>
            <a:pPr marL="457200" lvl="1" indent="0">
              <a:buNone/>
            </a:pPr>
            <a:r>
              <a:rPr lang="en-US" dirty="0"/>
              <a:t>(</a:t>
            </a:r>
            <a:r>
              <a:rPr lang="en-US" dirty="0">
                <a:solidFill>
                  <a:srgbClr val="288CD2"/>
                </a:solidFill>
              </a:rPr>
              <a:t>keyboard and monitor</a:t>
            </a:r>
            <a:r>
              <a:rPr lang="en-US" dirty="0"/>
              <a:t>) with the Apple logo</a:t>
            </a:r>
          </a:p>
          <a:p>
            <a:pPr marL="457200" lvl="1" indent="0">
              <a:buNone/>
            </a:pPr>
            <a:r>
              <a:rPr lang="en-US" dirty="0"/>
              <a:t>keyboard and (</a:t>
            </a:r>
            <a:r>
              <a:rPr lang="en-US" dirty="0">
                <a:solidFill>
                  <a:srgbClr val="288CD2"/>
                </a:solidFill>
              </a:rPr>
              <a:t>monitor with the Apple logo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old (</a:t>
            </a:r>
            <a:r>
              <a:rPr lang="en-US" dirty="0">
                <a:solidFill>
                  <a:srgbClr val="BC0000"/>
                </a:solidFill>
              </a:rPr>
              <a:t>men and women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(</a:t>
            </a:r>
            <a:r>
              <a:rPr lang="en-US" dirty="0">
                <a:solidFill>
                  <a:srgbClr val="BC0000"/>
                </a:solidFill>
              </a:rPr>
              <a:t>old men</a:t>
            </a:r>
            <a:r>
              <a:rPr lang="en-US" dirty="0"/>
              <a:t>) and women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82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noun compound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California history teacher</a:t>
            </a:r>
          </a:p>
          <a:p>
            <a:endParaRPr lang="en-US" dirty="0"/>
          </a:p>
          <a:p>
            <a:r>
              <a:rPr lang="en-US" dirty="0"/>
              <a:t>World Trade Center</a:t>
            </a:r>
          </a:p>
          <a:p>
            <a:endParaRPr lang="en-US" dirty="0"/>
          </a:p>
          <a:p>
            <a:r>
              <a:rPr lang="en-US" dirty="0"/>
              <a:t>student film society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181137" y="5536110"/>
            <a:ext cx="19628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dirty="0" err="1">
                <a:solidFill>
                  <a:srgbClr val="0062AC"/>
                </a:solidFill>
                <a:latin typeface="Calibri"/>
                <a:cs typeface="Calibri"/>
              </a:rPr>
              <a:t>Szymanek</a:t>
            </a:r>
            <a:r>
              <a:rPr lang="en-US" dirty="0">
                <a:solidFill>
                  <a:srgbClr val="0062AC"/>
                </a:solidFill>
                <a:latin typeface="Calibri"/>
                <a:cs typeface="Calibri"/>
              </a:rPr>
              <a:t>;</a:t>
            </a:r>
          </a:p>
          <a:p>
            <a:pPr eaLnBrk="1" hangingPunct="1"/>
            <a:r>
              <a:rPr lang="en-US" dirty="0" err="1">
                <a:solidFill>
                  <a:srgbClr val="0062AC"/>
                </a:solidFill>
                <a:latin typeface="Calibri"/>
                <a:cs typeface="Calibri"/>
              </a:rPr>
              <a:t>Fromkin</a:t>
            </a:r>
            <a:r>
              <a:rPr lang="en-US" dirty="0">
                <a:solidFill>
                  <a:srgbClr val="0062AC"/>
                </a:solidFill>
                <a:latin typeface="Calibri"/>
                <a:cs typeface="Calibri"/>
              </a:rPr>
              <a:t> (2000); Spencer (1991)</a:t>
            </a:r>
          </a:p>
        </p:txBody>
      </p:sp>
    </p:spTree>
    <p:extLst>
      <p:ext uri="{BB962C8B-B14F-4D97-AF65-F5344CB8AC3E}">
        <p14:creationId xmlns:p14="http://schemas.microsoft.com/office/powerpoint/2010/main" val="7977555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adjective/noun modifier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ancient history teacher</a:t>
            </a:r>
          </a:p>
          <a:p>
            <a:endParaRPr lang="en-US" dirty="0"/>
          </a:p>
          <a:p>
            <a:r>
              <a:rPr lang="en-US" dirty="0"/>
              <a:t>moral philosophy professor</a:t>
            </a:r>
          </a:p>
          <a:p>
            <a:endParaRPr lang="en-US" dirty="0"/>
          </a:p>
          <a:p>
            <a:r>
              <a:rPr lang="en-US" dirty="0"/>
              <a:t>indoor garden party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369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NLP Task: Constituent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61980"/>
            <a:ext cx="8778240" cy="5052424"/>
          </a:xfrm>
        </p:spPr>
        <p:txBody>
          <a:bodyPr>
            <a:normAutofit/>
          </a:bodyPr>
          <a:lstStyle/>
          <a:p>
            <a:r>
              <a:rPr lang="en-US" dirty="0"/>
              <a:t>given a sentence, output its constituent parse</a:t>
            </a:r>
          </a:p>
          <a:p>
            <a:r>
              <a:rPr lang="en-US" dirty="0"/>
              <a:t>widely-studied task with a rich history</a:t>
            </a:r>
          </a:p>
          <a:p>
            <a:r>
              <a:rPr lang="en-US" dirty="0"/>
              <a:t>most based on the Penn Treebank (Marcus et al.), developed at Penn in early 1990s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Treebank = “corpus of annotated parse trees”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/>
          </a:p>
        </p:txBody>
      </p:sp>
      <p:pic>
        <p:nvPicPr>
          <p:cNvPr id="5" name="Picture 4" descr="mitc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460" y="2786572"/>
            <a:ext cx="1427480" cy="199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320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are constituent parses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language modeling</a:t>
            </a:r>
          </a:p>
          <a:p>
            <a:pPr lvl="1"/>
            <a:r>
              <a:rPr lang="en-US" dirty="0"/>
              <a:t>predict the next word better by using syntactic structure</a:t>
            </a:r>
          </a:p>
          <a:p>
            <a:r>
              <a:rPr lang="en-US" dirty="0"/>
              <a:t>machine translation</a:t>
            </a:r>
          </a:p>
          <a:p>
            <a:pPr lvl="1"/>
            <a:r>
              <a:rPr lang="en-US" dirty="0"/>
              <a:t>there are many syntactic translation models that require parsers for one or both languages</a:t>
            </a:r>
          </a:p>
          <a:p>
            <a:r>
              <a:rPr lang="en-US" dirty="0"/>
              <a:t>text classification</a:t>
            </a:r>
          </a:p>
          <a:p>
            <a:pPr lvl="1"/>
            <a:r>
              <a:rPr lang="en-US" dirty="0"/>
              <a:t>for certain kinds of classification, features on syntactic fragments can help</a:t>
            </a:r>
          </a:p>
          <a:p>
            <a:r>
              <a:rPr lang="en-US" dirty="0"/>
              <a:t>question answering, </a:t>
            </a:r>
            <a:r>
              <a:rPr lang="en-US" dirty="0" err="1"/>
              <a:t>coreference</a:t>
            </a:r>
            <a:r>
              <a:rPr lang="en-US" dirty="0"/>
              <a:t> resolution,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76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4"/>
        </a:lnRef>
        <a:fillRef idx="0">
          <a:schemeClr val="accent4"/>
        </a:fillRef>
        <a:effectRef idx="0">
          <a:schemeClr val="accent4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46595</TotalTime>
  <Words>3153</Words>
  <Application>Microsoft Macintosh PowerPoint</Application>
  <PresentationFormat>On-screen Show (4:3)</PresentationFormat>
  <Paragraphs>700</Paragraphs>
  <Slides>67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Arial</vt:lpstr>
      <vt:lpstr>Calibri</vt:lpstr>
      <vt:lpstr>Courier New</vt:lpstr>
      <vt:lpstr>Times New Roman</vt:lpstr>
      <vt:lpstr>Wingdings</vt:lpstr>
      <vt:lpstr>Office Theme</vt:lpstr>
      <vt:lpstr>TTIC 31190: Natural Language Processing</vt:lpstr>
      <vt:lpstr>Project Proposal</vt:lpstr>
      <vt:lpstr>Midterm</vt:lpstr>
      <vt:lpstr>Roadmap</vt:lpstr>
      <vt:lpstr>Graphical Model for an HMM (for a sequence of length 4)</vt:lpstr>
      <vt:lpstr>HMMs for Part-of-Speech Tagging</vt:lpstr>
      <vt:lpstr>Inference in HMMs</vt:lpstr>
      <vt:lpstr>Viterbi Algorithm for HMMs</vt:lpstr>
      <vt:lpstr>Viterbi Algorithm for Sequence Models (with tag bigram features)</vt:lpstr>
      <vt:lpstr>Viterbi Algorithm for Sequence Models (with tag bigram features)</vt:lpstr>
      <vt:lpstr>Viterbi Algorithm for Sequence Models (with tag bigram features)</vt:lpstr>
      <vt:lpstr>Sequence Models with Tag Bigram Features</vt:lpstr>
      <vt:lpstr>Structured Models with Parts</vt:lpstr>
      <vt:lpstr>PowerPoint Presentation</vt:lpstr>
      <vt:lpstr>HMMs for Word Clustering (Brown et al., 1992)</vt:lpstr>
      <vt:lpstr>HMMs for Word Clustering</vt:lpstr>
      <vt:lpstr>HMMs for Word Clustering (Brown et al., 1992)</vt:lpstr>
      <vt:lpstr>PowerPoint Presentation</vt:lpstr>
      <vt:lpstr>PowerPoint Presentation</vt:lpstr>
      <vt:lpstr>PowerPoint Presentation</vt:lpstr>
      <vt:lpstr>One Cluster Per Word Assumption</vt:lpstr>
      <vt:lpstr>PowerPoint Presentation</vt:lpstr>
      <vt:lpstr>PowerPoint Presentation</vt:lpstr>
      <vt:lpstr>Example Cluster</vt:lpstr>
      <vt:lpstr>Example Cluster</vt:lpstr>
      <vt:lpstr>“really”</vt:lpstr>
      <vt:lpstr>“so”</vt:lpstr>
      <vt:lpstr>Food-Related Adjectives</vt:lpstr>
      <vt:lpstr>“going to”</vt:lpstr>
      <vt:lpstr>Adjective Intensifiers/Qualifiers</vt:lpstr>
      <vt:lpstr>Hierarchical Clustering from Brown Clusters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Brown Clusters as Vectors</vt:lpstr>
      <vt:lpstr>Brown Clusters for Downstream Tasks</vt:lpstr>
      <vt:lpstr>Roadmap</vt:lpstr>
      <vt:lpstr>What is Syntax?</vt:lpstr>
      <vt:lpstr>Subject, Verb, Object</vt:lpstr>
      <vt:lpstr>Yodish</vt:lpstr>
      <vt:lpstr>Grammars</vt:lpstr>
      <vt:lpstr>phrase structure / constituent grammar</vt:lpstr>
      <vt:lpstr>Bracketing</vt:lpstr>
      <vt:lpstr>Bracketing  Tree</vt:lpstr>
      <vt:lpstr>Labeled Bracketings/Trees</vt:lpstr>
      <vt:lpstr>Labels  Substitutability</vt:lpstr>
      <vt:lpstr>Labeled Bracketings/Trees</vt:lpstr>
      <vt:lpstr>Labeled Bracketings/Trees</vt:lpstr>
      <vt:lpstr>Labeled Bracketings/Trees</vt:lpstr>
      <vt:lpstr>Penn Treebank tag set</vt:lpstr>
      <vt:lpstr>Penn Treebank Nonterminals</vt:lpstr>
      <vt:lpstr>Syntactic Ambiguities</vt:lpstr>
      <vt:lpstr>Syntactic Ambiguities</vt:lpstr>
      <vt:lpstr>Attachment Ambiguity</vt:lpstr>
      <vt:lpstr>Attachment Ambiguity</vt:lpstr>
      <vt:lpstr>other attachment ambiguities</vt:lpstr>
      <vt:lpstr>other attachment ambiguities</vt:lpstr>
      <vt:lpstr>coordination ambiguities</vt:lpstr>
      <vt:lpstr>coordination ambiguities</vt:lpstr>
      <vt:lpstr>noun compound ambiguity</vt:lpstr>
      <vt:lpstr>adjective/noun modifier ambiguity</vt:lpstr>
      <vt:lpstr>NLP Task: Constituent Parsing</vt:lpstr>
      <vt:lpstr>How are constituent parses used?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Microsoft Office User</cp:lastModifiedBy>
  <cp:revision>962</cp:revision>
  <cp:lastPrinted>2018-05-07T20:58:00Z</cp:lastPrinted>
  <dcterms:created xsi:type="dcterms:W3CDTF">2015-08-31T18:15:35Z</dcterms:created>
  <dcterms:modified xsi:type="dcterms:W3CDTF">2019-02-08T00:00:53Z</dcterms:modified>
</cp:coreProperties>
</file>