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emf" ContentType="image/x-emf"/>
  <Default Extension="rels" ContentType="application/vnd.openxmlformats-package.relationships+xml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0"/>
  </p:notesMasterIdLst>
  <p:handoutMasterIdLst>
    <p:handoutMasterId r:id="rId91"/>
  </p:handoutMasterIdLst>
  <p:sldIdLst>
    <p:sldId id="256" r:id="rId2"/>
    <p:sldId id="520" r:id="rId3"/>
    <p:sldId id="260" r:id="rId4"/>
    <p:sldId id="529" r:id="rId5"/>
    <p:sldId id="470" r:id="rId6"/>
    <p:sldId id="471" r:id="rId7"/>
    <p:sldId id="472" r:id="rId8"/>
    <p:sldId id="474" r:id="rId9"/>
    <p:sldId id="475" r:id="rId10"/>
    <p:sldId id="476" r:id="rId11"/>
    <p:sldId id="477" r:id="rId12"/>
    <p:sldId id="478" r:id="rId13"/>
    <p:sldId id="479" r:id="rId14"/>
    <p:sldId id="480" r:id="rId15"/>
    <p:sldId id="481" r:id="rId16"/>
    <p:sldId id="482" r:id="rId17"/>
    <p:sldId id="483" r:id="rId18"/>
    <p:sldId id="484" r:id="rId19"/>
    <p:sldId id="485" r:id="rId20"/>
    <p:sldId id="532" r:id="rId21"/>
    <p:sldId id="534" r:id="rId22"/>
    <p:sldId id="535" r:id="rId23"/>
    <p:sldId id="533" r:id="rId24"/>
    <p:sldId id="489" r:id="rId25"/>
    <p:sldId id="528" r:id="rId26"/>
    <p:sldId id="299" r:id="rId27"/>
    <p:sldId id="301" r:id="rId28"/>
    <p:sldId id="540" r:id="rId29"/>
    <p:sldId id="522" r:id="rId30"/>
    <p:sldId id="559" r:id="rId31"/>
    <p:sldId id="261" r:id="rId32"/>
    <p:sldId id="348" r:id="rId33"/>
    <p:sldId id="296" r:id="rId34"/>
    <p:sldId id="297" r:id="rId35"/>
    <p:sldId id="302" r:id="rId36"/>
    <p:sldId id="298" r:id="rId37"/>
    <p:sldId id="355" r:id="rId38"/>
    <p:sldId id="530" r:id="rId39"/>
    <p:sldId id="541" r:id="rId40"/>
    <p:sldId id="545" r:id="rId41"/>
    <p:sldId id="544" r:id="rId42"/>
    <p:sldId id="543" r:id="rId43"/>
    <p:sldId id="537" r:id="rId44"/>
    <p:sldId id="546" r:id="rId45"/>
    <p:sldId id="493" r:id="rId46"/>
    <p:sldId id="494" r:id="rId47"/>
    <p:sldId id="495" r:id="rId48"/>
    <p:sldId id="506" r:id="rId49"/>
    <p:sldId id="507" r:id="rId50"/>
    <p:sldId id="508" r:id="rId51"/>
    <p:sldId id="496" r:id="rId52"/>
    <p:sldId id="497" r:id="rId53"/>
    <p:sldId id="498" r:id="rId54"/>
    <p:sldId id="501" r:id="rId55"/>
    <p:sldId id="502" r:id="rId56"/>
    <p:sldId id="551" r:id="rId57"/>
    <p:sldId id="549" r:id="rId58"/>
    <p:sldId id="550" r:id="rId59"/>
    <p:sldId id="552" r:id="rId60"/>
    <p:sldId id="554" r:id="rId61"/>
    <p:sldId id="555" r:id="rId62"/>
    <p:sldId id="556" r:id="rId63"/>
    <p:sldId id="557" r:id="rId64"/>
    <p:sldId id="356" r:id="rId65"/>
    <p:sldId id="362" r:id="rId66"/>
    <p:sldId id="558" r:id="rId67"/>
    <p:sldId id="270" r:id="rId68"/>
    <p:sldId id="396" r:id="rId69"/>
    <p:sldId id="271" r:id="rId70"/>
    <p:sldId id="560" r:id="rId71"/>
    <p:sldId id="363" r:id="rId72"/>
    <p:sldId id="364" r:id="rId73"/>
    <p:sldId id="569" r:id="rId74"/>
    <p:sldId id="563" r:id="rId75"/>
    <p:sldId id="561" r:id="rId76"/>
    <p:sldId id="564" r:id="rId77"/>
    <p:sldId id="565" r:id="rId78"/>
    <p:sldId id="562" r:id="rId79"/>
    <p:sldId id="509" r:id="rId80"/>
    <p:sldId id="510" r:id="rId81"/>
    <p:sldId id="511" r:id="rId82"/>
    <p:sldId id="512" r:id="rId83"/>
    <p:sldId id="513" r:id="rId84"/>
    <p:sldId id="514" r:id="rId85"/>
    <p:sldId id="566" r:id="rId86"/>
    <p:sldId id="567" r:id="rId87"/>
    <p:sldId id="517" r:id="rId88"/>
    <p:sldId id="518" r:id="rId8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8CD2"/>
    <a:srgbClr val="B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3"/>
    <p:restoredTop sz="89718" autoAdjust="0"/>
  </p:normalViewPr>
  <p:slideViewPr>
    <p:cSldViewPr snapToGrid="0" snapToObjects="1">
      <p:cViewPr varScale="1">
        <p:scale>
          <a:sx n="66" d="100"/>
          <a:sy n="66" d="100"/>
        </p:scale>
        <p:origin x="-1608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90" Type="http://schemas.openxmlformats.org/officeDocument/2006/relationships/notesMaster" Target="notesMasters/notesMaster1.xml"/><Relationship Id="rId91" Type="http://schemas.openxmlformats.org/officeDocument/2006/relationships/handoutMaster" Target="handoutMasters/handoutMaster1.xml"/><Relationship Id="rId92" Type="http://schemas.openxmlformats.org/officeDocument/2006/relationships/printerSettings" Target="printerSettings/printerSettings1.bin"/><Relationship Id="rId93" Type="http://schemas.openxmlformats.org/officeDocument/2006/relationships/presProps" Target="presProps.xml"/><Relationship Id="rId94" Type="http://schemas.openxmlformats.org/officeDocument/2006/relationships/viewProps" Target="viewProps.xml"/><Relationship Id="rId95" Type="http://schemas.openxmlformats.org/officeDocument/2006/relationships/theme" Target="theme/theme1.xml"/><Relationship Id="rId96" Type="http://schemas.openxmlformats.org/officeDocument/2006/relationships/tableStyles" Target="tableStyle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664593-8E4E-8747-9BDB-DA84BDED518C}" type="datetime1">
              <a:rPr lang="en-US" smtClean="0"/>
              <a:t>4/4/18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E5790-10E5-C04B-864A-21F4E57B9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4023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A541DB-7577-ED4C-AF0A-388D8C680A39}" type="datetime1">
              <a:rPr lang="en-US" smtClean="0"/>
              <a:t>4/4/18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B48C7-8E5C-9640-8445-8A9544EEA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6330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renewcommand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}[1]{\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{#1}}}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{score}(\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{x},y,\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{w}) =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{w}^\top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{f}(\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{x},y) =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sum_i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theta_i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f_i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{x},y)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nonumber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6389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add y in </a:t>
            </a:r>
            <a:r>
              <a:rPr lang="en-US" dirty="0" err="1"/>
              <a:t>pos</a:t>
            </a:r>
            <a:r>
              <a:rPr lang="en-US" dirty="0"/>
              <a:t>/</a:t>
            </a:r>
            <a:r>
              <a:rPr lang="en-US" dirty="0" err="1"/>
              <a:t>neg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280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add y in </a:t>
            </a:r>
            <a:r>
              <a:rPr lang="en-US" dirty="0" err="1"/>
              <a:t>pos</a:t>
            </a:r>
            <a:r>
              <a:rPr lang="en-US" dirty="0"/>
              <a:t>/</a:t>
            </a:r>
            <a:r>
              <a:rPr lang="en-US" dirty="0" err="1"/>
              <a:t>neg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594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1072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1072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1072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126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615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D7B2-AEA0-D043-916D-6794629D2DCA}" type="datetime1">
              <a:rPr lang="en-US" smtClean="0"/>
              <a:t>4/4/18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399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68728-3264-AF4F-9CE5-FA0C8D0912D9}" type="datetime1">
              <a:rPr lang="en-US" smtClean="0"/>
              <a:t>4/4/18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94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400C-B81F-7045-98E0-E0086ED4BE98}" type="datetime1">
              <a:rPr lang="en-US" smtClean="0"/>
              <a:t>4/4/18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55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F27A-F732-8B4A-9B27-686442D49E4C}" type="datetime1">
              <a:rPr lang="en-US" smtClean="0"/>
              <a:t>4/4/18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305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71ED0-786B-FC43-99CE-2369D6469C8C}" type="datetime1">
              <a:rPr lang="en-US" smtClean="0"/>
              <a:t>4/4/18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11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05BA2-5204-E043-BD0E-95E8A7C0A256}" type="datetime1">
              <a:rPr lang="en-US" smtClean="0"/>
              <a:t>4/4/18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7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B0B10-84AC-A845-8EBB-B973F6A52188}" type="datetime1">
              <a:rPr lang="en-US" smtClean="0"/>
              <a:t>4/4/18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17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3713-D95F-9C47-88D3-6BB1CDB9F1E4}" type="datetime1">
              <a:rPr lang="en-US" smtClean="0"/>
              <a:t>4/4/18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95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6023A-8A28-1649-91E1-905AF24D9B1C}" type="datetime1">
              <a:rPr lang="en-US" smtClean="0"/>
              <a:t>4/4/18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8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BA977-597A-F949-8426-B66CA967B053}" type="datetime1">
              <a:rPr lang="en-US" smtClean="0"/>
              <a:t>4/4/18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859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14735-0AB7-1A46-9AC6-2D030CB4F2E1}" type="datetime1">
              <a:rPr lang="en-US" smtClean="0"/>
              <a:t>4/4/18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55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73740"/>
            <a:ext cx="8229600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B2050-0557-6041-8605-A9AD7CC206C9}" type="datetime1">
              <a:rPr lang="en-US" smtClean="0"/>
              <a:t>4/4/18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F3AF9-2D61-8E40-AE3D-8390D801ED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15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e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e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e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emf"/><Relationship Id="rId3" Type="http://schemas.openxmlformats.org/officeDocument/2006/relationships/image" Target="../media/image7.e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e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emf"/><Relationship Id="rId3" Type="http://schemas.openxmlformats.org/officeDocument/2006/relationships/image" Target="../media/image9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4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4" Type="http://schemas.openxmlformats.org/officeDocument/2006/relationships/image" Target="../media/image9.emf"/><Relationship Id="rId5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4" Type="http://schemas.openxmlformats.org/officeDocument/2006/relationships/image" Target="../media/image9.emf"/><Relationship Id="rId5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e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e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e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emf"/><Relationship Id="rId3" Type="http://schemas.openxmlformats.org/officeDocument/2006/relationships/image" Target="../media/image13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4" Type="http://schemas.openxmlformats.org/officeDocument/2006/relationships/image" Target="../media/image15.emf"/><Relationship Id="rId5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4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4" Type="http://schemas.openxmlformats.org/officeDocument/2006/relationships/image" Target="../media/image17.emf"/><Relationship Id="rId5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4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4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4" Type="http://schemas.openxmlformats.org/officeDocument/2006/relationships/image" Target="../media/image20.emf"/><Relationship Id="rId5" Type="http://schemas.openxmlformats.org/officeDocument/2006/relationships/image" Target="../media/image21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emf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emf"/><Relationship Id="rId3" Type="http://schemas.openxmlformats.org/officeDocument/2006/relationships/image" Target="../media/image19.emf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emf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emf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emf"/><Relationship Id="rId3" Type="http://schemas.openxmlformats.org/officeDocument/2006/relationships/image" Target="../media/image22.emf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emf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emf"/><Relationship Id="rId3" Type="http://schemas.openxmlformats.org/officeDocument/2006/relationships/image" Target="../media/image23.e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4" Type="http://schemas.openxmlformats.org/officeDocument/2006/relationships/image" Target="../media/image24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em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4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em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4" Type="http://schemas.openxmlformats.org/officeDocument/2006/relationships/image" Target="../media/image14.emf"/><Relationship Id="rId5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em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4" Type="http://schemas.openxmlformats.org/officeDocument/2006/relationships/image" Target="../media/image14.emf"/><Relationship Id="rId5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emf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emf"/><Relationship Id="rId3" Type="http://schemas.openxmlformats.org/officeDocument/2006/relationships/image" Target="../media/image27.emf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emf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emf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emf"/><Relationship Id="rId3" Type="http://schemas.openxmlformats.org/officeDocument/2006/relationships/image" Target="../media/image17.emf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emf"/><Relationship Id="rId3" Type="http://schemas.openxmlformats.org/officeDocument/2006/relationships/image" Target="../media/image9.emf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emf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4" Type="http://schemas.openxmlformats.org/officeDocument/2006/relationships/image" Target="../media/image9.emf"/><Relationship Id="rId5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emf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90525"/>
            <a:ext cx="7772400" cy="1470025"/>
          </a:xfrm>
        </p:spPr>
        <p:txBody>
          <a:bodyPr/>
          <a:lstStyle/>
          <a:p>
            <a:r>
              <a:rPr lang="en-US" dirty="0"/>
              <a:t>TTIC 31190:</a:t>
            </a:r>
            <a:br>
              <a:rPr lang="en-US" dirty="0"/>
            </a:br>
            <a:r>
              <a:rPr lang="en-US" dirty="0"/>
              <a:t>Natural Language Processing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993900"/>
            <a:ext cx="6400800" cy="34036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Kevin Gimpel</a:t>
            </a:r>
          </a:p>
          <a:p>
            <a:r>
              <a:rPr lang="en-US" dirty="0">
                <a:solidFill>
                  <a:schemeClr val="tx1"/>
                </a:solidFill>
              </a:rPr>
              <a:t>Spring 2018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4000" dirty="0">
                <a:solidFill>
                  <a:schemeClr val="tx1"/>
                </a:solidFill>
              </a:rPr>
              <a:t>Lecture 4: Text Classification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203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661"/>
            <a:ext cx="8229600" cy="5052424"/>
          </a:xfrm>
        </p:spPr>
        <p:txBody>
          <a:bodyPr>
            <a:noAutofit/>
          </a:bodyPr>
          <a:lstStyle/>
          <a:p>
            <a:r>
              <a:rPr lang="en-US" sz="2400" dirty="0"/>
              <a:t>words, morphology, lexical semantics</a:t>
            </a:r>
          </a:p>
          <a:p>
            <a:r>
              <a:rPr lang="en-US" sz="2400" dirty="0">
                <a:solidFill>
                  <a:srgbClr val="288CD2"/>
                </a:solidFill>
              </a:rPr>
              <a:t>text classification</a:t>
            </a:r>
          </a:p>
          <a:p>
            <a:r>
              <a:rPr lang="en-US" sz="2400" dirty="0"/>
              <a:t>simple neural methods for NLP</a:t>
            </a:r>
          </a:p>
          <a:p>
            <a:r>
              <a:rPr lang="en-US" sz="2400" dirty="0"/>
              <a:t>language modeling and word </a:t>
            </a:r>
            <a:r>
              <a:rPr lang="en-US" sz="2400" dirty="0" err="1"/>
              <a:t>embeddings</a:t>
            </a:r>
            <a:endParaRPr lang="en-US" sz="2400" dirty="0"/>
          </a:p>
          <a:p>
            <a:r>
              <a:rPr lang="en-US" sz="2400" dirty="0"/>
              <a:t>recurrent/recursive/convolutional networks in NLP</a:t>
            </a:r>
          </a:p>
          <a:p>
            <a:r>
              <a:rPr lang="en-US" sz="2400" dirty="0"/>
              <a:t>sequence labeling, HMMs, dynamic programming</a:t>
            </a:r>
          </a:p>
          <a:p>
            <a:r>
              <a:rPr lang="en-US" sz="2400" dirty="0"/>
              <a:t>syntax and syntactic parsing</a:t>
            </a:r>
          </a:p>
          <a:p>
            <a:r>
              <a:rPr lang="en-US" sz="2400" dirty="0"/>
              <a:t>semantics, compositionality, semantic parsing</a:t>
            </a:r>
          </a:p>
          <a:p>
            <a:r>
              <a:rPr lang="en-US" sz="2400" dirty="0"/>
              <a:t>machine translation and other NLP tasks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1991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746"/>
            <a:ext cx="8229600" cy="5536604"/>
          </a:xfrm>
        </p:spPr>
        <p:txBody>
          <a:bodyPr/>
          <a:lstStyle/>
          <a:p>
            <a:r>
              <a:rPr lang="en-US" dirty="0"/>
              <a:t>simplest user-facing NLP application</a:t>
            </a:r>
          </a:p>
          <a:p>
            <a:r>
              <a:rPr lang="en-US" dirty="0"/>
              <a:t>email (spam, priority, categories):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sentiment: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topic classification</a:t>
            </a:r>
          </a:p>
          <a:p>
            <a:r>
              <a:rPr lang="en-US" dirty="0"/>
              <a:t>others?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 descr="Gmail_inbox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65" t="32371" b="49018"/>
          <a:stretch/>
        </p:blipFill>
        <p:spPr>
          <a:xfrm>
            <a:off x="1953843" y="2041772"/>
            <a:ext cx="7062002" cy="1074615"/>
          </a:xfrm>
          <a:prstGeom prst="rect">
            <a:avLst/>
          </a:prstGeom>
          <a:ln>
            <a:noFill/>
          </a:ln>
        </p:spPr>
      </p:pic>
      <p:pic>
        <p:nvPicPr>
          <p:cNvPr id="6" name="Picture 5" descr="twitrratr1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202" b="39886"/>
          <a:stretch/>
        </p:blipFill>
        <p:spPr>
          <a:xfrm>
            <a:off x="2749106" y="3386849"/>
            <a:ext cx="6045112" cy="1526950"/>
          </a:xfrm>
          <a:prstGeom prst="rect">
            <a:avLst/>
          </a:prstGeom>
          <a:ln>
            <a:noFill/>
          </a:ln>
        </p:spPr>
      </p:pic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2927930" y="252413"/>
            <a:ext cx="3091870" cy="507831"/>
          </a:xfrm>
          <a:prstGeom prst="rect">
            <a:avLst/>
          </a:prstGeom>
          <a:solidFill>
            <a:srgbClr val="0062AC"/>
          </a:solidFill>
          <a:ln w="57150" cmpd="sng">
            <a:solidFill>
              <a:srgbClr val="0062AC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</a:pPr>
            <a:r>
              <a:rPr lang="en-US" sz="2800" i="0" dirty="0">
                <a:solidFill>
                  <a:schemeClr val="bg1"/>
                </a:solidFill>
                <a:latin typeface="Calibri"/>
                <a:cs typeface="Calibri"/>
              </a:rPr>
              <a:t>Text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3981256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Text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661"/>
            <a:ext cx="8229600" cy="5052424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datasets</a:t>
            </a:r>
          </a:p>
          <a:p>
            <a:r>
              <a:rPr lang="en-US" dirty="0"/>
              <a:t>classification</a:t>
            </a:r>
          </a:p>
          <a:p>
            <a:pPr lvl="1"/>
            <a:r>
              <a:rPr lang="en-US" dirty="0"/>
              <a:t>modeling</a:t>
            </a:r>
          </a:p>
          <a:p>
            <a:pPr lvl="1"/>
            <a:r>
              <a:rPr lang="en-US" dirty="0"/>
              <a:t>inference</a:t>
            </a:r>
          </a:p>
          <a:p>
            <a:pPr lvl="1"/>
            <a:r>
              <a:rPr lang="en-US" dirty="0"/>
              <a:t>learning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1479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NLP Datasets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NLP datasets include inputs (usually text) and outputs (usually some sort of </a:t>
            </a:r>
            <a:r>
              <a:rPr lang="en-US" dirty="0">
                <a:solidFill>
                  <a:srgbClr val="288CD2"/>
                </a:solidFill>
              </a:rPr>
              <a:t>annotation</a:t>
            </a:r>
            <a:r>
              <a:rPr lang="en-US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9870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supervised machine learning needs labeled datasets, where labels are called </a:t>
            </a:r>
            <a:r>
              <a:rPr lang="en-US" dirty="0">
                <a:solidFill>
                  <a:srgbClr val="288CD2"/>
                </a:solidFill>
              </a:rPr>
              <a:t>ground truth</a:t>
            </a:r>
            <a:endParaRPr lang="en-US" dirty="0"/>
          </a:p>
          <a:p>
            <a:r>
              <a:rPr lang="en-US" dirty="0"/>
              <a:t>in NLP, labels are annotations provided by humans</a:t>
            </a:r>
          </a:p>
          <a:p>
            <a:r>
              <a:rPr lang="en-US" dirty="0"/>
              <a:t>there is always some disagreement among annotators, even for simple tasks</a:t>
            </a:r>
          </a:p>
          <a:p>
            <a:r>
              <a:rPr lang="en-US" dirty="0"/>
              <a:t>these annotations are called a </a:t>
            </a:r>
            <a:r>
              <a:rPr lang="en-US" dirty="0">
                <a:solidFill>
                  <a:srgbClr val="288CD2"/>
                </a:solidFill>
              </a:rPr>
              <a:t>gold standard</a:t>
            </a:r>
            <a:r>
              <a:rPr lang="en-US" dirty="0"/>
              <a:t>, not ground truth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0696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are NLP datasets developed?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59440"/>
            <a:ext cx="8229600" cy="505242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paid, trained human annotators</a:t>
            </a:r>
          </a:p>
          <a:p>
            <a:pPr lvl="1"/>
            <a:r>
              <a:rPr lang="en-US" dirty="0"/>
              <a:t>traditional approach</a:t>
            </a:r>
          </a:p>
          <a:p>
            <a:pPr lvl="1"/>
            <a:r>
              <a:rPr lang="en-US" dirty="0"/>
              <a:t>researchers write annotation guidelines, recruit &amp; pay annotators (often linguists)</a:t>
            </a:r>
          </a:p>
          <a:p>
            <a:pPr lvl="1"/>
            <a:r>
              <a:rPr lang="en-US" dirty="0"/>
              <a:t>more consistent annotations, but costly to scale</a:t>
            </a:r>
          </a:p>
          <a:p>
            <a:pPr lvl="1"/>
            <a:r>
              <a:rPr lang="en-US" dirty="0"/>
              <a:t>e.g., Penn Treebank (1993)</a:t>
            </a:r>
          </a:p>
          <a:p>
            <a:pPr lvl="2"/>
            <a:r>
              <a:rPr lang="en-US" dirty="0"/>
              <a:t>1 million words, mostly Wall Street Journal, annotated with part-of-speech tags and syntactic parse trees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 descr="Example-tre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5545" y="4941853"/>
            <a:ext cx="2108320" cy="172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5670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0" y="-444500"/>
            <a:ext cx="8229600" cy="33528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rgbClr val="FFFFFF"/>
                </a:solidFill>
              </a:rPr>
              <a:t>paid, trained human annotation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crowdsourcing (e.g., Amazon Mechanical Turk)</a:t>
            </a:r>
          </a:p>
          <a:p>
            <a:pPr lvl="1"/>
            <a:r>
              <a:rPr lang="en-US" sz="2400" dirty="0"/>
              <a:t>more recent trend</a:t>
            </a:r>
          </a:p>
          <a:p>
            <a:pPr lvl="1"/>
            <a:r>
              <a:rPr lang="en-US" sz="2400" dirty="0"/>
              <a:t>can’t really train annotators, but easier to get multiple annotations for each input (which can then be averaged)</a:t>
            </a:r>
          </a:p>
          <a:p>
            <a:pPr lvl="1"/>
            <a:r>
              <a:rPr lang="en-US" sz="2400" dirty="0"/>
              <a:t>e.g., Stanford Sentiment Treebank: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 descr="Screen Shot 2016-01-06 at 3.37.39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168" y="3619499"/>
            <a:ext cx="4659832" cy="2876551"/>
          </a:xfrm>
          <a:prstGeom prst="rect">
            <a:avLst/>
          </a:prstGeom>
        </p:spPr>
      </p:pic>
      <p:pic>
        <p:nvPicPr>
          <p:cNvPr id="7" name="Picture 6" descr="Screen Shot 2016-01-06 at 3.39.45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2438400"/>
            <a:ext cx="6591300" cy="1480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0199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8300" y="-1097960"/>
            <a:ext cx="8229600" cy="767656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FFFFFF"/>
                </a:solidFill>
              </a:rPr>
              <a:t>paid, trained human annotation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FFFFFF"/>
                </a:solidFill>
              </a:rPr>
              <a:t>crowdsourcing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naturally-occurring annotation</a:t>
            </a:r>
          </a:p>
          <a:p>
            <a:pPr lvl="1"/>
            <a:r>
              <a:rPr lang="en-US" dirty="0"/>
              <a:t>long history: used by IBM for speech recognition and statistical machine translation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>
                <a:solidFill>
                  <a:schemeClr val="bg1"/>
                </a:solidFill>
              </a:rPr>
              <a:t>how might you find naturally-occurring data for: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conversational agents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summarization</a:t>
            </a:r>
          </a:p>
          <a:p>
            <a:pPr lvl="2"/>
            <a:r>
              <a:rPr lang="en-US" dirty="0" err="1">
                <a:solidFill>
                  <a:schemeClr val="bg1"/>
                </a:solidFill>
              </a:rPr>
              <a:t>coreference</a:t>
            </a:r>
            <a:r>
              <a:rPr lang="en-US" dirty="0">
                <a:solidFill>
                  <a:schemeClr val="bg1"/>
                </a:solidFill>
              </a:rPr>
              <a:t> resolution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6" descr="40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28" t="18672" r="15972" b="31405"/>
          <a:stretch/>
        </p:blipFill>
        <p:spPr>
          <a:xfrm>
            <a:off x="1714500" y="1639733"/>
            <a:ext cx="5727700" cy="2694142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5156200" y="4371975"/>
            <a:ext cx="2286000" cy="38156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/>
              <a:buNone/>
            </a:pPr>
            <a:r>
              <a:rPr lang="en-US" sz="1400" dirty="0">
                <a:solidFill>
                  <a:srgbClr val="0062AC"/>
                </a:solidFill>
              </a:rPr>
              <a:t>credit: Brown &amp; Mercer, 20 Years of </a:t>
            </a:r>
            <a:r>
              <a:rPr lang="en-US" sz="1400" dirty="0" err="1">
                <a:solidFill>
                  <a:srgbClr val="0062AC"/>
                </a:solidFill>
              </a:rPr>
              <a:t>Bitext</a:t>
            </a:r>
            <a:r>
              <a:rPr lang="en-US" sz="1400" dirty="0">
                <a:solidFill>
                  <a:srgbClr val="0062AC"/>
                </a:solidFill>
              </a:rPr>
              <a:t> Workshop, 2013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821534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8300" y="-1097960"/>
            <a:ext cx="8229600" cy="767656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FFFFFF"/>
                </a:solidFill>
              </a:rPr>
              <a:t>paid, trained human annotation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FFFFFF"/>
                </a:solidFill>
              </a:rPr>
              <a:t>crowdsourcing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naturally-occurring annotation</a:t>
            </a:r>
          </a:p>
          <a:p>
            <a:pPr lvl="1"/>
            <a:r>
              <a:rPr lang="en-US" dirty="0"/>
              <a:t>long history: used by IBM for speech recognition and statistical machine translation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how might you find naturally-occurring data for:</a:t>
            </a:r>
          </a:p>
          <a:p>
            <a:pPr lvl="2"/>
            <a:r>
              <a:rPr lang="en-US" dirty="0"/>
              <a:t>conversational agents</a:t>
            </a:r>
          </a:p>
          <a:p>
            <a:pPr lvl="2"/>
            <a:r>
              <a:rPr lang="en-US" dirty="0"/>
              <a:t>summarization</a:t>
            </a:r>
          </a:p>
          <a:p>
            <a:pPr lvl="2"/>
            <a:r>
              <a:rPr lang="en-US" dirty="0" err="1"/>
              <a:t>coreference</a:t>
            </a:r>
            <a:r>
              <a:rPr lang="en-US" dirty="0"/>
              <a:t> resolution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 descr="40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28" t="18672" r="15972" b="31405"/>
          <a:stretch/>
        </p:blipFill>
        <p:spPr>
          <a:xfrm>
            <a:off x="1714500" y="1639733"/>
            <a:ext cx="5727700" cy="2694142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5156200" y="4371975"/>
            <a:ext cx="2286000" cy="38156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/>
              <a:buNone/>
            </a:pPr>
            <a:r>
              <a:rPr lang="en-US" sz="1400" dirty="0">
                <a:solidFill>
                  <a:srgbClr val="0062AC"/>
                </a:solidFill>
              </a:rPr>
              <a:t>credit: Brown &amp; Mercer, 20 Years of </a:t>
            </a:r>
            <a:r>
              <a:rPr lang="en-US" sz="1400" dirty="0" err="1">
                <a:solidFill>
                  <a:srgbClr val="0062AC"/>
                </a:solidFill>
              </a:rPr>
              <a:t>Bitext</a:t>
            </a:r>
            <a:r>
              <a:rPr lang="en-US" sz="1400" dirty="0">
                <a:solidFill>
                  <a:srgbClr val="0062AC"/>
                </a:solidFill>
              </a:rPr>
              <a:t> Workshop, 2013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535917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Annotator Agreement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given annotations from two annotators, how should we measure inter-annotator agreement?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percent agreement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Cohen’s Kappa (Cohen, 1960) accounts for agreement by chance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generalizations exist for more than two annotators (Fleiss, 1971)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4187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Annotator Agreement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given annotations from two annotators, how should we measure inter-annotator agreement?</a:t>
            </a:r>
          </a:p>
          <a:p>
            <a:pPr lvl="1"/>
            <a:r>
              <a:rPr lang="en-US" dirty="0"/>
              <a:t>percent agreement?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Cohen’s Kappa (Cohen, 1960) accounts for agreement by chance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generalizations exist for more than two annotators (Fleiss, 1971)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8603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Annotator Agreement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given annotations from two annotators, how should we measure inter-annotator agreement?</a:t>
            </a:r>
          </a:p>
          <a:p>
            <a:pPr lvl="1"/>
            <a:r>
              <a:rPr lang="en-US" dirty="0"/>
              <a:t>percent agreement?</a:t>
            </a:r>
          </a:p>
          <a:p>
            <a:pPr lvl="1"/>
            <a:r>
              <a:rPr lang="en-US" dirty="0"/>
              <a:t>Cohen’s Kappa (Cohen, 1960) accounts for agreement by chance</a:t>
            </a:r>
          </a:p>
          <a:p>
            <a:pPr lvl="1"/>
            <a:r>
              <a:rPr lang="en-US" dirty="0"/>
              <a:t>generalizations exist for more than two annotators (Fleiss, 1971)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7677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Text Classification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are many annotated datasets</a:t>
            </a:r>
          </a:p>
          <a:p>
            <a:pPr lvl="1"/>
            <a:r>
              <a:rPr lang="en-US" dirty="0"/>
              <a:t>Stanford Sentiment Treebank: fine-grained sentiment analysis of movie reviews</a:t>
            </a:r>
          </a:p>
          <a:p>
            <a:pPr lvl="1"/>
            <a:r>
              <a:rPr lang="en-US" dirty="0"/>
              <a:t>subjectivity/objectivity sentence classification</a:t>
            </a:r>
          </a:p>
          <a:p>
            <a:pPr lvl="1"/>
            <a:r>
              <a:rPr lang="en-US" dirty="0"/>
              <a:t>binary sentiment analysis of customer reviews</a:t>
            </a:r>
          </a:p>
          <a:p>
            <a:pPr lvl="1"/>
            <a:r>
              <a:rPr lang="en-US" dirty="0"/>
              <a:t>TREC question classification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645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15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58800" y="500884"/>
            <a:ext cx="8229600" cy="865127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Subjectivity/objectivity classification: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7265014"/>
              </p:ext>
            </p:extLst>
          </p:nvPr>
        </p:nvGraphicFramePr>
        <p:xfrm>
          <a:off x="296336" y="1366011"/>
          <a:ext cx="8542866" cy="3225800"/>
        </p:xfrm>
        <a:graphic>
          <a:graphicData uri="http://schemas.openxmlformats.org/drawingml/2006/table">
            <a:tbl>
              <a:tblPr>
                <a:effectLst/>
                <a:tableStyleId>{9D7B26C5-4107-4FEC-AEDC-1716B250A1EF}</a:tableStyleId>
              </a:tblPr>
              <a:tblGrid>
                <a:gridCol w="738008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6277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806450">
                <a:tc>
                  <a:txBody>
                    <a:bodyPr/>
                    <a:lstStyle/>
                    <a:p>
                      <a:r>
                        <a:rPr lang="en-US" dirty="0"/>
                        <a:t>the hulk is an anger fueled monster with incredible strength and resistance to damage .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r>
                        <a:rPr lang="en-US" dirty="0"/>
                        <a:t>in trying to be daring and original , it comes off as only occasionally satirical and never fresh .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r>
                        <a:rPr lang="en-US" dirty="0" err="1"/>
                        <a:t>solondz</a:t>
                      </a:r>
                      <a:r>
                        <a:rPr lang="en-US" dirty="0"/>
                        <a:t> may well be the only one laughing at his own joke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r>
                        <a:rPr lang="en-US" dirty="0"/>
                        <a:t>obstacles pop up left and right , as the adventure gets wilder and wilder .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06487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16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58800" y="500884"/>
            <a:ext cx="8229600" cy="865127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Subjectivity/objectivity classification: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727376"/>
              </p:ext>
            </p:extLst>
          </p:nvPr>
        </p:nvGraphicFramePr>
        <p:xfrm>
          <a:off x="296336" y="1366011"/>
          <a:ext cx="8542866" cy="3225800"/>
        </p:xfrm>
        <a:graphic>
          <a:graphicData uri="http://schemas.openxmlformats.org/drawingml/2006/table">
            <a:tbl>
              <a:tblPr>
                <a:effectLst/>
                <a:tableStyleId>{9D7B26C5-4107-4FEC-AEDC-1716B250A1EF}</a:tableStyleId>
              </a:tblPr>
              <a:tblGrid>
                <a:gridCol w="738008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6277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806450">
                <a:tc>
                  <a:txBody>
                    <a:bodyPr/>
                    <a:lstStyle/>
                    <a:p>
                      <a:r>
                        <a:rPr lang="en-US" dirty="0"/>
                        <a:t>the hulk is an anger fueled monster with incredible strength and resistance to damage .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objective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r>
                        <a:rPr lang="en-US" dirty="0"/>
                        <a:t>in trying to be daring and original , it comes off as only occasionally satirical and never fresh .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subjective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r>
                        <a:rPr lang="en-US" dirty="0" err="1"/>
                        <a:t>solondz</a:t>
                      </a:r>
                      <a:r>
                        <a:rPr lang="en-US" dirty="0"/>
                        <a:t> may well be the only one laughing at his own joke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r>
                        <a:rPr lang="en-US" dirty="0"/>
                        <a:t>obstacles pop up left and right , as the adventure gets wilder and wilder .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9231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17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58800" y="500884"/>
            <a:ext cx="8229600" cy="865127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Subjectivity/objectivity classification: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107489"/>
              </p:ext>
            </p:extLst>
          </p:nvPr>
        </p:nvGraphicFramePr>
        <p:xfrm>
          <a:off x="296336" y="1366011"/>
          <a:ext cx="8542866" cy="3225800"/>
        </p:xfrm>
        <a:graphic>
          <a:graphicData uri="http://schemas.openxmlformats.org/drawingml/2006/table">
            <a:tbl>
              <a:tblPr>
                <a:effectLst/>
                <a:tableStyleId>{9D7B26C5-4107-4FEC-AEDC-1716B250A1EF}</a:tableStyleId>
              </a:tblPr>
              <a:tblGrid>
                <a:gridCol w="738008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6277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806450">
                <a:tc>
                  <a:txBody>
                    <a:bodyPr/>
                    <a:lstStyle/>
                    <a:p>
                      <a:r>
                        <a:rPr lang="en-US" dirty="0"/>
                        <a:t>the hulk is an anger fueled monster with incredible strength and resistance to damage .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objective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r>
                        <a:rPr lang="en-US" dirty="0"/>
                        <a:t>in trying to be daring and original , it comes off as only occasionally satirical and never fresh .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subjective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r>
                        <a:rPr lang="en-US" dirty="0" err="1"/>
                        <a:t>solondz</a:t>
                      </a:r>
                      <a:r>
                        <a:rPr lang="en-US" dirty="0"/>
                        <a:t> may well be the only one laughing at his own joke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subjective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r>
                        <a:rPr lang="en-US" dirty="0"/>
                        <a:t>obstacles pop up left and right , as the adventure gets wilder and wilder .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objective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4609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18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58800" y="500884"/>
            <a:ext cx="8229600" cy="865127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Subjectivity/objectivity classification: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699966"/>
              </p:ext>
            </p:extLst>
          </p:nvPr>
        </p:nvGraphicFramePr>
        <p:xfrm>
          <a:off x="296336" y="1366011"/>
          <a:ext cx="8542866" cy="3225800"/>
        </p:xfrm>
        <a:graphic>
          <a:graphicData uri="http://schemas.openxmlformats.org/drawingml/2006/table">
            <a:tbl>
              <a:tblPr>
                <a:effectLst/>
                <a:tableStyleId>{9D7B26C5-4107-4FEC-AEDC-1716B250A1EF}</a:tableStyleId>
              </a:tblPr>
              <a:tblGrid>
                <a:gridCol w="738008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6277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806450">
                <a:tc>
                  <a:txBody>
                    <a:bodyPr/>
                    <a:lstStyle/>
                    <a:p>
                      <a:r>
                        <a:rPr lang="en-US" dirty="0"/>
                        <a:t>the hulk is an anger fueled monster with incredible strength and resistance to damage .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objective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r>
                        <a:rPr lang="en-US" dirty="0"/>
                        <a:t>in trying to be daring and original , it comes off as only occasionally satirical and never fresh .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subjective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r>
                        <a:rPr lang="en-US" dirty="0" err="1"/>
                        <a:t>solondz</a:t>
                      </a:r>
                      <a:r>
                        <a:rPr lang="en-US" dirty="0"/>
                        <a:t> may well be the only one laughing at his own joke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subjective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r>
                        <a:rPr lang="en-US" dirty="0"/>
                        <a:t>obstacles pop up left and right , as the adventure gets wilder and wilder .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objective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7" name="Content Placeholder 2"/>
          <p:cNvSpPr txBox="1">
            <a:spLocks/>
          </p:cNvSpPr>
          <p:nvPr/>
        </p:nvSpPr>
        <p:spPr>
          <a:xfrm>
            <a:off x="465668" y="4673600"/>
            <a:ext cx="8229600" cy="1520701"/>
          </a:xfrm>
          <a:prstGeom prst="rect">
            <a:avLst/>
          </a:prstGeom>
        </p:spPr>
        <p:txBody>
          <a:bodyPr vert="horz" lIns="91440" tIns="45720" rIns="91440" bIns="45720" numCol="1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How was this dataset generated?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IMDB plot summaries: objective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Rotten Tomatoes snippets: subjective</a:t>
            </a:r>
          </a:p>
        </p:txBody>
      </p:sp>
    </p:spTree>
    <p:extLst>
      <p:ext uri="{BB962C8B-B14F-4D97-AF65-F5344CB8AC3E}">
        <p14:creationId xmlns:p14="http://schemas.microsoft.com/office/powerpoint/2010/main" val="9678660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19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58800" y="500884"/>
            <a:ext cx="8229600" cy="865127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Subjectivity/objectivity classification: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318411"/>
              </p:ext>
            </p:extLst>
          </p:nvPr>
        </p:nvGraphicFramePr>
        <p:xfrm>
          <a:off x="296336" y="1366011"/>
          <a:ext cx="8542866" cy="3225800"/>
        </p:xfrm>
        <a:graphic>
          <a:graphicData uri="http://schemas.openxmlformats.org/drawingml/2006/table">
            <a:tbl>
              <a:tblPr>
                <a:effectLst/>
                <a:tableStyleId>{9D7B26C5-4107-4FEC-AEDC-1716B250A1EF}</a:tableStyleId>
              </a:tblPr>
              <a:tblGrid>
                <a:gridCol w="738008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6277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806450">
                <a:tc>
                  <a:txBody>
                    <a:bodyPr/>
                    <a:lstStyle/>
                    <a:p>
                      <a:r>
                        <a:rPr lang="en-US" dirty="0"/>
                        <a:t>the hulk is an anger fueled monster with incredible strength and resistance to damage .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objective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r>
                        <a:rPr lang="en-US" dirty="0"/>
                        <a:t>in trying to be daring and original , it comes off as only occasionally satirical and never fresh .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subjective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r>
                        <a:rPr lang="en-US" dirty="0" err="1"/>
                        <a:t>solondz</a:t>
                      </a:r>
                      <a:r>
                        <a:rPr lang="en-US" dirty="0"/>
                        <a:t> may well be the only one laughing at his own joke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subjective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r>
                        <a:rPr lang="en-US" dirty="0"/>
                        <a:t>obstacles pop up left and right , as the adventure gets wilder and wilder .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objective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7" name="Content Placeholder 2"/>
          <p:cNvSpPr txBox="1">
            <a:spLocks/>
          </p:cNvSpPr>
          <p:nvPr/>
        </p:nvSpPr>
        <p:spPr>
          <a:xfrm>
            <a:off x="465668" y="4673600"/>
            <a:ext cx="8229600" cy="1520701"/>
          </a:xfrm>
          <a:prstGeom prst="rect">
            <a:avLst/>
          </a:prstGeom>
        </p:spPr>
        <p:txBody>
          <a:bodyPr vert="horz" lIns="91440" tIns="45720" rIns="91440" bIns="45720" numCol="1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How was this dataset generated?</a:t>
            </a:r>
          </a:p>
          <a:p>
            <a:pPr lvl="1"/>
            <a:r>
              <a:rPr lang="en-US" dirty="0"/>
              <a:t>IMDB plot summaries: objective</a:t>
            </a:r>
          </a:p>
          <a:p>
            <a:pPr lvl="1"/>
            <a:r>
              <a:rPr lang="en-US" dirty="0"/>
              <a:t>Rotten Tomatoes snippets: subjective</a:t>
            </a:r>
          </a:p>
        </p:txBody>
      </p:sp>
    </p:spTree>
    <p:extLst>
      <p:ext uri="{BB962C8B-B14F-4D97-AF65-F5344CB8AC3E}">
        <p14:creationId xmlns:p14="http://schemas.microsoft.com/office/powerpoint/2010/main" val="4974534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20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58800" y="500884"/>
            <a:ext cx="8229600" cy="865127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customer review sentiment classification: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221722"/>
              </p:ext>
            </p:extLst>
          </p:nvPr>
        </p:nvGraphicFramePr>
        <p:xfrm>
          <a:off x="296336" y="1366011"/>
          <a:ext cx="8542866" cy="4032250"/>
        </p:xfrm>
        <a:graphic>
          <a:graphicData uri="http://schemas.openxmlformats.org/drawingml/2006/table">
            <a:tbl>
              <a:tblPr>
                <a:effectLst/>
                <a:tableStyleId>{9D7B26C5-4107-4FEC-AEDC-1716B250A1EF}</a:tableStyleId>
              </a:tblPr>
              <a:tblGrid>
                <a:gridCol w="738008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6277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80645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 works with a minimum of fuss 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've had this thing just over a month and the headphone jack has already come loose 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size - bigger than the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ipod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you can manage your profile , change the contrast of backlight , make different type of display , either list or tabbed 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replaced it with a router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raizer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and it works much better 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52538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21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58800" y="500884"/>
            <a:ext cx="8229600" cy="865127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customer review sentiment classification: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296336" y="1366011"/>
          <a:ext cx="8542866" cy="4032250"/>
        </p:xfrm>
        <a:graphic>
          <a:graphicData uri="http://schemas.openxmlformats.org/drawingml/2006/table">
            <a:tbl>
              <a:tblPr>
                <a:effectLst/>
                <a:tableStyleId>{9D7B26C5-4107-4FEC-AEDC-1716B250A1EF}</a:tableStyleId>
              </a:tblPr>
              <a:tblGrid>
                <a:gridCol w="738008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6277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80645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 works with a minimum of fuss 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positive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've had this thing just over a month and the headphone jack has already come loose 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negative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size - bigger than the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ipod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you can manage your profile , change the contrast of backlight , make different type of display , either list or tabbed 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replaced it with a router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raizer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and it works much better 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80054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22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58800" y="500884"/>
            <a:ext cx="8229600" cy="865127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customer review sentiment classification: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296336" y="1366011"/>
          <a:ext cx="8542866" cy="4032250"/>
        </p:xfrm>
        <a:graphic>
          <a:graphicData uri="http://schemas.openxmlformats.org/drawingml/2006/table">
            <a:tbl>
              <a:tblPr>
                <a:effectLst/>
                <a:tableStyleId>{9D7B26C5-4107-4FEC-AEDC-1716B250A1EF}</a:tableStyleId>
              </a:tblPr>
              <a:tblGrid>
                <a:gridCol w="738008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6277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80645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 works with a minimum of fuss 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positive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've had this thing just over a month and the headphone jack has already come loose 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negative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size - bigger than the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ipod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you can manage your profile , change the contrast of backlight , make different type of display , either list or tabbed 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replaced it with a router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raizer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and it works much better 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B1039326-FA15-6345-8D99-0F695C76B9D5}"/>
              </a:ext>
            </a:extLst>
          </p:cNvPr>
          <p:cNvSpPr txBox="1"/>
          <p:nvPr/>
        </p:nvSpPr>
        <p:spPr>
          <a:xfrm>
            <a:off x="7877413" y="3120526"/>
            <a:ext cx="769763" cy="523220"/>
          </a:xfrm>
          <a:prstGeom prst="rect">
            <a:avLst/>
          </a:prstGeom>
          <a:noFill/>
          <a:ln w="28575">
            <a:solidFill>
              <a:srgbClr val="BC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BC0000"/>
                </a:solidFill>
              </a:rPr>
              <a:t>1(a)</a:t>
            </a:r>
            <a:endParaRPr lang="en-US" b="1" dirty="0">
              <a:solidFill>
                <a:srgbClr val="BC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14810D19-0FE0-9E41-98FF-7409D9ECDC6E}"/>
              </a:ext>
            </a:extLst>
          </p:cNvPr>
          <p:cNvSpPr txBox="1"/>
          <p:nvPr/>
        </p:nvSpPr>
        <p:spPr>
          <a:xfrm>
            <a:off x="7877413" y="3935223"/>
            <a:ext cx="784189" cy="523220"/>
          </a:xfrm>
          <a:prstGeom prst="rect">
            <a:avLst/>
          </a:prstGeom>
          <a:noFill/>
          <a:ln w="28575">
            <a:solidFill>
              <a:srgbClr val="BC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BC0000"/>
                </a:solidFill>
              </a:rPr>
              <a:t>1(b)</a:t>
            </a:r>
            <a:endParaRPr lang="en-US" b="1" dirty="0">
              <a:solidFill>
                <a:srgbClr val="BC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399607E7-A947-6D49-8AC7-9046D8B0B638}"/>
              </a:ext>
            </a:extLst>
          </p:cNvPr>
          <p:cNvSpPr txBox="1"/>
          <p:nvPr/>
        </p:nvSpPr>
        <p:spPr>
          <a:xfrm>
            <a:off x="7877413" y="4749920"/>
            <a:ext cx="742511" cy="523220"/>
          </a:xfrm>
          <a:prstGeom prst="rect">
            <a:avLst/>
          </a:prstGeom>
          <a:noFill/>
          <a:ln w="28575">
            <a:solidFill>
              <a:srgbClr val="BC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BC0000"/>
                </a:solidFill>
              </a:rPr>
              <a:t>1(c)</a:t>
            </a:r>
            <a:endParaRPr lang="en-US" b="1" dirty="0">
              <a:solidFill>
                <a:srgbClr val="BC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38975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23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58800" y="500884"/>
            <a:ext cx="8229600" cy="865127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customer review sentiment classification: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296336" y="1366011"/>
          <a:ext cx="8542866" cy="4032250"/>
        </p:xfrm>
        <a:graphic>
          <a:graphicData uri="http://schemas.openxmlformats.org/drawingml/2006/table">
            <a:tbl>
              <a:tblPr>
                <a:effectLst/>
                <a:tableStyleId>{9D7B26C5-4107-4FEC-AEDC-1716B250A1EF}</a:tableStyleId>
              </a:tblPr>
              <a:tblGrid>
                <a:gridCol w="738008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6277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80645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 works with a minimum of fuss 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positive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've had this thing just over a month and the headphone jack has already come loose 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negative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size - bigger than the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ipod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negative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you can manage your profile , change the contrast of backlight , make different type of display , either list or tabbed 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positive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replaced it with a router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raizer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and it works much better 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negative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74750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24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58800" y="500884"/>
            <a:ext cx="8229600" cy="865127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question classification: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294100"/>
              </p:ext>
            </p:extLst>
          </p:nvPr>
        </p:nvGraphicFramePr>
        <p:xfrm>
          <a:off x="296336" y="1366011"/>
          <a:ext cx="8542866" cy="4285488"/>
        </p:xfrm>
        <a:graphic>
          <a:graphicData uri="http://schemas.openxmlformats.org/drawingml/2006/table">
            <a:tbl>
              <a:tblPr>
                <a:effectLst/>
                <a:tableStyleId>{9D7B26C5-4107-4FEC-AEDC-1716B250A1EF}</a:tableStyleId>
              </a:tblPr>
              <a:tblGrid>
                <a:gridCol w="703156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1130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714248">
                <a:tc>
                  <a:txBody>
                    <a:bodyPr/>
                    <a:lstStyle/>
                    <a:p>
                      <a:r>
                        <a:rPr lang="en-US" sz="2000" dirty="0"/>
                        <a:t>Who invented baseball ?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human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14248">
                <a:tc>
                  <a:txBody>
                    <a:bodyPr/>
                    <a:lstStyle/>
                    <a:p>
                      <a:r>
                        <a:rPr lang="en-US" sz="2000" dirty="0"/>
                        <a:t>CNN is an acronym for what ?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abbreviation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14248">
                <a:tc>
                  <a:txBody>
                    <a:bodyPr/>
                    <a:lstStyle/>
                    <a:p>
                      <a:r>
                        <a:rPr lang="en-US" sz="2000" dirty="0"/>
                        <a:t>Which Latin American country is the largest ?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location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14248">
                <a:tc>
                  <a:txBody>
                    <a:bodyPr/>
                    <a:lstStyle/>
                    <a:p>
                      <a:r>
                        <a:rPr lang="en-US" sz="2000" dirty="0"/>
                        <a:t>How many small businesses are there in the U.S .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714248">
                <a:tc>
                  <a:txBody>
                    <a:bodyPr/>
                    <a:lstStyle/>
                    <a:p>
                      <a:r>
                        <a:rPr lang="en-US" sz="2000" dirty="0"/>
                        <a:t>What would you add to the clay mixture to produce bone china ?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entity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714248">
                <a:tc>
                  <a:txBody>
                    <a:bodyPr/>
                    <a:lstStyle/>
                    <a:p>
                      <a:pPr marL="0" marR="0" lvl="1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What is the root of all evil ?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45800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Text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661"/>
            <a:ext cx="8229600" cy="5052424"/>
          </a:xfrm>
        </p:spPr>
        <p:txBody>
          <a:bodyPr>
            <a:noAutofit/>
          </a:bodyPr>
          <a:lstStyle/>
          <a:p>
            <a:r>
              <a:rPr lang="en-US" dirty="0"/>
              <a:t>datasets</a:t>
            </a:r>
          </a:p>
          <a:p>
            <a:r>
              <a:rPr lang="en-US" dirty="0">
                <a:solidFill>
                  <a:srgbClr val="288CD2"/>
                </a:solidFill>
              </a:rPr>
              <a:t>classification</a:t>
            </a:r>
          </a:p>
          <a:p>
            <a:pPr lvl="1"/>
            <a:r>
              <a:rPr lang="en-US" dirty="0"/>
              <a:t>modeling</a:t>
            </a:r>
          </a:p>
          <a:p>
            <a:pPr lvl="1"/>
            <a:r>
              <a:rPr lang="en-US" dirty="0"/>
              <a:t>inference</a:t>
            </a:r>
          </a:p>
          <a:p>
            <a:pPr lvl="1"/>
            <a:r>
              <a:rPr lang="en-US" dirty="0"/>
              <a:t>learning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6995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a classifier?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7501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a classifier?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0" y="1073740"/>
            <a:ext cx="8585200" cy="4145960"/>
          </a:xfrm>
        </p:spPr>
        <p:txBody>
          <a:bodyPr>
            <a:normAutofit/>
          </a:bodyPr>
          <a:lstStyle/>
          <a:p>
            <a:r>
              <a:rPr lang="en-US" dirty="0"/>
              <a:t>a function from inputs </a:t>
            </a:r>
            <a:r>
              <a:rPr lang="en-US" b="1" i="1" dirty="0"/>
              <a:t>x</a:t>
            </a:r>
            <a:r>
              <a:rPr lang="en-US" dirty="0"/>
              <a:t> to classification labels </a:t>
            </a:r>
            <a:r>
              <a:rPr lang="en-US" i="1" dirty="0"/>
              <a:t>y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5027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a classifier?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0" y="1073740"/>
            <a:ext cx="8585200" cy="4145960"/>
          </a:xfrm>
        </p:spPr>
        <p:txBody>
          <a:bodyPr>
            <a:normAutofit/>
          </a:bodyPr>
          <a:lstStyle/>
          <a:p>
            <a:r>
              <a:rPr lang="en-US" dirty="0"/>
              <a:t>a function from inputs </a:t>
            </a:r>
            <a:r>
              <a:rPr lang="en-US" b="1" i="1" dirty="0"/>
              <a:t>x</a:t>
            </a:r>
            <a:r>
              <a:rPr lang="en-US" dirty="0"/>
              <a:t> to classification labels </a:t>
            </a:r>
            <a:r>
              <a:rPr lang="en-US" i="1" dirty="0"/>
              <a:t>y</a:t>
            </a:r>
          </a:p>
          <a:p>
            <a:r>
              <a:rPr lang="en-US" dirty="0"/>
              <a:t>one simple type of classifier:</a:t>
            </a:r>
          </a:p>
          <a:p>
            <a:pPr lvl="1"/>
            <a:r>
              <a:rPr lang="en-US" dirty="0"/>
              <a:t>for any input </a:t>
            </a:r>
            <a:r>
              <a:rPr lang="en-US" b="1" i="1" dirty="0">
                <a:cs typeface="Monotype Corsiva"/>
              </a:rPr>
              <a:t>x</a:t>
            </a:r>
            <a:r>
              <a:rPr lang="en-US" dirty="0"/>
              <a:t>, assign a score to each label </a:t>
            </a:r>
            <a:r>
              <a:rPr lang="en-US" i="1" dirty="0">
                <a:cs typeface="Century Schoolbook"/>
              </a:rPr>
              <a:t>y, </a:t>
            </a:r>
            <a:r>
              <a:rPr lang="en-US" dirty="0"/>
              <a:t>parameterized by parameters </a:t>
            </a:r>
            <a:r>
              <a:rPr lang="en-US" b="1" i="1" dirty="0"/>
              <a:t>w</a:t>
            </a:r>
            <a:r>
              <a:rPr lang="en-US" dirty="0">
                <a:cs typeface="Century Schoolbook"/>
              </a:rPr>
              <a:t>: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45D46CF7-F27B-3F40-BF46-860208812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857" y="3423459"/>
            <a:ext cx="2558796" cy="445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4810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Notation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29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990875" y="1293224"/>
            <a:ext cx="187132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a vector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90875" y="2120818"/>
            <a:ext cx="42825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entry </a:t>
            </a:r>
            <a:r>
              <a:rPr lang="en-US" sz="4000" dirty="0" err="1"/>
              <a:t>i</a:t>
            </a:r>
            <a:r>
              <a:rPr lang="en-US" sz="4000" dirty="0"/>
              <a:t> in the vector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b="51738"/>
          <a:stretch/>
        </p:blipFill>
        <p:spPr>
          <a:xfrm>
            <a:off x="787400" y="1601857"/>
            <a:ext cx="1068659" cy="1379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1507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Notation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30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990875" y="1293224"/>
            <a:ext cx="187132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a vector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90875" y="2120818"/>
            <a:ext cx="42825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entry </a:t>
            </a:r>
            <a:r>
              <a:rPr lang="en-US" sz="4000" dirty="0" err="1"/>
              <a:t>i</a:t>
            </a:r>
            <a:r>
              <a:rPr lang="en-US" sz="4000" dirty="0"/>
              <a:t> in the vector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90875" y="2973121"/>
            <a:ext cx="41515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a structured object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0" y="1601857"/>
            <a:ext cx="1068659" cy="2857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90875" y="3769907"/>
            <a:ext cx="65628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entry </a:t>
            </a:r>
            <a:r>
              <a:rPr lang="en-US" sz="4000" dirty="0" err="1"/>
              <a:t>i</a:t>
            </a:r>
            <a:r>
              <a:rPr lang="en-US" sz="4000" dirty="0"/>
              <a:t> in the structured object</a:t>
            </a:r>
          </a:p>
        </p:txBody>
      </p:sp>
    </p:spTree>
    <p:extLst>
      <p:ext uri="{BB962C8B-B14F-4D97-AF65-F5344CB8AC3E}">
        <p14:creationId xmlns:p14="http://schemas.microsoft.com/office/powerpoint/2010/main" val="20296663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a classifier?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0" y="1073740"/>
            <a:ext cx="8585200" cy="4145960"/>
          </a:xfrm>
        </p:spPr>
        <p:txBody>
          <a:bodyPr>
            <a:normAutofit/>
          </a:bodyPr>
          <a:lstStyle/>
          <a:p>
            <a:r>
              <a:rPr lang="en-US" dirty="0"/>
              <a:t>a function from inputs </a:t>
            </a:r>
            <a:r>
              <a:rPr lang="en-US" b="1" i="1" dirty="0"/>
              <a:t>x</a:t>
            </a:r>
            <a:r>
              <a:rPr lang="en-US" dirty="0"/>
              <a:t> to classification labels </a:t>
            </a:r>
            <a:r>
              <a:rPr lang="en-US" i="1" dirty="0"/>
              <a:t>y</a:t>
            </a:r>
          </a:p>
          <a:p>
            <a:r>
              <a:rPr lang="en-US" dirty="0"/>
              <a:t>one simple type of classifier:</a:t>
            </a:r>
          </a:p>
          <a:p>
            <a:pPr lvl="1"/>
            <a:r>
              <a:rPr lang="en-US" dirty="0"/>
              <a:t>for any input </a:t>
            </a:r>
            <a:r>
              <a:rPr lang="en-US" b="1" i="1" dirty="0">
                <a:cs typeface="Monotype Corsiva"/>
              </a:rPr>
              <a:t>x</a:t>
            </a:r>
            <a:r>
              <a:rPr lang="en-US" dirty="0"/>
              <a:t>, assign a score to each label </a:t>
            </a:r>
            <a:r>
              <a:rPr lang="en-US" i="1" dirty="0">
                <a:cs typeface="Century Schoolbook"/>
              </a:rPr>
              <a:t>y, </a:t>
            </a:r>
            <a:r>
              <a:rPr lang="en-US" dirty="0"/>
              <a:t>parameterized by parameters </a:t>
            </a:r>
            <a:r>
              <a:rPr lang="en-US" b="1" i="1" dirty="0"/>
              <a:t>w</a:t>
            </a:r>
            <a:r>
              <a:rPr lang="en-US" dirty="0">
                <a:cs typeface="Century Schoolbook"/>
              </a:rPr>
              <a:t>: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classify by choosing highest-scoring label: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31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56C8D43C-5181-4744-A185-274A9C167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818" y="5006974"/>
            <a:ext cx="6903590" cy="6988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45D46CF7-F27B-3F40-BF46-860208812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857" y="3423459"/>
            <a:ext cx="2558796" cy="445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3299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Course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047" y="1034664"/>
            <a:ext cx="8579336" cy="5052424"/>
          </a:xfrm>
        </p:spPr>
        <p:txBody>
          <a:bodyPr>
            <a:normAutofit/>
          </a:bodyPr>
          <a:lstStyle/>
          <a:p>
            <a:r>
              <a:rPr lang="en-US" sz="2800" dirty="0"/>
              <a:t>From reading papers, one gets the idea that machine learning concepts are monolithic, opaque objects</a:t>
            </a:r>
          </a:p>
          <a:p>
            <a:pPr lvl="1"/>
            <a:r>
              <a:rPr lang="en-US" sz="2400" dirty="0"/>
              <a:t>e.g., naïve Bayes, logistic regression, SVMs, CRFs, neural networks, LSTMs, etc. </a:t>
            </a:r>
          </a:p>
          <a:p>
            <a:r>
              <a:rPr lang="en-US" sz="2800" dirty="0"/>
              <a:t>Nothing is opaque</a:t>
            </a:r>
          </a:p>
          <a:p>
            <a:r>
              <a:rPr lang="en-US" sz="2800" dirty="0"/>
              <a:t>Everything can be dissected, which reveals connections</a:t>
            </a:r>
          </a:p>
          <a:p>
            <a:r>
              <a:rPr lang="en-US" sz="2800" dirty="0"/>
              <a:t>The names above are useful shorthand, but not useful for gaining understanding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1929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Modeling, Inference, Learning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59437CCE-6D64-A548-8B3E-D23ECB07C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146" y="2187112"/>
            <a:ext cx="5143500" cy="52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8631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Modeling, Inference,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781344"/>
            <a:ext cx="8229600" cy="193841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88CD2"/>
                </a:solidFill>
              </a:rPr>
              <a:t>Modeling</a:t>
            </a:r>
            <a:r>
              <a:rPr lang="en-US" dirty="0"/>
              <a:t>: How do we assign a score to an (</a:t>
            </a:r>
            <a:r>
              <a:rPr lang="en-US" b="1" i="1" dirty="0" err="1"/>
              <a:t>x</a:t>
            </a:r>
            <a:r>
              <a:rPr lang="en-US" dirty="0" err="1"/>
              <a:t>,</a:t>
            </a:r>
            <a:r>
              <a:rPr lang="en-US" i="1" dirty="0" err="1"/>
              <a:t>y</a:t>
            </a:r>
            <a:r>
              <a:rPr lang="en-US" dirty="0"/>
              <a:t>) pair using parameters </a:t>
            </a:r>
            <a:r>
              <a:rPr lang="en-US" b="1" i="1" dirty="0"/>
              <a:t>w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 bwMode="auto">
          <a:xfrm flipH="1">
            <a:off x="5151076" y="1253197"/>
            <a:ext cx="304800" cy="91440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4562946" y="1214933"/>
            <a:ext cx="4252336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288CD2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i="0" dirty="0">
                <a:solidFill>
                  <a:srgbClr val="288CD2"/>
                </a:solidFill>
                <a:latin typeface="Calibri"/>
                <a:cs typeface="Calibri"/>
              </a:rPr>
              <a:t>modeling</a:t>
            </a:r>
            <a:r>
              <a:rPr lang="en-US" sz="2400" i="0" dirty="0">
                <a:solidFill>
                  <a:srgbClr val="288CD2"/>
                </a:solidFill>
                <a:latin typeface="Calibri"/>
                <a:cs typeface="Calibri"/>
              </a:rPr>
              <a:t>: define  </a:t>
            </a:r>
            <a:r>
              <a:rPr lang="en-US" sz="2400" i="0" dirty="0">
                <a:solidFill>
                  <a:srgbClr val="FFFFFF"/>
                </a:solidFill>
                <a:latin typeface="Calibri"/>
                <a:cs typeface="Calibri"/>
              </a:rPr>
              <a:t>score </a:t>
            </a:r>
            <a:r>
              <a:rPr lang="en-US" sz="2400" i="0" dirty="0">
                <a:solidFill>
                  <a:srgbClr val="288CD2"/>
                </a:solidFill>
                <a:latin typeface="Calibri"/>
                <a:cs typeface="Calibri"/>
              </a:rPr>
              <a:t>function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383" y="1422405"/>
            <a:ext cx="647700" cy="1524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34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862475A7-106F-114E-8ED7-2ABD12E10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146" y="2187112"/>
            <a:ext cx="5143500" cy="52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1108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Modeling, Inference,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781344"/>
            <a:ext cx="8229600" cy="193841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8000"/>
                </a:solidFill>
              </a:rPr>
              <a:t>Inference</a:t>
            </a:r>
            <a:r>
              <a:rPr lang="en-US" dirty="0"/>
              <a:t>: How do we efficiently search over the space of all labels?</a:t>
            </a:r>
          </a:p>
          <a:p>
            <a:endParaRPr lang="en-US" dirty="0"/>
          </a:p>
        </p:txBody>
      </p:sp>
      <p:cxnSp>
        <p:nvCxnSpPr>
          <p:cNvPr id="14" name="Straight Arrow Connector 13"/>
          <p:cNvCxnSpPr/>
          <p:nvPr/>
        </p:nvCxnSpPr>
        <p:spPr bwMode="auto">
          <a:xfrm>
            <a:off x="3699925" y="1676598"/>
            <a:ext cx="338667" cy="490999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008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TextBox 14"/>
          <p:cNvSpPr txBox="1"/>
          <p:nvPr/>
        </p:nvSpPr>
        <p:spPr>
          <a:xfrm>
            <a:off x="1045609" y="1214933"/>
            <a:ext cx="3315782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008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8000"/>
                </a:solidFill>
                <a:latin typeface="Calibri"/>
                <a:cs typeface="Calibri"/>
              </a:rPr>
              <a:t>inference</a:t>
            </a:r>
            <a:r>
              <a:rPr lang="en-US" sz="2400" i="0" dirty="0">
                <a:solidFill>
                  <a:srgbClr val="008000"/>
                </a:solidFill>
                <a:latin typeface="Calibri"/>
                <a:cs typeface="Calibri"/>
              </a:rPr>
              <a:t>: solve              </a:t>
            </a:r>
            <a:r>
              <a:rPr lang="en-US" sz="2400" i="0" dirty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r>
              <a:rPr lang="en-US" sz="2400" i="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625" y="1414131"/>
            <a:ext cx="990600" cy="215900"/>
          </a:xfrm>
          <a:prstGeom prst="rect">
            <a:avLst/>
          </a:prstGeom>
        </p:spPr>
      </p:pic>
      <p:cxnSp>
        <p:nvCxnSpPr>
          <p:cNvPr id="16" name="Straight Arrow Connector 15"/>
          <p:cNvCxnSpPr/>
          <p:nvPr/>
        </p:nvCxnSpPr>
        <p:spPr bwMode="auto">
          <a:xfrm flipH="1">
            <a:off x="5151076" y="1253197"/>
            <a:ext cx="304800" cy="91440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TextBox 16"/>
          <p:cNvSpPr txBox="1"/>
          <p:nvPr/>
        </p:nvSpPr>
        <p:spPr>
          <a:xfrm>
            <a:off x="4562946" y="1214933"/>
            <a:ext cx="4252336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288CD2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i="0" dirty="0">
                <a:solidFill>
                  <a:srgbClr val="288CD2"/>
                </a:solidFill>
                <a:latin typeface="Calibri"/>
                <a:cs typeface="Calibri"/>
              </a:rPr>
              <a:t>modeling</a:t>
            </a:r>
            <a:r>
              <a:rPr lang="en-US" sz="2400" i="0" dirty="0">
                <a:solidFill>
                  <a:srgbClr val="288CD2"/>
                </a:solidFill>
                <a:latin typeface="Calibri"/>
                <a:cs typeface="Calibri"/>
              </a:rPr>
              <a:t>: define  </a:t>
            </a:r>
            <a:r>
              <a:rPr lang="en-US" sz="2400" i="0" dirty="0">
                <a:solidFill>
                  <a:srgbClr val="FFFFFF"/>
                </a:solidFill>
                <a:latin typeface="Calibri"/>
                <a:cs typeface="Calibri"/>
              </a:rPr>
              <a:t>score </a:t>
            </a:r>
            <a:r>
              <a:rPr lang="en-US" sz="2400" i="0" dirty="0">
                <a:solidFill>
                  <a:srgbClr val="288CD2"/>
                </a:solidFill>
                <a:latin typeface="Calibri"/>
                <a:cs typeface="Calibri"/>
              </a:rPr>
              <a:t>function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383" y="1422405"/>
            <a:ext cx="647700" cy="1524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35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39F38051-E37E-224A-936C-5876AF1320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5146" y="2187112"/>
            <a:ext cx="5143500" cy="52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4008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Modeling, Inference,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781344"/>
            <a:ext cx="8229600" cy="193841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Learning</a:t>
            </a:r>
            <a:r>
              <a:rPr lang="en-US" dirty="0"/>
              <a:t>: How do we choose the weights </a:t>
            </a:r>
            <a:r>
              <a:rPr lang="en-US" b="1" i="1" dirty="0"/>
              <a:t>w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cxnSp>
        <p:nvCxnSpPr>
          <p:cNvPr id="16" name="Straight Arrow Connector 15"/>
          <p:cNvCxnSpPr/>
          <p:nvPr/>
        </p:nvCxnSpPr>
        <p:spPr bwMode="auto">
          <a:xfrm flipH="1">
            <a:off x="5151076" y="1253197"/>
            <a:ext cx="304800" cy="91440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TextBox 16"/>
          <p:cNvSpPr txBox="1"/>
          <p:nvPr/>
        </p:nvSpPr>
        <p:spPr>
          <a:xfrm>
            <a:off x="4562946" y="1214933"/>
            <a:ext cx="4252336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288CD2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i="0" dirty="0">
                <a:solidFill>
                  <a:srgbClr val="288CD2"/>
                </a:solidFill>
                <a:latin typeface="Calibri"/>
                <a:cs typeface="Calibri"/>
              </a:rPr>
              <a:t>modeling</a:t>
            </a:r>
            <a:r>
              <a:rPr lang="en-US" sz="2400" i="0" dirty="0">
                <a:solidFill>
                  <a:srgbClr val="288CD2"/>
                </a:solidFill>
                <a:latin typeface="Calibri"/>
                <a:cs typeface="Calibri"/>
              </a:rPr>
              <a:t>: define  </a:t>
            </a:r>
            <a:r>
              <a:rPr lang="en-US" sz="2400" i="0" dirty="0">
                <a:solidFill>
                  <a:srgbClr val="FFFFFF"/>
                </a:solidFill>
                <a:latin typeface="Calibri"/>
                <a:cs typeface="Calibri"/>
              </a:rPr>
              <a:t>score </a:t>
            </a:r>
            <a:r>
              <a:rPr lang="en-US" sz="2400" i="0" dirty="0">
                <a:solidFill>
                  <a:srgbClr val="288CD2"/>
                </a:solidFill>
                <a:latin typeface="Calibri"/>
                <a:cs typeface="Calibri"/>
              </a:rPr>
              <a:t>function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383" y="1422405"/>
            <a:ext cx="647700" cy="152400"/>
          </a:xfrm>
          <a:prstGeom prst="rect">
            <a:avLst/>
          </a:prstGeom>
        </p:spPr>
      </p:pic>
      <p:cxnSp>
        <p:nvCxnSpPr>
          <p:cNvPr id="21" name="Straight Arrow Connector 20"/>
          <p:cNvCxnSpPr/>
          <p:nvPr/>
        </p:nvCxnSpPr>
        <p:spPr bwMode="auto">
          <a:xfrm>
            <a:off x="3699925" y="1676598"/>
            <a:ext cx="338667" cy="490999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008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TextBox 21"/>
          <p:cNvSpPr txBox="1"/>
          <p:nvPr/>
        </p:nvSpPr>
        <p:spPr>
          <a:xfrm>
            <a:off x="1045609" y="1214933"/>
            <a:ext cx="3315782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008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8000"/>
                </a:solidFill>
                <a:latin typeface="Calibri"/>
                <a:cs typeface="Calibri"/>
              </a:rPr>
              <a:t>inference</a:t>
            </a:r>
            <a:r>
              <a:rPr lang="en-US" sz="2400" i="0" dirty="0">
                <a:solidFill>
                  <a:srgbClr val="008000"/>
                </a:solidFill>
                <a:latin typeface="Calibri"/>
                <a:cs typeface="Calibri"/>
              </a:rPr>
              <a:t>: solve              </a:t>
            </a:r>
            <a:r>
              <a:rPr lang="en-US" sz="2400" i="0" dirty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r>
              <a:rPr lang="en-US" sz="2400" i="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625" y="1414131"/>
            <a:ext cx="990600" cy="2159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36</a:t>
            </a:fld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xmlns="" id="{3A7C2899-69A8-4241-AC9E-0C5A9ACB9D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5146" y="2187112"/>
            <a:ext cx="5143500" cy="520700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xmlns="" id="{98270859-B3C3-664D-9748-3C7C4A1CFACE}"/>
              </a:ext>
            </a:extLst>
          </p:cNvPr>
          <p:cNvCxnSpPr/>
          <p:nvPr/>
        </p:nvCxnSpPr>
        <p:spPr bwMode="auto">
          <a:xfrm flipV="1">
            <a:off x="5907224" y="2527564"/>
            <a:ext cx="283613" cy="65997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4532883D-CC44-794C-BC83-08DFFAAB3019}"/>
              </a:ext>
            </a:extLst>
          </p:cNvPr>
          <p:cNvSpPr txBox="1"/>
          <p:nvPr/>
        </p:nvSpPr>
        <p:spPr>
          <a:xfrm>
            <a:off x="5366668" y="3056704"/>
            <a:ext cx="2560316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libri"/>
                <a:cs typeface="Calibri"/>
              </a:rPr>
              <a:t>l</a:t>
            </a:r>
            <a:r>
              <a:rPr lang="en-US" sz="2400" b="1" i="0" dirty="0">
                <a:solidFill>
                  <a:srgbClr val="FF0000"/>
                </a:solidFill>
                <a:latin typeface="Calibri"/>
                <a:cs typeface="Calibri"/>
              </a:rPr>
              <a:t>earning</a:t>
            </a:r>
            <a:r>
              <a:rPr lang="en-US" sz="2400" i="0" dirty="0">
                <a:solidFill>
                  <a:srgbClr val="FF0000"/>
                </a:solidFill>
                <a:latin typeface="Calibri"/>
                <a:cs typeface="Calibri"/>
              </a:rPr>
              <a:t>: choose  </a:t>
            </a:r>
            <a:r>
              <a:rPr lang="en-US" sz="2400" i="0" dirty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endParaRPr lang="en-US" sz="2400" i="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11140D70-99E4-C945-833A-2E618C2FFC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4280" y="3253501"/>
            <a:ext cx="228600" cy="13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2252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Modeling, Inference,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781344"/>
            <a:ext cx="8229600" cy="1938419"/>
          </a:xfrm>
        </p:spPr>
        <p:txBody>
          <a:bodyPr>
            <a:normAutofit/>
          </a:bodyPr>
          <a:lstStyle/>
          <a:p>
            <a:r>
              <a:rPr lang="en-US" dirty="0"/>
              <a:t>We will use this formulation throughout</a:t>
            </a:r>
          </a:p>
          <a:p>
            <a:pPr lvl="1"/>
            <a:r>
              <a:rPr lang="en-US" dirty="0"/>
              <a:t>even when output space is exponentially large or unbounded (e.g., machine translation)</a:t>
            </a:r>
          </a:p>
          <a:p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 bwMode="auto">
          <a:xfrm flipV="1">
            <a:off x="5907224" y="2527564"/>
            <a:ext cx="283613" cy="65997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TextBox 8"/>
          <p:cNvSpPr txBox="1"/>
          <p:nvPr/>
        </p:nvSpPr>
        <p:spPr>
          <a:xfrm>
            <a:off x="5366668" y="3056704"/>
            <a:ext cx="2560316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libri"/>
                <a:cs typeface="Calibri"/>
              </a:rPr>
              <a:t>l</a:t>
            </a:r>
            <a:r>
              <a:rPr lang="en-US" sz="2400" b="1" i="0" dirty="0">
                <a:solidFill>
                  <a:srgbClr val="FF0000"/>
                </a:solidFill>
                <a:latin typeface="Calibri"/>
                <a:cs typeface="Calibri"/>
              </a:rPr>
              <a:t>earning</a:t>
            </a:r>
            <a:r>
              <a:rPr lang="en-US" sz="2400" i="0" dirty="0">
                <a:solidFill>
                  <a:srgbClr val="FF0000"/>
                </a:solidFill>
                <a:latin typeface="Calibri"/>
                <a:cs typeface="Calibri"/>
              </a:rPr>
              <a:t>: choose  </a:t>
            </a:r>
            <a:r>
              <a:rPr lang="en-US" sz="2400" i="0" dirty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endParaRPr lang="en-US" sz="2400" i="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cxnSp>
        <p:nvCxnSpPr>
          <p:cNvPr id="16" name="Straight Arrow Connector 15"/>
          <p:cNvCxnSpPr/>
          <p:nvPr/>
        </p:nvCxnSpPr>
        <p:spPr bwMode="auto">
          <a:xfrm flipH="1">
            <a:off x="5151076" y="1253197"/>
            <a:ext cx="304800" cy="91440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TextBox 16"/>
          <p:cNvSpPr txBox="1"/>
          <p:nvPr/>
        </p:nvSpPr>
        <p:spPr>
          <a:xfrm>
            <a:off x="4562946" y="1214933"/>
            <a:ext cx="4252336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288CD2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i="0" dirty="0">
                <a:solidFill>
                  <a:srgbClr val="288CD2"/>
                </a:solidFill>
                <a:latin typeface="Calibri"/>
                <a:cs typeface="Calibri"/>
              </a:rPr>
              <a:t>modeling</a:t>
            </a:r>
            <a:r>
              <a:rPr lang="en-US" sz="2400" i="0" dirty="0">
                <a:solidFill>
                  <a:srgbClr val="288CD2"/>
                </a:solidFill>
                <a:latin typeface="Calibri"/>
                <a:cs typeface="Calibri"/>
              </a:rPr>
              <a:t>: define  </a:t>
            </a:r>
            <a:r>
              <a:rPr lang="en-US" sz="2400" i="0" dirty="0">
                <a:solidFill>
                  <a:srgbClr val="FFFFFF"/>
                </a:solidFill>
                <a:latin typeface="Calibri"/>
                <a:cs typeface="Calibri"/>
              </a:rPr>
              <a:t>score </a:t>
            </a:r>
            <a:r>
              <a:rPr lang="en-US" sz="2400" i="0" dirty="0">
                <a:solidFill>
                  <a:srgbClr val="288CD2"/>
                </a:solidFill>
                <a:latin typeface="Calibri"/>
                <a:cs typeface="Calibri"/>
              </a:rPr>
              <a:t>function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383" y="1422405"/>
            <a:ext cx="647700" cy="152400"/>
          </a:xfrm>
          <a:prstGeom prst="rect">
            <a:avLst/>
          </a:prstGeom>
        </p:spPr>
      </p:pic>
      <p:cxnSp>
        <p:nvCxnSpPr>
          <p:cNvPr id="21" name="Straight Arrow Connector 20"/>
          <p:cNvCxnSpPr/>
          <p:nvPr/>
        </p:nvCxnSpPr>
        <p:spPr bwMode="auto">
          <a:xfrm>
            <a:off x="3699925" y="1676598"/>
            <a:ext cx="338667" cy="490999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008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TextBox 21"/>
          <p:cNvSpPr txBox="1"/>
          <p:nvPr/>
        </p:nvSpPr>
        <p:spPr>
          <a:xfrm>
            <a:off x="1045609" y="1214933"/>
            <a:ext cx="3315782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008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8000"/>
                </a:solidFill>
                <a:latin typeface="Calibri"/>
                <a:cs typeface="Calibri"/>
              </a:rPr>
              <a:t>inference</a:t>
            </a:r>
            <a:r>
              <a:rPr lang="en-US" sz="2400" i="0" dirty="0">
                <a:solidFill>
                  <a:srgbClr val="008000"/>
                </a:solidFill>
                <a:latin typeface="Calibri"/>
                <a:cs typeface="Calibri"/>
              </a:rPr>
              <a:t>: solve              </a:t>
            </a:r>
            <a:r>
              <a:rPr lang="en-US" sz="2400" i="0" dirty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r>
              <a:rPr lang="en-US" sz="2400" i="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625" y="1414131"/>
            <a:ext cx="990600" cy="2159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9B1ED9E2-590E-464F-8BEF-4F19EEC276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5146" y="2187112"/>
            <a:ext cx="5143500" cy="520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F0EE71DC-F7BE-E844-801B-07F60073C8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4280" y="3253501"/>
            <a:ext cx="228600" cy="13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1964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Text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661"/>
            <a:ext cx="8229600" cy="5052424"/>
          </a:xfrm>
        </p:spPr>
        <p:txBody>
          <a:bodyPr>
            <a:noAutofit/>
          </a:bodyPr>
          <a:lstStyle/>
          <a:p>
            <a:r>
              <a:rPr lang="en-US" dirty="0"/>
              <a:t>datasets</a:t>
            </a:r>
          </a:p>
          <a:p>
            <a:r>
              <a:rPr lang="en-US" dirty="0"/>
              <a:t>classification</a:t>
            </a:r>
          </a:p>
          <a:p>
            <a:pPr lvl="1"/>
            <a:r>
              <a:rPr lang="en-US" dirty="0">
                <a:solidFill>
                  <a:srgbClr val="288CD2"/>
                </a:solidFill>
              </a:rPr>
              <a:t>modeling</a:t>
            </a:r>
          </a:p>
          <a:p>
            <a:pPr lvl="1"/>
            <a:r>
              <a:rPr lang="en-US" dirty="0"/>
              <a:t>inference</a:t>
            </a:r>
          </a:p>
          <a:p>
            <a:pPr lvl="1"/>
            <a:r>
              <a:rPr lang="en-US" dirty="0"/>
              <a:t>learning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0721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Binary Sentiment Classification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39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EDD5BA90-835C-064A-9B99-81CFE5218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170171"/>
            <a:ext cx="64770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8067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Binary Sentiment Classification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40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EDD5BA90-835C-064A-9B99-81CFE5218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170171"/>
            <a:ext cx="6477000" cy="558800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xmlns="" id="{60AB60D6-1C8A-0B48-86D6-F301205B3323}"/>
              </a:ext>
            </a:extLst>
          </p:cNvPr>
          <p:cNvCxnSpPr>
            <a:cxnSpLocks/>
          </p:cNvCxnSpPr>
          <p:nvPr/>
        </p:nvCxnSpPr>
        <p:spPr bwMode="auto">
          <a:xfrm flipV="1">
            <a:off x="1993392" y="2528251"/>
            <a:ext cx="297487" cy="1191678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xmlns="" id="{AF0421A4-4104-6B41-982B-57F4D0699995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419977" y="2804436"/>
            <a:ext cx="961523" cy="1112589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B7C9113C-972D-FC4E-9638-6628132E45EA}"/>
              </a:ext>
            </a:extLst>
          </p:cNvPr>
          <p:cNvSpPr txBox="1"/>
          <p:nvPr/>
        </p:nvSpPr>
        <p:spPr>
          <a:xfrm>
            <a:off x="201168" y="3501528"/>
            <a:ext cx="3410712" cy="830997"/>
          </a:xfrm>
          <a:prstGeom prst="rect">
            <a:avLst/>
          </a:prstGeom>
          <a:solidFill>
            <a:schemeClr val="bg1"/>
          </a:solidFill>
          <a:ln w="57150">
            <a:solidFill>
              <a:srgbClr val="288CD2"/>
            </a:solidFill>
          </a:ln>
          <a:effectLst>
            <a:softEdge rad="508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400" i="0" dirty="0">
                <a:solidFill>
                  <a:srgbClr val="288CD2"/>
                </a:solidFill>
                <a:latin typeface="Calibri"/>
                <a:cs typeface="Calibri"/>
              </a:rPr>
              <a:t>a sequence of words</a:t>
            </a:r>
          </a:p>
          <a:p>
            <a:pPr algn="ctr"/>
            <a:r>
              <a:rPr lang="en-US" sz="2400" i="0" dirty="0">
                <a:solidFill>
                  <a:srgbClr val="288CD2"/>
                </a:solidFill>
                <a:latin typeface="Calibri"/>
                <a:cs typeface="Calibri"/>
              </a:rPr>
              <a:t>(a sentence or document)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BDCB36CE-14F0-F947-A656-EFEA886F52DA}"/>
              </a:ext>
            </a:extLst>
          </p:cNvPr>
          <p:cNvSpPr txBox="1"/>
          <p:nvPr/>
        </p:nvSpPr>
        <p:spPr>
          <a:xfrm>
            <a:off x="3894645" y="3686193"/>
            <a:ext cx="2250822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288CD2"/>
            </a:solidFill>
          </a:ln>
          <a:effectLst>
            <a:softEdge rad="508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400" i="0" dirty="0">
                <a:solidFill>
                  <a:srgbClr val="288CD2"/>
                </a:solidFill>
                <a:latin typeface="Calibri"/>
                <a:cs typeface="Calibri"/>
              </a:rPr>
              <a:t>sentiment label</a:t>
            </a:r>
          </a:p>
        </p:txBody>
      </p:sp>
    </p:spTree>
    <p:extLst>
      <p:ext uri="{BB962C8B-B14F-4D97-AF65-F5344CB8AC3E}">
        <p14:creationId xmlns:p14="http://schemas.microsoft.com/office/powerpoint/2010/main" val="222594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Binary Sentiment Classification</a:t>
            </a:r>
          </a:p>
        </p:txBody>
      </p:sp>
      <p:cxnSp>
        <p:nvCxnSpPr>
          <p:cNvPr id="5" name="Straight Arrow Connector 4"/>
          <p:cNvCxnSpPr>
            <a:cxnSpLocks/>
          </p:cNvCxnSpPr>
          <p:nvPr/>
        </p:nvCxnSpPr>
        <p:spPr bwMode="auto">
          <a:xfrm flipH="1">
            <a:off x="6181344" y="1422405"/>
            <a:ext cx="371856" cy="747766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4562946" y="1214933"/>
            <a:ext cx="4252336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288CD2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i="0" dirty="0">
                <a:solidFill>
                  <a:srgbClr val="288CD2"/>
                </a:solidFill>
                <a:latin typeface="Calibri"/>
                <a:cs typeface="Calibri"/>
              </a:rPr>
              <a:t>modeling</a:t>
            </a:r>
            <a:r>
              <a:rPr lang="en-US" sz="2400" i="0" dirty="0">
                <a:solidFill>
                  <a:srgbClr val="288CD2"/>
                </a:solidFill>
                <a:latin typeface="Calibri"/>
                <a:cs typeface="Calibri"/>
              </a:rPr>
              <a:t>: define  </a:t>
            </a:r>
            <a:r>
              <a:rPr lang="en-US" sz="2400" i="0" dirty="0">
                <a:solidFill>
                  <a:srgbClr val="FFFFFF"/>
                </a:solidFill>
                <a:latin typeface="Calibri"/>
                <a:cs typeface="Calibri"/>
              </a:rPr>
              <a:t>score </a:t>
            </a:r>
            <a:r>
              <a:rPr lang="en-US" sz="2400" i="0" dirty="0">
                <a:solidFill>
                  <a:srgbClr val="288CD2"/>
                </a:solidFill>
                <a:latin typeface="Calibri"/>
                <a:cs typeface="Calibri"/>
              </a:rPr>
              <a:t>function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383" y="1394973"/>
            <a:ext cx="647700" cy="1524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41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EDD5BA90-835C-064A-9B99-81CFE5218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170171"/>
            <a:ext cx="64770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3128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Linear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parameters are arranged in a vector</a:t>
            </a:r>
          </a:p>
          <a:p>
            <a:r>
              <a:rPr lang="en-US" dirty="0"/>
              <a:t>score function is linear in      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i="1" dirty="0"/>
              <a:t>   </a:t>
            </a:r>
            <a:r>
              <a:rPr lang="en-US" dirty="0"/>
              <a:t>: vector of feature functions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42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CE860707-DDDD-1442-86DA-7113C2F60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300" y="2460204"/>
            <a:ext cx="5763320" cy="676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4CD838FB-0AC4-D148-BC2C-D3ACB82C6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0672" y="1327404"/>
            <a:ext cx="341376" cy="1991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754DB0B6-41DC-8E4B-86AE-2BA0FA6B25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970" y="3552444"/>
            <a:ext cx="175260" cy="32131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71055FF3-1DC1-DF40-922D-BB61B42DB6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9408" y="1916664"/>
            <a:ext cx="341376" cy="199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7450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Linear Models for Binary Sentiment Classification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43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23467EDB-76EC-A544-8D97-ED8E2B7BF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430528"/>
            <a:ext cx="6477000" cy="558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0D28F2BD-FDB8-4843-A5C5-100FD7EC5C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182110"/>
            <a:ext cx="5842000" cy="596900"/>
          </a:xfrm>
          <a:prstGeom prst="rect">
            <a:avLst/>
          </a:prstGeom>
        </p:spPr>
      </p:pic>
      <p:sp>
        <p:nvSpPr>
          <p:cNvPr id="12" name="Down Arrow 11">
            <a:extLst>
              <a:ext uri="{FF2B5EF4-FFF2-40B4-BE49-F238E27FC236}">
                <a16:creationId xmlns:a16="http://schemas.microsoft.com/office/drawing/2014/main" xmlns="" id="{C06F0767-BE92-FF4C-B31E-28DFA4CC130E}"/>
              </a:ext>
            </a:extLst>
          </p:cNvPr>
          <p:cNvSpPr/>
          <p:nvPr/>
        </p:nvSpPr>
        <p:spPr>
          <a:xfrm>
            <a:off x="4192524" y="2419900"/>
            <a:ext cx="1092708" cy="1484588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066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Linear Models for Binary Sentiment Classification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44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23467EDB-76EC-A544-8D97-ED8E2B7BF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430528"/>
            <a:ext cx="6477000" cy="558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0D28F2BD-FDB8-4843-A5C5-100FD7EC5C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182110"/>
            <a:ext cx="5842000" cy="596900"/>
          </a:xfrm>
          <a:prstGeom prst="rect">
            <a:avLst/>
          </a:prstGeom>
        </p:spPr>
      </p:pic>
      <p:sp>
        <p:nvSpPr>
          <p:cNvPr id="12" name="Down Arrow 11">
            <a:extLst>
              <a:ext uri="{FF2B5EF4-FFF2-40B4-BE49-F238E27FC236}">
                <a16:creationId xmlns:a16="http://schemas.microsoft.com/office/drawing/2014/main" xmlns="" id="{C06F0767-BE92-FF4C-B31E-28DFA4CC130E}"/>
              </a:ext>
            </a:extLst>
          </p:cNvPr>
          <p:cNvSpPr/>
          <p:nvPr/>
        </p:nvSpPr>
        <p:spPr>
          <a:xfrm>
            <a:off x="4192524" y="2419900"/>
            <a:ext cx="1092708" cy="1484588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xmlns="" id="{789604BF-91CB-0B45-9850-7D7FA8F92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265251"/>
            <a:ext cx="8229600" cy="1001948"/>
          </a:xfrm>
        </p:spPr>
        <p:txBody>
          <a:bodyPr>
            <a:normAutofit/>
          </a:bodyPr>
          <a:lstStyle/>
          <a:p>
            <a:r>
              <a:rPr lang="en-US" dirty="0"/>
              <a:t>How do we define     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2B2FE908-E9BE-EE49-8A21-43676A81F7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6700" y="5393353"/>
            <a:ext cx="175260" cy="321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8184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Features for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NLP datasets include inputs and outputs</a:t>
            </a:r>
          </a:p>
          <a:p>
            <a:r>
              <a:rPr lang="en-US" sz="2800" dirty="0"/>
              <a:t>features are usually not included</a:t>
            </a:r>
          </a:p>
          <a:p>
            <a:r>
              <a:rPr lang="en-US" sz="2800" dirty="0"/>
              <a:t>you have to define your own features</a:t>
            </a:r>
          </a:p>
          <a:p>
            <a:r>
              <a:rPr lang="en-US" sz="2800" dirty="0">
                <a:solidFill>
                  <a:schemeClr val="bg1"/>
                </a:solidFill>
              </a:rPr>
              <a:t>contrast this with UCI datasets, which include a fixed-length “dense” feature vector for every instance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9112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Features for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NLP datasets include inputs and outputs</a:t>
            </a:r>
          </a:p>
          <a:p>
            <a:r>
              <a:rPr lang="en-US" sz="2800" dirty="0"/>
              <a:t>features are usually not included</a:t>
            </a:r>
          </a:p>
          <a:p>
            <a:r>
              <a:rPr lang="en-US" sz="2800" dirty="0"/>
              <a:t>you have to define your own features</a:t>
            </a:r>
          </a:p>
          <a:p>
            <a:r>
              <a:rPr lang="en-US" sz="2800" dirty="0"/>
              <a:t>contrast this with UCI datasets, which include a fixed-length </a:t>
            </a:r>
            <a:r>
              <a:rPr lang="en-US" sz="2800" dirty="0">
                <a:solidFill>
                  <a:srgbClr val="288CD2"/>
                </a:solidFill>
              </a:rPr>
              <a:t>dense</a:t>
            </a:r>
            <a:r>
              <a:rPr lang="en-US" sz="2800" dirty="0"/>
              <a:t> feature vector for every instance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46</a:t>
            </a:fld>
            <a:endParaRPr lang="en-US"/>
          </a:p>
        </p:txBody>
      </p:sp>
      <p:pic>
        <p:nvPicPr>
          <p:cNvPr id="5" name="Picture 4" descr="Screen Shot 2016-01-06 at 11.05.57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900" y="3933841"/>
            <a:ext cx="4749800" cy="196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7271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Features for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NLP datasets include inputs and outputs</a:t>
            </a:r>
          </a:p>
          <a:p>
            <a:r>
              <a:rPr lang="en-US" sz="2800" dirty="0"/>
              <a:t>features are usually not included</a:t>
            </a:r>
          </a:p>
          <a:p>
            <a:r>
              <a:rPr lang="en-US" sz="2800" dirty="0"/>
              <a:t>you have to define your own features</a:t>
            </a:r>
          </a:p>
          <a:p>
            <a:r>
              <a:rPr lang="en-US" sz="2800" dirty="0"/>
              <a:t>contrast this with UCI datasets, which include a fixed-length </a:t>
            </a:r>
            <a:r>
              <a:rPr lang="en-US" sz="2800" dirty="0">
                <a:solidFill>
                  <a:srgbClr val="288CD2"/>
                </a:solidFill>
              </a:rPr>
              <a:t>dense</a:t>
            </a:r>
            <a:r>
              <a:rPr lang="en-US" sz="2800" dirty="0"/>
              <a:t> feature vector for every instance</a:t>
            </a:r>
          </a:p>
          <a:p>
            <a:r>
              <a:rPr lang="en-US" sz="2800" dirty="0"/>
              <a:t>in (traditional) NLP, features usually </a:t>
            </a:r>
            <a:r>
              <a:rPr lang="en-US" sz="2800" dirty="0">
                <a:solidFill>
                  <a:srgbClr val="288CD2"/>
                </a:solidFill>
              </a:rPr>
              <a:t>sparse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803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Defining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this is a large part of NLP</a:t>
            </a:r>
          </a:p>
          <a:p>
            <a:r>
              <a:rPr lang="en-US" dirty="0"/>
              <a:t>last 25 years: </a:t>
            </a:r>
            <a:r>
              <a:rPr lang="en-US" b="1" dirty="0"/>
              <a:t>feature engineering</a:t>
            </a:r>
          </a:p>
          <a:p>
            <a:r>
              <a:rPr lang="en-US" dirty="0"/>
              <a:t>last 4 years: </a:t>
            </a:r>
            <a:r>
              <a:rPr lang="en-US" b="1" dirty="0"/>
              <a:t>representation learning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>
                <a:solidFill>
                  <a:srgbClr val="FFFFFF"/>
                </a:solidFill>
              </a:rPr>
              <a:t>In this course, we will do both</a:t>
            </a:r>
          </a:p>
          <a:p>
            <a:r>
              <a:rPr lang="en-US" dirty="0">
                <a:solidFill>
                  <a:srgbClr val="FFFFFF"/>
                </a:solidFill>
              </a:rPr>
              <a:t>Learning representations doesn’t mean that we don’t have to look at the data or the output!</a:t>
            </a:r>
          </a:p>
          <a:p>
            <a:r>
              <a:rPr lang="en-US" dirty="0">
                <a:solidFill>
                  <a:srgbClr val="FFFFFF"/>
                </a:solidFill>
              </a:rPr>
              <a:t>There’s still plenty of engineering required in representation learning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7573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Defining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this is a large part of NLP</a:t>
            </a:r>
          </a:p>
          <a:p>
            <a:r>
              <a:rPr lang="en-US" dirty="0"/>
              <a:t>last 25 years: </a:t>
            </a:r>
            <a:r>
              <a:rPr lang="en-US" b="1" dirty="0"/>
              <a:t>feature engineering</a:t>
            </a:r>
          </a:p>
          <a:p>
            <a:r>
              <a:rPr lang="en-US" dirty="0"/>
              <a:t>last 4 years: </a:t>
            </a:r>
            <a:r>
              <a:rPr lang="en-US" b="1" dirty="0"/>
              <a:t>representation learning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In this course, we’ll do both</a:t>
            </a:r>
          </a:p>
          <a:p>
            <a:r>
              <a:rPr lang="en-US" dirty="0"/>
              <a:t>learning representations doesn’t mean that we don’t have to look at the data or the output!</a:t>
            </a:r>
          </a:p>
          <a:p>
            <a:r>
              <a:rPr lang="en-US" dirty="0"/>
              <a:t>there’s still plenty of engineering required in representation learning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8997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Often decried as “costly, hand-crafted, expensive, domain-specific”, etc.</a:t>
            </a:r>
          </a:p>
          <a:p>
            <a:r>
              <a:rPr lang="en-US" dirty="0"/>
              <a:t>But in practice, simple features typically give the bulk of the performance</a:t>
            </a:r>
          </a:p>
          <a:p>
            <a:endParaRPr lang="en-US" dirty="0"/>
          </a:p>
          <a:p>
            <a:r>
              <a:rPr lang="en-US" dirty="0"/>
              <a:t>Let’s get concrete: how should we define features for text classification?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8832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Unigram Binary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7824"/>
            <a:ext cx="8229600" cy="52443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two example features: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 where</a:t>
            </a:r>
          </a:p>
          <a:p>
            <a:r>
              <a:rPr lang="en-US" dirty="0">
                <a:solidFill>
                  <a:srgbClr val="FFFFFF"/>
                </a:solidFill>
              </a:rPr>
              <a:t>we usually think in terms of feature templates</a:t>
            </a:r>
          </a:p>
          <a:p>
            <a:r>
              <a:rPr lang="en-US" dirty="0">
                <a:solidFill>
                  <a:srgbClr val="FFFFFF"/>
                </a:solidFill>
              </a:rPr>
              <a:t>unigram binary feature template:</a:t>
            </a:r>
          </a:p>
          <a:p>
            <a:endParaRPr lang="en-US" sz="2800" dirty="0">
              <a:solidFill>
                <a:srgbClr val="FFFFFF"/>
              </a:solidFill>
            </a:endParaRPr>
          </a:p>
          <a:p>
            <a:endParaRPr lang="en-US" sz="2800" dirty="0">
              <a:solidFill>
                <a:srgbClr val="FFFFFF"/>
              </a:solidFill>
            </a:endParaRPr>
          </a:p>
          <a:p>
            <a:r>
              <a:rPr lang="en-US" sz="2800" dirty="0">
                <a:solidFill>
                  <a:srgbClr val="FFFFFF"/>
                </a:solidFill>
              </a:rPr>
              <a:t>to create features, this feature template is instantiated for particular labels and words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1650692"/>
            <a:ext cx="6172200" cy="787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980" y="2712631"/>
            <a:ext cx="4216400" cy="3175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5711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Unigram Binary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7824"/>
            <a:ext cx="8229600" cy="52443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two example features: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 where</a:t>
            </a:r>
          </a:p>
          <a:p>
            <a:r>
              <a:rPr lang="en-US" dirty="0"/>
              <a:t>we usually think in terms of feature </a:t>
            </a:r>
            <a:r>
              <a:rPr lang="en-US" dirty="0">
                <a:solidFill>
                  <a:srgbClr val="288CD2"/>
                </a:solidFill>
              </a:rPr>
              <a:t>templates</a:t>
            </a:r>
          </a:p>
          <a:p>
            <a:r>
              <a:rPr lang="en-US" dirty="0">
                <a:solidFill>
                  <a:schemeClr val="bg1"/>
                </a:solidFill>
              </a:rPr>
              <a:t>unigram binary feature template: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to create features, this feature template is instantiated for particular labels and words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1650692"/>
            <a:ext cx="6172200" cy="787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980" y="2712631"/>
            <a:ext cx="4216400" cy="3175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2302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Unigram Binary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7824"/>
            <a:ext cx="8229600" cy="52443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two example features: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 where</a:t>
            </a:r>
          </a:p>
          <a:p>
            <a:r>
              <a:rPr lang="en-US" dirty="0"/>
              <a:t>we usually think in terms of feature </a:t>
            </a:r>
            <a:r>
              <a:rPr lang="en-US" dirty="0">
                <a:solidFill>
                  <a:srgbClr val="288CD2"/>
                </a:solidFill>
              </a:rPr>
              <a:t>templates</a:t>
            </a:r>
          </a:p>
          <a:p>
            <a:r>
              <a:rPr lang="en-US" dirty="0"/>
              <a:t>unigram binary feature template:</a:t>
            </a:r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to create features, this feature template is instantiated for particular labels and words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1650692"/>
            <a:ext cx="6172200" cy="787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980" y="2712631"/>
            <a:ext cx="4216400" cy="3175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53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0" y="4465594"/>
            <a:ext cx="5930900" cy="36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5812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Feature Count Cutoffs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problem: some features are extremely rare</a:t>
            </a:r>
          </a:p>
          <a:p>
            <a:r>
              <a:rPr lang="en-US" dirty="0"/>
              <a:t>solution: only keep features that appear at least </a:t>
            </a:r>
            <a:r>
              <a:rPr lang="en-US" i="1" dirty="0"/>
              <a:t>k</a:t>
            </a:r>
            <a:r>
              <a:rPr lang="en-US" dirty="0"/>
              <a:t> times in the training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417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Feature Count Cutoffs (Example)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training dataset with 2 examples:</a:t>
            </a:r>
          </a:p>
          <a:p>
            <a:pPr marL="457200" lvl="1" indent="0">
              <a:buNone/>
            </a:pPr>
            <a:r>
              <a:rPr lang="en-US" i="1" dirty="0"/>
              <a:t>great movie</a:t>
            </a:r>
            <a:r>
              <a:rPr lang="en-US" dirty="0"/>
              <a:t>			positive</a:t>
            </a:r>
          </a:p>
          <a:p>
            <a:pPr marL="457200" lvl="1" indent="0">
              <a:buNone/>
            </a:pPr>
            <a:r>
              <a:rPr lang="en-US" i="1" dirty="0"/>
              <a:t>not so great</a:t>
            </a:r>
            <a:r>
              <a:rPr lang="en-US" dirty="0"/>
              <a:t>			negative</a:t>
            </a:r>
          </a:p>
          <a:p>
            <a:r>
              <a:rPr lang="en-US" dirty="0"/>
              <a:t>and a single feature template: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429000"/>
            <a:ext cx="5930900" cy="36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247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Feature Count Cutoffs (Example)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training dataset with 2 examples:</a:t>
            </a:r>
          </a:p>
          <a:p>
            <a:pPr marL="457200" lvl="1" indent="0">
              <a:buNone/>
            </a:pPr>
            <a:r>
              <a:rPr lang="en-US" i="1" dirty="0"/>
              <a:t>great movie</a:t>
            </a:r>
            <a:r>
              <a:rPr lang="en-US" dirty="0"/>
              <a:t>			positive</a:t>
            </a:r>
          </a:p>
          <a:p>
            <a:pPr marL="457200" lvl="1" indent="0">
              <a:buNone/>
            </a:pPr>
            <a:r>
              <a:rPr lang="en-US" i="1" dirty="0"/>
              <a:t>not so great</a:t>
            </a:r>
            <a:r>
              <a:rPr lang="en-US" dirty="0"/>
              <a:t>			negative</a:t>
            </a:r>
          </a:p>
          <a:p>
            <a:r>
              <a:rPr lang="en-US" dirty="0"/>
              <a:t>and a single feature template:</a:t>
            </a:r>
          </a:p>
          <a:p>
            <a:endParaRPr lang="en-US" dirty="0"/>
          </a:p>
          <a:p>
            <a:r>
              <a:rPr lang="en-US" dirty="0"/>
              <a:t>what features would be in the model with a feature count cutoff of 2?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429000"/>
            <a:ext cx="5930900" cy="368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400F595E-F2C4-1347-A835-04ABB2284DD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0097"/>
          <a:stretch/>
        </p:blipFill>
        <p:spPr>
          <a:xfrm>
            <a:off x="2125980" y="6100317"/>
            <a:ext cx="6172200" cy="3929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C88EBD7A-166A-D64F-9C8E-2274353B1856}"/>
              </a:ext>
            </a:extLst>
          </p:cNvPr>
          <p:cNvSpPr txBox="1"/>
          <p:nvPr/>
        </p:nvSpPr>
        <p:spPr>
          <a:xfrm>
            <a:off x="1712340" y="5213400"/>
            <a:ext cx="57986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BC0000"/>
                </a:solidFill>
              </a:rPr>
              <a:t>To remind you, here’s an example of an </a:t>
            </a:r>
          </a:p>
          <a:p>
            <a:r>
              <a:rPr lang="en-US" sz="2400" b="1" dirty="0">
                <a:solidFill>
                  <a:srgbClr val="BC0000"/>
                </a:solidFill>
              </a:rPr>
              <a:t>instantiation of the feature template above:</a:t>
            </a:r>
            <a:endParaRPr lang="en-US" sz="1600" b="1" dirty="0">
              <a:solidFill>
                <a:srgbClr val="BC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EEFC672E-642F-AA42-ADA4-78AA39AD57D3}"/>
              </a:ext>
            </a:extLst>
          </p:cNvPr>
          <p:cNvSpPr txBox="1"/>
          <p:nvPr/>
        </p:nvSpPr>
        <p:spPr>
          <a:xfrm>
            <a:off x="5474208" y="4438512"/>
            <a:ext cx="769763" cy="523220"/>
          </a:xfrm>
          <a:prstGeom prst="rect">
            <a:avLst/>
          </a:prstGeom>
          <a:noFill/>
          <a:ln w="28575">
            <a:solidFill>
              <a:srgbClr val="BC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BC0000"/>
                </a:solidFill>
              </a:rPr>
              <a:t>2(a)</a:t>
            </a:r>
            <a:endParaRPr lang="en-US" b="1" dirty="0">
              <a:solidFill>
                <a:srgbClr val="BC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10478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Feature Count Cutoffs (Example)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training dataset with 2 examples:</a:t>
            </a:r>
          </a:p>
          <a:p>
            <a:pPr marL="457200" lvl="1" indent="0">
              <a:buNone/>
            </a:pPr>
            <a:r>
              <a:rPr lang="en-US" i="1" dirty="0"/>
              <a:t>great movie</a:t>
            </a:r>
            <a:r>
              <a:rPr lang="en-US" dirty="0"/>
              <a:t>			positive</a:t>
            </a:r>
          </a:p>
          <a:p>
            <a:pPr marL="457200" lvl="1" indent="0">
              <a:buNone/>
            </a:pPr>
            <a:r>
              <a:rPr lang="en-US" i="1" dirty="0"/>
              <a:t>not so great</a:t>
            </a:r>
            <a:r>
              <a:rPr lang="en-US" dirty="0"/>
              <a:t>			negative</a:t>
            </a:r>
          </a:p>
          <a:p>
            <a:r>
              <a:rPr lang="en-US" dirty="0"/>
              <a:t>and a single feature template:</a:t>
            </a:r>
          </a:p>
          <a:p>
            <a:endParaRPr lang="en-US" dirty="0"/>
          </a:p>
          <a:p>
            <a:r>
              <a:rPr lang="en-US" dirty="0"/>
              <a:t>what features would be in the model with a feature count cutoff of 2?</a:t>
            </a:r>
          </a:p>
          <a:p>
            <a:pPr lvl="1"/>
            <a:r>
              <a:rPr lang="en-US" dirty="0"/>
              <a:t>none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429000"/>
            <a:ext cx="5930900" cy="3683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5D29AAB7-F1B6-D845-A27E-0EF5CD7B1505}"/>
              </a:ext>
            </a:extLst>
          </p:cNvPr>
          <p:cNvSpPr txBox="1"/>
          <p:nvPr/>
        </p:nvSpPr>
        <p:spPr>
          <a:xfrm>
            <a:off x="5474208" y="4438512"/>
            <a:ext cx="769763" cy="523220"/>
          </a:xfrm>
          <a:prstGeom prst="rect">
            <a:avLst/>
          </a:prstGeom>
          <a:noFill/>
          <a:ln w="28575">
            <a:solidFill>
              <a:srgbClr val="BC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BC0000"/>
                </a:solidFill>
              </a:rPr>
              <a:t>2(a)</a:t>
            </a:r>
            <a:endParaRPr lang="en-US" b="1" dirty="0">
              <a:solidFill>
                <a:srgbClr val="BC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63318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Feature Count Cutoffs (Example)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training dataset with 2 examples:</a:t>
            </a:r>
          </a:p>
          <a:p>
            <a:pPr marL="457200" lvl="1" indent="0">
              <a:buNone/>
            </a:pPr>
            <a:r>
              <a:rPr lang="en-US" i="1" dirty="0"/>
              <a:t>great movie</a:t>
            </a:r>
            <a:r>
              <a:rPr lang="en-US" dirty="0"/>
              <a:t>			positive</a:t>
            </a:r>
          </a:p>
          <a:p>
            <a:pPr marL="457200" lvl="1" indent="0">
              <a:buNone/>
            </a:pPr>
            <a:r>
              <a:rPr lang="en-US" i="1" dirty="0"/>
              <a:t>not so great</a:t>
            </a:r>
            <a:r>
              <a:rPr lang="en-US" dirty="0"/>
              <a:t>			negative</a:t>
            </a:r>
          </a:p>
          <a:p>
            <a:r>
              <a:rPr lang="en-US" dirty="0"/>
              <a:t>and a single feature template:</a:t>
            </a:r>
          </a:p>
          <a:p>
            <a:endParaRPr lang="en-US" dirty="0"/>
          </a:p>
          <a:p>
            <a:r>
              <a:rPr lang="en-US" dirty="0"/>
              <a:t>what features would be in the model with a feature count cutoff of 1?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429000"/>
            <a:ext cx="5930900" cy="3683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326D61F-85DF-B54A-B830-5AE605183059}"/>
              </a:ext>
            </a:extLst>
          </p:cNvPr>
          <p:cNvSpPr txBox="1"/>
          <p:nvPr/>
        </p:nvSpPr>
        <p:spPr>
          <a:xfrm>
            <a:off x="5419344" y="4438512"/>
            <a:ext cx="784189" cy="523220"/>
          </a:xfrm>
          <a:prstGeom prst="rect">
            <a:avLst/>
          </a:prstGeom>
          <a:noFill/>
          <a:ln w="28575">
            <a:solidFill>
              <a:srgbClr val="BC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BC0000"/>
                </a:solidFill>
              </a:rPr>
              <a:t>2(b)</a:t>
            </a:r>
            <a:endParaRPr lang="en-US" b="1" dirty="0">
              <a:solidFill>
                <a:srgbClr val="BC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52792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628"/>
            <a:ext cx="8229600" cy="5052424"/>
          </a:xfrm>
        </p:spPr>
        <p:txBody>
          <a:bodyPr/>
          <a:lstStyle/>
          <a:p>
            <a:r>
              <a:rPr lang="en-US" dirty="0"/>
              <a:t>training dataset with 2 examples:</a:t>
            </a:r>
          </a:p>
          <a:p>
            <a:pPr marL="457200" lvl="1" indent="0">
              <a:buNone/>
            </a:pPr>
            <a:r>
              <a:rPr lang="en-US" i="1" dirty="0"/>
              <a:t>great movie</a:t>
            </a:r>
            <a:r>
              <a:rPr lang="en-US" dirty="0"/>
              <a:t>			positive</a:t>
            </a:r>
          </a:p>
          <a:p>
            <a:pPr marL="457200" lvl="1" indent="0">
              <a:buNone/>
            </a:pPr>
            <a:r>
              <a:rPr lang="en-US" i="1" dirty="0"/>
              <a:t>not so great</a:t>
            </a:r>
            <a:r>
              <a:rPr lang="en-US" dirty="0"/>
              <a:t>			negative</a:t>
            </a:r>
          </a:p>
          <a:p>
            <a:r>
              <a:rPr lang="en-US" dirty="0"/>
              <a:t>and a single feature template:</a:t>
            </a:r>
          </a:p>
          <a:p>
            <a:endParaRPr lang="en-US" dirty="0"/>
          </a:p>
          <a:p>
            <a:r>
              <a:rPr lang="en-US" dirty="0"/>
              <a:t>what features would be in the model with a feature count cutoff of 1?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532888"/>
            <a:ext cx="5930900" cy="368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67A1B2E2-8F71-7A44-A25B-05A4B291A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204" y="4193000"/>
            <a:ext cx="5988152" cy="20614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D34FBD6D-7039-0146-8A73-758DF7777BAA}"/>
              </a:ext>
            </a:extLst>
          </p:cNvPr>
          <p:cNvSpPr txBox="1"/>
          <p:nvPr/>
        </p:nvSpPr>
        <p:spPr>
          <a:xfrm>
            <a:off x="5401056" y="3542400"/>
            <a:ext cx="784189" cy="523220"/>
          </a:xfrm>
          <a:prstGeom prst="rect">
            <a:avLst/>
          </a:prstGeom>
          <a:noFill/>
          <a:ln w="28575">
            <a:solidFill>
              <a:srgbClr val="BC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BC0000"/>
                </a:solidFill>
              </a:rPr>
              <a:t>2(b)</a:t>
            </a:r>
            <a:endParaRPr lang="en-US" b="1" dirty="0">
              <a:solidFill>
                <a:srgbClr val="BC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53896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628"/>
            <a:ext cx="8229600" cy="5052424"/>
          </a:xfrm>
        </p:spPr>
        <p:txBody>
          <a:bodyPr/>
          <a:lstStyle/>
          <a:p>
            <a:r>
              <a:rPr lang="en-US" dirty="0"/>
              <a:t>training dataset with 2 examples:</a:t>
            </a:r>
          </a:p>
          <a:p>
            <a:pPr marL="457200" lvl="1" indent="0">
              <a:buNone/>
            </a:pPr>
            <a:r>
              <a:rPr lang="en-US" i="1" dirty="0"/>
              <a:t>great movie</a:t>
            </a:r>
            <a:r>
              <a:rPr lang="en-US" dirty="0"/>
              <a:t>			positive</a:t>
            </a:r>
          </a:p>
          <a:p>
            <a:pPr marL="457200" lvl="1" indent="0">
              <a:buNone/>
            </a:pPr>
            <a:r>
              <a:rPr lang="en-US" i="1" dirty="0"/>
              <a:t>not so great</a:t>
            </a:r>
            <a:r>
              <a:rPr lang="en-US" dirty="0"/>
              <a:t>			negative</a:t>
            </a:r>
          </a:p>
          <a:p>
            <a:r>
              <a:rPr lang="en-US" dirty="0"/>
              <a:t>and a single feature template:</a:t>
            </a:r>
          </a:p>
          <a:p>
            <a:endParaRPr lang="en-US" dirty="0"/>
          </a:p>
          <a:p>
            <a:r>
              <a:rPr lang="en-US" dirty="0"/>
              <a:t>what additional features would be in the model with a feature count cutoff of 0?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532888"/>
            <a:ext cx="5930900" cy="3683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E8AECB52-69DA-2B4F-8B1E-FD11FD855A2D}"/>
              </a:ext>
            </a:extLst>
          </p:cNvPr>
          <p:cNvSpPr txBox="1"/>
          <p:nvPr/>
        </p:nvSpPr>
        <p:spPr>
          <a:xfrm>
            <a:off x="7760208" y="3485742"/>
            <a:ext cx="742511" cy="523220"/>
          </a:xfrm>
          <a:prstGeom prst="rect">
            <a:avLst/>
          </a:prstGeom>
          <a:noFill/>
          <a:ln w="28575">
            <a:solidFill>
              <a:srgbClr val="BC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BC0000"/>
                </a:solidFill>
              </a:rPr>
              <a:t>2(c)</a:t>
            </a:r>
            <a:endParaRPr lang="en-US" b="1" dirty="0">
              <a:solidFill>
                <a:srgbClr val="BC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19133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628"/>
            <a:ext cx="8229600" cy="5052424"/>
          </a:xfrm>
        </p:spPr>
        <p:txBody>
          <a:bodyPr/>
          <a:lstStyle/>
          <a:p>
            <a:r>
              <a:rPr lang="en-US" dirty="0"/>
              <a:t>training dataset with 2 examples:</a:t>
            </a:r>
          </a:p>
          <a:p>
            <a:pPr marL="457200" lvl="1" indent="0">
              <a:buNone/>
            </a:pPr>
            <a:r>
              <a:rPr lang="en-US" i="1" dirty="0"/>
              <a:t>great movie</a:t>
            </a:r>
            <a:r>
              <a:rPr lang="en-US" dirty="0"/>
              <a:t>			positive</a:t>
            </a:r>
          </a:p>
          <a:p>
            <a:pPr marL="457200" lvl="1" indent="0">
              <a:buNone/>
            </a:pPr>
            <a:r>
              <a:rPr lang="en-US" i="1" dirty="0"/>
              <a:t>not so great</a:t>
            </a:r>
            <a:r>
              <a:rPr lang="en-US" dirty="0"/>
              <a:t>			negative</a:t>
            </a:r>
          </a:p>
          <a:p>
            <a:r>
              <a:rPr lang="en-US" dirty="0"/>
              <a:t>and a single feature template:</a:t>
            </a:r>
          </a:p>
          <a:p>
            <a:endParaRPr lang="en-US" dirty="0"/>
          </a:p>
          <a:p>
            <a:r>
              <a:rPr lang="en-US" dirty="0"/>
              <a:t>what additional features would be in the model with a feature count cutoff of 0?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532888"/>
            <a:ext cx="5930900" cy="3683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D63DE9D4-157D-764B-A628-A0C3D4FE3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4361688"/>
            <a:ext cx="6296660" cy="12252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8A90F67-7A65-3F46-BB23-0D48BB1DD9F9}"/>
              </a:ext>
            </a:extLst>
          </p:cNvPr>
          <p:cNvSpPr txBox="1"/>
          <p:nvPr/>
        </p:nvSpPr>
        <p:spPr>
          <a:xfrm>
            <a:off x="7760208" y="3485742"/>
            <a:ext cx="742511" cy="523220"/>
          </a:xfrm>
          <a:prstGeom prst="rect">
            <a:avLst/>
          </a:prstGeom>
          <a:noFill/>
          <a:ln w="28575">
            <a:solidFill>
              <a:srgbClr val="BC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BC0000"/>
                </a:solidFill>
              </a:rPr>
              <a:t>2(c)</a:t>
            </a:r>
            <a:endParaRPr lang="en-US" b="1" dirty="0">
              <a:solidFill>
                <a:srgbClr val="BC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39517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34231"/>
            <a:ext cx="8229600" cy="505242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unigram binary template: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bigram binary template: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trigram binary template:</a:t>
            </a:r>
          </a:p>
          <a:p>
            <a:pPr marL="0" indent="0">
              <a:buNone/>
            </a:pPr>
            <a:r>
              <a:rPr lang="en-US" dirty="0"/>
              <a:t>      …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62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100" y="1778000"/>
            <a:ext cx="5930900" cy="3683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2895600"/>
            <a:ext cx="7226300" cy="368300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/>
              <a:t>Higher-Order Binary Feature Templates</a:t>
            </a:r>
          </a:p>
        </p:txBody>
      </p:sp>
    </p:spTree>
    <p:extLst>
      <p:ext uri="{BB962C8B-B14F-4D97-AF65-F5344CB8AC3E}">
        <p14:creationId xmlns:p14="http://schemas.microsoft.com/office/powerpoint/2010/main" val="32512064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Unigram </a:t>
            </a:r>
            <a:r>
              <a:rPr lang="en-US" sz="3600" b="1" dirty="0">
                <a:solidFill>
                  <a:srgbClr val="000000"/>
                </a:solidFill>
              </a:rPr>
              <a:t>Count </a:t>
            </a:r>
            <a:r>
              <a:rPr lang="en-US" sz="3600" dirty="0"/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9631"/>
            <a:ext cx="8229600" cy="5052424"/>
          </a:xfrm>
        </p:spPr>
        <p:txBody>
          <a:bodyPr/>
          <a:lstStyle/>
          <a:p>
            <a:r>
              <a:rPr lang="en-US" dirty="0"/>
              <a:t>a “count” feature returns the count of a particular word in the text</a:t>
            </a:r>
          </a:p>
          <a:p>
            <a:r>
              <a:rPr lang="en-US" dirty="0"/>
              <a:t>unigram count feature template: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63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100" y="2971800"/>
            <a:ext cx="6515100" cy="92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9252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Feature Engineering for Text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5731"/>
            <a:ext cx="8229600" cy="5052424"/>
          </a:xfrm>
        </p:spPr>
        <p:txBody>
          <a:bodyPr/>
          <a:lstStyle/>
          <a:p>
            <a:r>
              <a:rPr lang="en-US" dirty="0"/>
              <a:t>Two features: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 where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>
                <a:solidFill>
                  <a:schemeClr val="bg1"/>
                </a:solidFill>
              </a:rPr>
              <a:t>What should the weights be?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2417498"/>
            <a:ext cx="6172200" cy="787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980" y="3555637"/>
            <a:ext cx="4216400" cy="3175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64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A47AB854-6824-E341-892D-7EA916283A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3004" y="1051129"/>
            <a:ext cx="5763320" cy="67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9236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Feature Engineering for Text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5731"/>
            <a:ext cx="8229600" cy="5052424"/>
          </a:xfrm>
        </p:spPr>
        <p:txBody>
          <a:bodyPr/>
          <a:lstStyle/>
          <a:p>
            <a:r>
              <a:rPr lang="en-US" dirty="0"/>
              <a:t>Two features: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 where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What do you expect the weights to be?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2417498"/>
            <a:ext cx="6172200" cy="787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980" y="3555637"/>
            <a:ext cx="4216400" cy="3175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65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020A300B-0430-B84D-A587-025D1D65D3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3004" y="1051129"/>
            <a:ext cx="5763320" cy="676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8D2A0F5C-F7B4-794E-9F19-C97AFC31A3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9363" y="5604256"/>
            <a:ext cx="5844555" cy="3463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4427536D-38F7-454D-AE47-8955933F61AA}"/>
              </a:ext>
            </a:extLst>
          </p:cNvPr>
          <p:cNvSpPr txBox="1"/>
          <p:nvPr/>
        </p:nvSpPr>
        <p:spPr>
          <a:xfrm>
            <a:off x="7741920" y="4583022"/>
            <a:ext cx="367408" cy="523220"/>
          </a:xfrm>
          <a:prstGeom prst="rect">
            <a:avLst/>
          </a:prstGeom>
          <a:noFill/>
          <a:ln w="28575">
            <a:solidFill>
              <a:srgbClr val="BC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BC0000"/>
                </a:solidFill>
              </a:rPr>
              <a:t>3</a:t>
            </a:r>
            <a:endParaRPr lang="en-US" b="1" dirty="0">
              <a:solidFill>
                <a:srgbClr val="BC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86789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Feature Engineering for Text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5731"/>
            <a:ext cx="8229600" cy="5052424"/>
          </a:xfrm>
        </p:spPr>
        <p:txBody>
          <a:bodyPr/>
          <a:lstStyle/>
          <a:p>
            <a:r>
              <a:rPr lang="en-US" dirty="0"/>
              <a:t>Two features: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 where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What do you expect the weights to be?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2417498"/>
            <a:ext cx="6172200" cy="787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980" y="3555637"/>
            <a:ext cx="4216400" cy="3175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66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020A300B-0430-B84D-A587-025D1D65D3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3004" y="1051129"/>
            <a:ext cx="5763320" cy="676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8D2A0F5C-F7B4-794E-9F19-C97AFC31A3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9363" y="5604256"/>
            <a:ext cx="5844555" cy="3463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4427536D-38F7-454D-AE47-8955933F61AA}"/>
              </a:ext>
            </a:extLst>
          </p:cNvPr>
          <p:cNvSpPr txBox="1"/>
          <p:nvPr/>
        </p:nvSpPr>
        <p:spPr>
          <a:xfrm>
            <a:off x="7741920" y="4583022"/>
            <a:ext cx="367408" cy="523220"/>
          </a:xfrm>
          <a:prstGeom prst="rect">
            <a:avLst/>
          </a:prstGeom>
          <a:noFill/>
          <a:ln w="28575">
            <a:solidFill>
              <a:srgbClr val="BC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BC0000"/>
                </a:solidFill>
              </a:rPr>
              <a:t>3</a:t>
            </a:r>
            <a:endParaRPr lang="en-US" b="1" dirty="0">
              <a:solidFill>
                <a:srgbClr val="BC0000"/>
              </a:solidFill>
            </a:endParaRPr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xmlns="" id="{214EC35A-704A-5240-910D-E65976D6DE21}"/>
              </a:ext>
            </a:extLst>
          </p:cNvPr>
          <p:cNvSpPr/>
          <p:nvPr/>
        </p:nvSpPr>
        <p:spPr>
          <a:xfrm>
            <a:off x="1344168" y="5422392"/>
            <a:ext cx="2359152" cy="786384"/>
          </a:xfrm>
          <a:prstGeom prst="frame">
            <a:avLst>
              <a:gd name="adj1" fmla="val 4360"/>
            </a:avLst>
          </a:prstGeom>
          <a:solidFill>
            <a:schemeClr val="accent2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06308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Feature Engineering for Text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features: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Let’s say we set</a:t>
            </a:r>
          </a:p>
          <a:p>
            <a:r>
              <a:rPr lang="en-US" dirty="0"/>
              <a:t>On sentences containing “</a:t>
            </a:r>
            <a:r>
              <a:rPr lang="en-US" b="1" i="1" dirty="0"/>
              <a:t>great</a:t>
            </a:r>
            <a:r>
              <a:rPr lang="en-US" i="1" dirty="0"/>
              <a:t>” </a:t>
            </a:r>
            <a:r>
              <a:rPr lang="en-US" dirty="0"/>
              <a:t>in the Stanford Sentiment Treebank training data, this would get us an accuracy of 69%</a:t>
            </a:r>
          </a:p>
          <a:p>
            <a:r>
              <a:rPr lang="en-US" dirty="0"/>
              <a:t>But “</a:t>
            </a:r>
            <a:r>
              <a:rPr lang="en-US" b="1" i="1" dirty="0"/>
              <a:t>great</a:t>
            </a:r>
            <a:r>
              <a:rPr lang="en-US" dirty="0"/>
              <a:t>’’ only appears in 83/6911 examples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1851185"/>
            <a:ext cx="6172200" cy="7874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36CC47F1-FDBB-0F45-A948-388CC602C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7816" y="3061524"/>
            <a:ext cx="1439672" cy="269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7068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Feature Engineering for Text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features: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Let’s say we set</a:t>
            </a:r>
          </a:p>
          <a:p>
            <a:r>
              <a:rPr lang="en-US" dirty="0"/>
              <a:t>On sentences containing “</a:t>
            </a:r>
            <a:r>
              <a:rPr lang="en-US" b="1" i="1" dirty="0"/>
              <a:t>great</a:t>
            </a:r>
            <a:r>
              <a:rPr lang="en-US" i="1" dirty="0"/>
              <a:t>” </a:t>
            </a:r>
            <a:r>
              <a:rPr lang="en-US" dirty="0"/>
              <a:t>in the Stanford Sentiment Treebank training data, this would get us an accuracy of 69%</a:t>
            </a:r>
          </a:p>
          <a:p>
            <a:r>
              <a:rPr lang="en-US" dirty="0"/>
              <a:t>But “</a:t>
            </a:r>
            <a:r>
              <a:rPr lang="en-US" b="1" i="1" dirty="0"/>
              <a:t>great</a:t>
            </a:r>
            <a:r>
              <a:rPr lang="en-US" dirty="0"/>
              <a:t>’’ only appears in 83/6911 examples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1851185"/>
            <a:ext cx="6172200" cy="7874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68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22739" y="5627320"/>
            <a:ext cx="8129954" cy="729030"/>
          </a:xfrm>
          <a:prstGeom prst="rect">
            <a:avLst/>
          </a:prstGeom>
          <a:solidFill>
            <a:schemeClr val="bg1"/>
          </a:solidFill>
          <a:ln w="28575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91440" bIns="91440" rtlCol="0" anchor="ctr"/>
          <a:lstStyle/>
          <a:p>
            <a:pPr marL="0" lvl="1"/>
            <a:r>
              <a:rPr lang="en-US" sz="2400" b="1" u="sng" dirty="0">
                <a:solidFill>
                  <a:srgbClr val="000000"/>
                </a:solidFill>
                <a:uFill>
                  <a:solidFill>
                    <a:srgbClr val="FF0000"/>
                  </a:solidFill>
                </a:uFill>
              </a:rPr>
              <a:t>variability</a:t>
            </a:r>
            <a:r>
              <a:rPr lang="en-US" sz="2400" dirty="0">
                <a:solidFill>
                  <a:srgbClr val="000000"/>
                </a:solidFill>
              </a:rPr>
              <a:t>: many other words can indicate positive sentiment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538" y="232153"/>
            <a:ext cx="8811847" cy="3183389"/>
          </a:xfrm>
          <a:prstGeom prst="rect">
            <a:avLst/>
          </a:prstGeom>
          <a:solidFill>
            <a:schemeClr val="bg1">
              <a:alpha val="71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22739" y="2678324"/>
            <a:ext cx="7074172" cy="698585"/>
          </a:xfrm>
          <a:prstGeom prst="rect">
            <a:avLst/>
          </a:prstGeom>
          <a:solidFill>
            <a:schemeClr val="bg1"/>
          </a:solidFill>
          <a:ln w="28575" cmpd="sng">
            <a:solidFill>
              <a:srgbClr val="288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91440" bIns="91440" rtlCol="0" anchor="ctr"/>
          <a:lstStyle/>
          <a:p>
            <a:pPr marL="0" lvl="1"/>
            <a:r>
              <a:rPr lang="en-US" sz="2400" b="1" u="sng" dirty="0">
                <a:solidFill>
                  <a:srgbClr val="000000"/>
                </a:solidFill>
                <a:uFill>
                  <a:solidFill>
                    <a:srgbClr val="288CD2"/>
                  </a:solidFill>
                </a:uFill>
              </a:rPr>
              <a:t>ambiguity</a:t>
            </a:r>
            <a:r>
              <a:rPr lang="en-US" sz="2400" dirty="0">
                <a:solidFill>
                  <a:srgbClr val="000000"/>
                </a:solidFill>
              </a:rPr>
              <a:t>: “</a:t>
            </a:r>
            <a:r>
              <a:rPr lang="en-US" sz="2400" b="1" i="1" dirty="0">
                <a:solidFill>
                  <a:srgbClr val="000000"/>
                </a:solidFill>
              </a:rPr>
              <a:t>great</a:t>
            </a:r>
            <a:r>
              <a:rPr lang="en-US" sz="2400" dirty="0">
                <a:solidFill>
                  <a:srgbClr val="000000"/>
                </a:solidFill>
              </a:rPr>
              <a:t>” may not mean positive sentiment</a:t>
            </a:r>
          </a:p>
        </p:txBody>
      </p:sp>
    </p:spTree>
    <p:extLst>
      <p:ext uri="{BB962C8B-B14F-4D97-AF65-F5344CB8AC3E}">
        <p14:creationId xmlns:p14="http://schemas.microsoft.com/office/powerpoint/2010/main" val="21868130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61462"/>
            <a:ext cx="8229600" cy="5994888"/>
          </a:xfrm>
        </p:spPr>
        <p:txBody>
          <a:bodyPr>
            <a:normAutofit/>
          </a:bodyPr>
          <a:lstStyle/>
          <a:p>
            <a:r>
              <a:rPr lang="en-US" sz="2800" dirty="0"/>
              <a:t>Usually, </a:t>
            </a:r>
            <a:r>
              <a:rPr lang="en-US" sz="2800" b="1" i="1" dirty="0"/>
              <a:t>great </a:t>
            </a:r>
            <a:r>
              <a:rPr lang="en-US" sz="2800" dirty="0"/>
              <a:t>indicates positive sentiment:</a:t>
            </a:r>
          </a:p>
          <a:p>
            <a:pPr marL="457200" lvl="1" indent="0">
              <a:buNone/>
            </a:pPr>
            <a:r>
              <a:rPr lang="en-US" sz="2400" i="1" dirty="0"/>
              <a:t>The most wondrous love story in years, it is a </a:t>
            </a:r>
            <a:r>
              <a:rPr lang="en-US" sz="2400" b="1" i="1" dirty="0"/>
              <a:t>great</a:t>
            </a:r>
            <a:r>
              <a:rPr lang="en-US" sz="2400" i="1" dirty="0"/>
              <a:t> film.</a:t>
            </a:r>
          </a:p>
          <a:p>
            <a:pPr marL="457200" lvl="1" indent="0">
              <a:buNone/>
            </a:pPr>
            <a:r>
              <a:rPr lang="en-US" sz="2400" i="1" dirty="0"/>
              <a:t>A </a:t>
            </a:r>
            <a:r>
              <a:rPr lang="en-US" sz="2400" b="1" i="1" dirty="0"/>
              <a:t>great</a:t>
            </a:r>
            <a:r>
              <a:rPr lang="en-US" sz="2400" i="1" dirty="0"/>
              <a:t> companion piece to other Napoleon films .</a:t>
            </a:r>
          </a:p>
          <a:p>
            <a:endParaRPr lang="en-US" sz="2800" dirty="0"/>
          </a:p>
          <a:p>
            <a:pPr marL="457200" lvl="1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Negation: </a:t>
            </a:r>
            <a:r>
              <a:rPr lang="en-US" sz="2400" i="1" dirty="0">
                <a:solidFill>
                  <a:srgbClr val="FFFFFF"/>
                </a:solidFill>
              </a:rPr>
              <a:t>It's not a </a:t>
            </a:r>
            <a:r>
              <a:rPr lang="en-US" sz="2400" b="1" i="1" dirty="0">
                <a:solidFill>
                  <a:srgbClr val="FFFFFF"/>
                </a:solidFill>
              </a:rPr>
              <a:t>great</a:t>
            </a:r>
            <a:r>
              <a:rPr lang="en-US" sz="2400" i="1" dirty="0">
                <a:solidFill>
                  <a:srgbClr val="FFFFFF"/>
                </a:solidFill>
              </a:rPr>
              <a:t> monster movie .</a:t>
            </a:r>
          </a:p>
          <a:p>
            <a:pPr marL="457200" lvl="1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Different sense: </a:t>
            </a:r>
            <a:r>
              <a:rPr lang="en-US" sz="2400" i="1" dirty="0">
                <a:solidFill>
                  <a:srgbClr val="FFFFFF"/>
                </a:solidFill>
              </a:rPr>
              <a:t>There's a </a:t>
            </a:r>
            <a:r>
              <a:rPr lang="en-US" sz="2400" b="1" i="1" dirty="0">
                <a:solidFill>
                  <a:srgbClr val="FFFFFF"/>
                </a:solidFill>
              </a:rPr>
              <a:t>great </a:t>
            </a:r>
            <a:r>
              <a:rPr lang="en-US" sz="2400" i="1" dirty="0">
                <a:solidFill>
                  <a:srgbClr val="FFFFFF"/>
                </a:solidFill>
              </a:rPr>
              <a:t>deal of corny dialogue and preposterous moments .</a:t>
            </a:r>
          </a:p>
          <a:p>
            <a:pPr marL="457200" lvl="1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Multiple sentiments:</a:t>
            </a:r>
            <a:r>
              <a:rPr lang="en-US" sz="2400" i="1" dirty="0">
                <a:solidFill>
                  <a:srgbClr val="FFFFFF"/>
                </a:solidFill>
              </a:rPr>
              <a:t> A </a:t>
            </a:r>
            <a:r>
              <a:rPr lang="en-US" sz="2400" b="1" i="1" dirty="0">
                <a:solidFill>
                  <a:srgbClr val="FFFFFF"/>
                </a:solidFill>
              </a:rPr>
              <a:t>great</a:t>
            </a:r>
            <a:r>
              <a:rPr lang="en-US" sz="2400" i="1" dirty="0">
                <a:solidFill>
                  <a:srgbClr val="FFFFFF"/>
                </a:solidFill>
              </a:rPr>
              <a:t> ensemble cast can't lift this heartfelt enterprise out of the familiar.</a:t>
            </a:r>
          </a:p>
          <a:p>
            <a:endParaRPr lang="en-US" sz="2800" dirty="0">
              <a:solidFill>
                <a:srgbClr val="FFFFFF"/>
              </a:solidFill>
            </a:endParaRPr>
          </a:p>
          <a:p>
            <a:r>
              <a:rPr lang="en-US" sz="2800" dirty="0">
                <a:solidFill>
                  <a:srgbClr val="FFFFFF"/>
                </a:solidFill>
              </a:rPr>
              <a:t>And there are many other words that indicate positive sentiment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6980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61462"/>
            <a:ext cx="8229600" cy="5994888"/>
          </a:xfrm>
        </p:spPr>
        <p:txBody>
          <a:bodyPr>
            <a:normAutofit/>
          </a:bodyPr>
          <a:lstStyle/>
          <a:p>
            <a:r>
              <a:rPr lang="en-US" sz="2800" dirty="0"/>
              <a:t>Usually, </a:t>
            </a:r>
            <a:r>
              <a:rPr lang="en-US" sz="2800" b="1" i="1" dirty="0"/>
              <a:t>great </a:t>
            </a:r>
            <a:r>
              <a:rPr lang="en-US" sz="2800" dirty="0"/>
              <a:t>indicates positive sentiment:</a:t>
            </a:r>
          </a:p>
          <a:p>
            <a:pPr marL="457200" lvl="1" indent="0">
              <a:buNone/>
            </a:pPr>
            <a:r>
              <a:rPr lang="en-US" sz="2400" i="1" dirty="0"/>
              <a:t>The most wondrous love story in years, it is a </a:t>
            </a:r>
            <a:r>
              <a:rPr lang="en-US" sz="2400" b="1" i="1" dirty="0"/>
              <a:t>great</a:t>
            </a:r>
            <a:r>
              <a:rPr lang="en-US" sz="2400" i="1" dirty="0"/>
              <a:t> film.</a:t>
            </a:r>
          </a:p>
          <a:p>
            <a:pPr marL="457200" lvl="1" indent="0">
              <a:buNone/>
            </a:pPr>
            <a:r>
              <a:rPr lang="en-US" sz="2400" i="1" dirty="0"/>
              <a:t>A </a:t>
            </a:r>
            <a:r>
              <a:rPr lang="en-US" sz="2400" b="1" i="1" dirty="0"/>
              <a:t>great</a:t>
            </a:r>
            <a:r>
              <a:rPr lang="en-US" sz="2400" i="1" dirty="0"/>
              <a:t> companion piece to other Napoleon films .</a:t>
            </a:r>
          </a:p>
          <a:p>
            <a:endParaRPr lang="en-US" sz="2800" dirty="0"/>
          </a:p>
          <a:p>
            <a:r>
              <a:rPr lang="en-US" sz="2800" dirty="0"/>
              <a:t>Sometimes not. Why? List 3 reasons. </a:t>
            </a:r>
          </a:p>
          <a:p>
            <a:pPr marL="457200" lvl="1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Negation: </a:t>
            </a:r>
            <a:r>
              <a:rPr lang="en-US" sz="2400" i="1" dirty="0">
                <a:solidFill>
                  <a:srgbClr val="FFFFFF"/>
                </a:solidFill>
              </a:rPr>
              <a:t>It's not a </a:t>
            </a:r>
            <a:r>
              <a:rPr lang="en-US" sz="2400" b="1" i="1" dirty="0">
                <a:solidFill>
                  <a:srgbClr val="FFFFFF"/>
                </a:solidFill>
              </a:rPr>
              <a:t>great</a:t>
            </a:r>
            <a:r>
              <a:rPr lang="en-US" sz="2400" i="1" dirty="0">
                <a:solidFill>
                  <a:srgbClr val="FFFFFF"/>
                </a:solidFill>
              </a:rPr>
              <a:t> monster movie .</a:t>
            </a:r>
          </a:p>
          <a:p>
            <a:pPr marL="457200" lvl="1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Different sense: </a:t>
            </a:r>
            <a:r>
              <a:rPr lang="en-US" sz="2400" i="1" dirty="0">
                <a:solidFill>
                  <a:srgbClr val="FFFFFF"/>
                </a:solidFill>
              </a:rPr>
              <a:t>There's a </a:t>
            </a:r>
            <a:r>
              <a:rPr lang="en-US" sz="2400" b="1" i="1" dirty="0">
                <a:solidFill>
                  <a:srgbClr val="FFFFFF"/>
                </a:solidFill>
              </a:rPr>
              <a:t>great </a:t>
            </a:r>
            <a:r>
              <a:rPr lang="en-US" sz="2400" i="1" dirty="0">
                <a:solidFill>
                  <a:srgbClr val="FFFFFF"/>
                </a:solidFill>
              </a:rPr>
              <a:t>deal of corny dialogue and preposterous moments .</a:t>
            </a:r>
          </a:p>
          <a:p>
            <a:pPr marL="457200" lvl="1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Multiple sentiments:</a:t>
            </a:r>
            <a:r>
              <a:rPr lang="en-US" sz="2400" i="1" dirty="0">
                <a:solidFill>
                  <a:srgbClr val="FFFFFF"/>
                </a:solidFill>
              </a:rPr>
              <a:t> A </a:t>
            </a:r>
            <a:r>
              <a:rPr lang="en-US" sz="2400" b="1" i="1" dirty="0">
                <a:solidFill>
                  <a:srgbClr val="FFFFFF"/>
                </a:solidFill>
              </a:rPr>
              <a:t>great</a:t>
            </a:r>
            <a:r>
              <a:rPr lang="en-US" sz="2400" i="1" dirty="0">
                <a:solidFill>
                  <a:srgbClr val="FFFFFF"/>
                </a:solidFill>
              </a:rPr>
              <a:t> ensemble cast can't lift this heartfelt enterprise out of the familiar.</a:t>
            </a:r>
          </a:p>
          <a:p>
            <a:endParaRPr lang="en-US" sz="2800" dirty="0">
              <a:solidFill>
                <a:srgbClr val="FFFFFF"/>
              </a:solidFill>
            </a:endParaRPr>
          </a:p>
          <a:p>
            <a:r>
              <a:rPr lang="en-US" sz="2800" dirty="0">
                <a:solidFill>
                  <a:srgbClr val="FFFFFF"/>
                </a:solidFill>
              </a:rPr>
              <a:t>And there are many other words that indicate positive sentiment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81E092B-072E-7641-A73C-044BB1EC5914}"/>
              </a:ext>
            </a:extLst>
          </p:cNvPr>
          <p:cNvSpPr txBox="1"/>
          <p:nvPr/>
        </p:nvSpPr>
        <p:spPr>
          <a:xfrm>
            <a:off x="6681216" y="2306166"/>
            <a:ext cx="367408" cy="523220"/>
          </a:xfrm>
          <a:prstGeom prst="rect">
            <a:avLst/>
          </a:prstGeom>
          <a:noFill/>
          <a:ln w="28575">
            <a:solidFill>
              <a:srgbClr val="BC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BC0000"/>
                </a:solidFill>
              </a:rPr>
              <a:t>4</a:t>
            </a:r>
            <a:endParaRPr lang="en-US" b="1" dirty="0">
              <a:solidFill>
                <a:srgbClr val="BC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44931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61462"/>
            <a:ext cx="8229600" cy="5994888"/>
          </a:xfrm>
        </p:spPr>
        <p:txBody>
          <a:bodyPr>
            <a:normAutofit/>
          </a:bodyPr>
          <a:lstStyle/>
          <a:p>
            <a:r>
              <a:rPr lang="en-US" sz="2800" dirty="0"/>
              <a:t>Usually, </a:t>
            </a:r>
            <a:r>
              <a:rPr lang="en-US" sz="2800" b="1" i="1" dirty="0"/>
              <a:t>great </a:t>
            </a:r>
            <a:r>
              <a:rPr lang="en-US" sz="2800" dirty="0"/>
              <a:t>indicates positive sentiment:</a:t>
            </a:r>
          </a:p>
          <a:p>
            <a:pPr marL="457200" lvl="1" indent="0">
              <a:buNone/>
            </a:pPr>
            <a:r>
              <a:rPr lang="en-US" sz="2400" i="1" dirty="0"/>
              <a:t>The most wondrous love story in years, it is a </a:t>
            </a:r>
            <a:r>
              <a:rPr lang="en-US" sz="2400" b="1" i="1" dirty="0"/>
              <a:t>great</a:t>
            </a:r>
            <a:r>
              <a:rPr lang="en-US" sz="2400" i="1" dirty="0"/>
              <a:t> film.</a:t>
            </a:r>
          </a:p>
          <a:p>
            <a:pPr marL="457200" lvl="1" indent="0">
              <a:buNone/>
            </a:pPr>
            <a:r>
              <a:rPr lang="en-US" sz="2400" i="1" dirty="0"/>
              <a:t>A </a:t>
            </a:r>
            <a:r>
              <a:rPr lang="en-US" sz="2400" b="1" i="1" dirty="0"/>
              <a:t>great</a:t>
            </a:r>
            <a:r>
              <a:rPr lang="en-US" sz="2400" i="1" dirty="0"/>
              <a:t> companion piece to other Napoleon films .</a:t>
            </a:r>
          </a:p>
          <a:p>
            <a:endParaRPr lang="en-US" sz="2800" dirty="0"/>
          </a:p>
          <a:p>
            <a:r>
              <a:rPr lang="en-US" sz="2800" dirty="0"/>
              <a:t>Sometimes not. Why? List 3 reasons.</a:t>
            </a:r>
          </a:p>
          <a:p>
            <a:pPr marL="457200" lvl="1" indent="0">
              <a:buNone/>
            </a:pPr>
            <a:r>
              <a:rPr lang="en-US" sz="2400" b="1" dirty="0">
                <a:solidFill>
                  <a:srgbClr val="288CD2"/>
                </a:solidFill>
              </a:rPr>
              <a:t>Negation</a:t>
            </a:r>
            <a:r>
              <a:rPr lang="en-US" sz="2400" b="1" dirty="0"/>
              <a:t>: </a:t>
            </a:r>
            <a:r>
              <a:rPr lang="en-US" sz="2400" i="1" dirty="0"/>
              <a:t>It's not a </a:t>
            </a:r>
            <a:r>
              <a:rPr lang="en-US" sz="2400" b="1" i="1" dirty="0"/>
              <a:t>great</a:t>
            </a:r>
            <a:r>
              <a:rPr lang="en-US" sz="2400" i="1" dirty="0"/>
              <a:t> monster movie .</a:t>
            </a:r>
          </a:p>
          <a:p>
            <a:pPr marL="457200" lvl="1" indent="0">
              <a:buNone/>
            </a:pPr>
            <a:r>
              <a:rPr lang="en-US" sz="2400" b="1" dirty="0">
                <a:solidFill>
                  <a:srgbClr val="288CD2"/>
                </a:solidFill>
              </a:rPr>
              <a:t>Different sense</a:t>
            </a:r>
            <a:r>
              <a:rPr lang="en-US" sz="2400" b="1" dirty="0"/>
              <a:t>: </a:t>
            </a:r>
            <a:r>
              <a:rPr lang="en-US" sz="2400" i="1" dirty="0"/>
              <a:t>There's a </a:t>
            </a:r>
            <a:r>
              <a:rPr lang="en-US" sz="2400" b="1" i="1" dirty="0"/>
              <a:t>great </a:t>
            </a:r>
            <a:r>
              <a:rPr lang="en-US" sz="2400" i="1" dirty="0"/>
              <a:t>deal of corny dialogue and preposterous moments .</a:t>
            </a:r>
          </a:p>
          <a:p>
            <a:pPr marL="457200" lvl="1" indent="0">
              <a:buNone/>
            </a:pPr>
            <a:r>
              <a:rPr lang="en-US" sz="2400" b="1" dirty="0">
                <a:solidFill>
                  <a:srgbClr val="288CD2"/>
                </a:solidFill>
              </a:rPr>
              <a:t>Multiple sentiments</a:t>
            </a:r>
            <a:r>
              <a:rPr lang="en-US" sz="2400" b="1" dirty="0"/>
              <a:t>:</a:t>
            </a:r>
            <a:r>
              <a:rPr lang="en-US" sz="2400" i="1" dirty="0"/>
              <a:t> A </a:t>
            </a:r>
            <a:r>
              <a:rPr lang="en-US" sz="2400" b="1" i="1" dirty="0"/>
              <a:t>great</a:t>
            </a:r>
            <a:r>
              <a:rPr lang="en-US" sz="2400" i="1" dirty="0"/>
              <a:t> ensemble cast can't lift this heartfelt enterprise out of the familiar.</a:t>
            </a:r>
          </a:p>
          <a:p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6FB977F-E257-9841-B004-E74794DDBCDA}"/>
              </a:ext>
            </a:extLst>
          </p:cNvPr>
          <p:cNvSpPr txBox="1"/>
          <p:nvPr/>
        </p:nvSpPr>
        <p:spPr>
          <a:xfrm>
            <a:off x="6681216" y="2306166"/>
            <a:ext cx="367408" cy="523220"/>
          </a:xfrm>
          <a:prstGeom prst="rect">
            <a:avLst/>
          </a:prstGeom>
          <a:noFill/>
          <a:ln w="28575">
            <a:solidFill>
              <a:srgbClr val="BC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BC0000"/>
                </a:solidFill>
              </a:rPr>
              <a:t>4</a:t>
            </a:r>
            <a:endParaRPr lang="en-US" b="1" dirty="0">
              <a:solidFill>
                <a:srgbClr val="BC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8920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51050"/>
            <a:ext cx="8229600" cy="4143010"/>
          </a:xfrm>
        </p:spPr>
        <p:txBody>
          <a:bodyPr>
            <a:normAutofit/>
          </a:bodyPr>
          <a:lstStyle/>
          <a:p>
            <a:r>
              <a:rPr lang="en-US" dirty="0"/>
              <a:t>What about a feature like the following?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What do you expect its weight to be?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700" y="1880254"/>
            <a:ext cx="3771900" cy="3302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40A7084D-445D-FC48-AE07-B13675DCA183}"/>
              </a:ext>
            </a:extLst>
          </p:cNvPr>
          <p:cNvSpPr txBox="1"/>
          <p:nvPr/>
        </p:nvSpPr>
        <p:spPr>
          <a:xfrm>
            <a:off x="7330440" y="2379862"/>
            <a:ext cx="367408" cy="523220"/>
          </a:xfrm>
          <a:prstGeom prst="rect">
            <a:avLst/>
          </a:prstGeom>
          <a:noFill/>
          <a:ln w="28575">
            <a:solidFill>
              <a:srgbClr val="BC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BC0000"/>
                </a:solidFill>
              </a:rPr>
              <a:t>5</a:t>
            </a:r>
            <a:endParaRPr lang="en-US" b="1" dirty="0">
              <a:solidFill>
                <a:srgbClr val="BC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49994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51050"/>
            <a:ext cx="8229600" cy="5350334"/>
          </a:xfrm>
        </p:spPr>
        <p:txBody>
          <a:bodyPr>
            <a:normAutofit/>
          </a:bodyPr>
          <a:lstStyle/>
          <a:p>
            <a:r>
              <a:rPr lang="en-US" dirty="0"/>
              <a:t>What about a feature like the following?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What do you expect its weight to be?</a:t>
            </a:r>
          </a:p>
          <a:p>
            <a:pPr lvl="1"/>
            <a:r>
              <a:rPr lang="en-US" dirty="0"/>
              <a:t>Doesn’t matter.</a:t>
            </a:r>
          </a:p>
          <a:p>
            <a:pPr lvl="1"/>
            <a:r>
              <a:rPr lang="en-US" dirty="0"/>
              <a:t>Why?</a:t>
            </a:r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a feature with the same value for all outputs will not affect the </a:t>
            </a:r>
            <a:r>
              <a:rPr lang="en-US" dirty="0" err="1"/>
              <a:t>argmax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700" y="1880254"/>
            <a:ext cx="3771900" cy="3302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40A7084D-445D-FC48-AE07-B13675DCA183}"/>
              </a:ext>
            </a:extLst>
          </p:cNvPr>
          <p:cNvSpPr txBox="1"/>
          <p:nvPr/>
        </p:nvSpPr>
        <p:spPr>
          <a:xfrm>
            <a:off x="7330440" y="2379862"/>
            <a:ext cx="367408" cy="523220"/>
          </a:xfrm>
          <a:prstGeom prst="rect">
            <a:avLst/>
          </a:prstGeom>
          <a:noFill/>
          <a:ln w="28575">
            <a:solidFill>
              <a:srgbClr val="BC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BC0000"/>
                </a:solidFill>
              </a:rPr>
              <a:t>5</a:t>
            </a:r>
            <a:endParaRPr lang="en-US" b="1" dirty="0">
              <a:solidFill>
                <a:srgbClr val="BC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1CF5EFF1-7858-FF42-B06F-D410E844C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0" y="4131894"/>
            <a:ext cx="58420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25562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Text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661"/>
            <a:ext cx="8229600" cy="5052424"/>
          </a:xfrm>
        </p:spPr>
        <p:txBody>
          <a:bodyPr>
            <a:noAutofit/>
          </a:bodyPr>
          <a:lstStyle/>
          <a:p>
            <a:r>
              <a:rPr lang="en-US" dirty="0"/>
              <a:t>datasets</a:t>
            </a:r>
          </a:p>
          <a:p>
            <a:r>
              <a:rPr lang="en-US" dirty="0"/>
              <a:t>classification</a:t>
            </a:r>
          </a:p>
          <a:p>
            <a:pPr lvl="1"/>
            <a:r>
              <a:rPr lang="en-US" dirty="0"/>
              <a:t>modeling</a:t>
            </a:r>
          </a:p>
          <a:p>
            <a:pPr lvl="1"/>
            <a:r>
              <a:rPr lang="en-US" dirty="0">
                <a:solidFill>
                  <a:srgbClr val="288CD2"/>
                </a:solidFill>
              </a:rPr>
              <a:t>inference</a:t>
            </a:r>
          </a:p>
          <a:p>
            <a:pPr lvl="1"/>
            <a:r>
              <a:rPr lang="en-US" dirty="0"/>
              <a:t>learning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716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781344"/>
            <a:ext cx="8229600" cy="193841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8000"/>
                </a:solidFill>
              </a:rPr>
              <a:t>Inference</a:t>
            </a:r>
            <a:r>
              <a:rPr lang="en-US" dirty="0"/>
              <a:t>: How do we efficiently search over the space of all labels?</a:t>
            </a:r>
          </a:p>
          <a:p>
            <a:endParaRPr lang="en-US" dirty="0"/>
          </a:p>
        </p:txBody>
      </p:sp>
      <p:cxnSp>
        <p:nvCxnSpPr>
          <p:cNvPr id="14" name="Straight Arrow Connector 13"/>
          <p:cNvCxnSpPr/>
          <p:nvPr/>
        </p:nvCxnSpPr>
        <p:spPr bwMode="auto">
          <a:xfrm>
            <a:off x="3699925" y="1676598"/>
            <a:ext cx="338667" cy="490999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008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TextBox 14"/>
          <p:cNvSpPr txBox="1"/>
          <p:nvPr/>
        </p:nvSpPr>
        <p:spPr>
          <a:xfrm>
            <a:off x="1045609" y="1214933"/>
            <a:ext cx="3315782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008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8000"/>
                </a:solidFill>
                <a:latin typeface="Calibri"/>
                <a:cs typeface="Calibri"/>
              </a:rPr>
              <a:t>inference</a:t>
            </a:r>
            <a:r>
              <a:rPr lang="en-US" sz="2400" i="0" dirty="0">
                <a:solidFill>
                  <a:srgbClr val="008000"/>
                </a:solidFill>
                <a:latin typeface="Calibri"/>
                <a:cs typeface="Calibri"/>
              </a:rPr>
              <a:t>: solve              </a:t>
            </a:r>
            <a:r>
              <a:rPr lang="en-US" sz="2400" i="0" dirty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r>
              <a:rPr lang="en-US" sz="2400" i="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625" y="1414131"/>
            <a:ext cx="990600" cy="2159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75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39F38051-E37E-224A-936C-5876AF1320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146" y="2187112"/>
            <a:ext cx="5143500" cy="52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742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Inference for Text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781344"/>
            <a:ext cx="8229600" cy="1938419"/>
          </a:xfrm>
        </p:spPr>
        <p:txBody>
          <a:bodyPr>
            <a:normAutofit/>
          </a:bodyPr>
          <a:lstStyle/>
          <a:p>
            <a:r>
              <a:rPr lang="en-US" dirty="0"/>
              <a:t>trivial (loop over labels)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76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F0C73147-6986-FC4C-B539-E8960BD7A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232576"/>
            <a:ext cx="6477000" cy="55880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xmlns="" id="{88F1FEC6-DDD7-144D-9F1E-D8AC71BA2EBA}"/>
              </a:ext>
            </a:extLst>
          </p:cNvPr>
          <p:cNvCxnSpPr>
            <a:cxnSpLocks/>
          </p:cNvCxnSpPr>
          <p:nvPr/>
        </p:nvCxnSpPr>
        <p:spPr bwMode="auto">
          <a:xfrm flipV="1">
            <a:off x="3274807" y="2791376"/>
            <a:ext cx="1106693" cy="1047289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008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6600121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Text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661"/>
            <a:ext cx="8229600" cy="5052424"/>
          </a:xfrm>
        </p:spPr>
        <p:txBody>
          <a:bodyPr>
            <a:noAutofit/>
          </a:bodyPr>
          <a:lstStyle/>
          <a:p>
            <a:r>
              <a:rPr lang="en-US" dirty="0"/>
              <a:t>datasets</a:t>
            </a:r>
          </a:p>
          <a:p>
            <a:r>
              <a:rPr lang="en-US" dirty="0"/>
              <a:t>classification</a:t>
            </a:r>
          </a:p>
          <a:p>
            <a:pPr lvl="1"/>
            <a:r>
              <a:rPr lang="en-US" dirty="0"/>
              <a:t>modeling</a:t>
            </a:r>
          </a:p>
          <a:p>
            <a:pPr lvl="1"/>
            <a:r>
              <a:rPr lang="en-US" dirty="0"/>
              <a:t>inference</a:t>
            </a:r>
          </a:p>
          <a:p>
            <a:pPr lvl="1"/>
            <a:r>
              <a:rPr lang="en-US" dirty="0">
                <a:solidFill>
                  <a:srgbClr val="288CD2"/>
                </a:solidFill>
              </a:rPr>
              <a:t>learning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919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/>
              <a:t>Modeling, Inference,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781344"/>
            <a:ext cx="8229600" cy="193841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Learning</a:t>
            </a:r>
            <a:r>
              <a:rPr lang="en-US" dirty="0"/>
              <a:t>: How should we choose values for the weights?</a:t>
            </a:r>
          </a:p>
          <a:p>
            <a:endParaRPr lang="en-US" dirty="0"/>
          </a:p>
        </p:txBody>
      </p:sp>
      <p:cxnSp>
        <p:nvCxnSpPr>
          <p:cNvPr id="16" name="Straight Arrow Connector 15"/>
          <p:cNvCxnSpPr/>
          <p:nvPr/>
        </p:nvCxnSpPr>
        <p:spPr bwMode="auto">
          <a:xfrm flipH="1">
            <a:off x="5151076" y="1253197"/>
            <a:ext cx="304800" cy="91440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TextBox 16"/>
          <p:cNvSpPr txBox="1"/>
          <p:nvPr/>
        </p:nvSpPr>
        <p:spPr>
          <a:xfrm>
            <a:off x="4562946" y="1214933"/>
            <a:ext cx="4252336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288CD2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i="0" dirty="0">
                <a:solidFill>
                  <a:srgbClr val="288CD2"/>
                </a:solidFill>
                <a:latin typeface="Calibri"/>
                <a:cs typeface="Calibri"/>
              </a:rPr>
              <a:t>modeling</a:t>
            </a:r>
            <a:r>
              <a:rPr lang="en-US" sz="2400" i="0" dirty="0">
                <a:solidFill>
                  <a:srgbClr val="288CD2"/>
                </a:solidFill>
                <a:latin typeface="Calibri"/>
                <a:cs typeface="Calibri"/>
              </a:rPr>
              <a:t>: define  </a:t>
            </a:r>
            <a:r>
              <a:rPr lang="en-US" sz="2400" i="0" dirty="0">
                <a:solidFill>
                  <a:srgbClr val="FFFFFF"/>
                </a:solidFill>
                <a:latin typeface="Calibri"/>
                <a:cs typeface="Calibri"/>
              </a:rPr>
              <a:t>score </a:t>
            </a:r>
            <a:r>
              <a:rPr lang="en-US" sz="2400" i="0" dirty="0">
                <a:solidFill>
                  <a:srgbClr val="288CD2"/>
                </a:solidFill>
                <a:latin typeface="Calibri"/>
                <a:cs typeface="Calibri"/>
              </a:rPr>
              <a:t>function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383" y="1422405"/>
            <a:ext cx="647700" cy="152400"/>
          </a:xfrm>
          <a:prstGeom prst="rect">
            <a:avLst/>
          </a:prstGeom>
        </p:spPr>
      </p:pic>
      <p:cxnSp>
        <p:nvCxnSpPr>
          <p:cNvPr id="21" name="Straight Arrow Connector 20"/>
          <p:cNvCxnSpPr/>
          <p:nvPr/>
        </p:nvCxnSpPr>
        <p:spPr bwMode="auto">
          <a:xfrm>
            <a:off x="3699925" y="1676598"/>
            <a:ext cx="338667" cy="490999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008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TextBox 21"/>
          <p:cNvSpPr txBox="1"/>
          <p:nvPr/>
        </p:nvSpPr>
        <p:spPr>
          <a:xfrm>
            <a:off x="1045609" y="1214933"/>
            <a:ext cx="3315782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008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8000"/>
                </a:solidFill>
                <a:latin typeface="Calibri"/>
                <a:cs typeface="Calibri"/>
              </a:rPr>
              <a:t>inference</a:t>
            </a:r>
            <a:r>
              <a:rPr lang="en-US" sz="2400" i="0" dirty="0">
                <a:solidFill>
                  <a:srgbClr val="008000"/>
                </a:solidFill>
                <a:latin typeface="Calibri"/>
                <a:cs typeface="Calibri"/>
              </a:rPr>
              <a:t>: solve              </a:t>
            </a:r>
            <a:r>
              <a:rPr lang="en-US" sz="2400" i="0" dirty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r>
              <a:rPr lang="en-US" sz="2400" i="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625" y="1414131"/>
            <a:ext cx="990600" cy="2159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78</a:t>
            </a:fld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xmlns="" id="{3A7C2899-69A8-4241-AC9E-0C5A9ACB9D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5146" y="2187112"/>
            <a:ext cx="5143500" cy="520700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xmlns="" id="{98270859-B3C3-664D-9748-3C7C4A1CFACE}"/>
              </a:ext>
            </a:extLst>
          </p:cNvPr>
          <p:cNvCxnSpPr/>
          <p:nvPr/>
        </p:nvCxnSpPr>
        <p:spPr bwMode="auto">
          <a:xfrm flipV="1">
            <a:off x="5907224" y="2527564"/>
            <a:ext cx="283613" cy="65997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4532883D-CC44-794C-BC83-08DFFAAB3019}"/>
              </a:ext>
            </a:extLst>
          </p:cNvPr>
          <p:cNvSpPr txBox="1"/>
          <p:nvPr/>
        </p:nvSpPr>
        <p:spPr>
          <a:xfrm>
            <a:off x="5366668" y="3056704"/>
            <a:ext cx="2560316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libri"/>
                <a:cs typeface="Calibri"/>
              </a:rPr>
              <a:t>l</a:t>
            </a:r>
            <a:r>
              <a:rPr lang="en-US" sz="2400" b="1" i="0" dirty="0">
                <a:solidFill>
                  <a:srgbClr val="FF0000"/>
                </a:solidFill>
                <a:latin typeface="Calibri"/>
                <a:cs typeface="Calibri"/>
              </a:rPr>
              <a:t>earning</a:t>
            </a:r>
            <a:r>
              <a:rPr lang="en-US" sz="2400" i="0" dirty="0">
                <a:solidFill>
                  <a:srgbClr val="FF0000"/>
                </a:solidFill>
                <a:latin typeface="Calibri"/>
                <a:cs typeface="Calibri"/>
              </a:rPr>
              <a:t>: choose  </a:t>
            </a:r>
            <a:r>
              <a:rPr lang="en-US" sz="2400" i="0" dirty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endParaRPr lang="en-US" sz="2400" i="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11140D70-99E4-C945-833A-2E618C2FFC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4280" y="3253501"/>
            <a:ext cx="228600" cy="13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2508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Experimental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beginning, we just had </a:t>
            </a:r>
            <a:r>
              <a:rPr lang="en-US" dirty="0">
                <a:solidFill>
                  <a:srgbClr val="288CD2"/>
                </a:solidFill>
              </a:rPr>
              <a:t>data</a:t>
            </a:r>
          </a:p>
          <a:p>
            <a:r>
              <a:rPr lang="en-US" dirty="0">
                <a:solidFill>
                  <a:srgbClr val="FFFFFF"/>
                </a:solidFill>
              </a:rPr>
              <a:t>first innovation: split into train and test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motivation: simulate conditions of applying system in practice</a:t>
            </a:r>
          </a:p>
          <a:p>
            <a:r>
              <a:rPr lang="en-US" dirty="0">
                <a:solidFill>
                  <a:srgbClr val="FFFFFF"/>
                </a:solidFill>
              </a:rPr>
              <a:t>but, there’s a problem with this…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we need to explore and evaluate methodological choices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after multiple evaluations on test, it is no longer a simulation of real-world conditions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7935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Experimental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beginning, we just had </a:t>
            </a:r>
            <a:r>
              <a:rPr lang="en-US" dirty="0">
                <a:solidFill>
                  <a:srgbClr val="288CD2"/>
                </a:solidFill>
              </a:rPr>
              <a:t>data</a:t>
            </a:r>
          </a:p>
          <a:p>
            <a:r>
              <a:rPr lang="en-US" dirty="0">
                <a:solidFill>
                  <a:srgbClr val="BC0000"/>
                </a:solidFill>
              </a:rPr>
              <a:t>first innovation</a:t>
            </a:r>
            <a:r>
              <a:rPr lang="en-US" dirty="0"/>
              <a:t>: split into </a:t>
            </a:r>
            <a:r>
              <a:rPr lang="en-US" b="1" dirty="0">
                <a:solidFill>
                  <a:srgbClr val="288CD2"/>
                </a:solidFill>
              </a:rPr>
              <a:t>train</a:t>
            </a:r>
            <a:r>
              <a:rPr lang="en-US" dirty="0"/>
              <a:t> and </a:t>
            </a:r>
            <a:r>
              <a:rPr lang="en-US" b="1" dirty="0">
                <a:solidFill>
                  <a:srgbClr val="288CD2"/>
                </a:solidFill>
              </a:rPr>
              <a:t>test</a:t>
            </a:r>
          </a:p>
          <a:p>
            <a:pPr lvl="1"/>
            <a:r>
              <a:rPr lang="en-US" dirty="0"/>
              <a:t>motivation: simulate conditions of applying system in practice</a:t>
            </a:r>
          </a:p>
          <a:p>
            <a:r>
              <a:rPr lang="en-US" dirty="0">
                <a:solidFill>
                  <a:srgbClr val="FFFFFF"/>
                </a:solidFill>
              </a:rPr>
              <a:t>but, there’s a problem with this…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we need to explore and evaluate methodological choices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after multiple evaluations on test, it is no longer a simulation of real-world conditions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63812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Experimental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beginning, we just had </a:t>
            </a:r>
            <a:r>
              <a:rPr lang="en-US" dirty="0">
                <a:solidFill>
                  <a:srgbClr val="288CD2"/>
                </a:solidFill>
              </a:rPr>
              <a:t>data</a:t>
            </a:r>
          </a:p>
          <a:p>
            <a:r>
              <a:rPr lang="en-US" dirty="0">
                <a:solidFill>
                  <a:srgbClr val="BC0000"/>
                </a:solidFill>
              </a:rPr>
              <a:t>first innovation</a:t>
            </a:r>
            <a:r>
              <a:rPr lang="en-US" dirty="0"/>
              <a:t>: split into </a:t>
            </a:r>
            <a:r>
              <a:rPr lang="en-US" b="1" dirty="0">
                <a:solidFill>
                  <a:srgbClr val="288CD2"/>
                </a:solidFill>
              </a:rPr>
              <a:t>train</a:t>
            </a:r>
            <a:r>
              <a:rPr lang="en-US" dirty="0"/>
              <a:t> and </a:t>
            </a:r>
            <a:r>
              <a:rPr lang="en-US" b="1" dirty="0">
                <a:solidFill>
                  <a:srgbClr val="288CD2"/>
                </a:solidFill>
              </a:rPr>
              <a:t>test</a:t>
            </a:r>
          </a:p>
          <a:p>
            <a:pPr lvl="1"/>
            <a:r>
              <a:rPr lang="en-US" dirty="0"/>
              <a:t>motivation: simulate conditions of applying system in practice</a:t>
            </a:r>
          </a:p>
          <a:p>
            <a:r>
              <a:rPr lang="en-US" dirty="0"/>
              <a:t>but, there’s a problem with this…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we need to explore and evaluate methodological choices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after multiple evaluations on test, it is no longer a simulation of real-world conditions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1529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Experimental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beginning, we just had </a:t>
            </a:r>
            <a:r>
              <a:rPr lang="en-US" dirty="0">
                <a:solidFill>
                  <a:srgbClr val="288CD2"/>
                </a:solidFill>
              </a:rPr>
              <a:t>data</a:t>
            </a:r>
          </a:p>
          <a:p>
            <a:r>
              <a:rPr lang="en-US" dirty="0">
                <a:solidFill>
                  <a:srgbClr val="BC0000"/>
                </a:solidFill>
              </a:rPr>
              <a:t>first innovation</a:t>
            </a:r>
            <a:r>
              <a:rPr lang="en-US" dirty="0"/>
              <a:t>: split into </a:t>
            </a:r>
            <a:r>
              <a:rPr lang="en-US" b="1" dirty="0">
                <a:solidFill>
                  <a:srgbClr val="288CD2"/>
                </a:solidFill>
              </a:rPr>
              <a:t>train</a:t>
            </a:r>
            <a:r>
              <a:rPr lang="en-US" dirty="0"/>
              <a:t> and </a:t>
            </a:r>
            <a:r>
              <a:rPr lang="en-US" b="1" dirty="0">
                <a:solidFill>
                  <a:srgbClr val="288CD2"/>
                </a:solidFill>
              </a:rPr>
              <a:t>test</a:t>
            </a:r>
          </a:p>
          <a:p>
            <a:pPr lvl="1"/>
            <a:r>
              <a:rPr lang="en-US" dirty="0"/>
              <a:t>motivation: simulate conditions of applying system in practice</a:t>
            </a:r>
          </a:p>
          <a:p>
            <a:r>
              <a:rPr lang="en-US" dirty="0"/>
              <a:t>but, there’s a problem with this…</a:t>
            </a:r>
          </a:p>
          <a:p>
            <a:pPr lvl="1"/>
            <a:r>
              <a:rPr lang="en-US" dirty="0"/>
              <a:t>we need to explore and evaluate methodological choices</a:t>
            </a:r>
          </a:p>
          <a:p>
            <a:pPr lvl="1"/>
            <a:r>
              <a:rPr lang="en-US" dirty="0"/>
              <a:t>after multiple evaluations on </a:t>
            </a:r>
            <a:r>
              <a:rPr lang="en-US" b="1" dirty="0">
                <a:solidFill>
                  <a:srgbClr val="288CD2"/>
                </a:solidFill>
              </a:rPr>
              <a:t>test</a:t>
            </a:r>
            <a:r>
              <a:rPr lang="en-US" dirty="0"/>
              <a:t>, it is no longer a simulation of real-world conditions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615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Experimental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073740"/>
            <a:ext cx="8520723" cy="4729183"/>
          </a:xfrm>
        </p:spPr>
        <p:txBody>
          <a:bodyPr>
            <a:normAutofit/>
          </a:bodyPr>
          <a:lstStyle/>
          <a:p>
            <a:r>
              <a:rPr lang="en-US" sz="2800" dirty="0"/>
              <a:t>we need to explore/evaluate methodological choices</a:t>
            </a:r>
          </a:p>
          <a:p>
            <a:r>
              <a:rPr lang="en-US" sz="2800" dirty="0"/>
              <a:t>what should we do?</a:t>
            </a:r>
          </a:p>
          <a:p>
            <a:pPr lvl="1"/>
            <a:r>
              <a:rPr lang="en-US" sz="2400" dirty="0"/>
              <a:t>some use cross validation on </a:t>
            </a:r>
            <a:r>
              <a:rPr lang="en-US" sz="2400" b="1" dirty="0">
                <a:solidFill>
                  <a:srgbClr val="288CD2"/>
                </a:solidFill>
              </a:rPr>
              <a:t>train</a:t>
            </a:r>
            <a:r>
              <a:rPr lang="en-US" sz="2400" dirty="0"/>
              <a:t>, but this is slow and doesn’t quite simulate real-world settings (why?)</a:t>
            </a:r>
          </a:p>
          <a:p>
            <a:r>
              <a:rPr lang="en-US" sz="2800" dirty="0">
                <a:solidFill>
                  <a:schemeClr val="bg1"/>
                </a:solidFill>
              </a:rPr>
              <a:t>second innovation: divide data into train, test, and a third set called development or validation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use development/validation to evaluate choices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then, when ready to write the paper, evaluate the best model on test</a:t>
            </a:r>
          </a:p>
          <a:p>
            <a:r>
              <a:rPr lang="en-US" sz="2800" dirty="0">
                <a:solidFill>
                  <a:schemeClr val="bg1"/>
                </a:solidFill>
              </a:rPr>
              <a:t>are we done yet?  no!  there’s still a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1072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Experimental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073740"/>
            <a:ext cx="8520723" cy="5149260"/>
          </a:xfrm>
        </p:spPr>
        <p:txBody>
          <a:bodyPr>
            <a:normAutofit/>
          </a:bodyPr>
          <a:lstStyle/>
          <a:p>
            <a:r>
              <a:rPr lang="en-US" sz="2800" dirty="0"/>
              <a:t>we need to explore/evaluate methodological choices</a:t>
            </a:r>
          </a:p>
          <a:p>
            <a:r>
              <a:rPr lang="en-US" sz="2800" dirty="0"/>
              <a:t>what should we do?</a:t>
            </a:r>
          </a:p>
          <a:p>
            <a:pPr lvl="1"/>
            <a:r>
              <a:rPr lang="en-US" sz="2400" dirty="0"/>
              <a:t>some use cross validation on </a:t>
            </a:r>
            <a:r>
              <a:rPr lang="en-US" sz="2400" b="1" dirty="0">
                <a:solidFill>
                  <a:srgbClr val="288CD2"/>
                </a:solidFill>
              </a:rPr>
              <a:t>train</a:t>
            </a:r>
            <a:r>
              <a:rPr lang="en-US" sz="2400" dirty="0"/>
              <a:t>, but this is slow and doesn’t quite simulate real-world settings (why?)</a:t>
            </a:r>
          </a:p>
          <a:p>
            <a:r>
              <a:rPr lang="en-US" sz="2800" dirty="0">
                <a:solidFill>
                  <a:srgbClr val="BC0000"/>
                </a:solidFill>
              </a:rPr>
              <a:t>second innovation</a:t>
            </a:r>
            <a:r>
              <a:rPr lang="en-US" sz="2800" dirty="0"/>
              <a:t>: divide data into </a:t>
            </a:r>
            <a:r>
              <a:rPr lang="en-US" sz="2800" b="1" dirty="0">
                <a:solidFill>
                  <a:srgbClr val="288CD2"/>
                </a:solidFill>
              </a:rPr>
              <a:t>train</a:t>
            </a:r>
            <a:r>
              <a:rPr lang="en-US" sz="2800" dirty="0"/>
              <a:t>, </a:t>
            </a:r>
            <a:r>
              <a:rPr lang="en-US" sz="2800" b="1" dirty="0">
                <a:solidFill>
                  <a:srgbClr val="288CD2"/>
                </a:solidFill>
              </a:rPr>
              <a:t>test</a:t>
            </a:r>
            <a:r>
              <a:rPr lang="en-US" sz="2800" dirty="0"/>
              <a:t>, and a third set called development</a:t>
            </a:r>
            <a:r>
              <a:rPr lang="en-US" sz="2800" dirty="0">
                <a:solidFill>
                  <a:srgbClr val="288CD2"/>
                </a:solidFill>
              </a:rPr>
              <a:t> </a:t>
            </a:r>
            <a:r>
              <a:rPr lang="en-US" sz="2800" dirty="0"/>
              <a:t>(</a:t>
            </a:r>
            <a:r>
              <a:rPr lang="en-US" sz="2800" b="1" dirty="0" err="1">
                <a:solidFill>
                  <a:srgbClr val="288CD2"/>
                </a:solidFill>
              </a:rPr>
              <a:t>dev</a:t>
            </a:r>
            <a:r>
              <a:rPr lang="en-US" sz="2800" dirty="0"/>
              <a:t>) or </a:t>
            </a:r>
            <a:r>
              <a:rPr lang="en-US" sz="2800" dirty="0">
                <a:solidFill>
                  <a:srgbClr val="000000"/>
                </a:solidFill>
              </a:rPr>
              <a:t>validation (</a:t>
            </a:r>
            <a:r>
              <a:rPr lang="en-US" sz="2800" b="1" dirty="0" err="1">
                <a:solidFill>
                  <a:srgbClr val="288CD2"/>
                </a:solidFill>
              </a:rPr>
              <a:t>val</a:t>
            </a:r>
            <a:r>
              <a:rPr lang="en-US" sz="2800" dirty="0"/>
              <a:t>)</a:t>
            </a:r>
          </a:p>
          <a:p>
            <a:pPr lvl="1"/>
            <a:r>
              <a:rPr lang="en-US" sz="2400" dirty="0"/>
              <a:t>use </a:t>
            </a:r>
            <a:r>
              <a:rPr lang="en-US" sz="2400" b="1" dirty="0" err="1">
                <a:solidFill>
                  <a:srgbClr val="288CD2"/>
                </a:solidFill>
              </a:rPr>
              <a:t>dev</a:t>
            </a:r>
            <a:r>
              <a:rPr lang="en-US" sz="2400" dirty="0"/>
              <a:t>/</a:t>
            </a:r>
            <a:r>
              <a:rPr lang="en-US" sz="2400" b="1" dirty="0" err="1">
                <a:solidFill>
                  <a:srgbClr val="288CD2"/>
                </a:solidFill>
              </a:rPr>
              <a:t>val</a:t>
            </a:r>
            <a:r>
              <a:rPr lang="en-US" sz="2400" dirty="0">
                <a:solidFill>
                  <a:srgbClr val="288CD2"/>
                </a:solidFill>
              </a:rPr>
              <a:t> </a:t>
            </a:r>
            <a:r>
              <a:rPr lang="en-US" sz="2400" dirty="0"/>
              <a:t>to evaluate choices</a:t>
            </a:r>
          </a:p>
          <a:p>
            <a:pPr lvl="1"/>
            <a:r>
              <a:rPr lang="en-US" sz="2400" dirty="0"/>
              <a:t>then, when ready to write the paper, evaluate the best model on </a:t>
            </a:r>
            <a:r>
              <a:rPr lang="en-US" sz="2400" b="1" dirty="0">
                <a:solidFill>
                  <a:srgbClr val="288CD2"/>
                </a:solidFill>
              </a:rPr>
              <a:t>test</a:t>
            </a:r>
            <a:endParaRPr lang="en-US" sz="2400" b="1" dirty="0"/>
          </a:p>
          <a:p>
            <a:r>
              <a:rPr lang="en-US" sz="2800" dirty="0">
                <a:solidFill>
                  <a:srgbClr val="FFFFFF"/>
                </a:solidFill>
              </a:rPr>
              <a:t>are we done yet?  no!  there’s still a problem:</a:t>
            </a:r>
          </a:p>
          <a:p>
            <a:pPr lvl="1"/>
            <a:r>
              <a:rPr lang="en-US" sz="2400" dirty="0" err="1">
                <a:solidFill>
                  <a:schemeClr val="bg1"/>
                </a:solidFill>
              </a:rPr>
              <a:t>overfitting</a:t>
            </a:r>
            <a:r>
              <a:rPr lang="en-US" sz="2400" dirty="0">
                <a:solidFill>
                  <a:schemeClr val="bg1"/>
                </a:solidFill>
              </a:rPr>
              <a:t> to </a:t>
            </a:r>
            <a:r>
              <a:rPr lang="en-US" sz="2400" dirty="0" err="1">
                <a:solidFill>
                  <a:schemeClr val="bg1"/>
                </a:solidFill>
              </a:rPr>
              <a:t>dev</a:t>
            </a:r>
            <a:r>
              <a:rPr lang="en-US" sz="2400" dirty="0">
                <a:solidFill>
                  <a:schemeClr val="bg1"/>
                </a:solidFill>
              </a:rPr>
              <a:t>/</a:t>
            </a:r>
            <a:r>
              <a:rPr lang="en-US" sz="2400" dirty="0" err="1">
                <a:solidFill>
                  <a:schemeClr val="bg1"/>
                </a:solidFill>
              </a:rPr>
              <a:t>val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735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Experimental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073740"/>
            <a:ext cx="8520723" cy="5149260"/>
          </a:xfrm>
        </p:spPr>
        <p:txBody>
          <a:bodyPr>
            <a:normAutofit/>
          </a:bodyPr>
          <a:lstStyle/>
          <a:p>
            <a:r>
              <a:rPr lang="en-US" sz="2800" dirty="0"/>
              <a:t>we need to explore/evaluate methodological choices</a:t>
            </a:r>
          </a:p>
          <a:p>
            <a:r>
              <a:rPr lang="en-US" sz="2800" dirty="0"/>
              <a:t>what should we do?</a:t>
            </a:r>
          </a:p>
          <a:p>
            <a:pPr lvl="1"/>
            <a:r>
              <a:rPr lang="en-US" sz="2400" dirty="0"/>
              <a:t>some use cross validation on </a:t>
            </a:r>
            <a:r>
              <a:rPr lang="en-US" sz="2400" b="1" dirty="0">
                <a:solidFill>
                  <a:srgbClr val="288CD2"/>
                </a:solidFill>
              </a:rPr>
              <a:t>train</a:t>
            </a:r>
            <a:r>
              <a:rPr lang="en-US" sz="2400" dirty="0"/>
              <a:t>, but this is slow and doesn’t quite simulate real-world settings (why?)</a:t>
            </a:r>
          </a:p>
          <a:p>
            <a:r>
              <a:rPr lang="en-US" sz="2800" dirty="0">
                <a:solidFill>
                  <a:srgbClr val="BC0000"/>
                </a:solidFill>
              </a:rPr>
              <a:t>second innovation</a:t>
            </a:r>
            <a:r>
              <a:rPr lang="en-US" sz="2800" dirty="0"/>
              <a:t>: divide data into </a:t>
            </a:r>
            <a:r>
              <a:rPr lang="en-US" sz="2800" b="1" dirty="0">
                <a:solidFill>
                  <a:srgbClr val="288CD2"/>
                </a:solidFill>
              </a:rPr>
              <a:t>train</a:t>
            </a:r>
            <a:r>
              <a:rPr lang="en-US" sz="2800" dirty="0"/>
              <a:t>, </a:t>
            </a:r>
            <a:r>
              <a:rPr lang="en-US" sz="2800" b="1" dirty="0">
                <a:solidFill>
                  <a:srgbClr val="288CD2"/>
                </a:solidFill>
              </a:rPr>
              <a:t>test</a:t>
            </a:r>
            <a:r>
              <a:rPr lang="en-US" sz="2800" dirty="0"/>
              <a:t>, and a third set called development</a:t>
            </a:r>
            <a:r>
              <a:rPr lang="en-US" sz="2800" dirty="0">
                <a:solidFill>
                  <a:srgbClr val="288CD2"/>
                </a:solidFill>
              </a:rPr>
              <a:t> </a:t>
            </a:r>
            <a:r>
              <a:rPr lang="en-US" sz="2800" dirty="0"/>
              <a:t>(</a:t>
            </a:r>
            <a:r>
              <a:rPr lang="en-US" sz="2800" b="1" dirty="0" err="1">
                <a:solidFill>
                  <a:srgbClr val="288CD2"/>
                </a:solidFill>
              </a:rPr>
              <a:t>dev</a:t>
            </a:r>
            <a:r>
              <a:rPr lang="en-US" sz="2800" dirty="0"/>
              <a:t>) or </a:t>
            </a:r>
            <a:r>
              <a:rPr lang="en-US" sz="2800" dirty="0">
                <a:solidFill>
                  <a:srgbClr val="000000"/>
                </a:solidFill>
              </a:rPr>
              <a:t>validation (</a:t>
            </a:r>
            <a:r>
              <a:rPr lang="en-US" sz="2800" b="1" dirty="0" err="1">
                <a:solidFill>
                  <a:srgbClr val="288CD2"/>
                </a:solidFill>
              </a:rPr>
              <a:t>val</a:t>
            </a:r>
            <a:r>
              <a:rPr lang="en-US" sz="2800" dirty="0"/>
              <a:t>)</a:t>
            </a:r>
          </a:p>
          <a:p>
            <a:pPr lvl="1"/>
            <a:r>
              <a:rPr lang="en-US" sz="2400" dirty="0"/>
              <a:t>use </a:t>
            </a:r>
            <a:r>
              <a:rPr lang="en-US" sz="2400" b="1" dirty="0" err="1">
                <a:solidFill>
                  <a:srgbClr val="288CD2"/>
                </a:solidFill>
              </a:rPr>
              <a:t>dev</a:t>
            </a:r>
            <a:r>
              <a:rPr lang="en-US" sz="2400" dirty="0"/>
              <a:t>/</a:t>
            </a:r>
            <a:r>
              <a:rPr lang="en-US" sz="2400" b="1" dirty="0" err="1">
                <a:solidFill>
                  <a:srgbClr val="288CD2"/>
                </a:solidFill>
              </a:rPr>
              <a:t>val</a:t>
            </a:r>
            <a:r>
              <a:rPr lang="en-US" sz="2400" dirty="0">
                <a:solidFill>
                  <a:srgbClr val="288CD2"/>
                </a:solidFill>
              </a:rPr>
              <a:t> </a:t>
            </a:r>
            <a:r>
              <a:rPr lang="en-US" sz="2400" dirty="0"/>
              <a:t>to evaluate choices</a:t>
            </a:r>
          </a:p>
          <a:p>
            <a:pPr lvl="1"/>
            <a:r>
              <a:rPr lang="en-US" sz="2400" dirty="0"/>
              <a:t>then, when ready to write the paper, evaluate the best model on </a:t>
            </a:r>
            <a:r>
              <a:rPr lang="en-US" sz="2400" b="1" dirty="0">
                <a:solidFill>
                  <a:srgbClr val="288CD2"/>
                </a:solidFill>
              </a:rPr>
              <a:t>test</a:t>
            </a:r>
            <a:endParaRPr lang="en-US" sz="2400" b="1" dirty="0"/>
          </a:p>
          <a:p>
            <a:r>
              <a:rPr lang="en-US" sz="2800" dirty="0"/>
              <a:t>are we done yet?  no!  there’s still a problem:</a:t>
            </a:r>
          </a:p>
          <a:p>
            <a:pPr lvl="1"/>
            <a:r>
              <a:rPr lang="en-US" sz="2400" dirty="0" err="1">
                <a:solidFill>
                  <a:schemeClr val="bg1"/>
                </a:solidFill>
              </a:rPr>
              <a:t>overfitting</a:t>
            </a:r>
            <a:r>
              <a:rPr lang="en-US" sz="2400" dirty="0">
                <a:solidFill>
                  <a:schemeClr val="bg1"/>
                </a:solidFill>
              </a:rPr>
              <a:t> to </a:t>
            </a:r>
            <a:r>
              <a:rPr lang="en-US" sz="2400" dirty="0" err="1">
                <a:solidFill>
                  <a:schemeClr val="bg1"/>
                </a:solidFill>
              </a:rPr>
              <a:t>dev</a:t>
            </a:r>
            <a:r>
              <a:rPr lang="en-US" sz="2400" dirty="0">
                <a:solidFill>
                  <a:schemeClr val="bg1"/>
                </a:solidFill>
              </a:rPr>
              <a:t>/</a:t>
            </a:r>
            <a:r>
              <a:rPr lang="en-US" sz="2400" dirty="0" err="1">
                <a:solidFill>
                  <a:schemeClr val="bg1"/>
                </a:solidFill>
              </a:rPr>
              <a:t>val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0244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Experimental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073740"/>
            <a:ext cx="8520723" cy="5149260"/>
          </a:xfrm>
        </p:spPr>
        <p:txBody>
          <a:bodyPr>
            <a:normAutofit/>
          </a:bodyPr>
          <a:lstStyle/>
          <a:p>
            <a:r>
              <a:rPr lang="en-US" sz="2800" dirty="0"/>
              <a:t>we need to explore/evaluate methodological choices</a:t>
            </a:r>
          </a:p>
          <a:p>
            <a:r>
              <a:rPr lang="en-US" sz="2800" dirty="0"/>
              <a:t>what should we do?</a:t>
            </a:r>
          </a:p>
          <a:p>
            <a:pPr lvl="1"/>
            <a:r>
              <a:rPr lang="en-US" sz="2400" dirty="0"/>
              <a:t>some use cross validation on </a:t>
            </a:r>
            <a:r>
              <a:rPr lang="en-US" sz="2400" b="1" dirty="0">
                <a:solidFill>
                  <a:srgbClr val="288CD2"/>
                </a:solidFill>
              </a:rPr>
              <a:t>train</a:t>
            </a:r>
            <a:r>
              <a:rPr lang="en-US" sz="2400" dirty="0"/>
              <a:t>, but this is slow and doesn’t quite simulate real-world settings (why?)</a:t>
            </a:r>
          </a:p>
          <a:p>
            <a:r>
              <a:rPr lang="en-US" sz="2800" dirty="0">
                <a:solidFill>
                  <a:srgbClr val="BC0000"/>
                </a:solidFill>
              </a:rPr>
              <a:t>second innovation</a:t>
            </a:r>
            <a:r>
              <a:rPr lang="en-US" sz="2800" dirty="0"/>
              <a:t>: divide data into </a:t>
            </a:r>
            <a:r>
              <a:rPr lang="en-US" sz="2800" b="1" dirty="0">
                <a:solidFill>
                  <a:srgbClr val="288CD2"/>
                </a:solidFill>
              </a:rPr>
              <a:t>train</a:t>
            </a:r>
            <a:r>
              <a:rPr lang="en-US" sz="2800" dirty="0"/>
              <a:t>, </a:t>
            </a:r>
            <a:r>
              <a:rPr lang="en-US" sz="2800" b="1" dirty="0">
                <a:solidFill>
                  <a:srgbClr val="288CD2"/>
                </a:solidFill>
              </a:rPr>
              <a:t>test</a:t>
            </a:r>
            <a:r>
              <a:rPr lang="en-US" sz="2800" dirty="0"/>
              <a:t>, and a third set called development</a:t>
            </a:r>
            <a:r>
              <a:rPr lang="en-US" sz="2800" dirty="0">
                <a:solidFill>
                  <a:srgbClr val="288CD2"/>
                </a:solidFill>
              </a:rPr>
              <a:t> </a:t>
            </a:r>
            <a:r>
              <a:rPr lang="en-US" sz="2800" dirty="0"/>
              <a:t>(</a:t>
            </a:r>
            <a:r>
              <a:rPr lang="en-US" sz="2800" b="1" dirty="0" err="1">
                <a:solidFill>
                  <a:srgbClr val="288CD2"/>
                </a:solidFill>
              </a:rPr>
              <a:t>dev</a:t>
            </a:r>
            <a:r>
              <a:rPr lang="en-US" sz="2800" dirty="0"/>
              <a:t>) or </a:t>
            </a:r>
            <a:r>
              <a:rPr lang="en-US" sz="2800" dirty="0">
                <a:solidFill>
                  <a:srgbClr val="000000"/>
                </a:solidFill>
              </a:rPr>
              <a:t>validation (</a:t>
            </a:r>
            <a:r>
              <a:rPr lang="en-US" sz="2800" b="1" dirty="0" err="1">
                <a:solidFill>
                  <a:srgbClr val="288CD2"/>
                </a:solidFill>
              </a:rPr>
              <a:t>val</a:t>
            </a:r>
            <a:r>
              <a:rPr lang="en-US" sz="2800" dirty="0"/>
              <a:t>)</a:t>
            </a:r>
          </a:p>
          <a:p>
            <a:pPr lvl="1"/>
            <a:r>
              <a:rPr lang="en-US" sz="2400" dirty="0"/>
              <a:t>use </a:t>
            </a:r>
            <a:r>
              <a:rPr lang="en-US" sz="2400" b="1" dirty="0" err="1">
                <a:solidFill>
                  <a:srgbClr val="288CD2"/>
                </a:solidFill>
              </a:rPr>
              <a:t>dev</a:t>
            </a:r>
            <a:r>
              <a:rPr lang="en-US" sz="2400" dirty="0"/>
              <a:t>/</a:t>
            </a:r>
            <a:r>
              <a:rPr lang="en-US" sz="2400" b="1" dirty="0" err="1">
                <a:solidFill>
                  <a:srgbClr val="288CD2"/>
                </a:solidFill>
              </a:rPr>
              <a:t>val</a:t>
            </a:r>
            <a:r>
              <a:rPr lang="en-US" sz="2400" dirty="0">
                <a:solidFill>
                  <a:srgbClr val="288CD2"/>
                </a:solidFill>
              </a:rPr>
              <a:t> </a:t>
            </a:r>
            <a:r>
              <a:rPr lang="en-US" sz="2400" dirty="0"/>
              <a:t>to evaluate choices</a:t>
            </a:r>
          </a:p>
          <a:p>
            <a:pPr lvl="1"/>
            <a:r>
              <a:rPr lang="en-US" sz="2400" dirty="0"/>
              <a:t>then, when ready to write the paper, evaluate the best model on </a:t>
            </a:r>
            <a:r>
              <a:rPr lang="en-US" sz="2400" b="1" dirty="0">
                <a:solidFill>
                  <a:srgbClr val="288CD2"/>
                </a:solidFill>
              </a:rPr>
              <a:t>test</a:t>
            </a:r>
            <a:endParaRPr lang="en-US" sz="2400" b="1" dirty="0"/>
          </a:p>
          <a:p>
            <a:r>
              <a:rPr lang="en-US" sz="2800" dirty="0"/>
              <a:t>are we done yet?  no!  there’s still a problem:</a:t>
            </a:r>
          </a:p>
          <a:p>
            <a:pPr lvl="1"/>
            <a:r>
              <a:rPr lang="en-US" sz="2400" dirty="0"/>
              <a:t>overfitting to </a:t>
            </a:r>
            <a:r>
              <a:rPr lang="en-US" sz="2400" b="1" dirty="0">
                <a:solidFill>
                  <a:srgbClr val="288CD2"/>
                </a:solidFill>
              </a:rPr>
              <a:t>dev</a:t>
            </a:r>
            <a:r>
              <a:rPr lang="en-US" sz="2400" dirty="0"/>
              <a:t>/</a:t>
            </a:r>
            <a:r>
              <a:rPr lang="en-US" sz="2400" b="1" dirty="0" err="1">
                <a:solidFill>
                  <a:srgbClr val="288CD2"/>
                </a:solidFill>
              </a:rPr>
              <a:t>val</a:t>
            </a:r>
            <a:endParaRPr lang="en-US" sz="2400" b="1" dirty="0">
              <a:solidFill>
                <a:srgbClr val="288CD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0359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Experimental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229600" cy="4504491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solidFill>
                  <a:srgbClr val="BC0000"/>
                </a:solidFill>
              </a:rPr>
              <a:t>best practice</a:t>
            </a:r>
            <a:r>
              <a:rPr lang="en-US" dirty="0"/>
              <a:t>: split data into </a:t>
            </a:r>
            <a:r>
              <a:rPr lang="en-US" b="1" dirty="0">
                <a:solidFill>
                  <a:srgbClr val="288CD2"/>
                </a:solidFill>
              </a:rPr>
              <a:t>train</a:t>
            </a:r>
            <a:r>
              <a:rPr lang="en-US" dirty="0"/>
              <a:t>, development (</a:t>
            </a:r>
            <a:r>
              <a:rPr lang="en-US" b="1" dirty="0" err="1">
                <a:solidFill>
                  <a:srgbClr val="288CD2"/>
                </a:solidFill>
              </a:rPr>
              <a:t>dev</a:t>
            </a:r>
            <a:r>
              <a:rPr lang="en-US" dirty="0"/>
              <a:t>), development test (</a:t>
            </a:r>
            <a:r>
              <a:rPr lang="en-US" b="1" dirty="0" err="1">
                <a:solidFill>
                  <a:srgbClr val="288CD2"/>
                </a:solidFill>
              </a:rPr>
              <a:t>devtest</a:t>
            </a:r>
            <a:r>
              <a:rPr lang="en-US" dirty="0"/>
              <a:t>), and </a:t>
            </a:r>
            <a:r>
              <a:rPr lang="en-US" b="1" dirty="0">
                <a:solidFill>
                  <a:srgbClr val="288CD2"/>
                </a:solidFill>
              </a:rPr>
              <a:t>test</a:t>
            </a:r>
          </a:p>
          <a:p>
            <a:pPr lvl="1"/>
            <a:r>
              <a:rPr lang="en-US" dirty="0"/>
              <a:t>train model on </a:t>
            </a:r>
            <a:r>
              <a:rPr lang="en-US" b="1" dirty="0">
                <a:solidFill>
                  <a:srgbClr val="288CD2"/>
                </a:solidFill>
              </a:rPr>
              <a:t>train</a:t>
            </a:r>
            <a:r>
              <a:rPr lang="en-US" dirty="0"/>
              <a:t>, tune </a:t>
            </a:r>
            <a:r>
              <a:rPr lang="en-US" dirty="0" err="1"/>
              <a:t>hyperparameters</a:t>
            </a:r>
            <a:r>
              <a:rPr lang="en-US" dirty="0"/>
              <a:t> on </a:t>
            </a:r>
            <a:r>
              <a:rPr lang="en-US" b="1" dirty="0">
                <a:solidFill>
                  <a:srgbClr val="288CD2"/>
                </a:solidFill>
              </a:rPr>
              <a:t>dev</a:t>
            </a:r>
            <a:r>
              <a:rPr lang="en-US" dirty="0"/>
              <a:t>, do preliminary testing on </a:t>
            </a:r>
            <a:r>
              <a:rPr lang="en-US" b="1" dirty="0" err="1">
                <a:solidFill>
                  <a:srgbClr val="288CD2"/>
                </a:solidFill>
              </a:rPr>
              <a:t>devtest</a:t>
            </a:r>
            <a:r>
              <a:rPr lang="en-US" dirty="0"/>
              <a:t>, do final testing on </a:t>
            </a:r>
            <a:r>
              <a:rPr lang="en-US" b="1" dirty="0">
                <a:solidFill>
                  <a:srgbClr val="288CD2"/>
                </a:solidFill>
              </a:rPr>
              <a:t>test</a:t>
            </a:r>
            <a:r>
              <a:rPr lang="en-US" dirty="0">
                <a:solidFill>
                  <a:srgbClr val="288CD2"/>
                </a:solidFill>
              </a:rPr>
              <a:t> </a:t>
            </a:r>
            <a:r>
              <a:rPr lang="en-US" dirty="0"/>
              <a:t>a single time when writing the paper</a:t>
            </a:r>
          </a:p>
          <a:p>
            <a:pPr lvl="1"/>
            <a:r>
              <a:rPr lang="en-US" dirty="0"/>
              <a:t>Even better to have even more test sets! </a:t>
            </a:r>
            <a:r>
              <a:rPr lang="en-US" b="1" dirty="0">
                <a:solidFill>
                  <a:srgbClr val="288CD2"/>
                </a:solidFill>
              </a:rPr>
              <a:t>test1</a:t>
            </a:r>
            <a:r>
              <a:rPr lang="en-US" dirty="0"/>
              <a:t>, </a:t>
            </a:r>
            <a:r>
              <a:rPr lang="en-US" b="1" dirty="0">
                <a:solidFill>
                  <a:srgbClr val="288CD2"/>
                </a:solidFill>
              </a:rPr>
              <a:t>test2</a:t>
            </a:r>
            <a:r>
              <a:rPr lang="en-US" dirty="0"/>
              <a:t>, etc.</a:t>
            </a:r>
          </a:p>
          <a:p>
            <a:pPr lvl="1"/>
            <a:endParaRPr lang="en-US" dirty="0"/>
          </a:p>
          <a:p>
            <a:r>
              <a:rPr lang="en-US" dirty="0"/>
              <a:t>experimental credibility is a huge component of doing useful research</a:t>
            </a:r>
          </a:p>
          <a:p>
            <a:r>
              <a:rPr lang="en-US" dirty="0"/>
              <a:t>when you publish a result, it had better be replicable without tuning anything on </a:t>
            </a:r>
            <a:r>
              <a:rPr lang="en-US" b="1" dirty="0">
                <a:solidFill>
                  <a:srgbClr val="288CD2"/>
                </a:solidFill>
              </a:rPr>
              <a:t>test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37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Don’t Cheat!</a:t>
            </a:r>
          </a:p>
        </p:txBody>
      </p:sp>
      <p:pic>
        <p:nvPicPr>
          <p:cNvPr id="5" name="Content Placeholder 4" descr="Screen Shot 2016-01-02 at 2.22.01 P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4" r="2144"/>
          <a:stretch>
            <a:fillRect/>
          </a:stretch>
        </p:blipFill>
        <p:spPr>
          <a:ln>
            <a:solidFill>
              <a:schemeClr val="tx1"/>
            </a:solidFill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6159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40604</TotalTime>
  <Words>3726</Words>
  <Application>Microsoft Macintosh PowerPoint</Application>
  <PresentationFormat>On-screen Show (4:3)</PresentationFormat>
  <Paragraphs>678</Paragraphs>
  <Slides>88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89" baseType="lpstr">
      <vt:lpstr>Office Theme</vt:lpstr>
      <vt:lpstr>TTIC 31190: Natural Language Processing</vt:lpstr>
      <vt:lpstr>Roadmap</vt:lpstr>
      <vt:lpstr>PowerPoint Presentation</vt:lpstr>
      <vt:lpstr>Text Classification</vt:lpstr>
      <vt:lpstr>NLP Datasets</vt:lpstr>
      <vt:lpstr>Annotation</vt:lpstr>
      <vt:lpstr>How are NLP datasets developed?</vt:lpstr>
      <vt:lpstr>PowerPoint Presentation</vt:lpstr>
      <vt:lpstr>PowerPoint Presentation</vt:lpstr>
      <vt:lpstr>PowerPoint Presentation</vt:lpstr>
      <vt:lpstr>Annotator Agreement</vt:lpstr>
      <vt:lpstr>Annotator Agreement</vt:lpstr>
      <vt:lpstr>Annotator Agreement</vt:lpstr>
      <vt:lpstr>Text Classification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Text Classification</vt:lpstr>
      <vt:lpstr>What is a classifier?</vt:lpstr>
      <vt:lpstr>What is a classifier?</vt:lpstr>
      <vt:lpstr>What is a classifier?</vt:lpstr>
      <vt:lpstr>Notation</vt:lpstr>
      <vt:lpstr>Notation</vt:lpstr>
      <vt:lpstr>What is a classifier?</vt:lpstr>
      <vt:lpstr>Course Philosophy</vt:lpstr>
      <vt:lpstr>Modeling, Inference, Learning</vt:lpstr>
      <vt:lpstr>Modeling, Inference, Learning</vt:lpstr>
      <vt:lpstr>Modeling, Inference, Learning</vt:lpstr>
      <vt:lpstr>Modeling, Inference, Learning</vt:lpstr>
      <vt:lpstr>Modeling, Inference, Learning</vt:lpstr>
      <vt:lpstr>Text Classification</vt:lpstr>
      <vt:lpstr>Binary Sentiment Classification</vt:lpstr>
      <vt:lpstr>Binary Sentiment Classification</vt:lpstr>
      <vt:lpstr>Binary Sentiment Classification</vt:lpstr>
      <vt:lpstr>Linear Models</vt:lpstr>
      <vt:lpstr>Linear Models for Binary Sentiment Classification</vt:lpstr>
      <vt:lpstr>Linear Models for Binary Sentiment Classification</vt:lpstr>
      <vt:lpstr>Features for NLP</vt:lpstr>
      <vt:lpstr>Features for NLP</vt:lpstr>
      <vt:lpstr>Features for NLP</vt:lpstr>
      <vt:lpstr>Defining Features</vt:lpstr>
      <vt:lpstr>Defining Features</vt:lpstr>
      <vt:lpstr>Feature Engineering</vt:lpstr>
      <vt:lpstr>Unigram Binary Features</vt:lpstr>
      <vt:lpstr>Unigram Binary Features</vt:lpstr>
      <vt:lpstr>Unigram Binary Features</vt:lpstr>
      <vt:lpstr>Feature Count Cutoffs</vt:lpstr>
      <vt:lpstr>Feature Count Cutoffs (Example)</vt:lpstr>
      <vt:lpstr>Feature Count Cutoffs (Example)</vt:lpstr>
      <vt:lpstr>Feature Count Cutoffs (Example)</vt:lpstr>
      <vt:lpstr>Feature Count Cutoffs (Example)</vt:lpstr>
      <vt:lpstr>PowerPoint Presentation</vt:lpstr>
      <vt:lpstr>PowerPoint Presentation</vt:lpstr>
      <vt:lpstr>PowerPoint Presentation</vt:lpstr>
      <vt:lpstr>Higher-Order Binary Feature Templates</vt:lpstr>
      <vt:lpstr>Unigram Count Features</vt:lpstr>
      <vt:lpstr>Feature Engineering for Text Classification</vt:lpstr>
      <vt:lpstr>Feature Engineering for Text Classification</vt:lpstr>
      <vt:lpstr>Feature Engineering for Text Classification</vt:lpstr>
      <vt:lpstr>Feature Engineering for Text Classification</vt:lpstr>
      <vt:lpstr>Feature Engineering for Text Classification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Text Classification</vt:lpstr>
      <vt:lpstr>PowerPoint Presentation</vt:lpstr>
      <vt:lpstr>Inference for Text Classification</vt:lpstr>
      <vt:lpstr>Text Classification</vt:lpstr>
      <vt:lpstr>Modeling, Inference, Learning</vt:lpstr>
      <vt:lpstr>Experimental Practice</vt:lpstr>
      <vt:lpstr>Experimental Practice</vt:lpstr>
      <vt:lpstr>Experimental Practice</vt:lpstr>
      <vt:lpstr>Experimental Practice</vt:lpstr>
      <vt:lpstr>Experimental Practice</vt:lpstr>
      <vt:lpstr>Experimental Practice</vt:lpstr>
      <vt:lpstr>Experimental Practice</vt:lpstr>
      <vt:lpstr>Experimental Practice</vt:lpstr>
      <vt:lpstr>Experimental Practice</vt:lpstr>
      <vt:lpstr>Don’t Cheat!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TTIC 31190: Natural Language Processing</dc:title>
  <dc:creator>Kevin Gimpel</dc:creator>
  <cp:lastModifiedBy>Kevin</cp:lastModifiedBy>
  <cp:revision>408</cp:revision>
  <dcterms:created xsi:type="dcterms:W3CDTF">2015-08-31T18:15:35Z</dcterms:created>
  <dcterms:modified xsi:type="dcterms:W3CDTF">2018-04-04T21:27:02Z</dcterms:modified>
</cp:coreProperties>
</file>