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xlsx" ContentType="application/vnd.openxmlformats-officedocument.spreadsheetml.sheet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256" r:id="rId2"/>
    <p:sldId id="504" r:id="rId3"/>
    <p:sldId id="766" r:id="rId4"/>
    <p:sldId id="775" r:id="rId5"/>
    <p:sldId id="669" r:id="rId6"/>
    <p:sldId id="737" r:id="rId7"/>
    <p:sldId id="741" r:id="rId8"/>
    <p:sldId id="673" r:id="rId9"/>
    <p:sldId id="674" r:id="rId10"/>
    <p:sldId id="676" r:id="rId11"/>
    <p:sldId id="675" r:id="rId12"/>
    <p:sldId id="677" r:id="rId13"/>
    <p:sldId id="769" r:id="rId14"/>
    <p:sldId id="739" r:id="rId15"/>
    <p:sldId id="740" r:id="rId16"/>
    <p:sldId id="642" r:id="rId17"/>
    <p:sldId id="678" r:id="rId18"/>
    <p:sldId id="679" r:id="rId19"/>
    <p:sldId id="646" r:id="rId20"/>
    <p:sldId id="645" r:id="rId21"/>
    <p:sldId id="768" r:id="rId22"/>
    <p:sldId id="641" r:id="rId23"/>
    <p:sldId id="643" r:id="rId24"/>
    <p:sldId id="644" r:id="rId25"/>
    <p:sldId id="648" r:id="rId26"/>
    <p:sldId id="647" r:id="rId27"/>
    <p:sldId id="607" r:id="rId28"/>
    <p:sldId id="608" r:id="rId29"/>
    <p:sldId id="611" r:id="rId30"/>
    <p:sldId id="776" r:id="rId31"/>
    <p:sldId id="716" r:id="rId32"/>
    <p:sldId id="718" r:id="rId33"/>
    <p:sldId id="719" r:id="rId34"/>
    <p:sldId id="720" r:id="rId35"/>
    <p:sldId id="721" r:id="rId36"/>
    <p:sldId id="722" r:id="rId37"/>
    <p:sldId id="723" r:id="rId38"/>
    <p:sldId id="685" r:id="rId39"/>
    <p:sldId id="686" r:id="rId40"/>
    <p:sldId id="687" r:id="rId41"/>
    <p:sldId id="688" r:id="rId42"/>
    <p:sldId id="689" r:id="rId43"/>
    <p:sldId id="691" r:id="rId44"/>
    <p:sldId id="692" r:id="rId45"/>
    <p:sldId id="693" r:id="rId46"/>
    <p:sldId id="694" r:id="rId47"/>
    <p:sldId id="696" r:id="rId48"/>
    <p:sldId id="771" r:id="rId49"/>
    <p:sldId id="697" r:id="rId50"/>
    <p:sldId id="773" r:id="rId51"/>
    <p:sldId id="772" r:id="rId52"/>
    <p:sldId id="698" r:id="rId53"/>
    <p:sldId id="699" r:id="rId54"/>
    <p:sldId id="774" r:id="rId55"/>
    <p:sldId id="700" r:id="rId56"/>
    <p:sldId id="762" r:id="rId57"/>
    <p:sldId id="764" r:id="rId58"/>
    <p:sldId id="761" r:id="rId59"/>
    <p:sldId id="701" r:id="rId60"/>
    <p:sldId id="765" r:id="rId61"/>
    <p:sldId id="702" r:id="rId62"/>
    <p:sldId id="703" r:id="rId63"/>
    <p:sldId id="750" r:id="rId64"/>
    <p:sldId id="751" r:id="rId65"/>
    <p:sldId id="752" r:id="rId66"/>
    <p:sldId id="753" r:id="rId67"/>
    <p:sldId id="754" r:id="rId68"/>
    <p:sldId id="758" r:id="rId69"/>
    <p:sldId id="759" r:id="rId70"/>
    <p:sldId id="76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3"/>
    <p:restoredTop sz="98214" autoAdjust="0"/>
  </p:normalViewPr>
  <p:slideViewPr>
    <p:cSldViewPr snapToGrid="0" snapToObjects="1">
      <p:cViewPr varScale="1">
        <p:scale>
          <a:sx n="76" d="100"/>
          <a:sy n="76" d="100"/>
        </p:scale>
        <p:origin x="-13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handoutMaster" Target="handoutMasters/handoutMaster1.xml"/><Relationship Id="rId74" Type="http://schemas.openxmlformats.org/officeDocument/2006/relationships/printerSettings" Target="printerSettings/printerSettings1.bin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3/28/18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3/28/18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</a:t>
            </a:r>
            <a:r>
              <a: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4426084601 big100kuniq</a:t>
            </a:r>
          </a:p>
          <a:p>
            <a:endParaRPr lang="is-I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tweets.1k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4314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15216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type/token ratio = 0.283517350157729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22082</a:t>
            </a:r>
          </a:p>
          <a:p>
            <a:r>
              <a:rPr lang="cs-CZ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</a:t>
            </a:r>
            <a:r>
              <a:rPr lang="cs-CZ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149417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0.147787734996687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tweets.100k</a:t>
            </a: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110925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1500365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0.0739320098775964</a:t>
            </a:r>
          </a:p>
          <a:p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twitter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]$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typetoken.pl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tweets.1M</a:t>
            </a: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604396</a:t>
            </a:r>
          </a:p>
          <a:p>
            <a:r>
              <a: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15041588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0.040181661670297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kgimpel@chia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twitter]$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big100kuniq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56345753  847216426 4426084601 big100kuniq</a:t>
            </a:r>
          </a:p>
          <a:p>
            <a:endParaRPr lang="is-I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is-I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 = 11371934</a:t>
            </a:r>
          </a:p>
          <a:p>
            <a:r>
              <a:rPr lang="nl-N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tokens = 847372098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0.0134202365487847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6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1B9DA1-D091-A64A-A0FC-8E8CCCAFB71C}" type="slidenum">
              <a:rPr lang="en-US"/>
              <a:pPr/>
              <a:t>16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09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E32076-AB54-DD42-AB81-EE05460AD3D3}" type="slidenum">
              <a:rPr lang="en-US"/>
              <a:pPr/>
              <a:t>29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59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6EDEFA-E815-3A40-8232-CF5AF3213BAD}" type="slidenum">
              <a:rPr lang="en-US"/>
              <a:pPr/>
              <a:t>40</a:t>
            </a:fld>
            <a:endParaRPr lang="en-US"/>
          </a:p>
        </p:txBody>
      </p:sp>
      <p:sp>
        <p:nvSpPr>
          <p:cNvPr id="148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8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20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7A096E-88F7-E74A-8F4C-E0212635BD33}" type="slidenum">
              <a:rPr lang="en-US"/>
              <a:pPr/>
              <a:t>61</a:t>
            </a:fld>
            <a:endParaRPr lang="en-US"/>
          </a:p>
        </p:txBody>
      </p:sp>
      <p:sp>
        <p:nvSpPr>
          <p:cNvPr id="15134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3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3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does it mean to say that two words are </a:t>
            </a:r>
            <a:r>
              <a:rPr lang="en-US" b="1" dirty="0"/>
              <a:t>similar</a:t>
            </a:r>
            <a:r>
              <a:rPr lang="en-US" dirty="0"/>
              <a:t>? There are many kinds of 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65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does it mean to say that two words are </a:t>
            </a:r>
            <a:r>
              <a:rPr lang="en-US" b="1" dirty="0"/>
              <a:t>similar</a:t>
            </a:r>
            <a:r>
              <a:rPr lang="en-US" dirty="0"/>
              <a:t>? There are many kinds of 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18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does it mean to say that two words are </a:t>
            </a:r>
            <a:r>
              <a:rPr lang="en-US" b="1" dirty="0"/>
              <a:t>similar</a:t>
            </a:r>
            <a:r>
              <a:rPr lang="en-US" dirty="0"/>
              <a:t>? There are many kinds of 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189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does it mean to say that two words are </a:t>
            </a:r>
            <a:r>
              <a:rPr lang="en-US" b="1" dirty="0"/>
              <a:t>similar</a:t>
            </a:r>
            <a:r>
              <a:rPr lang="en-US" dirty="0"/>
              <a:t>? There are many kinds of 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30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3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3/28/18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3/28/18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3/28/18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3/28/18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3/28/18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3/28/18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3/28/18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3/28/18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3/28/18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3/28/18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3/28/18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3/28/18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1.xlsx"/><Relationship Id="rId4" Type="http://schemas.openxmlformats.org/officeDocument/2006/relationships/image" Target="../media/image7.emf"/><Relationship Id="rId5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3" Type="http://schemas.openxmlformats.org/officeDocument/2006/relationships/image" Target="../media/image12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3" Type="http://schemas.openxmlformats.org/officeDocument/2006/relationships/image" Target="../media/image12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/>
              <a:t>TTIC 31190: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93900"/>
            <a:ext cx="7772400" cy="43624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2</a:t>
            </a:r>
            <a:r>
              <a:rPr lang="en-US" sz="4000" dirty="0" smtClean="0">
                <a:solidFill>
                  <a:schemeClr val="tx1"/>
                </a:solidFill>
              </a:rPr>
              <a:t>: Words</a:t>
            </a:r>
            <a:r>
              <a:rPr lang="en-US" sz="4000" dirty="0">
                <a:solidFill>
                  <a:schemeClr val="tx1"/>
                </a:solidFill>
              </a:rPr>
              <a:t>, </a:t>
            </a:r>
            <a:r>
              <a:rPr lang="en-US" sz="4000" dirty="0" smtClean="0">
                <a:solidFill>
                  <a:schemeClr val="tx1"/>
                </a:solidFill>
              </a:rPr>
              <a:t>Morphology, Distributional </a:t>
            </a:r>
            <a:r>
              <a:rPr lang="en-US" sz="4000" dirty="0">
                <a:solidFill>
                  <a:schemeClr val="tx1"/>
                </a:solidFill>
              </a:rPr>
              <a:t>Word </a:t>
            </a:r>
            <a:r>
              <a:rPr lang="en-US" sz="4000" dirty="0" smtClean="0">
                <a:solidFill>
                  <a:schemeClr val="tx1"/>
                </a:solidFill>
              </a:rPr>
              <a:t>Vectors 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198" y="496886"/>
            <a:ext cx="8716783" cy="5884864"/>
          </a:xfrm>
        </p:spPr>
        <p:txBody>
          <a:bodyPr>
            <a:normAutofit/>
          </a:bodyPr>
          <a:lstStyle/>
          <a:p>
            <a:r>
              <a:rPr lang="en-US" dirty="0"/>
              <a:t>All materials are posted on the course website:</a:t>
            </a:r>
          </a:p>
          <a:p>
            <a:pPr marL="0" indent="0">
              <a:buNone/>
            </a:pPr>
            <a:r>
              <a:rPr lang="en-US" sz="2000" dirty="0" err="1">
                <a:latin typeface="Courier New"/>
                <a:cs typeface="Courier New"/>
              </a:rPr>
              <a:t>ttic.uchicago.edu</a:t>
            </a:r>
            <a:r>
              <a:rPr lang="en-US" sz="2000" dirty="0">
                <a:latin typeface="Courier New"/>
                <a:cs typeface="Courier New"/>
              </a:rPr>
              <a:t>/~</a:t>
            </a:r>
            <a:r>
              <a:rPr lang="en-US" sz="2000" dirty="0" err="1">
                <a:latin typeface="Courier New"/>
                <a:cs typeface="Courier New"/>
              </a:rPr>
              <a:t>kgimpel</a:t>
            </a:r>
            <a:r>
              <a:rPr lang="en-US" sz="2000" dirty="0">
                <a:latin typeface="Courier New"/>
                <a:cs typeface="Courier New"/>
              </a:rPr>
              <a:t>/teaching/31190-s18/</a:t>
            </a:r>
            <a:r>
              <a:rPr lang="en-US" sz="2000" dirty="0" err="1">
                <a:latin typeface="Courier New"/>
                <a:cs typeface="Courier New"/>
              </a:rPr>
              <a:t>index.html</a:t>
            </a:r>
            <a:endParaRPr lang="en-US" sz="2000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/>
              <a:t>Assignment 1 has been posted</a:t>
            </a:r>
          </a:p>
          <a:p>
            <a:r>
              <a:rPr lang="en-US" dirty="0"/>
              <a:t>Due 6:00 pm on Wednesday, April 11</a:t>
            </a:r>
            <a:r>
              <a:rPr lang="en-US" baseline="30000" dirty="0"/>
              <a:t>th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My office hours are Mondays 3-4pm, #531 (or by appointment)</a:t>
            </a:r>
          </a:p>
          <a:p>
            <a:r>
              <a:rPr lang="en-US" dirty="0"/>
              <a:t>TA office hours are Wednesdays 3-4pm, #501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51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288CD2"/>
                </a:solidFill>
              </a:rPr>
              <a:t>words, morphology, lexical semantics</a:t>
            </a:r>
          </a:p>
          <a:p>
            <a:r>
              <a:rPr lang="en-US" sz="2400" dirty="0"/>
              <a:t>text classification</a:t>
            </a:r>
          </a:p>
          <a:p>
            <a:r>
              <a:rPr lang="en-US" sz="2400" dirty="0"/>
              <a:t>simple neural methods for NLP</a:t>
            </a:r>
          </a:p>
          <a:p>
            <a:r>
              <a:rPr lang="en-US" sz="2400" dirty="0"/>
              <a:t>language modeling and 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recurrent/recursive/convolutional networks in NLP</a:t>
            </a:r>
          </a:p>
          <a:p>
            <a:r>
              <a:rPr lang="en-US" sz="2400" dirty="0"/>
              <a:t>sequence labeling, HMMs, dynamic programming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16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types and tokens</a:t>
            </a:r>
          </a:p>
          <a:p>
            <a:r>
              <a:rPr lang="en-US" dirty="0"/>
              <a:t>morphology</a:t>
            </a:r>
          </a:p>
          <a:p>
            <a:r>
              <a:rPr lang="en-US" dirty="0"/>
              <a:t>distributional word vectors</a:t>
            </a:r>
          </a:p>
          <a:p>
            <a:r>
              <a:rPr lang="en-US" dirty="0"/>
              <a:t>word sense and lexical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392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and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once text has been tokenized, let’s count the words</a:t>
            </a:r>
          </a:p>
          <a:p>
            <a:r>
              <a:rPr lang="en-US" dirty="0">
                <a:solidFill>
                  <a:srgbClr val="288CD2"/>
                </a:solidFill>
              </a:rPr>
              <a:t>types</a:t>
            </a:r>
            <a:r>
              <a:rPr lang="en-US" dirty="0"/>
              <a:t>: entries in the vocabulary</a:t>
            </a:r>
          </a:p>
          <a:p>
            <a:r>
              <a:rPr lang="en-US" dirty="0">
                <a:solidFill>
                  <a:srgbClr val="288CD2"/>
                </a:solidFill>
              </a:rPr>
              <a:t>tokens</a:t>
            </a:r>
            <a:r>
              <a:rPr lang="en-US" dirty="0"/>
              <a:t>: instances of types in a corpus</a:t>
            </a:r>
          </a:p>
          <a:p>
            <a:r>
              <a:rPr lang="en-US" dirty="0"/>
              <a:t>example sentence: </a:t>
            </a:r>
            <a:r>
              <a:rPr lang="en-US" i="1" dirty="0"/>
              <a:t>If they want to go , they should go .</a:t>
            </a:r>
          </a:p>
          <a:p>
            <a:pPr lvl="1"/>
            <a:r>
              <a:rPr lang="en-US" dirty="0"/>
              <a:t>how many types?  8</a:t>
            </a:r>
          </a:p>
          <a:p>
            <a:pPr lvl="1"/>
            <a:r>
              <a:rPr lang="en-US" dirty="0"/>
              <a:t>how many tokens?  10</a:t>
            </a:r>
          </a:p>
          <a:p>
            <a:r>
              <a:rPr lang="en-US" dirty="0">
                <a:solidFill>
                  <a:srgbClr val="288CD2"/>
                </a:solidFill>
              </a:rPr>
              <a:t>type/token ratio</a:t>
            </a:r>
            <a:r>
              <a:rPr lang="en-US" dirty="0"/>
              <a:t>: useful statistic of a corpus (here, 0.8)</a:t>
            </a:r>
          </a:p>
          <a:p>
            <a:r>
              <a:rPr lang="en-US" dirty="0">
                <a:solidFill>
                  <a:schemeClr val="bg1"/>
                </a:solidFill>
                <a:sym typeface="Wingdings"/>
              </a:rPr>
              <a:t>as we add data, what happens to the type-token ratio?  </a:t>
            </a:r>
          </a:p>
          <a:p>
            <a:r>
              <a:rPr lang="en-US" dirty="0">
                <a:solidFill>
                  <a:srgbClr val="FFFFFF"/>
                </a:solidFill>
              </a:rPr>
              <a:t>indicates what?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high type/token ratio </a:t>
            </a:r>
            <a:r>
              <a:rPr lang="en-US" dirty="0">
                <a:solidFill>
                  <a:srgbClr val="FFFFFF"/>
                </a:solidFill>
                <a:sym typeface="Wingdings"/>
              </a:rPr>
              <a:t> rich morphology</a:t>
            </a:r>
          </a:p>
          <a:p>
            <a:pPr lvl="1"/>
            <a:r>
              <a:rPr lang="en-US" dirty="0">
                <a:solidFill>
                  <a:srgbClr val="FFFFFF"/>
                </a:solidFill>
                <a:sym typeface="Wingdings"/>
              </a:rPr>
              <a:t>low type/token ratio  poor morphology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57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Higher Type/Token Ratio?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Wikipedia </a:t>
            </a:r>
            <a:r>
              <a:rPr lang="en-US" dirty="0" err="1"/>
              <a:t>vs</a:t>
            </a:r>
            <a:r>
              <a:rPr lang="en-US" dirty="0"/>
              <a:t> Simple English Wikipedia?</a:t>
            </a:r>
          </a:p>
          <a:p>
            <a:pPr lvl="1"/>
            <a:r>
              <a:rPr lang="en-US" dirty="0"/>
              <a:t>Wikipedia</a:t>
            </a:r>
          </a:p>
          <a:p>
            <a:r>
              <a:rPr lang="en-US" dirty="0"/>
              <a:t>Wikipedia </a:t>
            </a:r>
            <a:r>
              <a:rPr lang="en-US" dirty="0" err="1"/>
              <a:t>vs</a:t>
            </a:r>
            <a:r>
              <a:rPr lang="en-US" dirty="0"/>
              <a:t> Newswire?</a:t>
            </a:r>
          </a:p>
          <a:p>
            <a:pPr lvl="1"/>
            <a:r>
              <a:rPr lang="en-US" dirty="0"/>
              <a:t>Wikipedia</a:t>
            </a:r>
          </a:p>
          <a:p>
            <a:r>
              <a:rPr lang="en-US" dirty="0"/>
              <a:t>Wikipedia </a:t>
            </a:r>
            <a:r>
              <a:rPr lang="en-US" dirty="0" err="1"/>
              <a:t>vs</a:t>
            </a:r>
            <a:r>
              <a:rPr lang="en-US" dirty="0"/>
              <a:t> Tweets?</a:t>
            </a:r>
          </a:p>
          <a:p>
            <a:pPr lvl="1"/>
            <a:r>
              <a:rPr lang="en-US" dirty="0"/>
              <a:t>Tweets (once you have 1 million or more tokens)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66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5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“really” on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0500" y="885529"/>
            <a:ext cx="3263900" cy="535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 224571 really</a:t>
            </a:r>
          </a:p>
          <a:p>
            <a:r>
              <a:rPr lang="en-US" dirty="0">
                <a:latin typeface="Courier New"/>
                <a:cs typeface="Courier New"/>
              </a:rPr>
              <a:t>   1189 rly</a:t>
            </a:r>
          </a:p>
          <a:p>
            <a:r>
              <a:rPr lang="en-US" dirty="0">
                <a:latin typeface="Courier New"/>
                <a:cs typeface="Courier New"/>
              </a:rPr>
              <a:t>   1119 </a:t>
            </a:r>
            <a:r>
              <a:rPr lang="en-US" dirty="0" err="1">
                <a:latin typeface="Courier New"/>
                <a:cs typeface="Courier New"/>
              </a:rPr>
              <a:t>realy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731 </a:t>
            </a:r>
            <a:r>
              <a:rPr lang="en-US" dirty="0" err="1">
                <a:latin typeface="Courier New"/>
                <a:cs typeface="Courier New"/>
              </a:rPr>
              <a:t>rlly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590 </a:t>
            </a:r>
            <a:r>
              <a:rPr lang="en-US" dirty="0" err="1">
                <a:latin typeface="Courier New"/>
                <a:cs typeface="Courier New"/>
              </a:rPr>
              <a:t>reallly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234 </a:t>
            </a:r>
            <a:r>
              <a:rPr lang="en-US" dirty="0" err="1">
                <a:latin typeface="Courier New"/>
                <a:cs typeface="Courier New"/>
              </a:rPr>
              <a:t>realllly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216 </a:t>
            </a:r>
            <a:r>
              <a:rPr lang="en-US" dirty="0" err="1">
                <a:latin typeface="Courier New"/>
                <a:cs typeface="Courier New"/>
              </a:rPr>
              <a:t>reallyy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156 </a:t>
            </a:r>
            <a:r>
              <a:rPr lang="en-US" dirty="0" err="1">
                <a:latin typeface="Courier New"/>
                <a:cs typeface="Courier New"/>
              </a:rPr>
              <a:t>relly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146 </a:t>
            </a:r>
            <a:r>
              <a:rPr lang="en-US" dirty="0" err="1">
                <a:latin typeface="Courier New"/>
                <a:cs typeface="Courier New"/>
              </a:rPr>
              <a:t>reallllly</a:t>
            </a:r>
            <a:endParaRPr lang="en-US" dirty="0">
              <a:latin typeface="Courier New"/>
              <a:cs typeface="Courier New"/>
            </a:endParaRPr>
          </a:p>
          <a:p>
            <a:r>
              <a:rPr lang="pl-PL" dirty="0">
                <a:latin typeface="Courier New"/>
                <a:cs typeface="Courier New"/>
              </a:rPr>
              <a:t>    132 </a:t>
            </a:r>
            <a:r>
              <a:rPr lang="pl-PL" dirty="0" err="1">
                <a:latin typeface="Courier New"/>
                <a:cs typeface="Courier New"/>
              </a:rPr>
              <a:t>rily</a:t>
            </a:r>
            <a:endParaRPr lang="pl-PL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104 </a:t>
            </a:r>
            <a:r>
              <a:rPr lang="fi-FI" dirty="0" err="1">
                <a:latin typeface="Courier New"/>
                <a:cs typeface="Courier New"/>
              </a:rPr>
              <a:t>reallyyy</a:t>
            </a:r>
            <a:endParaRPr lang="fi-FI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 89 </a:t>
            </a:r>
            <a:r>
              <a:rPr lang="en-US" dirty="0" err="1">
                <a:latin typeface="Courier New"/>
                <a:cs typeface="Courier New"/>
              </a:rPr>
              <a:t>reeeally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 89 </a:t>
            </a:r>
            <a:r>
              <a:rPr lang="en-US" dirty="0" err="1">
                <a:latin typeface="Courier New"/>
                <a:cs typeface="Courier New"/>
              </a:rPr>
              <a:t>realllllly</a:t>
            </a:r>
            <a:endParaRPr lang="en-US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84 </a:t>
            </a:r>
            <a:r>
              <a:rPr lang="fi-FI" dirty="0" err="1">
                <a:latin typeface="Courier New"/>
                <a:cs typeface="Courier New"/>
              </a:rPr>
              <a:t>reaaally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82 </a:t>
            </a:r>
            <a:r>
              <a:rPr lang="fi-FI" dirty="0" err="1">
                <a:latin typeface="Courier New"/>
                <a:cs typeface="Courier New"/>
              </a:rPr>
              <a:t>reaally</a:t>
            </a:r>
            <a:endParaRPr lang="fi-FI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 72 </a:t>
            </a:r>
            <a:r>
              <a:rPr lang="en-US" dirty="0" err="1">
                <a:latin typeface="Courier New"/>
                <a:cs typeface="Courier New"/>
              </a:rPr>
              <a:t>reeeeally</a:t>
            </a:r>
            <a:endParaRPr lang="en-US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65 </a:t>
            </a:r>
            <a:r>
              <a:rPr lang="fi-FI" dirty="0" err="1">
                <a:latin typeface="Courier New"/>
                <a:cs typeface="Courier New"/>
              </a:rPr>
              <a:t>reaaaally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57 </a:t>
            </a:r>
            <a:r>
              <a:rPr lang="fi-FI" dirty="0" err="1">
                <a:latin typeface="Courier New"/>
                <a:cs typeface="Courier New"/>
              </a:rPr>
              <a:t>reallyyyy</a:t>
            </a:r>
            <a:endParaRPr lang="fi-FI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     53 </a:t>
            </a:r>
            <a:r>
              <a:rPr lang="en-US" dirty="0" err="1">
                <a:latin typeface="Courier New"/>
                <a:cs typeface="Courier New"/>
              </a:rPr>
              <a:t>rilly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52700" y="885529"/>
            <a:ext cx="3263900" cy="5632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latin typeface="Courier New"/>
                <a:cs typeface="Courier New"/>
              </a:rPr>
              <a:t>     50 </a:t>
            </a:r>
            <a:r>
              <a:rPr lang="fi-FI" dirty="0" err="1">
                <a:latin typeface="Courier New"/>
                <a:cs typeface="Courier New"/>
              </a:rPr>
              <a:t>reallllllly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48 </a:t>
            </a:r>
            <a:r>
              <a:rPr lang="fi-FI" dirty="0" err="1">
                <a:latin typeface="Courier New"/>
                <a:cs typeface="Courier New"/>
              </a:rPr>
              <a:t>reeeeeally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41 </a:t>
            </a:r>
            <a:r>
              <a:rPr lang="fi-FI" dirty="0" err="1">
                <a:latin typeface="Courier New"/>
                <a:cs typeface="Courier New"/>
              </a:rPr>
              <a:t>reeally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38 really2</a:t>
            </a:r>
          </a:p>
          <a:p>
            <a:r>
              <a:rPr lang="fi-FI" dirty="0">
                <a:latin typeface="Courier New"/>
                <a:cs typeface="Courier New"/>
              </a:rPr>
              <a:t>     37 </a:t>
            </a:r>
            <a:r>
              <a:rPr lang="fi-FI" dirty="0" err="1">
                <a:latin typeface="Courier New"/>
                <a:cs typeface="Courier New"/>
              </a:rPr>
              <a:t>reaaaaally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35 </a:t>
            </a:r>
            <a:r>
              <a:rPr lang="fi-FI" dirty="0" err="1">
                <a:latin typeface="Courier New"/>
                <a:cs typeface="Courier New"/>
              </a:rPr>
              <a:t>reallyyyyy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31 </a:t>
            </a:r>
            <a:r>
              <a:rPr lang="fi-FI" dirty="0" err="1">
                <a:latin typeface="Courier New"/>
                <a:cs typeface="Courier New"/>
              </a:rPr>
              <a:t>reely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30 </a:t>
            </a:r>
            <a:r>
              <a:rPr lang="fi-FI" dirty="0" err="1">
                <a:latin typeface="Courier New"/>
                <a:cs typeface="Courier New"/>
              </a:rPr>
              <a:t>realllyyy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27 </a:t>
            </a:r>
            <a:r>
              <a:rPr lang="fi-FI" dirty="0" err="1">
                <a:latin typeface="Courier New"/>
                <a:cs typeface="Courier New"/>
              </a:rPr>
              <a:t>realllyy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27 </a:t>
            </a:r>
            <a:r>
              <a:rPr lang="fi-FI" dirty="0" err="1">
                <a:latin typeface="Courier New"/>
                <a:cs typeface="Courier New"/>
              </a:rPr>
              <a:t>reaaly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26 </a:t>
            </a:r>
            <a:r>
              <a:rPr lang="fi-FI" dirty="0" err="1">
                <a:latin typeface="Courier New"/>
                <a:cs typeface="Courier New"/>
              </a:rPr>
              <a:t>realllyyyy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25 </a:t>
            </a:r>
            <a:r>
              <a:rPr lang="fi-FI" dirty="0" err="1">
                <a:latin typeface="Courier New"/>
                <a:cs typeface="Courier New"/>
              </a:rPr>
              <a:t>realllllllly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22 </a:t>
            </a:r>
            <a:r>
              <a:rPr lang="fi-FI" dirty="0" err="1">
                <a:latin typeface="Courier New"/>
                <a:cs typeface="Courier New"/>
              </a:rPr>
              <a:t>reaaallly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21 </a:t>
            </a:r>
            <a:r>
              <a:rPr lang="fi-FI" dirty="0" err="1">
                <a:latin typeface="Courier New"/>
                <a:cs typeface="Courier New"/>
              </a:rPr>
              <a:t>really-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19 </a:t>
            </a:r>
            <a:r>
              <a:rPr lang="fi-FI" dirty="0" err="1">
                <a:latin typeface="Courier New"/>
                <a:cs typeface="Courier New"/>
              </a:rPr>
              <a:t>reeaally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18 </a:t>
            </a:r>
            <a:r>
              <a:rPr lang="fi-FI" dirty="0" err="1">
                <a:latin typeface="Courier New"/>
                <a:cs typeface="Courier New"/>
              </a:rPr>
              <a:t>reallllyyy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16 </a:t>
            </a:r>
            <a:r>
              <a:rPr lang="fi-FI" dirty="0" err="1">
                <a:latin typeface="Courier New"/>
                <a:cs typeface="Courier New"/>
              </a:rPr>
              <a:t>reaaaallly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15 </a:t>
            </a:r>
            <a:r>
              <a:rPr lang="fi-FI" dirty="0" err="1">
                <a:latin typeface="Courier New"/>
                <a:cs typeface="Courier New"/>
              </a:rPr>
              <a:t>realyy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15 </a:t>
            </a:r>
            <a:r>
              <a:rPr lang="fi-FI" dirty="0" err="1">
                <a:latin typeface="Courier New"/>
                <a:cs typeface="Courier New"/>
              </a:rPr>
              <a:t>reallyreally</a:t>
            </a:r>
            <a:endParaRPr lang="fi-FI" dirty="0">
              <a:latin typeface="Courier New"/>
              <a:cs typeface="Courier New"/>
            </a:endParaRPr>
          </a:p>
          <a:p>
            <a:endParaRPr lang="fi-FI" dirty="0">
              <a:latin typeface="Courier New"/>
              <a:cs typeface="Courier Ne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5400" y="885529"/>
            <a:ext cx="3975100" cy="5632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latin typeface="Courier New"/>
                <a:cs typeface="Courier New"/>
              </a:rPr>
              <a:t>     15 </a:t>
            </a:r>
            <a:r>
              <a:rPr lang="fi-FI" dirty="0" err="1">
                <a:latin typeface="Courier New"/>
                <a:cs typeface="Courier New"/>
              </a:rPr>
              <a:t>reallllyy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15 </a:t>
            </a:r>
            <a:r>
              <a:rPr lang="fi-FI" dirty="0" err="1">
                <a:latin typeface="Courier New"/>
                <a:cs typeface="Courier New"/>
              </a:rPr>
              <a:t>reallllllllly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15 </a:t>
            </a:r>
            <a:r>
              <a:rPr lang="fi-FI" dirty="0" err="1">
                <a:latin typeface="Courier New"/>
                <a:cs typeface="Courier New"/>
              </a:rPr>
              <a:t>reaallly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14 </a:t>
            </a:r>
            <a:r>
              <a:rPr lang="fi-FI" dirty="0" err="1">
                <a:latin typeface="Courier New"/>
                <a:cs typeface="Courier New"/>
              </a:rPr>
              <a:t>reeeeeeally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14 </a:t>
            </a:r>
            <a:r>
              <a:rPr lang="fi-FI" dirty="0" err="1">
                <a:latin typeface="Courier New"/>
                <a:cs typeface="Courier New"/>
              </a:rPr>
              <a:t>reallllyyyy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13 </a:t>
            </a:r>
            <a:r>
              <a:rPr lang="fi-FI" dirty="0" err="1">
                <a:latin typeface="Courier New"/>
                <a:cs typeface="Courier New"/>
              </a:rPr>
              <a:t>reeeaaally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12 </a:t>
            </a:r>
            <a:r>
              <a:rPr lang="fi-FI" dirty="0" err="1">
                <a:latin typeface="Courier New"/>
                <a:cs typeface="Courier New"/>
              </a:rPr>
              <a:t>rreally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12 </a:t>
            </a:r>
            <a:r>
              <a:rPr lang="fi-FI" dirty="0" err="1">
                <a:latin typeface="Courier New"/>
                <a:cs typeface="Courier New"/>
              </a:rPr>
              <a:t>reaaaaaally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11 </a:t>
            </a:r>
            <a:r>
              <a:rPr lang="fi-FI" dirty="0" err="1">
                <a:latin typeface="Courier New"/>
                <a:cs typeface="Courier New"/>
              </a:rPr>
              <a:t>reeeeallly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11 </a:t>
            </a:r>
            <a:r>
              <a:rPr lang="fi-FI" dirty="0" err="1">
                <a:latin typeface="Courier New"/>
                <a:cs typeface="Courier New"/>
              </a:rPr>
              <a:t>reeeallly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11 </a:t>
            </a:r>
            <a:r>
              <a:rPr lang="fi-FI" dirty="0" err="1">
                <a:latin typeface="Courier New"/>
                <a:cs typeface="Courier New"/>
              </a:rPr>
              <a:t>realllllyyy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11 </a:t>
            </a:r>
            <a:r>
              <a:rPr lang="fi-FI" dirty="0" err="1">
                <a:latin typeface="Courier New"/>
                <a:cs typeface="Courier New"/>
              </a:rPr>
              <a:t>reaallyy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10 </a:t>
            </a:r>
            <a:r>
              <a:rPr lang="fi-FI" dirty="0" err="1">
                <a:latin typeface="Courier New"/>
                <a:cs typeface="Courier New"/>
              </a:rPr>
              <a:t>reallyreallyreally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10 </a:t>
            </a:r>
            <a:r>
              <a:rPr lang="fi-FI" dirty="0" err="1">
                <a:latin typeface="Courier New"/>
                <a:cs typeface="Courier New"/>
              </a:rPr>
              <a:t>reaaaly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 9 </a:t>
            </a:r>
            <a:r>
              <a:rPr lang="fi-FI" dirty="0" err="1">
                <a:latin typeface="Courier New"/>
                <a:cs typeface="Courier New"/>
              </a:rPr>
              <a:t>reeeeeeeally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 9 </a:t>
            </a:r>
            <a:r>
              <a:rPr lang="fi-FI" dirty="0" err="1">
                <a:latin typeface="Courier New"/>
                <a:cs typeface="Courier New"/>
              </a:rPr>
              <a:t>reallys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 9 </a:t>
            </a:r>
            <a:r>
              <a:rPr lang="fi-FI" dirty="0" err="1">
                <a:latin typeface="Courier New"/>
                <a:cs typeface="Courier New"/>
              </a:rPr>
              <a:t>really-really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 9 </a:t>
            </a:r>
            <a:r>
              <a:rPr lang="fi-FI" dirty="0" err="1">
                <a:latin typeface="Courier New"/>
                <a:cs typeface="Courier New"/>
              </a:rPr>
              <a:t>r)eally</a:t>
            </a:r>
            <a:endParaRPr lang="fi-FI" dirty="0">
              <a:latin typeface="Courier New"/>
              <a:cs typeface="Courier New"/>
            </a:endParaRPr>
          </a:p>
          <a:p>
            <a:r>
              <a:rPr lang="fi-FI" dirty="0">
                <a:latin typeface="Courier New"/>
                <a:cs typeface="Courier New"/>
              </a:rPr>
              <a:t>      8 </a:t>
            </a:r>
            <a:r>
              <a:rPr lang="fi-FI" dirty="0" err="1">
                <a:latin typeface="Courier New"/>
                <a:cs typeface="Courier New"/>
              </a:rPr>
              <a:t>reeeaally</a:t>
            </a:r>
            <a:endParaRPr lang="fi-FI" dirty="0">
              <a:latin typeface="Courier New"/>
              <a:cs typeface="Courier New"/>
            </a:endParaRPr>
          </a:p>
          <a:p>
            <a:endParaRPr lang="fi-FI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27918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many words are there?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/>
              </a:rPr>
              <a:t>a bit surprising: vocabulary continues to grow in any actual dataset</a:t>
            </a:r>
          </a:p>
          <a:p>
            <a:r>
              <a:rPr lang="en-US" dirty="0">
                <a:sym typeface="Wingdings"/>
              </a:rPr>
              <a:t>you’ll just never see all the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6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are words distributed?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6598"/>
            <a:ext cx="8229600" cy="1300971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288CD2"/>
                </a:solidFill>
                <a:sym typeface="Wingdings"/>
              </a:rPr>
              <a:t>Zipf’s</a:t>
            </a:r>
            <a:r>
              <a:rPr lang="en-US" sz="2800" dirty="0">
                <a:solidFill>
                  <a:srgbClr val="288CD2"/>
                </a:solidFill>
                <a:sym typeface="Wingdings"/>
              </a:rPr>
              <a:t> law</a:t>
            </a:r>
            <a:r>
              <a:rPr lang="en-US" sz="2800" dirty="0">
                <a:sym typeface="Wingdings"/>
              </a:rPr>
              <a:t>: frequency of a word is inversely proportional to its 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graph-zip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60" y="1714501"/>
            <a:ext cx="8453240" cy="446684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912771" y="6273794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blog EMIS</a:t>
            </a:r>
          </a:p>
        </p:txBody>
      </p:sp>
    </p:spTree>
    <p:extLst>
      <p:ext uri="{BB962C8B-B14F-4D97-AF65-F5344CB8AC3E}">
        <p14:creationId xmlns:p14="http://schemas.microsoft.com/office/powerpoint/2010/main" val="2493296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are words distributed?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6598"/>
            <a:ext cx="8229600" cy="1300971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288CD2"/>
                </a:solidFill>
                <a:sym typeface="Wingdings"/>
              </a:rPr>
              <a:t>Zipf’s</a:t>
            </a:r>
            <a:r>
              <a:rPr lang="en-US" sz="2800" dirty="0">
                <a:solidFill>
                  <a:srgbClr val="288CD2"/>
                </a:solidFill>
                <a:sym typeface="Wingdings"/>
              </a:rPr>
              <a:t> law</a:t>
            </a:r>
            <a:r>
              <a:rPr lang="en-US" sz="2800" dirty="0">
                <a:sym typeface="Wingdings"/>
              </a:rPr>
              <a:t>: frequency of a word is inversely proportional to its 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graph-zip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60" y="1714501"/>
            <a:ext cx="8453240" cy="446684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912771" y="6273794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blog EMIS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7300" y="4147691"/>
            <a:ext cx="2133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cs typeface="Calibri"/>
              </a:rPr>
              <a:t>“long tail”</a:t>
            </a:r>
          </a:p>
        </p:txBody>
      </p:sp>
    </p:spTree>
    <p:extLst>
      <p:ext uri="{BB962C8B-B14F-4D97-AF65-F5344CB8AC3E}">
        <p14:creationId xmlns:p14="http://schemas.microsoft.com/office/powerpoint/2010/main" val="1784866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err="1"/>
              <a:t>Zipf’s</a:t>
            </a:r>
            <a:r>
              <a:rPr lang="en-US" sz="3600" dirty="0"/>
              <a:t>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6929"/>
            <a:ext cx="8229600" cy="5052424"/>
          </a:xfrm>
        </p:spPr>
        <p:txBody>
          <a:bodyPr>
            <a:normAutofit/>
          </a:bodyPr>
          <a:lstStyle/>
          <a:p>
            <a:r>
              <a:rPr lang="en-US" sz="2400" dirty="0">
                <a:sym typeface="Wingdings"/>
              </a:rPr>
              <a:t>also predicts other kinds of data: population of cities in a country, revenue of different companies, etc.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feb25-zipfbgrap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80" y="1536700"/>
            <a:ext cx="6872420" cy="516890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7776371" y="570935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288CD2"/>
                </a:solidFill>
              </a:rPr>
              <a:t>The Laurentian University Sports Analytics Group</a:t>
            </a:r>
          </a:p>
        </p:txBody>
      </p:sp>
    </p:spTree>
    <p:extLst>
      <p:ext uri="{BB962C8B-B14F-4D97-AF65-F5344CB8AC3E}">
        <p14:creationId xmlns:p14="http://schemas.microsoft.com/office/powerpoint/2010/main" val="42267268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Long 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 many word types!</a:t>
            </a:r>
          </a:p>
          <a:p>
            <a:r>
              <a:rPr lang="en-US" dirty="0"/>
              <a:t>but words have </a:t>
            </a:r>
            <a:r>
              <a:rPr lang="en-US" b="1" dirty="0"/>
              <a:t>internal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348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types and tokens</a:t>
            </a:r>
          </a:p>
          <a:p>
            <a:r>
              <a:rPr lang="en-US" dirty="0">
                <a:solidFill>
                  <a:srgbClr val="288CD2"/>
                </a:solidFill>
              </a:rPr>
              <a:t>morphology</a:t>
            </a:r>
          </a:p>
          <a:p>
            <a:r>
              <a:rPr lang="en-US" dirty="0"/>
              <a:t>distributional word vectors</a:t>
            </a:r>
          </a:p>
          <a:p>
            <a:r>
              <a:rPr lang="en-US" dirty="0"/>
              <a:t>word sense and lexical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908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Type/Token Ratio across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type/token ratio </a:t>
            </a:r>
            <a:r>
              <a:rPr lang="en-US" sz="2500" dirty="0">
                <a:sym typeface="Wingdings"/>
              </a:rPr>
              <a:t></a:t>
            </a:r>
            <a:endParaRPr lang="en-US" dirty="0">
              <a:sym typeface="Wingdings"/>
            </a:endParaRPr>
          </a:p>
          <a:p>
            <a:r>
              <a:rPr lang="en-US" dirty="0">
                <a:sym typeface="Wingdings"/>
              </a:rPr>
              <a:t>low type/token ratio </a:t>
            </a:r>
            <a:r>
              <a:rPr lang="en-US" sz="2500" dirty="0">
                <a:sym typeface="Wingdings"/>
              </a:rPr>
              <a:t>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132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Type/Token Ratio across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type/token ratio </a:t>
            </a:r>
            <a:r>
              <a:rPr lang="en-US" sz="2500" dirty="0">
                <a:sym typeface="Wingdings"/>
              </a:rPr>
              <a:t> </a:t>
            </a:r>
            <a:r>
              <a:rPr lang="en-US" dirty="0">
                <a:sym typeface="Wingdings"/>
              </a:rPr>
              <a:t>rich morphology</a:t>
            </a:r>
          </a:p>
          <a:p>
            <a:r>
              <a:rPr lang="en-US" dirty="0">
                <a:sym typeface="Wingdings"/>
              </a:rPr>
              <a:t>low type/token ratio </a:t>
            </a:r>
            <a:r>
              <a:rPr lang="en-US" sz="2500" dirty="0">
                <a:sym typeface="Wingdings"/>
              </a:rPr>
              <a:t> </a:t>
            </a:r>
            <a:r>
              <a:rPr lang="en-US" dirty="0">
                <a:sym typeface="Wingdings"/>
              </a:rPr>
              <a:t>poor morphology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479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Morphology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morphemes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small meaningful units that make up words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stems</a:t>
            </a:r>
            <a:r>
              <a:rPr lang="en-US" dirty="0"/>
              <a:t>: core meaning-bearing units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affixes</a:t>
            </a:r>
            <a:r>
              <a:rPr lang="en-US" dirty="0"/>
              <a:t>: bits and pieces that adhere to stems</a:t>
            </a:r>
          </a:p>
          <a:p>
            <a:pPr lvl="2"/>
            <a:r>
              <a:rPr lang="en-US" sz="2800" dirty="0"/>
              <a:t>often with grammatical functions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465579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Kinds of Word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288CD2"/>
                </a:solidFill>
              </a:rPr>
              <a:t>inflection</a:t>
            </a:r>
            <a:r>
              <a:rPr lang="en-US" dirty="0"/>
              <a:t>: modifying a word with an affix to change its grammatical function (tense, number, etc.)</a:t>
            </a:r>
          </a:p>
          <a:p>
            <a:pPr lvl="1"/>
            <a:r>
              <a:rPr lang="en-US" dirty="0"/>
              <a:t>result is a “different form of the same word”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book</a:t>
            </a:r>
            <a:r>
              <a:rPr lang="en-US" dirty="0"/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books</a:t>
            </a:r>
            <a:r>
              <a:rPr lang="en-US" dirty="0">
                <a:sym typeface="Wingdings"/>
              </a:rPr>
              <a:t>, </a:t>
            </a:r>
            <a:r>
              <a:rPr lang="en-US" i="1" dirty="0">
                <a:sym typeface="Wingdings"/>
              </a:rPr>
              <a:t>walk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walked</a:t>
            </a:r>
            <a:endParaRPr lang="en-US" i="1" dirty="0"/>
          </a:p>
          <a:p>
            <a:r>
              <a:rPr lang="en-US" dirty="0">
                <a:solidFill>
                  <a:srgbClr val="FFFFFF"/>
                </a:solidFill>
              </a:rPr>
              <a:t>derivation: adding an affix to a stem to create a new word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examples: </a:t>
            </a:r>
            <a:r>
              <a:rPr lang="en-US" i="1" dirty="0">
                <a:solidFill>
                  <a:srgbClr val="FFFFFF"/>
                </a:solidFill>
              </a:rPr>
              <a:t>great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rgbClr val="FFFFFF"/>
                </a:solidFill>
                <a:sym typeface="Wingdings"/>
              </a:rPr>
              <a:t></a:t>
            </a:r>
            <a:r>
              <a:rPr lang="en-US" dirty="0">
                <a:solidFill>
                  <a:srgbClr val="FFFFFF"/>
                </a:solidFill>
                <a:sym typeface="Wingdings"/>
              </a:rPr>
              <a:t> </a:t>
            </a:r>
            <a:r>
              <a:rPr lang="en-US" i="1" dirty="0">
                <a:solidFill>
                  <a:srgbClr val="FFFFFF"/>
                </a:solidFill>
                <a:sym typeface="Wingdings"/>
              </a:rPr>
              <a:t>greatly</a:t>
            </a:r>
            <a:r>
              <a:rPr lang="en-US" dirty="0">
                <a:solidFill>
                  <a:srgbClr val="FFFFFF"/>
                </a:solidFill>
                <a:sym typeface="Wingdings"/>
              </a:rPr>
              <a:t>, </a:t>
            </a:r>
            <a:r>
              <a:rPr lang="en-US" i="1" dirty="0">
                <a:solidFill>
                  <a:srgbClr val="FFFFFF"/>
                </a:solidFill>
                <a:sym typeface="Wingdings"/>
              </a:rPr>
              <a:t>great</a:t>
            </a:r>
            <a:r>
              <a:rPr lang="en-US" dirty="0">
                <a:solidFill>
                  <a:srgbClr val="FFFFFF"/>
                </a:solidFill>
                <a:sym typeface="Wingdings"/>
              </a:rPr>
              <a:t> </a:t>
            </a:r>
            <a:r>
              <a:rPr lang="en-US" sz="2000" dirty="0">
                <a:solidFill>
                  <a:srgbClr val="FFFFFF"/>
                </a:solidFill>
                <a:sym typeface="Wingdings"/>
              </a:rPr>
              <a:t></a:t>
            </a:r>
            <a:r>
              <a:rPr lang="en-US" dirty="0">
                <a:solidFill>
                  <a:srgbClr val="FFFFFF"/>
                </a:solidFill>
                <a:sym typeface="Wingdings"/>
              </a:rPr>
              <a:t> </a:t>
            </a:r>
            <a:r>
              <a:rPr lang="en-US" i="1" dirty="0">
                <a:solidFill>
                  <a:srgbClr val="FFFFFF"/>
                </a:solidFill>
                <a:sym typeface="Wingdings"/>
              </a:rPr>
              <a:t>greatness</a:t>
            </a:r>
          </a:p>
          <a:p>
            <a:r>
              <a:rPr lang="en-US" dirty="0">
                <a:solidFill>
                  <a:srgbClr val="FFFFFF"/>
                </a:solidFill>
                <a:sym typeface="Wingdings"/>
              </a:rPr>
              <a:t>compounding: combining two stems</a:t>
            </a:r>
          </a:p>
          <a:p>
            <a:pPr lvl="1"/>
            <a:r>
              <a:rPr lang="en-US" dirty="0">
                <a:solidFill>
                  <a:srgbClr val="FFFFFF"/>
                </a:solidFill>
                <a:sym typeface="Wingdings"/>
              </a:rPr>
              <a:t>examples: </a:t>
            </a:r>
            <a:r>
              <a:rPr lang="en-US" i="1" dirty="0">
                <a:solidFill>
                  <a:srgbClr val="FFFFFF"/>
                </a:solidFill>
                <a:sym typeface="Wingdings"/>
              </a:rPr>
              <a:t>lawsuit</a:t>
            </a:r>
            <a:r>
              <a:rPr lang="en-US" dirty="0">
                <a:solidFill>
                  <a:srgbClr val="FFFFFF"/>
                </a:solidFill>
                <a:sym typeface="Wingdings"/>
              </a:rPr>
              <a:t>, </a:t>
            </a:r>
            <a:r>
              <a:rPr lang="en-US" i="1" dirty="0">
                <a:solidFill>
                  <a:srgbClr val="FFFFFF"/>
                </a:solidFill>
                <a:sym typeface="Wingdings"/>
              </a:rPr>
              <a:t>keyboard, bookcase</a:t>
            </a:r>
            <a:endParaRPr lang="en-US" i="1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38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Kinds of Word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288CD2"/>
                </a:solidFill>
              </a:rPr>
              <a:t>inflection</a:t>
            </a:r>
            <a:r>
              <a:rPr lang="en-US" dirty="0"/>
              <a:t>: modifying a word with an affix to change its grammatical function (tense, number, etc.)</a:t>
            </a:r>
          </a:p>
          <a:p>
            <a:pPr lvl="1"/>
            <a:r>
              <a:rPr lang="en-US" dirty="0"/>
              <a:t>result is a “different form of the same word”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book</a:t>
            </a:r>
            <a:r>
              <a:rPr lang="en-US" dirty="0"/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books</a:t>
            </a:r>
            <a:r>
              <a:rPr lang="en-US" dirty="0">
                <a:sym typeface="Wingdings"/>
              </a:rPr>
              <a:t>, </a:t>
            </a:r>
            <a:r>
              <a:rPr lang="en-US" i="1" dirty="0">
                <a:sym typeface="Wingdings"/>
              </a:rPr>
              <a:t>walk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walked</a:t>
            </a:r>
            <a:endParaRPr lang="en-US" i="1" dirty="0"/>
          </a:p>
          <a:p>
            <a:r>
              <a:rPr lang="en-US" dirty="0">
                <a:solidFill>
                  <a:srgbClr val="288CD2"/>
                </a:solidFill>
              </a:rPr>
              <a:t>derivation</a:t>
            </a:r>
            <a:r>
              <a:rPr lang="en-US" dirty="0"/>
              <a:t>: adding an affix to a stem to create a new word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great</a:t>
            </a:r>
            <a:r>
              <a:rPr lang="en-US" dirty="0"/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greatly</a:t>
            </a:r>
            <a:r>
              <a:rPr lang="en-US" dirty="0">
                <a:sym typeface="Wingdings"/>
              </a:rPr>
              <a:t>, </a:t>
            </a:r>
            <a:r>
              <a:rPr lang="en-US" i="1" dirty="0">
                <a:sym typeface="Wingdings"/>
              </a:rPr>
              <a:t>great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greatness</a:t>
            </a:r>
          </a:p>
          <a:p>
            <a:r>
              <a:rPr lang="en-US" dirty="0">
                <a:solidFill>
                  <a:srgbClr val="FFFFFF"/>
                </a:solidFill>
                <a:sym typeface="Wingdings"/>
              </a:rPr>
              <a:t>compounding: combining two stems</a:t>
            </a:r>
          </a:p>
          <a:p>
            <a:pPr lvl="1"/>
            <a:r>
              <a:rPr lang="en-US" dirty="0">
                <a:solidFill>
                  <a:srgbClr val="FFFFFF"/>
                </a:solidFill>
                <a:sym typeface="Wingdings"/>
              </a:rPr>
              <a:t>examples: </a:t>
            </a:r>
            <a:r>
              <a:rPr lang="en-US" i="1" dirty="0">
                <a:solidFill>
                  <a:srgbClr val="FFFFFF"/>
                </a:solidFill>
                <a:sym typeface="Wingdings"/>
              </a:rPr>
              <a:t>lawsuit</a:t>
            </a:r>
            <a:r>
              <a:rPr lang="en-US" dirty="0">
                <a:solidFill>
                  <a:srgbClr val="FFFFFF"/>
                </a:solidFill>
                <a:sym typeface="Wingdings"/>
              </a:rPr>
              <a:t>, </a:t>
            </a:r>
            <a:r>
              <a:rPr lang="en-US" i="1" dirty="0">
                <a:solidFill>
                  <a:srgbClr val="FFFFFF"/>
                </a:solidFill>
                <a:sym typeface="Wingdings"/>
              </a:rPr>
              <a:t>keyboard, bookcase</a:t>
            </a:r>
            <a:endParaRPr lang="en-US" i="1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909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Kinds of Word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288CD2"/>
                </a:solidFill>
              </a:rPr>
              <a:t>inflection</a:t>
            </a:r>
            <a:r>
              <a:rPr lang="en-US" dirty="0"/>
              <a:t>: modifying a word with an affix to change its grammatical function (tense, number, etc.)</a:t>
            </a:r>
          </a:p>
          <a:p>
            <a:pPr lvl="1"/>
            <a:r>
              <a:rPr lang="en-US" dirty="0"/>
              <a:t>result is a “different form of the same word”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book</a:t>
            </a:r>
            <a:r>
              <a:rPr lang="en-US" dirty="0"/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books</a:t>
            </a:r>
            <a:r>
              <a:rPr lang="en-US" dirty="0">
                <a:sym typeface="Wingdings"/>
              </a:rPr>
              <a:t>, </a:t>
            </a:r>
            <a:r>
              <a:rPr lang="en-US" i="1" dirty="0">
                <a:sym typeface="Wingdings"/>
              </a:rPr>
              <a:t>walk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walked</a:t>
            </a:r>
            <a:endParaRPr lang="en-US" i="1" dirty="0"/>
          </a:p>
          <a:p>
            <a:r>
              <a:rPr lang="en-US" dirty="0">
                <a:solidFill>
                  <a:srgbClr val="288CD2"/>
                </a:solidFill>
              </a:rPr>
              <a:t>derivation</a:t>
            </a:r>
            <a:r>
              <a:rPr lang="en-US" dirty="0"/>
              <a:t>: adding an affix to a stem to create a new word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great</a:t>
            </a:r>
            <a:r>
              <a:rPr lang="en-US" dirty="0"/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greatly</a:t>
            </a:r>
            <a:r>
              <a:rPr lang="en-US" dirty="0">
                <a:sym typeface="Wingdings"/>
              </a:rPr>
              <a:t>, </a:t>
            </a:r>
            <a:r>
              <a:rPr lang="en-US" i="1" dirty="0">
                <a:sym typeface="Wingdings"/>
              </a:rPr>
              <a:t>great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greatness</a:t>
            </a:r>
          </a:p>
          <a:p>
            <a:r>
              <a:rPr lang="en-US" dirty="0">
                <a:solidFill>
                  <a:srgbClr val="288CD2"/>
                </a:solidFill>
                <a:sym typeface="Wingdings"/>
              </a:rPr>
              <a:t>compounding</a:t>
            </a:r>
            <a:r>
              <a:rPr lang="en-US" dirty="0">
                <a:sym typeface="Wingdings"/>
              </a:rPr>
              <a:t>: combining two stems</a:t>
            </a:r>
          </a:p>
          <a:p>
            <a:pPr lvl="1"/>
            <a:r>
              <a:rPr lang="en-US" dirty="0">
                <a:sym typeface="Wingdings"/>
              </a:rPr>
              <a:t>examples: </a:t>
            </a:r>
            <a:r>
              <a:rPr lang="en-US" i="1" dirty="0">
                <a:sym typeface="Wingdings"/>
              </a:rPr>
              <a:t>lawsuit</a:t>
            </a:r>
            <a:r>
              <a:rPr lang="en-US" dirty="0">
                <a:sym typeface="Wingdings"/>
              </a:rPr>
              <a:t>, </a:t>
            </a:r>
            <a:r>
              <a:rPr lang="en-US" i="1" dirty="0">
                <a:sym typeface="Wingdings"/>
              </a:rPr>
              <a:t>keyboard, bookcase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37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Morphology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usually, morphological derivation is simply splitting a word into its morphemes:</a:t>
            </a:r>
          </a:p>
          <a:p>
            <a:pPr lvl="1"/>
            <a:r>
              <a:rPr lang="en-US" dirty="0"/>
              <a:t>walked = walk + </a:t>
            </a:r>
            <a:r>
              <a:rPr lang="en-US" dirty="0" err="1"/>
              <a:t>ed</a:t>
            </a:r>
            <a:endParaRPr lang="en-US" dirty="0"/>
          </a:p>
          <a:p>
            <a:pPr lvl="1"/>
            <a:r>
              <a:rPr lang="en-US" dirty="0"/>
              <a:t>greatness = great + ness</a:t>
            </a:r>
          </a:p>
          <a:p>
            <a:r>
              <a:rPr lang="en-US" dirty="0"/>
              <a:t>but it can actually be a hierarchical structure</a:t>
            </a:r>
          </a:p>
          <a:p>
            <a:pPr lvl="1"/>
            <a:r>
              <a:rPr lang="en-US" dirty="0"/>
              <a:t>unbreakable =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73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Morphology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usually, morphological derivation is simply splitting a word into its morphemes:</a:t>
            </a:r>
          </a:p>
          <a:p>
            <a:pPr lvl="1"/>
            <a:r>
              <a:rPr lang="en-US" dirty="0"/>
              <a:t>walked = walk + </a:t>
            </a:r>
            <a:r>
              <a:rPr lang="en-US" dirty="0" err="1"/>
              <a:t>ed</a:t>
            </a:r>
            <a:endParaRPr lang="en-US" dirty="0"/>
          </a:p>
          <a:p>
            <a:pPr lvl="1"/>
            <a:r>
              <a:rPr lang="en-US" dirty="0"/>
              <a:t>greatness = great + ness</a:t>
            </a:r>
          </a:p>
          <a:p>
            <a:r>
              <a:rPr lang="en-US" dirty="0"/>
              <a:t>but it can actually be a hierarchical structure</a:t>
            </a:r>
          </a:p>
          <a:p>
            <a:pPr lvl="1"/>
            <a:r>
              <a:rPr lang="en-US" dirty="0"/>
              <a:t>unbreakable = un + (break + 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590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Morphology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ambiguity in hierarchical morphological decomposition?</a:t>
            </a:r>
          </a:p>
          <a:p>
            <a:pPr lvl="1"/>
            <a:r>
              <a:rPr lang="en-US" dirty="0"/>
              <a:t>rare, but it does happen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unlockable</a:t>
            </a:r>
            <a:r>
              <a:rPr lang="en-US" dirty="0">
                <a:solidFill>
                  <a:schemeClr val="bg1"/>
                </a:solidFill>
              </a:rPr>
              <a:t> = un + lock + able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what does this word mean?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un+lock</a:t>
            </a:r>
            <a:r>
              <a:rPr lang="en-US" dirty="0">
                <a:solidFill>
                  <a:schemeClr val="bg1"/>
                </a:solidFill>
              </a:rPr>
              <a:t>)+able: “able to be unlocked”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un+(</a:t>
            </a:r>
            <a:r>
              <a:rPr lang="en-US" dirty="0" err="1">
                <a:solidFill>
                  <a:schemeClr val="bg1"/>
                </a:solidFill>
              </a:rPr>
              <a:t>lock+able</a:t>
            </a:r>
            <a:r>
              <a:rPr lang="en-US" dirty="0">
                <a:solidFill>
                  <a:schemeClr val="bg1"/>
                </a:solidFill>
              </a:rPr>
              <a:t>): “unable to be locked”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656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Morphology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ambiguity in hierarchical morphological decomposition?</a:t>
            </a:r>
          </a:p>
          <a:p>
            <a:pPr lvl="1"/>
            <a:r>
              <a:rPr lang="en-US" dirty="0"/>
              <a:t>rare, but it does happen</a:t>
            </a:r>
          </a:p>
          <a:p>
            <a:pPr lvl="1"/>
            <a:r>
              <a:rPr lang="en-US" dirty="0" err="1"/>
              <a:t>unlockable</a:t>
            </a:r>
            <a:r>
              <a:rPr lang="en-US" dirty="0"/>
              <a:t> = un + lock + able</a:t>
            </a:r>
          </a:p>
          <a:p>
            <a:pPr lvl="2"/>
            <a:r>
              <a:rPr lang="en-US" dirty="0"/>
              <a:t>what does this word mean?</a:t>
            </a:r>
          </a:p>
          <a:p>
            <a:pPr lvl="2"/>
            <a:r>
              <a:rPr lang="en-US" dirty="0">
                <a:solidFill>
                  <a:srgbClr val="FFFFFF"/>
                </a:solidFill>
              </a:rPr>
              <a:t>(</a:t>
            </a:r>
            <a:r>
              <a:rPr lang="en-US" dirty="0" err="1">
                <a:solidFill>
                  <a:srgbClr val="FFFFFF"/>
                </a:solidFill>
              </a:rPr>
              <a:t>un+lock</a:t>
            </a:r>
            <a:r>
              <a:rPr lang="en-US" dirty="0">
                <a:solidFill>
                  <a:srgbClr val="FFFFFF"/>
                </a:solidFill>
              </a:rPr>
              <a:t>)+able: “able to be unlocked”</a:t>
            </a:r>
          </a:p>
          <a:p>
            <a:pPr lvl="2"/>
            <a:r>
              <a:rPr lang="en-US" dirty="0">
                <a:solidFill>
                  <a:srgbClr val="FFFFFF"/>
                </a:solidFill>
              </a:rPr>
              <a:t>un+(</a:t>
            </a:r>
            <a:r>
              <a:rPr lang="en-US" dirty="0" err="1">
                <a:solidFill>
                  <a:srgbClr val="FFFFFF"/>
                </a:solidFill>
              </a:rPr>
              <a:t>lock+able</a:t>
            </a:r>
            <a:r>
              <a:rPr lang="en-US" dirty="0">
                <a:solidFill>
                  <a:srgbClr val="FFFFFF"/>
                </a:solidFill>
              </a:rPr>
              <a:t>): “unable to be locked”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00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Morphology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ambiguity in hierarchical morphological decomposition?</a:t>
            </a:r>
          </a:p>
          <a:p>
            <a:pPr lvl="1"/>
            <a:r>
              <a:rPr lang="en-US" dirty="0"/>
              <a:t>rare, but it does happen</a:t>
            </a:r>
          </a:p>
          <a:p>
            <a:pPr lvl="1"/>
            <a:r>
              <a:rPr lang="en-US" dirty="0" err="1"/>
              <a:t>unlockable</a:t>
            </a:r>
            <a:r>
              <a:rPr lang="en-US" dirty="0"/>
              <a:t> = un + lock + able</a:t>
            </a:r>
          </a:p>
          <a:p>
            <a:pPr lvl="2"/>
            <a:r>
              <a:rPr lang="en-US" dirty="0"/>
              <a:t>what does this word mean?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un+lock</a:t>
            </a:r>
            <a:r>
              <a:rPr lang="en-US" dirty="0"/>
              <a:t>)+able: “able to be unlocked”</a:t>
            </a:r>
          </a:p>
          <a:p>
            <a:pPr lvl="2"/>
            <a:r>
              <a:rPr lang="en-US" dirty="0"/>
              <a:t>un+(</a:t>
            </a:r>
            <a:r>
              <a:rPr lang="en-US" dirty="0" err="1"/>
              <a:t>lock+able</a:t>
            </a:r>
            <a:r>
              <a:rPr lang="en-US" dirty="0"/>
              <a:t>): “unable to be locked”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654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Morphology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common tasks:</a:t>
            </a:r>
          </a:p>
          <a:p>
            <a:pPr lvl="1"/>
            <a:r>
              <a:rPr lang="en-US" dirty="0"/>
              <a:t>lemmatization</a:t>
            </a:r>
          </a:p>
          <a:p>
            <a:pPr lvl="1"/>
            <a:r>
              <a:rPr lang="en-US" dirty="0"/>
              <a:t>stemming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497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Lemmatization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1"/>
            <a:ext cx="8686800" cy="526097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lemmatization</a:t>
            </a:r>
            <a:r>
              <a:rPr lang="en-US" dirty="0"/>
              <a:t>: reduce inflections or variant forms to base form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sz="2400" i="1" dirty="0"/>
              <a:t>am, are,</a:t>
            </a:r>
            <a:r>
              <a:rPr lang="en-US" sz="2400" dirty="0"/>
              <a:t> </a:t>
            </a:r>
            <a:r>
              <a:rPr lang="en-US" sz="2400" i="1" dirty="0"/>
              <a:t>is </a:t>
            </a:r>
            <a:r>
              <a:rPr lang="en-US" sz="2400" dirty="0">
                <a:sym typeface="Symbol" charset="2"/>
              </a:rPr>
              <a:t></a:t>
            </a:r>
            <a:r>
              <a:rPr lang="en-US" sz="2400" dirty="0"/>
              <a:t> </a:t>
            </a:r>
            <a:r>
              <a:rPr lang="en-US" sz="2400" i="1" dirty="0"/>
              <a:t>be</a:t>
            </a:r>
            <a:endParaRPr lang="en-US" sz="2400" dirty="0"/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sz="2400" i="1" dirty="0"/>
              <a:t>car, cars, car's</a:t>
            </a:r>
            <a:r>
              <a:rPr lang="en-US" sz="2400" dirty="0"/>
              <a:t>, </a:t>
            </a:r>
            <a:r>
              <a:rPr lang="en-US" sz="2400" i="1" dirty="0"/>
              <a:t>cars'</a:t>
            </a:r>
            <a:r>
              <a:rPr lang="en-US" sz="2400" dirty="0"/>
              <a:t> </a:t>
            </a:r>
            <a:r>
              <a:rPr lang="en-US" sz="2400" dirty="0">
                <a:sym typeface="Symbol" charset="2"/>
              </a:rPr>
              <a:t></a:t>
            </a:r>
            <a:r>
              <a:rPr lang="en-US" sz="2400" dirty="0"/>
              <a:t> </a:t>
            </a:r>
            <a:r>
              <a:rPr lang="en-US" sz="2400" i="1" dirty="0"/>
              <a:t>car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i="1" dirty="0"/>
              <a:t>the boy's cars are different colors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</a:t>
            </a:r>
            <a:r>
              <a:rPr lang="en-US" dirty="0"/>
              <a:t> </a:t>
            </a:r>
            <a:r>
              <a:rPr lang="en-US" i="1" dirty="0"/>
              <a:t>the boy car be different color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dirty="0"/>
              <a:t>have to find correct dictionary headword form</a:t>
            </a:r>
          </a:p>
          <a:p>
            <a:pPr>
              <a:lnSpc>
                <a:spcPct val="90000"/>
              </a:lnSpc>
            </a:pPr>
            <a:r>
              <a:rPr lang="en-US" dirty="0"/>
              <a:t>e.g., for machine translation: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Spanish </a:t>
            </a:r>
            <a:r>
              <a:rPr lang="en-US" i="1" dirty="0" err="1">
                <a:solidFill>
                  <a:srgbClr val="A50021"/>
                </a:solidFill>
              </a:rPr>
              <a:t>quiero</a:t>
            </a:r>
            <a:r>
              <a:rPr lang="en-US" dirty="0"/>
              <a:t> (‘I want’), </a:t>
            </a:r>
            <a:r>
              <a:rPr lang="en-US" i="1" dirty="0" err="1">
                <a:solidFill>
                  <a:srgbClr val="A50021"/>
                </a:solidFill>
              </a:rPr>
              <a:t>quieres</a:t>
            </a:r>
            <a:r>
              <a:rPr lang="en-US" dirty="0"/>
              <a:t> (‘you want’) same lemma as </a:t>
            </a:r>
            <a:r>
              <a:rPr lang="en-US" i="1" dirty="0" err="1">
                <a:solidFill>
                  <a:srgbClr val="A50021"/>
                </a:solidFill>
              </a:rPr>
              <a:t>querer</a:t>
            </a:r>
            <a:r>
              <a:rPr lang="en-US" dirty="0"/>
              <a:t> ‘want’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110413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Stemming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288CD2"/>
                </a:solidFill>
              </a:rPr>
              <a:t>stemming</a:t>
            </a:r>
            <a:r>
              <a:rPr lang="en-US" b="1" dirty="0"/>
              <a:t>: </a:t>
            </a:r>
            <a:r>
              <a:rPr lang="en-US" dirty="0"/>
              <a:t>reduces words to their stems via crude chopping of affixes</a:t>
            </a:r>
          </a:p>
          <a:p>
            <a:pPr lvl="1"/>
            <a:r>
              <a:rPr lang="en-US" dirty="0"/>
              <a:t>e.g., </a:t>
            </a:r>
            <a:r>
              <a:rPr lang="en-US" i="1" dirty="0"/>
              <a:t>automate(s), automatic, automation</a:t>
            </a:r>
            <a:r>
              <a:rPr lang="en-US" dirty="0"/>
              <a:t> all reduced to </a:t>
            </a:r>
            <a:r>
              <a:rPr lang="en-US" i="1" dirty="0"/>
              <a:t>automat</a:t>
            </a:r>
            <a:endParaRPr lang="en-US" dirty="0"/>
          </a:p>
          <a:p>
            <a:pPr lvl="1" eaLnBrk="1" hangingPunct="1"/>
            <a:r>
              <a:rPr lang="en-US" dirty="0"/>
              <a:t>language dependent</a:t>
            </a:r>
          </a:p>
          <a:p>
            <a:pPr lvl="1"/>
            <a:r>
              <a:rPr lang="en-US" dirty="0"/>
              <a:t>key step in information retrieval</a:t>
            </a:r>
          </a:p>
          <a:p>
            <a:pPr lvl="1" eaLnBrk="1" hangingPunct="1"/>
            <a:endParaRPr lang="en-US" dirty="0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777875" y="1671640"/>
            <a:ext cx="184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81000" y="4647853"/>
            <a:ext cx="3581400" cy="138499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for example compressed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and compression are both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accepted as equivalent to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compress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5000627" y="4572000"/>
            <a:ext cx="3609975" cy="1524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exampl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compress and</a:t>
            </a:r>
          </a:p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compress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ar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both accept</a:t>
            </a:r>
          </a:p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equival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to compress</a:t>
            </a: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3962401" y="5105402"/>
            <a:ext cx="1038226" cy="485775"/>
          </a:xfrm>
          <a:prstGeom prst="rightArrow">
            <a:avLst>
              <a:gd name="adj1" fmla="val 50000"/>
              <a:gd name="adj2" fmla="val 6160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33362732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nimBg="1"/>
      <p:bldP spid="38918" grpId="0" animBg="1"/>
      <p:bldP spid="389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1398"/>
            <a:ext cx="8229600" cy="132720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Porter’s algorithm</a:t>
            </a:r>
            <a:br>
              <a:rPr lang="en-US" dirty="0"/>
            </a:br>
            <a:r>
              <a:rPr lang="en-US" dirty="0"/>
              <a:t>The most common English stemmer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-76200" y="1803400"/>
            <a:ext cx="4876800" cy="4445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   Step 1a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"/>
                <a:cs typeface="Courier"/>
              </a:rPr>
              <a:t>sses</a:t>
            </a:r>
            <a:r>
              <a:rPr lang="en-US" sz="1600" dirty="0">
                <a:latin typeface="Courier"/>
                <a:cs typeface="Courier"/>
              </a:rPr>
              <a:t>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caresses  caress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"/>
                <a:cs typeface="Courier"/>
              </a:rPr>
              <a:t>ies</a:t>
            </a:r>
            <a:r>
              <a:rPr lang="en-US" sz="1600" dirty="0">
                <a:latin typeface="Courier"/>
                <a:cs typeface="Courier"/>
              </a:rPr>
              <a:t> 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ponies   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None/>
            </a:pPr>
            <a:r>
              <a:rPr lang="en-US" sz="16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 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    caress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s  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cats       cat</a:t>
            </a:r>
          </a:p>
          <a:p>
            <a:pPr marL="0" indent="0">
              <a:buNone/>
            </a:pPr>
            <a:r>
              <a:rPr lang="en-US" sz="2000" dirty="0">
                <a:latin typeface="Calibri"/>
                <a:cs typeface="Calibri"/>
                <a:sym typeface="Symbol" charset="2"/>
              </a:rPr>
              <a:t>  Step 1b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 sing       sing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ed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plastered  plaster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…</a:t>
            </a:r>
          </a:p>
          <a:p>
            <a:endParaRPr lang="en-US" sz="2200" dirty="0">
              <a:latin typeface="Courier"/>
              <a:cs typeface="Courier"/>
              <a:sym typeface="Symbol" charset="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267200" y="1905000"/>
            <a:ext cx="48768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000" dirty="0"/>
              <a:t>   Step 2 (for long stems)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>
                <a:latin typeface="Courier"/>
                <a:cs typeface="Courier"/>
              </a:rPr>
              <a:t>ational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ate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relational relate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>
                <a:latin typeface="Courier"/>
                <a:cs typeface="Courier"/>
              </a:rPr>
              <a:t>izer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ize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digitizer  digitize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>
                <a:latin typeface="Courier"/>
                <a:cs typeface="Courier"/>
                <a:sym typeface="Symbol" charset="2"/>
              </a:rPr>
              <a:t>ator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ate	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operator   operate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…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0" indent="0">
              <a:buFont typeface="Times" charset="0"/>
              <a:buNone/>
            </a:pPr>
            <a:r>
              <a:rPr lang="en-US" sz="2000" dirty="0">
                <a:latin typeface="Calibri"/>
                <a:cs typeface="Calibri"/>
                <a:sym typeface="Symbol" charset="2"/>
              </a:rPr>
              <a:t>    Step 3 (for longer stems)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al  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revival    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Font typeface="Times" charset="0"/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able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adjustable  adjust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ate   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ø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activate   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…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endParaRPr lang="en-US" sz="2200" dirty="0">
              <a:latin typeface="Courier"/>
              <a:cs typeface="Courier"/>
              <a:sym typeface="Symbol" charset="2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4257525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1398"/>
            <a:ext cx="8229600" cy="1301802"/>
          </a:xfrm>
        </p:spPr>
        <p:txBody>
          <a:bodyPr>
            <a:normAutofit fontScale="90000"/>
          </a:bodyPr>
          <a:lstStyle/>
          <a:p>
            <a:r>
              <a:rPr lang="en-US" dirty="0"/>
              <a:t>Dealing with complex morphology is sometimes necessary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686800" cy="4445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Some languages requires complex morpheme segmentation</a:t>
            </a:r>
          </a:p>
          <a:p>
            <a:pPr lvl="1"/>
            <a:r>
              <a:rPr lang="en-US" sz="2400" dirty="0"/>
              <a:t>Turkish</a:t>
            </a:r>
          </a:p>
          <a:p>
            <a:pPr lvl="1"/>
            <a:r>
              <a:rPr lang="en-US" sz="2400" i="1" dirty="0" err="1">
                <a:solidFill>
                  <a:srgbClr val="000000"/>
                </a:solidFill>
              </a:rPr>
              <a:t>Uygarlastiramadiklarimizdanmissinizcasina</a:t>
            </a:r>
            <a:r>
              <a:rPr lang="en-US" sz="2400" dirty="0">
                <a:solidFill>
                  <a:srgbClr val="000000"/>
                </a:solidFill>
              </a:rPr>
              <a:t>:</a:t>
            </a:r>
            <a:r>
              <a:rPr lang="en-US" sz="2400" i="1" dirty="0">
                <a:solidFill>
                  <a:srgbClr val="000000"/>
                </a:solidFill>
              </a:rPr>
              <a:t> </a:t>
            </a:r>
            <a:r>
              <a:rPr lang="en-US" sz="2400" dirty="0"/>
              <a:t>“(behaving) as if you are among those whom we could not civilize”</a:t>
            </a:r>
          </a:p>
          <a:p>
            <a:pPr lvl="1"/>
            <a:r>
              <a:rPr lang="en-US" sz="2400" dirty="0" err="1">
                <a:solidFill>
                  <a:srgbClr val="FF0000"/>
                </a:solidFill>
              </a:rPr>
              <a:t>Uygar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`civilized’ + </a:t>
            </a:r>
            <a:r>
              <a:rPr lang="en-US" sz="2400" dirty="0" err="1">
                <a:solidFill>
                  <a:srgbClr val="FF0000"/>
                </a:solidFill>
              </a:rPr>
              <a:t>las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`become’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tir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`cause’ + </a:t>
            </a:r>
            <a:r>
              <a:rPr lang="en-US" sz="2000" dirty="0" err="1">
                <a:solidFill>
                  <a:srgbClr val="FF0000"/>
                </a:solidFill>
              </a:rPr>
              <a:t>ama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`not able’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dik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`past’ + </a:t>
            </a:r>
            <a:r>
              <a:rPr lang="en-US" sz="2000" dirty="0" err="1">
                <a:solidFill>
                  <a:srgbClr val="FF0000"/>
                </a:solidFill>
              </a:rPr>
              <a:t>lar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‘plural’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imiz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‘p1pl’ + </a:t>
            </a:r>
            <a:r>
              <a:rPr lang="en-US" sz="2000" dirty="0" err="1">
                <a:solidFill>
                  <a:srgbClr val="FF0000"/>
                </a:solidFill>
              </a:rPr>
              <a:t>dan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</a:t>
            </a:r>
            <a:r>
              <a:rPr lang="en-US" sz="2000" dirty="0" err="1"/>
              <a:t>abl</a:t>
            </a:r>
            <a:r>
              <a:rPr lang="en-US" sz="2000" dirty="0"/>
              <a:t>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mis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‘past’ + </a:t>
            </a:r>
            <a:r>
              <a:rPr lang="en-US" sz="2000" dirty="0" err="1">
                <a:solidFill>
                  <a:srgbClr val="FF0000"/>
                </a:solidFill>
              </a:rPr>
              <a:t>siniz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‘2pl’ + </a:t>
            </a:r>
            <a:r>
              <a:rPr lang="en-US" sz="2000" dirty="0" err="1">
                <a:solidFill>
                  <a:srgbClr val="FF0000"/>
                </a:solidFill>
              </a:rPr>
              <a:t>casina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‘as if’ 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5949946"/>
            <a:ext cx="1329529" cy="45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61386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types and tokens</a:t>
            </a:r>
          </a:p>
          <a:p>
            <a:r>
              <a:rPr lang="en-US" dirty="0"/>
              <a:t>morphology</a:t>
            </a:r>
          </a:p>
          <a:p>
            <a:r>
              <a:rPr lang="en-US" dirty="0">
                <a:solidFill>
                  <a:srgbClr val="288CD2"/>
                </a:solidFill>
              </a:rPr>
              <a:t>distributional word vectors</a:t>
            </a:r>
          </a:p>
          <a:p>
            <a:r>
              <a:rPr lang="en-US" dirty="0"/>
              <a:t>word sense and lexical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9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NLP hard?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ambiguity and variability of linguistic expression:</a:t>
            </a:r>
          </a:p>
          <a:p>
            <a:pPr lvl="1"/>
            <a:r>
              <a:rPr lang="en-US" sz="2400" b="1" u="sng" dirty="0">
                <a:uFill>
                  <a:solidFill>
                    <a:srgbClr val="288CD2"/>
                  </a:solidFill>
                </a:uFill>
              </a:rPr>
              <a:t>ambiguity</a:t>
            </a:r>
            <a:r>
              <a:rPr lang="en-US" sz="2400" dirty="0"/>
              <a:t>: one form can mean many things</a:t>
            </a:r>
            <a:endParaRPr lang="en-US" sz="2400" b="1" u="sng" dirty="0">
              <a:uFill>
                <a:solidFill>
                  <a:srgbClr val="FF0000"/>
                </a:solidFill>
              </a:uFill>
            </a:endParaRPr>
          </a:p>
          <a:p>
            <a:pPr lvl="1"/>
            <a:r>
              <a:rPr lang="en-US" sz="2400" b="1" u="sng" dirty="0">
                <a:uFill>
                  <a:solidFill>
                    <a:srgbClr val="FF0000"/>
                  </a:solidFill>
                </a:uFill>
              </a:rPr>
              <a:t>variability</a:t>
            </a:r>
            <a:r>
              <a:rPr lang="en-US" sz="2400" dirty="0"/>
              <a:t>: many forms can mean the same thing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767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740"/>
            <a:ext cx="8229600" cy="5052424"/>
          </a:xfrm>
        </p:spPr>
        <p:txBody>
          <a:bodyPr/>
          <a:lstStyle/>
          <a:p>
            <a:r>
              <a:rPr lang="en-US" dirty="0"/>
              <a:t>one form, multiple meanings </a:t>
            </a:r>
            <a:r>
              <a:rPr lang="en-US" sz="24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split form</a:t>
            </a:r>
          </a:p>
          <a:p>
            <a:endParaRPr lang="en-US" dirty="0">
              <a:sym typeface="Wingdings"/>
            </a:endParaRPr>
          </a:p>
          <a:p>
            <a:endParaRPr lang="en-US" dirty="0">
              <a:sym typeface="Wingdings"/>
            </a:endParaRPr>
          </a:p>
          <a:p>
            <a:r>
              <a:rPr lang="en-US" dirty="0">
                <a:sym typeface="Wingdings"/>
              </a:rPr>
              <a:t>multiple forms, one meaning </a:t>
            </a:r>
            <a:r>
              <a:rPr lang="en-US" sz="24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merge forms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74900" y="1397840"/>
            <a:ext cx="1869831" cy="527625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182880" rtlCol="0" anchor="ctr"/>
          <a:lstStyle/>
          <a:p>
            <a:pPr marL="0" lvl="1" algn="ctr"/>
            <a:r>
              <a:rPr lang="en-US" sz="2800" b="1" u="sng" dirty="0">
                <a:solidFill>
                  <a:srgbClr val="000000"/>
                </a:solidFill>
                <a:uFill>
                  <a:solidFill>
                    <a:srgbClr val="288CD2"/>
                  </a:solidFill>
                </a:uFill>
              </a:rPr>
              <a:t>ambiguity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74900" y="3226640"/>
            <a:ext cx="1869831" cy="527625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182880" rtlCol="0" anchor="ctr"/>
          <a:lstStyle/>
          <a:p>
            <a:pPr marL="0" lvl="1" algn="ctr"/>
            <a:r>
              <a:rPr lang="en-US" sz="2800" b="1" u="sng" dirty="0">
                <a:solidFill>
                  <a:srgbClr val="000000"/>
                </a:solidFill>
                <a:uFill>
                  <a:solidFill>
                    <a:srgbClr val="BC0000"/>
                  </a:solidFill>
                </a:uFill>
              </a:rPr>
              <a:t>variability</a:t>
            </a:r>
            <a:endParaRPr lang="en-US" sz="2800" dirty="0">
              <a:solidFill>
                <a:srgbClr val="000000"/>
              </a:solidFill>
              <a:uFill>
                <a:solidFill>
                  <a:srgbClr val="BC0000"/>
                </a:solidFill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1862936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form, multiple meanings </a:t>
            </a:r>
            <a:r>
              <a:rPr lang="en-US" sz="28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split form</a:t>
            </a:r>
          </a:p>
          <a:p>
            <a:pPr lvl="1"/>
            <a:r>
              <a:rPr lang="en-US" dirty="0">
                <a:sym typeface="Wingdings"/>
              </a:rPr>
              <a:t>tokenization (adding spaces): </a:t>
            </a:r>
          </a:p>
          <a:p>
            <a:pPr lvl="2"/>
            <a:r>
              <a:rPr lang="en-US" i="1" dirty="0"/>
              <a:t>didn’t</a:t>
            </a:r>
            <a:r>
              <a:rPr lang="en-US" dirty="0"/>
              <a:t> </a:t>
            </a:r>
            <a:r>
              <a:rPr lang="en-US" sz="16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did </a:t>
            </a:r>
            <a:r>
              <a:rPr lang="en-US" i="1" dirty="0" err="1">
                <a:sym typeface="Wingdings"/>
              </a:rPr>
              <a:t>n’t</a:t>
            </a:r>
            <a:endParaRPr lang="en-US" i="1" dirty="0">
              <a:sym typeface="Wingdings"/>
            </a:endParaRPr>
          </a:p>
          <a:p>
            <a:pPr lvl="2"/>
            <a:r>
              <a:rPr lang="en-US" i="1" dirty="0">
                <a:sym typeface="Wingdings"/>
              </a:rPr>
              <a:t>“Yes?”</a:t>
            </a:r>
            <a:r>
              <a:rPr lang="en-US" dirty="0">
                <a:sym typeface="Wingdings"/>
              </a:rPr>
              <a:t> </a:t>
            </a:r>
            <a:r>
              <a:rPr lang="en-US" sz="18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“ Yes ? ”</a:t>
            </a:r>
          </a:p>
          <a:p>
            <a:pPr lvl="1"/>
            <a:r>
              <a:rPr lang="en-US" b="1" dirty="0">
                <a:sym typeface="Wingdings"/>
              </a:rPr>
              <a:t>today/next week</a:t>
            </a:r>
            <a:r>
              <a:rPr lang="en-US" dirty="0">
                <a:sym typeface="Wingdings"/>
              </a:rPr>
              <a:t>: word sense disambiguation:</a:t>
            </a:r>
          </a:p>
          <a:p>
            <a:pPr lvl="2"/>
            <a:r>
              <a:rPr lang="en-US" i="1" dirty="0">
                <a:sym typeface="Wingdings"/>
              </a:rPr>
              <a:t>power plant</a:t>
            </a:r>
            <a:r>
              <a:rPr lang="en-US" dirty="0">
                <a:sym typeface="Wingdings"/>
              </a:rPr>
              <a:t>  </a:t>
            </a:r>
            <a:r>
              <a:rPr lang="en-US" i="1" dirty="0">
                <a:sym typeface="Wingdings"/>
              </a:rPr>
              <a:t>power </a:t>
            </a:r>
            <a:r>
              <a:rPr lang="en-US" i="1" dirty="0">
                <a:solidFill>
                  <a:srgbClr val="0000FF"/>
                </a:solidFill>
                <a:sym typeface="Wingdings"/>
              </a:rPr>
              <a:t>plant</a:t>
            </a:r>
            <a:r>
              <a:rPr lang="en-US" i="1" baseline="-25000" dirty="0">
                <a:solidFill>
                  <a:srgbClr val="0000FF"/>
                </a:solidFill>
                <a:sym typeface="Wingdings"/>
              </a:rPr>
              <a:t>1</a:t>
            </a:r>
          </a:p>
          <a:p>
            <a:pPr lvl="2"/>
            <a:r>
              <a:rPr lang="en-US" i="1" dirty="0">
                <a:sym typeface="Wingdings"/>
              </a:rPr>
              <a:t>flowering plant </a:t>
            </a:r>
            <a:r>
              <a:rPr lang="en-US" dirty="0">
                <a:sym typeface="Wingdings"/>
              </a:rPr>
              <a:t> </a:t>
            </a:r>
            <a:r>
              <a:rPr lang="en-US" i="1" dirty="0">
                <a:sym typeface="Wingdings"/>
              </a:rPr>
              <a:t>flowering </a:t>
            </a:r>
            <a:r>
              <a:rPr lang="en-US" i="1" dirty="0">
                <a:solidFill>
                  <a:srgbClr val="008000"/>
                </a:solidFill>
                <a:sym typeface="Wingdings"/>
              </a:rPr>
              <a:t>plant</a:t>
            </a:r>
            <a:r>
              <a:rPr lang="en-US" i="1" baseline="-25000" dirty="0">
                <a:solidFill>
                  <a:srgbClr val="008000"/>
                </a:solidFill>
                <a:sym typeface="Wingdings"/>
              </a:rP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68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/>
              </a:rPr>
              <a:t>multiple forms, one meaning </a:t>
            </a:r>
            <a:r>
              <a:rPr lang="en-US" sz="28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merge forms</a:t>
            </a:r>
          </a:p>
          <a:p>
            <a:pPr lvl="1"/>
            <a:r>
              <a:rPr lang="en-US" dirty="0">
                <a:sym typeface="Wingdings"/>
              </a:rPr>
              <a:t>tokenization (removing spaces): </a:t>
            </a:r>
          </a:p>
          <a:p>
            <a:pPr lvl="2"/>
            <a:r>
              <a:rPr lang="en-US" i="1" dirty="0"/>
              <a:t>New York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 err="1"/>
              <a:t>NewYork</a:t>
            </a:r>
            <a:endParaRPr lang="en-US" i="1" dirty="0"/>
          </a:p>
          <a:p>
            <a:pPr lvl="1"/>
            <a:r>
              <a:rPr lang="en-US" dirty="0">
                <a:sym typeface="Wingdings"/>
              </a:rPr>
              <a:t>lemmatization: </a:t>
            </a:r>
          </a:p>
          <a:p>
            <a:pPr lvl="2"/>
            <a:r>
              <a:rPr lang="en-US" i="1" dirty="0">
                <a:sym typeface="Wingdings"/>
              </a:rPr>
              <a:t>walked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walk </a:t>
            </a:r>
          </a:p>
          <a:p>
            <a:pPr lvl="2"/>
            <a:r>
              <a:rPr lang="en-US" i="1" dirty="0">
                <a:sym typeface="Wingdings"/>
              </a:rPr>
              <a:t>walking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walk</a:t>
            </a:r>
          </a:p>
          <a:p>
            <a:pPr lvl="1"/>
            <a:r>
              <a:rPr lang="en-US" dirty="0">
                <a:sym typeface="Wingdings"/>
              </a:rPr>
              <a:t>stemming:</a:t>
            </a:r>
          </a:p>
          <a:p>
            <a:pPr lvl="2"/>
            <a:r>
              <a:rPr lang="en-US" i="1" dirty="0">
                <a:sym typeface="Wingdings"/>
              </a:rPr>
              <a:t>automation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automat</a:t>
            </a:r>
          </a:p>
          <a:p>
            <a:pPr lvl="2"/>
            <a:r>
              <a:rPr lang="en-US" i="1" dirty="0">
                <a:sym typeface="Wingdings"/>
              </a:rPr>
              <a:t>automates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automat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46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/>
              </a:rPr>
              <a:t>multiple forms, one meaning </a:t>
            </a:r>
            <a:r>
              <a:rPr lang="en-US" sz="28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merge forms</a:t>
            </a:r>
          </a:p>
          <a:p>
            <a:pPr lvl="1"/>
            <a:r>
              <a:rPr lang="en-US" dirty="0">
                <a:sym typeface="Wingdings"/>
              </a:rPr>
              <a:t>tokenization (removing spaces): </a:t>
            </a:r>
          </a:p>
          <a:p>
            <a:pPr lvl="2"/>
            <a:r>
              <a:rPr lang="en-US" i="1" dirty="0"/>
              <a:t>New York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 err="1"/>
              <a:t>NewYork</a:t>
            </a:r>
            <a:endParaRPr lang="en-US" i="1" dirty="0"/>
          </a:p>
          <a:p>
            <a:pPr lvl="1"/>
            <a:r>
              <a:rPr lang="en-US" dirty="0">
                <a:sym typeface="Wingdings"/>
              </a:rPr>
              <a:t>lemmatization: </a:t>
            </a:r>
          </a:p>
          <a:p>
            <a:pPr lvl="2"/>
            <a:r>
              <a:rPr lang="en-US" i="1" dirty="0">
                <a:sym typeface="Wingdings"/>
              </a:rPr>
              <a:t>walked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walk </a:t>
            </a:r>
          </a:p>
          <a:p>
            <a:pPr lvl="2"/>
            <a:r>
              <a:rPr lang="en-US" i="1" dirty="0">
                <a:sym typeface="Wingdings"/>
              </a:rPr>
              <a:t>walking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walk</a:t>
            </a:r>
          </a:p>
          <a:p>
            <a:pPr lvl="1"/>
            <a:r>
              <a:rPr lang="en-US" dirty="0">
                <a:sym typeface="Wingdings"/>
              </a:rPr>
              <a:t>stemming:</a:t>
            </a:r>
          </a:p>
          <a:p>
            <a:pPr lvl="2"/>
            <a:r>
              <a:rPr lang="en-US" i="1" dirty="0">
                <a:sym typeface="Wingdings"/>
              </a:rPr>
              <a:t>automation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automat</a:t>
            </a:r>
          </a:p>
          <a:p>
            <a:pPr lvl="2"/>
            <a:r>
              <a:rPr lang="en-US" i="1" dirty="0">
                <a:sym typeface="Wingdings"/>
              </a:rPr>
              <a:t>automates</a:t>
            </a:r>
            <a:r>
              <a:rPr lang="en-US" dirty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i="1" dirty="0">
                <a:sym typeface="Wingdings"/>
              </a:rPr>
              <a:t>automat</a:t>
            </a:r>
          </a:p>
          <a:p>
            <a:pPr lvl="1"/>
            <a:r>
              <a:rPr lang="en-US" b="1" dirty="0">
                <a:sym typeface="Wingdings"/>
              </a:rPr>
              <a:t>today</a:t>
            </a:r>
            <a:r>
              <a:rPr lang="en-US" dirty="0">
                <a:sym typeface="Wingdings"/>
              </a:rPr>
              <a:t>: word representations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937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9664" t="47001" r="18104" b="35368"/>
          <a:stretch/>
        </p:blipFill>
        <p:spPr>
          <a:xfrm>
            <a:off x="80818" y="1258456"/>
            <a:ext cx="9044768" cy="43041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914400"/>
            <a:ext cx="12954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219200" y="6019800"/>
            <a:ext cx="6553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t-SNE visualization from </a:t>
            </a:r>
            <a:r>
              <a:rPr lang="en-US" sz="2000" i="0" dirty="0" err="1">
                <a:solidFill>
                  <a:srgbClr val="0062AC"/>
                </a:solidFill>
                <a:latin typeface="Calibri"/>
                <a:cs typeface="Calibri"/>
              </a:rPr>
              <a:t>Turian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 et al. (2010)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90600"/>
          </a:xfrm>
        </p:spPr>
        <p:txBody>
          <a:bodyPr/>
          <a:lstStyle/>
          <a:p>
            <a:r>
              <a:rPr lang="en-US" sz="3200" dirty="0"/>
              <a:t>Vector Representations of Words</a:t>
            </a:r>
            <a:endParaRPr lang="en-US" sz="2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069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50" y="1343890"/>
            <a:ext cx="4667353" cy="19119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b="22527"/>
          <a:stretch/>
        </p:blipFill>
        <p:spPr>
          <a:xfrm>
            <a:off x="1498577" y="3267364"/>
            <a:ext cx="6517947" cy="1739902"/>
          </a:xfrm>
          <a:prstGeom prst="rect">
            <a:avLst/>
          </a:prstGeom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503249" y="5193141"/>
            <a:ext cx="3276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i="1" dirty="0">
                <a:solidFill>
                  <a:srgbClr val="0062AC"/>
                </a:solidFill>
                <a:latin typeface="Calibri"/>
                <a:cs typeface="Calibri"/>
              </a:rPr>
              <a:t>Computational Linguistics</a:t>
            </a:r>
            <a:r>
              <a:rPr lang="en-US" i="0" dirty="0">
                <a:solidFill>
                  <a:srgbClr val="0062AC"/>
                </a:solidFill>
                <a:latin typeface="Calibri"/>
                <a:cs typeface="Calibri"/>
              </a:rPr>
              <a:t>, 1992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90600"/>
          </a:xfrm>
        </p:spPr>
        <p:txBody>
          <a:bodyPr/>
          <a:lstStyle/>
          <a:p>
            <a:r>
              <a:rPr lang="en-US" sz="3200" dirty="0"/>
              <a:t>Word Clusters</a:t>
            </a:r>
            <a:endParaRPr lang="en-US" sz="2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7360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339902"/>
          </a:xfrm>
        </p:spPr>
        <p:txBody>
          <a:bodyPr>
            <a:noAutofit/>
          </a:bodyPr>
          <a:lstStyle/>
          <a:p>
            <a:r>
              <a:rPr lang="en-US" sz="3600" dirty="0"/>
              <a:t>Why vector models of word meaning?</a:t>
            </a:r>
            <a:br>
              <a:rPr lang="en-US" sz="3600" dirty="0"/>
            </a:br>
            <a:r>
              <a:rPr lang="en-US" sz="3600" dirty="0"/>
              <a:t>computing the similarity between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6100"/>
            <a:ext cx="8229600" cy="4310064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288CD2"/>
                </a:solidFill>
              </a:rPr>
              <a:t>tall</a:t>
            </a:r>
            <a:r>
              <a:rPr lang="en-US" sz="2800" dirty="0"/>
              <a:t> is similar to </a:t>
            </a:r>
            <a:r>
              <a:rPr lang="en-US" sz="2800" b="1" i="1" dirty="0">
                <a:solidFill>
                  <a:srgbClr val="288CD2"/>
                </a:solidFill>
              </a:rPr>
              <a:t>height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question answering:</a:t>
            </a:r>
          </a:p>
          <a:p>
            <a:pPr marL="0" indent="0">
              <a:buNone/>
            </a:pPr>
            <a:r>
              <a:rPr lang="en-US" sz="2800" i="1" dirty="0"/>
              <a:t>Q: How </a:t>
            </a:r>
            <a:r>
              <a:rPr lang="en-US" sz="2800" b="1" i="1" dirty="0">
                <a:solidFill>
                  <a:srgbClr val="288CD2"/>
                </a:solidFill>
              </a:rPr>
              <a:t>tall</a:t>
            </a:r>
            <a:r>
              <a:rPr lang="en-US" sz="2800" i="1" dirty="0">
                <a:solidFill>
                  <a:srgbClr val="288CD2"/>
                </a:solidFill>
              </a:rPr>
              <a:t> </a:t>
            </a:r>
            <a:r>
              <a:rPr lang="en-US" sz="2800" i="1" dirty="0"/>
              <a:t>is Mt. Everest?</a:t>
            </a:r>
            <a:br>
              <a:rPr lang="en-US" sz="2800" i="1" dirty="0"/>
            </a:br>
            <a:r>
              <a:rPr lang="en-US" sz="2800" i="1" dirty="0"/>
              <a:t>A: “The official </a:t>
            </a:r>
            <a:r>
              <a:rPr lang="en-US" sz="2800" b="1" i="1" dirty="0">
                <a:solidFill>
                  <a:srgbClr val="288CD2"/>
                </a:solidFill>
              </a:rPr>
              <a:t>height</a:t>
            </a:r>
            <a:r>
              <a:rPr lang="en-US" sz="2800" i="1" dirty="0">
                <a:solidFill>
                  <a:srgbClr val="288CD2"/>
                </a:solidFill>
              </a:rPr>
              <a:t> </a:t>
            </a:r>
            <a:r>
              <a:rPr lang="en-US" sz="2800" i="1" dirty="0"/>
              <a:t>of Mount Everest is 29029 feet”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42258071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40" y="254000"/>
            <a:ext cx="7467600" cy="1651000"/>
          </a:xfrm>
        </p:spPr>
        <p:txBody>
          <a:bodyPr>
            <a:noAutofit/>
          </a:bodyPr>
          <a:lstStyle/>
          <a:p>
            <a:r>
              <a:rPr lang="en-US" sz="3200" dirty="0"/>
              <a:t>distributional models of meaning</a:t>
            </a:r>
            <a:br>
              <a:rPr lang="en-US" sz="3200" dirty="0"/>
            </a:br>
            <a:r>
              <a:rPr lang="en-US" sz="3200" dirty="0"/>
              <a:t>= vector space models of meaning </a:t>
            </a:r>
            <a:br>
              <a:rPr lang="en-US" sz="3200" dirty="0"/>
            </a:br>
            <a:r>
              <a:rPr lang="en-US" sz="3200" dirty="0"/>
              <a:t>= vector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33600"/>
            <a:ext cx="8382000" cy="384048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Zellig</a:t>
            </a:r>
            <a:r>
              <a:rPr lang="en-US" dirty="0"/>
              <a:t> Harris (1954):</a:t>
            </a:r>
          </a:p>
          <a:p>
            <a:pPr lvl="1"/>
            <a:r>
              <a:rPr lang="en-US" sz="2400" dirty="0"/>
              <a:t>“oculist and eye-doctor … occur in almost the same environments”</a:t>
            </a:r>
          </a:p>
          <a:p>
            <a:pPr lvl="1"/>
            <a:r>
              <a:rPr lang="en-US" sz="2400" dirty="0"/>
              <a:t>“If A and B have almost identical environments we say that they are synonyms.”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J.R. Firth (1957): </a:t>
            </a:r>
          </a:p>
          <a:p>
            <a:pPr lvl="1"/>
            <a:r>
              <a:rPr lang="en-US" sz="2400" dirty="0"/>
              <a:t>“You shall know a word by the company it keeps!”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723181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2120" y="648970"/>
            <a:ext cx="4119880" cy="916940"/>
          </a:xfrm>
        </p:spPr>
        <p:txBody>
          <a:bodyPr>
            <a:noAutofit/>
          </a:bodyPr>
          <a:lstStyle/>
          <a:p>
            <a:r>
              <a:rPr lang="en-US" sz="3200" dirty="0"/>
              <a:t>Warren Weaver (1955):</a:t>
            </a:r>
          </a:p>
        </p:txBody>
      </p:sp>
      <p:sp>
        <p:nvSpPr>
          <p:cNvPr id="142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499" y="1590673"/>
            <a:ext cx="6582571" cy="2209168"/>
          </a:xfrm>
        </p:spPr>
        <p:txBody>
          <a:bodyPr>
            <a:normAutofit/>
          </a:bodyPr>
          <a:lstStyle/>
          <a:p>
            <a:pPr marL="342900" lvl="1" indent="0">
              <a:lnSpc>
                <a:spcPct val="90000"/>
              </a:lnSpc>
              <a:buNone/>
            </a:pPr>
            <a:r>
              <a:rPr lang="en-US" sz="2400" dirty="0">
                <a:latin typeface="Calibri"/>
                <a:cs typeface="Calibri"/>
              </a:rPr>
              <a:t>“</a:t>
            </a:r>
            <a:r>
              <a:rPr lang="en-US" sz="2400" dirty="0">
                <a:cs typeface="Calibri"/>
              </a:rPr>
              <a:t>But if one lengthens the slit in the opaque mask, until one can see not only the central word in question but also say N words on either side, then </a:t>
            </a:r>
            <a:r>
              <a:rPr lang="en-US" sz="2400" dirty="0">
                <a:solidFill>
                  <a:srgbClr val="288CD2"/>
                </a:solidFill>
                <a:cs typeface="Calibri"/>
              </a:rPr>
              <a:t>if N is large enough one can unambiguously decide the meaning of the central word</a:t>
            </a:r>
            <a:r>
              <a:rPr lang="en-US" sz="2400" dirty="0">
                <a:cs typeface="Calibri"/>
              </a:rPr>
              <a:t>…” </a:t>
            </a:r>
          </a:p>
        </p:txBody>
      </p:sp>
      <p:pic>
        <p:nvPicPr>
          <p:cNvPr id="2" name="Picture 1" descr="weav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070" y="1282700"/>
            <a:ext cx="20320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44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228600" y="1168400"/>
            <a:ext cx="8382000" cy="5308600"/>
          </a:xfrm>
        </p:spPr>
        <p:txBody>
          <a:bodyPr>
            <a:normAutofit/>
          </a:bodyPr>
          <a:lstStyle/>
          <a:p>
            <a:r>
              <a:rPr lang="en-US" sz="2800" dirty="0"/>
              <a:t>suppose I gave you the following corpus: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sz="2000" dirty="0">
                <a:cs typeface="Courier"/>
              </a:rPr>
              <a:t>A bottle of </a:t>
            </a:r>
            <a:r>
              <a:rPr lang="en-US" sz="2000" b="1" i="1" dirty="0" err="1">
                <a:cs typeface="Courier"/>
              </a:rPr>
              <a:t>tesgüino</a:t>
            </a:r>
            <a:r>
              <a:rPr lang="en-US" sz="2000" dirty="0">
                <a:cs typeface="Courier"/>
              </a:rPr>
              <a:t> is on the table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sz="2000" dirty="0">
                <a:cs typeface="Courier"/>
              </a:rPr>
              <a:t>Everybody likes </a:t>
            </a:r>
            <a:r>
              <a:rPr lang="en-US" sz="2000" b="1" i="1" dirty="0" err="1">
                <a:cs typeface="Courier"/>
              </a:rPr>
              <a:t>tesgüino</a:t>
            </a:r>
            <a:endParaRPr lang="en-US" sz="2000" dirty="0">
              <a:cs typeface="Courier"/>
            </a:endParaRPr>
          </a:p>
          <a:p>
            <a:pPr marL="800100" lvl="2" indent="0">
              <a:lnSpc>
                <a:spcPct val="90000"/>
              </a:lnSpc>
              <a:buNone/>
            </a:pPr>
            <a:r>
              <a:rPr lang="en-US" sz="2000" b="1" i="1" dirty="0" err="1">
                <a:cs typeface="Courier"/>
              </a:rPr>
              <a:t>Tesgüino</a:t>
            </a:r>
            <a:r>
              <a:rPr lang="en-US" sz="2000" dirty="0">
                <a:cs typeface="Courier"/>
              </a:rPr>
              <a:t> makes you drunk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sz="2000" dirty="0">
                <a:cs typeface="Courier"/>
              </a:rPr>
              <a:t>We make </a:t>
            </a:r>
            <a:r>
              <a:rPr lang="en-US" sz="2000" b="1" i="1" dirty="0" err="1">
                <a:cs typeface="Courier"/>
              </a:rPr>
              <a:t>tesgüino</a:t>
            </a:r>
            <a:r>
              <a:rPr lang="en-US" sz="2000" dirty="0">
                <a:cs typeface="Courier"/>
              </a:rPr>
              <a:t> out of corn.</a:t>
            </a:r>
          </a:p>
          <a:p>
            <a:r>
              <a:rPr lang="en-US" sz="2800" dirty="0"/>
              <a:t>what is </a:t>
            </a:r>
            <a:r>
              <a:rPr lang="en-US" sz="2800" b="1" i="1" dirty="0" err="1">
                <a:cs typeface="Courier"/>
              </a:rPr>
              <a:t>tesgüino</a:t>
            </a:r>
            <a:r>
              <a:rPr lang="en-US" sz="2800" i="1" dirty="0">
                <a:cs typeface="Courier"/>
              </a:rPr>
              <a:t>?</a:t>
            </a:r>
            <a:endParaRPr lang="en-US" sz="2800" dirty="0">
              <a:cs typeface="Calibri (Body)"/>
            </a:endParaRPr>
          </a:p>
          <a:p>
            <a:r>
              <a:rPr lang="en-US" sz="2800" dirty="0">
                <a:cs typeface="Calibri (Body)"/>
              </a:rPr>
              <a:t>from context, we can guess </a:t>
            </a:r>
            <a:r>
              <a:rPr lang="en-US" sz="2800" b="1" i="1" dirty="0" err="1">
                <a:cs typeface="Calibri (Body)"/>
              </a:rPr>
              <a:t>tesgüino</a:t>
            </a:r>
            <a:r>
              <a:rPr lang="en-US" sz="2800" dirty="0">
                <a:cs typeface="Calibri (Body)"/>
              </a:rPr>
              <a:t> is </a:t>
            </a:r>
            <a:r>
              <a:rPr lang="en-US" sz="2800" dirty="0"/>
              <a:t>an alcoholic beverage like beer</a:t>
            </a:r>
          </a:p>
          <a:p>
            <a:r>
              <a:rPr lang="en-US" sz="2800" dirty="0"/>
              <a:t>intuition: two words are similar if they have similar word contexts</a:t>
            </a:r>
            <a:endParaRPr lang="en-US" sz="2400" dirty="0"/>
          </a:p>
        </p:txBody>
      </p:sp>
      <p:sp>
        <p:nvSpPr>
          <p:cNvPr id="1013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382000" cy="990600"/>
          </a:xfrm>
        </p:spPr>
        <p:txBody>
          <a:bodyPr>
            <a:noAutofit/>
          </a:bodyPr>
          <a:lstStyle/>
          <a:p>
            <a:r>
              <a:rPr lang="en-US" sz="3600" dirty="0"/>
              <a:t>Intuitions of Distributional Models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054011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Many ways to get word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61680" cy="505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some based on counting, some based on prediction/learning</a:t>
            </a:r>
          </a:p>
          <a:p>
            <a:pPr marL="0" indent="0">
              <a:buNone/>
            </a:pPr>
            <a:r>
              <a:rPr lang="en-US" sz="2400" dirty="0"/>
              <a:t>some sparse, some dense</a:t>
            </a:r>
          </a:p>
          <a:p>
            <a:pPr marL="0" indent="0">
              <a:buNone/>
            </a:pPr>
            <a:r>
              <a:rPr lang="en-US" sz="2400" dirty="0"/>
              <a:t>some have interpretable dimensions, some don’t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shared ideas:</a:t>
            </a:r>
          </a:p>
          <a:p>
            <a:pPr marL="0" indent="0">
              <a:buNone/>
            </a:pPr>
            <a:r>
              <a:rPr lang="en-US" sz="2400" dirty="0"/>
              <a:t>	model meaning of a word by “embedding” it in a vector space</a:t>
            </a:r>
          </a:p>
          <a:p>
            <a:pPr marL="457200" lvl="1" indent="0">
              <a:buNone/>
            </a:pPr>
            <a:r>
              <a:rPr lang="en-US" sz="2400" dirty="0"/>
              <a:t>these word vectors are also called “</a:t>
            </a:r>
            <a:r>
              <a:rPr lang="en-US" sz="2400" b="1" dirty="0" err="1">
                <a:solidFill>
                  <a:srgbClr val="288CD2"/>
                </a:solidFill>
              </a:rPr>
              <a:t>embeddings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contrast: in traditional NLP, word meaning is represented by a vocabulary index (“word #545”)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0795331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Distributional Word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we’ll start with the simplest way to create word vectors:</a:t>
            </a:r>
          </a:p>
          <a:p>
            <a:r>
              <a:rPr lang="en-US" sz="3200" dirty="0"/>
              <a:t>count occurrences of context words</a:t>
            </a:r>
          </a:p>
          <a:p>
            <a:pPr lvl="1"/>
            <a:r>
              <a:rPr lang="en-US" dirty="0"/>
              <a:t>so, vector for </a:t>
            </a:r>
            <a:r>
              <a:rPr lang="en-US" i="1" dirty="0"/>
              <a:t>pineapple </a:t>
            </a:r>
            <a:r>
              <a:rPr lang="en-US" dirty="0"/>
              <a:t>has counts of words in the context of </a:t>
            </a:r>
            <a:r>
              <a:rPr lang="en-US" i="1" dirty="0"/>
              <a:t>pineapple</a:t>
            </a:r>
            <a:r>
              <a:rPr lang="en-US" dirty="0"/>
              <a:t> in a dataset</a:t>
            </a:r>
          </a:p>
          <a:p>
            <a:pPr lvl="1"/>
            <a:r>
              <a:rPr lang="en-US" dirty="0"/>
              <a:t>one entry in vector for each unique context word</a:t>
            </a:r>
          </a:p>
          <a:p>
            <a:pPr lvl="1"/>
            <a:r>
              <a:rPr lang="en-US" sz="2800" dirty="0"/>
              <a:t>stack these vectors for all words in a vocabulary </a:t>
            </a:r>
            <a:r>
              <a:rPr lang="en-US" sz="2800" i="1" dirty="0"/>
              <a:t>V</a:t>
            </a:r>
            <a:r>
              <a:rPr lang="en-US" sz="2800" dirty="0"/>
              <a:t> to produce a count matrix </a:t>
            </a:r>
            <a:r>
              <a:rPr lang="en-US" sz="2800" i="1" dirty="0"/>
              <a:t>C</a:t>
            </a:r>
          </a:p>
          <a:p>
            <a:pPr lvl="1"/>
            <a:r>
              <a:rPr lang="en-US" sz="2800" i="1" dirty="0"/>
              <a:t>C</a:t>
            </a:r>
            <a:r>
              <a:rPr lang="en-US" sz="2800" dirty="0"/>
              <a:t> is called the </a:t>
            </a:r>
            <a:r>
              <a:rPr lang="en-US" sz="2800" b="1" dirty="0">
                <a:solidFill>
                  <a:srgbClr val="288CD2"/>
                </a:solidFill>
              </a:rPr>
              <a:t>word-context matrix </a:t>
            </a:r>
            <a:r>
              <a:rPr lang="en-US" sz="2800" dirty="0"/>
              <a:t>(or </a:t>
            </a:r>
            <a:r>
              <a:rPr lang="en-US" sz="2800" b="1" dirty="0">
                <a:solidFill>
                  <a:srgbClr val="288CD2"/>
                </a:solidFill>
              </a:rPr>
              <a:t>word-word co-occurrence matrix</a:t>
            </a:r>
            <a:r>
              <a:rPr lang="en-US" sz="28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24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auto">
          <a:xfrm>
            <a:off x="5376628" y="3418840"/>
            <a:ext cx="675309" cy="812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7251148" y="3418840"/>
            <a:ext cx="675309" cy="812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441174" y="4231640"/>
            <a:ext cx="1519445" cy="81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6331668" y="4231640"/>
            <a:ext cx="675309" cy="81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Counting Context Words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 rot="16200000">
            <a:off x="5152478" y="362354"/>
            <a:ext cx="406400" cy="733217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 rot="16200000">
            <a:off x="5152478" y="-44046"/>
            <a:ext cx="406397" cy="733217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65609"/>
              </p:ext>
            </p:extLst>
          </p:nvPr>
        </p:nvGraphicFramePr>
        <p:xfrm>
          <a:off x="122238" y="2971799"/>
          <a:ext cx="8970962" cy="605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" name="Worksheet" r:id="rId3" imgW="7734300" imgH="4775200" progId="Excel.Sheet.12">
                  <p:embed/>
                </p:oleObj>
              </mc:Choice>
              <mc:Fallback>
                <p:oleObj name="Worksheet" r:id="rId3" imgW="7734300" imgH="4775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238" y="2971799"/>
                        <a:ext cx="8970962" cy="6052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Content Placeholder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68300" y="1400793"/>
            <a:ext cx="9525000" cy="107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1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34097696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8" grpId="0" animBg="1"/>
      <p:bldP spid="8" grpId="1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Word-Context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4463460"/>
          </a:xfrm>
        </p:spPr>
        <p:txBody>
          <a:bodyPr>
            <a:normAutofit/>
          </a:bodyPr>
          <a:lstStyle/>
          <a:p>
            <a:r>
              <a:rPr lang="en-US" dirty="0"/>
              <a:t>we showed 4x6, but actual matrix is |</a:t>
            </a:r>
            <a:r>
              <a:rPr lang="en-US" i="1" dirty="0" err="1"/>
              <a:t>V</a:t>
            </a:r>
            <a:r>
              <a:rPr lang="en-US" dirty="0" err="1"/>
              <a:t>|x|</a:t>
            </a:r>
            <a:r>
              <a:rPr lang="en-US" i="1" dirty="0" err="1"/>
              <a:t>V</a:t>
            </a:r>
            <a:r>
              <a:rPr lang="en-US" dirty="0"/>
              <a:t>|</a:t>
            </a:r>
          </a:p>
          <a:p>
            <a:pPr lvl="1"/>
            <a:r>
              <a:rPr lang="en-US" dirty="0"/>
              <a:t>very large, but very </a:t>
            </a:r>
            <a:r>
              <a:rPr lang="en-US" b="1" dirty="0"/>
              <a:t>sparse</a:t>
            </a:r>
            <a:r>
              <a:rPr lang="en-US" dirty="0"/>
              <a:t> (mostly zeroes)</a:t>
            </a:r>
          </a:p>
          <a:p>
            <a:pPr lvl="1"/>
            <a:r>
              <a:rPr lang="en-US" dirty="0"/>
              <a:t>lots of efficient algorithms for sparse vectors and matrices</a:t>
            </a:r>
          </a:p>
          <a:p>
            <a:pPr lvl="1"/>
            <a:r>
              <a:rPr lang="en-US" dirty="0"/>
              <a:t>in your homework assignment, you will sometimes use a different vocabulary </a:t>
            </a:r>
            <a:r>
              <a:rPr lang="en-US" i="1" dirty="0"/>
              <a:t>V</a:t>
            </a:r>
            <a:r>
              <a:rPr lang="en-US" i="1" baseline="-25000" dirty="0"/>
              <a:t>C</a:t>
            </a:r>
            <a:r>
              <a:rPr lang="en-US" dirty="0"/>
              <a:t>  for the context, so your matrix will be |</a:t>
            </a:r>
            <a:r>
              <a:rPr lang="en-US" i="1" dirty="0" err="1"/>
              <a:t>V</a:t>
            </a:r>
            <a:r>
              <a:rPr lang="en-US" dirty="0" err="1"/>
              <a:t>|x|</a:t>
            </a:r>
            <a:r>
              <a:rPr lang="en-US" i="1" dirty="0" err="1"/>
              <a:t>V</a:t>
            </a:r>
            <a:r>
              <a:rPr lang="en-US" i="1" baseline="-25000" dirty="0" err="1"/>
              <a:t>C</a:t>
            </a:r>
            <a:r>
              <a:rPr lang="en-US" dirty="0"/>
              <a:t>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31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 Window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2004740"/>
          </a:xfrm>
        </p:spPr>
        <p:txBody>
          <a:bodyPr>
            <a:normAutofit/>
          </a:bodyPr>
          <a:lstStyle/>
          <a:p>
            <a:r>
              <a:rPr lang="en-US" dirty="0"/>
              <a:t>size of context window affects word vectors</a:t>
            </a:r>
          </a:p>
          <a:p>
            <a:r>
              <a:rPr lang="en-US" dirty="0"/>
              <a:t>in assignment 1, you will explore this both quantitatively and qualitatively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571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Measuring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1275080"/>
            <a:ext cx="8686800" cy="4089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given 2 word vectors, how should we measure their similarity?</a:t>
            </a:r>
          </a:p>
          <a:p>
            <a:r>
              <a:rPr lang="en-US" dirty="0"/>
              <a:t>most measure of vector similarity are based on </a:t>
            </a:r>
            <a:r>
              <a:rPr lang="en-US" b="1" dirty="0">
                <a:solidFill>
                  <a:srgbClr val="288CD2"/>
                </a:solidFill>
              </a:rPr>
              <a:t>dot product </a:t>
            </a:r>
            <a:r>
              <a:rPr lang="en-US" dirty="0"/>
              <a:t>(or </a:t>
            </a:r>
            <a:r>
              <a:rPr lang="en-US" b="1" dirty="0">
                <a:solidFill>
                  <a:srgbClr val="288CD2"/>
                </a:solidFill>
              </a:rPr>
              <a:t>inner product</a:t>
            </a:r>
            <a:r>
              <a:rPr lang="en-US" dirty="0"/>
              <a:t>):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lvl="1"/>
            <a:r>
              <a:rPr lang="en-US" dirty="0"/>
              <a:t>high when vectors have large values in same dimensions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04" y="3517900"/>
            <a:ext cx="4828396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54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461" y="1960766"/>
            <a:ext cx="1641881" cy="204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7472" y="1647167"/>
            <a:ext cx="18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472" y="2474761"/>
            <a:ext cx="4282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entry </a:t>
            </a:r>
            <a:r>
              <a:rPr lang="en-US" sz="4000" dirty="0" err="1"/>
              <a:t>i</a:t>
            </a:r>
            <a:r>
              <a:rPr lang="en-US" sz="4000" dirty="0"/>
              <a:t> in the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472" y="3403264"/>
            <a:ext cx="4176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dot (inner) product</a:t>
            </a:r>
          </a:p>
        </p:txBody>
      </p:sp>
    </p:spTree>
    <p:extLst>
      <p:ext uri="{BB962C8B-B14F-4D97-AF65-F5344CB8AC3E}">
        <p14:creationId xmlns:p14="http://schemas.microsoft.com/office/powerpoint/2010/main" val="11367250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640" y="76200"/>
            <a:ext cx="7467600" cy="990600"/>
          </a:xfrm>
        </p:spPr>
        <p:txBody>
          <a:bodyPr/>
          <a:lstStyle/>
          <a:p>
            <a:r>
              <a:rPr lang="en-US" dirty="0"/>
              <a:t>Problem with dot product?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181100"/>
            <a:ext cx="1981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79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640" y="76200"/>
            <a:ext cx="7467600" cy="990600"/>
          </a:xfrm>
        </p:spPr>
        <p:txBody>
          <a:bodyPr/>
          <a:lstStyle/>
          <a:p>
            <a:r>
              <a:rPr lang="en-US" dirty="0"/>
              <a:t>Problem with dot product?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" y="1952625"/>
            <a:ext cx="9032240" cy="4044950"/>
          </a:xfrm>
        </p:spPr>
        <p:txBody>
          <a:bodyPr>
            <a:normAutofit fontScale="92500"/>
          </a:bodyPr>
          <a:lstStyle/>
          <a:p>
            <a:r>
              <a:rPr lang="en-US" dirty="0"/>
              <a:t>dot product is larger if vector is longer</a:t>
            </a:r>
          </a:p>
          <a:p>
            <a:r>
              <a:rPr lang="en-US" dirty="0"/>
              <a:t>vector length: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frequent words </a:t>
            </a:r>
            <a:r>
              <a:rPr lang="en-US" sz="2600" dirty="0">
                <a:solidFill>
                  <a:schemeClr val="bg1"/>
                </a:solidFill>
                <a:sym typeface="Wingdings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larger counts </a:t>
            </a:r>
            <a:r>
              <a:rPr lang="en-US" sz="2600" dirty="0">
                <a:solidFill>
                  <a:schemeClr val="bg1"/>
                </a:solidFill>
                <a:sym typeface="Wingdings"/>
              </a:rPr>
              <a:t></a:t>
            </a:r>
            <a:r>
              <a:rPr lang="en-US" dirty="0">
                <a:solidFill>
                  <a:schemeClr val="bg1"/>
                </a:solidFill>
                <a:sym typeface="Wingdings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larger dot products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is bad: we don’t want a similarity metric to be sensitive to word frequency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181100"/>
            <a:ext cx="19812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370" y="2946400"/>
            <a:ext cx="2409029" cy="110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96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640" y="76200"/>
            <a:ext cx="7467600" cy="990600"/>
          </a:xfrm>
        </p:spPr>
        <p:txBody>
          <a:bodyPr/>
          <a:lstStyle/>
          <a:p>
            <a:r>
              <a:rPr lang="en-US" dirty="0"/>
              <a:t>Problem with dot product?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" y="1952625"/>
            <a:ext cx="9032240" cy="4044950"/>
          </a:xfrm>
        </p:spPr>
        <p:txBody>
          <a:bodyPr>
            <a:normAutofit fontScale="92500"/>
          </a:bodyPr>
          <a:lstStyle/>
          <a:p>
            <a:r>
              <a:rPr lang="en-US" dirty="0"/>
              <a:t>dot product is larger if vector is longer</a:t>
            </a:r>
          </a:p>
          <a:p>
            <a:r>
              <a:rPr lang="en-US" dirty="0"/>
              <a:t>vector length: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frequent words </a:t>
            </a:r>
            <a:r>
              <a:rPr lang="en-US" sz="2600" dirty="0">
                <a:sym typeface="Wingdings"/>
              </a:rPr>
              <a:t> </a:t>
            </a:r>
            <a:r>
              <a:rPr lang="en-US" dirty="0"/>
              <a:t>larger counts </a:t>
            </a:r>
            <a:r>
              <a:rPr lang="en-US" sz="26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dirty="0"/>
              <a:t>larger dot products</a:t>
            </a:r>
          </a:p>
          <a:p>
            <a:r>
              <a:rPr lang="en-US" dirty="0"/>
              <a:t>this is bad: we don’t want a similarity metric to be overly sensitive to word frequency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181100"/>
            <a:ext cx="19812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370" y="2946400"/>
            <a:ext cx="2409029" cy="110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621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Solution: </a:t>
            </a:r>
            <a:r>
              <a:rPr lang="en-US" b="1" dirty="0">
                <a:solidFill>
                  <a:srgbClr val="288CD2"/>
                </a:solidFill>
              </a:rPr>
              <a:t>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dot product by lengths of the vectors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turns out to be the cosine of the angle between them!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1968499"/>
            <a:ext cx="1524000" cy="103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096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Cosine as a similarity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97000"/>
            <a:ext cx="5334000" cy="4445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-1: vectors point in opposite directions </a:t>
            </a:r>
          </a:p>
          <a:p>
            <a:r>
              <a:rPr lang="en-US" dirty="0"/>
              <a:t>+1:  vectors point in same directions</a:t>
            </a:r>
          </a:p>
          <a:p>
            <a:r>
              <a:rPr lang="en-US" dirty="0"/>
              <a:t>0: vectors are orthogonal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word counts are non-negative, so cosine ranges from 0 to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16666" b="16666"/>
          <a:stretch>
            <a:fillRect/>
          </a:stretch>
        </p:blipFill>
        <p:spPr bwMode="auto">
          <a:xfrm>
            <a:off x="5346700" y="1071880"/>
            <a:ext cx="3543301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2524840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assignment 1, you should exploit </a:t>
            </a:r>
            <a:r>
              <a:rPr lang="en-US" dirty="0" err="1"/>
              <a:t>sparsity</a:t>
            </a:r>
            <a:r>
              <a:rPr lang="en-US" dirty="0"/>
              <a:t> when counting context words and computing cosine similarities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85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raw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raw word counts are not a great measure of association between words</a:t>
            </a:r>
          </a:p>
          <a:p>
            <a:pPr lvl="1"/>
            <a:r>
              <a:rPr lang="en-US" dirty="0"/>
              <a:t>why not?</a:t>
            </a:r>
          </a:p>
          <a:p>
            <a:pPr lvl="1"/>
            <a:r>
              <a:rPr lang="en-US" dirty="0"/>
              <a:t>very skewed: </a:t>
            </a:r>
            <a:r>
              <a:rPr lang="en-US" i="1" dirty="0"/>
              <a:t>the</a:t>
            </a:r>
            <a:r>
              <a:rPr lang="en-US" dirty="0"/>
              <a:t> and </a:t>
            </a:r>
            <a:r>
              <a:rPr lang="en-US" i="1" dirty="0"/>
              <a:t>of</a:t>
            </a:r>
            <a:r>
              <a:rPr lang="en-US" dirty="0"/>
              <a:t> are frequent, but not the most discriminative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42038936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/>
              <a:t>Top co-occurrence counts with ``cooked’’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100" y="733129"/>
            <a:ext cx="2031626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123     ,</a:t>
            </a:r>
          </a:p>
          <a:p>
            <a:r>
              <a:rPr lang="en-US" sz="2000" dirty="0">
                <a:latin typeface="Courier New"/>
                <a:cs typeface="Courier New"/>
              </a:rPr>
              <a:t>92      and</a:t>
            </a:r>
          </a:p>
          <a:p>
            <a:r>
              <a:rPr lang="en-US" sz="2000" dirty="0">
                <a:latin typeface="Courier New"/>
                <a:cs typeface="Courier New"/>
              </a:rPr>
              <a:t>79      the</a:t>
            </a:r>
          </a:p>
          <a:p>
            <a:r>
              <a:rPr lang="en-US" sz="2000" dirty="0">
                <a:latin typeface="Courier New"/>
                <a:cs typeface="Courier New"/>
              </a:rPr>
              <a:t>71      .</a:t>
            </a:r>
          </a:p>
          <a:p>
            <a:r>
              <a:rPr lang="en-US" sz="2000" dirty="0">
                <a:latin typeface="Courier New"/>
                <a:cs typeface="Courier New"/>
              </a:rPr>
              <a:t>68      &lt;s&gt;</a:t>
            </a:r>
          </a:p>
          <a:p>
            <a:r>
              <a:rPr lang="en-US" sz="2000" dirty="0">
                <a:latin typeface="Courier New"/>
                <a:cs typeface="Courier New"/>
              </a:rPr>
              <a:t>66      &lt;/s&gt;</a:t>
            </a:r>
          </a:p>
          <a:p>
            <a:r>
              <a:rPr lang="en-US" sz="2000" dirty="0">
                <a:latin typeface="Courier New"/>
                <a:cs typeface="Courier New"/>
              </a:rPr>
              <a:t>53      in</a:t>
            </a:r>
          </a:p>
          <a:p>
            <a:r>
              <a:rPr lang="en-US" sz="2000" dirty="0">
                <a:latin typeface="Courier New"/>
                <a:cs typeface="Courier New"/>
              </a:rPr>
              <a:t>39      a</a:t>
            </a:r>
          </a:p>
          <a:p>
            <a:r>
              <a:rPr lang="en-US" sz="2000" dirty="0">
                <a:latin typeface="Courier New"/>
                <a:cs typeface="Courier New"/>
              </a:rPr>
              <a:t>38      is</a:t>
            </a:r>
          </a:p>
          <a:p>
            <a:r>
              <a:rPr lang="en-US" sz="2000" dirty="0">
                <a:latin typeface="Courier New"/>
                <a:cs typeface="Courier New"/>
              </a:rPr>
              <a:t>35      of</a:t>
            </a:r>
          </a:p>
          <a:p>
            <a:r>
              <a:rPr lang="en-US" sz="2000" dirty="0">
                <a:latin typeface="Courier New"/>
                <a:cs typeface="Courier New"/>
              </a:rPr>
              <a:t>30      with</a:t>
            </a:r>
          </a:p>
          <a:p>
            <a:r>
              <a:rPr lang="en-US" sz="2000" dirty="0">
                <a:latin typeface="Courier New"/>
                <a:cs typeface="Courier New"/>
              </a:rPr>
              <a:t>28      are</a:t>
            </a:r>
          </a:p>
          <a:p>
            <a:r>
              <a:rPr lang="en-US" sz="2000" dirty="0">
                <a:latin typeface="Courier New"/>
                <a:cs typeface="Courier New"/>
              </a:rPr>
              <a:t>25      to</a:t>
            </a:r>
          </a:p>
          <a:p>
            <a:r>
              <a:rPr lang="en-US" sz="2000" dirty="0">
                <a:latin typeface="Courier New"/>
                <a:cs typeface="Courier New"/>
              </a:rPr>
              <a:t>23      or</a:t>
            </a:r>
          </a:p>
          <a:p>
            <a:r>
              <a:rPr lang="en-US" sz="2000" dirty="0">
                <a:latin typeface="Courier New"/>
                <a:cs typeface="Courier New"/>
              </a:rPr>
              <a:t>23      it</a:t>
            </a:r>
          </a:p>
          <a:p>
            <a:r>
              <a:rPr lang="en-US" sz="2000" dirty="0">
                <a:latin typeface="Courier New"/>
                <a:cs typeface="Courier New"/>
              </a:rPr>
              <a:t>20      (</a:t>
            </a:r>
          </a:p>
          <a:p>
            <a:r>
              <a:rPr lang="en-US" sz="2000" dirty="0">
                <a:latin typeface="Courier New"/>
                <a:cs typeface="Courier New"/>
              </a:rPr>
              <a:t>19      be</a:t>
            </a:r>
          </a:p>
          <a:p>
            <a:r>
              <a:rPr lang="en-US" sz="2000" dirty="0">
                <a:latin typeface="Courier New"/>
                <a:cs typeface="Courier New"/>
              </a:rPr>
              <a:t>15      )</a:t>
            </a:r>
          </a:p>
          <a:p>
            <a:r>
              <a:rPr lang="en-US" sz="2000" dirty="0">
                <a:latin typeface="Courier New"/>
                <a:cs typeface="Courier New"/>
              </a:rPr>
              <a:t>14     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9700" y="733129"/>
            <a:ext cx="2339453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13      as</a:t>
            </a:r>
          </a:p>
          <a:p>
            <a:r>
              <a:rPr lang="en-US" sz="2000" dirty="0">
                <a:latin typeface="Courier New"/>
                <a:cs typeface="Courier New"/>
              </a:rPr>
              <a:t>12      for</a:t>
            </a:r>
          </a:p>
          <a:p>
            <a:r>
              <a:rPr lang="en-US" sz="2000" dirty="0">
                <a:latin typeface="Courier New"/>
                <a:cs typeface="Courier New"/>
              </a:rPr>
              <a:t>12      food</a:t>
            </a:r>
          </a:p>
          <a:p>
            <a:r>
              <a:rPr lang="en-US" sz="2000" dirty="0">
                <a:latin typeface="Courier New"/>
                <a:cs typeface="Courier New"/>
              </a:rPr>
              <a:t>11      which</a:t>
            </a:r>
          </a:p>
          <a:p>
            <a:r>
              <a:rPr lang="en-US" sz="2000" dirty="0">
                <a:latin typeface="Courier New"/>
                <a:cs typeface="Courier New"/>
              </a:rPr>
              <a:t>11      that</a:t>
            </a:r>
          </a:p>
          <a:p>
            <a:r>
              <a:rPr lang="en-US" sz="2000" dirty="0">
                <a:latin typeface="Courier New"/>
                <a:cs typeface="Courier New"/>
              </a:rPr>
              <a:t>11      meat</a:t>
            </a:r>
          </a:p>
          <a:p>
            <a:r>
              <a:rPr lang="en-US" sz="2000" dirty="0">
                <a:latin typeface="Courier New"/>
                <a:cs typeface="Courier New"/>
              </a:rPr>
              <a:t>11      can</a:t>
            </a:r>
          </a:p>
          <a:p>
            <a:r>
              <a:rPr lang="en-US" sz="2000" dirty="0">
                <a:latin typeface="Courier New"/>
                <a:cs typeface="Courier New"/>
              </a:rPr>
              <a:t>11      by</a:t>
            </a:r>
          </a:p>
          <a:p>
            <a:r>
              <a:rPr lang="en-US" sz="2000" dirty="0">
                <a:latin typeface="Courier New"/>
                <a:cs typeface="Courier New"/>
              </a:rPr>
              <a:t>10      when</a:t>
            </a:r>
          </a:p>
          <a:p>
            <a:r>
              <a:rPr lang="en-US" sz="2000" dirty="0">
                <a:latin typeface="Courier New"/>
                <a:cs typeface="Courier New"/>
              </a:rPr>
              <a:t>9       rice</a:t>
            </a:r>
          </a:p>
          <a:p>
            <a:r>
              <a:rPr lang="en-US" sz="2000" dirty="0">
                <a:latin typeface="Courier New"/>
                <a:cs typeface="Courier New"/>
              </a:rPr>
              <a:t>9       raw</a:t>
            </a:r>
          </a:p>
          <a:p>
            <a:r>
              <a:rPr lang="en-US" sz="2000" dirty="0">
                <a:latin typeface="Courier New"/>
                <a:cs typeface="Courier New"/>
              </a:rPr>
              <a:t>9       beef</a:t>
            </a:r>
          </a:p>
          <a:p>
            <a:r>
              <a:rPr lang="en-US" sz="2000" dirty="0">
                <a:latin typeface="Courier New"/>
                <a:cs typeface="Courier New"/>
              </a:rPr>
              <a:t>7       they</a:t>
            </a:r>
          </a:p>
          <a:p>
            <a:r>
              <a:rPr lang="en-US" sz="2000" dirty="0">
                <a:latin typeface="Courier New"/>
                <a:cs typeface="Courier New"/>
              </a:rPr>
              <a:t>7       their</a:t>
            </a:r>
          </a:p>
          <a:p>
            <a:r>
              <a:rPr lang="en-US" sz="2000" dirty="0">
                <a:latin typeface="Courier New"/>
                <a:cs typeface="Courier New"/>
              </a:rPr>
              <a:t>7       on</a:t>
            </a:r>
          </a:p>
          <a:p>
            <a:r>
              <a:rPr lang="en-US" sz="2000" dirty="0">
                <a:latin typeface="Courier New"/>
                <a:cs typeface="Courier New"/>
              </a:rPr>
              <a:t>7       not</a:t>
            </a:r>
          </a:p>
          <a:p>
            <a:r>
              <a:rPr lang="en-US" sz="2000" dirty="0">
                <a:latin typeface="Courier New"/>
                <a:cs typeface="Courier New"/>
              </a:rPr>
              <a:t>7       from</a:t>
            </a:r>
          </a:p>
          <a:p>
            <a:r>
              <a:rPr lang="en-US" sz="2000" dirty="0">
                <a:latin typeface="Courier New"/>
                <a:cs typeface="Courier New"/>
              </a:rPr>
              <a:t>6       leaves</a:t>
            </a:r>
          </a:p>
          <a:p>
            <a:r>
              <a:rPr lang="en-US" sz="2000" dirty="0">
                <a:latin typeface="Courier New"/>
                <a:cs typeface="Courier New"/>
              </a:rPr>
              <a:t>6       has</a:t>
            </a:r>
          </a:p>
        </p:txBody>
      </p:sp>
    </p:spTree>
    <p:extLst>
      <p:ext uri="{BB962C8B-B14F-4D97-AF65-F5344CB8AC3E}">
        <p14:creationId xmlns:p14="http://schemas.microsoft.com/office/powerpoint/2010/main" val="22268794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/>
              <a:t>Top co-occurrence counts with ``cooked’’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62100" y="733129"/>
            <a:ext cx="2031626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123     ,</a:t>
            </a:r>
          </a:p>
          <a:p>
            <a:r>
              <a:rPr lang="en-US" sz="2000" dirty="0">
                <a:latin typeface="Courier New"/>
                <a:cs typeface="Courier New"/>
              </a:rPr>
              <a:t>92      and</a:t>
            </a:r>
          </a:p>
          <a:p>
            <a:r>
              <a:rPr lang="en-US" sz="2000" dirty="0">
                <a:latin typeface="Courier New"/>
                <a:cs typeface="Courier New"/>
              </a:rPr>
              <a:t>79      the</a:t>
            </a:r>
          </a:p>
          <a:p>
            <a:r>
              <a:rPr lang="en-US" sz="2000" dirty="0">
                <a:latin typeface="Courier New"/>
                <a:cs typeface="Courier New"/>
              </a:rPr>
              <a:t>71      .</a:t>
            </a:r>
          </a:p>
          <a:p>
            <a:r>
              <a:rPr lang="en-US" sz="2000" dirty="0">
                <a:latin typeface="Courier New"/>
                <a:cs typeface="Courier New"/>
              </a:rPr>
              <a:t>68      &lt;s&gt;</a:t>
            </a:r>
          </a:p>
          <a:p>
            <a:r>
              <a:rPr lang="en-US" sz="2000" dirty="0">
                <a:latin typeface="Courier New"/>
                <a:cs typeface="Courier New"/>
              </a:rPr>
              <a:t>66      &lt;/s&gt;</a:t>
            </a:r>
          </a:p>
          <a:p>
            <a:r>
              <a:rPr lang="en-US" sz="2000" dirty="0">
                <a:latin typeface="Courier New"/>
                <a:cs typeface="Courier New"/>
              </a:rPr>
              <a:t>53      in</a:t>
            </a:r>
          </a:p>
          <a:p>
            <a:r>
              <a:rPr lang="en-US" sz="2000" dirty="0">
                <a:latin typeface="Courier New"/>
                <a:cs typeface="Courier New"/>
              </a:rPr>
              <a:t>39      a</a:t>
            </a:r>
          </a:p>
          <a:p>
            <a:r>
              <a:rPr lang="en-US" sz="2000" dirty="0">
                <a:latin typeface="Courier New"/>
                <a:cs typeface="Courier New"/>
              </a:rPr>
              <a:t>38      is</a:t>
            </a:r>
          </a:p>
          <a:p>
            <a:r>
              <a:rPr lang="en-US" sz="2000" dirty="0">
                <a:latin typeface="Courier New"/>
                <a:cs typeface="Courier New"/>
              </a:rPr>
              <a:t>35      of</a:t>
            </a:r>
          </a:p>
          <a:p>
            <a:r>
              <a:rPr lang="en-US" sz="2000" dirty="0">
                <a:latin typeface="Courier New"/>
                <a:cs typeface="Courier New"/>
              </a:rPr>
              <a:t>30      with</a:t>
            </a:r>
          </a:p>
          <a:p>
            <a:r>
              <a:rPr lang="en-US" sz="2000" dirty="0">
                <a:latin typeface="Courier New"/>
                <a:cs typeface="Courier New"/>
              </a:rPr>
              <a:t>28      are</a:t>
            </a:r>
          </a:p>
          <a:p>
            <a:r>
              <a:rPr lang="en-US" sz="2000" dirty="0">
                <a:latin typeface="Courier New"/>
                <a:cs typeface="Courier New"/>
              </a:rPr>
              <a:t>25      to</a:t>
            </a:r>
          </a:p>
          <a:p>
            <a:r>
              <a:rPr lang="en-US" sz="2000" dirty="0">
                <a:latin typeface="Courier New"/>
                <a:cs typeface="Courier New"/>
              </a:rPr>
              <a:t>23      or</a:t>
            </a:r>
          </a:p>
          <a:p>
            <a:r>
              <a:rPr lang="en-US" sz="2000" dirty="0">
                <a:latin typeface="Courier New"/>
                <a:cs typeface="Courier New"/>
              </a:rPr>
              <a:t>23      it</a:t>
            </a:r>
          </a:p>
          <a:p>
            <a:r>
              <a:rPr lang="en-US" sz="2000" dirty="0">
                <a:latin typeface="Courier New"/>
                <a:cs typeface="Courier New"/>
              </a:rPr>
              <a:t>20      (</a:t>
            </a:r>
          </a:p>
          <a:p>
            <a:r>
              <a:rPr lang="en-US" sz="2000" dirty="0">
                <a:latin typeface="Courier New"/>
                <a:cs typeface="Courier New"/>
              </a:rPr>
              <a:t>19      be</a:t>
            </a:r>
          </a:p>
          <a:p>
            <a:r>
              <a:rPr lang="en-US" sz="2000" dirty="0">
                <a:latin typeface="Courier New"/>
                <a:cs typeface="Courier New"/>
              </a:rPr>
              <a:t>15      )</a:t>
            </a:r>
          </a:p>
          <a:p>
            <a:r>
              <a:rPr lang="en-US" sz="2000" dirty="0">
                <a:latin typeface="Courier New"/>
                <a:cs typeface="Courier New"/>
              </a:rPr>
              <a:t>14     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9700" y="733129"/>
            <a:ext cx="2339453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13      as</a:t>
            </a:r>
          </a:p>
          <a:p>
            <a:r>
              <a:rPr lang="en-US" sz="2000" dirty="0">
                <a:latin typeface="Courier New"/>
                <a:cs typeface="Courier New"/>
              </a:rPr>
              <a:t>12      for</a:t>
            </a:r>
          </a:p>
          <a:p>
            <a:r>
              <a:rPr lang="en-US" sz="2000" dirty="0">
                <a:latin typeface="Courier New"/>
                <a:cs typeface="Courier New"/>
              </a:rPr>
              <a:t>12      </a:t>
            </a:r>
            <a:r>
              <a:rPr lang="en-US" sz="2000" b="1" dirty="0">
                <a:latin typeface="Courier New"/>
                <a:cs typeface="Courier New"/>
              </a:rPr>
              <a:t>food</a:t>
            </a:r>
          </a:p>
          <a:p>
            <a:r>
              <a:rPr lang="en-US" sz="2000" dirty="0">
                <a:latin typeface="Courier New"/>
                <a:cs typeface="Courier New"/>
              </a:rPr>
              <a:t>11      which</a:t>
            </a:r>
          </a:p>
          <a:p>
            <a:r>
              <a:rPr lang="en-US" sz="2000" dirty="0">
                <a:latin typeface="Courier New"/>
                <a:cs typeface="Courier New"/>
              </a:rPr>
              <a:t>11      that</a:t>
            </a:r>
          </a:p>
          <a:p>
            <a:r>
              <a:rPr lang="en-US" sz="2000" dirty="0">
                <a:latin typeface="Courier New"/>
                <a:cs typeface="Courier New"/>
              </a:rPr>
              <a:t>11      </a:t>
            </a:r>
            <a:r>
              <a:rPr lang="en-US" sz="2000" b="1" dirty="0">
                <a:latin typeface="Courier New"/>
                <a:cs typeface="Courier New"/>
              </a:rPr>
              <a:t>meat</a:t>
            </a:r>
          </a:p>
          <a:p>
            <a:r>
              <a:rPr lang="en-US" sz="2000" dirty="0">
                <a:latin typeface="Courier New"/>
                <a:cs typeface="Courier New"/>
              </a:rPr>
              <a:t>11      can</a:t>
            </a:r>
          </a:p>
          <a:p>
            <a:r>
              <a:rPr lang="en-US" sz="2000" dirty="0">
                <a:latin typeface="Courier New"/>
                <a:cs typeface="Courier New"/>
              </a:rPr>
              <a:t>11      by</a:t>
            </a:r>
          </a:p>
          <a:p>
            <a:r>
              <a:rPr lang="en-US" sz="2000" dirty="0">
                <a:latin typeface="Courier New"/>
                <a:cs typeface="Courier New"/>
              </a:rPr>
              <a:t>10      when</a:t>
            </a:r>
          </a:p>
          <a:p>
            <a:r>
              <a:rPr lang="en-US" sz="2000" dirty="0">
                <a:latin typeface="Courier New"/>
                <a:cs typeface="Courier New"/>
              </a:rPr>
              <a:t>9       </a:t>
            </a:r>
            <a:r>
              <a:rPr lang="en-US" sz="2000" b="1" dirty="0">
                <a:latin typeface="Courier New"/>
                <a:cs typeface="Courier New"/>
              </a:rPr>
              <a:t>rice</a:t>
            </a:r>
          </a:p>
          <a:p>
            <a:r>
              <a:rPr lang="en-US" sz="2000" dirty="0">
                <a:latin typeface="Courier New"/>
                <a:cs typeface="Courier New"/>
              </a:rPr>
              <a:t>9       </a:t>
            </a:r>
            <a:r>
              <a:rPr lang="en-US" sz="2000" b="1" dirty="0">
                <a:latin typeface="Courier New"/>
                <a:cs typeface="Courier New"/>
              </a:rPr>
              <a:t>raw</a:t>
            </a:r>
          </a:p>
          <a:p>
            <a:r>
              <a:rPr lang="en-US" sz="2000" dirty="0">
                <a:latin typeface="Courier New"/>
                <a:cs typeface="Courier New"/>
              </a:rPr>
              <a:t>9       </a:t>
            </a:r>
            <a:r>
              <a:rPr lang="en-US" sz="2000" b="1" dirty="0">
                <a:latin typeface="Courier New"/>
                <a:cs typeface="Courier New"/>
              </a:rPr>
              <a:t>beef</a:t>
            </a:r>
          </a:p>
          <a:p>
            <a:r>
              <a:rPr lang="en-US" sz="2000" dirty="0">
                <a:latin typeface="Courier New"/>
                <a:cs typeface="Courier New"/>
              </a:rPr>
              <a:t>7       they</a:t>
            </a:r>
          </a:p>
          <a:p>
            <a:r>
              <a:rPr lang="en-US" sz="2000" dirty="0">
                <a:latin typeface="Courier New"/>
                <a:cs typeface="Courier New"/>
              </a:rPr>
              <a:t>7       their</a:t>
            </a:r>
          </a:p>
          <a:p>
            <a:r>
              <a:rPr lang="en-US" sz="2000" dirty="0">
                <a:latin typeface="Courier New"/>
                <a:cs typeface="Courier New"/>
              </a:rPr>
              <a:t>7       on</a:t>
            </a:r>
          </a:p>
          <a:p>
            <a:r>
              <a:rPr lang="en-US" sz="2000" dirty="0">
                <a:latin typeface="Courier New"/>
                <a:cs typeface="Courier New"/>
              </a:rPr>
              <a:t>7       not</a:t>
            </a:r>
          </a:p>
          <a:p>
            <a:r>
              <a:rPr lang="en-US" sz="2000" dirty="0">
                <a:latin typeface="Courier New"/>
                <a:cs typeface="Courier New"/>
              </a:rPr>
              <a:t>7       from</a:t>
            </a:r>
          </a:p>
          <a:p>
            <a:r>
              <a:rPr lang="en-US" sz="2000" dirty="0">
                <a:latin typeface="Courier New"/>
                <a:cs typeface="Courier New"/>
              </a:rPr>
              <a:t>6       </a:t>
            </a:r>
            <a:r>
              <a:rPr lang="en-US" sz="2000" b="1" dirty="0">
                <a:latin typeface="Courier New"/>
                <a:cs typeface="Courier New"/>
              </a:rPr>
              <a:t>leaves</a:t>
            </a:r>
          </a:p>
          <a:p>
            <a:r>
              <a:rPr lang="en-US" sz="2000" dirty="0">
                <a:latin typeface="Courier New"/>
                <a:cs typeface="Courier New"/>
              </a:rPr>
              <a:t>6       has</a:t>
            </a:r>
          </a:p>
        </p:txBody>
      </p:sp>
    </p:spTree>
    <p:extLst>
      <p:ext uri="{BB962C8B-B14F-4D97-AF65-F5344CB8AC3E}">
        <p14:creationId xmlns:p14="http://schemas.microsoft.com/office/powerpoint/2010/main" val="32166677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raw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raw word counts are not a great measure of association between words</a:t>
            </a:r>
          </a:p>
          <a:p>
            <a:pPr lvl="1"/>
            <a:r>
              <a:rPr lang="en-US" dirty="0"/>
              <a:t>why not?</a:t>
            </a:r>
          </a:p>
          <a:p>
            <a:pPr lvl="1"/>
            <a:r>
              <a:rPr lang="en-US" dirty="0"/>
              <a:t>very skewed: </a:t>
            </a:r>
            <a:r>
              <a:rPr lang="en-US" i="1" dirty="0"/>
              <a:t>the</a:t>
            </a:r>
            <a:r>
              <a:rPr lang="en-US" dirty="0"/>
              <a:t> and </a:t>
            </a:r>
            <a:r>
              <a:rPr lang="en-US" i="1" dirty="0"/>
              <a:t>of</a:t>
            </a:r>
            <a:r>
              <a:rPr lang="en-US" dirty="0"/>
              <a:t> are frequent, but not the most discriminative</a:t>
            </a:r>
          </a:p>
          <a:p>
            <a:r>
              <a:rPr lang="en-US" sz="2800" dirty="0"/>
              <a:t>rather have a measure that asks whether a context word is </a:t>
            </a:r>
            <a:r>
              <a:rPr lang="en-US" sz="2800" b="1" dirty="0"/>
              <a:t>informative </a:t>
            </a:r>
            <a:r>
              <a:rPr lang="en-US" sz="2800" dirty="0"/>
              <a:t>about the center word</a:t>
            </a:r>
          </a:p>
          <a:p>
            <a:pPr lvl="1"/>
            <a:r>
              <a:rPr lang="en-US" sz="2400" b="1" dirty="0" err="1">
                <a:solidFill>
                  <a:srgbClr val="288CD2"/>
                </a:solidFill>
              </a:rPr>
              <a:t>pointwise</a:t>
            </a:r>
            <a:r>
              <a:rPr lang="en-US" sz="2400" b="1" dirty="0">
                <a:solidFill>
                  <a:srgbClr val="288CD2"/>
                </a:solidFill>
              </a:rPr>
              <a:t> mutual information (PMI)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3909929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288CD2"/>
                </a:solidFill>
              </a:rPr>
              <a:t>Pointwise</a:t>
            </a:r>
            <a:r>
              <a:rPr lang="en-US" b="1" dirty="0">
                <a:solidFill>
                  <a:srgbClr val="288CD2"/>
                </a:solidFill>
              </a:rPr>
              <a:t> Mutual Information (PMI)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479874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 two events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co-occur more often than if they were independent?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</a:t>
            </a:r>
            <a:r>
              <a:rPr lang="en-US" i="1" dirty="0"/>
              <a:t>x</a:t>
            </a:r>
            <a:r>
              <a:rPr lang="en-US" dirty="0"/>
              <a:t> is the center word and </a:t>
            </a:r>
            <a:r>
              <a:rPr lang="en-US" i="1" dirty="0"/>
              <a:t>y</a:t>
            </a:r>
            <a:r>
              <a:rPr lang="en-US" dirty="0"/>
              <a:t> is the word in the context window</a:t>
            </a:r>
          </a:p>
          <a:p>
            <a:endParaRPr lang="en-US" dirty="0"/>
          </a:p>
          <a:p>
            <a:r>
              <a:rPr lang="en-US" dirty="0"/>
              <a:t>each of these probabilities can be estimated from the counts collected from the corpus</a:t>
            </a:r>
          </a:p>
          <a:p>
            <a:endParaRPr lang="en-US" dirty="0"/>
          </a:p>
          <a:p>
            <a:r>
              <a:rPr lang="en-US" dirty="0"/>
              <a:t>replace raw counts with </a:t>
            </a:r>
            <a:r>
              <a:rPr lang="en-US" dirty="0" err="1"/>
              <a:t>pmi</a:t>
            </a:r>
            <a:r>
              <a:rPr lang="en-US" dirty="0"/>
              <a:t> scores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931746"/>
            <a:ext cx="33401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1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Context words of “cooked” with highest PMIs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64218" y="733129"/>
            <a:ext cx="295510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9.30533 beef</a:t>
            </a:r>
          </a:p>
          <a:p>
            <a:r>
              <a:rPr lang="en-US" sz="2000" dirty="0">
                <a:latin typeface="Courier New"/>
                <a:cs typeface="Courier New"/>
              </a:rPr>
              <a:t>8.88418 shrimp</a:t>
            </a:r>
          </a:p>
          <a:p>
            <a:r>
              <a:rPr lang="en-US" sz="2000" dirty="0">
                <a:latin typeface="Courier New"/>
                <a:cs typeface="Courier New"/>
              </a:rPr>
              <a:t>8.63397 potatoes</a:t>
            </a:r>
          </a:p>
          <a:p>
            <a:r>
              <a:rPr lang="en-US" sz="2000" dirty="0">
                <a:latin typeface="Courier New"/>
                <a:cs typeface="Courier New"/>
              </a:rPr>
              <a:t>8.61946 ate</a:t>
            </a:r>
          </a:p>
          <a:p>
            <a:r>
              <a:rPr lang="en-US" sz="2000" dirty="0">
                <a:latin typeface="Courier New"/>
                <a:cs typeface="Courier New"/>
              </a:rPr>
              <a:t>8.56584 dishes</a:t>
            </a:r>
          </a:p>
          <a:p>
            <a:r>
              <a:rPr lang="en-US" sz="2000" dirty="0">
                <a:latin typeface="Courier New"/>
                <a:cs typeface="Courier New"/>
              </a:rPr>
              <a:t>8.50945 eaten</a:t>
            </a:r>
          </a:p>
          <a:p>
            <a:r>
              <a:rPr lang="en-US" sz="2000" dirty="0">
                <a:latin typeface="Courier New"/>
                <a:cs typeface="Courier New"/>
              </a:rPr>
              <a:t>8.4931  beans</a:t>
            </a:r>
          </a:p>
          <a:p>
            <a:r>
              <a:rPr lang="en-US" sz="2000" dirty="0">
                <a:latin typeface="Courier New"/>
                <a:cs typeface="Courier New"/>
              </a:rPr>
              <a:t>8.33137 texture</a:t>
            </a:r>
          </a:p>
          <a:p>
            <a:r>
              <a:rPr lang="en-US" sz="2000" dirty="0">
                <a:latin typeface="Courier New"/>
                <a:cs typeface="Courier New"/>
              </a:rPr>
              <a:t>8.29489 vegetables</a:t>
            </a:r>
          </a:p>
          <a:p>
            <a:r>
              <a:rPr lang="en-US" sz="2000" dirty="0">
                <a:latin typeface="Courier New"/>
                <a:cs typeface="Courier New"/>
              </a:rPr>
              <a:t>8.25088 soda</a:t>
            </a:r>
          </a:p>
          <a:p>
            <a:r>
              <a:rPr lang="en-US" sz="2000" dirty="0">
                <a:latin typeface="Courier New"/>
                <a:cs typeface="Courier New"/>
              </a:rPr>
              <a:t>8.20831 meat</a:t>
            </a:r>
          </a:p>
          <a:p>
            <a:r>
              <a:rPr lang="en-US" sz="2000" dirty="0">
                <a:latin typeface="Courier New"/>
                <a:cs typeface="Courier New"/>
              </a:rPr>
              <a:t>8.15708 sauce</a:t>
            </a:r>
          </a:p>
          <a:p>
            <a:r>
              <a:rPr lang="en-US" sz="2000" dirty="0">
                <a:latin typeface="Courier New"/>
                <a:cs typeface="Courier New"/>
              </a:rPr>
              <a:t>8.08345 consuming</a:t>
            </a:r>
          </a:p>
          <a:p>
            <a:r>
              <a:rPr lang="en-US" sz="2000" dirty="0">
                <a:latin typeface="Courier New"/>
                <a:cs typeface="Courier New"/>
              </a:rPr>
              <a:t>7.9532  cuisine</a:t>
            </a:r>
          </a:p>
          <a:p>
            <a:r>
              <a:rPr lang="en-US" sz="2000" dirty="0">
                <a:latin typeface="Courier New"/>
                <a:cs typeface="Courier New"/>
              </a:rPr>
              <a:t>7.94043 raw</a:t>
            </a:r>
          </a:p>
          <a:p>
            <a:r>
              <a:rPr lang="en-US" sz="2000" dirty="0">
                <a:latin typeface="Courier New"/>
                <a:cs typeface="Courier New"/>
              </a:rPr>
              <a:t>7.78435 curry</a:t>
            </a:r>
          </a:p>
          <a:p>
            <a:r>
              <a:rPr lang="en-US" sz="2000" dirty="0">
                <a:latin typeface="Courier New"/>
                <a:cs typeface="Courier New"/>
              </a:rPr>
              <a:t>7.7563  juice</a:t>
            </a:r>
          </a:p>
          <a:p>
            <a:r>
              <a:rPr lang="en-US" sz="2000" dirty="0">
                <a:latin typeface="Courier New"/>
                <a:cs typeface="Courier New"/>
              </a:rPr>
              <a:t>7.74444 vegetable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9700" y="733129"/>
            <a:ext cx="280119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7.66406 chili</a:t>
            </a:r>
          </a:p>
          <a:p>
            <a:r>
              <a:rPr lang="en-US" sz="2000" dirty="0">
                <a:latin typeface="Courier New"/>
                <a:cs typeface="Courier New"/>
              </a:rPr>
              <a:t>7.56264 rice</a:t>
            </a:r>
          </a:p>
          <a:p>
            <a:r>
              <a:rPr lang="en-US" sz="2000" dirty="0">
                <a:latin typeface="Courier New"/>
                <a:cs typeface="Courier New"/>
              </a:rPr>
              <a:t>7.56167 soup</a:t>
            </a:r>
          </a:p>
          <a:p>
            <a:r>
              <a:rPr lang="en-US" sz="2000" dirty="0">
                <a:latin typeface="Courier New"/>
                <a:cs typeface="Courier New"/>
              </a:rPr>
              <a:t>7.45315 flour</a:t>
            </a:r>
          </a:p>
          <a:p>
            <a:r>
              <a:rPr lang="en-US" sz="2000" dirty="0">
                <a:latin typeface="Courier New"/>
                <a:cs typeface="Courier New"/>
              </a:rPr>
              <a:t>7.43874 steamed</a:t>
            </a:r>
          </a:p>
          <a:p>
            <a:r>
              <a:rPr lang="en-US" sz="2000" dirty="0">
                <a:latin typeface="Courier New"/>
                <a:cs typeface="Courier New"/>
              </a:rPr>
              <a:t>7.43715 crushed</a:t>
            </a:r>
          </a:p>
          <a:p>
            <a:r>
              <a:rPr lang="en-US" sz="2000" dirty="0">
                <a:latin typeface="Courier New"/>
                <a:cs typeface="Courier New"/>
              </a:rPr>
              <a:t>7.41193 meals</a:t>
            </a:r>
          </a:p>
          <a:p>
            <a:r>
              <a:rPr lang="en-US" sz="2000" dirty="0">
                <a:latin typeface="Courier New"/>
                <a:cs typeface="Courier New"/>
              </a:rPr>
              <a:t>7.39793 digest</a:t>
            </a:r>
          </a:p>
          <a:p>
            <a:r>
              <a:rPr lang="en-US" sz="2000" dirty="0">
                <a:latin typeface="Courier New"/>
                <a:cs typeface="Courier New"/>
              </a:rPr>
              <a:t>7.39175 </a:t>
            </a:r>
            <a:r>
              <a:rPr lang="en-US" sz="2000" dirty="0" err="1">
                <a:latin typeface="Courier New"/>
                <a:cs typeface="Courier New"/>
              </a:rPr>
              <a:t>rockies</a:t>
            </a:r>
            <a:endParaRPr lang="en-US" sz="2000" dirty="0">
              <a:latin typeface="Courier New"/>
              <a:cs typeface="Courier New"/>
            </a:endParaRPr>
          </a:p>
          <a:p>
            <a:r>
              <a:rPr lang="en-US" sz="2000" dirty="0">
                <a:latin typeface="Courier New"/>
                <a:cs typeface="Courier New"/>
              </a:rPr>
              <a:t>7.34773 </a:t>
            </a:r>
            <a:r>
              <a:rPr lang="en-US" sz="2000" dirty="0" err="1">
                <a:latin typeface="Courier New"/>
                <a:cs typeface="Courier New"/>
              </a:rPr>
              <a:t>ramsay</a:t>
            </a:r>
            <a:endParaRPr lang="en-US" sz="2000" dirty="0">
              <a:latin typeface="Courier New"/>
              <a:cs typeface="Courier New"/>
            </a:endParaRPr>
          </a:p>
          <a:p>
            <a:r>
              <a:rPr lang="en-US" sz="2000" dirty="0">
                <a:latin typeface="Courier New"/>
                <a:cs typeface="Courier New"/>
              </a:rPr>
              <a:t>7.33211 honey</a:t>
            </a:r>
          </a:p>
          <a:p>
            <a:r>
              <a:rPr lang="en-US" sz="2000" dirty="0">
                <a:latin typeface="Courier New"/>
                <a:cs typeface="Courier New"/>
              </a:rPr>
              <a:t>7.32253 toxicity</a:t>
            </a:r>
          </a:p>
          <a:p>
            <a:r>
              <a:rPr lang="en-US" sz="2000" dirty="0">
                <a:latin typeface="Courier New"/>
                <a:cs typeface="Courier New"/>
              </a:rPr>
              <a:t>7.29057 cared</a:t>
            </a:r>
          </a:p>
          <a:p>
            <a:r>
              <a:rPr lang="en-US" sz="2000" dirty="0">
                <a:latin typeface="Courier New"/>
                <a:cs typeface="Courier New"/>
              </a:rPr>
              <a:t>7.28626 tomatoes</a:t>
            </a:r>
          </a:p>
          <a:p>
            <a:r>
              <a:rPr lang="en-US" sz="2000" dirty="0">
                <a:latin typeface="Courier New"/>
                <a:cs typeface="Courier New"/>
              </a:rPr>
              <a:t>7.27912 boiling</a:t>
            </a:r>
          </a:p>
          <a:p>
            <a:r>
              <a:rPr lang="en-US" sz="2000" dirty="0">
                <a:latin typeface="Courier New"/>
                <a:cs typeface="Courier New"/>
              </a:rPr>
              <a:t>7.27769 dal</a:t>
            </a:r>
          </a:p>
          <a:p>
            <a:r>
              <a:rPr lang="en-US" sz="2000" dirty="0">
                <a:latin typeface="Courier New"/>
                <a:cs typeface="Courier New"/>
              </a:rPr>
              <a:t>7.27485 citrus</a:t>
            </a:r>
          </a:p>
          <a:p>
            <a:r>
              <a:rPr lang="en-US" sz="2000" dirty="0">
                <a:latin typeface="Courier New"/>
                <a:cs typeface="Courier New"/>
              </a:rPr>
              <a:t>7.25649 </a:t>
            </a:r>
            <a:r>
              <a:rPr lang="en-US" sz="2000" dirty="0" err="1">
                <a:latin typeface="Courier New"/>
                <a:cs typeface="Courier New"/>
              </a:rPr>
              <a:t>doncaster</a:t>
            </a:r>
            <a:endParaRPr lang="en-US"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54412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" y="266700"/>
            <a:ext cx="870712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88CD2"/>
                </a:solidFill>
              </a:rPr>
              <a:t>Positive </a:t>
            </a:r>
            <a:r>
              <a:rPr lang="en-US" sz="3200" b="1" dirty="0" err="1">
                <a:solidFill>
                  <a:srgbClr val="288CD2"/>
                </a:solidFill>
              </a:rPr>
              <a:t>Pointwise</a:t>
            </a:r>
            <a:r>
              <a:rPr lang="en-US" sz="3200" b="1" dirty="0">
                <a:solidFill>
                  <a:srgbClr val="288CD2"/>
                </a:solidFill>
              </a:rPr>
              <a:t> Mutual Information (PPMI)</a:t>
            </a:r>
          </a:p>
        </p:txBody>
      </p:sp>
      <p:sp>
        <p:nvSpPr>
          <p:cNvPr id="15124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44500" y="1790700"/>
            <a:ext cx="8153400" cy="4051300"/>
          </a:xfrm>
        </p:spPr>
        <p:txBody>
          <a:bodyPr>
            <a:normAutofit/>
          </a:bodyPr>
          <a:lstStyle/>
          <a:p>
            <a:pPr marL="285750" lvl="1" indent="-342900"/>
            <a:r>
              <a:rPr lang="en-US" dirty="0">
                <a:solidFill>
                  <a:srgbClr val="000000"/>
                </a:solidFill>
              </a:rPr>
              <a:t>PMI ranges from –infinity to +infinity</a:t>
            </a:r>
          </a:p>
          <a:p>
            <a:pPr marL="285750" lvl="1" indent="-342900"/>
            <a:r>
              <a:rPr lang="en-US" dirty="0">
                <a:solidFill>
                  <a:srgbClr val="000000"/>
                </a:solidFill>
              </a:rPr>
              <a:t>but negative values are problematic:</a:t>
            </a:r>
          </a:p>
          <a:p>
            <a:pPr marL="685800" lvl="2" indent="-342900"/>
            <a:r>
              <a:rPr lang="en-US" sz="2800" dirty="0">
                <a:solidFill>
                  <a:srgbClr val="000000"/>
                </a:solidFill>
              </a:rPr>
              <a:t>things are co-occurring </a:t>
            </a:r>
            <a:r>
              <a:rPr lang="en-US" sz="2800" b="1" dirty="0">
                <a:solidFill>
                  <a:srgbClr val="000000"/>
                </a:solidFill>
              </a:rPr>
              <a:t>less than </a:t>
            </a:r>
            <a:r>
              <a:rPr lang="en-US" sz="2800" dirty="0">
                <a:solidFill>
                  <a:srgbClr val="000000"/>
                </a:solidFill>
              </a:rPr>
              <a:t>we expect by chance</a:t>
            </a:r>
          </a:p>
          <a:p>
            <a:pPr marL="685800" lvl="2" indent="-342900"/>
            <a:r>
              <a:rPr lang="en-US" sz="2800" dirty="0">
                <a:solidFill>
                  <a:srgbClr val="000000"/>
                </a:solidFill>
              </a:rPr>
              <a:t>unreliable without enormous corpora</a:t>
            </a:r>
          </a:p>
          <a:p>
            <a:pPr marL="342900" lvl="1" indent="-342900"/>
            <a:r>
              <a:rPr lang="en-US" dirty="0">
                <a:solidFill>
                  <a:srgbClr val="000000"/>
                </a:solidFill>
              </a:rPr>
              <a:t>so we sometimes replace negative PMI values by 0, calling it positive PMI (PPMI)</a:t>
            </a:r>
            <a:endParaRPr lang="en-US" sz="2000" b="1" dirty="0">
              <a:solidFill>
                <a:srgbClr val="000000"/>
              </a:solidFill>
            </a:endParaRP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>
              <a:buFont typeface="Wingdings" pitchFamily="-65" charset="2"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buFont typeface="Wingdings" pitchFamily="-65" charset="2"/>
              <a:buNone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391453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Alternative to PPMI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80" y="1493520"/>
            <a:ext cx="8879840" cy="384048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288CD2"/>
                </a:solidFill>
              </a:rPr>
              <a:t>tf-idf</a:t>
            </a:r>
            <a:r>
              <a:rPr lang="en-US" dirty="0"/>
              <a:t>:</a:t>
            </a:r>
            <a:r>
              <a:rPr lang="en-US" dirty="0">
                <a:solidFill>
                  <a:srgbClr val="288CD2"/>
                </a:solidFill>
              </a:rPr>
              <a:t> </a:t>
            </a:r>
            <a:r>
              <a:rPr lang="en-US" dirty="0"/>
              <a:t>(that’s a hyphen not a minus sign)</a:t>
            </a:r>
          </a:p>
          <a:p>
            <a:r>
              <a:rPr lang="en-US" dirty="0"/>
              <a:t>product of two factors:</a:t>
            </a:r>
          </a:p>
          <a:p>
            <a:pPr lvl="1"/>
            <a:r>
              <a:rPr lang="en-US" b="1" dirty="0">
                <a:solidFill>
                  <a:srgbClr val="288CD2"/>
                </a:solidFill>
              </a:rPr>
              <a:t>term frequency </a:t>
            </a:r>
            <a:r>
              <a:rPr lang="en-US" dirty="0"/>
              <a:t>(TF; </a:t>
            </a:r>
            <a:r>
              <a:rPr lang="en-US" dirty="0" err="1"/>
              <a:t>Luhn</a:t>
            </a:r>
            <a:r>
              <a:rPr lang="en-US" dirty="0"/>
              <a:t>, 1957): count of word (or possibly log of count)</a:t>
            </a:r>
          </a:p>
          <a:p>
            <a:pPr lvl="1"/>
            <a:r>
              <a:rPr lang="en-US" b="1" dirty="0">
                <a:solidFill>
                  <a:srgbClr val="288CD2"/>
                </a:solidFill>
              </a:rPr>
              <a:t>inverse document frequency </a:t>
            </a:r>
            <a:r>
              <a:rPr lang="en-US" dirty="0"/>
              <a:t>(IDF; </a:t>
            </a:r>
            <a:r>
              <a:rPr lang="en-US" dirty="0" err="1"/>
              <a:t>Sparck</a:t>
            </a:r>
            <a:r>
              <a:rPr lang="en-US" dirty="0"/>
              <a:t> Jones, 1972)</a:t>
            </a:r>
          </a:p>
          <a:p>
            <a:pPr lvl="2"/>
            <a:r>
              <a:rPr lang="en-US" i="1" dirty="0"/>
              <a:t>N:</a:t>
            </a:r>
            <a:r>
              <a:rPr lang="en-US" dirty="0"/>
              <a:t> total number of documents</a:t>
            </a:r>
          </a:p>
          <a:p>
            <a:pPr lvl="2"/>
            <a:r>
              <a:rPr lang="en-US" dirty="0" err="1"/>
              <a:t>df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): # of documents with word </a:t>
            </a:r>
            <a:r>
              <a:rPr lang="en-US" i="1" dirty="0"/>
              <a:t>x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J&amp;M/SLP3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131" y="4716880"/>
            <a:ext cx="2925674" cy="88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0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535383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should we evaluate word vectors?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50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207493" y="82945"/>
            <a:ext cx="4696688" cy="104644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>
                <a:latin typeface="Calibri"/>
                <a:cs typeface="Calibri"/>
              </a:rPr>
              <a:t>WordSim353</a:t>
            </a:r>
          </a:p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(Finkelstein et al., 2002)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747983" y="1304633"/>
          <a:ext cx="5721926" cy="435295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86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40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9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19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 pair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similarity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journey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king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queen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computer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lawyer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forest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graveyard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rooster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881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207493" y="82945"/>
            <a:ext cx="4696688" cy="104644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>
                <a:latin typeface="Calibri"/>
                <a:cs typeface="Calibri"/>
              </a:rPr>
              <a:t>WordSim353</a:t>
            </a:r>
          </a:p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(Finkelstein et al., 2002)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747983" y="1304633"/>
          <a:ext cx="5721926" cy="435295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86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40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9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19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 pair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similarity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journey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king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queen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computer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lawyer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forest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graveyard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rooster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11903" y="1212273"/>
            <a:ext cx="8012552" cy="2215991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txBody>
          <a:bodyPr wrap="square" lIns="182880" tIns="137160" rIns="182880" bIns="137160" rtlCol="0">
            <a:spAutoFit/>
          </a:bodyPr>
          <a:lstStyle/>
          <a:p>
            <a:r>
              <a:rPr lang="en-US" sz="2800" b="1" i="0" dirty="0">
                <a:latin typeface="Calibri"/>
                <a:cs typeface="Calibri"/>
              </a:rPr>
              <a:t>Instructions:</a:t>
            </a:r>
          </a:p>
          <a:p>
            <a:endParaRPr lang="en-US" sz="12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Assign a numerical similarity score between 0 and 10</a:t>
            </a:r>
          </a:p>
          <a:p>
            <a:r>
              <a:rPr lang="en-US" sz="2400" dirty="0">
                <a:latin typeface="Calibri"/>
                <a:cs typeface="Calibri"/>
              </a:rPr>
              <a:t>  (0 = words are totally unrelated, </a:t>
            </a:r>
          </a:p>
          <a:p>
            <a:r>
              <a:rPr lang="en-US" sz="2400" dirty="0">
                <a:latin typeface="Calibri"/>
                <a:cs typeface="Calibri"/>
              </a:rPr>
              <a:t>  10 = words are VERY closely related).</a:t>
            </a:r>
          </a:p>
          <a:p>
            <a:endParaRPr lang="en-US"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94913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207493" y="82945"/>
            <a:ext cx="4696688" cy="104644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>
                <a:latin typeface="Calibri"/>
                <a:cs typeface="Calibri"/>
              </a:rPr>
              <a:t>WordSim353</a:t>
            </a:r>
          </a:p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(Finkelstein et al., 2002)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747983" y="1304633"/>
          <a:ext cx="5721926" cy="435295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86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40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9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19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 pair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similarity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journey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king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queen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computer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lawyer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forest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graveyard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rooster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11903" y="1212273"/>
            <a:ext cx="8012552" cy="3323987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txBody>
          <a:bodyPr wrap="square" lIns="182880" tIns="137160" rIns="182880" bIns="137160" rtlCol="0">
            <a:spAutoFit/>
          </a:bodyPr>
          <a:lstStyle/>
          <a:p>
            <a:r>
              <a:rPr lang="en-US" sz="2800" b="1" i="0" dirty="0">
                <a:latin typeface="Calibri"/>
                <a:cs typeface="Calibri"/>
              </a:rPr>
              <a:t>Instructions:</a:t>
            </a:r>
          </a:p>
          <a:p>
            <a:endParaRPr lang="en-US" sz="12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Assign a numerical similarity score between 0 and 10</a:t>
            </a:r>
          </a:p>
          <a:p>
            <a:r>
              <a:rPr lang="en-US" sz="2400" dirty="0">
                <a:latin typeface="Calibri"/>
                <a:cs typeface="Calibri"/>
              </a:rPr>
              <a:t>  (0 = words are totally unrelated, </a:t>
            </a:r>
          </a:p>
          <a:p>
            <a:r>
              <a:rPr lang="en-US" sz="2400" dirty="0">
                <a:latin typeface="Calibri"/>
                <a:cs typeface="Calibri"/>
              </a:rPr>
              <a:t>  10 = words are VERY closely related).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b="1" dirty="0">
                <a:latin typeface="Calibri"/>
                <a:cs typeface="Calibri"/>
              </a:rPr>
              <a:t>When estimating similarity of antonyms, consider them "similar”</a:t>
            </a:r>
            <a:r>
              <a:rPr lang="en-US" sz="2400" dirty="0">
                <a:latin typeface="Calibri"/>
                <a:cs typeface="Calibri"/>
              </a:rPr>
              <a:t> (i.e., belonging to the same domain or representing features of the same concept), </a:t>
            </a:r>
            <a:r>
              <a:rPr lang="en-US" sz="2400" b="1" dirty="0">
                <a:latin typeface="Calibri"/>
                <a:cs typeface="Calibri"/>
              </a:rPr>
              <a:t>rather than "dissimilar"</a:t>
            </a:r>
            <a:r>
              <a:rPr lang="en-US" sz="2400" dirty="0"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006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207493" y="82945"/>
            <a:ext cx="4696688" cy="104644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>
                <a:latin typeface="Calibri"/>
                <a:cs typeface="Calibri"/>
              </a:rPr>
              <a:t>WordSim353</a:t>
            </a:r>
          </a:p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(Finkelstein et al., 2002)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747983" y="1304633"/>
          <a:ext cx="5721926" cy="435295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86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40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9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19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 pair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similarity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journey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9.3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king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queen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computer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8.5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lawyer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forest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graveyard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rooster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voyage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29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207493" y="82945"/>
            <a:ext cx="4696688" cy="104644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>
                <a:latin typeface="Calibri"/>
                <a:cs typeface="Calibri"/>
              </a:rPr>
              <a:t>SimLex-999</a:t>
            </a:r>
          </a:p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(Hill et al., 2014)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747983" y="1304633"/>
          <a:ext cx="5721926" cy="372944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86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40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9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19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 pair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similarity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insane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crazy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9.6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attorney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lawyer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9.4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author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creator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8.0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diet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apple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1.2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5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new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ancient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81000" y="5029200"/>
            <a:ext cx="8534400" cy="1477327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measures </a:t>
            </a:r>
            <a:r>
              <a:rPr lang="en-US" sz="2800" b="1" i="0" dirty="0" err="1">
                <a:solidFill>
                  <a:schemeClr val="bg1"/>
                </a:solidFill>
                <a:latin typeface="Calibri"/>
                <a:cs typeface="Calibri"/>
              </a:rPr>
              <a:t>paraphrastic</a:t>
            </a:r>
            <a:r>
              <a:rPr lang="en-US" sz="2800" b="1" i="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similarity:</a:t>
            </a:r>
          </a:p>
          <a:p>
            <a:pPr algn="ctr" eaLnBrk="1" hangingPunct="1"/>
            <a:endParaRPr lang="en-US" sz="1600" i="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 eaLnBrk="1" hangingPunct="1"/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two words are “similar” if they have similar meanings</a:t>
            </a:r>
          </a:p>
        </p:txBody>
      </p:sp>
    </p:spTree>
    <p:extLst>
      <p:ext uri="{BB962C8B-B14F-4D97-AF65-F5344CB8AC3E}">
        <p14:creationId xmlns:p14="http://schemas.microsoft.com/office/powerpoint/2010/main" val="78482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word similarity datasets</a:t>
            </a:r>
          </a:p>
          <a:p>
            <a:r>
              <a:rPr lang="en-US" dirty="0"/>
              <a:t>some focus on topical </a:t>
            </a:r>
            <a:r>
              <a:rPr lang="en-US" dirty="0">
                <a:solidFill>
                  <a:srgbClr val="288CD2"/>
                </a:solidFill>
              </a:rPr>
              <a:t>relatedness</a:t>
            </a:r>
            <a:r>
              <a:rPr lang="en-US" dirty="0"/>
              <a:t>, others focus on similarity in </a:t>
            </a:r>
            <a:r>
              <a:rPr lang="en-US" dirty="0">
                <a:solidFill>
                  <a:srgbClr val="288CD2"/>
                </a:solidFill>
              </a:rPr>
              <a:t>meaning</a:t>
            </a:r>
          </a:p>
          <a:p>
            <a:r>
              <a:rPr lang="en-US" dirty="0"/>
              <a:t>in assignment 1, you will evaluate your word vectors using MEN (relatedness) and SimLex-999 (meaning)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12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56520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Evaluation Metrics for Word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6601"/>
            <a:ext cx="8229600" cy="3073399"/>
          </a:xfrm>
        </p:spPr>
        <p:txBody>
          <a:bodyPr>
            <a:normAutofit/>
          </a:bodyPr>
          <a:lstStyle/>
          <a:p>
            <a:r>
              <a:rPr lang="en-US" sz="2800" dirty="0"/>
              <a:t>Spearman rank correlation coefficient</a:t>
            </a:r>
          </a:p>
          <a:p>
            <a:r>
              <a:rPr lang="en-US" sz="2800" dirty="0"/>
              <a:t>measures correlation between two variables:</a:t>
            </a:r>
          </a:p>
          <a:p>
            <a:pPr lvl="1"/>
            <a:r>
              <a:rPr lang="en-US" sz="2400" dirty="0"/>
              <a:t>variable 1: human-annotated similarities for word pairs</a:t>
            </a:r>
          </a:p>
          <a:p>
            <a:pPr lvl="1"/>
            <a:r>
              <a:rPr lang="en-US" sz="2400" dirty="0"/>
              <a:t>variable 2: cosine similarities computed with your word vectors for the same word pairs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/>
          </a:p>
        </p:txBody>
      </p:sp>
      <p:pic>
        <p:nvPicPr>
          <p:cNvPr id="5" name="Picture 4" descr="Screen Shot 2018-03-22 at 9.59.2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631" y="3149600"/>
            <a:ext cx="3726569" cy="354647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288CD2"/>
                </a:solidFill>
              </a:rPr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29274384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44838</TotalTime>
  <Words>4186</Words>
  <Application>Microsoft Macintosh PowerPoint</Application>
  <PresentationFormat>On-screen Show (4:3)</PresentationFormat>
  <Paragraphs>910</Paragraphs>
  <Slides>70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2" baseType="lpstr">
      <vt:lpstr>Office Theme</vt:lpstr>
      <vt:lpstr>Worksheet</vt:lpstr>
      <vt:lpstr>TTIC 31190: Natural Language Processing</vt:lpstr>
      <vt:lpstr>PowerPoint Presentation</vt:lpstr>
      <vt:lpstr>Roadmap</vt:lpstr>
      <vt:lpstr>Words</vt:lpstr>
      <vt:lpstr>Types and Tokens</vt:lpstr>
      <vt:lpstr>Higher Type/Token Ratio?</vt:lpstr>
      <vt:lpstr>“really” on Twitter</vt:lpstr>
      <vt:lpstr>How many words are there?</vt:lpstr>
      <vt:lpstr>How are words distributed?</vt:lpstr>
      <vt:lpstr>How are words distributed?</vt:lpstr>
      <vt:lpstr>Zipf’s Law</vt:lpstr>
      <vt:lpstr>The Long Tail</vt:lpstr>
      <vt:lpstr>Words</vt:lpstr>
      <vt:lpstr>Type/Token Ratio across Languages</vt:lpstr>
      <vt:lpstr>Type/Token Ratio across Languages</vt:lpstr>
      <vt:lpstr>Morphology</vt:lpstr>
      <vt:lpstr>Kinds of Word Formation</vt:lpstr>
      <vt:lpstr>Kinds of Word Formation</vt:lpstr>
      <vt:lpstr>Kinds of Word Formation</vt:lpstr>
      <vt:lpstr>Morphology</vt:lpstr>
      <vt:lpstr>Morphology</vt:lpstr>
      <vt:lpstr>Morphology</vt:lpstr>
      <vt:lpstr>Morphology</vt:lpstr>
      <vt:lpstr>Morphology</vt:lpstr>
      <vt:lpstr>Morphology in NLP</vt:lpstr>
      <vt:lpstr>Lemmatization</vt:lpstr>
      <vt:lpstr>Stemming</vt:lpstr>
      <vt:lpstr>Porter’s algorithm The most common English stemmer</vt:lpstr>
      <vt:lpstr>Dealing with complex morphology is sometimes necessary</vt:lpstr>
      <vt:lpstr>Words</vt:lpstr>
      <vt:lpstr>Why is NLP hard?</vt:lpstr>
      <vt:lpstr>PowerPoint Presentation</vt:lpstr>
      <vt:lpstr>Ambiguity</vt:lpstr>
      <vt:lpstr>Variability</vt:lpstr>
      <vt:lpstr>Variability</vt:lpstr>
      <vt:lpstr>Vector Representations of Words</vt:lpstr>
      <vt:lpstr>Word Clusters</vt:lpstr>
      <vt:lpstr>Why vector models of word meaning? computing the similarity between words</vt:lpstr>
      <vt:lpstr>distributional models of meaning = vector space models of meaning  = vector semantics</vt:lpstr>
      <vt:lpstr>Warren Weaver (1955):</vt:lpstr>
      <vt:lpstr>Intuitions of Distributional Models</vt:lpstr>
      <vt:lpstr>Many ways to get word vectors</vt:lpstr>
      <vt:lpstr>Distributional Word Vectors</vt:lpstr>
      <vt:lpstr>Counting Context Words</vt:lpstr>
      <vt:lpstr>Word-Context Matrix</vt:lpstr>
      <vt:lpstr>Context Window Size</vt:lpstr>
      <vt:lpstr>Measuring similarity</vt:lpstr>
      <vt:lpstr>Notation</vt:lpstr>
      <vt:lpstr>Problem with dot product?</vt:lpstr>
      <vt:lpstr>Problem with dot product?</vt:lpstr>
      <vt:lpstr>Problem with dot product?</vt:lpstr>
      <vt:lpstr>Solution: cosine similarity</vt:lpstr>
      <vt:lpstr>Cosine as a similarity metric</vt:lpstr>
      <vt:lpstr>PowerPoint Presentation</vt:lpstr>
      <vt:lpstr>Problems with raw counts</vt:lpstr>
      <vt:lpstr>Top co-occurrence counts with ``cooked’’ </vt:lpstr>
      <vt:lpstr>Top co-occurrence counts with ``cooked’’ </vt:lpstr>
      <vt:lpstr>Problems with raw counts</vt:lpstr>
      <vt:lpstr>Pointwise Mutual Information (PMI)</vt:lpstr>
      <vt:lpstr>Context words of “cooked” with highest PMIs</vt:lpstr>
      <vt:lpstr>Positive Pointwise Mutual Information (PPMI)</vt:lpstr>
      <vt:lpstr>Alternative to PPMI</vt:lpstr>
      <vt:lpstr>How should we evaluate word vectors?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Metrics for Word Similarity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989</cp:revision>
  <dcterms:created xsi:type="dcterms:W3CDTF">2015-08-31T18:15:35Z</dcterms:created>
  <dcterms:modified xsi:type="dcterms:W3CDTF">2018-03-28T21:17:07Z</dcterms:modified>
</cp:coreProperties>
</file>