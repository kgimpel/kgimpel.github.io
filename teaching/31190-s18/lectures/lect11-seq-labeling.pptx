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1180" r:id="rId3"/>
    <p:sldId id="1364" r:id="rId4"/>
    <p:sldId id="1575" r:id="rId5"/>
    <p:sldId id="1413" r:id="rId6"/>
    <p:sldId id="1576" r:id="rId7"/>
    <p:sldId id="520" r:id="rId8"/>
    <p:sldId id="1545" r:id="rId9"/>
    <p:sldId id="1546" r:id="rId10"/>
    <p:sldId id="1550" r:id="rId11"/>
    <p:sldId id="1553" r:id="rId12"/>
    <p:sldId id="1564" r:id="rId13"/>
    <p:sldId id="1565" r:id="rId14"/>
    <p:sldId id="1556" r:id="rId15"/>
    <p:sldId id="1566" r:id="rId16"/>
    <p:sldId id="1557" r:id="rId17"/>
    <p:sldId id="1558" r:id="rId18"/>
    <p:sldId id="1580" r:id="rId19"/>
    <p:sldId id="1425" r:id="rId20"/>
    <p:sldId id="1426" r:id="rId21"/>
    <p:sldId id="1427" r:id="rId22"/>
    <p:sldId id="1428" r:id="rId23"/>
    <p:sldId id="1429" r:id="rId24"/>
    <p:sldId id="1605" r:id="rId25"/>
    <p:sldId id="1606" r:id="rId26"/>
    <p:sldId id="1608" r:id="rId27"/>
    <p:sldId id="1609" r:id="rId28"/>
    <p:sldId id="1610" r:id="rId29"/>
    <p:sldId id="1611" r:id="rId30"/>
    <p:sldId id="1621" r:id="rId31"/>
    <p:sldId id="1620" r:id="rId32"/>
    <p:sldId id="1612" r:id="rId33"/>
    <p:sldId id="1430" r:id="rId34"/>
    <p:sldId id="1431" r:id="rId35"/>
    <p:sldId id="1618" r:id="rId36"/>
    <p:sldId id="1617" r:id="rId37"/>
    <p:sldId id="1622" r:id="rId38"/>
    <p:sldId id="1470" r:id="rId39"/>
    <p:sldId id="1432" r:id="rId40"/>
    <p:sldId id="1433" r:id="rId41"/>
    <p:sldId id="1586" r:id="rId42"/>
    <p:sldId id="1536" r:id="rId43"/>
    <p:sldId id="1537" r:id="rId44"/>
    <p:sldId id="1538" r:id="rId45"/>
    <p:sldId id="1539" r:id="rId46"/>
    <p:sldId id="1540" r:id="rId47"/>
    <p:sldId id="1541" r:id="rId48"/>
    <p:sldId id="1623" r:id="rId49"/>
    <p:sldId id="1590" r:id="rId50"/>
    <p:sldId id="1591" r:id="rId51"/>
    <p:sldId id="1595" r:id="rId52"/>
    <p:sldId id="1596" r:id="rId53"/>
    <p:sldId id="1597" r:id="rId54"/>
    <p:sldId id="1582" r:id="rId55"/>
    <p:sldId id="1583" r:id="rId56"/>
    <p:sldId id="1584" r:id="rId57"/>
    <p:sldId id="1585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006E2C"/>
    <a:srgbClr val="BC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92"/>
    <p:restoredTop sz="89747" autoAdjust="0"/>
  </p:normalViewPr>
  <p:slideViewPr>
    <p:cSldViewPr snapToGrid="0" snapToObjects="1">
      <p:cViewPr varScale="1">
        <p:scale>
          <a:sx n="117" d="100"/>
          <a:sy n="117" d="100"/>
        </p:scale>
        <p:origin x="14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4/30/18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4/30/18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{V}} \,\,\,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{h}_t^\top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81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{V}} \,\,\,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{h}_t^\top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81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{V}} \,\,\,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{h}_t^\top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}\left(\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{h}_t\right)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 = \left[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}(y_1)^\top;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}(y_2)^\top ; ...;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}(y_{|\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{O}|})^\top \right]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81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-&gt; NER labeling</a:t>
            </a:r>
          </a:p>
          <a:p>
            <a:endParaRPr lang="en-US" dirty="0"/>
          </a:p>
          <a:p>
            <a:r>
              <a:rPr lang="en-US" dirty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/>
              <a:t>Neue</a:t>
            </a:r>
            <a:r>
              <a:rPr lang="en-US" baseline="0" dirty="0"/>
              <a:t> </a:t>
            </a:r>
            <a:r>
              <a:rPr lang="en-US" baseline="0" dirty="0" err="1"/>
              <a:t>Umfrage</a:t>
            </a:r>
            <a:r>
              <a:rPr lang="en-US" baseline="0" dirty="0"/>
              <a:t>: </a:t>
            </a:r>
            <a:r>
              <a:rPr lang="en-US" baseline="0" dirty="0" err="1"/>
              <a:t>Kaufen</a:t>
            </a:r>
            <a:r>
              <a:rPr lang="en-US" baseline="0" dirty="0"/>
              <a:t> </a:t>
            </a:r>
            <a:r>
              <a:rPr lang="en-US" baseline="0" dirty="0" err="1"/>
              <a:t>Sie</a:t>
            </a:r>
            <a:r>
              <a:rPr lang="en-US" baseline="0" dirty="0"/>
              <a:t> </a:t>
            </a:r>
            <a:r>
              <a:rPr lang="en-US" baseline="0" dirty="0" err="1"/>
              <a:t>eine</a:t>
            </a:r>
            <a:r>
              <a:rPr lang="en-US" baseline="0" dirty="0"/>
              <a:t> Apple Watch?</a:t>
            </a:r>
            <a:endParaRPr lang="en-US" dirty="0"/>
          </a:p>
          <a:p>
            <a:endParaRPr lang="en-US" dirty="0"/>
          </a:p>
          <a:p>
            <a:r>
              <a:rPr lang="en-US" dirty="0"/>
              <a:t>sentence -&gt; parse tree</a:t>
            </a:r>
          </a:p>
          <a:p>
            <a:r>
              <a:rPr lang="en-US" dirty="0"/>
              <a:t>set of documents</a:t>
            </a:r>
            <a:r>
              <a:rPr lang="en-US" baseline="0" dirty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4/30/18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4/30/18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4/30/18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5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10.emf"/><Relationship Id="rId5" Type="http://schemas.openxmlformats.org/officeDocument/2006/relationships/image" Target="../media/image3.emf"/><Relationship Id="rId10" Type="http://schemas.openxmlformats.org/officeDocument/2006/relationships/image" Target="../media/image9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5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10.emf"/><Relationship Id="rId5" Type="http://schemas.openxmlformats.org/officeDocument/2006/relationships/image" Target="../media/image3.emf"/><Relationship Id="rId10" Type="http://schemas.openxmlformats.org/officeDocument/2006/relationships/image" Target="../media/image9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1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4.emf"/><Relationship Id="rId5" Type="http://schemas.openxmlformats.org/officeDocument/2006/relationships/image" Target="../media/image4.emf"/><Relationship Id="rId10" Type="http://schemas.openxmlformats.org/officeDocument/2006/relationships/image" Target="../media/image13.emf"/><Relationship Id="rId4" Type="http://schemas.openxmlformats.org/officeDocument/2006/relationships/image" Target="../media/image3.emf"/><Relationship Id="rId9" Type="http://schemas.openxmlformats.org/officeDocument/2006/relationships/image" Target="../media/image9.emf"/><Relationship Id="rId1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5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6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image" Target="../media/image11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899"/>
            <a:ext cx="6400800" cy="402967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11: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Part-of-Speech Tagging and other Sequence Labeling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2 due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1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A21E-A132-7D44-8ED5-84134579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FFB4-3545-F54C-B55B-6C270DF5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proposal due May 9</a:t>
            </a:r>
          </a:p>
          <a:p>
            <a:r>
              <a:rPr lang="en-US" dirty="0"/>
              <a:t>details have been posted</a:t>
            </a:r>
          </a:p>
          <a:p>
            <a:r>
              <a:rPr lang="en-US" dirty="0"/>
              <a:t>groups of 2-3 are ok (but think about how you will divide up the work, especially with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09366-620D-FC40-8B86-032EAD7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5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ideas:</a:t>
            </a:r>
          </a:p>
          <a:p>
            <a:pPr lvl="1"/>
            <a:r>
              <a:rPr lang="en-US" dirty="0"/>
              <a:t>replicate (part of) a published paper</a:t>
            </a:r>
          </a:p>
          <a:p>
            <a:pPr lvl="1"/>
            <a:r>
              <a:rPr lang="en-US" dirty="0"/>
              <a:t>apply NLP methods to a dataset or task related to your research</a:t>
            </a:r>
          </a:p>
          <a:p>
            <a:pPr lvl="1"/>
            <a:r>
              <a:rPr lang="en-US" dirty="0"/>
              <a:t>define a new NLP task/dataset</a:t>
            </a:r>
          </a:p>
          <a:p>
            <a:r>
              <a:rPr lang="en-US" dirty="0"/>
              <a:t>if you’re working on a standard task, you do not need to have state of the art results</a:t>
            </a:r>
          </a:p>
          <a:p>
            <a:r>
              <a:rPr lang="en-US" dirty="0"/>
              <a:t>but your project should be done carefully so that you can have confidence in your claims</a:t>
            </a:r>
          </a:p>
          <a:p>
            <a:r>
              <a:rPr lang="en-US" dirty="0"/>
              <a:t>try to avoid a project that’s too ambitious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89DA-3BDF-4A41-AA93-DDFF9435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EAC2-9A9A-FF4F-8876-AB6A6C58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report due June 6 </a:t>
            </a:r>
          </a:p>
          <a:p>
            <a:pPr lvl="1"/>
            <a:r>
              <a:rPr lang="en-US" dirty="0"/>
              <a:t>May 30 for graduating students</a:t>
            </a:r>
          </a:p>
          <a:p>
            <a:r>
              <a:rPr lang="en-US" dirty="0"/>
              <a:t>details forthcoming on project report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FFC84-61AA-AE41-AD28-9D392DB6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on Wednesday, May 16</a:t>
            </a:r>
            <a:r>
              <a:rPr lang="en-US" baseline="30000" dirty="0"/>
              <a:t>th</a:t>
            </a:r>
            <a:endParaRPr lang="en-US" dirty="0"/>
          </a:p>
          <a:p>
            <a:r>
              <a:rPr lang="en-US" dirty="0"/>
              <a:t>don’t worry about memorizing stuff</a:t>
            </a:r>
          </a:p>
          <a:p>
            <a:r>
              <a:rPr lang="en-US" dirty="0"/>
              <a:t>we’ll give you most of the formulas/definitions you will need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language modeling</a:t>
            </a:r>
          </a:p>
          <a:p>
            <a:r>
              <a:rPr lang="en-US" sz="2400" dirty="0"/>
              <a:t>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encoder: a function to represent a word sequence as a vector</a:t>
            </a:r>
          </a:p>
          <a:p>
            <a:r>
              <a:rPr lang="en-US" dirty="0"/>
              <a:t>simplest: average word </a:t>
            </a:r>
            <a:r>
              <a:rPr lang="en-US" dirty="0" err="1"/>
              <a:t>embeddings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other choices: LSTMs, GRUs, CNNs, attention-weighted sum,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65" y="2909649"/>
            <a:ext cx="36703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1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 is a sequence: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31ABA71-34EE-0F4D-B292-D4FB9A03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2129822"/>
            <a:ext cx="584200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CB5C9EC-9A1E-5A4F-93AF-F9D2918F4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2117122"/>
            <a:ext cx="584200" cy="215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203F72-87DD-A749-B60D-7DDDEF242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2104597"/>
            <a:ext cx="266700" cy="19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212B1-8F6C-6A4B-9B18-ECE91F198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3903713"/>
            <a:ext cx="279400" cy="27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A7E77D-FA6A-9246-A4BE-4D4D8AB92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3889659"/>
            <a:ext cx="584200" cy="29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B7059E-C815-1047-B5F6-6F09D20834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3892827"/>
            <a:ext cx="5842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1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we’ve used RNNs to encode sequences</a:t>
            </a:r>
          </a:p>
          <a:p>
            <a:r>
              <a:rPr lang="en-US" dirty="0"/>
              <a:t>for tasks like sequence classification</a:t>
            </a:r>
          </a:p>
          <a:p>
            <a:pPr lvl="1"/>
            <a:r>
              <a:rPr lang="en-US" dirty="0"/>
              <a:t>also used in translation, question answering, summarization, etc.</a:t>
            </a:r>
          </a:p>
          <a:p>
            <a:r>
              <a:rPr lang="en-US" dirty="0"/>
              <a:t>but RNNs are also frequently used for </a:t>
            </a:r>
            <a:r>
              <a:rPr lang="en-US" b="1" dirty="0">
                <a:solidFill>
                  <a:srgbClr val="288CD2"/>
                </a:solidFill>
              </a:rPr>
              <a:t>generating </a:t>
            </a:r>
            <a:r>
              <a:rPr lang="en-US" dirty="0"/>
              <a:t>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5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“Output” Recurrent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4313167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“output symbol”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C721762-121F-C54F-9E2E-8238C6554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798251"/>
            <a:ext cx="5130800" cy="571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418" y="1933412"/>
            <a:ext cx="584200" cy="190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27" y="1920712"/>
            <a:ext cx="584200" cy="215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422" y="1908187"/>
            <a:ext cx="266700" cy="190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8937" y="3202532"/>
            <a:ext cx="279400" cy="279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860" y="3188478"/>
            <a:ext cx="584200" cy="292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3741" y="3191646"/>
            <a:ext cx="5842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8546" y="5402168"/>
            <a:ext cx="3929003" cy="7258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0" y="4605111"/>
            <a:ext cx="241300" cy="20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1748" y="4605111"/>
            <a:ext cx="533400" cy="203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2567" y="4605111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0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“Output” Recurrent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4313167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“output symbol”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C721762-121F-C54F-9E2E-8238C6554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798251"/>
            <a:ext cx="5130800" cy="571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418" y="1933412"/>
            <a:ext cx="584200" cy="190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27" y="1920712"/>
            <a:ext cx="584200" cy="215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422" y="1908187"/>
            <a:ext cx="266700" cy="190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8937" y="3202532"/>
            <a:ext cx="279400" cy="279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860" y="3188478"/>
            <a:ext cx="584200" cy="292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3741" y="3191646"/>
            <a:ext cx="5842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8546" y="5402168"/>
            <a:ext cx="3929003" cy="72584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68646" y="149238"/>
            <a:ext cx="7202855" cy="2769989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 is a symbol, not a vector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 is the “output” vocabulary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we have a new parameter vector </a:t>
            </a:r>
            <a:r>
              <a:rPr lang="en-US" sz="2800" i="1" dirty="0" err="1">
                <a:solidFill>
                  <a:schemeClr val="bg1"/>
                </a:solidFill>
                <a:latin typeface="Calibri"/>
                <a:cs typeface="Calibri"/>
              </a:rPr>
              <a:t>emb</a:t>
            </a: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(y)</a:t>
            </a: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 for each output symbol in </a:t>
            </a: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1" dirty="0" err="1">
                <a:solidFill>
                  <a:schemeClr val="bg1"/>
                </a:solidFill>
                <a:latin typeface="Calibri"/>
                <a:cs typeface="Calibri"/>
              </a:rPr>
              <a:t>emb</a:t>
            </a: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(y)</a:t>
            </a:r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  = 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x</a:t>
            </a:r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?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probability distribution over output symbols?</a:t>
            </a:r>
            <a:endParaRPr lang="en-US" sz="20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0" y="4605111"/>
            <a:ext cx="241300" cy="2032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1748" y="4605111"/>
            <a:ext cx="533400" cy="2032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2567" y="4605111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3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151218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15029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151680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1954374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1954374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6821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1071070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897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1061834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7052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1073379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1656959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286291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285367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286753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2421801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2412565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2424110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2936195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“output symbol”</a:t>
            </a:r>
            <a:endParaRPr lang="en-US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556440"/>
            <a:ext cx="584200" cy="190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27" y="543740"/>
            <a:ext cx="584200" cy="215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422" y="531215"/>
            <a:ext cx="266700" cy="190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937" y="1825560"/>
            <a:ext cx="279400" cy="279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860" y="1811506"/>
            <a:ext cx="584200" cy="292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741" y="1814674"/>
            <a:ext cx="5842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8546" y="3883260"/>
            <a:ext cx="3929003" cy="7258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7670" y="5635890"/>
            <a:ext cx="6724783" cy="4646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1801" y="4875253"/>
            <a:ext cx="3796469" cy="38361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00" y="3221917"/>
            <a:ext cx="241300" cy="2032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748" y="3221917"/>
            <a:ext cx="533400" cy="2032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2567" y="3221917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5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Example: Language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285893" y="12714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8" idx="4"/>
            <a:endCxn id="32" idx="0"/>
          </p:cNvCxnSpPr>
          <p:nvPr/>
        </p:nvCxnSpPr>
        <p:spPr bwMode="auto">
          <a:xfrm flipH="1">
            <a:off x="2735013" y="2174295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Oval 39"/>
          <p:cNvSpPr/>
          <p:nvPr/>
        </p:nvSpPr>
        <p:spPr>
          <a:xfrm>
            <a:off x="4123929" y="12622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4" name="Straight Arrow Connector 43"/>
          <p:cNvCxnSpPr>
            <a:stCxn id="40" idx="4"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/>
          <p:nvPr/>
        </p:nvSpPr>
        <p:spPr>
          <a:xfrm>
            <a:off x="5948111" y="127374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/>
          <p:cNvCxnSpPr>
            <a:stCxn id="45" idx="4"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659665"/>
            <a:ext cx="584200" cy="190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646965"/>
            <a:ext cx="584200" cy="215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634440"/>
            <a:ext cx="266700" cy="190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971620" y="4999714"/>
            <a:ext cx="7202855" cy="1169551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input: a word sequence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output?</a:t>
            </a:r>
            <a:endParaRPr lang="en-US" sz="24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uiExpand="1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Example: Language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285893" y="12714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8" idx="4"/>
            <a:endCxn id="32" idx="0"/>
          </p:cNvCxnSpPr>
          <p:nvPr/>
        </p:nvCxnSpPr>
        <p:spPr bwMode="auto">
          <a:xfrm flipH="1">
            <a:off x="2735013" y="2174295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Oval 39"/>
          <p:cNvSpPr/>
          <p:nvPr/>
        </p:nvSpPr>
        <p:spPr>
          <a:xfrm>
            <a:off x="4123929" y="12622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4" name="Straight Arrow Connector 43"/>
          <p:cNvCxnSpPr>
            <a:stCxn id="40" idx="4"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/>
          <p:nvPr/>
        </p:nvSpPr>
        <p:spPr>
          <a:xfrm>
            <a:off x="5948111" y="127374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/>
          <p:cNvCxnSpPr>
            <a:stCxn id="45" idx="4"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659665"/>
            <a:ext cx="584200" cy="190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646965"/>
            <a:ext cx="584200" cy="215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634440"/>
            <a:ext cx="266700" cy="190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971620" y="5521638"/>
            <a:ext cx="7355688" cy="1169551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target output at each position: </a:t>
            </a:r>
          </a:p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    next word in the sequence!</a:t>
            </a:r>
            <a:endParaRPr lang="en-US" sz="24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81523" y="487361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1" dirty="0">
                <a:solidFill>
                  <a:srgbClr val="0062AC"/>
                </a:solidFill>
                <a:latin typeface="Calibri"/>
                <a:cs typeface="Calibri"/>
              </a:rPr>
              <a:t>…  the                     car                   runs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9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Language Modeling: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96427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89038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8811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89499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332573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332573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285893" y="15464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8" idx="4"/>
            <a:endCxn id="32" idx="0"/>
          </p:cNvCxnSpPr>
          <p:nvPr/>
        </p:nvCxnSpPr>
        <p:spPr bwMode="auto">
          <a:xfrm flipH="1">
            <a:off x="2735013" y="2449269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Oval 39"/>
          <p:cNvSpPr/>
          <p:nvPr/>
        </p:nvSpPr>
        <p:spPr>
          <a:xfrm>
            <a:off x="4123929" y="15371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4" name="Straight Arrow Connector 43"/>
          <p:cNvCxnSpPr>
            <a:stCxn id="40" idx="4"/>
            <a:endCxn id="33" idx="0"/>
          </p:cNvCxnSpPr>
          <p:nvPr/>
        </p:nvCxnSpPr>
        <p:spPr bwMode="auto">
          <a:xfrm flipH="1">
            <a:off x="4573048" y="2440033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/>
          <p:nvPr/>
        </p:nvSpPr>
        <p:spPr>
          <a:xfrm>
            <a:off x="5948111" y="15487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/>
          <p:cNvCxnSpPr>
            <a:stCxn id="45" idx="4"/>
            <a:endCxn id="35" idx="0"/>
          </p:cNvCxnSpPr>
          <p:nvPr/>
        </p:nvCxnSpPr>
        <p:spPr bwMode="auto">
          <a:xfrm flipH="1">
            <a:off x="6399537" y="2451578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424111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42318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424573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800000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790764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802309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4639"/>
            <a:ext cx="584200" cy="190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21939"/>
            <a:ext cx="584200" cy="215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09414"/>
            <a:ext cx="266700" cy="190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3203759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3189705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3192873"/>
            <a:ext cx="584200" cy="279400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585318"/>
            <a:ext cx="241300" cy="203200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585318"/>
            <a:ext cx="533400" cy="2032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585318"/>
            <a:ext cx="533400" cy="2159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478" y="5385921"/>
            <a:ext cx="26670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76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Language Modeling: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96427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18088" y="5351814"/>
            <a:ext cx="57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36" name="Oval 35"/>
          <p:cNvSpPr/>
          <p:nvPr/>
        </p:nvSpPr>
        <p:spPr>
          <a:xfrm>
            <a:off x="2283584" y="289038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21619" y="28811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8108" y="289499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6" idx="6"/>
            <a:endCxn id="37" idx="2"/>
          </p:cNvCxnSpPr>
          <p:nvPr/>
        </p:nvCxnSpPr>
        <p:spPr bwMode="auto">
          <a:xfrm flipV="1">
            <a:off x="3186442" y="3332573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37" idx="6"/>
            <a:endCxn id="38" idx="2"/>
          </p:cNvCxnSpPr>
          <p:nvPr/>
        </p:nvCxnSpPr>
        <p:spPr bwMode="auto">
          <a:xfrm>
            <a:off x="5024477" y="3332573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43"/>
          <p:cNvSpPr/>
          <p:nvPr/>
        </p:nvSpPr>
        <p:spPr>
          <a:xfrm>
            <a:off x="2285893" y="15464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5" name="Straight Arrow Connector 44"/>
          <p:cNvCxnSpPr>
            <a:stCxn id="44" idx="4"/>
            <a:endCxn id="36" idx="0"/>
          </p:cNvCxnSpPr>
          <p:nvPr/>
        </p:nvCxnSpPr>
        <p:spPr bwMode="auto">
          <a:xfrm flipH="1">
            <a:off x="2735013" y="2449269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Oval 48"/>
          <p:cNvSpPr/>
          <p:nvPr/>
        </p:nvSpPr>
        <p:spPr>
          <a:xfrm>
            <a:off x="4123929" y="15371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0" name="Straight Arrow Connector 49"/>
          <p:cNvCxnSpPr>
            <a:stCxn id="49" idx="4"/>
            <a:endCxn id="37" idx="0"/>
          </p:cNvCxnSpPr>
          <p:nvPr/>
        </p:nvCxnSpPr>
        <p:spPr bwMode="auto">
          <a:xfrm flipH="1">
            <a:off x="4573048" y="2440033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50"/>
          <p:cNvSpPr/>
          <p:nvPr/>
        </p:nvSpPr>
        <p:spPr>
          <a:xfrm>
            <a:off x="5948111" y="15487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2" name="Straight Arrow Connector 51"/>
          <p:cNvCxnSpPr>
            <a:stCxn id="51" idx="4"/>
            <a:endCxn id="38" idx="0"/>
          </p:cNvCxnSpPr>
          <p:nvPr/>
        </p:nvCxnSpPr>
        <p:spPr bwMode="auto">
          <a:xfrm flipH="1">
            <a:off x="6399537" y="2451578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52"/>
          <p:cNvSpPr/>
          <p:nvPr/>
        </p:nvSpPr>
        <p:spPr>
          <a:xfrm>
            <a:off x="2283584" y="424111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4121619" y="42318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948108" y="424573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6" name="Straight Arrow Connector 55"/>
          <p:cNvCxnSpPr>
            <a:endCxn id="53" idx="0"/>
          </p:cNvCxnSpPr>
          <p:nvPr/>
        </p:nvCxnSpPr>
        <p:spPr bwMode="auto">
          <a:xfrm flipH="1">
            <a:off x="2735013" y="3800000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Arrow Connector 56"/>
          <p:cNvCxnSpPr>
            <a:endCxn id="54" idx="0"/>
          </p:cNvCxnSpPr>
          <p:nvPr/>
        </p:nvCxnSpPr>
        <p:spPr bwMode="auto">
          <a:xfrm flipH="1">
            <a:off x="4573048" y="3790764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/>
          <p:cNvCxnSpPr>
            <a:endCxn id="55" idx="0"/>
          </p:cNvCxnSpPr>
          <p:nvPr/>
        </p:nvCxnSpPr>
        <p:spPr bwMode="auto">
          <a:xfrm flipH="1">
            <a:off x="6399537" y="3802309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934639"/>
            <a:ext cx="584200" cy="1905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921939"/>
            <a:ext cx="584200" cy="2159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909414"/>
            <a:ext cx="266700" cy="1905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3203759"/>
            <a:ext cx="279400" cy="279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3189705"/>
            <a:ext cx="584200" cy="2921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3192873"/>
            <a:ext cx="584200" cy="2794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585318"/>
            <a:ext cx="241300" cy="203200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585318"/>
            <a:ext cx="533400" cy="203200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585318"/>
            <a:ext cx="533400" cy="21590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418991"/>
            <a:ext cx="3352800" cy="368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0321" y="5418991"/>
            <a:ext cx="3009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3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we showed this for simple RNNs, it’s easy to instead use LSTMs, GRUs, etc. </a:t>
            </a:r>
          </a:p>
          <a:p>
            <a:r>
              <a:rPr lang="en-US" dirty="0"/>
              <a:t>LSTMs/GRUs still produce a hidden vector at each position in the sequence, just like RNNs</a:t>
            </a:r>
          </a:p>
          <a:p>
            <a:r>
              <a:rPr lang="en-US" dirty="0"/>
              <a:t>LSTM = most common choice for language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0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Linguistic phenomena: summary so far…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1" y="1073740"/>
            <a:ext cx="8986660" cy="50524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words have structure (</a:t>
            </a:r>
            <a:r>
              <a:rPr lang="en-US" dirty="0">
                <a:solidFill>
                  <a:srgbClr val="288CD2"/>
                </a:solidFill>
              </a:rPr>
              <a:t>stems</a:t>
            </a:r>
            <a:r>
              <a:rPr lang="en-US" dirty="0"/>
              <a:t> and </a:t>
            </a:r>
            <a:r>
              <a:rPr lang="en-US" dirty="0">
                <a:solidFill>
                  <a:srgbClr val="288CD2"/>
                </a:solidFill>
              </a:rPr>
              <a:t>affixes</a:t>
            </a:r>
            <a:r>
              <a:rPr lang="en-US" dirty="0"/>
              <a:t>) </a:t>
            </a:r>
          </a:p>
          <a:p>
            <a:r>
              <a:rPr lang="en-US" dirty="0"/>
              <a:t>words have multiple meanings (</a:t>
            </a:r>
            <a:r>
              <a:rPr lang="en-US" dirty="0">
                <a:solidFill>
                  <a:srgbClr val="288CD2"/>
                </a:solidFill>
              </a:rPr>
              <a:t>senses</a:t>
            </a:r>
            <a:r>
              <a:rPr lang="en-US" dirty="0"/>
              <a:t>) </a:t>
            </a:r>
            <a:r>
              <a:rPr lang="en-US" sz="26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dirty="0"/>
              <a:t>word sense ambiguity</a:t>
            </a:r>
          </a:p>
          <a:p>
            <a:pPr lvl="1"/>
            <a:r>
              <a:rPr lang="en-US" dirty="0"/>
              <a:t>senses of a word can be homonymous or </a:t>
            </a:r>
            <a:r>
              <a:rPr lang="en-US" dirty="0" err="1"/>
              <a:t>polysemous</a:t>
            </a:r>
            <a:endParaRPr lang="en-US" dirty="0"/>
          </a:p>
          <a:p>
            <a:pPr lvl="1"/>
            <a:r>
              <a:rPr lang="en-US" dirty="0"/>
              <a:t>senses have relationships:</a:t>
            </a:r>
          </a:p>
          <a:p>
            <a:pPr lvl="2"/>
            <a:r>
              <a:rPr lang="en-US" dirty="0">
                <a:solidFill>
                  <a:srgbClr val="288CD2"/>
                </a:solidFill>
              </a:rPr>
              <a:t>synonymy, hyponymy</a:t>
            </a:r>
            <a:r>
              <a:rPr lang="en-US" dirty="0"/>
              <a:t> (“is a”), </a:t>
            </a:r>
            <a:r>
              <a:rPr lang="en-US" dirty="0" err="1">
                <a:solidFill>
                  <a:srgbClr val="288CD2"/>
                </a:solidFill>
              </a:rPr>
              <a:t>meronymy</a:t>
            </a:r>
            <a:r>
              <a:rPr lang="en-US" dirty="0">
                <a:solidFill>
                  <a:srgbClr val="288CD2"/>
                </a:solidFill>
              </a:rPr>
              <a:t> </a:t>
            </a:r>
            <a:r>
              <a:rPr lang="en-US" dirty="0"/>
              <a:t>(“part of”, “member of”)</a:t>
            </a:r>
          </a:p>
          <a:p>
            <a:r>
              <a:rPr lang="en-US" dirty="0"/>
              <a:t>variability/flexibility of linguistic expression</a:t>
            </a:r>
          </a:p>
          <a:p>
            <a:pPr lvl="1"/>
            <a:r>
              <a:rPr lang="en-US" dirty="0"/>
              <a:t>many ways to express the same meaning (as you saw in Assignment 2)</a:t>
            </a:r>
          </a:p>
          <a:p>
            <a:pPr lvl="1"/>
            <a:r>
              <a:rPr lang="en-US" dirty="0"/>
              <a:t>word </a:t>
            </a:r>
            <a:r>
              <a:rPr lang="en-US" dirty="0" err="1"/>
              <a:t>embeddings</a:t>
            </a:r>
            <a:r>
              <a:rPr lang="en-US" dirty="0"/>
              <a:t> tell us when two words are similar</a:t>
            </a:r>
          </a:p>
          <a:p>
            <a:r>
              <a:rPr lang="en-US" dirty="0"/>
              <a:t>today: </a:t>
            </a:r>
            <a:r>
              <a:rPr lang="en-US" b="1" dirty="0">
                <a:solidFill>
                  <a:srgbClr val="288CD2"/>
                </a:solidFill>
              </a:rPr>
              <a:t>part-of-speech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3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proper     proper   poss.     adj. 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modal       verb    det.         adjective         noun    prep.      proper     </a:t>
            </a:r>
            <a:r>
              <a:rPr lang="en-US" sz="2000" i="0" dirty="0" err="1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3697261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94674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noun      </a:t>
            </a:r>
            <a:r>
              <a:rPr lang="en-US" sz="2000" i="0" dirty="0" err="1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2625631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Part-of-Speech (POS)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category of a word:</a:t>
            </a:r>
          </a:p>
          <a:p>
            <a:pPr lvl="1"/>
            <a:r>
              <a:rPr lang="en-US" dirty="0"/>
              <a:t>noun, verb, adjective, etc.</a:t>
            </a:r>
          </a:p>
          <a:p>
            <a:pPr lvl="1"/>
            <a:r>
              <a:rPr lang="en-US" dirty="0"/>
              <a:t>how is the word functioning in its context?</a:t>
            </a:r>
          </a:p>
          <a:p>
            <a:r>
              <a:rPr lang="en-US" dirty="0"/>
              <a:t>dependent on context like word sense, but different from sense:</a:t>
            </a:r>
          </a:p>
          <a:p>
            <a:pPr lvl="1"/>
            <a:r>
              <a:rPr lang="en-US" dirty="0"/>
              <a:t>sense represents word meaning, POS represents word function</a:t>
            </a:r>
          </a:p>
          <a:p>
            <a:pPr lvl="1"/>
            <a:r>
              <a:rPr lang="en-US" dirty="0"/>
              <a:t>sense uses a distinct category of senses per word, POS uses same set of categories for all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9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998"/>
            <a:ext cx="1584960" cy="1911402"/>
          </a:xfrm>
        </p:spPr>
        <p:txBody>
          <a:bodyPr>
            <a:normAutofit/>
          </a:bodyPr>
          <a:lstStyle/>
          <a:p>
            <a:r>
              <a:rPr lang="en-US" sz="2800" dirty="0"/>
              <a:t>Penn Treebank tag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 descr="Screen Shot 2016-01-23 at 2.2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18" y="130758"/>
            <a:ext cx="7558682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06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 Ambiguity in Penn Treebank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that can be both noun and verb?</a:t>
            </a:r>
          </a:p>
          <a:p>
            <a:pPr lvl="1"/>
            <a:r>
              <a:rPr lang="en-US" dirty="0"/>
              <a:t>more often noun than verb:</a:t>
            </a:r>
          </a:p>
          <a:p>
            <a:pPr lvl="2"/>
            <a:r>
              <a:rPr lang="en-US" dirty="0"/>
              <a:t>increase: 248 NN vs. 127 VB (and 4 VBP)</a:t>
            </a:r>
          </a:p>
          <a:p>
            <a:pPr lvl="2"/>
            <a:r>
              <a:rPr lang="en-US" dirty="0"/>
              <a:t>place: 134 NN vs. 14 VB (and 4 VBP)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more often verb than noun:</a:t>
            </a:r>
          </a:p>
          <a:p>
            <a:pPr lvl="2"/>
            <a:r>
              <a:rPr lang="en-US" dirty="0"/>
              <a:t>makes: 182 VBZ vs. 5 NNS</a:t>
            </a:r>
          </a:p>
          <a:p>
            <a:pPr lvl="2"/>
            <a:r>
              <a:rPr lang="en-US" dirty="0"/>
              <a:t>transfer: 22 VB vs. 16 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6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 Ambiguity in Penn Treebank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that can be both a singular noun and a plural noun?</a:t>
            </a:r>
          </a:p>
          <a:p>
            <a:pPr lvl="1"/>
            <a:r>
              <a:rPr lang="en-US" dirty="0"/>
              <a:t>“savings”, e.g.: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325760" y="2758162"/>
            <a:ext cx="460715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 DT        NN       VBD   VBN            RB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The savings was given incorrectly …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325760" y="3758617"/>
            <a:ext cx="31854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DT         JJ            NN         NN</a:t>
            </a: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 a   Belgian savings bank</a:t>
            </a:r>
          </a:p>
        </p:txBody>
      </p:sp>
    </p:spTree>
    <p:extLst>
      <p:ext uri="{BB962C8B-B14F-4D97-AF65-F5344CB8AC3E}">
        <p14:creationId xmlns:p14="http://schemas.microsoft.com/office/powerpoint/2010/main" val="411883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 Ambiguity in Penn Treebank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that can be both a common noun and a proper noun?</a:t>
            </a:r>
          </a:p>
          <a:p>
            <a:pPr lvl="1"/>
            <a:r>
              <a:rPr lang="en-US" dirty="0"/>
              <a:t>“Earth”: 16 NNP vs. 5 NN</a:t>
            </a:r>
          </a:p>
          <a:p>
            <a:pPr lvl="1"/>
            <a:r>
              <a:rPr lang="en-US" dirty="0"/>
              <a:t>annotation inconsistencies: nothing in the context indicates which tag is used</a:t>
            </a:r>
          </a:p>
          <a:p>
            <a:pPr lvl="1"/>
            <a:r>
              <a:rPr lang="en-US" dirty="0"/>
              <a:t>these kinds of inconsistencies are common in annotated datasets, so it’s usually not possible to get perfect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 Ambiguity in Penn Treebank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that can be both a common noun and a proper noun?</a:t>
            </a:r>
          </a:p>
          <a:p>
            <a:pPr lvl="1"/>
            <a:r>
              <a:rPr lang="en-US" dirty="0"/>
              <a:t>“Chapter”: 21 NNP vs. 41 NN</a:t>
            </a:r>
          </a:p>
          <a:p>
            <a:pPr lvl="1"/>
            <a:r>
              <a:rPr lang="en-US" dirty="0"/>
              <a:t>annotation inconsistencies: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59315" y="3504522"/>
            <a:ext cx="716839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       VB            VBG     IN        NNP     NNP           NN                   NN</a:t>
            </a: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consider   filing  for  Chapter  11  bankruptcy  protection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1986" y="4578233"/>
            <a:ext cx="7478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         NNP             VBD    IN         NN         CD            NN                   NN</a:t>
            </a: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Continental   filed  for  Chapter  11  bankruptcy  protection</a:t>
            </a:r>
          </a:p>
        </p:txBody>
      </p:sp>
    </p:spTree>
    <p:extLst>
      <p:ext uri="{BB962C8B-B14F-4D97-AF65-F5344CB8AC3E}">
        <p14:creationId xmlns:p14="http://schemas.microsoft.com/office/powerpoint/2010/main" val="112673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tags can a word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229600" cy="4294814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7 down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that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set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put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open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hurt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cut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bet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6 back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vs.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the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spread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split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say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877696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words in Penn Treebank with the most unique tags:</a:t>
            </a:r>
          </a:p>
        </p:txBody>
      </p:sp>
    </p:spTree>
    <p:extLst>
      <p:ext uri="{BB962C8B-B14F-4D97-AF65-F5344CB8AC3E}">
        <p14:creationId xmlns:p14="http://schemas.microsoft.com/office/powerpoint/2010/main" val="246009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tags can a word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229600" cy="4294814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pl-PL" dirty="0"/>
              <a:t>   </a:t>
            </a:r>
            <a:r>
              <a:rPr lang="pl-PL" dirty="0">
                <a:latin typeface="Courier New"/>
                <a:cs typeface="Courier New"/>
              </a:rPr>
              <a:t>353 down  RB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214 down  RP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142 down  IN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10 down  JJ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VBP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RBR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368883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tag counts for </a:t>
            </a:r>
            <a:r>
              <a:rPr lang="en-US" sz="3200" dirty="0">
                <a:latin typeface="Courier New"/>
                <a:cs typeface="Courier New"/>
              </a:rPr>
              <a:t>down</a:t>
            </a:r>
            <a:r>
              <a:rPr lang="en-US" sz="3200" dirty="0">
                <a:latin typeface="Calibri"/>
                <a:cs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30698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tags can a word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387572" cy="4294814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pl-PL" dirty="0"/>
              <a:t>   </a:t>
            </a:r>
            <a:r>
              <a:rPr lang="pl-PL" dirty="0">
                <a:latin typeface="Courier New"/>
                <a:cs typeface="Courier New"/>
              </a:rPr>
              <a:t>353 down  RB  </a:t>
            </a:r>
            <a:r>
              <a:rPr lang="pl-PL" dirty="0" err="1">
                <a:latin typeface="Courier New"/>
                <a:cs typeface="Courier New"/>
              </a:rPr>
              <a:t>adverb</a:t>
            </a:r>
            <a:endParaRPr lang="pl-PL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214 down  RP  </a:t>
            </a:r>
            <a:r>
              <a:rPr lang="pl-PL" dirty="0" err="1">
                <a:latin typeface="Courier New"/>
                <a:cs typeface="Courier New"/>
              </a:rPr>
              <a:t>particle</a:t>
            </a:r>
            <a:endParaRPr lang="pl-PL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142 down  IN  </a:t>
            </a:r>
            <a:r>
              <a:rPr lang="pl-PL" dirty="0" err="1">
                <a:latin typeface="Courier New"/>
                <a:cs typeface="Courier New"/>
              </a:rPr>
              <a:t>preposition</a:t>
            </a:r>
            <a:endParaRPr lang="pl-PL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10 down  JJ  </a:t>
            </a:r>
            <a:r>
              <a:rPr lang="pl-PL" dirty="0" err="1">
                <a:latin typeface="Courier New"/>
                <a:cs typeface="Courier New"/>
              </a:rPr>
              <a:t>adjective</a:t>
            </a:r>
            <a:endParaRPr lang="pl-PL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VBP </a:t>
            </a:r>
            <a:r>
              <a:rPr lang="pl-PL" dirty="0" err="1">
                <a:latin typeface="Courier New"/>
                <a:cs typeface="Courier New"/>
              </a:rPr>
              <a:t>verb</a:t>
            </a:r>
            <a:r>
              <a:rPr lang="pl-PL" dirty="0">
                <a:latin typeface="Courier New"/>
                <a:cs typeface="Courier New"/>
              </a:rPr>
              <a:t> (past </a:t>
            </a:r>
            <a:r>
              <a:rPr lang="pl-PL" dirty="0" err="1">
                <a:latin typeface="Courier New"/>
                <a:cs typeface="Courier New"/>
              </a:rPr>
              <a:t>tense</a:t>
            </a:r>
            <a:r>
              <a:rPr lang="pl-PL" dirty="0">
                <a:latin typeface="Courier New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RBR </a:t>
            </a:r>
            <a:r>
              <a:rPr lang="pl-PL" dirty="0" err="1">
                <a:latin typeface="Courier New"/>
                <a:cs typeface="Courier New"/>
              </a:rPr>
              <a:t>comparative</a:t>
            </a:r>
            <a:r>
              <a:rPr lang="pl-PL" dirty="0">
                <a:latin typeface="Courier New"/>
                <a:cs typeface="Courier New"/>
              </a:rPr>
              <a:t> </a:t>
            </a:r>
            <a:r>
              <a:rPr lang="pl-PL" dirty="0" err="1">
                <a:latin typeface="Courier New"/>
                <a:cs typeface="Courier New"/>
              </a:rPr>
              <a:t>adverb</a:t>
            </a:r>
            <a:endParaRPr lang="pl-PL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down  NN  </a:t>
            </a:r>
            <a:r>
              <a:rPr lang="pl-PL" dirty="0" err="1">
                <a:latin typeface="Courier New"/>
                <a:cs typeface="Courier New"/>
              </a:rPr>
              <a:t>singular</a:t>
            </a:r>
            <a:r>
              <a:rPr lang="pl-PL" dirty="0">
                <a:latin typeface="Courier New"/>
                <a:cs typeface="Courier New"/>
              </a:rPr>
              <a:t> </a:t>
            </a:r>
            <a:r>
              <a:rPr lang="pl-PL" dirty="0" err="1">
                <a:latin typeface="Courier New"/>
                <a:cs typeface="Courier New"/>
              </a:rPr>
              <a:t>noun</a:t>
            </a:r>
            <a:endParaRPr lang="pl-PL" dirty="0"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368883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tag counts for </a:t>
            </a:r>
            <a:r>
              <a:rPr lang="en-US" sz="3200" dirty="0">
                <a:latin typeface="Courier New"/>
                <a:cs typeface="Courier New"/>
              </a:rPr>
              <a:t>down</a:t>
            </a:r>
            <a:r>
              <a:rPr lang="en-US" sz="3200" dirty="0">
                <a:latin typeface="Calibri"/>
                <a:cs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80402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urier New"/>
                <a:cs typeface="Courier New"/>
              </a:rPr>
              <a:t>RP</a:t>
            </a:r>
            <a:r>
              <a:rPr lang="en-US" dirty="0"/>
              <a:t> tag: particle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for verb particle:</a:t>
            </a:r>
          </a:p>
          <a:p>
            <a:r>
              <a:rPr lang="en-US" dirty="0"/>
              <a:t>can you insert a modifier between the verb and its particle without it sounding weird?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take the trash out immediately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*take the trash immediately out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pPr lvl="1"/>
            <a:r>
              <a:rPr lang="en-US" dirty="0">
                <a:latin typeface="Courier New"/>
                <a:cs typeface="Courier New"/>
              </a:rPr>
              <a:t>take the trash outside immediately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take the trash immediately outside</a:t>
            </a:r>
          </a:p>
          <a:p>
            <a:r>
              <a:rPr lang="en-US" dirty="0">
                <a:latin typeface="Courier New"/>
                <a:cs typeface="Courier New"/>
              </a:rPr>
              <a:t>out</a:t>
            </a:r>
            <a:r>
              <a:rPr lang="en-US" dirty="0"/>
              <a:t> is a particle here, while </a:t>
            </a:r>
            <a:r>
              <a:rPr lang="en-US" dirty="0">
                <a:latin typeface="Courier New"/>
                <a:cs typeface="Courier New"/>
              </a:rPr>
              <a:t>outside</a:t>
            </a:r>
            <a:r>
              <a:rPr lang="en-US" dirty="0"/>
              <a:t> is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4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</a:t>
            </a:r>
            <a:r>
              <a:rPr lang="en-US" dirty="0">
                <a:latin typeface="Courier New"/>
                <a:cs typeface="Courier New"/>
              </a:rPr>
              <a:t>vs.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229600" cy="4294814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15 vs.  FW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9 vs.  IN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6 vs.  CC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2 vs.  NN</a:t>
            </a:r>
          </a:p>
          <a:p>
            <a:pPr marL="0" indent="0">
              <a:buNone/>
            </a:pPr>
            <a:r>
              <a:rPr lang="pl-PL" dirty="0">
                <a:latin typeface="Courier New"/>
                <a:cs typeface="Courier New"/>
              </a:rPr>
              <a:t>   1 vs.  JJ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3442569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tag counts for </a:t>
            </a:r>
            <a:r>
              <a:rPr lang="en-US" sz="3200" dirty="0">
                <a:latin typeface="Courier New"/>
                <a:cs typeface="Courier New"/>
              </a:rPr>
              <a:t>vs.</a:t>
            </a:r>
            <a:r>
              <a:rPr lang="en-US" sz="3200" dirty="0">
                <a:latin typeface="Calibri"/>
                <a:cs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27045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Universal Tag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use smaller sets of coarser tags</a:t>
            </a:r>
          </a:p>
          <a:p>
            <a:r>
              <a:rPr lang="en-US" dirty="0"/>
              <a:t>e.g., “universal tag set” containing 12 tags:</a:t>
            </a:r>
          </a:p>
          <a:p>
            <a:pPr lvl="1"/>
            <a:r>
              <a:rPr lang="en-US" dirty="0"/>
              <a:t>noun, verb, adjective, adverb, pronoun, determiner/article, </a:t>
            </a:r>
            <a:r>
              <a:rPr lang="en-US" dirty="0" err="1"/>
              <a:t>adposition</a:t>
            </a:r>
            <a:r>
              <a:rPr lang="en-US" dirty="0"/>
              <a:t> (preposition or postposition), numeral, conjunction, particle, punctuation,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Screen Shot 2016-01-23 at 2.29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8819"/>
            <a:ext cx="9144000" cy="1332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18480" y="5898519"/>
            <a:ext cx="304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288CD2"/>
                </a:solidFill>
              </a:rPr>
              <a:t>Petrov</a:t>
            </a:r>
            <a:r>
              <a:rPr lang="en-US" i="1" dirty="0">
                <a:solidFill>
                  <a:srgbClr val="288CD2"/>
                </a:solidFill>
              </a:rPr>
              <a:t>, Das, McDonald (2011)</a:t>
            </a:r>
          </a:p>
        </p:txBody>
      </p:sp>
    </p:spTree>
    <p:extLst>
      <p:ext uri="{BB962C8B-B14F-4D97-AF65-F5344CB8AC3E}">
        <p14:creationId xmlns:p14="http://schemas.microsoft.com/office/powerpoint/2010/main" val="34012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 add  u  on  </a:t>
            </a:r>
            <a:r>
              <a:rPr lang="en-US" dirty="0" err="1"/>
              <a:t>fb</a:t>
            </a:r>
            <a:r>
              <a:rPr lang="en-US" dirty="0"/>
              <a:t>  </a:t>
            </a:r>
            <a:r>
              <a:rPr lang="en-US" dirty="0" err="1"/>
              <a:t>lololol</a:t>
            </a:r>
            <a:r>
              <a:rPr lang="en-US" dirty="0"/>
              <a:t>   =D     #</a:t>
            </a:r>
            <a:r>
              <a:rPr lang="en-US" dirty="0" err="1"/>
              <a:t>lolz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article                     noun               pronoun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1046480" y="2707640"/>
            <a:ext cx="495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pronoun      proper</a:t>
            </a:r>
          </a:p>
          <a:p>
            <a:pPr marL="0" indent="0">
              <a:lnSpc>
                <a:spcPct val="6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                       noun</a:t>
            </a:r>
            <a:endParaRPr lang="en-US" sz="1100" i="0" dirty="0">
              <a:solidFill>
                <a:srgbClr val="288CD2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89280" y="2326640"/>
            <a:ext cx="556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verb              prep                   </a:t>
            </a: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emoticon    </a:t>
            </a:r>
            <a:r>
              <a:rPr lang="en-US" sz="1800" i="0" dirty="0" err="1">
                <a:solidFill>
                  <a:srgbClr val="288CD2"/>
                </a:solidFill>
              </a:rPr>
              <a:t>hashtag</a:t>
            </a:r>
            <a:endParaRPr lang="en-US" sz="1200" i="0" dirty="0">
              <a:solidFill>
                <a:srgbClr val="288CD2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/>
          </a:bodyPr>
          <a:lstStyle/>
          <a:p>
            <a:r>
              <a:rPr lang="en-US" sz="3200" dirty="0"/>
              <a:t>Twitter Part-of-Speech Tagging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68160" y="2250440"/>
            <a:ext cx="2133600" cy="1066800"/>
          </a:xfrm>
          <a:prstGeom prst="rect">
            <a:avLst/>
          </a:prstGeom>
          <a:noFill/>
          <a:ln w="28575" cmpd="sng">
            <a:solidFill>
              <a:srgbClr val="288CD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>
                <a:solidFill>
                  <a:srgbClr val="288CD2"/>
                </a:solidFill>
              </a:rPr>
              <a:t>adj</a:t>
            </a:r>
            <a:r>
              <a:rPr lang="en-US" sz="2000" i="0" dirty="0">
                <a:solidFill>
                  <a:srgbClr val="288CD2"/>
                </a:solidFill>
              </a:rPr>
              <a:t> = adjective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>
                <a:solidFill>
                  <a:srgbClr val="288CD2"/>
                </a:solidFill>
              </a:rPr>
              <a:t>prep = preposition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>
                <a:solidFill>
                  <a:srgbClr val="288CD2"/>
                </a:solidFill>
              </a:rPr>
              <a:t>intj</a:t>
            </a:r>
            <a:r>
              <a:rPr lang="en-US" sz="2000" i="0" dirty="0">
                <a:solidFill>
                  <a:srgbClr val="288CD2"/>
                </a:solidFill>
              </a:rPr>
              <a:t> = interjection</a:t>
            </a:r>
            <a:endParaRPr lang="en-US" sz="1400" i="0" dirty="0">
              <a:solidFill>
                <a:srgbClr val="288CD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15036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25704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325120" y="3434080"/>
            <a:ext cx="8229600" cy="944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we removed some fine-grained POS tags, then added Twitter-specific tags: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67225"/>
              </p:ext>
            </p:extLst>
          </p:nvPr>
        </p:nvGraphicFramePr>
        <p:xfrm>
          <a:off x="838200" y="4307840"/>
          <a:ext cx="5704840" cy="237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77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57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hashtag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5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/>
                          <a:cs typeface="Calibri"/>
                        </a:rPr>
                        <a:t>@-mention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URL / email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/>
                          <a:cs typeface="Calibri"/>
                        </a:rPr>
                        <a:t>emoticon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57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latin typeface="Calibri"/>
                          <a:cs typeface="Calibri"/>
                        </a:rPr>
                        <a:t>Twitter discourse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800" dirty="0">
                        <a:latin typeface="Gill Sans MT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557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latin typeface="Calibri"/>
                          <a:cs typeface="Calibri"/>
                        </a:rPr>
                        <a:t>other (multi-word abbreviations, symbols, garbage)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9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9" grpId="0" animBg="1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Penn Treebank (1M words), word with most tags had 7 tags</a:t>
            </a:r>
          </a:p>
          <a:p>
            <a:endParaRPr lang="en-US" dirty="0"/>
          </a:p>
          <a:p>
            <a:r>
              <a:rPr lang="en-US" dirty="0"/>
              <a:t>in Twitter POS-annotated data (40k words), word with most tags has how many tags?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21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tags can a word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229600" cy="4294814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7 over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up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out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one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off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a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@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to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there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that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right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outside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no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n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746610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words in Twitter with the most unique tags:</a:t>
            </a:r>
          </a:p>
        </p:txBody>
      </p:sp>
    </p:spTree>
    <p:extLst>
      <p:ext uri="{BB962C8B-B14F-4D97-AF65-F5344CB8AC3E}">
        <p14:creationId xmlns:p14="http://schemas.microsoft.com/office/powerpoint/2010/main" val="15973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many tags can a word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536"/>
            <a:ext cx="8229600" cy="4294814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7 over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up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out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one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off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a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5 @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to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there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that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right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outside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no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4 n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7025" y="1190617"/>
            <a:ext cx="7466107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alibri"/>
                <a:cs typeface="Calibri"/>
              </a:rPr>
              <a:t>words in Twitter with the most unique tags: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60381" y="5146152"/>
            <a:ext cx="7202855" cy="1169551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Twitter shows a wider variety of uses for common words</a:t>
            </a:r>
            <a:endParaRPr lang="en-US" sz="32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3467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sense vs. part-of-speech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40172"/>
              </p:ext>
            </p:extLst>
          </p:nvPr>
        </p:nvGraphicFramePr>
        <p:xfrm>
          <a:off x="182880" y="1066799"/>
          <a:ext cx="8839199" cy="4886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24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word sense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part-of-speech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semantic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 or syntactic?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semantic: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indicates meaning of word in its context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syntactic: </a:t>
                      </a:r>
                    </a:p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indicates function of word in its context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92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number of categories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| words, ~5 senses each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sym typeface="Wingdings"/>
                        </a:rPr>
                        <a:t>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5|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  <a:sym typeface="Wingdings"/>
                        </a:rPr>
                        <a:t>V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| categories!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typical 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tag sets have 12 to 45 tags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inter-annotator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 agreement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low;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some sense distinctions are highly subjective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high; relatively few 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tags and function is relatively shallow / surface-level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independent or joint classification of nearby words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independent: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can classify a single word based on context words; structured prediction is rarely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joint:</a:t>
                      </a:r>
                    </a:p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strong relationship between tags of nearby words; structured prediction often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94000" y="2621280"/>
            <a:ext cx="2895600" cy="833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63919" y="2621280"/>
            <a:ext cx="2895600" cy="833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794000" y="3789680"/>
            <a:ext cx="2895600" cy="833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63919" y="3789680"/>
            <a:ext cx="2895600" cy="833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773680" y="4836160"/>
            <a:ext cx="2915919" cy="13106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02961" y="4836160"/>
            <a:ext cx="3169918" cy="13106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0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sense vs. part-of-speech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072589"/>
              </p:ext>
            </p:extLst>
          </p:nvPr>
        </p:nvGraphicFramePr>
        <p:xfrm>
          <a:off x="182880" y="1066799"/>
          <a:ext cx="8839199" cy="4886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24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word sense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part-of-speech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semantic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 or syntactic?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semantic: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indicates meaning of word in its context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syntactic: </a:t>
                      </a:r>
                    </a:p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indicates function of word in its context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92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number of categories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| words, ~5 senses each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sym typeface="Wingdings"/>
                        </a:rPr>
                        <a:t>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5|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  <a:sym typeface="Wingdings"/>
                        </a:rPr>
                        <a:t>V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sym typeface="Wingdings"/>
                        </a:rPr>
                        <a:t>| categories!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typical 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tag sets have 12 to 45 tags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inter-annotator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 agreement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low;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some sense distinctions are highly subjective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high; relatively few 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tags and function is relatively shallow / surface-level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independent or joint classification of nearby words</a:t>
                      </a:r>
                      <a:r>
                        <a:rPr lang="en-US" b="1" baseline="0" dirty="0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independent: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can classify a single word based on context words; structured prediction is rarely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joint:</a:t>
                      </a:r>
                    </a:p>
                    <a:p>
                      <a:pPr algn="ctr"/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strong relationship between tags of nearby words; structured prediction often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608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might POS tags be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classification</a:t>
            </a:r>
          </a:p>
          <a:p>
            <a:r>
              <a:rPr lang="en-US" dirty="0"/>
              <a:t>machine translation</a:t>
            </a:r>
          </a:p>
          <a:p>
            <a:r>
              <a:rPr lang="en-US" dirty="0"/>
              <a:t>question answering</a:t>
            </a:r>
          </a:p>
          <a:p>
            <a:r>
              <a:rPr lang="en-US" dirty="0"/>
              <a:t>speech synthesis (pronounce “contract”)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0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for POS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today we’ll discuss simple models that do not use structured prediction</a:t>
            </a:r>
          </a:p>
          <a:p>
            <a:r>
              <a:rPr lang="en-US" dirty="0"/>
              <a:t>these are often called “local” models</a:t>
            </a:r>
          </a:p>
          <a:p>
            <a:r>
              <a:rPr lang="en-US" dirty="0"/>
              <a:t>they predict a tag for each word in a sequence, (and can use the entire word sequence to make each prediction)</a:t>
            </a:r>
          </a:p>
          <a:p>
            <a:r>
              <a:rPr lang="en-US" dirty="0"/>
              <a:t>but they do not use information about previous </a:t>
            </a:r>
            <a:r>
              <a:rPr lang="en-US" i="1" dirty="0"/>
              <a:t>predictions </a:t>
            </a:r>
            <a:r>
              <a:rPr lang="en-US" dirty="0"/>
              <a:t>to make later predictions</a:t>
            </a:r>
          </a:p>
          <a:p>
            <a:r>
              <a:rPr lang="en-US" dirty="0"/>
              <a:t>by contrast,</a:t>
            </a:r>
            <a:r>
              <a:rPr lang="en-US" b="1" dirty="0">
                <a:solidFill>
                  <a:srgbClr val="288CD2"/>
                </a:solidFill>
              </a:rPr>
              <a:t> structured prediction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predict structures</a:t>
            </a:r>
          </a:p>
          <a:p>
            <a:pPr lvl="1"/>
            <a:r>
              <a:rPr lang="en-US" dirty="0"/>
              <a:t>or: make multiple predictions jointly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 add  u  on  </a:t>
            </a:r>
            <a:r>
              <a:rPr lang="en-US" dirty="0" err="1"/>
              <a:t>fb</a:t>
            </a:r>
            <a:r>
              <a:rPr lang="en-US" dirty="0"/>
              <a:t>  </a:t>
            </a:r>
            <a:r>
              <a:rPr lang="en-US" dirty="0" err="1"/>
              <a:t>lololol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</a:t>
            </a:r>
            <a:r>
              <a:rPr lang="en-US" sz="1800" dirty="0">
                <a:solidFill>
                  <a:srgbClr val="288CD2"/>
                </a:solidFill>
              </a:rPr>
              <a:t>  </a:t>
            </a:r>
            <a:r>
              <a:rPr lang="en-US" sz="1800" dirty="0" err="1">
                <a:solidFill>
                  <a:srgbClr val="288CD2"/>
                </a:solidFill>
              </a:rPr>
              <a:t>det</a:t>
            </a:r>
            <a:r>
              <a:rPr lang="en-US" sz="1800" dirty="0">
                <a:solidFill>
                  <a:srgbClr val="288CD2"/>
                </a:solidFill>
              </a:rPr>
              <a:t>   </a:t>
            </a:r>
            <a:r>
              <a:rPr lang="en-US" sz="1800" i="0" dirty="0">
                <a:solidFill>
                  <a:srgbClr val="288CD2"/>
                </a:solidFill>
              </a:rPr>
              <a:t>                    noun               pronoun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1046480" y="2707640"/>
            <a:ext cx="495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pronoun      proper</a:t>
            </a:r>
          </a:p>
          <a:p>
            <a:pPr marL="0" indent="0">
              <a:lnSpc>
                <a:spcPct val="6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                       noun</a:t>
            </a:r>
            <a:endParaRPr lang="en-US" sz="1100" i="0" dirty="0">
              <a:solidFill>
                <a:srgbClr val="288CD2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89280" y="2326640"/>
            <a:ext cx="556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verb              prep                   </a:t>
            </a: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endParaRPr lang="en-US" sz="1200" i="0" dirty="0">
              <a:solidFill>
                <a:srgbClr val="288CD2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68160" y="2250440"/>
            <a:ext cx="2133600" cy="1066800"/>
          </a:xfrm>
          <a:prstGeom prst="rect">
            <a:avLst/>
          </a:prstGeom>
          <a:noFill/>
          <a:ln w="28575" cmpd="sng">
            <a:solidFill>
              <a:srgbClr val="288CD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>
                <a:solidFill>
                  <a:srgbClr val="288CD2"/>
                </a:solidFill>
              </a:rPr>
              <a:t>adj</a:t>
            </a:r>
            <a:r>
              <a:rPr lang="en-US" sz="2000" i="0" dirty="0">
                <a:solidFill>
                  <a:srgbClr val="288CD2"/>
                </a:solidFill>
              </a:rPr>
              <a:t> = adjective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>
                <a:solidFill>
                  <a:srgbClr val="288CD2"/>
                </a:solidFill>
              </a:rPr>
              <a:t>prep = preposition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>
                <a:solidFill>
                  <a:srgbClr val="288CD2"/>
                </a:solidFill>
              </a:rPr>
              <a:t>intj</a:t>
            </a:r>
            <a:r>
              <a:rPr lang="en-US" sz="2000" i="0" dirty="0">
                <a:solidFill>
                  <a:srgbClr val="288CD2"/>
                </a:solidFill>
              </a:rPr>
              <a:t> = interjection</a:t>
            </a:r>
            <a:endParaRPr lang="en-US" sz="1400" i="0" dirty="0">
              <a:solidFill>
                <a:srgbClr val="288CD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15036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25704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325120" y="3667760"/>
            <a:ext cx="8229600" cy="9448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in Assignment 3, you’ll build a neural network classifier to predict a word’s POS tag based on its context</a:t>
            </a:r>
          </a:p>
        </p:txBody>
      </p:sp>
    </p:spTree>
    <p:extLst>
      <p:ext uri="{BB962C8B-B14F-4D97-AF65-F5344CB8AC3E}">
        <p14:creationId xmlns:p14="http://schemas.microsoft.com/office/powerpoint/2010/main" val="2967566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>
                <a:solidFill>
                  <a:srgbClr val="288CD2"/>
                </a:solidFill>
              </a:rPr>
              <a:t>det</a:t>
            </a:r>
            <a:r>
              <a:rPr lang="en-US" sz="1800" i="0" dirty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225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e.g., predict tag of </a:t>
            </a:r>
            <a:r>
              <a:rPr lang="en-US" sz="2800" i="1" dirty="0" err="1"/>
              <a:t>yo</a:t>
            </a:r>
            <a:r>
              <a:rPr lang="en-US" sz="2800" dirty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should the input </a:t>
            </a:r>
            <a:r>
              <a:rPr lang="en-US" sz="2800" b="1" dirty="0"/>
              <a:t>x</a:t>
            </a:r>
            <a:r>
              <a:rPr lang="en-US" sz="2800" b="1" i="1" dirty="0"/>
              <a:t> </a:t>
            </a:r>
            <a:r>
              <a:rPr lang="en-US" sz="2800" dirty="0"/>
              <a:t>be to the neural network?</a:t>
            </a:r>
          </a:p>
          <a:p>
            <a:pPr lvl="1"/>
            <a:r>
              <a:rPr lang="en-US" dirty="0"/>
              <a:t>it has to be independent of the label</a:t>
            </a:r>
          </a:p>
          <a:p>
            <a:pPr lvl="1"/>
            <a:r>
              <a:rPr lang="en-US" dirty="0"/>
              <a:t>it has to be a </a:t>
            </a:r>
            <a:r>
              <a:rPr lang="en-US" b="1" dirty="0"/>
              <a:t>fixed-length </a:t>
            </a:r>
            <a:r>
              <a:rPr lang="en-US" dirty="0"/>
              <a:t>vector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18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>
                <a:solidFill>
                  <a:srgbClr val="288CD2"/>
                </a:solidFill>
              </a:rPr>
              <a:t>det</a:t>
            </a:r>
            <a:r>
              <a:rPr lang="en-US" sz="1800" i="0" dirty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1341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e.g., predict tag of </a:t>
            </a:r>
            <a:r>
              <a:rPr lang="en-US" sz="2800" i="1" dirty="0" err="1"/>
              <a:t>yo</a:t>
            </a:r>
            <a:r>
              <a:rPr lang="en-US" sz="2800" dirty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should the input </a:t>
            </a:r>
            <a:r>
              <a:rPr lang="en-US" sz="2800" b="1" dirty="0"/>
              <a:t>x</a:t>
            </a:r>
            <a:r>
              <a:rPr lang="en-US" sz="2800" b="1" i="1" dirty="0"/>
              <a:t> </a:t>
            </a:r>
            <a:r>
              <a:rPr lang="en-US" sz="2800" dirty="0"/>
              <a:t>be?</a:t>
            </a:r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340" y="3881120"/>
            <a:ext cx="2819400" cy="368300"/>
          </a:xfrm>
          <a:prstGeom prst="rect">
            <a:avLst/>
          </a:prstGeom>
        </p:spPr>
      </p:pic>
      <p:sp>
        <p:nvSpPr>
          <p:cNvPr id="8" name="Left Brace 7"/>
          <p:cNvSpPr/>
          <p:nvPr/>
        </p:nvSpPr>
        <p:spPr>
          <a:xfrm rot="16200000">
            <a:off x="4475480" y="361442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89680" y="478686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word vector for </a:t>
            </a:r>
            <a:r>
              <a:rPr lang="en-US" i="1" dirty="0" err="1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067623" y="3903596"/>
            <a:ext cx="284480" cy="343921"/>
            <a:chOff x="1699260" y="3606527"/>
            <a:chExt cx="284480" cy="343921"/>
          </a:xfrm>
        </p:grpSpPr>
        <p:sp>
          <p:nvSpPr>
            <p:cNvPr id="26" name="Rectangle 25"/>
            <p:cNvSpPr/>
            <p:nvPr/>
          </p:nvSpPr>
          <p:spPr>
            <a:xfrm>
              <a:off x="1699260" y="3606527"/>
              <a:ext cx="284480" cy="343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823" y="3695810"/>
              <a:ext cx="203200" cy="16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1985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>
                <a:solidFill>
                  <a:srgbClr val="288CD2"/>
                </a:solidFill>
              </a:rPr>
              <a:t>det</a:t>
            </a:r>
            <a:r>
              <a:rPr lang="en-US" sz="1800" i="0" dirty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1341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e.g., predict tag of </a:t>
            </a:r>
            <a:r>
              <a:rPr lang="en-US" sz="2800" i="1" dirty="0" err="1"/>
              <a:t>yo</a:t>
            </a:r>
            <a:r>
              <a:rPr lang="en-US" sz="2800" dirty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what should the input </a:t>
            </a:r>
            <a:r>
              <a:rPr lang="en-US" sz="2800" b="1" dirty="0"/>
              <a:t>x</a:t>
            </a:r>
            <a:r>
              <a:rPr lang="en-US" sz="2800" b="1" i="1" dirty="0"/>
              <a:t> </a:t>
            </a:r>
            <a:r>
              <a:rPr lang="en-US" sz="2800" dirty="0"/>
              <a:t>be?</a:t>
            </a:r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475480" y="361442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789680" y="478686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word vector for </a:t>
            </a:r>
            <a:r>
              <a:rPr lang="en-US" i="1" dirty="0" err="1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881120"/>
            <a:ext cx="5080000" cy="368300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2372360" y="3451860"/>
            <a:ext cx="518160" cy="20929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534160" y="4776708"/>
            <a:ext cx="194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word vector for </a:t>
            </a:r>
            <a:r>
              <a:rPr lang="en-US" i="1" dirty="0">
                <a:solidFill>
                  <a:srgbClr val="288CD2"/>
                </a:solidFill>
              </a:rPr>
              <a:t>fir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89873" y="3905499"/>
            <a:ext cx="284480" cy="343921"/>
            <a:chOff x="1699260" y="3606527"/>
            <a:chExt cx="284480" cy="343921"/>
          </a:xfrm>
        </p:grpSpPr>
        <p:sp>
          <p:nvSpPr>
            <p:cNvPr id="31" name="Rectangle 30"/>
            <p:cNvSpPr/>
            <p:nvPr/>
          </p:nvSpPr>
          <p:spPr>
            <a:xfrm>
              <a:off x="1699260" y="3606527"/>
              <a:ext cx="284480" cy="343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823" y="3695810"/>
              <a:ext cx="203200" cy="16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0964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128016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>
                <a:solidFill>
                  <a:srgbClr val="288CD2"/>
                </a:solidFill>
              </a:rPr>
              <a:t>det</a:t>
            </a:r>
            <a:r>
              <a:rPr lang="en-US" sz="1800" i="0" dirty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475480" y="427228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789680" y="544472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word vector for </a:t>
            </a:r>
            <a:r>
              <a:rPr lang="en-US" i="1" dirty="0" err="1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4538980"/>
            <a:ext cx="5080000" cy="368300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2372360" y="4109720"/>
            <a:ext cx="518160" cy="20929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534160" y="5434568"/>
            <a:ext cx="194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word vector for </a:t>
            </a:r>
            <a:r>
              <a:rPr lang="en-US" i="1" dirty="0">
                <a:solidFill>
                  <a:srgbClr val="288CD2"/>
                </a:solidFill>
              </a:rPr>
              <a:t>fir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3080" y="2407920"/>
            <a:ext cx="8229600" cy="20332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when using word vectors as part of input, we can also treat them as more parameters to be learned!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this is called “updating” or “fine-tuning” the vectors (since they are initialized using something like </a:t>
            </a:r>
            <a:r>
              <a:rPr lang="en-US" sz="2200" dirty="0">
                <a:latin typeface="Courier New"/>
                <a:cs typeface="Courier New"/>
              </a:rPr>
              <a:t>word2vec</a:t>
            </a:r>
            <a:r>
              <a:rPr lang="en-US" sz="2800" dirty="0"/>
              <a:t>)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807834" y="4566313"/>
            <a:ext cx="284480" cy="343921"/>
            <a:chOff x="1699260" y="3606527"/>
            <a:chExt cx="284480" cy="343921"/>
          </a:xfrm>
        </p:grpSpPr>
        <p:sp>
          <p:nvSpPr>
            <p:cNvPr id="31" name="Rectangle 30"/>
            <p:cNvSpPr/>
            <p:nvPr/>
          </p:nvSpPr>
          <p:spPr>
            <a:xfrm>
              <a:off x="1699260" y="3606527"/>
              <a:ext cx="284480" cy="343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823" y="3695810"/>
              <a:ext cx="203200" cy="16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375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128016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/>
              <a:t>ikr</a:t>
            </a:r>
            <a:r>
              <a:rPr lang="en-US" dirty="0"/>
              <a:t>  </a:t>
            </a:r>
            <a:r>
              <a:rPr lang="en-US" dirty="0" err="1"/>
              <a:t>smh</a:t>
            </a:r>
            <a:r>
              <a:rPr lang="en-US" dirty="0"/>
              <a:t>  he  asked  fir  </a:t>
            </a:r>
            <a:r>
              <a:rPr lang="en-US" dirty="0" err="1"/>
              <a:t>yo</a:t>
            </a:r>
            <a:r>
              <a:rPr lang="en-US" dirty="0"/>
              <a:t>  last  name  so  he  can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>
                <a:solidFill>
                  <a:srgbClr val="288CD2"/>
                </a:solidFill>
              </a:rPr>
              <a:t>intj</a:t>
            </a:r>
            <a:r>
              <a:rPr lang="en-US" sz="1800" i="0" dirty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>
                <a:solidFill>
                  <a:srgbClr val="288CD2"/>
                </a:solidFill>
              </a:rPr>
              <a:t>adj</a:t>
            </a:r>
            <a:r>
              <a:rPr lang="en-US" sz="1800" i="0" dirty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>
                <a:solidFill>
                  <a:srgbClr val="288CD2"/>
                </a:solidFill>
              </a:rPr>
              <a:t>det</a:t>
            </a:r>
            <a:r>
              <a:rPr lang="en-US" sz="1800" i="0" dirty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Feed-Forward Neural Networks for Twitter POS Tagging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364917" y="284091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870960" y="3778488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last</a:t>
            </a:r>
          </a:p>
        </p:txBody>
      </p:sp>
      <p:sp>
        <p:nvSpPr>
          <p:cNvPr id="28" name="Left Brace 27"/>
          <p:cNvSpPr/>
          <p:nvPr/>
        </p:nvSpPr>
        <p:spPr>
          <a:xfrm rot="16200000">
            <a:off x="2922197" y="283075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392243" y="3768328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 err="1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3080" y="2223770"/>
            <a:ext cx="8229600" cy="2033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let’s use the center word + two words to the right: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862580"/>
            <a:ext cx="5257800" cy="368300"/>
          </a:xfrm>
          <a:prstGeom prst="rect">
            <a:avLst/>
          </a:prstGeom>
        </p:spPr>
      </p:pic>
      <p:sp>
        <p:nvSpPr>
          <p:cNvPr id="23" name="Left Brace 22"/>
          <p:cNvSpPr/>
          <p:nvPr/>
        </p:nvSpPr>
        <p:spPr>
          <a:xfrm rot="16200000">
            <a:off x="5877504" y="2795197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419107" y="3768328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name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13080" y="4354194"/>
            <a:ext cx="8229600" cy="183324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/>
              <a:t>if </a:t>
            </a:r>
            <a:r>
              <a:rPr lang="en-US" sz="2800" i="1" dirty="0"/>
              <a:t>name</a:t>
            </a:r>
            <a:r>
              <a:rPr lang="en-US" sz="2800" dirty="0"/>
              <a:t> is to the right of </a:t>
            </a:r>
            <a:r>
              <a:rPr lang="en-US" sz="2800" i="1" dirty="0" err="1"/>
              <a:t>yo</a:t>
            </a:r>
            <a:r>
              <a:rPr lang="en-US" sz="2800" dirty="0"/>
              <a:t>, then </a:t>
            </a:r>
            <a:r>
              <a:rPr lang="en-US" sz="2800" i="1" dirty="0" err="1"/>
              <a:t>yo</a:t>
            </a:r>
            <a:r>
              <a:rPr lang="en-US" sz="2800" dirty="0"/>
              <a:t> is probably a form of </a:t>
            </a:r>
            <a:r>
              <a:rPr lang="en-US" sz="2800" i="1" dirty="0"/>
              <a:t>your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but our </a:t>
            </a:r>
            <a:r>
              <a:rPr lang="en-US" sz="2800" b="1" dirty="0"/>
              <a:t>x</a:t>
            </a:r>
            <a:r>
              <a:rPr lang="en-US" sz="2800" dirty="0"/>
              <a:t> above uses separate dimensions for each position!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i.e., </a:t>
            </a:r>
            <a:r>
              <a:rPr lang="en-US" sz="2400" i="1" dirty="0"/>
              <a:t>name </a:t>
            </a:r>
            <a:r>
              <a:rPr lang="en-US" sz="2400" dirty="0"/>
              <a:t>is two words to the right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what if </a:t>
            </a:r>
            <a:r>
              <a:rPr lang="en-US" sz="2400" i="1" dirty="0"/>
              <a:t>name </a:t>
            </a:r>
            <a:r>
              <a:rPr lang="en-US" sz="2400" dirty="0"/>
              <a:t>is one word to the right? 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738722" y="2897119"/>
            <a:ext cx="284480" cy="343921"/>
            <a:chOff x="1699260" y="3606527"/>
            <a:chExt cx="284480" cy="343921"/>
          </a:xfrm>
        </p:grpSpPr>
        <p:sp>
          <p:nvSpPr>
            <p:cNvPr id="9" name="Rectangle 8"/>
            <p:cNvSpPr/>
            <p:nvPr/>
          </p:nvSpPr>
          <p:spPr>
            <a:xfrm>
              <a:off x="1699260" y="3606527"/>
              <a:ext cx="284480" cy="343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823" y="3695810"/>
              <a:ext cx="203200" cy="165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75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Feed-Forward Networks for POS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feed-forward networks are OK for tagging</a:t>
            </a:r>
          </a:p>
          <a:p>
            <a:r>
              <a:rPr lang="en-US" dirty="0"/>
              <a:t>they tend to work best with very small contexts (e.g., 1 word to left &amp; right)</a:t>
            </a:r>
          </a:p>
          <a:p>
            <a:r>
              <a:rPr lang="en-US" dirty="0"/>
              <a:t>with larger windows, probably not enough data to learn a good model</a:t>
            </a:r>
          </a:p>
          <a:p>
            <a:r>
              <a:rPr lang="en-US" dirty="0"/>
              <a:t>also, distant words not very informative for POS tagging</a:t>
            </a:r>
          </a:p>
          <a:p>
            <a:r>
              <a:rPr lang="en-US" dirty="0"/>
              <a:t>can also use convolutional networks defined on a window centered on the target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RNNs for Part-of-Speech Tagging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285893" y="12714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8" idx="4"/>
            <a:endCxn id="32" idx="0"/>
          </p:cNvCxnSpPr>
          <p:nvPr/>
        </p:nvCxnSpPr>
        <p:spPr bwMode="auto">
          <a:xfrm flipH="1">
            <a:off x="2735013" y="2174295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Oval 39"/>
          <p:cNvSpPr/>
          <p:nvPr/>
        </p:nvSpPr>
        <p:spPr>
          <a:xfrm>
            <a:off x="4123929" y="12622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4" name="Straight Arrow Connector 43"/>
          <p:cNvCxnSpPr>
            <a:stCxn id="40" idx="4"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/>
          <p:nvPr/>
        </p:nvSpPr>
        <p:spPr>
          <a:xfrm>
            <a:off x="5948111" y="127374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/>
          <p:cNvCxnSpPr>
            <a:stCxn id="45" idx="4"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659665"/>
            <a:ext cx="584200" cy="190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646965"/>
            <a:ext cx="584200" cy="215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634440"/>
            <a:ext cx="266700" cy="190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971620" y="5245935"/>
            <a:ext cx="7202855" cy="677108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input: a word sequence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8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allAtOnce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RNNs for Part-of-Speech Tagging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689300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</a:p>
        </p:txBody>
      </p:sp>
      <p:sp>
        <p:nvSpPr>
          <p:cNvPr id="32" name="Oval 31"/>
          <p:cNvSpPr/>
          <p:nvPr/>
        </p:nvSpPr>
        <p:spPr>
          <a:xfrm>
            <a:off x="2283584" y="261540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21619" y="26061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948108" y="2620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 bwMode="auto">
          <a:xfrm flipV="1">
            <a:off x="3186442" y="3057599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33" idx="6"/>
            <a:endCxn id="35" idx="2"/>
          </p:cNvCxnSpPr>
          <p:nvPr/>
        </p:nvCxnSpPr>
        <p:spPr bwMode="auto">
          <a:xfrm>
            <a:off x="5024477" y="3057599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Oval 37"/>
          <p:cNvSpPr/>
          <p:nvPr/>
        </p:nvSpPr>
        <p:spPr>
          <a:xfrm>
            <a:off x="2285893" y="12714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9" name="Straight Arrow Connector 38"/>
          <p:cNvCxnSpPr>
            <a:stCxn id="38" idx="4"/>
            <a:endCxn id="32" idx="0"/>
          </p:cNvCxnSpPr>
          <p:nvPr/>
        </p:nvCxnSpPr>
        <p:spPr bwMode="auto">
          <a:xfrm flipH="1">
            <a:off x="2735013" y="2174295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Oval 39"/>
          <p:cNvSpPr/>
          <p:nvPr/>
        </p:nvSpPr>
        <p:spPr>
          <a:xfrm>
            <a:off x="4123929" y="12622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4" name="Straight Arrow Connector 43"/>
          <p:cNvCxnSpPr>
            <a:stCxn id="40" idx="4"/>
            <a:endCxn id="33" idx="0"/>
          </p:cNvCxnSpPr>
          <p:nvPr/>
        </p:nvCxnSpPr>
        <p:spPr bwMode="auto">
          <a:xfrm flipH="1">
            <a:off x="4573048" y="2165059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/>
          <p:cNvSpPr/>
          <p:nvPr/>
        </p:nvSpPr>
        <p:spPr>
          <a:xfrm>
            <a:off x="5948111" y="127374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9" name="Straight Arrow Connector 48"/>
          <p:cNvCxnSpPr>
            <a:stCxn id="45" idx="4"/>
            <a:endCxn id="35" idx="0"/>
          </p:cNvCxnSpPr>
          <p:nvPr/>
        </p:nvCxnSpPr>
        <p:spPr bwMode="auto">
          <a:xfrm flipH="1">
            <a:off x="6399537" y="2176604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49"/>
          <p:cNvSpPr/>
          <p:nvPr/>
        </p:nvSpPr>
        <p:spPr>
          <a:xfrm>
            <a:off x="2283584" y="39661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121619" y="395690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948108" y="3970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0" idx="0"/>
          </p:cNvCxnSpPr>
          <p:nvPr/>
        </p:nvCxnSpPr>
        <p:spPr bwMode="auto">
          <a:xfrm flipH="1">
            <a:off x="2735013" y="3525026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51" idx="0"/>
          </p:cNvCxnSpPr>
          <p:nvPr/>
        </p:nvCxnSpPr>
        <p:spPr bwMode="auto">
          <a:xfrm flipH="1">
            <a:off x="4573048" y="3515790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/>
          <p:cNvCxnSpPr>
            <a:endCxn id="52" idx="0"/>
          </p:cNvCxnSpPr>
          <p:nvPr/>
        </p:nvCxnSpPr>
        <p:spPr bwMode="auto">
          <a:xfrm flipH="1">
            <a:off x="6399537" y="3527335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50086B20-1636-814D-B7EC-74D5732A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18" y="1659665"/>
            <a:ext cx="584200" cy="190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AE016A-5023-2242-A5A1-3DD177C2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27" y="1646965"/>
            <a:ext cx="584200" cy="215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BD132F-743A-5441-A403-EB615A76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2" y="1634440"/>
            <a:ext cx="266700" cy="190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F21849-B834-4C43-B716-E4DC31902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37" y="2928785"/>
            <a:ext cx="279400" cy="2794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7B3B966-6D9A-3447-9001-7FEB8C7F1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860" y="2914731"/>
            <a:ext cx="584200" cy="2921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A879887-5A42-C041-9F42-DB511EE8E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741" y="2917899"/>
            <a:ext cx="584200" cy="279400"/>
          </a:xfrm>
          <a:prstGeom prst="rect">
            <a:avLst/>
          </a:prstGeom>
        </p:spPr>
      </p:pic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971620" y="5521638"/>
            <a:ext cx="7355688" cy="1169551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target output at each position: POS tag for corresponding word</a:t>
            </a:r>
            <a:endParaRPr lang="en-US" sz="24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02850" y="4873614"/>
            <a:ext cx="514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>
                <a:solidFill>
                  <a:srgbClr val="0062AC"/>
                </a:solidFill>
                <a:latin typeface="Courier New"/>
                <a:cs typeface="Courier New"/>
              </a:rPr>
              <a:t>… IN        DT        NN …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303948"/>
            <a:ext cx="241300" cy="203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748" y="4303948"/>
            <a:ext cx="533400" cy="203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567" y="4303948"/>
            <a:ext cx="5334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12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RNN Taggers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RNN POS taggers are simple and effective</a:t>
            </a:r>
          </a:p>
          <a:p>
            <a:r>
              <a:rPr lang="en-US" dirty="0"/>
              <a:t>most common is to use some sort of bidirectional RNN, like a </a:t>
            </a:r>
            <a:r>
              <a:rPr lang="en-US" dirty="0" err="1"/>
              <a:t>BiLSTM</a:t>
            </a:r>
            <a:r>
              <a:rPr lang="en-US" dirty="0"/>
              <a:t> or </a:t>
            </a:r>
            <a:r>
              <a:rPr lang="en-US" dirty="0" err="1"/>
              <a:t>BiGRU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613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RNN Taggers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958" y="1073740"/>
            <a:ext cx="8680826" cy="50524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note: RNN taggers are not structured predictors</a:t>
            </a:r>
          </a:p>
          <a:p>
            <a:endParaRPr lang="en-US" dirty="0"/>
          </a:p>
          <a:p>
            <a:r>
              <a:rPr lang="en-US" dirty="0"/>
              <a:t>yes, a structure is being predicted, but predictions for neighboring words are independent!</a:t>
            </a:r>
          </a:p>
          <a:p>
            <a:endParaRPr lang="en-US" dirty="0"/>
          </a:p>
          <a:p>
            <a:r>
              <a:rPr lang="en-US" dirty="0" err="1"/>
              <a:t>BiRNN</a:t>
            </a:r>
            <a:r>
              <a:rPr lang="en-US" dirty="0"/>
              <a:t> taggers do compute input representations that depend on the sentence context</a:t>
            </a:r>
          </a:p>
          <a:p>
            <a:endParaRPr lang="en-US" dirty="0"/>
          </a:p>
          <a:p>
            <a:r>
              <a:rPr lang="en-US" dirty="0"/>
              <a:t>but they do not make any predictions jointly; each prediction is independent of all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9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Sequence Labeling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roughly: for each item in an input sequence, predict a label</a:t>
            </a:r>
          </a:p>
          <a:p>
            <a:r>
              <a:rPr lang="en-US" dirty="0"/>
              <a:t>many sequence labeling tasks in NLP and other areas</a:t>
            </a:r>
          </a:p>
          <a:p>
            <a:pPr lvl="1"/>
            <a:r>
              <a:rPr lang="en-US" dirty="0"/>
              <a:t>computational biology, speech processing, video processing, etc.</a:t>
            </a:r>
          </a:p>
          <a:p>
            <a:r>
              <a:rPr lang="en-US" dirty="0"/>
              <a:t>related class of tasks: segmentation, possibly with labeling of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2225855"/>
            <a:ext cx="85033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        O                    O              O     B-PERSON   I-PERSON      O          O                 O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Some   questioned   if         Tim          Cook       ’s      first      product </a:t>
            </a:r>
          </a:p>
          <a:p>
            <a:pPr eaLnBrk="1" hangingPunct="1"/>
            <a:endParaRPr lang="en-US" sz="1600" i="0" dirty="0">
              <a:latin typeface="Calibri"/>
              <a:cs typeface="Calibri"/>
            </a:endParaRPr>
          </a:p>
          <a:p>
            <a:pPr eaLnBrk="1" hangingPunct="1"/>
            <a:r>
              <a:rPr lang="en-US" sz="2000" i="0" dirty="0">
                <a:latin typeface="Calibri"/>
                <a:cs typeface="Calibri"/>
              </a:rPr>
              <a:t> 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O              O         O                 O                 O        O     B-ORGANIZATION      O</a:t>
            </a:r>
          </a:p>
          <a:p>
            <a:pPr eaLnBrk="1" hangingPunct="1"/>
            <a:r>
              <a:rPr lang="en-US" sz="2400" i="0" dirty="0">
                <a:latin typeface="Calibri"/>
                <a:cs typeface="Calibri"/>
              </a:rPr>
              <a:t>   would      be      a      breakaway    hit    for            Apple              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1564254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55374" y="4789138"/>
            <a:ext cx="190884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>
                <a:solidFill>
                  <a:srgbClr val="C50C0C"/>
                </a:solidFill>
                <a:latin typeface="Calibri"/>
                <a:cs typeface="Calibri"/>
              </a:rPr>
              <a:t>B = “begin”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 I = “inside”</a:t>
            </a:r>
          </a:p>
          <a:p>
            <a:pPr eaLnBrk="1" hangingPunct="1"/>
            <a:r>
              <a:rPr lang="en-US" sz="2400" b="1" dirty="0">
                <a:solidFill>
                  <a:srgbClr val="C50C0C"/>
                </a:solidFill>
                <a:latin typeface="Calibri"/>
                <a:cs typeface="Calibri"/>
              </a:rPr>
              <a:t>O = “outside”</a:t>
            </a:r>
          </a:p>
          <a:p>
            <a:pPr eaLnBrk="1" hangingPunct="1"/>
            <a:endParaRPr lang="en-US" sz="2400" b="1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1210362"/>
          </a:xfrm>
        </p:spPr>
        <p:txBody>
          <a:bodyPr>
            <a:noAutofit/>
          </a:bodyPr>
          <a:lstStyle/>
          <a:p>
            <a:r>
              <a:rPr lang="en-US" sz="2800" dirty="0"/>
              <a:t>Formulating segmentation tasks as sequence labeling via B-I-O labeling:</a:t>
            </a:r>
          </a:p>
        </p:txBody>
      </p:sp>
    </p:spTree>
    <p:extLst>
      <p:ext uri="{BB962C8B-B14F-4D97-AF65-F5344CB8AC3E}">
        <p14:creationId xmlns:p14="http://schemas.microsoft.com/office/powerpoint/2010/main" val="815352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downloadable part-of-speech taggers and named entity recognizers:</a:t>
            </a:r>
          </a:p>
          <a:p>
            <a:pPr lvl="1"/>
            <a:r>
              <a:rPr lang="en-US" dirty="0"/>
              <a:t>Stanford POS tagger, NER labeler</a:t>
            </a:r>
          </a:p>
          <a:p>
            <a:pPr lvl="1"/>
            <a:r>
              <a:rPr lang="en-US" dirty="0" err="1"/>
              <a:t>TurboTagger</a:t>
            </a:r>
            <a:r>
              <a:rPr lang="en-US" dirty="0"/>
              <a:t>, </a:t>
            </a:r>
            <a:r>
              <a:rPr lang="en-US" dirty="0" err="1"/>
              <a:t>TurboEntityRecognizer</a:t>
            </a:r>
            <a:endParaRPr lang="en-US" dirty="0"/>
          </a:p>
          <a:p>
            <a:pPr lvl="1"/>
            <a:r>
              <a:rPr lang="en-US" dirty="0"/>
              <a:t>Illinois Entity Tagger</a:t>
            </a:r>
          </a:p>
          <a:p>
            <a:pPr lvl="1"/>
            <a:r>
              <a:rPr lang="en-US" dirty="0"/>
              <a:t>CMU Twitter POS tagger</a:t>
            </a:r>
          </a:p>
          <a:p>
            <a:pPr lvl="1"/>
            <a:r>
              <a:rPr lang="en-US" dirty="0"/>
              <a:t>Alan Ritter’s Twitter POS/NER labeler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276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 descr="Screen Shot 2018-04-30 at 8.57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750"/>
            <a:ext cx="9144000" cy="54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43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Screen Shot 2016-02-01 at 11.08.0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0"/>
            <a:ext cx="902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43437</TotalTime>
  <Words>2890</Words>
  <Application>Microsoft Macintosh PowerPoint</Application>
  <PresentationFormat>On-screen Show (4:3)</PresentationFormat>
  <Paragraphs>497</Paragraphs>
  <Slides>57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Courier New</vt:lpstr>
      <vt:lpstr>Times New Roman</vt:lpstr>
      <vt:lpstr>TIMES-ROMAN</vt:lpstr>
      <vt:lpstr>Wingdings</vt:lpstr>
      <vt:lpstr>Office Theme</vt:lpstr>
      <vt:lpstr>TTIC 31190: Natural Language Processing</vt:lpstr>
      <vt:lpstr>Assignment 2 due today</vt:lpstr>
      <vt:lpstr>Project Proposal</vt:lpstr>
      <vt:lpstr>Project Details</vt:lpstr>
      <vt:lpstr>Project Report</vt:lpstr>
      <vt:lpstr>Midterm</vt:lpstr>
      <vt:lpstr>Roadmap</vt:lpstr>
      <vt:lpstr>Encoders</vt:lpstr>
      <vt:lpstr>Recurrent Neural Networks</vt:lpstr>
      <vt:lpstr>PowerPoint Presentation</vt:lpstr>
      <vt:lpstr>“Output” Recurrent Neural Networks</vt:lpstr>
      <vt:lpstr>“Output” Recurrent Neural Networks</vt:lpstr>
      <vt:lpstr>PowerPoint Presentation</vt:lpstr>
      <vt:lpstr>Example: Language Modeling</vt:lpstr>
      <vt:lpstr>Example: Language Modeling</vt:lpstr>
      <vt:lpstr>Language Modeling: Training</vt:lpstr>
      <vt:lpstr>Language Modeling: Training</vt:lpstr>
      <vt:lpstr>PowerPoint Presentation</vt:lpstr>
      <vt:lpstr>Linguistic phenomena: summary so far…</vt:lpstr>
      <vt:lpstr>PowerPoint Presentation</vt:lpstr>
      <vt:lpstr>PowerPoint Presentation</vt:lpstr>
      <vt:lpstr>Part-of-Speech (POS)</vt:lpstr>
      <vt:lpstr>Penn Treebank tag set</vt:lpstr>
      <vt:lpstr>POS Ambiguity in Penn Treebank</vt:lpstr>
      <vt:lpstr>POS Ambiguity in Penn Treebank</vt:lpstr>
      <vt:lpstr>POS Ambiguity in Penn Treebank</vt:lpstr>
      <vt:lpstr>POS Ambiguity in Penn Treebank</vt:lpstr>
      <vt:lpstr>How many tags can a word have?</vt:lpstr>
      <vt:lpstr>How many tags can a word have?</vt:lpstr>
      <vt:lpstr>How many tags can a word have?</vt:lpstr>
      <vt:lpstr>RP tag: particle</vt:lpstr>
      <vt:lpstr>What about vs.?</vt:lpstr>
      <vt:lpstr>Universal Tag Set</vt:lpstr>
      <vt:lpstr>Twitter Part-of-Speech Tagging</vt:lpstr>
      <vt:lpstr>PowerPoint Presentation</vt:lpstr>
      <vt:lpstr>How many tags can a word have?</vt:lpstr>
      <vt:lpstr>How many tags can a word have?</vt:lpstr>
      <vt:lpstr>word sense vs. part-of-speech</vt:lpstr>
      <vt:lpstr>word sense vs. part-of-speech</vt:lpstr>
      <vt:lpstr>How might POS tags be useful?</vt:lpstr>
      <vt:lpstr>Models for POS Tagging</vt:lpstr>
      <vt:lpstr>Feed-Forward Neural Networks for Twitter POS Tagging</vt:lpstr>
      <vt:lpstr>Feed-Forward Neural Networks for Twitter POS Tagging</vt:lpstr>
      <vt:lpstr>Feed-Forward Neural Networks for Twitter POS Tagging</vt:lpstr>
      <vt:lpstr>Feed-Forward Neural Networks for Twitter POS Tagging</vt:lpstr>
      <vt:lpstr>Feed-Forward Neural Networks for Twitter POS Tagging</vt:lpstr>
      <vt:lpstr>Feed-Forward Neural Networks for Twitter POS Tagging</vt:lpstr>
      <vt:lpstr>Feed-Forward Networks for POS Tagging</vt:lpstr>
      <vt:lpstr>RNNs for Part-of-Speech Tagging</vt:lpstr>
      <vt:lpstr>RNNs for Part-of-Speech Tagging</vt:lpstr>
      <vt:lpstr>RNN Taggers</vt:lpstr>
      <vt:lpstr>RNN Taggers</vt:lpstr>
      <vt:lpstr>Sequence Labeling</vt:lpstr>
      <vt:lpstr>Formulating segmentation tasks as sequence labeling via B-I-O labeling: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Microsoft Office User</cp:lastModifiedBy>
  <cp:revision>817</cp:revision>
  <dcterms:created xsi:type="dcterms:W3CDTF">2015-08-31T18:15:35Z</dcterms:created>
  <dcterms:modified xsi:type="dcterms:W3CDTF">2018-04-30T22:46:37Z</dcterms:modified>
</cp:coreProperties>
</file>