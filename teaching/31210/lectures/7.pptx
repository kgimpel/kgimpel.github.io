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Default Extension="emf" ContentType="image/x-em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8"/>
  </p:notesMasterIdLst>
  <p:handoutMasterIdLst>
    <p:handoutMasterId r:id="rId39"/>
  </p:handoutMasterIdLst>
  <p:sldIdLst>
    <p:sldId id="256" r:id="rId2"/>
    <p:sldId id="815" r:id="rId3"/>
    <p:sldId id="817" r:id="rId4"/>
    <p:sldId id="826" r:id="rId5"/>
    <p:sldId id="830" r:id="rId6"/>
    <p:sldId id="831" r:id="rId7"/>
    <p:sldId id="856" r:id="rId8"/>
    <p:sldId id="855" r:id="rId9"/>
    <p:sldId id="860" r:id="rId10"/>
    <p:sldId id="859" r:id="rId11"/>
    <p:sldId id="857" r:id="rId12"/>
    <p:sldId id="858" r:id="rId13"/>
    <p:sldId id="875" r:id="rId14"/>
    <p:sldId id="869" r:id="rId15"/>
    <p:sldId id="873" r:id="rId16"/>
    <p:sldId id="872" r:id="rId17"/>
    <p:sldId id="874" r:id="rId18"/>
    <p:sldId id="824" r:id="rId19"/>
    <p:sldId id="825" r:id="rId20"/>
    <p:sldId id="821" r:id="rId21"/>
    <p:sldId id="823" r:id="rId22"/>
    <p:sldId id="822" r:id="rId23"/>
    <p:sldId id="841" r:id="rId24"/>
    <p:sldId id="850" r:id="rId25"/>
    <p:sldId id="849" r:id="rId26"/>
    <p:sldId id="851" r:id="rId27"/>
    <p:sldId id="802" r:id="rId28"/>
    <p:sldId id="843" r:id="rId29"/>
    <p:sldId id="842" r:id="rId30"/>
    <p:sldId id="804" r:id="rId31"/>
    <p:sldId id="805" r:id="rId32"/>
    <p:sldId id="806" r:id="rId33"/>
    <p:sldId id="807" r:id="rId34"/>
    <p:sldId id="808" r:id="rId35"/>
    <p:sldId id="809" r:id="rId36"/>
    <p:sldId id="810" r:id="rId3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C0000"/>
    <a:srgbClr val="288CD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900"/>
    <p:restoredTop sz="87280" autoAdjust="0"/>
  </p:normalViewPr>
  <p:slideViewPr>
    <p:cSldViewPr snapToGrid="0" snapToObjects="1">
      <p:cViewPr varScale="1">
        <p:scale>
          <a:sx n="112" d="100"/>
          <a:sy n="112" d="100"/>
        </p:scale>
        <p:origin x="-3304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9" Type="http://schemas.openxmlformats.org/officeDocument/2006/relationships/slide" Target="slides/slide8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37" Type="http://schemas.openxmlformats.org/officeDocument/2006/relationships/slide" Target="slides/slide36.xml"/><Relationship Id="rId38" Type="http://schemas.openxmlformats.org/officeDocument/2006/relationships/notesMaster" Target="notesMasters/notesMaster1.xml"/><Relationship Id="rId39" Type="http://schemas.openxmlformats.org/officeDocument/2006/relationships/handoutMaster" Target="handoutMasters/handoutMaster1.xml"/><Relationship Id="rId40" Type="http://schemas.openxmlformats.org/officeDocument/2006/relationships/printerSettings" Target="printerSettings/printerSettings1.bin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664593-8E4E-8747-9BDB-DA84BDED518C}" type="datetime1">
              <a:rPr lang="en-US" smtClean="0"/>
              <a:t>5/2/17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2E5790-10E5-C04B-864A-21F4E57B9F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104023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A541DB-7577-ED4C-AF0A-388D8C680A39}" type="datetime1">
              <a:rPr lang="en-US" smtClean="0"/>
              <a:t>5/2/17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1B48C7-8E5C-9640-8445-8A9544EEA5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63304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844083" fontAlgn="base">
              <a:spcBef>
                <a:spcPct val="30000"/>
              </a:spcBef>
              <a:spcAft>
                <a:spcPct val="0"/>
              </a:spcAft>
              <a:defRPr/>
            </a:pPr>
            <a:r>
              <a:rPr lang="en-US" dirty="0" smtClean="0"/>
              <a:t>These are nice because word similarities can be computed using distance functions in these continuous spaces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9EE786-5231-4CAC-9122-1CD64C9192C1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41373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1B48C7-8E5C-9640-8445-8A9544EEA54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80282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1B48C7-8E5C-9640-8445-8A9544EEA549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75252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1B48C7-8E5C-9640-8445-8A9544EEA549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75252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1B48C7-8E5C-9640-8445-8A9544EEA549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75252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1B48C7-8E5C-9640-8445-8A9544EEA549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802820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1B48C7-8E5C-9640-8445-8A9544EEA549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802820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1B48C7-8E5C-9640-8445-8A9544EEA549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752528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1B48C7-8E5C-9640-8445-8A9544EEA549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752528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1B48C7-8E5C-9640-8445-8A9544EEA549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752528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1B48C7-8E5C-9640-8445-8A9544EEA549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75252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CD7B2-AEA0-D043-916D-6794629D2DCA}" type="datetime1">
              <a:rPr lang="en-US" smtClean="0"/>
              <a:t>5/2/17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3995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68728-3264-AF4F-9CE5-FA0C8D0912D9}" type="datetime1">
              <a:rPr lang="en-US" smtClean="0"/>
              <a:t>5/2/17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9465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B400C-B81F-7045-98E0-E0086ED4BE98}" type="datetime1">
              <a:rPr lang="en-US" smtClean="0"/>
              <a:t>5/2/17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4559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F1F27A-F732-8B4A-9B27-686442D49E4C}" type="datetime1">
              <a:rPr lang="en-US" smtClean="0"/>
              <a:t>5/2/17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53053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171ED0-786B-FC43-99CE-2369D6469C8C}" type="datetime1">
              <a:rPr lang="en-US" smtClean="0"/>
              <a:t>5/2/17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43111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F05BA2-5204-E043-BD0E-95E8A7C0A256}" type="datetime1">
              <a:rPr lang="en-US" smtClean="0"/>
              <a:t>5/2/17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93770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B0B10-84AC-A845-8EBB-B973F6A52188}" type="datetime1">
              <a:rPr lang="en-US" smtClean="0"/>
              <a:t>5/2/17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68174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13713-D95F-9C47-88D3-6BB1CDB9F1E4}" type="datetime1">
              <a:rPr lang="en-US" smtClean="0"/>
              <a:t>5/2/17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70952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6023A-8A28-1649-91E1-905AF24D9B1C}" type="datetime1">
              <a:rPr lang="en-US" smtClean="0"/>
              <a:t>5/2/17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0874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BA977-597A-F949-8426-B66CA967B053}" type="datetime1">
              <a:rPr lang="en-US" smtClean="0"/>
              <a:t>5/2/17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78594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14735-0AB7-1A46-9AC6-2D030CB4F2E1}" type="datetime1">
              <a:rPr lang="en-US" smtClean="0"/>
              <a:t>5/2/17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8555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171398"/>
            <a:ext cx="8229600" cy="7268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073740"/>
            <a:ext cx="8229600" cy="50524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EB2050-0557-6041-8605-A9AD7CC206C9}" type="datetime1">
              <a:rPr lang="en-US" smtClean="0"/>
              <a:t>5/2/17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FF3AF9-2D61-8E40-AE3D-8390D801ED2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61579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4" Type="http://schemas.openxmlformats.org/officeDocument/2006/relationships/image" Target="../media/image5.emf"/><Relationship Id="rId5" Type="http://schemas.openxmlformats.org/officeDocument/2006/relationships/image" Target="../media/image6.emf"/><Relationship Id="rId6" Type="http://schemas.openxmlformats.org/officeDocument/2006/relationships/image" Target="../media/image7.emf"/><Relationship Id="rId7" Type="http://schemas.openxmlformats.org/officeDocument/2006/relationships/image" Target="../media/image8.emf"/><Relationship Id="rId8" Type="http://schemas.openxmlformats.org/officeDocument/2006/relationships/image" Target="../media/image9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4" Type="http://schemas.openxmlformats.org/officeDocument/2006/relationships/image" Target="../media/image12.emf"/><Relationship Id="rId5" Type="http://schemas.openxmlformats.org/officeDocument/2006/relationships/image" Target="../media/image13.emf"/><Relationship Id="rId6" Type="http://schemas.openxmlformats.org/officeDocument/2006/relationships/image" Target="../media/image14.emf"/><Relationship Id="rId7" Type="http://schemas.openxmlformats.org/officeDocument/2006/relationships/image" Target="../media/image15.emf"/><Relationship Id="rId8" Type="http://schemas.openxmlformats.org/officeDocument/2006/relationships/image" Target="../media/image16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4" Type="http://schemas.openxmlformats.org/officeDocument/2006/relationships/image" Target="../media/image12.emf"/><Relationship Id="rId5" Type="http://schemas.openxmlformats.org/officeDocument/2006/relationships/image" Target="../media/image13.emf"/><Relationship Id="rId6" Type="http://schemas.openxmlformats.org/officeDocument/2006/relationships/image" Target="../media/image14.emf"/><Relationship Id="rId7" Type="http://schemas.openxmlformats.org/officeDocument/2006/relationships/image" Target="../media/image15.emf"/><Relationship Id="rId8" Type="http://schemas.openxmlformats.org/officeDocument/2006/relationships/image" Target="../media/image17.emf"/><Relationship Id="rId9" Type="http://schemas.openxmlformats.org/officeDocument/2006/relationships/image" Target="../media/image16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4" Type="http://schemas.openxmlformats.org/officeDocument/2006/relationships/image" Target="../media/image12.emf"/><Relationship Id="rId5" Type="http://schemas.openxmlformats.org/officeDocument/2006/relationships/image" Target="../media/image13.emf"/><Relationship Id="rId6" Type="http://schemas.openxmlformats.org/officeDocument/2006/relationships/image" Target="../media/image17.emf"/><Relationship Id="rId7" Type="http://schemas.openxmlformats.org/officeDocument/2006/relationships/image" Target="../media/image14.emf"/><Relationship Id="rId8" Type="http://schemas.openxmlformats.org/officeDocument/2006/relationships/image" Target="../media/image15.emf"/><Relationship Id="rId9" Type="http://schemas.openxmlformats.org/officeDocument/2006/relationships/image" Target="../media/image16.emf"/><Relationship Id="rId10" Type="http://schemas.openxmlformats.org/officeDocument/2006/relationships/image" Target="../media/image18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4" Type="http://schemas.openxmlformats.org/officeDocument/2006/relationships/image" Target="../media/image12.emf"/><Relationship Id="rId5" Type="http://schemas.openxmlformats.org/officeDocument/2006/relationships/image" Target="../media/image13.emf"/><Relationship Id="rId6" Type="http://schemas.openxmlformats.org/officeDocument/2006/relationships/image" Target="../media/image19.emf"/><Relationship Id="rId7" Type="http://schemas.openxmlformats.org/officeDocument/2006/relationships/image" Target="../media/image18.emf"/><Relationship Id="rId8" Type="http://schemas.openxmlformats.org/officeDocument/2006/relationships/image" Target="../media/image14.emf"/><Relationship Id="rId9" Type="http://schemas.openxmlformats.org/officeDocument/2006/relationships/image" Target="../media/image15.emf"/><Relationship Id="rId10" Type="http://schemas.openxmlformats.org/officeDocument/2006/relationships/image" Target="../media/image16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emf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1" Type="http://schemas.openxmlformats.org/officeDocument/2006/relationships/image" Target="../media/image25.emf"/><Relationship Id="rId12" Type="http://schemas.openxmlformats.org/officeDocument/2006/relationships/image" Target="../media/image26.emf"/><Relationship Id="rId13" Type="http://schemas.openxmlformats.org/officeDocument/2006/relationships/image" Target="../media/image27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emf"/><Relationship Id="rId3" Type="http://schemas.openxmlformats.org/officeDocument/2006/relationships/image" Target="../media/image11.emf"/><Relationship Id="rId4" Type="http://schemas.openxmlformats.org/officeDocument/2006/relationships/image" Target="../media/image12.emf"/><Relationship Id="rId5" Type="http://schemas.openxmlformats.org/officeDocument/2006/relationships/image" Target="../media/image13.emf"/><Relationship Id="rId6" Type="http://schemas.openxmlformats.org/officeDocument/2006/relationships/image" Target="../media/image14.emf"/><Relationship Id="rId7" Type="http://schemas.openxmlformats.org/officeDocument/2006/relationships/image" Target="../media/image15.emf"/><Relationship Id="rId8" Type="http://schemas.openxmlformats.org/officeDocument/2006/relationships/image" Target="../media/image16.emf"/><Relationship Id="rId9" Type="http://schemas.openxmlformats.org/officeDocument/2006/relationships/image" Target="../media/image23.emf"/><Relationship Id="rId10" Type="http://schemas.openxmlformats.org/officeDocument/2006/relationships/image" Target="../media/image24.emf"/></Relationships>
</file>

<file path=ppt/slides/_rels/slide15.xml.rels><?xml version="1.0" encoding="UTF-8" standalone="yes"?>
<Relationships xmlns="http://schemas.openxmlformats.org/package/2006/relationships"><Relationship Id="rId11" Type="http://schemas.openxmlformats.org/officeDocument/2006/relationships/image" Target="../media/image24.emf"/><Relationship Id="rId12" Type="http://schemas.openxmlformats.org/officeDocument/2006/relationships/image" Target="../media/image25.emf"/><Relationship Id="rId13" Type="http://schemas.openxmlformats.org/officeDocument/2006/relationships/image" Target="../media/image26.emf"/><Relationship Id="rId14" Type="http://schemas.openxmlformats.org/officeDocument/2006/relationships/image" Target="../media/image27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emf"/><Relationship Id="rId3" Type="http://schemas.openxmlformats.org/officeDocument/2006/relationships/image" Target="../media/image11.emf"/><Relationship Id="rId4" Type="http://schemas.openxmlformats.org/officeDocument/2006/relationships/image" Target="../media/image12.emf"/><Relationship Id="rId5" Type="http://schemas.openxmlformats.org/officeDocument/2006/relationships/image" Target="../media/image13.emf"/><Relationship Id="rId6" Type="http://schemas.openxmlformats.org/officeDocument/2006/relationships/image" Target="../media/image14.emf"/><Relationship Id="rId7" Type="http://schemas.openxmlformats.org/officeDocument/2006/relationships/image" Target="../media/image15.emf"/><Relationship Id="rId8" Type="http://schemas.openxmlformats.org/officeDocument/2006/relationships/image" Target="../media/image16.emf"/><Relationship Id="rId9" Type="http://schemas.openxmlformats.org/officeDocument/2006/relationships/image" Target="../media/image23.emf"/><Relationship Id="rId10" Type="http://schemas.openxmlformats.org/officeDocument/2006/relationships/image" Target="../media/image28.emf"/></Relationships>
</file>

<file path=ppt/slides/_rels/slide16.xml.rels><?xml version="1.0" encoding="UTF-8" standalone="yes"?>
<Relationships xmlns="http://schemas.openxmlformats.org/package/2006/relationships"><Relationship Id="rId11" Type="http://schemas.openxmlformats.org/officeDocument/2006/relationships/image" Target="../media/image25.emf"/><Relationship Id="rId12" Type="http://schemas.openxmlformats.org/officeDocument/2006/relationships/image" Target="../media/image26.emf"/><Relationship Id="rId13" Type="http://schemas.openxmlformats.org/officeDocument/2006/relationships/image" Target="../media/image27.emf"/><Relationship Id="rId14" Type="http://schemas.openxmlformats.org/officeDocument/2006/relationships/image" Target="../media/image29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emf"/><Relationship Id="rId3" Type="http://schemas.openxmlformats.org/officeDocument/2006/relationships/image" Target="../media/image11.emf"/><Relationship Id="rId4" Type="http://schemas.openxmlformats.org/officeDocument/2006/relationships/image" Target="../media/image12.emf"/><Relationship Id="rId5" Type="http://schemas.openxmlformats.org/officeDocument/2006/relationships/image" Target="../media/image13.emf"/><Relationship Id="rId6" Type="http://schemas.openxmlformats.org/officeDocument/2006/relationships/image" Target="../media/image14.emf"/><Relationship Id="rId7" Type="http://schemas.openxmlformats.org/officeDocument/2006/relationships/image" Target="../media/image15.emf"/><Relationship Id="rId8" Type="http://schemas.openxmlformats.org/officeDocument/2006/relationships/image" Target="../media/image16.emf"/><Relationship Id="rId9" Type="http://schemas.openxmlformats.org/officeDocument/2006/relationships/image" Target="../media/image28.emf"/><Relationship Id="rId10" Type="http://schemas.openxmlformats.org/officeDocument/2006/relationships/image" Target="../media/image24.emf"/></Relationships>
</file>

<file path=ppt/slides/_rels/slide17.xml.rels><?xml version="1.0" encoding="UTF-8" standalone="yes"?>
<Relationships xmlns="http://schemas.openxmlformats.org/package/2006/relationships"><Relationship Id="rId11" Type="http://schemas.openxmlformats.org/officeDocument/2006/relationships/image" Target="../media/image26.emf"/><Relationship Id="rId12" Type="http://schemas.openxmlformats.org/officeDocument/2006/relationships/image" Target="../media/image27.emf"/><Relationship Id="rId13" Type="http://schemas.openxmlformats.org/officeDocument/2006/relationships/image" Target="../media/image30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emf"/><Relationship Id="rId3" Type="http://schemas.openxmlformats.org/officeDocument/2006/relationships/image" Target="../media/image11.emf"/><Relationship Id="rId4" Type="http://schemas.openxmlformats.org/officeDocument/2006/relationships/image" Target="../media/image12.emf"/><Relationship Id="rId5" Type="http://schemas.openxmlformats.org/officeDocument/2006/relationships/image" Target="../media/image13.emf"/><Relationship Id="rId6" Type="http://schemas.openxmlformats.org/officeDocument/2006/relationships/image" Target="../media/image14.emf"/><Relationship Id="rId7" Type="http://schemas.openxmlformats.org/officeDocument/2006/relationships/image" Target="../media/image15.emf"/><Relationship Id="rId8" Type="http://schemas.openxmlformats.org/officeDocument/2006/relationships/image" Target="../media/image16.emf"/><Relationship Id="rId9" Type="http://schemas.openxmlformats.org/officeDocument/2006/relationships/image" Target="../media/image24.emf"/><Relationship Id="rId10" Type="http://schemas.openxmlformats.org/officeDocument/2006/relationships/image" Target="../media/image25.emf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1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2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3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4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5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6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7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7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7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7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7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390525"/>
            <a:ext cx="7772400" cy="1470025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TTIC 31210:</a:t>
            </a:r>
            <a:br>
              <a:rPr lang="en-US" dirty="0" smtClean="0"/>
            </a:br>
            <a:r>
              <a:rPr lang="en-US" sz="4000" dirty="0" smtClean="0"/>
              <a:t>Advanced Natural Language Processing</a:t>
            </a:r>
            <a:endParaRPr lang="en-US" sz="40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54100" y="1993899"/>
            <a:ext cx="7061200" cy="4181067"/>
          </a:xfrm>
        </p:spPr>
        <p:txBody>
          <a:bodyPr>
            <a:normAutofit/>
          </a:bodyPr>
          <a:lstStyle/>
          <a:p>
            <a:r>
              <a:rPr lang="en-US" dirty="0" smtClean="0">
                <a:solidFill>
                  <a:schemeClr val="tx1"/>
                </a:solidFill>
              </a:rPr>
              <a:t>Kevin Gimpel</a:t>
            </a:r>
          </a:p>
          <a:p>
            <a:r>
              <a:rPr lang="en-US" dirty="0" smtClean="0">
                <a:solidFill>
                  <a:schemeClr val="tx1"/>
                </a:solidFill>
              </a:rPr>
              <a:t>Spring 2017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sz="4000" dirty="0" smtClean="0">
                <a:solidFill>
                  <a:schemeClr val="tx1"/>
                </a:solidFill>
              </a:rPr>
              <a:t>Lecture 7:</a:t>
            </a:r>
          </a:p>
          <a:p>
            <a:r>
              <a:rPr lang="en-US" sz="4000" dirty="0" smtClean="0">
                <a:solidFill>
                  <a:schemeClr val="tx1"/>
                </a:solidFill>
              </a:rPr>
              <a:t>Sequence-to-Sequence Modeling</a:t>
            </a:r>
          </a:p>
          <a:p>
            <a:r>
              <a:rPr lang="en-US" sz="4000" dirty="0" smtClean="0">
                <a:solidFill>
                  <a:schemeClr val="tx1"/>
                </a:solidFill>
              </a:rPr>
              <a:t>and Attention</a:t>
            </a:r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82031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Sequence-to-Sequence Modeling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73740"/>
            <a:ext cx="8398410" cy="5052424"/>
          </a:xfrm>
        </p:spPr>
        <p:txBody>
          <a:bodyPr/>
          <a:lstStyle/>
          <a:p>
            <a:r>
              <a:rPr lang="en-US" dirty="0" smtClean="0"/>
              <a:t>data: &lt;input sequence, output sequence&gt; pairs</a:t>
            </a:r>
          </a:p>
          <a:p>
            <a:r>
              <a:rPr lang="en-US" dirty="0" smtClean="0"/>
              <a:t>use one RNN to encode input sequence</a:t>
            </a:r>
          </a:p>
          <a:p>
            <a:r>
              <a:rPr lang="en-US" dirty="0" smtClean="0"/>
              <a:t>use another RNN to decode the output sequence from the input sequence vector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239156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F820A7-D46B-46D8-A3CF-66A8CEAA457D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762000" y="914400"/>
            <a:ext cx="1295400" cy="838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384180" y="5943600"/>
            <a:ext cx="86868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n-US" sz="2000" b="1" i="0" dirty="0" smtClean="0">
                <a:solidFill>
                  <a:srgbClr val="288CD2"/>
                </a:solidFill>
                <a:latin typeface="Calibri"/>
                <a:cs typeface="Calibri"/>
              </a:rPr>
              <a:t>Cho</a:t>
            </a:r>
            <a:r>
              <a:rPr lang="en-US" sz="2000" b="1" i="0" dirty="0">
                <a:solidFill>
                  <a:srgbClr val="288CD2"/>
                </a:solidFill>
                <a:latin typeface="Calibri"/>
                <a:cs typeface="Calibri"/>
              </a:rPr>
              <a:t>, </a:t>
            </a:r>
            <a:r>
              <a:rPr lang="en-US" sz="2000" b="1" i="0" dirty="0" smtClean="0">
                <a:solidFill>
                  <a:srgbClr val="288CD2"/>
                </a:solidFill>
                <a:latin typeface="Calibri"/>
                <a:cs typeface="Calibri"/>
              </a:rPr>
              <a:t>van </a:t>
            </a:r>
            <a:r>
              <a:rPr lang="en-US" sz="2000" b="1" i="0" dirty="0" err="1">
                <a:solidFill>
                  <a:srgbClr val="288CD2"/>
                </a:solidFill>
                <a:latin typeface="Calibri"/>
                <a:cs typeface="Calibri"/>
              </a:rPr>
              <a:t>Merrienboer</a:t>
            </a:r>
            <a:r>
              <a:rPr lang="en-US" sz="2000" b="1" i="0" dirty="0">
                <a:solidFill>
                  <a:srgbClr val="288CD2"/>
                </a:solidFill>
                <a:latin typeface="Calibri"/>
                <a:cs typeface="Calibri"/>
              </a:rPr>
              <a:t>, </a:t>
            </a:r>
            <a:r>
              <a:rPr lang="en-US" sz="2000" b="1" i="0" dirty="0" err="1" smtClean="0">
                <a:solidFill>
                  <a:srgbClr val="288CD2"/>
                </a:solidFill>
                <a:latin typeface="Calibri"/>
                <a:cs typeface="Calibri"/>
              </a:rPr>
              <a:t>Gulcehre</a:t>
            </a:r>
            <a:r>
              <a:rPr lang="en-US" sz="2000" b="1" i="0" dirty="0">
                <a:solidFill>
                  <a:srgbClr val="288CD2"/>
                </a:solidFill>
                <a:latin typeface="Calibri"/>
                <a:cs typeface="Calibri"/>
              </a:rPr>
              <a:t>, </a:t>
            </a:r>
            <a:r>
              <a:rPr lang="en-US" sz="2000" b="1" i="0" dirty="0" err="1" smtClean="0">
                <a:solidFill>
                  <a:srgbClr val="288CD2"/>
                </a:solidFill>
                <a:latin typeface="Calibri"/>
                <a:cs typeface="Calibri"/>
              </a:rPr>
              <a:t>Bahdanau</a:t>
            </a:r>
            <a:r>
              <a:rPr lang="en-US" sz="2000" b="1" i="0" dirty="0">
                <a:solidFill>
                  <a:srgbClr val="288CD2"/>
                </a:solidFill>
                <a:latin typeface="Calibri"/>
                <a:cs typeface="Calibri"/>
              </a:rPr>
              <a:t>, </a:t>
            </a:r>
            <a:r>
              <a:rPr lang="en-US" sz="2000" b="1" i="0" dirty="0" err="1" smtClean="0">
                <a:solidFill>
                  <a:srgbClr val="288CD2"/>
                </a:solidFill>
                <a:latin typeface="Calibri"/>
                <a:cs typeface="Calibri"/>
              </a:rPr>
              <a:t>Bougares</a:t>
            </a:r>
            <a:r>
              <a:rPr lang="en-US" sz="2000" b="1" i="0" dirty="0">
                <a:solidFill>
                  <a:srgbClr val="288CD2"/>
                </a:solidFill>
                <a:latin typeface="Calibri"/>
                <a:cs typeface="Calibri"/>
              </a:rPr>
              <a:t>, </a:t>
            </a:r>
            <a:r>
              <a:rPr lang="en-US" sz="2000" b="1" i="0" dirty="0" err="1" smtClean="0">
                <a:solidFill>
                  <a:srgbClr val="288CD2"/>
                </a:solidFill>
                <a:latin typeface="Calibri"/>
                <a:cs typeface="Calibri"/>
              </a:rPr>
              <a:t>Schwenk</a:t>
            </a:r>
            <a:r>
              <a:rPr lang="en-US" sz="2000" b="1" i="0" dirty="0">
                <a:solidFill>
                  <a:srgbClr val="288CD2"/>
                </a:solidFill>
                <a:latin typeface="Calibri"/>
                <a:cs typeface="Calibri"/>
              </a:rPr>
              <a:t>, </a:t>
            </a:r>
            <a:r>
              <a:rPr lang="en-US" sz="2000" b="1" i="0" dirty="0" err="1" smtClean="0">
                <a:solidFill>
                  <a:srgbClr val="288CD2"/>
                </a:solidFill>
                <a:latin typeface="Calibri"/>
                <a:cs typeface="Calibri"/>
              </a:rPr>
              <a:t>Bengio</a:t>
            </a:r>
            <a:r>
              <a:rPr lang="en-US" sz="2000" b="1" i="0" dirty="0" smtClean="0">
                <a:solidFill>
                  <a:srgbClr val="288CD2"/>
                </a:solidFill>
                <a:latin typeface="Calibri"/>
                <a:cs typeface="Calibri"/>
              </a:rPr>
              <a:t> </a:t>
            </a:r>
            <a:r>
              <a:rPr lang="en-US" sz="2000" b="1" i="0" dirty="0">
                <a:solidFill>
                  <a:srgbClr val="288CD2"/>
                </a:solidFill>
                <a:latin typeface="Calibri"/>
                <a:cs typeface="Calibri"/>
              </a:rPr>
              <a:t>(</a:t>
            </a:r>
            <a:r>
              <a:rPr lang="en-US" sz="2000" b="1" i="0" dirty="0" smtClean="0">
                <a:solidFill>
                  <a:srgbClr val="288CD2"/>
                </a:solidFill>
                <a:latin typeface="Calibri"/>
                <a:cs typeface="Calibri"/>
              </a:rPr>
              <a:t>2014)</a:t>
            </a:r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304800" y="76200"/>
            <a:ext cx="8534400" cy="762000"/>
          </a:xfrm>
        </p:spPr>
        <p:txBody>
          <a:bodyPr/>
          <a:lstStyle/>
          <a:p>
            <a:r>
              <a:rPr lang="en-US" sz="3200" dirty="0" smtClean="0"/>
              <a:t>Application: Machine Translation</a:t>
            </a:r>
            <a:endParaRPr lang="en-US" sz="2400" dirty="0">
              <a:solidFill>
                <a:srgbClr val="288CD2"/>
              </a:solidFill>
            </a:endParaRPr>
          </a:p>
        </p:txBody>
      </p:sp>
      <p:sp>
        <p:nvSpPr>
          <p:cNvPr id="11" name="Content Placeholder 2"/>
          <p:cNvSpPr>
            <a:spLocks noGrp="1"/>
          </p:cNvSpPr>
          <p:nvPr>
            <p:ph idx="1"/>
          </p:nvPr>
        </p:nvSpPr>
        <p:spPr>
          <a:xfrm>
            <a:off x="304800" y="838200"/>
            <a:ext cx="8229600" cy="1752600"/>
          </a:xfrm>
        </p:spPr>
        <p:txBody>
          <a:bodyPr/>
          <a:lstStyle/>
          <a:p>
            <a:r>
              <a:rPr lang="en-US" sz="2800" dirty="0" smtClean="0"/>
              <a:t>Encode source sentence, decode translation</a:t>
            </a:r>
            <a:endParaRPr lang="en-US" sz="2800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4606"/>
          <a:stretch/>
        </p:blipFill>
        <p:spPr>
          <a:xfrm>
            <a:off x="0" y="1981200"/>
            <a:ext cx="9144000" cy="1913467"/>
          </a:xfrm>
          <a:prstGeom prst="rect">
            <a:avLst/>
          </a:prstGeom>
        </p:spPr>
      </p:pic>
      <p:sp>
        <p:nvSpPr>
          <p:cNvPr id="13" name="TextBox 12"/>
          <p:cNvSpPr txBox="1">
            <a:spLocks noChangeArrowheads="1"/>
          </p:cNvSpPr>
          <p:nvPr/>
        </p:nvSpPr>
        <p:spPr bwMode="auto">
          <a:xfrm>
            <a:off x="5562600" y="5562600"/>
            <a:ext cx="36576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n-US" sz="2000" b="1" i="0" dirty="0" err="1" smtClean="0">
                <a:solidFill>
                  <a:srgbClr val="288CD2"/>
                </a:solidFill>
                <a:latin typeface="Calibri"/>
                <a:cs typeface="Calibri"/>
              </a:rPr>
              <a:t>Sutskever</a:t>
            </a:r>
            <a:r>
              <a:rPr lang="en-US" sz="2000" b="1" i="0" dirty="0" smtClean="0">
                <a:solidFill>
                  <a:srgbClr val="288CD2"/>
                </a:solidFill>
                <a:latin typeface="Calibri"/>
                <a:cs typeface="Calibri"/>
              </a:rPr>
              <a:t>, </a:t>
            </a:r>
            <a:r>
              <a:rPr lang="en-US" sz="2000" b="1" i="0" dirty="0" err="1" smtClean="0">
                <a:solidFill>
                  <a:srgbClr val="288CD2"/>
                </a:solidFill>
                <a:latin typeface="Calibri"/>
                <a:cs typeface="Calibri"/>
              </a:rPr>
              <a:t>Vinyals</a:t>
            </a:r>
            <a:r>
              <a:rPr lang="en-US" sz="2000" b="1" i="0" dirty="0" smtClean="0">
                <a:solidFill>
                  <a:srgbClr val="288CD2"/>
                </a:solidFill>
                <a:latin typeface="Calibri"/>
                <a:cs typeface="Calibri"/>
              </a:rPr>
              <a:t>, Le (2014)</a:t>
            </a:r>
          </a:p>
        </p:txBody>
      </p:sp>
    </p:spTree>
    <p:extLst>
      <p:ext uri="{BB962C8B-B14F-4D97-AF65-F5344CB8AC3E}">
        <p14:creationId xmlns:p14="http://schemas.microsoft.com/office/powerpoint/2010/main" val="250233391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Application: </a:t>
            </a:r>
            <a:r>
              <a:rPr lang="en-US" dirty="0" err="1" smtClean="0"/>
              <a:t>Chatbots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4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5205380" y="6002407"/>
            <a:ext cx="3742581" cy="707886"/>
          </a:xfrm>
          <a:prstGeom prst="rect">
            <a:avLst/>
          </a:prstGeom>
          <a:noFill/>
          <a:ln w="28575">
            <a:noFill/>
          </a:ln>
        </p:spPr>
        <p:txBody>
          <a:bodyPr wrap="none" rtlCol="0">
            <a:spAutoFit/>
          </a:bodyPr>
          <a:lstStyle/>
          <a:p>
            <a:r>
              <a:rPr lang="en-US" sz="2000" b="1" dirty="0" smtClean="0">
                <a:solidFill>
                  <a:srgbClr val="288CD2"/>
                </a:solidFill>
              </a:rPr>
              <a:t>“A Neural Conversational Model”</a:t>
            </a:r>
            <a:endParaRPr lang="en-US" sz="2000" b="1" dirty="0">
              <a:solidFill>
                <a:srgbClr val="288CD2"/>
              </a:solidFill>
            </a:endParaRPr>
          </a:p>
          <a:p>
            <a:r>
              <a:rPr lang="en-US" sz="2000" b="1" dirty="0" err="1" smtClean="0">
                <a:solidFill>
                  <a:srgbClr val="288CD2"/>
                </a:solidFill>
              </a:rPr>
              <a:t>Vinyals</a:t>
            </a:r>
            <a:r>
              <a:rPr lang="en-US" sz="2000" b="1" dirty="0" smtClean="0">
                <a:solidFill>
                  <a:srgbClr val="288CD2"/>
                </a:solidFill>
              </a:rPr>
              <a:t> &amp; Le (2015)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/>
          <a:srcRect t="11759"/>
          <a:stretch/>
        </p:blipFill>
        <p:spPr>
          <a:xfrm>
            <a:off x="1845798" y="1056993"/>
            <a:ext cx="5970747" cy="4850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44028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6539"/>
            <a:ext cx="8229600" cy="632513"/>
          </a:xfrm>
        </p:spPr>
        <p:txBody>
          <a:bodyPr>
            <a:normAutofit fontScale="90000"/>
          </a:bodyPr>
          <a:lstStyle/>
          <a:p>
            <a:r>
              <a:rPr lang="en-US" sz="3600" dirty="0" smtClean="0"/>
              <a:t>Input RNN (“Encoder”)</a:t>
            </a:r>
            <a:endParaRPr lang="en-US" sz="3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F820A7-D46B-46D8-A3CF-66A8CEAA457D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5" name="Oval 4"/>
          <p:cNvSpPr/>
          <p:nvPr/>
        </p:nvSpPr>
        <p:spPr>
          <a:xfrm>
            <a:off x="2283584" y="2889154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6" name="Oval 5"/>
          <p:cNvSpPr/>
          <p:nvPr/>
        </p:nvSpPr>
        <p:spPr>
          <a:xfrm>
            <a:off x="4121619" y="2879917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7" name="Oval 6"/>
          <p:cNvSpPr/>
          <p:nvPr/>
        </p:nvSpPr>
        <p:spPr>
          <a:xfrm>
            <a:off x="5948108" y="2893772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9" name="Straight Arrow Connector 8"/>
          <p:cNvCxnSpPr>
            <a:stCxn id="5" idx="6"/>
            <a:endCxn id="6" idx="2"/>
          </p:cNvCxnSpPr>
          <p:nvPr/>
        </p:nvCxnSpPr>
        <p:spPr bwMode="auto">
          <a:xfrm flipV="1">
            <a:off x="3186442" y="3331346"/>
            <a:ext cx="935177" cy="9237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" name="Straight Arrow Connector 9"/>
          <p:cNvCxnSpPr>
            <a:stCxn id="6" idx="6"/>
            <a:endCxn id="7" idx="2"/>
          </p:cNvCxnSpPr>
          <p:nvPr/>
        </p:nvCxnSpPr>
        <p:spPr bwMode="auto">
          <a:xfrm>
            <a:off x="5024477" y="3331346"/>
            <a:ext cx="923631" cy="13855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8" name="TextBox 27"/>
          <p:cNvSpPr txBox="1">
            <a:spLocks noChangeArrowheads="1"/>
          </p:cNvSpPr>
          <p:nvPr/>
        </p:nvSpPr>
        <p:spPr bwMode="auto">
          <a:xfrm>
            <a:off x="-11652" y="3033931"/>
            <a:ext cx="2297545" cy="553998"/>
          </a:xfrm>
          <a:prstGeom prst="rect">
            <a:avLst/>
          </a:prstGeom>
          <a:noFill/>
          <a:ln w="57150" cmpd="sng">
            <a:noFill/>
            <a:miter lim="800000"/>
            <a:headEnd/>
            <a:tailEnd/>
          </a:ln>
          <a:extLst/>
        </p:spPr>
        <p:txBody>
          <a:bodyPr wrap="square" lIns="91440" tIns="91440" rIns="91440" bIns="91440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n-US" sz="2400" i="0" dirty="0" smtClean="0">
                <a:solidFill>
                  <a:srgbClr val="C50C0C"/>
                </a:solidFill>
                <a:latin typeface="Calibri"/>
                <a:cs typeface="Calibri"/>
              </a:rPr>
              <a:t>“hidden vector”</a:t>
            </a:r>
            <a:endParaRPr lang="en-US" i="0" dirty="0" smtClean="0">
              <a:solidFill>
                <a:srgbClr val="C50C0C"/>
              </a:solidFill>
              <a:latin typeface="Calibri"/>
              <a:cs typeface="Calibri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7581" y="3181640"/>
            <a:ext cx="279400" cy="2794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6765" y="3181640"/>
            <a:ext cx="584200" cy="27940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7347" y="3181640"/>
            <a:ext cx="571500" cy="27940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17347" y="4538952"/>
            <a:ext cx="571500" cy="279400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63115" y="4538952"/>
            <a:ext cx="571500" cy="279400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37581" y="4538952"/>
            <a:ext cx="279400" cy="279400"/>
          </a:xfrm>
          <a:prstGeom prst="rect">
            <a:avLst/>
          </a:prstGeom>
        </p:spPr>
      </p:pic>
      <p:pic>
        <p:nvPicPr>
          <p:cNvPr id="33" name="Picture 3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56848" y="1775333"/>
            <a:ext cx="5194300" cy="558800"/>
          </a:xfrm>
          <a:prstGeom prst="rect">
            <a:avLst/>
          </a:prstGeom>
        </p:spPr>
      </p:pic>
      <p:sp>
        <p:nvSpPr>
          <p:cNvPr id="23" name="Oval 22"/>
          <p:cNvSpPr/>
          <p:nvPr/>
        </p:nvSpPr>
        <p:spPr>
          <a:xfrm>
            <a:off x="2283584" y="4239885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29" name="Oval 28"/>
          <p:cNvSpPr/>
          <p:nvPr/>
        </p:nvSpPr>
        <p:spPr>
          <a:xfrm>
            <a:off x="4121619" y="4230648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30" name="Oval 29"/>
          <p:cNvSpPr/>
          <p:nvPr/>
        </p:nvSpPr>
        <p:spPr>
          <a:xfrm>
            <a:off x="5948108" y="4244503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31" name="Straight Arrow Connector 30"/>
          <p:cNvCxnSpPr>
            <a:stCxn id="23" idx="0"/>
          </p:cNvCxnSpPr>
          <p:nvPr/>
        </p:nvCxnSpPr>
        <p:spPr bwMode="auto">
          <a:xfrm flipV="1">
            <a:off x="2735013" y="3792012"/>
            <a:ext cx="0" cy="447873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6" name="Straight Arrow Connector 35"/>
          <p:cNvCxnSpPr/>
          <p:nvPr/>
        </p:nvCxnSpPr>
        <p:spPr bwMode="auto">
          <a:xfrm flipV="1">
            <a:off x="4565680" y="3782775"/>
            <a:ext cx="0" cy="447873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7" name="Straight Arrow Connector 36"/>
          <p:cNvCxnSpPr/>
          <p:nvPr/>
        </p:nvCxnSpPr>
        <p:spPr bwMode="auto">
          <a:xfrm flipV="1">
            <a:off x="6391361" y="3796630"/>
            <a:ext cx="0" cy="447873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212533275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6539"/>
            <a:ext cx="8229600" cy="632513"/>
          </a:xfrm>
        </p:spPr>
        <p:txBody>
          <a:bodyPr>
            <a:normAutofit fontScale="90000"/>
          </a:bodyPr>
          <a:lstStyle/>
          <a:p>
            <a:r>
              <a:rPr lang="en-US" sz="3600" dirty="0" smtClean="0"/>
              <a:t>Output RNN (“Decoder”)</a:t>
            </a:r>
            <a:endParaRPr lang="en-US" sz="3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F820A7-D46B-46D8-A3CF-66A8CEAA457D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5" name="Oval 4"/>
          <p:cNvSpPr/>
          <p:nvPr/>
        </p:nvSpPr>
        <p:spPr>
          <a:xfrm>
            <a:off x="2283584" y="2889154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6" name="Oval 5"/>
          <p:cNvSpPr/>
          <p:nvPr/>
        </p:nvSpPr>
        <p:spPr>
          <a:xfrm>
            <a:off x="4121619" y="2879917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7" name="Oval 6"/>
          <p:cNvSpPr/>
          <p:nvPr/>
        </p:nvSpPr>
        <p:spPr>
          <a:xfrm>
            <a:off x="5948108" y="2893772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9" name="Straight Arrow Connector 8"/>
          <p:cNvCxnSpPr>
            <a:stCxn id="5" idx="6"/>
            <a:endCxn id="6" idx="2"/>
          </p:cNvCxnSpPr>
          <p:nvPr/>
        </p:nvCxnSpPr>
        <p:spPr bwMode="auto">
          <a:xfrm flipV="1">
            <a:off x="3186442" y="3331346"/>
            <a:ext cx="935177" cy="9237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" name="Straight Arrow Connector 9"/>
          <p:cNvCxnSpPr>
            <a:stCxn id="6" idx="6"/>
            <a:endCxn id="7" idx="2"/>
          </p:cNvCxnSpPr>
          <p:nvPr/>
        </p:nvCxnSpPr>
        <p:spPr bwMode="auto">
          <a:xfrm>
            <a:off x="5024477" y="3331346"/>
            <a:ext cx="923631" cy="13855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" name="Oval 12"/>
          <p:cNvSpPr/>
          <p:nvPr/>
        </p:nvSpPr>
        <p:spPr>
          <a:xfrm>
            <a:off x="2285893" y="1545184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24" name="Oval 23"/>
          <p:cNvSpPr/>
          <p:nvPr/>
        </p:nvSpPr>
        <p:spPr>
          <a:xfrm>
            <a:off x="4123929" y="1535948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26" name="Oval 25"/>
          <p:cNvSpPr/>
          <p:nvPr/>
        </p:nvSpPr>
        <p:spPr>
          <a:xfrm>
            <a:off x="5948111" y="1547493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28" name="TextBox 27"/>
          <p:cNvSpPr txBox="1">
            <a:spLocks noChangeArrowheads="1"/>
          </p:cNvSpPr>
          <p:nvPr/>
        </p:nvSpPr>
        <p:spPr bwMode="auto">
          <a:xfrm>
            <a:off x="-11652" y="3033931"/>
            <a:ext cx="2297545" cy="553998"/>
          </a:xfrm>
          <a:prstGeom prst="rect">
            <a:avLst/>
          </a:prstGeom>
          <a:noFill/>
          <a:ln w="57150" cmpd="sng">
            <a:noFill/>
            <a:miter lim="800000"/>
            <a:headEnd/>
            <a:tailEnd/>
          </a:ln>
          <a:extLst/>
        </p:spPr>
        <p:txBody>
          <a:bodyPr wrap="square" lIns="91440" tIns="91440" rIns="91440" bIns="91440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n-US" sz="2400" i="0" dirty="0" smtClean="0">
                <a:solidFill>
                  <a:srgbClr val="C50C0C"/>
                </a:solidFill>
                <a:latin typeface="Calibri"/>
                <a:cs typeface="Calibri"/>
              </a:rPr>
              <a:t>“hidden vector”</a:t>
            </a:r>
            <a:endParaRPr lang="en-US" i="0" dirty="0" smtClean="0">
              <a:solidFill>
                <a:srgbClr val="C50C0C"/>
              </a:solidFill>
              <a:latin typeface="Calibri"/>
              <a:cs typeface="Calibri"/>
            </a:endParaRPr>
          </a:p>
        </p:txBody>
      </p:sp>
      <p:sp>
        <p:nvSpPr>
          <p:cNvPr id="41" name="Oval 40"/>
          <p:cNvSpPr/>
          <p:nvPr/>
        </p:nvSpPr>
        <p:spPr>
          <a:xfrm>
            <a:off x="2283584" y="4239885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42" name="Oval 41"/>
          <p:cNvSpPr/>
          <p:nvPr/>
        </p:nvSpPr>
        <p:spPr>
          <a:xfrm>
            <a:off x="4121619" y="4230648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43" name="Oval 42"/>
          <p:cNvSpPr/>
          <p:nvPr/>
        </p:nvSpPr>
        <p:spPr>
          <a:xfrm>
            <a:off x="5948108" y="4244503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46" name="Straight Arrow Connector 45"/>
          <p:cNvCxnSpPr>
            <a:stCxn id="41" idx="0"/>
            <a:endCxn id="5" idx="4"/>
          </p:cNvCxnSpPr>
          <p:nvPr/>
        </p:nvCxnSpPr>
        <p:spPr bwMode="auto">
          <a:xfrm flipV="1">
            <a:off x="2735013" y="3792012"/>
            <a:ext cx="0" cy="447873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4" name="TextBox 53"/>
          <p:cNvSpPr txBox="1">
            <a:spLocks noChangeArrowheads="1"/>
          </p:cNvSpPr>
          <p:nvPr/>
        </p:nvSpPr>
        <p:spPr bwMode="auto">
          <a:xfrm>
            <a:off x="-11652" y="1520249"/>
            <a:ext cx="2297545" cy="923330"/>
          </a:xfrm>
          <a:prstGeom prst="rect">
            <a:avLst/>
          </a:prstGeom>
          <a:noFill/>
          <a:ln w="57150" cmpd="sng">
            <a:noFill/>
            <a:miter lim="800000"/>
            <a:headEnd/>
            <a:tailEnd/>
          </a:ln>
          <a:extLst/>
        </p:spPr>
        <p:txBody>
          <a:bodyPr wrap="square" lIns="91440" tIns="91440" rIns="91440" bIns="91440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n-US" sz="2400" i="0" dirty="0" smtClean="0">
                <a:solidFill>
                  <a:srgbClr val="C50C0C"/>
                </a:solidFill>
                <a:latin typeface="Calibri"/>
                <a:cs typeface="Calibri"/>
              </a:rPr>
              <a:t>“next output symbol”</a:t>
            </a:r>
            <a:endParaRPr lang="en-US" i="0" dirty="0" smtClean="0">
              <a:solidFill>
                <a:srgbClr val="C50C0C"/>
              </a:solidFill>
              <a:latin typeface="Calibri"/>
              <a:cs typeface="Calibri"/>
            </a:endParaRPr>
          </a:p>
        </p:txBody>
      </p:sp>
      <p:pic>
        <p:nvPicPr>
          <p:cNvPr id="29" name="Picture 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0415" y="4511467"/>
            <a:ext cx="584200" cy="368300"/>
          </a:xfrm>
          <a:prstGeom prst="rect">
            <a:avLst/>
          </a:prstGeom>
        </p:spPr>
      </p:pic>
      <p:pic>
        <p:nvPicPr>
          <p:cNvPr id="30" name="Picture 2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7347" y="4511467"/>
            <a:ext cx="584200" cy="368300"/>
          </a:xfrm>
          <a:prstGeom prst="rect">
            <a:avLst/>
          </a:prstGeom>
        </p:spPr>
      </p:pic>
      <p:pic>
        <p:nvPicPr>
          <p:cNvPr id="31" name="Picture 3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3952" y="4511467"/>
            <a:ext cx="266700" cy="355600"/>
          </a:xfrm>
          <a:prstGeom prst="rect">
            <a:avLst/>
          </a:prstGeom>
        </p:spPr>
      </p:pic>
      <p:cxnSp>
        <p:nvCxnSpPr>
          <p:cNvPr id="36" name="Straight Arrow Connector 35"/>
          <p:cNvCxnSpPr/>
          <p:nvPr/>
        </p:nvCxnSpPr>
        <p:spPr bwMode="auto">
          <a:xfrm flipV="1">
            <a:off x="4565680" y="3782775"/>
            <a:ext cx="0" cy="447873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7" name="Straight Arrow Connector 36"/>
          <p:cNvCxnSpPr/>
          <p:nvPr/>
        </p:nvCxnSpPr>
        <p:spPr bwMode="auto">
          <a:xfrm flipV="1">
            <a:off x="6391361" y="3796630"/>
            <a:ext cx="0" cy="447873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8" name="Straight Arrow Connector 37"/>
          <p:cNvCxnSpPr/>
          <p:nvPr/>
        </p:nvCxnSpPr>
        <p:spPr bwMode="auto">
          <a:xfrm flipV="1">
            <a:off x="2735013" y="2448043"/>
            <a:ext cx="0" cy="447873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" name="Straight Arrow Connector 38"/>
          <p:cNvCxnSpPr/>
          <p:nvPr/>
        </p:nvCxnSpPr>
        <p:spPr bwMode="auto">
          <a:xfrm flipV="1">
            <a:off x="4565680" y="2438806"/>
            <a:ext cx="0" cy="447873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" name="Straight Arrow Connector 39"/>
          <p:cNvCxnSpPr/>
          <p:nvPr/>
        </p:nvCxnSpPr>
        <p:spPr bwMode="auto">
          <a:xfrm flipV="1">
            <a:off x="6391361" y="2452661"/>
            <a:ext cx="0" cy="447873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44" name="Picture 4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24343" y="1814064"/>
            <a:ext cx="266700" cy="355600"/>
          </a:xfrm>
          <a:prstGeom prst="rect">
            <a:avLst/>
          </a:prstGeom>
        </p:spPr>
      </p:pic>
      <p:pic>
        <p:nvPicPr>
          <p:cNvPr id="45" name="Picture 4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8940" y="1814064"/>
            <a:ext cx="584200" cy="368300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55447" y="1839464"/>
            <a:ext cx="546100" cy="342900"/>
          </a:xfrm>
          <a:prstGeom prst="rect">
            <a:avLst/>
          </a:prstGeom>
        </p:spPr>
      </p:pic>
      <p:pic>
        <p:nvPicPr>
          <p:cNvPr id="52" name="Picture 5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14363" y="3205501"/>
            <a:ext cx="241300" cy="279400"/>
          </a:xfrm>
          <a:prstGeom prst="rect">
            <a:avLst/>
          </a:prstGeom>
        </p:spPr>
      </p:pic>
      <p:pic>
        <p:nvPicPr>
          <p:cNvPr id="53" name="Picture 5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18940" y="3205501"/>
            <a:ext cx="533400" cy="279400"/>
          </a:xfrm>
          <a:prstGeom prst="rect">
            <a:avLst/>
          </a:prstGeom>
        </p:spPr>
      </p:pic>
      <p:pic>
        <p:nvPicPr>
          <p:cNvPr id="55" name="Picture 5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55447" y="3205501"/>
            <a:ext cx="546100" cy="27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636094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6539"/>
            <a:ext cx="8229600" cy="632513"/>
          </a:xfrm>
        </p:spPr>
        <p:txBody>
          <a:bodyPr>
            <a:normAutofit fontScale="90000"/>
          </a:bodyPr>
          <a:lstStyle/>
          <a:p>
            <a:r>
              <a:rPr lang="en-US" sz="3600" dirty="0" smtClean="0"/>
              <a:t>Output RNN (“Decoder”)</a:t>
            </a:r>
            <a:endParaRPr lang="en-US" sz="3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F820A7-D46B-46D8-A3CF-66A8CEAA457D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5" name="Oval 4"/>
          <p:cNvSpPr/>
          <p:nvPr/>
        </p:nvSpPr>
        <p:spPr>
          <a:xfrm>
            <a:off x="2283584" y="2889154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6" name="Oval 5"/>
          <p:cNvSpPr/>
          <p:nvPr/>
        </p:nvSpPr>
        <p:spPr>
          <a:xfrm>
            <a:off x="4121619" y="2879917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7" name="Oval 6"/>
          <p:cNvSpPr/>
          <p:nvPr/>
        </p:nvSpPr>
        <p:spPr>
          <a:xfrm>
            <a:off x="5948108" y="2893772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9" name="Straight Arrow Connector 8"/>
          <p:cNvCxnSpPr>
            <a:stCxn id="5" idx="6"/>
            <a:endCxn id="6" idx="2"/>
          </p:cNvCxnSpPr>
          <p:nvPr/>
        </p:nvCxnSpPr>
        <p:spPr bwMode="auto">
          <a:xfrm flipV="1">
            <a:off x="3186442" y="3331346"/>
            <a:ext cx="935177" cy="9237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" name="Straight Arrow Connector 9"/>
          <p:cNvCxnSpPr>
            <a:stCxn id="6" idx="6"/>
            <a:endCxn id="7" idx="2"/>
          </p:cNvCxnSpPr>
          <p:nvPr/>
        </p:nvCxnSpPr>
        <p:spPr bwMode="auto">
          <a:xfrm>
            <a:off x="5024477" y="3331346"/>
            <a:ext cx="923631" cy="13855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" name="Oval 12"/>
          <p:cNvSpPr/>
          <p:nvPr/>
        </p:nvSpPr>
        <p:spPr>
          <a:xfrm>
            <a:off x="2285893" y="1545184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24" name="Oval 23"/>
          <p:cNvSpPr/>
          <p:nvPr/>
        </p:nvSpPr>
        <p:spPr>
          <a:xfrm>
            <a:off x="4123929" y="1535948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26" name="Oval 25"/>
          <p:cNvSpPr/>
          <p:nvPr/>
        </p:nvSpPr>
        <p:spPr>
          <a:xfrm>
            <a:off x="5948111" y="1547493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28" name="TextBox 27"/>
          <p:cNvSpPr txBox="1">
            <a:spLocks noChangeArrowheads="1"/>
          </p:cNvSpPr>
          <p:nvPr/>
        </p:nvSpPr>
        <p:spPr bwMode="auto">
          <a:xfrm>
            <a:off x="-11652" y="3033931"/>
            <a:ext cx="2297545" cy="553998"/>
          </a:xfrm>
          <a:prstGeom prst="rect">
            <a:avLst/>
          </a:prstGeom>
          <a:noFill/>
          <a:ln w="57150" cmpd="sng">
            <a:noFill/>
            <a:miter lim="800000"/>
            <a:headEnd/>
            <a:tailEnd/>
          </a:ln>
          <a:extLst/>
        </p:spPr>
        <p:txBody>
          <a:bodyPr wrap="square" lIns="91440" tIns="91440" rIns="91440" bIns="91440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n-US" sz="2400" i="0" dirty="0" smtClean="0">
                <a:solidFill>
                  <a:srgbClr val="C50C0C"/>
                </a:solidFill>
                <a:latin typeface="Calibri"/>
                <a:cs typeface="Calibri"/>
              </a:rPr>
              <a:t>“hidden vector”</a:t>
            </a:r>
            <a:endParaRPr lang="en-US" i="0" dirty="0" smtClean="0">
              <a:solidFill>
                <a:srgbClr val="C50C0C"/>
              </a:solidFill>
              <a:latin typeface="Calibri"/>
              <a:cs typeface="Calibri"/>
            </a:endParaRPr>
          </a:p>
        </p:txBody>
      </p:sp>
      <p:sp>
        <p:nvSpPr>
          <p:cNvPr id="41" name="Oval 40"/>
          <p:cNvSpPr/>
          <p:nvPr/>
        </p:nvSpPr>
        <p:spPr>
          <a:xfrm>
            <a:off x="2283584" y="4239885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42" name="Oval 41"/>
          <p:cNvSpPr/>
          <p:nvPr/>
        </p:nvSpPr>
        <p:spPr>
          <a:xfrm>
            <a:off x="4121619" y="4230648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43" name="Oval 42"/>
          <p:cNvSpPr/>
          <p:nvPr/>
        </p:nvSpPr>
        <p:spPr>
          <a:xfrm>
            <a:off x="5948108" y="4244503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46" name="Straight Arrow Connector 45"/>
          <p:cNvCxnSpPr>
            <a:stCxn id="41" idx="0"/>
            <a:endCxn id="5" idx="4"/>
          </p:cNvCxnSpPr>
          <p:nvPr/>
        </p:nvCxnSpPr>
        <p:spPr bwMode="auto">
          <a:xfrm flipV="1">
            <a:off x="2735013" y="3792012"/>
            <a:ext cx="0" cy="447873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4" name="TextBox 53"/>
          <p:cNvSpPr txBox="1">
            <a:spLocks noChangeArrowheads="1"/>
          </p:cNvSpPr>
          <p:nvPr/>
        </p:nvSpPr>
        <p:spPr bwMode="auto">
          <a:xfrm>
            <a:off x="-11652" y="1520249"/>
            <a:ext cx="2297545" cy="923330"/>
          </a:xfrm>
          <a:prstGeom prst="rect">
            <a:avLst/>
          </a:prstGeom>
          <a:noFill/>
          <a:ln w="57150" cmpd="sng">
            <a:noFill/>
            <a:miter lim="800000"/>
            <a:headEnd/>
            <a:tailEnd/>
          </a:ln>
          <a:extLst/>
        </p:spPr>
        <p:txBody>
          <a:bodyPr wrap="square" lIns="91440" tIns="91440" rIns="91440" bIns="91440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n-US" sz="2400" i="0" dirty="0" smtClean="0">
                <a:solidFill>
                  <a:srgbClr val="C50C0C"/>
                </a:solidFill>
                <a:latin typeface="Calibri"/>
                <a:cs typeface="Calibri"/>
              </a:rPr>
              <a:t>“next output symbol”</a:t>
            </a:r>
            <a:endParaRPr lang="en-US" i="0" dirty="0" smtClean="0">
              <a:solidFill>
                <a:srgbClr val="C50C0C"/>
              </a:solidFill>
              <a:latin typeface="Calibri"/>
              <a:cs typeface="Calibri"/>
            </a:endParaRPr>
          </a:p>
        </p:txBody>
      </p:sp>
      <p:pic>
        <p:nvPicPr>
          <p:cNvPr id="29" name="Picture 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0415" y="4511467"/>
            <a:ext cx="584200" cy="368300"/>
          </a:xfrm>
          <a:prstGeom prst="rect">
            <a:avLst/>
          </a:prstGeom>
        </p:spPr>
      </p:pic>
      <p:pic>
        <p:nvPicPr>
          <p:cNvPr id="30" name="Picture 2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7347" y="4511467"/>
            <a:ext cx="584200" cy="368300"/>
          </a:xfrm>
          <a:prstGeom prst="rect">
            <a:avLst/>
          </a:prstGeom>
        </p:spPr>
      </p:pic>
      <p:pic>
        <p:nvPicPr>
          <p:cNvPr id="31" name="Picture 3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3952" y="4511467"/>
            <a:ext cx="266700" cy="355600"/>
          </a:xfrm>
          <a:prstGeom prst="rect">
            <a:avLst/>
          </a:prstGeom>
        </p:spPr>
      </p:pic>
      <p:cxnSp>
        <p:nvCxnSpPr>
          <p:cNvPr id="36" name="Straight Arrow Connector 35"/>
          <p:cNvCxnSpPr/>
          <p:nvPr/>
        </p:nvCxnSpPr>
        <p:spPr bwMode="auto">
          <a:xfrm flipV="1">
            <a:off x="4565680" y="3782775"/>
            <a:ext cx="0" cy="447873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7" name="Straight Arrow Connector 36"/>
          <p:cNvCxnSpPr/>
          <p:nvPr/>
        </p:nvCxnSpPr>
        <p:spPr bwMode="auto">
          <a:xfrm flipV="1">
            <a:off x="6391361" y="3796630"/>
            <a:ext cx="0" cy="447873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8" name="Straight Arrow Connector 37"/>
          <p:cNvCxnSpPr/>
          <p:nvPr/>
        </p:nvCxnSpPr>
        <p:spPr bwMode="auto">
          <a:xfrm flipV="1">
            <a:off x="2735013" y="2448043"/>
            <a:ext cx="0" cy="447873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" name="Straight Arrow Connector 38"/>
          <p:cNvCxnSpPr/>
          <p:nvPr/>
        </p:nvCxnSpPr>
        <p:spPr bwMode="auto">
          <a:xfrm flipV="1">
            <a:off x="4565680" y="2438806"/>
            <a:ext cx="0" cy="447873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" name="Straight Arrow Connector 39"/>
          <p:cNvCxnSpPr/>
          <p:nvPr/>
        </p:nvCxnSpPr>
        <p:spPr bwMode="auto">
          <a:xfrm flipV="1">
            <a:off x="6391361" y="2452661"/>
            <a:ext cx="0" cy="447873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44" name="Picture 4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24343" y="1814064"/>
            <a:ext cx="266700" cy="355600"/>
          </a:xfrm>
          <a:prstGeom prst="rect">
            <a:avLst/>
          </a:prstGeom>
        </p:spPr>
      </p:pic>
      <p:pic>
        <p:nvPicPr>
          <p:cNvPr id="45" name="Picture 4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8940" y="1814064"/>
            <a:ext cx="584200" cy="368300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55447" y="1839464"/>
            <a:ext cx="546100" cy="342900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14363" y="3205501"/>
            <a:ext cx="241300" cy="279400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18940" y="3205501"/>
            <a:ext cx="533400" cy="279400"/>
          </a:xfrm>
          <a:prstGeom prst="rect">
            <a:avLst/>
          </a:prstGeom>
        </p:spPr>
      </p:pic>
      <p:pic>
        <p:nvPicPr>
          <p:cNvPr id="50" name="Picture 4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47800" y="5598702"/>
            <a:ext cx="6248400" cy="6477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55447" y="3205501"/>
            <a:ext cx="546100" cy="27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333178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6539"/>
            <a:ext cx="8229600" cy="632513"/>
          </a:xfrm>
        </p:spPr>
        <p:txBody>
          <a:bodyPr>
            <a:normAutofit fontScale="90000"/>
          </a:bodyPr>
          <a:lstStyle/>
          <a:p>
            <a:r>
              <a:rPr lang="en-US" sz="3600" dirty="0" smtClean="0"/>
              <a:t>Output RNN (“Decoder”)</a:t>
            </a:r>
            <a:endParaRPr lang="en-US" sz="3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F820A7-D46B-46D8-A3CF-66A8CEAA457D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5" name="Oval 4"/>
          <p:cNvSpPr/>
          <p:nvPr/>
        </p:nvSpPr>
        <p:spPr>
          <a:xfrm>
            <a:off x="2283584" y="2889154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6" name="Oval 5"/>
          <p:cNvSpPr/>
          <p:nvPr/>
        </p:nvSpPr>
        <p:spPr>
          <a:xfrm>
            <a:off x="4121619" y="2879917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7" name="Oval 6"/>
          <p:cNvSpPr/>
          <p:nvPr/>
        </p:nvSpPr>
        <p:spPr>
          <a:xfrm>
            <a:off x="5948108" y="2893772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9" name="Straight Arrow Connector 8"/>
          <p:cNvCxnSpPr>
            <a:stCxn id="5" idx="6"/>
            <a:endCxn id="6" idx="2"/>
          </p:cNvCxnSpPr>
          <p:nvPr/>
        </p:nvCxnSpPr>
        <p:spPr bwMode="auto">
          <a:xfrm flipV="1">
            <a:off x="3186442" y="3331346"/>
            <a:ext cx="935177" cy="9237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" name="Straight Arrow Connector 9"/>
          <p:cNvCxnSpPr>
            <a:stCxn id="6" idx="6"/>
            <a:endCxn id="7" idx="2"/>
          </p:cNvCxnSpPr>
          <p:nvPr/>
        </p:nvCxnSpPr>
        <p:spPr bwMode="auto">
          <a:xfrm>
            <a:off x="5024477" y="3331346"/>
            <a:ext cx="923631" cy="13855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" name="Oval 12"/>
          <p:cNvSpPr/>
          <p:nvPr/>
        </p:nvSpPr>
        <p:spPr>
          <a:xfrm>
            <a:off x="2285893" y="1545184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24" name="Oval 23"/>
          <p:cNvSpPr/>
          <p:nvPr/>
        </p:nvSpPr>
        <p:spPr>
          <a:xfrm>
            <a:off x="4123929" y="1535948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26" name="Oval 25"/>
          <p:cNvSpPr/>
          <p:nvPr/>
        </p:nvSpPr>
        <p:spPr>
          <a:xfrm>
            <a:off x="5948111" y="1547493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28" name="TextBox 27"/>
          <p:cNvSpPr txBox="1">
            <a:spLocks noChangeArrowheads="1"/>
          </p:cNvSpPr>
          <p:nvPr/>
        </p:nvSpPr>
        <p:spPr bwMode="auto">
          <a:xfrm>
            <a:off x="-11652" y="3033931"/>
            <a:ext cx="2297545" cy="553998"/>
          </a:xfrm>
          <a:prstGeom prst="rect">
            <a:avLst/>
          </a:prstGeom>
          <a:noFill/>
          <a:ln w="57150" cmpd="sng">
            <a:noFill/>
            <a:miter lim="800000"/>
            <a:headEnd/>
            <a:tailEnd/>
          </a:ln>
          <a:extLst/>
        </p:spPr>
        <p:txBody>
          <a:bodyPr wrap="square" lIns="91440" tIns="91440" rIns="91440" bIns="91440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n-US" sz="2400" i="0" dirty="0" smtClean="0">
                <a:solidFill>
                  <a:srgbClr val="C50C0C"/>
                </a:solidFill>
                <a:latin typeface="Calibri"/>
                <a:cs typeface="Calibri"/>
              </a:rPr>
              <a:t>“hidden vector”</a:t>
            </a:r>
            <a:endParaRPr lang="en-US" i="0" dirty="0" smtClean="0">
              <a:solidFill>
                <a:srgbClr val="C50C0C"/>
              </a:solidFill>
              <a:latin typeface="Calibri"/>
              <a:cs typeface="Calibri"/>
            </a:endParaRPr>
          </a:p>
        </p:txBody>
      </p:sp>
      <p:sp>
        <p:nvSpPr>
          <p:cNvPr id="41" name="Oval 40"/>
          <p:cNvSpPr/>
          <p:nvPr/>
        </p:nvSpPr>
        <p:spPr>
          <a:xfrm>
            <a:off x="2283584" y="4239885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42" name="Oval 41"/>
          <p:cNvSpPr/>
          <p:nvPr/>
        </p:nvSpPr>
        <p:spPr>
          <a:xfrm>
            <a:off x="4121619" y="4230648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43" name="Oval 42"/>
          <p:cNvSpPr/>
          <p:nvPr/>
        </p:nvSpPr>
        <p:spPr>
          <a:xfrm>
            <a:off x="5948108" y="4244503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46" name="Straight Arrow Connector 45"/>
          <p:cNvCxnSpPr>
            <a:stCxn id="41" idx="0"/>
            <a:endCxn id="5" idx="4"/>
          </p:cNvCxnSpPr>
          <p:nvPr/>
        </p:nvCxnSpPr>
        <p:spPr bwMode="auto">
          <a:xfrm flipV="1">
            <a:off x="2735013" y="3792012"/>
            <a:ext cx="0" cy="447873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4" name="TextBox 53"/>
          <p:cNvSpPr txBox="1">
            <a:spLocks noChangeArrowheads="1"/>
          </p:cNvSpPr>
          <p:nvPr/>
        </p:nvSpPr>
        <p:spPr bwMode="auto">
          <a:xfrm>
            <a:off x="-11652" y="1520249"/>
            <a:ext cx="2297545" cy="923330"/>
          </a:xfrm>
          <a:prstGeom prst="rect">
            <a:avLst/>
          </a:prstGeom>
          <a:noFill/>
          <a:ln w="57150" cmpd="sng">
            <a:noFill/>
            <a:miter lim="800000"/>
            <a:headEnd/>
            <a:tailEnd/>
          </a:ln>
          <a:extLst/>
        </p:spPr>
        <p:txBody>
          <a:bodyPr wrap="square" lIns="91440" tIns="91440" rIns="91440" bIns="91440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n-US" sz="2400" i="0" dirty="0" smtClean="0">
                <a:solidFill>
                  <a:srgbClr val="C50C0C"/>
                </a:solidFill>
                <a:latin typeface="Calibri"/>
                <a:cs typeface="Calibri"/>
              </a:rPr>
              <a:t>“next output symbol”</a:t>
            </a:r>
            <a:endParaRPr lang="en-US" i="0" dirty="0" smtClean="0">
              <a:solidFill>
                <a:srgbClr val="C50C0C"/>
              </a:solidFill>
              <a:latin typeface="Calibri"/>
              <a:cs typeface="Calibri"/>
            </a:endParaRPr>
          </a:p>
        </p:txBody>
      </p:sp>
      <p:pic>
        <p:nvPicPr>
          <p:cNvPr id="29" name="Picture 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0415" y="4511467"/>
            <a:ext cx="584200" cy="368300"/>
          </a:xfrm>
          <a:prstGeom prst="rect">
            <a:avLst/>
          </a:prstGeom>
        </p:spPr>
      </p:pic>
      <p:pic>
        <p:nvPicPr>
          <p:cNvPr id="30" name="Picture 2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7347" y="4511467"/>
            <a:ext cx="584200" cy="368300"/>
          </a:xfrm>
          <a:prstGeom prst="rect">
            <a:avLst/>
          </a:prstGeom>
        </p:spPr>
      </p:pic>
      <p:pic>
        <p:nvPicPr>
          <p:cNvPr id="31" name="Picture 3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3952" y="4511467"/>
            <a:ext cx="266700" cy="355600"/>
          </a:xfrm>
          <a:prstGeom prst="rect">
            <a:avLst/>
          </a:prstGeom>
        </p:spPr>
      </p:pic>
      <p:cxnSp>
        <p:nvCxnSpPr>
          <p:cNvPr id="36" name="Straight Arrow Connector 35"/>
          <p:cNvCxnSpPr/>
          <p:nvPr/>
        </p:nvCxnSpPr>
        <p:spPr bwMode="auto">
          <a:xfrm flipV="1">
            <a:off x="4565680" y="3782775"/>
            <a:ext cx="0" cy="447873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7" name="Straight Arrow Connector 36"/>
          <p:cNvCxnSpPr/>
          <p:nvPr/>
        </p:nvCxnSpPr>
        <p:spPr bwMode="auto">
          <a:xfrm flipV="1">
            <a:off x="6391361" y="3796630"/>
            <a:ext cx="0" cy="447873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8" name="Straight Arrow Connector 37"/>
          <p:cNvCxnSpPr/>
          <p:nvPr/>
        </p:nvCxnSpPr>
        <p:spPr bwMode="auto">
          <a:xfrm flipV="1">
            <a:off x="2735013" y="2448043"/>
            <a:ext cx="0" cy="447873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" name="Straight Arrow Connector 38"/>
          <p:cNvCxnSpPr/>
          <p:nvPr/>
        </p:nvCxnSpPr>
        <p:spPr bwMode="auto">
          <a:xfrm flipV="1">
            <a:off x="4565680" y="2438806"/>
            <a:ext cx="0" cy="447873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" name="Straight Arrow Connector 39"/>
          <p:cNvCxnSpPr/>
          <p:nvPr/>
        </p:nvCxnSpPr>
        <p:spPr bwMode="auto">
          <a:xfrm flipV="1">
            <a:off x="6391361" y="2452661"/>
            <a:ext cx="0" cy="447873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44" name="Picture 4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24343" y="1814064"/>
            <a:ext cx="266700" cy="355600"/>
          </a:xfrm>
          <a:prstGeom prst="rect">
            <a:avLst/>
          </a:prstGeom>
        </p:spPr>
      </p:pic>
      <p:pic>
        <p:nvPicPr>
          <p:cNvPr id="45" name="Picture 4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8940" y="1814064"/>
            <a:ext cx="584200" cy="368300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55447" y="1839464"/>
            <a:ext cx="546100" cy="342900"/>
          </a:xfrm>
          <a:prstGeom prst="rect">
            <a:avLst/>
          </a:prstGeom>
        </p:spPr>
      </p:pic>
      <p:pic>
        <p:nvPicPr>
          <p:cNvPr id="50" name="Picture 4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47800" y="5598702"/>
            <a:ext cx="6248400" cy="647700"/>
          </a:xfrm>
          <a:prstGeom prst="rect">
            <a:avLst/>
          </a:prstGeom>
        </p:spPr>
      </p:pic>
      <p:pic>
        <p:nvPicPr>
          <p:cNvPr id="34" name="Picture 3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14363" y="3205501"/>
            <a:ext cx="241300" cy="279400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18940" y="3205501"/>
            <a:ext cx="533400" cy="279400"/>
          </a:xfrm>
          <a:prstGeom prst="rect">
            <a:avLst/>
          </a:prstGeom>
        </p:spPr>
      </p:pic>
      <p:pic>
        <p:nvPicPr>
          <p:cNvPr id="47" name="Picture 4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55447" y="3205501"/>
            <a:ext cx="546100" cy="2794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616200" y="833451"/>
            <a:ext cx="3911600" cy="67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64489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6539"/>
            <a:ext cx="8229600" cy="632513"/>
          </a:xfrm>
        </p:spPr>
        <p:txBody>
          <a:bodyPr>
            <a:normAutofit fontScale="90000"/>
          </a:bodyPr>
          <a:lstStyle/>
          <a:p>
            <a:r>
              <a:rPr lang="en-US" sz="3600" dirty="0" smtClean="0"/>
              <a:t>Distribution over next symbols?</a:t>
            </a:r>
            <a:endParaRPr lang="en-US" sz="3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F820A7-D46B-46D8-A3CF-66A8CEAA457D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5" name="Oval 4"/>
          <p:cNvSpPr/>
          <p:nvPr/>
        </p:nvSpPr>
        <p:spPr>
          <a:xfrm>
            <a:off x="2283584" y="4098042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6" name="Oval 5"/>
          <p:cNvSpPr/>
          <p:nvPr/>
        </p:nvSpPr>
        <p:spPr>
          <a:xfrm>
            <a:off x="4121619" y="4088805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7" name="Oval 6"/>
          <p:cNvSpPr/>
          <p:nvPr/>
        </p:nvSpPr>
        <p:spPr>
          <a:xfrm>
            <a:off x="5948108" y="4102660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9" name="Straight Arrow Connector 8"/>
          <p:cNvCxnSpPr>
            <a:stCxn id="5" idx="6"/>
            <a:endCxn id="6" idx="2"/>
          </p:cNvCxnSpPr>
          <p:nvPr/>
        </p:nvCxnSpPr>
        <p:spPr bwMode="auto">
          <a:xfrm flipV="1">
            <a:off x="3186442" y="4540234"/>
            <a:ext cx="935177" cy="9237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" name="Straight Arrow Connector 9"/>
          <p:cNvCxnSpPr>
            <a:stCxn id="6" idx="6"/>
            <a:endCxn id="7" idx="2"/>
          </p:cNvCxnSpPr>
          <p:nvPr/>
        </p:nvCxnSpPr>
        <p:spPr bwMode="auto">
          <a:xfrm>
            <a:off x="5024477" y="4540234"/>
            <a:ext cx="923631" cy="13855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" name="Oval 12"/>
          <p:cNvSpPr/>
          <p:nvPr/>
        </p:nvSpPr>
        <p:spPr>
          <a:xfrm>
            <a:off x="2285893" y="2754072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24" name="Oval 23"/>
          <p:cNvSpPr/>
          <p:nvPr/>
        </p:nvSpPr>
        <p:spPr>
          <a:xfrm>
            <a:off x="4123929" y="2744836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26" name="Oval 25"/>
          <p:cNvSpPr/>
          <p:nvPr/>
        </p:nvSpPr>
        <p:spPr>
          <a:xfrm>
            <a:off x="5948111" y="2756381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28" name="TextBox 27"/>
          <p:cNvSpPr txBox="1">
            <a:spLocks noChangeArrowheads="1"/>
          </p:cNvSpPr>
          <p:nvPr/>
        </p:nvSpPr>
        <p:spPr bwMode="auto">
          <a:xfrm>
            <a:off x="-11652" y="4242819"/>
            <a:ext cx="2297545" cy="553998"/>
          </a:xfrm>
          <a:prstGeom prst="rect">
            <a:avLst/>
          </a:prstGeom>
          <a:noFill/>
          <a:ln w="57150" cmpd="sng">
            <a:noFill/>
            <a:miter lim="800000"/>
            <a:headEnd/>
            <a:tailEnd/>
          </a:ln>
          <a:extLst/>
        </p:spPr>
        <p:txBody>
          <a:bodyPr wrap="square" lIns="91440" tIns="91440" rIns="91440" bIns="91440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n-US" sz="2400" i="0" dirty="0" smtClean="0">
                <a:solidFill>
                  <a:srgbClr val="C50C0C"/>
                </a:solidFill>
                <a:latin typeface="Calibri"/>
                <a:cs typeface="Calibri"/>
              </a:rPr>
              <a:t>“hidden vector”</a:t>
            </a:r>
            <a:endParaRPr lang="en-US" i="0" dirty="0" smtClean="0">
              <a:solidFill>
                <a:srgbClr val="C50C0C"/>
              </a:solidFill>
              <a:latin typeface="Calibri"/>
              <a:cs typeface="Calibri"/>
            </a:endParaRPr>
          </a:p>
        </p:txBody>
      </p:sp>
      <p:sp>
        <p:nvSpPr>
          <p:cNvPr id="41" name="Oval 40"/>
          <p:cNvSpPr/>
          <p:nvPr/>
        </p:nvSpPr>
        <p:spPr>
          <a:xfrm>
            <a:off x="2283584" y="5448773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42" name="Oval 41"/>
          <p:cNvSpPr/>
          <p:nvPr/>
        </p:nvSpPr>
        <p:spPr>
          <a:xfrm>
            <a:off x="4121619" y="5439536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43" name="Oval 42"/>
          <p:cNvSpPr/>
          <p:nvPr/>
        </p:nvSpPr>
        <p:spPr>
          <a:xfrm>
            <a:off x="5948108" y="5453391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46" name="Straight Arrow Connector 45"/>
          <p:cNvCxnSpPr>
            <a:stCxn id="41" idx="0"/>
            <a:endCxn id="5" idx="4"/>
          </p:cNvCxnSpPr>
          <p:nvPr/>
        </p:nvCxnSpPr>
        <p:spPr bwMode="auto">
          <a:xfrm flipV="1">
            <a:off x="2735013" y="5000900"/>
            <a:ext cx="0" cy="447873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4" name="TextBox 53"/>
          <p:cNvSpPr txBox="1">
            <a:spLocks noChangeArrowheads="1"/>
          </p:cNvSpPr>
          <p:nvPr/>
        </p:nvSpPr>
        <p:spPr bwMode="auto">
          <a:xfrm>
            <a:off x="-11652" y="2729137"/>
            <a:ext cx="2297545" cy="923330"/>
          </a:xfrm>
          <a:prstGeom prst="rect">
            <a:avLst/>
          </a:prstGeom>
          <a:noFill/>
          <a:ln w="57150" cmpd="sng">
            <a:noFill/>
            <a:miter lim="800000"/>
            <a:headEnd/>
            <a:tailEnd/>
          </a:ln>
          <a:extLst/>
        </p:spPr>
        <p:txBody>
          <a:bodyPr wrap="square" lIns="91440" tIns="91440" rIns="91440" bIns="91440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n-US" sz="2400" i="0" dirty="0" smtClean="0">
                <a:solidFill>
                  <a:srgbClr val="C50C0C"/>
                </a:solidFill>
                <a:latin typeface="Calibri"/>
                <a:cs typeface="Calibri"/>
              </a:rPr>
              <a:t>“next output symbol”</a:t>
            </a:r>
            <a:endParaRPr lang="en-US" i="0" dirty="0" smtClean="0">
              <a:solidFill>
                <a:srgbClr val="C50C0C"/>
              </a:solidFill>
              <a:latin typeface="Calibri"/>
              <a:cs typeface="Calibri"/>
            </a:endParaRPr>
          </a:p>
        </p:txBody>
      </p:sp>
      <p:pic>
        <p:nvPicPr>
          <p:cNvPr id="29" name="Picture 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0415" y="5720355"/>
            <a:ext cx="584200" cy="368300"/>
          </a:xfrm>
          <a:prstGeom prst="rect">
            <a:avLst/>
          </a:prstGeom>
        </p:spPr>
      </p:pic>
      <p:pic>
        <p:nvPicPr>
          <p:cNvPr id="30" name="Picture 2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7347" y="5720355"/>
            <a:ext cx="584200" cy="368300"/>
          </a:xfrm>
          <a:prstGeom prst="rect">
            <a:avLst/>
          </a:prstGeom>
        </p:spPr>
      </p:pic>
      <p:pic>
        <p:nvPicPr>
          <p:cNvPr id="31" name="Picture 3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3952" y="5720355"/>
            <a:ext cx="266700" cy="355600"/>
          </a:xfrm>
          <a:prstGeom prst="rect">
            <a:avLst/>
          </a:prstGeom>
        </p:spPr>
      </p:pic>
      <p:cxnSp>
        <p:nvCxnSpPr>
          <p:cNvPr id="36" name="Straight Arrow Connector 35"/>
          <p:cNvCxnSpPr/>
          <p:nvPr/>
        </p:nvCxnSpPr>
        <p:spPr bwMode="auto">
          <a:xfrm flipV="1">
            <a:off x="4565680" y="4991663"/>
            <a:ext cx="0" cy="447873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7" name="Straight Arrow Connector 36"/>
          <p:cNvCxnSpPr/>
          <p:nvPr/>
        </p:nvCxnSpPr>
        <p:spPr bwMode="auto">
          <a:xfrm flipV="1">
            <a:off x="6391361" y="5005518"/>
            <a:ext cx="0" cy="447873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8" name="Straight Arrow Connector 37"/>
          <p:cNvCxnSpPr/>
          <p:nvPr/>
        </p:nvCxnSpPr>
        <p:spPr bwMode="auto">
          <a:xfrm flipV="1">
            <a:off x="2735013" y="3656931"/>
            <a:ext cx="0" cy="447873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" name="Straight Arrow Connector 38"/>
          <p:cNvCxnSpPr/>
          <p:nvPr/>
        </p:nvCxnSpPr>
        <p:spPr bwMode="auto">
          <a:xfrm flipV="1">
            <a:off x="4565680" y="3647694"/>
            <a:ext cx="0" cy="447873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" name="Straight Arrow Connector 39"/>
          <p:cNvCxnSpPr/>
          <p:nvPr/>
        </p:nvCxnSpPr>
        <p:spPr bwMode="auto">
          <a:xfrm flipV="1">
            <a:off x="6391361" y="3661549"/>
            <a:ext cx="0" cy="447873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44" name="Picture 4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24343" y="3022952"/>
            <a:ext cx="266700" cy="355600"/>
          </a:xfrm>
          <a:prstGeom prst="rect">
            <a:avLst/>
          </a:prstGeom>
        </p:spPr>
      </p:pic>
      <p:pic>
        <p:nvPicPr>
          <p:cNvPr id="45" name="Picture 4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8940" y="3022952"/>
            <a:ext cx="584200" cy="368300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55447" y="3048352"/>
            <a:ext cx="546100" cy="3429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24180" y="2021017"/>
            <a:ext cx="3683000" cy="444500"/>
          </a:xfrm>
          <a:prstGeom prst="rect">
            <a:avLst/>
          </a:prstGeom>
        </p:spPr>
      </p:pic>
      <p:pic>
        <p:nvPicPr>
          <p:cNvPr id="47" name="Picture 4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16200" y="1101961"/>
            <a:ext cx="3911600" cy="673100"/>
          </a:xfrm>
          <a:prstGeom prst="rect">
            <a:avLst/>
          </a:prstGeom>
        </p:spPr>
      </p:pic>
      <p:pic>
        <p:nvPicPr>
          <p:cNvPr id="48" name="Picture 4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14363" y="4400534"/>
            <a:ext cx="241300" cy="279400"/>
          </a:xfrm>
          <a:prstGeom prst="rect">
            <a:avLst/>
          </a:prstGeom>
        </p:spPr>
      </p:pic>
      <p:pic>
        <p:nvPicPr>
          <p:cNvPr id="51" name="Picture 5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18940" y="4400534"/>
            <a:ext cx="533400" cy="279400"/>
          </a:xfrm>
          <a:prstGeom prst="rect">
            <a:avLst/>
          </a:prstGeom>
        </p:spPr>
      </p:pic>
      <p:pic>
        <p:nvPicPr>
          <p:cNvPr id="52" name="Picture 5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55447" y="4400534"/>
            <a:ext cx="546100" cy="27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094193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Extension: Attention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10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0976"/>
          <a:stretch/>
        </p:blipFill>
        <p:spPr>
          <a:xfrm>
            <a:off x="660400" y="1837116"/>
            <a:ext cx="7812157" cy="2676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750953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Extension: Attention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11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4751309" y="5703664"/>
            <a:ext cx="4362740" cy="1015663"/>
          </a:xfrm>
          <a:prstGeom prst="rect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288CD2"/>
                </a:solidFill>
              </a:rPr>
              <a:t>“Neural Machine Translation by Jointly Learning to Align and Translate”</a:t>
            </a:r>
            <a:endParaRPr lang="en-US" sz="2000" b="1" dirty="0">
              <a:solidFill>
                <a:srgbClr val="288CD2"/>
              </a:solidFill>
            </a:endParaRPr>
          </a:p>
          <a:p>
            <a:r>
              <a:rPr lang="en-US" sz="2000" b="1" dirty="0" err="1" smtClean="0">
                <a:solidFill>
                  <a:srgbClr val="288CD2"/>
                </a:solidFill>
              </a:rPr>
              <a:t>Bahdanau</a:t>
            </a:r>
            <a:r>
              <a:rPr lang="en-US" sz="2000" b="1" dirty="0" smtClean="0">
                <a:solidFill>
                  <a:srgbClr val="288CD2"/>
                </a:solidFill>
              </a:rPr>
              <a:t> et al. (2015)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0400" y="898229"/>
            <a:ext cx="2961257" cy="5506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201085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Extension: Attention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12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4751309" y="5703664"/>
            <a:ext cx="4362740" cy="1015663"/>
          </a:xfrm>
          <a:prstGeom prst="rect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288CD2"/>
                </a:solidFill>
              </a:rPr>
              <a:t>“Neural Machine Translation by Jointly Learning to Align and Translate”</a:t>
            </a:r>
            <a:endParaRPr lang="en-US" sz="2000" b="1" dirty="0">
              <a:solidFill>
                <a:srgbClr val="288CD2"/>
              </a:solidFill>
            </a:endParaRPr>
          </a:p>
          <a:p>
            <a:r>
              <a:rPr lang="en-US" sz="2000" b="1" dirty="0" err="1" smtClean="0">
                <a:solidFill>
                  <a:srgbClr val="288CD2"/>
                </a:solidFill>
              </a:rPr>
              <a:t>Bahdanau</a:t>
            </a:r>
            <a:r>
              <a:rPr lang="en-US" sz="2000" b="1" dirty="0" smtClean="0">
                <a:solidFill>
                  <a:srgbClr val="288CD2"/>
                </a:solidFill>
              </a:rPr>
              <a:t> et al. (2015)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8666" y="898229"/>
            <a:ext cx="4680155" cy="4836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129211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Disclaimer: the version I will present is a little simpler than the </a:t>
            </a:r>
            <a:r>
              <a:rPr lang="en-US" dirty="0" err="1" smtClean="0"/>
              <a:t>Bahdanau</a:t>
            </a:r>
            <a:r>
              <a:rPr lang="en-US" dirty="0" smtClean="0"/>
              <a:t> et al version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3546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6539"/>
            <a:ext cx="8229600" cy="632513"/>
          </a:xfrm>
        </p:spPr>
        <p:txBody>
          <a:bodyPr>
            <a:normAutofit fontScale="90000"/>
          </a:bodyPr>
          <a:lstStyle/>
          <a:p>
            <a:r>
              <a:rPr lang="en-US" sz="3600" dirty="0"/>
              <a:t>Adding Attention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F820A7-D46B-46D8-A3CF-66A8CEAA457D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5" name="Oval 4"/>
          <p:cNvSpPr/>
          <p:nvPr/>
        </p:nvSpPr>
        <p:spPr>
          <a:xfrm>
            <a:off x="4070691" y="4092025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6" name="Oval 5"/>
          <p:cNvSpPr/>
          <p:nvPr/>
        </p:nvSpPr>
        <p:spPr>
          <a:xfrm>
            <a:off x="5908726" y="4082788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7" name="Oval 6"/>
          <p:cNvSpPr/>
          <p:nvPr/>
        </p:nvSpPr>
        <p:spPr>
          <a:xfrm>
            <a:off x="7735215" y="4096643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9" name="Straight Arrow Connector 8"/>
          <p:cNvCxnSpPr>
            <a:stCxn id="5" idx="6"/>
            <a:endCxn id="6" idx="2"/>
          </p:cNvCxnSpPr>
          <p:nvPr/>
        </p:nvCxnSpPr>
        <p:spPr bwMode="auto">
          <a:xfrm flipV="1">
            <a:off x="4973549" y="4534217"/>
            <a:ext cx="935177" cy="9237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" name="Straight Arrow Connector 9"/>
          <p:cNvCxnSpPr>
            <a:stCxn id="6" idx="6"/>
            <a:endCxn id="7" idx="2"/>
          </p:cNvCxnSpPr>
          <p:nvPr/>
        </p:nvCxnSpPr>
        <p:spPr bwMode="auto">
          <a:xfrm>
            <a:off x="6811584" y="4534217"/>
            <a:ext cx="923631" cy="13855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" name="Oval 12"/>
          <p:cNvSpPr/>
          <p:nvPr/>
        </p:nvSpPr>
        <p:spPr>
          <a:xfrm>
            <a:off x="4073000" y="2748055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24" name="Oval 23"/>
          <p:cNvSpPr/>
          <p:nvPr/>
        </p:nvSpPr>
        <p:spPr>
          <a:xfrm>
            <a:off x="5911036" y="2738819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26" name="Oval 25"/>
          <p:cNvSpPr/>
          <p:nvPr/>
        </p:nvSpPr>
        <p:spPr>
          <a:xfrm>
            <a:off x="7735218" y="2750364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41" name="Oval 40"/>
          <p:cNvSpPr/>
          <p:nvPr/>
        </p:nvSpPr>
        <p:spPr>
          <a:xfrm>
            <a:off x="4070691" y="5442756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42" name="Oval 41"/>
          <p:cNvSpPr/>
          <p:nvPr/>
        </p:nvSpPr>
        <p:spPr>
          <a:xfrm>
            <a:off x="5908726" y="5433519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43" name="Oval 42"/>
          <p:cNvSpPr/>
          <p:nvPr/>
        </p:nvSpPr>
        <p:spPr>
          <a:xfrm>
            <a:off x="7735215" y="5447374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46" name="Straight Arrow Connector 45"/>
          <p:cNvCxnSpPr>
            <a:stCxn id="41" idx="0"/>
            <a:endCxn id="5" idx="4"/>
          </p:cNvCxnSpPr>
          <p:nvPr/>
        </p:nvCxnSpPr>
        <p:spPr bwMode="auto">
          <a:xfrm flipV="1">
            <a:off x="4522120" y="4994883"/>
            <a:ext cx="0" cy="447873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29" name="Picture 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7522" y="5714338"/>
            <a:ext cx="584200" cy="368300"/>
          </a:xfrm>
          <a:prstGeom prst="rect">
            <a:avLst/>
          </a:prstGeom>
        </p:spPr>
      </p:pic>
      <p:pic>
        <p:nvPicPr>
          <p:cNvPr id="30" name="Picture 2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4454" y="5714338"/>
            <a:ext cx="584200" cy="368300"/>
          </a:xfrm>
          <a:prstGeom prst="rect">
            <a:avLst/>
          </a:prstGeom>
        </p:spPr>
      </p:pic>
      <p:pic>
        <p:nvPicPr>
          <p:cNvPr id="31" name="Picture 3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1059" y="5714338"/>
            <a:ext cx="266700" cy="355600"/>
          </a:xfrm>
          <a:prstGeom prst="rect">
            <a:avLst/>
          </a:prstGeom>
        </p:spPr>
      </p:pic>
      <p:cxnSp>
        <p:nvCxnSpPr>
          <p:cNvPr id="36" name="Straight Arrow Connector 35"/>
          <p:cNvCxnSpPr/>
          <p:nvPr/>
        </p:nvCxnSpPr>
        <p:spPr bwMode="auto">
          <a:xfrm flipV="1">
            <a:off x="6352787" y="4985646"/>
            <a:ext cx="0" cy="447873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7" name="Straight Arrow Connector 36"/>
          <p:cNvCxnSpPr/>
          <p:nvPr/>
        </p:nvCxnSpPr>
        <p:spPr bwMode="auto">
          <a:xfrm flipV="1">
            <a:off x="8178468" y="4999501"/>
            <a:ext cx="0" cy="447873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8" name="Straight Arrow Connector 37"/>
          <p:cNvCxnSpPr/>
          <p:nvPr/>
        </p:nvCxnSpPr>
        <p:spPr bwMode="auto">
          <a:xfrm flipV="1">
            <a:off x="4522120" y="3650914"/>
            <a:ext cx="0" cy="447873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" name="Straight Arrow Connector 38"/>
          <p:cNvCxnSpPr/>
          <p:nvPr/>
        </p:nvCxnSpPr>
        <p:spPr bwMode="auto">
          <a:xfrm flipV="1">
            <a:off x="6352787" y="3641677"/>
            <a:ext cx="0" cy="447873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" name="Straight Arrow Connector 39"/>
          <p:cNvCxnSpPr/>
          <p:nvPr/>
        </p:nvCxnSpPr>
        <p:spPr bwMode="auto">
          <a:xfrm flipV="1">
            <a:off x="8178468" y="3655532"/>
            <a:ext cx="0" cy="447873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44" name="Picture 4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1450" y="3016935"/>
            <a:ext cx="266700" cy="355600"/>
          </a:xfrm>
          <a:prstGeom prst="rect">
            <a:avLst/>
          </a:prstGeom>
        </p:spPr>
      </p:pic>
      <p:pic>
        <p:nvPicPr>
          <p:cNvPr id="45" name="Picture 4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6047" y="3016935"/>
            <a:ext cx="584200" cy="368300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42554" y="3042335"/>
            <a:ext cx="546100" cy="342900"/>
          </a:xfrm>
          <a:prstGeom prst="rect">
            <a:avLst/>
          </a:prstGeom>
        </p:spPr>
      </p:pic>
      <p:pic>
        <p:nvPicPr>
          <p:cNvPr id="34" name="Picture 3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01470" y="4408372"/>
            <a:ext cx="241300" cy="279400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06047" y="4408372"/>
            <a:ext cx="533400" cy="279400"/>
          </a:xfrm>
          <a:prstGeom prst="rect">
            <a:avLst/>
          </a:prstGeom>
        </p:spPr>
      </p:pic>
      <p:pic>
        <p:nvPicPr>
          <p:cNvPr id="47" name="Picture 4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42554" y="4408372"/>
            <a:ext cx="546100" cy="279400"/>
          </a:xfrm>
          <a:prstGeom prst="rect">
            <a:avLst/>
          </a:prstGeom>
        </p:spPr>
      </p:pic>
      <p:pic>
        <p:nvPicPr>
          <p:cNvPr id="48" name="Picture 4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579262" y="896497"/>
            <a:ext cx="3924300" cy="419100"/>
          </a:xfrm>
          <a:prstGeom prst="rect">
            <a:avLst/>
          </a:prstGeom>
        </p:spPr>
      </p:pic>
      <p:sp>
        <p:nvSpPr>
          <p:cNvPr id="49" name="Oval 48"/>
          <p:cNvSpPr/>
          <p:nvPr/>
        </p:nvSpPr>
        <p:spPr>
          <a:xfrm>
            <a:off x="570863" y="4112642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1" name="Oval 50"/>
          <p:cNvSpPr/>
          <p:nvPr/>
        </p:nvSpPr>
        <p:spPr>
          <a:xfrm>
            <a:off x="1978094" y="4103405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53" name="Straight Arrow Connector 52"/>
          <p:cNvCxnSpPr>
            <a:endCxn id="51" idx="2"/>
          </p:cNvCxnSpPr>
          <p:nvPr/>
        </p:nvCxnSpPr>
        <p:spPr bwMode="auto">
          <a:xfrm>
            <a:off x="1473721" y="4554834"/>
            <a:ext cx="504373" cy="0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2" name="Oval 61"/>
          <p:cNvSpPr/>
          <p:nvPr/>
        </p:nvSpPr>
        <p:spPr>
          <a:xfrm>
            <a:off x="570863" y="5463373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63" name="Oval 62"/>
          <p:cNvSpPr/>
          <p:nvPr/>
        </p:nvSpPr>
        <p:spPr>
          <a:xfrm>
            <a:off x="1978094" y="5454136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65" name="Straight Arrow Connector 64"/>
          <p:cNvCxnSpPr>
            <a:stCxn id="62" idx="0"/>
          </p:cNvCxnSpPr>
          <p:nvPr/>
        </p:nvCxnSpPr>
        <p:spPr bwMode="auto">
          <a:xfrm flipV="1">
            <a:off x="1022292" y="5015500"/>
            <a:ext cx="0" cy="447873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6" name="Straight Arrow Connector 65"/>
          <p:cNvCxnSpPr/>
          <p:nvPr/>
        </p:nvCxnSpPr>
        <p:spPr bwMode="auto">
          <a:xfrm flipV="1">
            <a:off x="2422155" y="5006263"/>
            <a:ext cx="0" cy="447873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16" name="Picture 15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294056" y="4434184"/>
            <a:ext cx="330200" cy="241300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4792" y="4396084"/>
            <a:ext cx="635000" cy="279400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04792" y="5782039"/>
            <a:ext cx="635000" cy="279400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294056" y="5801089"/>
            <a:ext cx="330200" cy="241300"/>
          </a:xfrm>
          <a:prstGeom prst="rect">
            <a:avLst/>
          </a:prstGeom>
        </p:spPr>
      </p:pic>
      <p:cxnSp>
        <p:nvCxnSpPr>
          <p:cNvPr id="68" name="Straight Arrow Connector 67"/>
          <p:cNvCxnSpPr>
            <a:endCxn id="5" idx="2"/>
          </p:cNvCxnSpPr>
          <p:nvPr/>
        </p:nvCxnSpPr>
        <p:spPr bwMode="auto">
          <a:xfrm flipV="1">
            <a:off x="3606005" y="4543454"/>
            <a:ext cx="464686" cy="15999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9" name="TextBox 68"/>
          <p:cNvSpPr txBox="1"/>
          <p:nvPr/>
        </p:nvSpPr>
        <p:spPr>
          <a:xfrm>
            <a:off x="3226260" y="4359398"/>
            <a:ext cx="408226" cy="400110"/>
          </a:xfrm>
          <a:prstGeom prst="rect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b="1" dirty="0" smtClean="0"/>
              <a:t>…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569939" y="1326469"/>
            <a:ext cx="4362740" cy="1015663"/>
          </a:xfrm>
          <a:prstGeom prst="rect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 i="1" dirty="0" err="1" smtClean="0">
                <a:solidFill>
                  <a:srgbClr val="288CD2"/>
                </a:solidFill>
              </a:rPr>
              <a:t>att</a:t>
            </a:r>
            <a:r>
              <a:rPr lang="en-US" sz="2000" b="1" dirty="0" smtClean="0">
                <a:solidFill>
                  <a:srgbClr val="288CD2"/>
                </a:solidFill>
              </a:rPr>
              <a:t> function models association between all pairs of hidden vectors in encoder and decoder</a:t>
            </a:r>
          </a:p>
        </p:txBody>
      </p:sp>
    </p:spTree>
    <p:extLst>
      <p:ext uri="{BB962C8B-B14F-4D97-AF65-F5344CB8AC3E}">
        <p14:creationId xmlns:p14="http://schemas.microsoft.com/office/powerpoint/2010/main" val="312912772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6539"/>
            <a:ext cx="8229600" cy="632513"/>
          </a:xfrm>
        </p:spPr>
        <p:txBody>
          <a:bodyPr>
            <a:normAutofit fontScale="90000"/>
          </a:bodyPr>
          <a:lstStyle/>
          <a:p>
            <a:r>
              <a:rPr lang="en-US" sz="3600" dirty="0"/>
              <a:t>Adding Attention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F820A7-D46B-46D8-A3CF-66A8CEAA457D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5" name="Oval 4"/>
          <p:cNvSpPr/>
          <p:nvPr/>
        </p:nvSpPr>
        <p:spPr>
          <a:xfrm>
            <a:off x="4070691" y="4092025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6" name="Oval 5"/>
          <p:cNvSpPr/>
          <p:nvPr/>
        </p:nvSpPr>
        <p:spPr>
          <a:xfrm>
            <a:off x="5908726" y="4082788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7" name="Oval 6"/>
          <p:cNvSpPr/>
          <p:nvPr/>
        </p:nvSpPr>
        <p:spPr>
          <a:xfrm>
            <a:off x="7735215" y="4096643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9" name="Straight Arrow Connector 8"/>
          <p:cNvCxnSpPr>
            <a:stCxn id="5" idx="6"/>
            <a:endCxn id="6" idx="2"/>
          </p:cNvCxnSpPr>
          <p:nvPr/>
        </p:nvCxnSpPr>
        <p:spPr bwMode="auto">
          <a:xfrm flipV="1">
            <a:off x="4973549" y="4534217"/>
            <a:ext cx="935177" cy="9237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" name="Straight Arrow Connector 9"/>
          <p:cNvCxnSpPr>
            <a:stCxn id="6" idx="6"/>
            <a:endCxn id="7" idx="2"/>
          </p:cNvCxnSpPr>
          <p:nvPr/>
        </p:nvCxnSpPr>
        <p:spPr bwMode="auto">
          <a:xfrm>
            <a:off x="6811584" y="4534217"/>
            <a:ext cx="923631" cy="13855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" name="Oval 12"/>
          <p:cNvSpPr/>
          <p:nvPr/>
        </p:nvSpPr>
        <p:spPr>
          <a:xfrm>
            <a:off x="4073000" y="2748055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24" name="Oval 23"/>
          <p:cNvSpPr/>
          <p:nvPr/>
        </p:nvSpPr>
        <p:spPr>
          <a:xfrm>
            <a:off x="5911036" y="2738819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26" name="Oval 25"/>
          <p:cNvSpPr/>
          <p:nvPr/>
        </p:nvSpPr>
        <p:spPr>
          <a:xfrm>
            <a:off x="7735218" y="2750364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41" name="Oval 40"/>
          <p:cNvSpPr/>
          <p:nvPr/>
        </p:nvSpPr>
        <p:spPr>
          <a:xfrm>
            <a:off x="4070691" y="5442756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42" name="Oval 41"/>
          <p:cNvSpPr/>
          <p:nvPr/>
        </p:nvSpPr>
        <p:spPr>
          <a:xfrm>
            <a:off x="5908726" y="5433519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43" name="Oval 42"/>
          <p:cNvSpPr/>
          <p:nvPr/>
        </p:nvSpPr>
        <p:spPr>
          <a:xfrm>
            <a:off x="7735215" y="5447374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46" name="Straight Arrow Connector 45"/>
          <p:cNvCxnSpPr>
            <a:stCxn id="41" idx="0"/>
            <a:endCxn id="5" idx="4"/>
          </p:cNvCxnSpPr>
          <p:nvPr/>
        </p:nvCxnSpPr>
        <p:spPr bwMode="auto">
          <a:xfrm flipV="1">
            <a:off x="4522120" y="4994883"/>
            <a:ext cx="0" cy="447873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29" name="Picture 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7522" y="5714338"/>
            <a:ext cx="584200" cy="368300"/>
          </a:xfrm>
          <a:prstGeom prst="rect">
            <a:avLst/>
          </a:prstGeom>
        </p:spPr>
      </p:pic>
      <p:pic>
        <p:nvPicPr>
          <p:cNvPr id="30" name="Picture 2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4454" y="5714338"/>
            <a:ext cx="584200" cy="368300"/>
          </a:xfrm>
          <a:prstGeom prst="rect">
            <a:avLst/>
          </a:prstGeom>
        </p:spPr>
      </p:pic>
      <p:pic>
        <p:nvPicPr>
          <p:cNvPr id="31" name="Picture 3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1059" y="5714338"/>
            <a:ext cx="266700" cy="355600"/>
          </a:xfrm>
          <a:prstGeom prst="rect">
            <a:avLst/>
          </a:prstGeom>
        </p:spPr>
      </p:pic>
      <p:cxnSp>
        <p:nvCxnSpPr>
          <p:cNvPr id="36" name="Straight Arrow Connector 35"/>
          <p:cNvCxnSpPr/>
          <p:nvPr/>
        </p:nvCxnSpPr>
        <p:spPr bwMode="auto">
          <a:xfrm flipV="1">
            <a:off x="6352787" y="4985646"/>
            <a:ext cx="0" cy="447873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7" name="Straight Arrow Connector 36"/>
          <p:cNvCxnSpPr/>
          <p:nvPr/>
        </p:nvCxnSpPr>
        <p:spPr bwMode="auto">
          <a:xfrm flipV="1">
            <a:off x="8178468" y="4999501"/>
            <a:ext cx="0" cy="447873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8" name="Straight Arrow Connector 37"/>
          <p:cNvCxnSpPr/>
          <p:nvPr/>
        </p:nvCxnSpPr>
        <p:spPr bwMode="auto">
          <a:xfrm flipV="1">
            <a:off x="4522120" y="3650914"/>
            <a:ext cx="0" cy="447873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" name="Straight Arrow Connector 38"/>
          <p:cNvCxnSpPr/>
          <p:nvPr/>
        </p:nvCxnSpPr>
        <p:spPr bwMode="auto">
          <a:xfrm flipV="1">
            <a:off x="6352787" y="3641677"/>
            <a:ext cx="0" cy="447873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" name="Straight Arrow Connector 39"/>
          <p:cNvCxnSpPr/>
          <p:nvPr/>
        </p:nvCxnSpPr>
        <p:spPr bwMode="auto">
          <a:xfrm flipV="1">
            <a:off x="8178468" y="3655532"/>
            <a:ext cx="0" cy="447873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44" name="Picture 4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1450" y="3016935"/>
            <a:ext cx="266700" cy="355600"/>
          </a:xfrm>
          <a:prstGeom prst="rect">
            <a:avLst/>
          </a:prstGeom>
        </p:spPr>
      </p:pic>
      <p:pic>
        <p:nvPicPr>
          <p:cNvPr id="45" name="Picture 4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6047" y="3016935"/>
            <a:ext cx="584200" cy="368300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42554" y="3042335"/>
            <a:ext cx="546100" cy="342900"/>
          </a:xfrm>
          <a:prstGeom prst="rect">
            <a:avLst/>
          </a:prstGeom>
        </p:spPr>
      </p:pic>
      <p:pic>
        <p:nvPicPr>
          <p:cNvPr id="34" name="Picture 3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01470" y="4408372"/>
            <a:ext cx="241300" cy="279400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06047" y="4408372"/>
            <a:ext cx="533400" cy="279400"/>
          </a:xfrm>
          <a:prstGeom prst="rect">
            <a:avLst/>
          </a:prstGeom>
        </p:spPr>
      </p:pic>
      <p:pic>
        <p:nvPicPr>
          <p:cNvPr id="47" name="Picture 4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42554" y="4408372"/>
            <a:ext cx="546100" cy="279400"/>
          </a:xfrm>
          <a:prstGeom prst="rect">
            <a:avLst/>
          </a:prstGeom>
        </p:spPr>
      </p:pic>
      <p:pic>
        <p:nvPicPr>
          <p:cNvPr id="48" name="Picture 4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579262" y="896497"/>
            <a:ext cx="3924300" cy="419100"/>
          </a:xfrm>
          <a:prstGeom prst="rect">
            <a:avLst/>
          </a:prstGeom>
        </p:spPr>
      </p:pic>
      <p:sp>
        <p:nvSpPr>
          <p:cNvPr id="49" name="Oval 48"/>
          <p:cNvSpPr/>
          <p:nvPr/>
        </p:nvSpPr>
        <p:spPr>
          <a:xfrm>
            <a:off x="570863" y="4112642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1" name="Oval 50"/>
          <p:cNvSpPr/>
          <p:nvPr/>
        </p:nvSpPr>
        <p:spPr>
          <a:xfrm>
            <a:off x="1978094" y="4103405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53" name="Straight Arrow Connector 52"/>
          <p:cNvCxnSpPr>
            <a:endCxn id="51" idx="2"/>
          </p:cNvCxnSpPr>
          <p:nvPr/>
        </p:nvCxnSpPr>
        <p:spPr bwMode="auto">
          <a:xfrm>
            <a:off x="1473721" y="4554834"/>
            <a:ext cx="504373" cy="0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2" name="Oval 61"/>
          <p:cNvSpPr/>
          <p:nvPr/>
        </p:nvSpPr>
        <p:spPr>
          <a:xfrm>
            <a:off x="570863" y="5463373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63" name="Oval 62"/>
          <p:cNvSpPr/>
          <p:nvPr/>
        </p:nvSpPr>
        <p:spPr>
          <a:xfrm>
            <a:off x="1978094" y="5454136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65" name="Straight Arrow Connector 64"/>
          <p:cNvCxnSpPr>
            <a:stCxn id="62" idx="0"/>
          </p:cNvCxnSpPr>
          <p:nvPr/>
        </p:nvCxnSpPr>
        <p:spPr bwMode="auto">
          <a:xfrm flipV="1">
            <a:off x="1022292" y="5015500"/>
            <a:ext cx="0" cy="447873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6" name="Straight Arrow Connector 65"/>
          <p:cNvCxnSpPr/>
          <p:nvPr/>
        </p:nvCxnSpPr>
        <p:spPr bwMode="auto">
          <a:xfrm flipV="1">
            <a:off x="2422155" y="5006263"/>
            <a:ext cx="0" cy="447873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15" name="Picture 1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579262" y="1531549"/>
            <a:ext cx="2349500" cy="1092200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294056" y="4434184"/>
            <a:ext cx="330200" cy="241300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04792" y="4396084"/>
            <a:ext cx="635000" cy="279400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04792" y="5782039"/>
            <a:ext cx="635000" cy="279400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294056" y="5801089"/>
            <a:ext cx="330200" cy="241300"/>
          </a:xfrm>
          <a:prstGeom prst="rect">
            <a:avLst/>
          </a:prstGeom>
        </p:spPr>
      </p:pic>
      <p:cxnSp>
        <p:nvCxnSpPr>
          <p:cNvPr id="68" name="Straight Arrow Connector 67"/>
          <p:cNvCxnSpPr>
            <a:endCxn id="5" idx="2"/>
          </p:cNvCxnSpPr>
          <p:nvPr/>
        </p:nvCxnSpPr>
        <p:spPr bwMode="auto">
          <a:xfrm flipV="1">
            <a:off x="3606005" y="4543454"/>
            <a:ext cx="464686" cy="15999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9" name="TextBox 68"/>
          <p:cNvSpPr txBox="1"/>
          <p:nvPr/>
        </p:nvSpPr>
        <p:spPr>
          <a:xfrm>
            <a:off x="3226260" y="4359398"/>
            <a:ext cx="408226" cy="400110"/>
          </a:xfrm>
          <a:prstGeom prst="rect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b="1" dirty="0" smtClean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45196197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6539"/>
            <a:ext cx="8229600" cy="632513"/>
          </a:xfrm>
        </p:spPr>
        <p:txBody>
          <a:bodyPr>
            <a:normAutofit fontScale="90000"/>
          </a:bodyPr>
          <a:lstStyle/>
          <a:p>
            <a:r>
              <a:rPr lang="en-US" sz="3600" dirty="0"/>
              <a:t>Adding Attention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F820A7-D46B-46D8-A3CF-66A8CEAA457D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5" name="Oval 4"/>
          <p:cNvSpPr/>
          <p:nvPr/>
        </p:nvSpPr>
        <p:spPr>
          <a:xfrm>
            <a:off x="4070691" y="4092025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6" name="Oval 5"/>
          <p:cNvSpPr/>
          <p:nvPr/>
        </p:nvSpPr>
        <p:spPr>
          <a:xfrm>
            <a:off x="5908726" y="4082788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7" name="Oval 6"/>
          <p:cNvSpPr/>
          <p:nvPr/>
        </p:nvSpPr>
        <p:spPr>
          <a:xfrm>
            <a:off x="7735215" y="4096643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9" name="Straight Arrow Connector 8"/>
          <p:cNvCxnSpPr>
            <a:stCxn id="5" idx="6"/>
            <a:endCxn id="6" idx="2"/>
          </p:cNvCxnSpPr>
          <p:nvPr/>
        </p:nvCxnSpPr>
        <p:spPr bwMode="auto">
          <a:xfrm flipV="1">
            <a:off x="4973549" y="4534217"/>
            <a:ext cx="935177" cy="9237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" name="Straight Arrow Connector 9"/>
          <p:cNvCxnSpPr>
            <a:stCxn id="6" idx="6"/>
            <a:endCxn id="7" idx="2"/>
          </p:cNvCxnSpPr>
          <p:nvPr/>
        </p:nvCxnSpPr>
        <p:spPr bwMode="auto">
          <a:xfrm>
            <a:off x="6811584" y="4534217"/>
            <a:ext cx="923631" cy="13855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" name="Oval 12"/>
          <p:cNvSpPr/>
          <p:nvPr/>
        </p:nvSpPr>
        <p:spPr>
          <a:xfrm>
            <a:off x="4073000" y="2748055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24" name="Oval 23"/>
          <p:cNvSpPr/>
          <p:nvPr/>
        </p:nvSpPr>
        <p:spPr>
          <a:xfrm>
            <a:off x="5911036" y="2738819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26" name="Oval 25"/>
          <p:cNvSpPr/>
          <p:nvPr/>
        </p:nvSpPr>
        <p:spPr>
          <a:xfrm>
            <a:off x="7735218" y="2750364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41" name="Oval 40"/>
          <p:cNvSpPr/>
          <p:nvPr/>
        </p:nvSpPr>
        <p:spPr>
          <a:xfrm>
            <a:off x="4070691" y="5442756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42" name="Oval 41"/>
          <p:cNvSpPr/>
          <p:nvPr/>
        </p:nvSpPr>
        <p:spPr>
          <a:xfrm>
            <a:off x="5908726" y="5433519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43" name="Oval 42"/>
          <p:cNvSpPr/>
          <p:nvPr/>
        </p:nvSpPr>
        <p:spPr>
          <a:xfrm>
            <a:off x="7735215" y="5447374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46" name="Straight Arrow Connector 45"/>
          <p:cNvCxnSpPr>
            <a:stCxn id="41" idx="0"/>
            <a:endCxn id="5" idx="4"/>
          </p:cNvCxnSpPr>
          <p:nvPr/>
        </p:nvCxnSpPr>
        <p:spPr bwMode="auto">
          <a:xfrm flipV="1">
            <a:off x="4522120" y="4994883"/>
            <a:ext cx="0" cy="447873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29" name="Picture 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7522" y="5714338"/>
            <a:ext cx="584200" cy="368300"/>
          </a:xfrm>
          <a:prstGeom prst="rect">
            <a:avLst/>
          </a:prstGeom>
        </p:spPr>
      </p:pic>
      <p:pic>
        <p:nvPicPr>
          <p:cNvPr id="30" name="Picture 2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4454" y="5714338"/>
            <a:ext cx="584200" cy="368300"/>
          </a:xfrm>
          <a:prstGeom prst="rect">
            <a:avLst/>
          </a:prstGeom>
        </p:spPr>
      </p:pic>
      <p:pic>
        <p:nvPicPr>
          <p:cNvPr id="31" name="Picture 3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1059" y="5714338"/>
            <a:ext cx="266700" cy="355600"/>
          </a:xfrm>
          <a:prstGeom prst="rect">
            <a:avLst/>
          </a:prstGeom>
        </p:spPr>
      </p:pic>
      <p:cxnSp>
        <p:nvCxnSpPr>
          <p:cNvPr id="36" name="Straight Arrow Connector 35"/>
          <p:cNvCxnSpPr/>
          <p:nvPr/>
        </p:nvCxnSpPr>
        <p:spPr bwMode="auto">
          <a:xfrm flipV="1">
            <a:off x="6352787" y="4985646"/>
            <a:ext cx="0" cy="447873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7" name="Straight Arrow Connector 36"/>
          <p:cNvCxnSpPr/>
          <p:nvPr/>
        </p:nvCxnSpPr>
        <p:spPr bwMode="auto">
          <a:xfrm flipV="1">
            <a:off x="8178468" y="4999501"/>
            <a:ext cx="0" cy="447873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8" name="Straight Arrow Connector 37"/>
          <p:cNvCxnSpPr/>
          <p:nvPr/>
        </p:nvCxnSpPr>
        <p:spPr bwMode="auto">
          <a:xfrm flipV="1">
            <a:off x="4522120" y="3650914"/>
            <a:ext cx="0" cy="447873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" name="Straight Arrow Connector 38"/>
          <p:cNvCxnSpPr/>
          <p:nvPr/>
        </p:nvCxnSpPr>
        <p:spPr bwMode="auto">
          <a:xfrm flipV="1">
            <a:off x="6352787" y="3641677"/>
            <a:ext cx="0" cy="447873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" name="Straight Arrow Connector 39"/>
          <p:cNvCxnSpPr/>
          <p:nvPr/>
        </p:nvCxnSpPr>
        <p:spPr bwMode="auto">
          <a:xfrm flipV="1">
            <a:off x="8178468" y="3655532"/>
            <a:ext cx="0" cy="447873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44" name="Picture 4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1450" y="3016935"/>
            <a:ext cx="266700" cy="355600"/>
          </a:xfrm>
          <a:prstGeom prst="rect">
            <a:avLst/>
          </a:prstGeom>
        </p:spPr>
      </p:pic>
      <p:pic>
        <p:nvPicPr>
          <p:cNvPr id="45" name="Picture 4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6047" y="3016935"/>
            <a:ext cx="584200" cy="368300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42554" y="3042335"/>
            <a:ext cx="546100" cy="342900"/>
          </a:xfrm>
          <a:prstGeom prst="rect">
            <a:avLst/>
          </a:prstGeom>
        </p:spPr>
      </p:pic>
      <p:pic>
        <p:nvPicPr>
          <p:cNvPr id="34" name="Picture 3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01470" y="4408372"/>
            <a:ext cx="241300" cy="279400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06047" y="4408372"/>
            <a:ext cx="533400" cy="279400"/>
          </a:xfrm>
          <a:prstGeom prst="rect">
            <a:avLst/>
          </a:prstGeom>
        </p:spPr>
      </p:pic>
      <p:pic>
        <p:nvPicPr>
          <p:cNvPr id="47" name="Picture 4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42554" y="4408372"/>
            <a:ext cx="546100" cy="279400"/>
          </a:xfrm>
          <a:prstGeom prst="rect">
            <a:avLst/>
          </a:prstGeom>
        </p:spPr>
      </p:pic>
      <p:sp>
        <p:nvSpPr>
          <p:cNvPr id="49" name="Oval 48"/>
          <p:cNvSpPr/>
          <p:nvPr/>
        </p:nvSpPr>
        <p:spPr>
          <a:xfrm>
            <a:off x="570863" y="4112642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1" name="Oval 50"/>
          <p:cNvSpPr/>
          <p:nvPr/>
        </p:nvSpPr>
        <p:spPr>
          <a:xfrm>
            <a:off x="1978094" y="4103405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53" name="Straight Arrow Connector 52"/>
          <p:cNvCxnSpPr>
            <a:endCxn id="51" idx="2"/>
          </p:cNvCxnSpPr>
          <p:nvPr/>
        </p:nvCxnSpPr>
        <p:spPr bwMode="auto">
          <a:xfrm>
            <a:off x="1473721" y="4554834"/>
            <a:ext cx="504373" cy="0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2" name="Oval 61"/>
          <p:cNvSpPr/>
          <p:nvPr/>
        </p:nvSpPr>
        <p:spPr>
          <a:xfrm>
            <a:off x="570863" y="5463373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63" name="Oval 62"/>
          <p:cNvSpPr/>
          <p:nvPr/>
        </p:nvSpPr>
        <p:spPr>
          <a:xfrm>
            <a:off x="1978094" y="5454136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65" name="Straight Arrow Connector 64"/>
          <p:cNvCxnSpPr>
            <a:stCxn id="62" idx="0"/>
          </p:cNvCxnSpPr>
          <p:nvPr/>
        </p:nvCxnSpPr>
        <p:spPr bwMode="auto">
          <a:xfrm flipV="1">
            <a:off x="1022292" y="5015500"/>
            <a:ext cx="0" cy="447873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6" name="Straight Arrow Connector 65"/>
          <p:cNvCxnSpPr/>
          <p:nvPr/>
        </p:nvCxnSpPr>
        <p:spPr bwMode="auto">
          <a:xfrm flipV="1">
            <a:off x="2422155" y="5006263"/>
            <a:ext cx="0" cy="447873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15" name="Picture 1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91047" y="762185"/>
            <a:ext cx="2349500" cy="1092200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294056" y="4434184"/>
            <a:ext cx="330200" cy="241300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4792" y="4396084"/>
            <a:ext cx="635000" cy="279400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04792" y="5782039"/>
            <a:ext cx="635000" cy="279400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294056" y="5801089"/>
            <a:ext cx="330200" cy="241300"/>
          </a:xfrm>
          <a:prstGeom prst="rect">
            <a:avLst/>
          </a:prstGeom>
        </p:spPr>
      </p:pic>
      <p:cxnSp>
        <p:nvCxnSpPr>
          <p:cNvPr id="68" name="Straight Arrow Connector 67"/>
          <p:cNvCxnSpPr>
            <a:endCxn id="5" idx="2"/>
          </p:cNvCxnSpPr>
          <p:nvPr/>
        </p:nvCxnSpPr>
        <p:spPr bwMode="auto">
          <a:xfrm flipV="1">
            <a:off x="3606005" y="4543454"/>
            <a:ext cx="464686" cy="15999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9" name="TextBox 68"/>
          <p:cNvSpPr txBox="1"/>
          <p:nvPr/>
        </p:nvSpPr>
        <p:spPr>
          <a:xfrm>
            <a:off x="3226260" y="4359398"/>
            <a:ext cx="408226" cy="400110"/>
          </a:xfrm>
          <a:prstGeom prst="rect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b="1" dirty="0" smtClean="0"/>
              <a:t>…</a:t>
            </a:r>
          </a:p>
        </p:txBody>
      </p:sp>
      <p:pic>
        <p:nvPicPr>
          <p:cNvPr id="52" name="Picture 51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91047" y="1989264"/>
            <a:ext cx="7734300" cy="647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897712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6539"/>
            <a:ext cx="8229600" cy="632513"/>
          </a:xfrm>
        </p:spPr>
        <p:txBody>
          <a:bodyPr>
            <a:normAutofit fontScale="90000"/>
          </a:bodyPr>
          <a:lstStyle/>
          <a:p>
            <a:r>
              <a:rPr lang="en-US" sz="3600" dirty="0"/>
              <a:t>Adding Attention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F820A7-D46B-46D8-A3CF-66A8CEAA457D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5" name="Oval 4"/>
          <p:cNvSpPr/>
          <p:nvPr/>
        </p:nvSpPr>
        <p:spPr>
          <a:xfrm>
            <a:off x="4070691" y="4092025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6" name="Oval 5"/>
          <p:cNvSpPr/>
          <p:nvPr/>
        </p:nvSpPr>
        <p:spPr>
          <a:xfrm>
            <a:off x="5908726" y="4082788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7" name="Oval 6"/>
          <p:cNvSpPr/>
          <p:nvPr/>
        </p:nvSpPr>
        <p:spPr>
          <a:xfrm>
            <a:off x="7735215" y="4096643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9" name="Straight Arrow Connector 8"/>
          <p:cNvCxnSpPr>
            <a:stCxn id="5" idx="6"/>
            <a:endCxn id="6" idx="2"/>
          </p:cNvCxnSpPr>
          <p:nvPr/>
        </p:nvCxnSpPr>
        <p:spPr bwMode="auto">
          <a:xfrm flipV="1">
            <a:off x="4973549" y="4534217"/>
            <a:ext cx="935177" cy="9237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" name="Straight Arrow Connector 9"/>
          <p:cNvCxnSpPr>
            <a:stCxn id="6" idx="6"/>
            <a:endCxn id="7" idx="2"/>
          </p:cNvCxnSpPr>
          <p:nvPr/>
        </p:nvCxnSpPr>
        <p:spPr bwMode="auto">
          <a:xfrm>
            <a:off x="6811584" y="4534217"/>
            <a:ext cx="923631" cy="13855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" name="Oval 12"/>
          <p:cNvSpPr/>
          <p:nvPr/>
        </p:nvSpPr>
        <p:spPr>
          <a:xfrm>
            <a:off x="4073000" y="2748055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24" name="Oval 23"/>
          <p:cNvSpPr/>
          <p:nvPr/>
        </p:nvSpPr>
        <p:spPr>
          <a:xfrm>
            <a:off x="5911036" y="2738819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26" name="Oval 25"/>
          <p:cNvSpPr/>
          <p:nvPr/>
        </p:nvSpPr>
        <p:spPr>
          <a:xfrm>
            <a:off x="7735218" y="2750364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41" name="Oval 40"/>
          <p:cNvSpPr/>
          <p:nvPr/>
        </p:nvSpPr>
        <p:spPr>
          <a:xfrm>
            <a:off x="4070691" y="5442756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42" name="Oval 41"/>
          <p:cNvSpPr/>
          <p:nvPr/>
        </p:nvSpPr>
        <p:spPr>
          <a:xfrm>
            <a:off x="5908726" y="5433519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43" name="Oval 42"/>
          <p:cNvSpPr/>
          <p:nvPr/>
        </p:nvSpPr>
        <p:spPr>
          <a:xfrm>
            <a:off x="7735215" y="5447374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46" name="Straight Arrow Connector 45"/>
          <p:cNvCxnSpPr>
            <a:stCxn id="41" idx="0"/>
            <a:endCxn id="5" idx="4"/>
          </p:cNvCxnSpPr>
          <p:nvPr/>
        </p:nvCxnSpPr>
        <p:spPr bwMode="auto">
          <a:xfrm flipV="1">
            <a:off x="4522120" y="4994883"/>
            <a:ext cx="0" cy="447873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29" name="Picture 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7522" y="5714338"/>
            <a:ext cx="584200" cy="368300"/>
          </a:xfrm>
          <a:prstGeom prst="rect">
            <a:avLst/>
          </a:prstGeom>
        </p:spPr>
      </p:pic>
      <p:pic>
        <p:nvPicPr>
          <p:cNvPr id="30" name="Picture 2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4454" y="5714338"/>
            <a:ext cx="584200" cy="368300"/>
          </a:xfrm>
          <a:prstGeom prst="rect">
            <a:avLst/>
          </a:prstGeom>
        </p:spPr>
      </p:pic>
      <p:pic>
        <p:nvPicPr>
          <p:cNvPr id="31" name="Picture 3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1059" y="5714338"/>
            <a:ext cx="266700" cy="355600"/>
          </a:xfrm>
          <a:prstGeom prst="rect">
            <a:avLst/>
          </a:prstGeom>
        </p:spPr>
      </p:pic>
      <p:cxnSp>
        <p:nvCxnSpPr>
          <p:cNvPr id="36" name="Straight Arrow Connector 35"/>
          <p:cNvCxnSpPr/>
          <p:nvPr/>
        </p:nvCxnSpPr>
        <p:spPr bwMode="auto">
          <a:xfrm flipV="1">
            <a:off x="6352787" y="4985646"/>
            <a:ext cx="0" cy="447873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7" name="Straight Arrow Connector 36"/>
          <p:cNvCxnSpPr/>
          <p:nvPr/>
        </p:nvCxnSpPr>
        <p:spPr bwMode="auto">
          <a:xfrm flipV="1">
            <a:off x="8178468" y="4999501"/>
            <a:ext cx="0" cy="447873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8" name="Straight Arrow Connector 37"/>
          <p:cNvCxnSpPr/>
          <p:nvPr/>
        </p:nvCxnSpPr>
        <p:spPr bwMode="auto">
          <a:xfrm flipV="1">
            <a:off x="4522120" y="3650914"/>
            <a:ext cx="0" cy="447873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" name="Straight Arrow Connector 38"/>
          <p:cNvCxnSpPr/>
          <p:nvPr/>
        </p:nvCxnSpPr>
        <p:spPr bwMode="auto">
          <a:xfrm flipV="1">
            <a:off x="6352787" y="3641677"/>
            <a:ext cx="0" cy="447873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" name="Straight Arrow Connector 39"/>
          <p:cNvCxnSpPr/>
          <p:nvPr/>
        </p:nvCxnSpPr>
        <p:spPr bwMode="auto">
          <a:xfrm flipV="1">
            <a:off x="8178468" y="3655532"/>
            <a:ext cx="0" cy="447873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44" name="Picture 4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1450" y="3016935"/>
            <a:ext cx="266700" cy="355600"/>
          </a:xfrm>
          <a:prstGeom prst="rect">
            <a:avLst/>
          </a:prstGeom>
        </p:spPr>
      </p:pic>
      <p:pic>
        <p:nvPicPr>
          <p:cNvPr id="45" name="Picture 4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6047" y="3016935"/>
            <a:ext cx="584200" cy="368300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42554" y="3042335"/>
            <a:ext cx="546100" cy="342900"/>
          </a:xfrm>
          <a:prstGeom prst="rect">
            <a:avLst/>
          </a:prstGeom>
        </p:spPr>
      </p:pic>
      <p:pic>
        <p:nvPicPr>
          <p:cNvPr id="34" name="Picture 3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01470" y="4408372"/>
            <a:ext cx="241300" cy="279400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06047" y="4408372"/>
            <a:ext cx="533400" cy="279400"/>
          </a:xfrm>
          <a:prstGeom prst="rect">
            <a:avLst/>
          </a:prstGeom>
        </p:spPr>
      </p:pic>
      <p:pic>
        <p:nvPicPr>
          <p:cNvPr id="47" name="Picture 4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42554" y="4408372"/>
            <a:ext cx="546100" cy="279400"/>
          </a:xfrm>
          <a:prstGeom prst="rect">
            <a:avLst/>
          </a:prstGeom>
        </p:spPr>
      </p:pic>
      <p:sp>
        <p:nvSpPr>
          <p:cNvPr id="49" name="Oval 48"/>
          <p:cNvSpPr/>
          <p:nvPr/>
        </p:nvSpPr>
        <p:spPr>
          <a:xfrm>
            <a:off x="570863" y="4112642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1" name="Oval 50"/>
          <p:cNvSpPr/>
          <p:nvPr/>
        </p:nvSpPr>
        <p:spPr>
          <a:xfrm>
            <a:off x="1978094" y="4103405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53" name="Straight Arrow Connector 52"/>
          <p:cNvCxnSpPr>
            <a:endCxn id="51" idx="2"/>
          </p:cNvCxnSpPr>
          <p:nvPr/>
        </p:nvCxnSpPr>
        <p:spPr bwMode="auto">
          <a:xfrm>
            <a:off x="1473721" y="4554834"/>
            <a:ext cx="504373" cy="0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2" name="Oval 61"/>
          <p:cNvSpPr/>
          <p:nvPr/>
        </p:nvSpPr>
        <p:spPr>
          <a:xfrm>
            <a:off x="570863" y="5463373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63" name="Oval 62"/>
          <p:cNvSpPr/>
          <p:nvPr/>
        </p:nvSpPr>
        <p:spPr>
          <a:xfrm>
            <a:off x="1978094" y="5454136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65" name="Straight Arrow Connector 64"/>
          <p:cNvCxnSpPr>
            <a:stCxn id="62" idx="0"/>
          </p:cNvCxnSpPr>
          <p:nvPr/>
        </p:nvCxnSpPr>
        <p:spPr bwMode="auto">
          <a:xfrm flipV="1">
            <a:off x="1022292" y="5015500"/>
            <a:ext cx="0" cy="447873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6" name="Straight Arrow Connector 65"/>
          <p:cNvCxnSpPr/>
          <p:nvPr/>
        </p:nvCxnSpPr>
        <p:spPr bwMode="auto">
          <a:xfrm flipV="1">
            <a:off x="2422155" y="5006263"/>
            <a:ext cx="0" cy="447873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16" name="Picture 1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94056" y="4434184"/>
            <a:ext cx="330200" cy="241300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4792" y="4396084"/>
            <a:ext cx="635000" cy="279400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4792" y="5782039"/>
            <a:ext cx="635000" cy="279400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294056" y="5801089"/>
            <a:ext cx="330200" cy="241300"/>
          </a:xfrm>
          <a:prstGeom prst="rect">
            <a:avLst/>
          </a:prstGeom>
        </p:spPr>
      </p:pic>
      <p:cxnSp>
        <p:nvCxnSpPr>
          <p:cNvPr id="68" name="Straight Arrow Connector 67"/>
          <p:cNvCxnSpPr>
            <a:endCxn id="5" idx="2"/>
          </p:cNvCxnSpPr>
          <p:nvPr/>
        </p:nvCxnSpPr>
        <p:spPr bwMode="auto">
          <a:xfrm flipV="1">
            <a:off x="3606005" y="4543454"/>
            <a:ext cx="464686" cy="15999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9" name="TextBox 68"/>
          <p:cNvSpPr txBox="1"/>
          <p:nvPr/>
        </p:nvSpPr>
        <p:spPr>
          <a:xfrm>
            <a:off x="3226260" y="4359398"/>
            <a:ext cx="408226" cy="400110"/>
          </a:xfrm>
          <a:prstGeom prst="rect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b="1" dirty="0" smtClean="0"/>
              <a:t>…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286000" y="1078880"/>
            <a:ext cx="4572000" cy="67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305526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Application: Parsing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18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5205380" y="6002407"/>
            <a:ext cx="3818974" cy="707886"/>
          </a:xfrm>
          <a:prstGeom prst="rect">
            <a:avLst/>
          </a:prstGeom>
          <a:noFill/>
          <a:ln w="28575">
            <a:noFill/>
          </a:ln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288CD2"/>
                </a:solidFill>
              </a:rPr>
              <a:t>“Grammar as a Foreign Language”</a:t>
            </a:r>
          </a:p>
          <a:p>
            <a:r>
              <a:rPr lang="en-US" sz="2000" b="1" dirty="0" smtClean="0">
                <a:solidFill>
                  <a:srgbClr val="288CD2"/>
                </a:solidFill>
              </a:rPr>
              <a:t>{</a:t>
            </a:r>
            <a:r>
              <a:rPr lang="en-US" sz="2000" b="1" dirty="0" err="1" smtClean="0">
                <a:solidFill>
                  <a:srgbClr val="288CD2"/>
                </a:solidFill>
              </a:rPr>
              <a:t>Vinyals</a:t>
            </a:r>
            <a:r>
              <a:rPr lang="en-US" sz="2000" b="1" dirty="0" smtClean="0">
                <a:solidFill>
                  <a:srgbClr val="288CD2"/>
                </a:solidFill>
              </a:rPr>
              <a:t>, Kaiser} et al. (2015)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700" y="1841500"/>
            <a:ext cx="8597900" cy="317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41163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Application: Parsing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19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5205380" y="6002407"/>
            <a:ext cx="3818974" cy="707886"/>
          </a:xfrm>
          <a:prstGeom prst="rect">
            <a:avLst/>
          </a:prstGeom>
          <a:noFill/>
          <a:ln w="28575">
            <a:noFill/>
          </a:ln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288CD2"/>
                </a:solidFill>
              </a:rPr>
              <a:t>“Grammar as a Foreign Language”</a:t>
            </a:r>
          </a:p>
          <a:p>
            <a:r>
              <a:rPr lang="en-US" sz="2000" b="1" dirty="0" smtClean="0">
                <a:solidFill>
                  <a:srgbClr val="288CD2"/>
                </a:solidFill>
              </a:rPr>
              <a:t>{</a:t>
            </a:r>
            <a:r>
              <a:rPr lang="en-US" sz="2000" b="1" dirty="0" err="1" smtClean="0">
                <a:solidFill>
                  <a:srgbClr val="288CD2"/>
                </a:solidFill>
              </a:rPr>
              <a:t>Vinyals</a:t>
            </a:r>
            <a:r>
              <a:rPr lang="en-US" sz="2000" b="1" dirty="0" smtClean="0">
                <a:solidFill>
                  <a:srgbClr val="288CD2"/>
                </a:solidFill>
              </a:rPr>
              <a:t>, Kaiser} et al. (2015)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85900"/>
            <a:ext cx="9144000" cy="3869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14199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Extension: Copy Mechanism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20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1309609" y="6002407"/>
            <a:ext cx="7791541" cy="707886"/>
          </a:xfrm>
          <a:prstGeom prst="rect">
            <a:avLst/>
          </a:prstGeom>
          <a:noFill/>
          <a:ln w="28575">
            <a:noFill/>
          </a:ln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288CD2"/>
                </a:solidFill>
              </a:rPr>
              <a:t>“Incorporating Copying Mechanism in Sequence-to-Sequence Learning”</a:t>
            </a:r>
          </a:p>
          <a:p>
            <a:r>
              <a:rPr lang="en-US" sz="2000" b="1" dirty="0" err="1" smtClean="0">
                <a:solidFill>
                  <a:srgbClr val="288CD2"/>
                </a:solidFill>
              </a:rPr>
              <a:t>Gu</a:t>
            </a:r>
            <a:r>
              <a:rPr lang="en-US" sz="2000" b="1" dirty="0" smtClean="0">
                <a:solidFill>
                  <a:srgbClr val="288CD2"/>
                </a:solidFill>
              </a:rPr>
              <a:t> et al. (2016)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302" y="1676400"/>
            <a:ext cx="7157927" cy="3154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74612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Extension: Copy Mechanism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21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1309609" y="6002407"/>
            <a:ext cx="7791541" cy="707886"/>
          </a:xfrm>
          <a:prstGeom prst="rect">
            <a:avLst/>
          </a:prstGeom>
          <a:noFill/>
          <a:ln w="28575">
            <a:noFill/>
          </a:ln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288CD2"/>
                </a:solidFill>
              </a:rPr>
              <a:t>“Incorporating Copying Mechanism in Sequence-to-Sequence Learning”</a:t>
            </a:r>
          </a:p>
          <a:p>
            <a:r>
              <a:rPr lang="en-US" sz="2000" b="1" dirty="0" err="1" smtClean="0">
                <a:solidFill>
                  <a:srgbClr val="288CD2"/>
                </a:solidFill>
              </a:rPr>
              <a:t>Gu</a:t>
            </a:r>
            <a:r>
              <a:rPr lang="en-US" sz="2000" b="1" dirty="0" smtClean="0">
                <a:solidFill>
                  <a:srgbClr val="288CD2"/>
                </a:solidFill>
              </a:rPr>
              <a:t> et al. (2016)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57300"/>
            <a:ext cx="9144000" cy="4318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963668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Extension: Copy Mechanism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22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1309609" y="6002407"/>
            <a:ext cx="7791541" cy="707886"/>
          </a:xfrm>
          <a:prstGeom prst="rect">
            <a:avLst/>
          </a:prstGeom>
          <a:noFill/>
          <a:ln w="28575">
            <a:noFill/>
          </a:ln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288CD2"/>
                </a:solidFill>
              </a:rPr>
              <a:t>“Incorporating Copying Mechanism in Sequence-to-Sequence Learning”</a:t>
            </a:r>
          </a:p>
          <a:p>
            <a:r>
              <a:rPr lang="en-US" sz="2000" b="1" dirty="0" err="1" smtClean="0">
                <a:solidFill>
                  <a:srgbClr val="288CD2"/>
                </a:solidFill>
              </a:rPr>
              <a:t>Gu</a:t>
            </a:r>
            <a:r>
              <a:rPr lang="en-US" sz="2000" b="1" dirty="0" smtClean="0">
                <a:solidFill>
                  <a:srgbClr val="288CD2"/>
                </a:solidFill>
              </a:rPr>
              <a:t> et al. (2016)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601" y="943882"/>
            <a:ext cx="7777141" cy="4760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950362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Reading Comprehension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138704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791200"/>
          </a:xfrm>
        </p:spPr>
        <p:txBody>
          <a:bodyPr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Once there was a boy named Fritz who loved to draw. He drew everything. In the morning, he drew a picture of his cereal with milk. His papa said, </a:t>
            </a:r>
            <a:r>
              <a:rPr lang="en-US" sz="2400" dirty="0" smtClean="0">
                <a:solidFill>
                  <a:srgbClr val="000000"/>
                </a:solidFill>
              </a:rPr>
              <a:t>“Don’t </a:t>
            </a:r>
            <a:r>
              <a:rPr lang="en-US" sz="2400" dirty="0">
                <a:solidFill>
                  <a:srgbClr val="000000"/>
                </a:solidFill>
              </a:rPr>
              <a:t>draw your cereal. Eat it</a:t>
            </a:r>
            <a:r>
              <a:rPr lang="en-US" sz="2400" dirty="0" smtClean="0">
                <a:solidFill>
                  <a:srgbClr val="000000"/>
                </a:solidFill>
              </a:rPr>
              <a:t>!” </a:t>
            </a:r>
          </a:p>
          <a:p>
            <a:pPr marL="0" indent="0">
              <a:buNone/>
            </a:pPr>
            <a:r>
              <a:rPr lang="en-US" sz="2400" dirty="0" smtClean="0">
                <a:solidFill>
                  <a:srgbClr val="000000"/>
                </a:solidFill>
              </a:rPr>
              <a:t>After school, Fritz drew a picture of his bicycle. His uncle said, “Don't draw your bicycle. Ride it!”</a:t>
            </a:r>
          </a:p>
          <a:p>
            <a:pPr marL="0" indent="0">
              <a:buNone/>
            </a:pPr>
            <a:r>
              <a:rPr lang="en-US" sz="2400" dirty="0" smtClean="0">
                <a:solidFill>
                  <a:srgbClr val="000000"/>
                </a:solidFill>
              </a:rPr>
              <a:t>…</a:t>
            </a:r>
          </a:p>
          <a:p>
            <a:pPr marL="0" indent="0">
              <a:buNone/>
            </a:pPr>
            <a:endParaRPr lang="en-US" sz="2400" dirty="0" smtClean="0">
              <a:solidFill>
                <a:srgbClr val="000000"/>
              </a:solidFill>
            </a:endParaRPr>
          </a:p>
          <a:p>
            <a:pPr marL="0" indent="0">
              <a:buNone/>
            </a:pPr>
            <a:r>
              <a:rPr lang="en-US" sz="2400" dirty="0" smtClean="0">
                <a:solidFill>
                  <a:srgbClr val="000000"/>
                </a:solidFill>
              </a:rPr>
              <a:t>What </a:t>
            </a:r>
            <a:r>
              <a:rPr lang="en-US" sz="2400" dirty="0">
                <a:solidFill>
                  <a:srgbClr val="000000"/>
                </a:solidFill>
              </a:rPr>
              <a:t>did Fritz draw first?</a:t>
            </a:r>
          </a:p>
          <a:p>
            <a:pPr marL="0" indent="0">
              <a:buNone/>
            </a:pPr>
            <a:r>
              <a:rPr lang="en-US" sz="2400" dirty="0" smtClean="0">
                <a:solidFill>
                  <a:srgbClr val="000000"/>
                </a:solidFill>
              </a:rPr>
              <a:t>    A) the </a:t>
            </a:r>
            <a:r>
              <a:rPr lang="en-US" sz="2400" dirty="0">
                <a:solidFill>
                  <a:srgbClr val="000000"/>
                </a:solidFill>
              </a:rPr>
              <a:t>toothpaste</a:t>
            </a:r>
          </a:p>
          <a:p>
            <a:pPr marL="0" indent="0">
              <a:buNone/>
            </a:pPr>
            <a:r>
              <a:rPr lang="en-US" sz="2400" dirty="0" smtClean="0">
                <a:solidFill>
                  <a:srgbClr val="000000"/>
                </a:solidFill>
              </a:rPr>
              <a:t>    B</a:t>
            </a:r>
            <a:r>
              <a:rPr lang="en-US" sz="2400" dirty="0">
                <a:solidFill>
                  <a:srgbClr val="000000"/>
                </a:solidFill>
              </a:rPr>
              <a:t>) his mama</a:t>
            </a:r>
          </a:p>
          <a:p>
            <a:pPr marL="0" indent="0">
              <a:buNone/>
            </a:pPr>
            <a:r>
              <a:rPr lang="en-US" sz="2400" b="1" dirty="0" smtClean="0">
                <a:solidFill>
                  <a:srgbClr val="000000"/>
                </a:solidFill>
              </a:rPr>
              <a:t>    </a:t>
            </a:r>
            <a:r>
              <a:rPr lang="en-US" sz="2400" dirty="0" smtClean="0">
                <a:solidFill>
                  <a:srgbClr val="000000"/>
                </a:solidFill>
              </a:rPr>
              <a:t>C</a:t>
            </a:r>
            <a:r>
              <a:rPr lang="en-US" sz="2400" dirty="0">
                <a:solidFill>
                  <a:srgbClr val="000000"/>
                </a:solidFill>
              </a:rPr>
              <a:t>) cereal and milk</a:t>
            </a:r>
          </a:p>
          <a:p>
            <a:pPr marL="0" indent="0">
              <a:buNone/>
            </a:pPr>
            <a:r>
              <a:rPr lang="en-US" sz="2400" dirty="0" smtClean="0">
                <a:solidFill>
                  <a:srgbClr val="000000"/>
                </a:solidFill>
              </a:rPr>
              <a:t>    D</a:t>
            </a:r>
            <a:r>
              <a:rPr lang="en-US" sz="2400" dirty="0">
                <a:solidFill>
                  <a:srgbClr val="000000"/>
                </a:solidFill>
              </a:rPr>
              <a:t>) his </a:t>
            </a:r>
            <a:r>
              <a:rPr lang="en-US" sz="2400" dirty="0" smtClean="0">
                <a:solidFill>
                  <a:srgbClr val="000000"/>
                </a:solidFill>
              </a:rPr>
              <a:t>bicycle</a:t>
            </a:r>
            <a:endParaRPr lang="en-US" sz="2400" dirty="0"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F820A7-D46B-46D8-A3CF-66A8CEAA457D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3757672" y="5705812"/>
            <a:ext cx="5386328" cy="1015663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288CD2"/>
                </a:solidFill>
              </a:rPr>
              <a:t>“</a:t>
            </a:r>
            <a:r>
              <a:rPr lang="en-US" sz="2000" b="1" dirty="0" err="1" smtClean="0">
                <a:solidFill>
                  <a:srgbClr val="288CD2"/>
                </a:solidFill>
              </a:rPr>
              <a:t>MCTest</a:t>
            </a:r>
            <a:r>
              <a:rPr lang="en-US" sz="2000" b="1" dirty="0" smtClean="0">
                <a:solidFill>
                  <a:srgbClr val="288CD2"/>
                </a:solidFill>
              </a:rPr>
              <a:t>: A Challenge Dataset for the </a:t>
            </a:r>
          </a:p>
          <a:p>
            <a:r>
              <a:rPr lang="en-US" sz="2000" b="1" dirty="0" smtClean="0">
                <a:solidFill>
                  <a:srgbClr val="288CD2"/>
                </a:solidFill>
              </a:rPr>
              <a:t>Open-Domain Machine Comprehension of Text”</a:t>
            </a:r>
            <a:endParaRPr lang="en-US" sz="2000" b="1" dirty="0">
              <a:solidFill>
                <a:srgbClr val="288CD2"/>
              </a:solidFill>
            </a:endParaRPr>
          </a:p>
          <a:p>
            <a:r>
              <a:rPr lang="en-US" sz="2000" b="1" dirty="0" smtClean="0">
                <a:solidFill>
                  <a:srgbClr val="288CD2"/>
                </a:solidFill>
              </a:rPr>
              <a:t>Richardson et al. (2013)</a:t>
            </a:r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304800" y="152400"/>
            <a:ext cx="8534400" cy="990600"/>
          </a:xfrm>
        </p:spPr>
        <p:txBody>
          <a:bodyPr/>
          <a:lstStyle/>
          <a:p>
            <a:r>
              <a:rPr lang="en-US" sz="3200" dirty="0"/>
              <a:t>Dataset</a:t>
            </a:r>
            <a:r>
              <a:rPr lang="en-US" sz="3200" dirty="0" smtClean="0"/>
              <a:t>: </a:t>
            </a:r>
            <a:r>
              <a:rPr lang="en-US" sz="3200" dirty="0" err="1" smtClean="0"/>
              <a:t>MCTest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23055960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791200"/>
          </a:xfrm>
        </p:spPr>
        <p:txBody>
          <a:bodyPr/>
          <a:lstStyle/>
          <a:p>
            <a:pPr marL="0" indent="0">
              <a:buNone/>
            </a:pPr>
            <a:r>
              <a:rPr lang="en-US" sz="2400" dirty="0"/>
              <a:t>Once there was a boy named </a:t>
            </a:r>
            <a:r>
              <a:rPr lang="en-US" sz="2400" dirty="0">
                <a:solidFill>
                  <a:srgbClr val="00B900"/>
                </a:solidFill>
              </a:rPr>
              <a:t>Fritz </a:t>
            </a:r>
            <a:r>
              <a:rPr lang="en-US" sz="2400" dirty="0"/>
              <a:t>who loved to draw. He drew everything. In the morning, </a:t>
            </a:r>
            <a:r>
              <a:rPr lang="en-US" sz="2400" dirty="0">
                <a:solidFill>
                  <a:srgbClr val="00B900"/>
                </a:solidFill>
              </a:rPr>
              <a:t>he drew a picture of his cereal with milk</a:t>
            </a:r>
            <a:r>
              <a:rPr lang="en-US" sz="2400" dirty="0"/>
              <a:t>. His papa said, </a:t>
            </a:r>
            <a:r>
              <a:rPr lang="en-US" sz="2400" dirty="0" smtClean="0"/>
              <a:t>“Don’t </a:t>
            </a:r>
            <a:r>
              <a:rPr lang="en-US" sz="2400" dirty="0"/>
              <a:t>draw your cereal. Eat it</a:t>
            </a:r>
            <a:r>
              <a:rPr lang="en-US" sz="2400" dirty="0" smtClean="0"/>
              <a:t>!” </a:t>
            </a:r>
          </a:p>
          <a:p>
            <a:pPr marL="0" indent="0">
              <a:buNone/>
            </a:pPr>
            <a:r>
              <a:rPr lang="en-US" sz="2400" dirty="0" smtClean="0"/>
              <a:t>After school, Fritz drew a picture of his bicycle. His uncle said, “Don't draw your bicycle. Ride it!”</a:t>
            </a:r>
          </a:p>
          <a:p>
            <a:pPr marL="0" indent="0">
              <a:buNone/>
            </a:pPr>
            <a:r>
              <a:rPr lang="en-US" sz="2400" dirty="0" smtClean="0"/>
              <a:t>…</a:t>
            </a:r>
          </a:p>
          <a:p>
            <a:pPr marL="0" indent="0">
              <a:buNone/>
            </a:pPr>
            <a:endParaRPr lang="en-US" sz="2400" dirty="0" smtClean="0"/>
          </a:p>
          <a:p>
            <a:pPr marL="0" indent="0">
              <a:buNone/>
            </a:pPr>
            <a:r>
              <a:rPr lang="en-US" sz="2400" dirty="0" smtClean="0"/>
              <a:t>What </a:t>
            </a:r>
            <a:r>
              <a:rPr lang="en-US" sz="2400" dirty="0"/>
              <a:t>did Fritz draw first?</a:t>
            </a:r>
          </a:p>
          <a:p>
            <a:pPr marL="0" indent="0">
              <a:buNone/>
            </a:pPr>
            <a:r>
              <a:rPr lang="en-US" sz="2400" dirty="0" smtClean="0"/>
              <a:t>    A) the </a:t>
            </a:r>
            <a:r>
              <a:rPr lang="en-US" sz="2400" dirty="0"/>
              <a:t>toothpaste</a:t>
            </a:r>
          </a:p>
          <a:p>
            <a:pPr marL="0" indent="0">
              <a:buNone/>
            </a:pPr>
            <a:r>
              <a:rPr lang="en-US" sz="2400" dirty="0" smtClean="0"/>
              <a:t>    B</a:t>
            </a:r>
            <a:r>
              <a:rPr lang="en-US" sz="2400" dirty="0"/>
              <a:t>) his mama</a:t>
            </a:r>
          </a:p>
          <a:p>
            <a:pPr marL="0" indent="0">
              <a:buNone/>
            </a:pPr>
            <a:r>
              <a:rPr lang="en-US" sz="2400" b="1" dirty="0" smtClean="0">
                <a:solidFill>
                  <a:srgbClr val="41AFFD"/>
                </a:solidFill>
              </a:rPr>
              <a:t>    </a:t>
            </a:r>
            <a:r>
              <a:rPr lang="en-US" sz="2400" b="1" dirty="0" smtClean="0">
                <a:solidFill>
                  <a:srgbClr val="00B900"/>
                </a:solidFill>
              </a:rPr>
              <a:t>C</a:t>
            </a:r>
            <a:r>
              <a:rPr lang="en-US" sz="2400" b="1" dirty="0">
                <a:solidFill>
                  <a:srgbClr val="00B900"/>
                </a:solidFill>
              </a:rPr>
              <a:t>) cereal and milk</a:t>
            </a:r>
          </a:p>
          <a:p>
            <a:pPr marL="0" indent="0">
              <a:buNone/>
            </a:pPr>
            <a:r>
              <a:rPr lang="en-US" sz="2400" dirty="0" smtClean="0"/>
              <a:t>    D</a:t>
            </a:r>
            <a:r>
              <a:rPr lang="en-US" sz="2400" dirty="0"/>
              <a:t>) his </a:t>
            </a:r>
            <a:r>
              <a:rPr lang="en-US" sz="2400" dirty="0" smtClean="0"/>
              <a:t>bicycle</a:t>
            </a: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F820A7-D46B-46D8-A3CF-66A8CEAA457D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3757672" y="5705812"/>
            <a:ext cx="5386328" cy="1015663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288CD2"/>
                </a:solidFill>
              </a:rPr>
              <a:t>“</a:t>
            </a:r>
            <a:r>
              <a:rPr lang="en-US" sz="2000" b="1" dirty="0" err="1" smtClean="0">
                <a:solidFill>
                  <a:srgbClr val="288CD2"/>
                </a:solidFill>
              </a:rPr>
              <a:t>MCTest</a:t>
            </a:r>
            <a:r>
              <a:rPr lang="en-US" sz="2000" b="1" dirty="0" smtClean="0">
                <a:solidFill>
                  <a:srgbClr val="288CD2"/>
                </a:solidFill>
              </a:rPr>
              <a:t>: A Challenge Dataset for the </a:t>
            </a:r>
          </a:p>
          <a:p>
            <a:r>
              <a:rPr lang="en-US" sz="2000" b="1" dirty="0" smtClean="0">
                <a:solidFill>
                  <a:srgbClr val="288CD2"/>
                </a:solidFill>
              </a:rPr>
              <a:t>Open-Domain Machine Comprehension of Text”</a:t>
            </a:r>
            <a:endParaRPr lang="en-US" sz="2000" b="1" dirty="0">
              <a:solidFill>
                <a:srgbClr val="288CD2"/>
              </a:solidFill>
            </a:endParaRPr>
          </a:p>
          <a:p>
            <a:r>
              <a:rPr lang="en-US" sz="2000" b="1" dirty="0" smtClean="0">
                <a:solidFill>
                  <a:srgbClr val="288CD2"/>
                </a:solidFill>
              </a:rPr>
              <a:t>Richardson et al. (2013)</a:t>
            </a:r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304800" y="152400"/>
            <a:ext cx="8534400" cy="990600"/>
          </a:xfrm>
        </p:spPr>
        <p:txBody>
          <a:bodyPr/>
          <a:lstStyle/>
          <a:p>
            <a:r>
              <a:rPr lang="en-US" sz="3200" dirty="0"/>
              <a:t>Dataset</a:t>
            </a:r>
            <a:r>
              <a:rPr lang="en-US" sz="3200" dirty="0" smtClean="0"/>
              <a:t>: </a:t>
            </a:r>
            <a:r>
              <a:rPr lang="en-US" sz="3200" dirty="0" err="1" smtClean="0"/>
              <a:t>MCTest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51099634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F820A7-D46B-46D8-A3CF-66A8CEAA457D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3757672" y="5705812"/>
            <a:ext cx="5386328" cy="1015663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288CD2"/>
                </a:solidFill>
              </a:rPr>
              <a:t>“</a:t>
            </a:r>
            <a:r>
              <a:rPr lang="en-US" sz="2000" b="1" dirty="0" err="1" smtClean="0">
                <a:solidFill>
                  <a:srgbClr val="288CD2"/>
                </a:solidFill>
              </a:rPr>
              <a:t>MCTest</a:t>
            </a:r>
            <a:r>
              <a:rPr lang="en-US" sz="2000" b="1" dirty="0" smtClean="0">
                <a:solidFill>
                  <a:srgbClr val="288CD2"/>
                </a:solidFill>
              </a:rPr>
              <a:t>: A Challenge Dataset for the </a:t>
            </a:r>
          </a:p>
          <a:p>
            <a:r>
              <a:rPr lang="en-US" sz="2000" b="1" dirty="0" smtClean="0">
                <a:solidFill>
                  <a:srgbClr val="288CD2"/>
                </a:solidFill>
              </a:rPr>
              <a:t>Open-Domain Machine Comprehension of Text”</a:t>
            </a:r>
            <a:endParaRPr lang="en-US" sz="2000" b="1" dirty="0">
              <a:solidFill>
                <a:srgbClr val="288CD2"/>
              </a:solidFill>
            </a:endParaRPr>
          </a:p>
          <a:p>
            <a:r>
              <a:rPr lang="en-US" sz="2000" b="1" dirty="0" smtClean="0">
                <a:solidFill>
                  <a:srgbClr val="288CD2"/>
                </a:solidFill>
              </a:rPr>
              <a:t>Richardson et al. (2013)</a:t>
            </a:r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304800" y="152400"/>
            <a:ext cx="8534400" cy="990600"/>
          </a:xfrm>
        </p:spPr>
        <p:txBody>
          <a:bodyPr/>
          <a:lstStyle/>
          <a:p>
            <a:r>
              <a:rPr lang="en-US" sz="3200" dirty="0"/>
              <a:t>Dataset</a:t>
            </a:r>
            <a:r>
              <a:rPr lang="en-US" sz="3200" dirty="0" smtClean="0"/>
              <a:t>: </a:t>
            </a:r>
            <a:r>
              <a:rPr lang="en-US" sz="3200" dirty="0" err="1" smtClean="0"/>
              <a:t>MCTest</a:t>
            </a:r>
            <a:endParaRPr lang="en-US" sz="2400" dirty="0"/>
          </a:p>
        </p:txBody>
      </p:sp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304800" y="3033355"/>
            <a:ext cx="8545929" cy="1107996"/>
          </a:xfrm>
          <a:prstGeom prst="rect">
            <a:avLst/>
          </a:prstGeom>
          <a:solidFill>
            <a:srgbClr val="0062AC"/>
          </a:solidFill>
          <a:ln w="38100" cmpd="sng">
            <a:solidFill>
              <a:srgbClr val="0062AC"/>
            </a:solidFill>
            <a:miter lim="800000"/>
            <a:headEnd/>
            <a:tailEnd/>
          </a:ln>
          <a:extLst/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288925" indent="-288925" eaLnBrk="1" hangingPunct="1">
              <a:spcBef>
                <a:spcPts val="1200"/>
              </a:spcBef>
              <a:spcAft>
                <a:spcPts val="0"/>
              </a:spcAft>
              <a:buFont typeface="Arial"/>
              <a:buChar char="•"/>
            </a:pPr>
            <a:r>
              <a:rPr lang="en-US" sz="2800" i="0" dirty="0" smtClean="0">
                <a:solidFill>
                  <a:schemeClr val="bg1"/>
                </a:solidFill>
                <a:latin typeface="Calibri"/>
                <a:cs typeface="Calibri"/>
              </a:rPr>
              <a:t>660 fictional stories, written at a 4</a:t>
            </a:r>
            <a:r>
              <a:rPr lang="en-US" sz="2800" i="0" baseline="30000" dirty="0" smtClean="0">
                <a:solidFill>
                  <a:schemeClr val="bg1"/>
                </a:solidFill>
                <a:latin typeface="Calibri"/>
                <a:cs typeface="Calibri"/>
              </a:rPr>
              <a:t>th</a:t>
            </a:r>
            <a:r>
              <a:rPr lang="en-US" sz="2800" i="0" dirty="0" smtClean="0">
                <a:solidFill>
                  <a:schemeClr val="bg1"/>
                </a:solidFill>
                <a:latin typeface="Calibri"/>
                <a:cs typeface="Calibri"/>
              </a:rPr>
              <a:t> grade reading level</a:t>
            </a:r>
          </a:p>
          <a:p>
            <a:pPr marL="288925" indent="-288925" eaLnBrk="1" hangingPunct="1">
              <a:spcBef>
                <a:spcPts val="1200"/>
              </a:spcBef>
              <a:spcAft>
                <a:spcPts val="0"/>
              </a:spcAft>
              <a:buFont typeface="Arial"/>
              <a:buChar char="•"/>
            </a:pPr>
            <a:r>
              <a:rPr lang="en-US" sz="2800" i="0" dirty="0" smtClean="0">
                <a:solidFill>
                  <a:schemeClr val="bg1"/>
                </a:solidFill>
                <a:latin typeface="Calibri"/>
                <a:cs typeface="Calibri"/>
              </a:rPr>
              <a:t>4 multiple choice questions per story</a:t>
            </a:r>
          </a:p>
        </p:txBody>
      </p:sp>
    </p:spTree>
    <p:extLst>
      <p:ext uri="{BB962C8B-B14F-4D97-AF65-F5344CB8AC3E}">
        <p14:creationId xmlns:p14="http://schemas.microsoft.com/office/powerpoint/2010/main" val="204015696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52400"/>
            <a:ext cx="8534400" cy="990600"/>
          </a:xfrm>
        </p:spPr>
        <p:txBody>
          <a:bodyPr/>
          <a:lstStyle/>
          <a:p>
            <a:r>
              <a:rPr lang="en-US" sz="3200" dirty="0"/>
              <a:t>Dataset</a:t>
            </a:r>
            <a:r>
              <a:rPr lang="en-US" sz="3200" dirty="0" smtClean="0"/>
              <a:t>: CNN/Daily Mail Comprehension Tasks</a:t>
            </a:r>
            <a:endParaRPr lang="en-US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800600"/>
          </a:xfrm>
        </p:spPr>
        <p:txBody>
          <a:bodyPr/>
          <a:lstStyle/>
          <a:p>
            <a:pPr marL="0" indent="0">
              <a:buNone/>
            </a:pPr>
            <a:r>
              <a:rPr lang="en-US" sz="2400" b="1" dirty="0" smtClean="0"/>
              <a:t>Document:</a:t>
            </a:r>
          </a:p>
          <a:p>
            <a:pPr marL="0" indent="0">
              <a:buNone/>
            </a:pPr>
            <a:r>
              <a:rPr lang="en-US" sz="2400" dirty="0" smtClean="0"/>
              <a:t>actress </a:t>
            </a:r>
            <a:r>
              <a:rPr lang="en-US" sz="2400" dirty="0"/>
              <a:t>@entity1 has entered a rehab facility for her addictions , a spokesman said . </a:t>
            </a:r>
            <a:r>
              <a:rPr lang="en-US" sz="2400" dirty="0" smtClean="0"/>
              <a:t> " </a:t>
            </a:r>
            <a:r>
              <a:rPr lang="en-US" sz="2400" dirty="0"/>
              <a:t>@entity1 has valiantly battled substance abuse over the years and whenever she has needed to seek treatment she has done so , " </a:t>
            </a:r>
            <a:r>
              <a:rPr lang="en-US" sz="2400" dirty="0" smtClean="0"/>
              <a:t> said </a:t>
            </a:r>
            <a:r>
              <a:rPr lang="en-US" sz="2400" dirty="0"/>
              <a:t>spokesman @entity5 </a:t>
            </a:r>
            <a:r>
              <a:rPr lang="en-US" sz="2400" dirty="0" smtClean="0"/>
              <a:t>… @</a:t>
            </a:r>
            <a:r>
              <a:rPr lang="en-US" sz="2400" dirty="0"/>
              <a:t>entity1 won an @entity15 in 1973 for her performance in " cabaret </a:t>
            </a:r>
            <a:r>
              <a:rPr lang="en-US" sz="2400" dirty="0" smtClean="0"/>
              <a:t>. </a:t>
            </a:r>
            <a:r>
              <a:rPr lang="en-US" sz="2400" dirty="0"/>
              <a:t>"</a:t>
            </a:r>
            <a:r>
              <a:rPr lang="en-US" sz="2400" dirty="0" smtClean="0"/>
              <a:t> …</a:t>
            </a:r>
            <a:endParaRPr lang="en-US" sz="2400" dirty="0"/>
          </a:p>
          <a:p>
            <a:pPr marL="0" indent="0">
              <a:buNone/>
            </a:pPr>
            <a:endParaRPr lang="en-US" sz="2400" dirty="0" smtClean="0"/>
          </a:p>
          <a:p>
            <a:pPr marL="0" indent="0">
              <a:buNone/>
            </a:pPr>
            <a:r>
              <a:rPr lang="en-US" sz="2400" b="1" dirty="0" smtClean="0"/>
              <a:t>Question:</a:t>
            </a:r>
            <a:endParaRPr lang="en-US" sz="2400" b="1" dirty="0"/>
          </a:p>
          <a:p>
            <a:pPr marL="0" indent="0">
              <a:buNone/>
            </a:pPr>
            <a:r>
              <a:rPr lang="en-US" sz="2400" dirty="0" smtClean="0"/>
              <a:t>XXXXX </a:t>
            </a:r>
            <a:r>
              <a:rPr lang="en-US" sz="2400" dirty="0"/>
              <a:t>won an @entity15 for her performance in " cabaret "</a:t>
            </a:r>
          </a:p>
          <a:p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F820A7-D46B-46D8-A3CF-66A8CEAA457D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4008443" y="5742057"/>
            <a:ext cx="5224106" cy="707886"/>
          </a:xfrm>
          <a:prstGeom prst="rect">
            <a:avLst/>
          </a:prstGeom>
          <a:noFill/>
          <a:ln w="28575">
            <a:noFill/>
          </a:ln>
        </p:spPr>
        <p:txBody>
          <a:bodyPr wrap="none" rtlCol="0">
            <a:spAutoFit/>
          </a:bodyPr>
          <a:lstStyle/>
          <a:p>
            <a:r>
              <a:rPr lang="en-US" sz="2000" b="1" dirty="0" smtClean="0">
                <a:solidFill>
                  <a:srgbClr val="288CD2"/>
                </a:solidFill>
              </a:rPr>
              <a:t>“Teaching Machines to Read and Comprehend”</a:t>
            </a:r>
            <a:endParaRPr lang="en-US" sz="2000" b="1" dirty="0">
              <a:solidFill>
                <a:srgbClr val="288CD2"/>
              </a:solidFill>
            </a:endParaRPr>
          </a:p>
          <a:p>
            <a:r>
              <a:rPr lang="en-US" sz="2000" b="1" dirty="0" smtClean="0">
                <a:solidFill>
                  <a:srgbClr val="288CD2"/>
                </a:solidFill>
              </a:rPr>
              <a:t>Hermann et al. (2015)</a:t>
            </a:r>
          </a:p>
        </p:txBody>
      </p:sp>
    </p:spTree>
    <p:extLst>
      <p:ext uri="{BB962C8B-B14F-4D97-AF65-F5344CB8AC3E}">
        <p14:creationId xmlns:p14="http://schemas.microsoft.com/office/powerpoint/2010/main" val="245168047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52400"/>
            <a:ext cx="8534400" cy="990600"/>
          </a:xfrm>
        </p:spPr>
        <p:txBody>
          <a:bodyPr/>
          <a:lstStyle/>
          <a:p>
            <a:r>
              <a:rPr lang="en-US" sz="3200" dirty="0"/>
              <a:t>Dataset: CNN/Daily Mail Comprehension Tasks</a:t>
            </a:r>
            <a:endParaRPr lang="en-US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800600"/>
          </a:xfrm>
        </p:spPr>
        <p:txBody>
          <a:bodyPr/>
          <a:lstStyle/>
          <a:p>
            <a:pPr marL="0" indent="0">
              <a:buNone/>
            </a:pPr>
            <a:r>
              <a:rPr lang="en-US" sz="2400" b="1" dirty="0" smtClean="0"/>
              <a:t>Document:</a:t>
            </a:r>
          </a:p>
          <a:p>
            <a:pPr marL="0" indent="0">
              <a:buNone/>
            </a:pPr>
            <a:r>
              <a:rPr lang="en-US" sz="2400" dirty="0" smtClean="0"/>
              <a:t>actress </a:t>
            </a:r>
            <a:r>
              <a:rPr lang="en-US" sz="2400" dirty="0"/>
              <a:t>@entity1 has entered a rehab facility for her addictions , a spokesman said . </a:t>
            </a:r>
            <a:r>
              <a:rPr lang="en-US" sz="2400" dirty="0" smtClean="0"/>
              <a:t> " </a:t>
            </a:r>
            <a:r>
              <a:rPr lang="en-US" sz="2400" dirty="0"/>
              <a:t>@entity1 has valiantly battled substance abuse over the years and whenever she has needed to seek treatment she has done so , " </a:t>
            </a:r>
            <a:r>
              <a:rPr lang="en-US" sz="2400" dirty="0" smtClean="0"/>
              <a:t> said </a:t>
            </a:r>
            <a:r>
              <a:rPr lang="en-US" sz="2400" dirty="0"/>
              <a:t>spokesman @entity5 </a:t>
            </a:r>
            <a:r>
              <a:rPr lang="en-US" sz="2400" dirty="0" smtClean="0"/>
              <a:t>… </a:t>
            </a:r>
            <a:r>
              <a:rPr lang="en-US" sz="2400" b="1" dirty="0" smtClean="0"/>
              <a:t>@</a:t>
            </a:r>
            <a:r>
              <a:rPr lang="en-US" sz="2400" b="1" dirty="0"/>
              <a:t>entity1 won an @entity15 in 1973 for her performance in " cabaret </a:t>
            </a:r>
            <a:r>
              <a:rPr lang="en-US" sz="2400" b="1" dirty="0" smtClean="0"/>
              <a:t>. </a:t>
            </a:r>
            <a:r>
              <a:rPr lang="en-US" sz="2400" b="1" dirty="0"/>
              <a:t>"</a:t>
            </a:r>
            <a:r>
              <a:rPr lang="en-US" sz="2400" dirty="0" smtClean="0"/>
              <a:t> …</a:t>
            </a:r>
            <a:endParaRPr lang="en-US" sz="2400" dirty="0"/>
          </a:p>
          <a:p>
            <a:pPr marL="0" indent="0">
              <a:buNone/>
            </a:pPr>
            <a:endParaRPr lang="en-US" sz="2400" dirty="0" smtClean="0"/>
          </a:p>
          <a:p>
            <a:pPr marL="0" indent="0">
              <a:buNone/>
            </a:pPr>
            <a:r>
              <a:rPr lang="en-US" sz="2400" b="1" dirty="0" smtClean="0"/>
              <a:t>Question:</a:t>
            </a:r>
            <a:endParaRPr lang="en-US" sz="2400" b="1" dirty="0"/>
          </a:p>
          <a:p>
            <a:pPr marL="0" indent="0">
              <a:buNone/>
            </a:pPr>
            <a:r>
              <a:rPr lang="en-US" sz="2400" dirty="0" smtClean="0"/>
              <a:t>XXXXX </a:t>
            </a:r>
            <a:r>
              <a:rPr lang="en-US" sz="2400" dirty="0"/>
              <a:t>won an @entity15 for her performance in " cabaret "</a:t>
            </a:r>
          </a:p>
          <a:p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F820A7-D46B-46D8-A3CF-66A8CEAA457D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4008443" y="5742057"/>
            <a:ext cx="5224106" cy="707886"/>
          </a:xfrm>
          <a:prstGeom prst="rect">
            <a:avLst/>
          </a:prstGeom>
          <a:noFill/>
          <a:ln w="28575">
            <a:noFill/>
          </a:ln>
        </p:spPr>
        <p:txBody>
          <a:bodyPr wrap="none" rtlCol="0">
            <a:spAutoFit/>
          </a:bodyPr>
          <a:lstStyle/>
          <a:p>
            <a:r>
              <a:rPr lang="en-US" sz="2000" b="1" dirty="0" smtClean="0">
                <a:solidFill>
                  <a:srgbClr val="288CD2"/>
                </a:solidFill>
              </a:rPr>
              <a:t>“Teaching Machines to Read and Comprehend”</a:t>
            </a:r>
            <a:endParaRPr lang="en-US" sz="2000" b="1" dirty="0">
              <a:solidFill>
                <a:srgbClr val="288CD2"/>
              </a:solidFill>
            </a:endParaRPr>
          </a:p>
          <a:p>
            <a:r>
              <a:rPr lang="en-US" sz="2000" b="1" dirty="0" smtClean="0">
                <a:solidFill>
                  <a:srgbClr val="288CD2"/>
                </a:solidFill>
              </a:rPr>
              <a:t>Hermann et al. (2015)</a:t>
            </a:r>
          </a:p>
        </p:txBody>
      </p:sp>
    </p:spTree>
    <p:extLst>
      <p:ext uri="{BB962C8B-B14F-4D97-AF65-F5344CB8AC3E}">
        <p14:creationId xmlns:p14="http://schemas.microsoft.com/office/powerpoint/2010/main" val="326405145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Dataset: </a:t>
            </a:r>
            <a:r>
              <a:rPr lang="en-US" dirty="0" err="1" smtClean="0"/>
              <a:t>SQuAD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29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1309609" y="6002407"/>
            <a:ext cx="7286219" cy="707886"/>
          </a:xfrm>
          <a:prstGeom prst="rect">
            <a:avLst/>
          </a:prstGeom>
          <a:noFill/>
          <a:ln w="28575">
            <a:noFill/>
          </a:ln>
        </p:spPr>
        <p:txBody>
          <a:bodyPr wrap="none" rtlCol="0">
            <a:spAutoFit/>
          </a:bodyPr>
          <a:lstStyle/>
          <a:p>
            <a:r>
              <a:rPr lang="en-US" sz="2000" b="1" dirty="0" smtClean="0">
                <a:solidFill>
                  <a:srgbClr val="288CD2"/>
                </a:solidFill>
              </a:rPr>
              <a:t>“</a:t>
            </a:r>
            <a:r>
              <a:rPr lang="en-US" sz="2000" b="1" dirty="0" err="1" smtClean="0">
                <a:solidFill>
                  <a:srgbClr val="288CD2"/>
                </a:solidFill>
              </a:rPr>
              <a:t>SQuAD</a:t>
            </a:r>
            <a:r>
              <a:rPr lang="en-US" sz="2000" b="1" dirty="0" smtClean="0">
                <a:solidFill>
                  <a:srgbClr val="288CD2"/>
                </a:solidFill>
              </a:rPr>
              <a:t>: 100,000+ Questions for Machine Comprehension of Text”</a:t>
            </a:r>
            <a:endParaRPr lang="en-US" sz="2000" b="1" dirty="0">
              <a:solidFill>
                <a:srgbClr val="288CD2"/>
              </a:solidFill>
            </a:endParaRPr>
          </a:p>
          <a:p>
            <a:r>
              <a:rPr lang="en-US" sz="2000" b="1" dirty="0" err="1" smtClean="0">
                <a:solidFill>
                  <a:srgbClr val="288CD2"/>
                </a:solidFill>
              </a:rPr>
              <a:t>Rajpurkar</a:t>
            </a:r>
            <a:r>
              <a:rPr lang="en-US" sz="2000" b="1" dirty="0" smtClean="0">
                <a:solidFill>
                  <a:srgbClr val="288CD2"/>
                </a:solidFill>
              </a:rPr>
              <a:t> et al. (2016)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/>
          <a:srcRect t="1843" b="19317"/>
          <a:stretch/>
        </p:blipFill>
        <p:spPr>
          <a:xfrm>
            <a:off x="1944647" y="976756"/>
            <a:ext cx="5346740" cy="4942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073054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Neural Models for Comprehension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 smtClean="0"/>
              <a:t>lots of recent activity here!</a:t>
            </a:r>
          </a:p>
          <a:p>
            <a:pPr lvl="1"/>
            <a:r>
              <a:rPr lang="en-US" sz="2400" dirty="0" smtClean="0"/>
              <a:t>Hermann et al. (2015)</a:t>
            </a:r>
          </a:p>
          <a:p>
            <a:pPr lvl="1"/>
            <a:r>
              <a:rPr lang="en-US" sz="2400" dirty="0" smtClean="0"/>
              <a:t>Hill et al. (2016)</a:t>
            </a:r>
          </a:p>
          <a:p>
            <a:pPr lvl="1"/>
            <a:r>
              <a:rPr lang="en-US" sz="2400" dirty="0" smtClean="0"/>
              <a:t>Chen et al. (2016)</a:t>
            </a:r>
          </a:p>
          <a:p>
            <a:pPr lvl="1"/>
            <a:r>
              <a:rPr lang="en-US" sz="2400" dirty="0" err="1" smtClean="0"/>
              <a:t>Kadlec</a:t>
            </a:r>
            <a:r>
              <a:rPr lang="en-US" sz="2400" dirty="0" smtClean="0"/>
              <a:t> et al. (2016)</a:t>
            </a:r>
          </a:p>
          <a:p>
            <a:pPr lvl="1"/>
            <a:r>
              <a:rPr lang="en-US" sz="2400" dirty="0" err="1" smtClean="0"/>
              <a:t>Dhingra</a:t>
            </a:r>
            <a:r>
              <a:rPr lang="en-US" sz="2400" dirty="0" smtClean="0"/>
              <a:t> et al. (2016)</a:t>
            </a:r>
          </a:p>
          <a:p>
            <a:pPr lvl="1"/>
            <a:r>
              <a:rPr lang="en-US" sz="2400" i="1" dirty="0" smtClean="0"/>
              <a:t>inter alia</a:t>
            </a:r>
          </a:p>
          <a:p>
            <a:r>
              <a:rPr lang="en-US" sz="2800" dirty="0" smtClean="0"/>
              <a:t>we will describe the Attention Sum Reader (</a:t>
            </a:r>
            <a:r>
              <a:rPr lang="en-US" sz="2800" dirty="0" err="1" smtClean="0"/>
              <a:t>Kadlec</a:t>
            </a:r>
            <a:r>
              <a:rPr lang="en-US" sz="2800" dirty="0" smtClean="0"/>
              <a:t> et al., 2016) because it is simple and works well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F820A7-D46B-46D8-A3CF-66A8CEAA457D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610416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76200"/>
            <a:ext cx="8534400" cy="914400"/>
          </a:xfrm>
        </p:spPr>
        <p:txBody>
          <a:bodyPr>
            <a:normAutofit fontScale="90000"/>
          </a:bodyPr>
          <a:lstStyle/>
          <a:p>
            <a:r>
              <a:rPr lang="en-US" sz="3200" dirty="0" smtClean="0"/>
              <a:t>Attention Sum Reader</a:t>
            </a:r>
            <a:br>
              <a:rPr lang="en-US" sz="3200" dirty="0" smtClean="0"/>
            </a:br>
            <a:r>
              <a:rPr lang="en-US" sz="2400" dirty="0" smtClean="0"/>
              <a:t>(</a:t>
            </a:r>
            <a:r>
              <a:rPr lang="en-US" sz="2400" dirty="0" err="1" smtClean="0"/>
              <a:t>Kadlec</a:t>
            </a:r>
            <a:r>
              <a:rPr lang="en-US" sz="2400" dirty="0" smtClean="0"/>
              <a:t> et al., 2016)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07182"/>
            <a:ext cx="9043133" cy="4684018"/>
          </a:xfr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F820A7-D46B-46D8-A3CF-66A8CEAA457D}" type="slidenum">
              <a:rPr lang="en-US" smtClean="0"/>
              <a:pPr/>
              <a:t>31</a:t>
            </a:fld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0" y="1905000"/>
            <a:ext cx="9144000" cy="4114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</p:spTree>
    <p:extLst>
      <p:ext uri="{BB962C8B-B14F-4D97-AF65-F5344CB8AC3E}">
        <p14:creationId xmlns:p14="http://schemas.microsoft.com/office/powerpoint/2010/main" val="417990911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76200"/>
            <a:ext cx="8534400" cy="914400"/>
          </a:xfrm>
        </p:spPr>
        <p:txBody>
          <a:bodyPr>
            <a:normAutofit fontScale="90000"/>
          </a:bodyPr>
          <a:lstStyle/>
          <a:p>
            <a:r>
              <a:rPr lang="en-US" sz="3200" dirty="0" smtClean="0"/>
              <a:t>Attention Sum Reader</a:t>
            </a:r>
            <a:br>
              <a:rPr lang="en-US" sz="3200" dirty="0" smtClean="0"/>
            </a:br>
            <a:r>
              <a:rPr lang="en-US" sz="2400" dirty="0" smtClean="0"/>
              <a:t>(</a:t>
            </a:r>
            <a:r>
              <a:rPr lang="en-US" sz="2400" dirty="0" err="1" smtClean="0"/>
              <a:t>Kadlec</a:t>
            </a:r>
            <a:r>
              <a:rPr lang="en-US" sz="2400" dirty="0" smtClean="0"/>
              <a:t> et al., 2016)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07182"/>
            <a:ext cx="9043133" cy="4684018"/>
          </a:xfr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F820A7-D46B-46D8-A3CF-66A8CEAA457D}" type="slidenum">
              <a:rPr lang="en-US" smtClean="0"/>
              <a:pPr/>
              <a:t>32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0" y="3352800"/>
            <a:ext cx="9144000" cy="2590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457200" y="3657600"/>
            <a:ext cx="8229600" cy="2362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288CD2"/>
              </a:buClr>
              <a:buSzPct val="8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288CD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Calibri"/>
                <a:cs typeface="Calibri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288CD2"/>
              </a:buClr>
              <a:buSzPct val="8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/>
                <a:cs typeface="Calibri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288CD2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Calibri"/>
                <a:cs typeface="Calibri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/>
                <a:cs typeface="Calibri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sz="2800" i="0" dirty="0" smtClean="0"/>
              <a:t>Encode document using bidirectional RNN</a:t>
            </a:r>
          </a:p>
          <a:p>
            <a:r>
              <a:rPr lang="en-US" sz="2800" i="0" dirty="0" smtClean="0"/>
              <a:t>Encode question using another bidirectional RNN</a:t>
            </a:r>
          </a:p>
        </p:txBody>
      </p:sp>
    </p:spTree>
    <p:extLst>
      <p:ext uri="{BB962C8B-B14F-4D97-AF65-F5344CB8AC3E}">
        <p14:creationId xmlns:p14="http://schemas.microsoft.com/office/powerpoint/2010/main" val="254874912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76200"/>
            <a:ext cx="8534400" cy="914400"/>
          </a:xfrm>
        </p:spPr>
        <p:txBody>
          <a:bodyPr>
            <a:normAutofit fontScale="90000"/>
          </a:bodyPr>
          <a:lstStyle/>
          <a:p>
            <a:r>
              <a:rPr lang="en-US" sz="3200" dirty="0" smtClean="0"/>
              <a:t>Attention Sum Reader</a:t>
            </a:r>
            <a:br>
              <a:rPr lang="en-US" sz="3200" dirty="0" smtClean="0"/>
            </a:br>
            <a:r>
              <a:rPr lang="en-US" sz="2400" dirty="0" smtClean="0"/>
              <a:t>(</a:t>
            </a:r>
            <a:r>
              <a:rPr lang="en-US" sz="2400" dirty="0" err="1" smtClean="0"/>
              <a:t>Kadlec</a:t>
            </a:r>
            <a:r>
              <a:rPr lang="en-US" sz="2400" dirty="0" smtClean="0"/>
              <a:t> et al., 2016)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07182"/>
            <a:ext cx="9043133" cy="4684018"/>
          </a:xfr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F820A7-D46B-46D8-A3CF-66A8CEAA457D}" type="slidenum">
              <a:rPr lang="en-US" smtClean="0"/>
              <a:pPr/>
              <a:t>33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0" y="3810000"/>
            <a:ext cx="9144000" cy="2133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457200" y="3962400"/>
            <a:ext cx="8229600" cy="2362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288CD2"/>
              </a:buClr>
              <a:buSzPct val="8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288CD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Calibri"/>
                <a:cs typeface="Calibri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288CD2"/>
              </a:buClr>
              <a:buSzPct val="8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/>
                <a:cs typeface="Calibri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288CD2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Calibri"/>
                <a:cs typeface="Calibri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/>
                <a:cs typeface="Calibri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sz="2800" i="0" dirty="0" smtClean="0"/>
              <a:t>Compute </a:t>
            </a:r>
            <a:r>
              <a:rPr lang="en-US" sz="2800" i="0" dirty="0"/>
              <a:t>attention over positions of </a:t>
            </a:r>
            <a:r>
              <a:rPr lang="en-US" sz="2800" i="0" dirty="0" smtClean="0"/>
              <a:t>document using </a:t>
            </a:r>
            <a:r>
              <a:rPr lang="en-US" sz="2800" i="0" dirty="0"/>
              <a:t>question representation</a:t>
            </a:r>
          </a:p>
          <a:p>
            <a:endParaRPr lang="en-US" sz="2800" i="0" dirty="0" smtClean="0"/>
          </a:p>
        </p:txBody>
      </p:sp>
    </p:spTree>
    <p:extLst>
      <p:ext uri="{BB962C8B-B14F-4D97-AF65-F5344CB8AC3E}">
        <p14:creationId xmlns:p14="http://schemas.microsoft.com/office/powerpoint/2010/main" val="228469148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76200"/>
            <a:ext cx="8534400" cy="914400"/>
          </a:xfrm>
        </p:spPr>
        <p:txBody>
          <a:bodyPr>
            <a:normAutofit fontScale="90000"/>
          </a:bodyPr>
          <a:lstStyle/>
          <a:p>
            <a:r>
              <a:rPr lang="en-US" sz="3200" dirty="0" smtClean="0"/>
              <a:t>Attention Sum Reader</a:t>
            </a:r>
            <a:br>
              <a:rPr lang="en-US" sz="3200" dirty="0" smtClean="0"/>
            </a:br>
            <a:r>
              <a:rPr lang="en-US" sz="2400" dirty="0" smtClean="0"/>
              <a:t>(</a:t>
            </a:r>
            <a:r>
              <a:rPr lang="en-US" sz="2400" dirty="0" err="1" smtClean="0"/>
              <a:t>Kadlec</a:t>
            </a:r>
            <a:r>
              <a:rPr lang="en-US" sz="2400" dirty="0" smtClean="0"/>
              <a:t> et al., 2016)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07182"/>
            <a:ext cx="9043133" cy="4684018"/>
          </a:xfr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F820A7-D46B-46D8-A3CF-66A8CEAA457D}" type="slidenum">
              <a:rPr lang="en-US" smtClean="0"/>
              <a:pPr/>
              <a:t>34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0" y="4800600"/>
            <a:ext cx="9144000" cy="1143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457200" y="4953000"/>
            <a:ext cx="8229600" cy="129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288CD2"/>
              </a:buClr>
              <a:buSzPct val="8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288CD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Calibri"/>
                <a:cs typeface="Calibri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288CD2"/>
              </a:buClr>
              <a:buSzPct val="8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/>
                <a:cs typeface="Calibri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288CD2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Calibri"/>
                <a:cs typeface="Calibri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/>
                <a:cs typeface="Calibri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sz="2800" i="0" dirty="0" smtClean="0"/>
              <a:t>Normalize over </a:t>
            </a:r>
            <a:r>
              <a:rPr lang="en-US" sz="2800" i="0" dirty="0"/>
              <a:t>positions of </a:t>
            </a:r>
            <a:r>
              <a:rPr lang="en-US" sz="2800" i="0" dirty="0" smtClean="0"/>
              <a:t>document</a:t>
            </a:r>
            <a:endParaRPr lang="en-US" sz="2800" i="0" dirty="0"/>
          </a:p>
          <a:p>
            <a:endParaRPr lang="en-US" sz="2800" i="0" dirty="0" smtClean="0"/>
          </a:p>
        </p:txBody>
      </p:sp>
    </p:spTree>
    <p:extLst>
      <p:ext uri="{BB962C8B-B14F-4D97-AF65-F5344CB8AC3E}">
        <p14:creationId xmlns:p14="http://schemas.microsoft.com/office/powerpoint/2010/main" val="309251941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76200"/>
            <a:ext cx="8534400" cy="914400"/>
          </a:xfrm>
        </p:spPr>
        <p:txBody>
          <a:bodyPr>
            <a:normAutofit fontScale="90000"/>
          </a:bodyPr>
          <a:lstStyle/>
          <a:p>
            <a:r>
              <a:rPr lang="en-US" sz="3200" dirty="0" smtClean="0"/>
              <a:t>Attention Sum Reader</a:t>
            </a:r>
            <a:br>
              <a:rPr lang="en-US" sz="3200" dirty="0" smtClean="0"/>
            </a:br>
            <a:r>
              <a:rPr lang="en-US" sz="2400" dirty="0" smtClean="0"/>
              <a:t>(</a:t>
            </a:r>
            <a:r>
              <a:rPr lang="en-US" sz="2400" dirty="0" err="1" smtClean="0"/>
              <a:t>Kadlec</a:t>
            </a:r>
            <a:r>
              <a:rPr lang="en-US" sz="2400" dirty="0" smtClean="0"/>
              <a:t> et al., 2016)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07182"/>
            <a:ext cx="9043133" cy="4684018"/>
          </a:xfr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F820A7-D46B-46D8-A3CF-66A8CEAA457D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066733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76200"/>
            <a:ext cx="8534400" cy="990600"/>
          </a:xfrm>
        </p:spPr>
        <p:txBody>
          <a:bodyPr/>
          <a:lstStyle/>
          <a:p>
            <a:r>
              <a:rPr lang="en-US" sz="3200" dirty="0" smtClean="0"/>
              <a:t>Gated Attention Reader</a:t>
            </a:r>
            <a:br>
              <a:rPr lang="en-US" sz="3200" dirty="0" smtClean="0"/>
            </a:br>
            <a:r>
              <a:rPr lang="en-US" sz="2400" dirty="0" smtClean="0"/>
              <a:t>(</a:t>
            </a:r>
            <a:r>
              <a:rPr lang="en-US" sz="2400" dirty="0" err="1" smtClean="0"/>
              <a:t>Dhingra</a:t>
            </a:r>
            <a:r>
              <a:rPr lang="en-US" sz="2400" dirty="0" smtClean="0"/>
              <a:t> et al., 2016)</a:t>
            </a: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F820A7-D46B-46D8-A3CF-66A8CEAA457D}" type="slidenum">
              <a:rPr lang="en-US" smtClean="0"/>
              <a:pPr/>
              <a:t>36</a:t>
            </a:fld>
            <a:endParaRPr lang="en-US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6200" y="1371600"/>
            <a:ext cx="9353550" cy="3741420"/>
          </a:xfrm>
        </p:spPr>
      </p:pic>
    </p:spTree>
    <p:extLst>
      <p:ext uri="{BB962C8B-B14F-4D97-AF65-F5344CB8AC3E}">
        <p14:creationId xmlns:p14="http://schemas.microsoft.com/office/powerpoint/2010/main" val="181127139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62755</TotalTime>
  <Words>1070</Words>
  <Application>Microsoft Macintosh PowerPoint</Application>
  <PresentationFormat>On-screen Show (4:3)</PresentationFormat>
  <Paragraphs>183</Paragraphs>
  <Slides>36</Slides>
  <Notes>11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37" baseType="lpstr">
      <vt:lpstr>Office Theme</vt:lpstr>
      <vt:lpstr>TTIC 31210: Advanced Natural Language Processing</vt:lpstr>
      <vt:lpstr>Sequence-to-Sequence Modeling</vt:lpstr>
      <vt:lpstr>Application: Machine Translation</vt:lpstr>
      <vt:lpstr>Application: Chatbots</vt:lpstr>
      <vt:lpstr>Input RNN (“Encoder”)</vt:lpstr>
      <vt:lpstr>Output RNN (“Decoder”)</vt:lpstr>
      <vt:lpstr>Output RNN (“Decoder”)</vt:lpstr>
      <vt:lpstr>Output RNN (“Decoder”)</vt:lpstr>
      <vt:lpstr>Distribution over next symbols?</vt:lpstr>
      <vt:lpstr>Extension: Attention</vt:lpstr>
      <vt:lpstr>Extension: Attention</vt:lpstr>
      <vt:lpstr>Extension: Attention</vt:lpstr>
      <vt:lpstr>PowerPoint Presentation</vt:lpstr>
      <vt:lpstr>Adding Attention</vt:lpstr>
      <vt:lpstr>Adding Attention</vt:lpstr>
      <vt:lpstr>Adding Attention</vt:lpstr>
      <vt:lpstr>Adding Attention</vt:lpstr>
      <vt:lpstr>Application: Parsing</vt:lpstr>
      <vt:lpstr>Application: Parsing</vt:lpstr>
      <vt:lpstr>Extension: Copy Mechanism</vt:lpstr>
      <vt:lpstr>Extension: Copy Mechanism</vt:lpstr>
      <vt:lpstr>Extension: Copy Mechanism</vt:lpstr>
      <vt:lpstr>Reading Comprehension</vt:lpstr>
      <vt:lpstr>Dataset: MCTest</vt:lpstr>
      <vt:lpstr>Dataset: MCTest</vt:lpstr>
      <vt:lpstr>Dataset: MCTest</vt:lpstr>
      <vt:lpstr>Dataset: CNN/Daily Mail Comprehension Tasks</vt:lpstr>
      <vt:lpstr>Dataset: CNN/Daily Mail Comprehension Tasks</vt:lpstr>
      <vt:lpstr>Dataset: SQuAD</vt:lpstr>
      <vt:lpstr>Neural Models for Comprehension</vt:lpstr>
      <vt:lpstr>Attention Sum Reader (Kadlec et al., 2016)</vt:lpstr>
      <vt:lpstr>Attention Sum Reader (Kadlec et al., 2016)</vt:lpstr>
      <vt:lpstr>Attention Sum Reader (Kadlec et al., 2016)</vt:lpstr>
      <vt:lpstr>Attention Sum Reader (Kadlec et al., 2016)</vt:lpstr>
      <vt:lpstr>Attention Sum Reader (Kadlec et al., 2016)</vt:lpstr>
      <vt:lpstr>Gated Attention Reader (Dhingra et al., 2016)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TTIC 31190: Natural Language Processing</dc:title>
  <dc:creator>Kevin Gimpel</dc:creator>
  <cp:lastModifiedBy>Kevin Gimpel</cp:lastModifiedBy>
  <cp:revision>769</cp:revision>
  <dcterms:created xsi:type="dcterms:W3CDTF">2015-08-31T18:15:35Z</dcterms:created>
  <dcterms:modified xsi:type="dcterms:W3CDTF">2017-05-02T13:24:22Z</dcterms:modified>
</cp:coreProperties>
</file>