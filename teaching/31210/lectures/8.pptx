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889" r:id="rId3"/>
    <p:sldId id="906" r:id="rId4"/>
    <p:sldId id="907" r:id="rId5"/>
    <p:sldId id="908" r:id="rId6"/>
    <p:sldId id="909" r:id="rId7"/>
    <p:sldId id="911" r:id="rId8"/>
    <p:sldId id="912" r:id="rId9"/>
    <p:sldId id="913" r:id="rId10"/>
    <p:sldId id="914" r:id="rId11"/>
    <p:sldId id="915" r:id="rId12"/>
    <p:sldId id="916" r:id="rId13"/>
    <p:sldId id="917" r:id="rId14"/>
    <p:sldId id="925" r:id="rId15"/>
    <p:sldId id="938" r:id="rId16"/>
    <p:sldId id="918" r:id="rId17"/>
    <p:sldId id="940" r:id="rId18"/>
    <p:sldId id="939" r:id="rId19"/>
    <p:sldId id="932" r:id="rId20"/>
    <p:sldId id="933" r:id="rId21"/>
    <p:sldId id="934" r:id="rId22"/>
    <p:sldId id="935" r:id="rId23"/>
    <p:sldId id="922" r:id="rId24"/>
    <p:sldId id="923" r:id="rId25"/>
    <p:sldId id="936" r:id="rId26"/>
    <p:sldId id="929" r:id="rId27"/>
    <p:sldId id="930" r:id="rId28"/>
    <p:sldId id="931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0000"/>
    <a:srgbClr val="288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00"/>
    <p:restoredTop sz="87280" autoAdjust="0"/>
  </p:normalViewPr>
  <p:slideViewPr>
    <p:cSldViewPr snapToGrid="0" snapToObjects="1">
      <p:cViewPr varScale="1">
        <p:scale>
          <a:sx n="55" d="100"/>
          <a:sy n="55" d="100"/>
        </p:scale>
        <p:origin x="-251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interSettings" Target="printerSettings/printerSettings1.bin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4/26/17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4/26/17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83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83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83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83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83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56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56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956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16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39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39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4/26/17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4/26/17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4/26/17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4/26/17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4/26/17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4/26/17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4/26/17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4/26/17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4/26/17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4/26/17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4/26/17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4/26/17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7" Type="http://schemas.openxmlformats.org/officeDocument/2006/relationships/image" Target="../media/image6.emf"/><Relationship Id="rId8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emf"/><Relationship Id="rId8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emf"/><Relationship Id="rId8" Type="http://schemas.openxmlformats.org/officeDocument/2006/relationships/image" Target="../media/image15.emf"/><Relationship Id="rId9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5.emf"/><Relationship Id="rId7" Type="http://schemas.openxmlformats.org/officeDocument/2006/relationships/image" Target="../media/image12.emf"/><Relationship Id="rId8" Type="http://schemas.openxmlformats.org/officeDocument/2006/relationships/image" Target="../media/image13.emf"/><Relationship Id="rId9" Type="http://schemas.openxmlformats.org/officeDocument/2006/relationships/image" Target="../media/image14.emf"/><Relationship Id="rId10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4" Type="http://schemas.openxmlformats.org/officeDocument/2006/relationships/image" Target="../media/image18.emf"/><Relationship Id="rId5" Type="http://schemas.openxmlformats.org/officeDocument/2006/relationships/image" Target="../media/image19.emf"/><Relationship Id="rId6" Type="http://schemas.openxmlformats.org/officeDocument/2006/relationships/image" Target="../media/image20.emf"/><Relationship Id="rId7" Type="http://schemas.openxmlformats.org/officeDocument/2006/relationships/image" Target="../media/image21.emf"/><Relationship Id="rId8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9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5.emf"/><Relationship Id="rId12" Type="http://schemas.openxmlformats.org/officeDocument/2006/relationships/image" Target="../media/image26.emf"/><Relationship Id="rId13" Type="http://schemas.openxmlformats.org/officeDocument/2006/relationships/image" Target="../media/image27.emf"/><Relationship Id="rId14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Relationship Id="rId3" Type="http://schemas.openxmlformats.org/officeDocument/2006/relationships/image" Target="../media/image9.emf"/><Relationship Id="rId4" Type="http://schemas.openxmlformats.org/officeDocument/2006/relationships/image" Target="../media/image10.emf"/><Relationship Id="rId5" Type="http://schemas.openxmlformats.org/officeDocument/2006/relationships/image" Target="../media/image11.emf"/><Relationship Id="rId6" Type="http://schemas.openxmlformats.org/officeDocument/2006/relationships/image" Target="../media/image12.emf"/><Relationship Id="rId7" Type="http://schemas.openxmlformats.org/officeDocument/2006/relationships/image" Target="../media/image13.emf"/><Relationship Id="rId8" Type="http://schemas.openxmlformats.org/officeDocument/2006/relationships/image" Target="../media/image14.emf"/><Relationship Id="rId9" Type="http://schemas.openxmlformats.org/officeDocument/2006/relationships/image" Target="../media/image23.emf"/><Relationship Id="rId10" Type="http://schemas.openxmlformats.org/officeDocument/2006/relationships/image" Target="../media/image24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4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4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4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TTIC 31210:</a:t>
            </a:r>
            <a:br>
              <a:rPr lang="en-US" dirty="0" smtClean="0"/>
            </a:br>
            <a:r>
              <a:rPr lang="en-US" sz="4000" dirty="0" smtClean="0"/>
              <a:t>Advanced Natural Language Processing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4100" y="1993899"/>
            <a:ext cx="7061200" cy="418106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Spring 2017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8:</a:t>
            </a:r>
          </a:p>
          <a:p>
            <a:r>
              <a:rPr lang="en-US" sz="4000" dirty="0" smtClean="0">
                <a:solidFill>
                  <a:schemeClr val="tx1"/>
                </a:solidFill>
              </a:rPr>
              <a:t>Neural Machine Translation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Neural methods have transformed machine translation</a:t>
            </a:r>
          </a:p>
          <a:p>
            <a:r>
              <a:rPr lang="en-US" dirty="0" smtClean="0"/>
              <a:t>Neural Machine Translation (NMT) systems are typically based on sequence-to-sequence models with attention</a:t>
            </a:r>
          </a:p>
          <a:p>
            <a:r>
              <a:rPr lang="en-US" dirty="0" smtClean="0"/>
              <a:t>Today we’ll describe a number of enhancements/modifications that improve translation quality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36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Input RNN (“Encoder”)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581" y="3181640"/>
            <a:ext cx="2794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765" y="3181640"/>
            <a:ext cx="584200" cy="279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347" y="3181640"/>
            <a:ext cx="571500" cy="2794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47" y="4538952"/>
            <a:ext cx="571500" cy="2794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115" y="4538952"/>
            <a:ext cx="571500" cy="279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1" y="4538952"/>
            <a:ext cx="279400" cy="2794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6848" y="1775333"/>
            <a:ext cx="5194300" cy="55880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31" name="Straight Arrow Connector 30"/>
          <p:cNvCxnSpPr>
            <a:stCxn id="23" idx="0"/>
          </p:cNvCxnSpPr>
          <p:nvPr/>
        </p:nvCxnSpPr>
        <p:spPr bwMode="auto">
          <a:xfrm flipV="1">
            <a:off x="2735013" y="379201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Straight Arrow Connector 35"/>
          <p:cNvCxnSpPr/>
          <p:nvPr/>
        </p:nvCxnSpPr>
        <p:spPr bwMode="auto">
          <a:xfrm flipV="1">
            <a:off x="4565680" y="3782775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6391361" y="379663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320341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Output RNN (“Decoder”)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2735013" y="379201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4565680" y="3782775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6391361" y="379663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2735013" y="244804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4565680" y="243880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6391361" y="245266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43" y="1814064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940" y="1814064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447" y="1839464"/>
            <a:ext cx="546100" cy="34290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4363" y="3205501"/>
            <a:ext cx="241300" cy="27940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940" y="3205501"/>
            <a:ext cx="533400" cy="279400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5447" y="3205501"/>
            <a:ext cx="5461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525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Output RNN (“Decoder”)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2735013" y="379201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4565680" y="3782775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6391361" y="379663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2735013" y="244804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4565680" y="243880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6391361" y="245266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43" y="1814064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940" y="1814064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447" y="1839464"/>
            <a:ext cx="546100" cy="3429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4363" y="3205501"/>
            <a:ext cx="241300" cy="2794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8940" y="3205501"/>
            <a:ext cx="533400" cy="27940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7800" y="5598702"/>
            <a:ext cx="6248400" cy="647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5447" y="3205501"/>
            <a:ext cx="5461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6156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Output RNN (“Decoder”)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2283584" y="288915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21619" y="287991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5948108" y="289377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3186442" y="3331346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5024477" y="3331346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2285893" y="154518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123929" y="15359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48111" y="154749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83584" y="423988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121619" y="423064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48108" y="424450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2735013" y="379201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415" y="4511467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7" y="4511467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52" y="4511467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4565680" y="3782775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6391361" y="379663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2735013" y="244804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4565680" y="243880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6391361" y="245266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43" y="1814064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940" y="1814064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447" y="1839464"/>
            <a:ext cx="546100" cy="34290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5598702"/>
            <a:ext cx="6248400" cy="6477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4363" y="3205501"/>
            <a:ext cx="241300" cy="2794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8940" y="3205501"/>
            <a:ext cx="533400" cy="2794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5447" y="3205501"/>
            <a:ext cx="546100" cy="279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16200" y="833451"/>
            <a:ext cx="39116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3029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Attention for NMT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39"/>
            <a:ext cx="8229600" cy="1908739"/>
          </a:xfrm>
        </p:spPr>
        <p:txBody>
          <a:bodyPr>
            <a:normAutofit/>
          </a:bodyPr>
          <a:lstStyle/>
          <a:p>
            <a:r>
              <a:rPr lang="en-US" dirty="0" err="1" smtClean="0"/>
              <a:t>Luong</a:t>
            </a:r>
            <a:r>
              <a:rPr lang="en-US" dirty="0" smtClean="0"/>
              <a:t> et al. (2015) simplify &amp; generalize the model of </a:t>
            </a:r>
            <a:r>
              <a:rPr lang="en-US" dirty="0" err="1" smtClean="0"/>
              <a:t>Bahdanau</a:t>
            </a:r>
            <a:r>
              <a:rPr lang="en-US" dirty="0" smtClean="0"/>
              <a:t>, and compare different ways of defining attention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41190" y="5703664"/>
            <a:ext cx="8172860" cy="70788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“Effective Approaches to Attention-based Neural Machine Translation”</a:t>
            </a: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Luong</a:t>
            </a:r>
            <a:r>
              <a:rPr lang="en-US" sz="2000" b="1" dirty="0" smtClean="0">
                <a:solidFill>
                  <a:srgbClr val="288CD2"/>
                </a:solidFill>
              </a:rPr>
              <a:t> et al. (2015)</a:t>
            </a:r>
          </a:p>
        </p:txBody>
      </p:sp>
    </p:spTree>
    <p:extLst>
      <p:ext uri="{BB962C8B-B14F-4D97-AF65-F5344CB8AC3E}">
        <p14:creationId xmlns:p14="http://schemas.microsoft.com/office/powerpoint/2010/main" val="21274874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Simplifying Attention for NMT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833" y="944819"/>
            <a:ext cx="1878005" cy="87301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32" y="2490175"/>
            <a:ext cx="7161477" cy="5997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32" y="3184302"/>
            <a:ext cx="4233386" cy="6232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4331" y="1983150"/>
            <a:ext cx="7570107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Bahdanau</a:t>
            </a:r>
            <a:r>
              <a:rPr lang="en-US" sz="2400" b="1" dirty="0" smtClean="0">
                <a:solidFill>
                  <a:srgbClr val="288CD2"/>
                </a:solidFill>
              </a:rPr>
              <a:t> et al. (simplified a bit for clarity):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332" y="5166335"/>
            <a:ext cx="3363190" cy="5997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4332" y="3987202"/>
            <a:ext cx="2296962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Luong</a:t>
            </a:r>
            <a:r>
              <a:rPr lang="en-US" sz="2400" b="1" dirty="0" smtClean="0">
                <a:solidFill>
                  <a:srgbClr val="288CD2"/>
                </a:solidFill>
              </a:rPr>
              <a:t> et al.: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332" y="5943011"/>
            <a:ext cx="3621896" cy="6232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08662" y="1116149"/>
            <a:ext cx="2007116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288CD2"/>
                </a:solidFill>
              </a:rPr>
              <a:t>Same in both: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424332" y="4544586"/>
            <a:ext cx="4406065" cy="461665"/>
            <a:chOff x="424332" y="4544586"/>
            <a:chExt cx="4406065" cy="461665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4332" y="4609372"/>
              <a:ext cx="266700" cy="31750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770938" y="4544586"/>
              <a:ext cx="4059459" cy="46166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just comes from decoder RNN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5543492" y="4313753"/>
            <a:ext cx="3143307" cy="52322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How is this simpler?</a:t>
            </a:r>
          </a:p>
        </p:txBody>
      </p:sp>
    </p:spTree>
    <p:extLst>
      <p:ext uri="{BB962C8B-B14F-4D97-AF65-F5344CB8AC3E}">
        <p14:creationId xmlns:p14="http://schemas.microsoft.com/office/powerpoint/2010/main" val="3259224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Attention Functions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4070691" y="409202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5908726" y="4082788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7735215" y="409664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 flipV="1">
            <a:off x="4973549" y="4534217"/>
            <a:ext cx="935177" cy="9237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 bwMode="auto">
          <a:xfrm>
            <a:off x="6811584" y="4534217"/>
            <a:ext cx="923631" cy="13855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12"/>
          <p:cNvSpPr/>
          <p:nvPr/>
        </p:nvSpPr>
        <p:spPr>
          <a:xfrm>
            <a:off x="4073000" y="274805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911036" y="27388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735218" y="275036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070691" y="544275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5908726" y="5433519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735215" y="5447374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46" name="Straight Arrow Connector 45"/>
          <p:cNvCxnSpPr>
            <a:stCxn id="41" idx="0"/>
            <a:endCxn id="5" idx="4"/>
          </p:cNvCxnSpPr>
          <p:nvPr/>
        </p:nvCxnSpPr>
        <p:spPr bwMode="auto">
          <a:xfrm flipV="1">
            <a:off x="4522120" y="499488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522" y="5714338"/>
            <a:ext cx="584200" cy="36830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454" y="5714338"/>
            <a:ext cx="584200" cy="36830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059" y="5714338"/>
            <a:ext cx="266700" cy="35560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 bwMode="auto">
          <a:xfrm flipV="1">
            <a:off x="6352787" y="4985646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Straight Arrow Connector 36"/>
          <p:cNvCxnSpPr/>
          <p:nvPr/>
        </p:nvCxnSpPr>
        <p:spPr bwMode="auto">
          <a:xfrm flipV="1">
            <a:off x="8178468" y="4999501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4522120" y="3650914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" name="Straight Arrow Connector 38"/>
          <p:cNvCxnSpPr/>
          <p:nvPr/>
        </p:nvCxnSpPr>
        <p:spPr bwMode="auto">
          <a:xfrm flipV="1">
            <a:off x="6352787" y="3641677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8178468" y="3655532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450" y="3016935"/>
            <a:ext cx="266700" cy="3556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047" y="3016935"/>
            <a:ext cx="584200" cy="3683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554" y="3042335"/>
            <a:ext cx="546100" cy="34290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1470" y="4408372"/>
            <a:ext cx="241300" cy="27940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6047" y="4408372"/>
            <a:ext cx="533400" cy="27940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2554" y="4408372"/>
            <a:ext cx="546100" cy="279400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958" y="1479243"/>
            <a:ext cx="3924300" cy="419100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570863" y="4112642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1978094" y="4103405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53" name="Straight Arrow Connector 52"/>
          <p:cNvCxnSpPr>
            <a:endCxn id="51" idx="2"/>
          </p:cNvCxnSpPr>
          <p:nvPr/>
        </p:nvCxnSpPr>
        <p:spPr bwMode="auto">
          <a:xfrm>
            <a:off x="1473721" y="4554834"/>
            <a:ext cx="504373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Oval 61"/>
          <p:cNvSpPr/>
          <p:nvPr/>
        </p:nvSpPr>
        <p:spPr>
          <a:xfrm>
            <a:off x="570863" y="5463373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978094" y="54541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5" name="Straight Arrow Connector 64"/>
          <p:cNvCxnSpPr>
            <a:stCxn id="62" idx="0"/>
          </p:cNvCxnSpPr>
          <p:nvPr/>
        </p:nvCxnSpPr>
        <p:spPr bwMode="auto">
          <a:xfrm flipV="1">
            <a:off x="1022292" y="5015500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" name="Straight Arrow Connector 65"/>
          <p:cNvCxnSpPr/>
          <p:nvPr/>
        </p:nvCxnSpPr>
        <p:spPr bwMode="auto">
          <a:xfrm flipV="1">
            <a:off x="2422155" y="5006263"/>
            <a:ext cx="0" cy="447873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94056" y="4434184"/>
            <a:ext cx="330200" cy="2413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792" y="4396084"/>
            <a:ext cx="635000" cy="279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792" y="5782039"/>
            <a:ext cx="635000" cy="2794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94056" y="5801089"/>
            <a:ext cx="330200" cy="241300"/>
          </a:xfrm>
          <a:prstGeom prst="rect">
            <a:avLst/>
          </a:prstGeom>
        </p:spPr>
      </p:pic>
      <p:cxnSp>
        <p:nvCxnSpPr>
          <p:cNvPr id="68" name="Straight Arrow Connector 67"/>
          <p:cNvCxnSpPr>
            <a:endCxn id="5" idx="2"/>
          </p:cNvCxnSpPr>
          <p:nvPr/>
        </p:nvCxnSpPr>
        <p:spPr bwMode="auto">
          <a:xfrm flipV="1">
            <a:off x="3606005" y="4543454"/>
            <a:ext cx="464686" cy="15999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TextBox 68"/>
          <p:cNvSpPr txBox="1"/>
          <p:nvPr/>
        </p:nvSpPr>
        <p:spPr>
          <a:xfrm>
            <a:off x="3226260" y="4359398"/>
            <a:ext cx="408226" cy="40011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82076" y="1479243"/>
            <a:ext cx="3556000" cy="4064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22271" y="912705"/>
            <a:ext cx="2296963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Bahdanau</a:t>
            </a:r>
            <a:r>
              <a:rPr lang="en-US" sz="2400" b="1" dirty="0" smtClean="0">
                <a:solidFill>
                  <a:srgbClr val="288CD2"/>
                </a:solidFill>
              </a:rPr>
              <a:t> et al.: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49208" y="912705"/>
            <a:ext cx="2296962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Luong</a:t>
            </a:r>
            <a:r>
              <a:rPr lang="en-US" sz="2400" b="1" dirty="0" smtClean="0">
                <a:solidFill>
                  <a:srgbClr val="288CD2"/>
                </a:solidFill>
              </a:rPr>
              <a:t> et al.:</a:t>
            </a:r>
          </a:p>
        </p:txBody>
      </p:sp>
    </p:spTree>
    <p:extLst>
      <p:ext uri="{BB962C8B-B14F-4D97-AF65-F5344CB8AC3E}">
        <p14:creationId xmlns:p14="http://schemas.microsoft.com/office/powerpoint/2010/main" val="30323738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Global Attention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704792" y="651844"/>
            <a:ext cx="7697879" cy="52322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global</a:t>
            </a:r>
            <a:r>
              <a:rPr lang="en-US" sz="2800" dirty="0" smtClean="0"/>
              <a:t> = computed over all hidden vectors of input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2159" y="6125517"/>
            <a:ext cx="2710173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Luong</a:t>
            </a:r>
            <a:r>
              <a:rPr lang="en-US" sz="24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567" y="1168042"/>
            <a:ext cx="4625209" cy="565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8286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/>
          <p:cNvSpPr txBox="1"/>
          <p:nvPr/>
        </p:nvSpPr>
        <p:spPr>
          <a:xfrm>
            <a:off x="562875" y="3006745"/>
            <a:ext cx="3866577" cy="187333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800" b="1" dirty="0" smtClean="0"/>
              <a:t>dot product (“dot”):</a:t>
            </a:r>
          </a:p>
          <a:p>
            <a:pPr>
              <a:lnSpc>
                <a:spcPct val="140000"/>
              </a:lnSpc>
            </a:pPr>
            <a:r>
              <a:rPr lang="en-US" sz="2800" b="1" dirty="0" smtClean="0"/>
              <a:t>bilinear (“general”):</a:t>
            </a:r>
          </a:p>
          <a:p>
            <a:pPr>
              <a:lnSpc>
                <a:spcPct val="140000"/>
              </a:lnSpc>
            </a:pPr>
            <a:r>
              <a:rPr lang="en-US" sz="2800" b="1" dirty="0" smtClean="0"/>
              <a:t>feed-forward (“</a:t>
            </a:r>
            <a:r>
              <a:rPr lang="en-US" sz="2800" b="1" dirty="0" err="1" smtClean="0"/>
              <a:t>concat</a:t>
            </a:r>
            <a:r>
              <a:rPr lang="en-US" sz="2800" b="1" dirty="0" smtClean="0"/>
              <a:t>”):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Global Content</a:t>
            </a:r>
            <a:r>
              <a:rPr lang="en-US" sz="3600" dirty="0"/>
              <a:t>-</a:t>
            </a:r>
            <a:r>
              <a:rPr lang="en-US" sz="3600" dirty="0" smtClean="0"/>
              <a:t>Based Attention Functions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476" y="3168807"/>
            <a:ext cx="3009900" cy="482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474" y="3773092"/>
            <a:ext cx="3797300" cy="4826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04792" y="1064133"/>
            <a:ext cx="7697879" cy="138499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global</a:t>
            </a:r>
            <a:r>
              <a:rPr lang="en-US" sz="2800" dirty="0" smtClean="0"/>
              <a:t> = computed over all hidden vectors of input</a:t>
            </a:r>
          </a:p>
          <a:p>
            <a:r>
              <a:rPr lang="en-US" sz="2800" b="1" dirty="0" smtClean="0"/>
              <a:t>content-based </a:t>
            </a:r>
            <a:r>
              <a:rPr lang="en-US" sz="2800" dirty="0" smtClean="0"/>
              <a:t>= attention function looks at source hidden vectors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92498" y="6125517"/>
            <a:ext cx="2710173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Luong</a:t>
            </a:r>
            <a:r>
              <a:rPr lang="en-US" sz="24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0476" y="4323693"/>
            <a:ext cx="4038600" cy="520700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2982325" y="4844393"/>
            <a:ext cx="3651364" cy="1251652"/>
            <a:chOff x="2982325" y="4844393"/>
            <a:chExt cx="3651364" cy="1251652"/>
          </a:xfrm>
        </p:grpSpPr>
        <p:sp>
          <p:nvSpPr>
            <p:cNvPr id="14" name="TextBox 13"/>
            <p:cNvSpPr txBox="1"/>
            <p:nvPr/>
          </p:nvSpPr>
          <p:spPr>
            <a:xfrm>
              <a:off x="2982325" y="5634380"/>
              <a:ext cx="2710173" cy="46166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/>
                <a:t>parameter vector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 bwMode="auto">
            <a:xfrm flipV="1">
              <a:off x="4910063" y="4844393"/>
              <a:ext cx="1723626" cy="791698"/>
            </a:xfrm>
            <a:prstGeom prst="straightConnector1">
              <a:avLst/>
            </a:prstGeom>
            <a:solidFill>
              <a:schemeClr val="accent1"/>
            </a:solidFill>
            <a:ln w="38100" cap="rnd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8351011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Global </a:t>
            </a:r>
            <a:r>
              <a:rPr lang="en-US" sz="3600" b="1" dirty="0" smtClean="0"/>
              <a:t>Location-Based </a:t>
            </a:r>
            <a:r>
              <a:rPr lang="en-US" sz="3600" dirty="0" smtClean="0"/>
              <a:t>Attention Function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704792" y="1064133"/>
            <a:ext cx="7697879" cy="138499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global</a:t>
            </a:r>
            <a:r>
              <a:rPr lang="en-US" sz="2800" dirty="0" smtClean="0"/>
              <a:t> = computed over all hidden vectors of input</a:t>
            </a:r>
          </a:p>
          <a:p>
            <a:r>
              <a:rPr lang="en-US" sz="2800" b="1" dirty="0" smtClean="0"/>
              <a:t>location-based </a:t>
            </a:r>
            <a:r>
              <a:rPr lang="en-US" sz="2800" dirty="0" smtClean="0"/>
              <a:t>= attention function does </a:t>
            </a:r>
            <a:r>
              <a:rPr lang="en-US" sz="2800" b="1" dirty="0" smtClean="0"/>
              <a:t>not</a:t>
            </a:r>
            <a:r>
              <a:rPr lang="en-US" sz="2800" dirty="0" smtClean="0"/>
              <a:t> look at source hidden vectors themselves, just positions: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92498" y="6125517"/>
            <a:ext cx="2710173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Luong</a:t>
            </a:r>
            <a:r>
              <a:rPr lang="en-US" sz="24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692499" y="3670302"/>
            <a:ext cx="2862572" cy="1880105"/>
            <a:chOff x="5692499" y="3670302"/>
            <a:chExt cx="2862572" cy="1880105"/>
          </a:xfrm>
        </p:grpSpPr>
        <p:sp>
          <p:nvSpPr>
            <p:cNvPr id="14" name="TextBox 13"/>
            <p:cNvSpPr txBox="1"/>
            <p:nvPr/>
          </p:nvSpPr>
          <p:spPr>
            <a:xfrm>
              <a:off x="5844898" y="4350079"/>
              <a:ext cx="2710173" cy="120032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/>
                <a:t>parameter vector for position </a:t>
              </a:r>
              <a:r>
                <a:rPr lang="en-US" sz="2400" b="1" i="1" dirty="0" smtClean="0"/>
                <a:t>u</a:t>
              </a:r>
              <a:r>
                <a:rPr lang="en-US" sz="2400" b="1" dirty="0" smtClean="0"/>
                <a:t> in source sentence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 bwMode="auto">
            <a:xfrm flipH="1" flipV="1">
              <a:off x="5692499" y="3670302"/>
              <a:ext cx="430905" cy="707024"/>
            </a:xfrm>
            <a:prstGeom prst="straightConnector1">
              <a:avLst/>
            </a:prstGeom>
            <a:solidFill>
              <a:schemeClr val="accent1"/>
            </a:solidFill>
            <a:ln w="38100" cap="rnd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800" y="3187700"/>
            <a:ext cx="30607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319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35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60756"/>
          <a:stretch/>
        </p:blipFill>
        <p:spPr>
          <a:xfrm>
            <a:off x="1778000" y="1487921"/>
            <a:ext cx="5588000" cy="16646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7982" y="3945165"/>
            <a:ext cx="6781104" cy="52322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BC0000"/>
                </a:solidFill>
              </a:rPr>
              <a:t>feed-forward (“</a:t>
            </a:r>
            <a:r>
              <a:rPr lang="en-US" sz="2800" b="1" dirty="0" err="1" smtClean="0">
                <a:solidFill>
                  <a:srgbClr val="BC0000"/>
                </a:solidFill>
              </a:rPr>
              <a:t>concat</a:t>
            </a:r>
            <a:r>
              <a:rPr lang="en-US" sz="2800" b="1" dirty="0" smtClean="0">
                <a:solidFill>
                  <a:srgbClr val="BC0000"/>
                </a:solidFill>
              </a:rPr>
              <a:t>”) did not work well!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92498" y="6125517"/>
            <a:ext cx="2710173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Luong</a:t>
            </a:r>
            <a:r>
              <a:rPr lang="en-US" sz="24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sp>
        <p:nvSpPr>
          <p:cNvPr id="9" name="Rectangle 8"/>
          <p:cNvSpPr/>
          <p:nvPr/>
        </p:nvSpPr>
        <p:spPr>
          <a:xfrm>
            <a:off x="5727770" y="1533282"/>
            <a:ext cx="1593275" cy="1619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830366" y="1487921"/>
            <a:ext cx="1678904" cy="699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905137" y="1617191"/>
            <a:ext cx="970224" cy="40011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/>
                <a:cs typeface="Times New Roman"/>
              </a:rPr>
              <a:t>BLEU</a:t>
            </a:r>
          </a:p>
        </p:txBody>
      </p:sp>
    </p:spTree>
    <p:extLst>
      <p:ext uri="{BB962C8B-B14F-4D97-AF65-F5344CB8AC3E}">
        <p14:creationId xmlns:p14="http://schemas.microsoft.com/office/powerpoint/2010/main" val="4815929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Local Attention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457200" y="651844"/>
            <a:ext cx="8229600" cy="52322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local </a:t>
            </a:r>
            <a:r>
              <a:rPr lang="en-US" sz="2800" dirty="0" smtClean="0"/>
              <a:t>= computed over a subset of input hidden vectors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82159" y="6125517"/>
            <a:ext cx="2710173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Luong</a:t>
            </a:r>
            <a:r>
              <a:rPr lang="en-US" sz="24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449" y="1228354"/>
            <a:ext cx="4164883" cy="55275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9411" y="2187751"/>
            <a:ext cx="3903576" cy="3539431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at decoder step   ,</a:t>
            </a:r>
          </a:p>
          <a:p>
            <a:r>
              <a:rPr lang="en-US" sz="2800" dirty="0" smtClean="0"/>
              <a:t>find position      in source sentence,</a:t>
            </a:r>
          </a:p>
          <a:p>
            <a:endParaRPr lang="en-US" sz="2800" dirty="0" smtClean="0"/>
          </a:p>
          <a:p>
            <a:r>
              <a:rPr lang="en-US" sz="2800" dirty="0" smtClean="0"/>
              <a:t>compute attention over a window centered at that position in the source sentence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383" y="2848390"/>
            <a:ext cx="292100" cy="241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177" y="2373461"/>
            <a:ext cx="1143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9200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Local Attention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272160" y="6125517"/>
            <a:ext cx="2710173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Luong</a:t>
            </a:r>
            <a:r>
              <a:rPr lang="en-US" sz="24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37903"/>
          <a:stretch/>
        </p:blipFill>
        <p:spPr>
          <a:xfrm>
            <a:off x="4827449" y="2693039"/>
            <a:ext cx="4164883" cy="34324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2012" y="848673"/>
            <a:ext cx="7697879" cy="2246769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local-m</a:t>
            </a:r>
            <a:r>
              <a:rPr lang="en-US" sz="2800" dirty="0" smtClean="0"/>
              <a:t>:  set             , assumes roughly monotonic alignment between decoder positions and source sentence positions</a:t>
            </a:r>
          </a:p>
          <a:p>
            <a:r>
              <a:rPr lang="en-US" sz="2800" b="1" dirty="0" smtClean="0"/>
              <a:t>local-p: </a:t>
            </a:r>
            <a:r>
              <a:rPr lang="en-US" sz="2800" dirty="0" smtClean="0"/>
              <a:t> predict       based on decoder hidden state and some additional parameters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223" y="1035574"/>
            <a:ext cx="914400" cy="292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140" y="2349422"/>
            <a:ext cx="2921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2763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35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41190" y="6002407"/>
            <a:ext cx="8172860" cy="70788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“Effective Approaches to Attention-based Neural Machine Translation”</a:t>
            </a: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Luong</a:t>
            </a:r>
            <a:r>
              <a:rPr lang="en-US" sz="20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898229"/>
            <a:ext cx="5588000" cy="4241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0" y="1236084"/>
            <a:ext cx="1593275" cy="27355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828936" y="809859"/>
            <a:ext cx="1678904" cy="699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892367" y="1052529"/>
            <a:ext cx="970224" cy="40011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/>
                <a:cs typeface="Times New Roman"/>
              </a:rPr>
              <a:t>BLEU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3221495"/>
            <a:ext cx="4729840" cy="70478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925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35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41190" y="6002407"/>
            <a:ext cx="8172860" cy="70788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“Effective Approaches to Attention-based Neural Machine Translation”</a:t>
            </a: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Luong</a:t>
            </a:r>
            <a:r>
              <a:rPr lang="en-US" sz="20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898229"/>
            <a:ext cx="5588000" cy="4241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0" y="1236084"/>
            <a:ext cx="1593275" cy="27355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828936" y="809859"/>
            <a:ext cx="1678904" cy="699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892367" y="1052529"/>
            <a:ext cx="970224" cy="40011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/>
                <a:cs typeface="Times New Roman"/>
              </a:rPr>
              <a:t>BLEU</a:t>
            </a:r>
          </a:p>
        </p:txBody>
      </p:sp>
    </p:spTree>
    <p:extLst>
      <p:ext uri="{BB962C8B-B14F-4D97-AF65-F5344CB8AC3E}">
        <p14:creationId xmlns:p14="http://schemas.microsoft.com/office/powerpoint/2010/main" val="33597130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6539"/>
            <a:ext cx="8229600" cy="632513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“Input Feeding” of Decoder Hidden States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6282159" y="6125517"/>
            <a:ext cx="2710173" cy="461665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288CD2"/>
                </a:solidFill>
              </a:rPr>
              <a:t>Luong</a:t>
            </a:r>
            <a:r>
              <a:rPr lang="en-US" sz="24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647700"/>
            <a:ext cx="5549900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771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Modeling Coverage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108090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NMT sometimes doesn’t translate all source words, or translates them multiple times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27683" y="5885107"/>
            <a:ext cx="6086367" cy="70788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“Modeling Coverage for Neural Machine </a:t>
            </a:r>
            <a:r>
              <a:rPr lang="en-US" sz="2000" b="1" dirty="0" smtClean="0">
                <a:solidFill>
                  <a:srgbClr val="288CD2"/>
                </a:solidFill>
              </a:rPr>
              <a:t>Translation”</a:t>
            </a: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Tu</a:t>
            </a:r>
            <a:r>
              <a:rPr lang="en-US" sz="2000" b="1" dirty="0" smtClean="0">
                <a:solidFill>
                  <a:srgbClr val="288CD2"/>
                </a:solidFill>
              </a:rPr>
              <a:t> et al. (2016)</a:t>
            </a:r>
          </a:p>
        </p:txBody>
      </p:sp>
    </p:spTree>
    <p:extLst>
      <p:ext uri="{BB962C8B-B14F-4D97-AF65-F5344CB8AC3E}">
        <p14:creationId xmlns:p14="http://schemas.microsoft.com/office/powerpoint/2010/main" val="28103830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108090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NMT sometimes doesn’t translate all source words, or translates them multiple times: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43247" y="6246386"/>
            <a:ext cx="8070803" cy="400110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“Modeling Coverage for Neural Machine </a:t>
            </a:r>
            <a:r>
              <a:rPr lang="en-US" sz="2000" b="1" dirty="0" smtClean="0">
                <a:solidFill>
                  <a:srgbClr val="288CD2"/>
                </a:solidFill>
              </a:rPr>
              <a:t>Translation”</a:t>
            </a:r>
            <a:r>
              <a:rPr lang="en-US" sz="2000" b="1" dirty="0">
                <a:solidFill>
                  <a:srgbClr val="288CD2"/>
                </a:solidFill>
              </a:rPr>
              <a:t> </a:t>
            </a:r>
            <a:r>
              <a:rPr lang="en-US" sz="2000" b="1" dirty="0" err="1" smtClean="0">
                <a:solidFill>
                  <a:srgbClr val="288CD2"/>
                </a:solidFill>
              </a:rPr>
              <a:t>Tu</a:t>
            </a:r>
            <a:r>
              <a:rPr lang="en-US" sz="2000" b="1" dirty="0" smtClean="0">
                <a:solidFill>
                  <a:srgbClr val="288CD2"/>
                </a:solidFill>
              </a:rPr>
              <a:t> et al. (2016)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593"/>
            <a:ext cx="9144000" cy="5981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61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Results: Modeling Coverage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027683" y="5885107"/>
            <a:ext cx="6086367" cy="70788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“Modeling Coverage for Neural Machine </a:t>
            </a:r>
            <a:r>
              <a:rPr lang="en-US" sz="2000" b="1" dirty="0" smtClean="0">
                <a:solidFill>
                  <a:srgbClr val="288CD2"/>
                </a:solidFill>
              </a:rPr>
              <a:t>Translation”</a:t>
            </a: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Tu</a:t>
            </a:r>
            <a:r>
              <a:rPr lang="en-US" sz="2000" b="1" dirty="0" smtClean="0">
                <a:solidFill>
                  <a:srgbClr val="288CD2"/>
                </a:solidFill>
              </a:rPr>
              <a:t> et al. (2016)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7900"/>
            <a:ext cx="9144000" cy="489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875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86866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695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Beam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find a translation, greedy search just picks most-probable word at each position</a:t>
            </a:r>
          </a:p>
          <a:p>
            <a:r>
              <a:rPr lang="en-US" dirty="0" smtClean="0"/>
              <a:t>but does this give us any guarantees about the entire translation?</a:t>
            </a:r>
          </a:p>
          <a:p>
            <a:r>
              <a:rPr lang="en-US" dirty="0" smtClean="0"/>
              <a:t>beam search can be used to approximately find the most-probable complete translation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4250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Beam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26126" b="7315"/>
          <a:stretch/>
        </p:blipFill>
        <p:spPr>
          <a:xfrm>
            <a:off x="762000" y="1009280"/>
            <a:ext cx="7600130" cy="45645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1" y="1167574"/>
            <a:ext cx="3352918" cy="58477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288CD2"/>
                </a:solidFill>
              </a:rPr>
              <a:t>Let beam size = 2: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7458" y="2023067"/>
            <a:ext cx="1238759" cy="221599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 smtClean="0">
                <a:solidFill>
                  <a:srgbClr val="BC0000"/>
                </a:solidFill>
              </a:rPr>
              <a:t>X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7780162" y="898229"/>
            <a:ext cx="1064755" cy="625773"/>
          </a:xfrm>
          <a:prstGeom prst="straightConnector1">
            <a:avLst/>
          </a:prstGeom>
          <a:solidFill>
            <a:schemeClr val="accent1"/>
          </a:solidFill>
          <a:ln w="3810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/>
          <p:nvPr/>
        </p:nvCxnSpPr>
        <p:spPr bwMode="auto">
          <a:xfrm>
            <a:off x="7780162" y="1524002"/>
            <a:ext cx="1064755" cy="687342"/>
          </a:xfrm>
          <a:prstGeom prst="straightConnector1">
            <a:avLst/>
          </a:prstGeom>
          <a:solidFill>
            <a:schemeClr val="accent1"/>
          </a:solidFill>
          <a:ln w="3810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7780162" y="4486716"/>
            <a:ext cx="1064755" cy="625773"/>
          </a:xfrm>
          <a:prstGeom prst="straightConnector1">
            <a:avLst/>
          </a:prstGeom>
          <a:solidFill>
            <a:schemeClr val="accent1"/>
          </a:solidFill>
          <a:ln w="3810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7780162" y="5112489"/>
            <a:ext cx="1064755" cy="687342"/>
          </a:xfrm>
          <a:prstGeom prst="straightConnector1">
            <a:avLst/>
          </a:prstGeom>
          <a:solidFill>
            <a:schemeClr val="accent1"/>
          </a:solidFill>
          <a:ln w="3810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360" y="6101717"/>
            <a:ext cx="5360629" cy="70788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288CD2"/>
                </a:solidFill>
              </a:rPr>
              <a:t>“Chat </a:t>
            </a:r>
            <a:r>
              <a:rPr lang="en-US" sz="2000" b="1" dirty="0">
                <a:solidFill>
                  <a:srgbClr val="288CD2"/>
                </a:solidFill>
              </a:rPr>
              <a:t>Smarter with </a:t>
            </a:r>
            <a:r>
              <a:rPr lang="en-US" sz="2000" b="1" dirty="0" err="1" smtClean="0">
                <a:solidFill>
                  <a:srgbClr val="288CD2"/>
                </a:solidFill>
              </a:rPr>
              <a:t>Allo</a:t>
            </a:r>
            <a:r>
              <a:rPr lang="en-US" sz="2000" b="1" dirty="0" smtClean="0">
                <a:solidFill>
                  <a:srgbClr val="288CD2"/>
                </a:solidFill>
              </a:rPr>
              <a:t>”</a:t>
            </a:r>
            <a:endParaRPr lang="en-US" sz="2000" b="1" dirty="0">
              <a:solidFill>
                <a:srgbClr val="288CD2"/>
              </a:solidFill>
            </a:endParaRPr>
          </a:p>
          <a:p>
            <a:r>
              <a:rPr lang="en-US" sz="2000" b="1" dirty="0" err="1">
                <a:solidFill>
                  <a:srgbClr val="288CD2"/>
                </a:solidFill>
              </a:rPr>
              <a:t>Pranav</a:t>
            </a:r>
            <a:r>
              <a:rPr lang="en-US" sz="2000" b="1" dirty="0">
                <a:solidFill>
                  <a:srgbClr val="288CD2"/>
                </a:solidFill>
              </a:rPr>
              <a:t> </a:t>
            </a:r>
            <a:r>
              <a:rPr lang="en-US" sz="2000" b="1" dirty="0" err="1">
                <a:solidFill>
                  <a:srgbClr val="288CD2"/>
                </a:solidFill>
              </a:rPr>
              <a:t>Khaitan</a:t>
            </a:r>
            <a:r>
              <a:rPr lang="en-US" sz="2000" b="1" dirty="0">
                <a:solidFill>
                  <a:srgbClr val="288CD2"/>
                </a:solidFill>
              </a:rPr>
              <a:t>, Google </a:t>
            </a:r>
            <a:r>
              <a:rPr lang="en-US" sz="2000" b="1" dirty="0" smtClean="0">
                <a:solidFill>
                  <a:srgbClr val="288CD2"/>
                </a:solidFill>
              </a:rPr>
              <a:t>Research Blog</a:t>
            </a:r>
            <a:endParaRPr lang="en-US" sz="2000" b="1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5940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43567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213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there’s a mismatch between training and test!</a:t>
            </a:r>
          </a:p>
          <a:p>
            <a:r>
              <a:rPr lang="en-US" dirty="0" smtClean="0"/>
              <a:t>(what is it?)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470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Scheduled Sampling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72151" y="5885107"/>
            <a:ext cx="8841899" cy="70788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“Scheduled Sampling for Sequence Prediction with Recurrent Neural </a:t>
            </a:r>
            <a:r>
              <a:rPr lang="en-US" sz="2000" b="1" dirty="0" smtClean="0">
                <a:solidFill>
                  <a:srgbClr val="288CD2"/>
                </a:solidFill>
              </a:rPr>
              <a:t>Networks”</a:t>
            </a: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Bengio</a:t>
            </a:r>
            <a:r>
              <a:rPr lang="en-US" sz="20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0500"/>
            <a:ext cx="9144000" cy="393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001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Scheduled Sampling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72151" y="5885107"/>
            <a:ext cx="8841899" cy="707886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88CD2"/>
                </a:solidFill>
              </a:rPr>
              <a:t>“Scheduled Sampling for Sequence Prediction with Recurrent Neural </a:t>
            </a:r>
            <a:r>
              <a:rPr lang="en-US" sz="2000" b="1" dirty="0" smtClean="0">
                <a:solidFill>
                  <a:srgbClr val="288CD2"/>
                </a:solidFill>
              </a:rPr>
              <a:t>Networks”</a:t>
            </a:r>
          </a:p>
          <a:p>
            <a:r>
              <a:rPr lang="en-US" sz="2000" b="1" dirty="0" err="1" smtClean="0">
                <a:solidFill>
                  <a:srgbClr val="288CD2"/>
                </a:solidFill>
              </a:rPr>
              <a:t>Bengio</a:t>
            </a:r>
            <a:r>
              <a:rPr lang="en-US" sz="2000" b="1" dirty="0" smtClean="0">
                <a:solidFill>
                  <a:srgbClr val="288CD2"/>
                </a:solidFill>
              </a:rPr>
              <a:t> et al. (2015)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1643"/>
            <a:ext cx="9144000" cy="27065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7982" y="4783557"/>
            <a:ext cx="6781104" cy="523220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BC0000"/>
                </a:solidFill>
              </a:rPr>
              <a:t>“Always Sampling” did not work well!</a:t>
            </a:r>
          </a:p>
        </p:txBody>
      </p:sp>
    </p:spTree>
    <p:extLst>
      <p:ext uri="{BB962C8B-B14F-4D97-AF65-F5344CB8AC3E}">
        <p14:creationId xmlns:p14="http://schemas.microsoft.com/office/powerpoint/2010/main" val="34569775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64614</TotalTime>
  <Words>703</Words>
  <Application>Microsoft Macintosh PowerPoint</Application>
  <PresentationFormat>On-screen Show (4:3)</PresentationFormat>
  <Paragraphs>137</Paragraphs>
  <Slides>28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TTIC 31210: Advanced Natural Language Processing</vt:lpstr>
      <vt:lpstr>PowerPoint Presentation</vt:lpstr>
      <vt:lpstr>Input RNN (“Encoder”)</vt:lpstr>
      <vt:lpstr>Output RNN (“Decoder”)</vt:lpstr>
      <vt:lpstr>Output RNN (“Decoder”)</vt:lpstr>
      <vt:lpstr>Output RNN (“Decoder”)</vt:lpstr>
      <vt:lpstr>Attention for NMT</vt:lpstr>
      <vt:lpstr>Simplifying Attention for NMT</vt:lpstr>
      <vt:lpstr>Attention Functions</vt:lpstr>
      <vt:lpstr>Global Attention</vt:lpstr>
      <vt:lpstr>Global Content-Based Attention Functions</vt:lpstr>
      <vt:lpstr>Global Location-Based Attention Function</vt:lpstr>
      <vt:lpstr>Results</vt:lpstr>
      <vt:lpstr>Local Attention</vt:lpstr>
      <vt:lpstr>Local Attention</vt:lpstr>
      <vt:lpstr>Results</vt:lpstr>
      <vt:lpstr>Results</vt:lpstr>
      <vt:lpstr>“Input Feeding” of Decoder Hidden States</vt:lpstr>
      <vt:lpstr>Modeling Coverage</vt:lpstr>
      <vt:lpstr>PowerPoint Presentation</vt:lpstr>
      <vt:lpstr>Results: Modeling Coverage</vt:lpstr>
      <vt:lpstr>Inference</vt:lpstr>
      <vt:lpstr>Beam Search</vt:lpstr>
      <vt:lpstr>Beam Search</vt:lpstr>
      <vt:lpstr>Learning</vt:lpstr>
      <vt:lpstr>Concern</vt:lpstr>
      <vt:lpstr>Scheduled Sampling</vt:lpstr>
      <vt:lpstr>Scheduled Sampling Results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</cp:lastModifiedBy>
  <cp:revision>804</cp:revision>
  <dcterms:created xsi:type="dcterms:W3CDTF">2015-08-31T18:15:35Z</dcterms:created>
  <dcterms:modified xsi:type="dcterms:W3CDTF">2017-04-27T04:13:12Z</dcterms:modified>
</cp:coreProperties>
</file>