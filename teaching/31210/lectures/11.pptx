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946" r:id="rId3"/>
    <p:sldId id="980" r:id="rId4"/>
    <p:sldId id="981" r:id="rId5"/>
    <p:sldId id="982" r:id="rId6"/>
    <p:sldId id="983" r:id="rId7"/>
    <p:sldId id="987" r:id="rId8"/>
    <p:sldId id="989" r:id="rId9"/>
    <p:sldId id="984" r:id="rId10"/>
    <p:sldId id="991" r:id="rId11"/>
    <p:sldId id="985" r:id="rId12"/>
    <p:sldId id="994" r:id="rId13"/>
    <p:sldId id="958" r:id="rId14"/>
    <p:sldId id="992" r:id="rId15"/>
    <p:sldId id="993" r:id="rId16"/>
    <p:sldId id="995" r:id="rId17"/>
    <p:sldId id="996" r:id="rId18"/>
    <p:sldId id="997" r:id="rId19"/>
    <p:sldId id="990" r:id="rId20"/>
    <p:sldId id="998" r:id="rId21"/>
    <p:sldId id="999" r:id="rId22"/>
    <p:sldId id="1000" r:id="rId23"/>
    <p:sldId id="1001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0000"/>
    <a:srgbClr val="288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31"/>
    <p:restoredTop sz="87262" autoAdjust="0"/>
  </p:normalViewPr>
  <p:slideViewPr>
    <p:cSldViewPr snapToGrid="0" snapToObjects="1">
      <p:cViewPr varScale="1">
        <p:scale>
          <a:sx n="55" d="100"/>
          <a:sy n="55" d="100"/>
        </p:scale>
        <p:origin x="-251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interSettings" Target="printerSettings/printerSettings1.bin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5/8/17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5/8/17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5/8/17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5/8/17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5/8/17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5/8/17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5/8/17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5/8/17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5/8/17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5/8/17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5/8/17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5/8/17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5/8/17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5/8/17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Relationship Id="rId3" Type="http://schemas.openxmlformats.org/officeDocument/2006/relationships/image" Target="../media/image10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4" Type="http://schemas.openxmlformats.org/officeDocument/2006/relationships/image" Target="../media/image13.emf"/><Relationship Id="rId5" Type="http://schemas.openxmlformats.org/officeDocument/2006/relationships/image" Target="../media/image14.emf"/><Relationship Id="rId6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4" Type="http://schemas.openxmlformats.org/officeDocument/2006/relationships/image" Target="../media/image14.emf"/><Relationship Id="rId5" Type="http://schemas.openxmlformats.org/officeDocument/2006/relationships/image" Target="../media/image15.emf"/><Relationship Id="rId6" Type="http://schemas.openxmlformats.org/officeDocument/2006/relationships/image" Target="../media/image16.emf"/><Relationship Id="rId7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emf"/><Relationship Id="rId3" Type="http://schemas.openxmlformats.org/officeDocument/2006/relationships/image" Target="../media/image19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emf"/><Relationship Id="rId3" Type="http://schemas.openxmlformats.org/officeDocument/2006/relationships/image" Target="../media/image19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/Relationships>
</file>

<file path=ppt/slides/_rels/slide23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9.emf"/><Relationship Id="rId12" Type="http://schemas.openxmlformats.org/officeDocument/2006/relationships/image" Target="../media/image29.emf"/><Relationship Id="rId13" Type="http://schemas.openxmlformats.org/officeDocument/2006/relationships/image" Target="../media/image30.emf"/><Relationship Id="rId14" Type="http://schemas.openxmlformats.org/officeDocument/2006/relationships/image" Target="../media/image31.emf"/><Relationship Id="rId15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Relationship Id="rId3" Type="http://schemas.openxmlformats.org/officeDocument/2006/relationships/image" Target="../media/image21.emf"/><Relationship Id="rId4" Type="http://schemas.openxmlformats.org/officeDocument/2006/relationships/image" Target="../media/image22.emf"/><Relationship Id="rId5" Type="http://schemas.openxmlformats.org/officeDocument/2006/relationships/image" Target="../media/image23.emf"/><Relationship Id="rId6" Type="http://schemas.openxmlformats.org/officeDocument/2006/relationships/image" Target="../media/image24.emf"/><Relationship Id="rId7" Type="http://schemas.openxmlformats.org/officeDocument/2006/relationships/image" Target="../media/image25.emf"/><Relationship Id="rId8" Type="http://schemas.openxmlformats.org/officeDocument/2006/relationships/image" Target="../media/image26.emf"/><Relationship Id="rId9" Type="http://schemas.openxmlformats.org/officeDocument/2006/relationships/image" Target="../media/image27.emf"/><Relationship Id="rId10" Type="http://schemas.openxmlformats.org/officeDocument/2006/relationships/image" Target="../media/image2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TTIC 31210:</a:t>
            </a:r>
            <a:br>
              <a:rPr lang="en-US" dirty="0" smtClean="0"/>
            </a:br>
            <a:r>
              <a:rPr lang="en-US" sz="4000" dirty="0" smtClean="0"/>
              <a:t>Advanced Natural Language Processing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4100" y="1993899"/>
            <a:ext cx="7061200" cy="418106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Spring 2017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11: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Inference in Bayesian NLP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Project proposals due Wednesday, May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539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Bayesian 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typically means:</a:t>
            </a:r>
          </a:p>
          <a:p>
            <a:pPr lvl="1"/>
            <a:r>
              <a:rPr lang="en-US" dirty="0" smtClean="0"/>
              <a:t>defining parameters as random variables and giving them prior distributions</a:t>
            </a:r>
          </a:p>
          <a:p>
            <a:pPr lvl="1"/>
            <a:r>
              <a:rPr lang="en-US" dirty="0" smtClean="0"/>
              <a:t>marginalizing out random variables whenever possible (like those parameter random variables)</a:t>
            </a:r>
          </a:p>
          <a:p>
            <a:pPr lvl="1"/>
            <a:r>
              <a:rPr lang="en-US" dirty="0" smtClean="0"/>
              <a:t>aiming to compute posterior over all latent variables conditioned on observations (and maybe some </a:t>
            </a:r>
            <a:r>
              <a:rPr lang="en-US" dirty="0" err="1" smtClean="0"/>
              <a:t>hyperparameters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04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Bayesian approach is more impactful when there are latent variables</a:t>
            </a:r>
          </a:p>
          <a:p>
            <a:r>
              <a:rPr lang="en-US" dirty="0" smtClean="0"/>
              <a:t>NLP has a lot of models with latent variables</a:t>
            </a:r>
          </a:p>
          <a:p>
            <a:r>
              <a:rPr lang="en-US" dirty="0" smtClean="0"/>
              <a:t>unsupervised learning in NLP: “consider the unseen output as a latent variable”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438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000"/>
            <a:ext cx="9144000" cy="481210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Topic Modeling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720146" y="6125517"/>
            <a:ext cx="22178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solidFill>
                  <a:srgbClr val="288CD2"/>
                </a:solidFill>
              </a:rPr>
              <a:t>Blei</a:t>
            </a:r>
            <a:r>
              <a:rPr lang="en-US" sz="2400" dirty="0" smtClean="0">
                <a:solidFill>
                  <a:srgbClr val="288CD2"/>
                </a:solidFill>
              </a:rPr>
              <a:t> et al. (2003)</a:t>
            </a:r>
          </a:p>
        </p:txBody>
      </p:sp>
    </p:spTree>
    <p:extLst>
      <p:ext uri="{BB962C8B-B14F-4D97-AF65-F5344CB8AC3E}">
        <p14:creationId xmlns:p14="http://schemas.microsoft.com/office/powerpoint/2010/main" val="22141007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Word Alignment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6072"/>
            <a:ext cx="9144000" cy="3520440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23454" y="1219200"/>
            <a:ext cx="6645253" cy="9594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parallel sentences are observed, word alignments are latent variables: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20146" y="6125517"/>
            <a:ext cx="2574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288CD2"/>
                </a:solidFill>
              </a:rPr>
              <a:t>Brown et al. (1990)</a:t>
            </a:r>
          </a:p>
        </p:txBody>
      </p:sp>
    </p:spTree>
    <p:extLst>
      <p:ext uri="{BB962C8B-B14F-4D97-AF65-F5344CB8AC3E}">
        <p14:creationId xmlns:p14="http://schemas.microsoft.com/office/powerpoint/2010/main" val="35377032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54" y="1219200"/>
            <a:ext cx="6645253" cy="9594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sentences are observed, part-of-speech tags are treated as latent variables: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140534" y="2786521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3574474" y="2786521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4869874" y="2786521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>
            <a:off x="2826334" y="3129421"/>
            <a:ext cx="7481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>
            <a:stCxn id="6" idx="6"/>
            <a:endCxn id="7" idx="2"/>
          </p:cNvCxnSpPr>
          <p:nvPr/>
        </p:nvCxnSpPr>
        <p:spPr bwMode="auto">
          <a:xfrm>
            <a:off x="4260274" y="3129421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Oval 11"/>
          <p:cNvSpPr/>
          <p:nvPr/>
        </p:nvSpPr>
        <p:spPr>
          <a:xfrm>
            <a:off x="2043542" y="3881041"/>
            <a:ext cx="889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429001" y="3881041"/>
            <a:ext cx="1004455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4825999" y="3881041"/>
            <a:ext cx="78509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6" name="Straight Arrow Connector 15"/>
          <p:cNvCxnSpPr>
            <a:stCxn id="5" idx="4"/>
            <a:endCxn id="12" idx="0"/>
          </p:cNvCxnSpPr>
          <p:nvPr/>
        </p:nvCxnSpPr>
        <p:spPr bwMode="auto">
          <a:xfrm>
            <a:off x="2483434" y="3472321"/>
            <a:ext cx="4608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/>
          <p:cNvCxnSpPr>
            <a:stCxn id="6" idx="4"/>
            <a:endCxn id="13" idx="0"/>
          </p:cNvCxnSpPr>
          <p:nvPr/>
        </p:nvCxnSpPr>
        <p:spPr bwMode="auto">
          <a:xfrm>
            <a:off x="3917374" y="3472321"/>
            <a:ext cx="13855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>
            <a:stCxn id="7" idx="4"/>
            <a:endCxn id="14" idx="0"/>
          </p:cNvCxnSpPr>
          <p:nvPr/>
        </p:nvCxnSpPr>
        <p:spPr bwMode="auto">
          <a:xfrm>
            <a:off x="5212774" y="3472321"/>
            <a:ext cx="5770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6165274" y="2786521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888183" y="3881041"/>
            <a:ext cx="1270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6" name="Straight Arrow Connector 25"/>
          <p:cNvCxnSpPr>
            <a:stCxn id="24" idx="4"/>
            <a:endCxn id="25" idx="0"/>
          </p:cNvCxnSpPr>
          <p:nvPr/>
        </p:nvCxnSpPr>
        <p:spPr bwMode="auto">
          <a:xfrm>
            <a:off x="6508174" y="3472321"/>
            <a:ext cx="15009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Arrow Connector 28"/>
          <p:cNvCxnSpPr>
            <a:stCxn id="7" idx="6"/>
            <a:endCxn id="24" idx="2"/>
          </p:cNvCxnSpPr>
          <p:nvPr/>
        </p:nvCxnSpPr>
        <p:spPr bwMode="auto">
          <a:xfrm>
            <a:off x="5555674" y="3129421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9"/>
          <p:cNvSpPr txBox="1"/>
          <p:nvPr/>
        </p:nvSpPr>
        <p:spPr>
          <a:xfrm>
            <a:off x="2117447" y="3968152"/>
            <a:ext cx="5560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0" dirty="0" err="1" smtClean="0">
                <a:latin typeface="Calibri"/>
                <a:cs typeface="Calibri"/>
              </a:rPr>
              <a:t>justin</a:t>
            </a:r>
            <a:r>
              <a:rPr lang="en-US" sz="2000" i="0" dirty="0" smtClean="0">
                <a:latin typeface="Calibri"/>
                <a:cs typeface="Calibri"/>
              </a:rPr>
              <a:t>               </a:t>
            </a:r>
            <a:r>
              <a:rPr lang="en-US" sz="2000" i="0" dirty="0" err="1" smtClean="0">
                <a:latin typeface="Calibri"/>
                <a:cs typeface="Calibri"/>
              </a:rPr>
              <a:t>bieber</a:t>
            </a:r>
            <a:r>
              <a:rPr lang="en-US" sz="2000" i="0" dirty="0" smtClean="0">
                <a:latin typeface="Calibri"/>
                <a:cs typeface="Calibri"/>
              </a:rPr>
              <a:t>             for            president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16734" y="2786521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1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627584" y="2786521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2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22984" y="2786521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3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218384" y="2786521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4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Unsupervised Part-of-Speech Tagging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119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Unsupervised Dependency Parsing</a:t>
            </a:r>
            <a:endParaRPr lang="en-US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/>
          <a:srcRect l="26574"/>
          <a:stretch/>
        </p:blipFill>
        <p:spPr>
          <a:xfrm>
            <a:off x="2743200" y="1724323"/>
            <a:ext cx="3493655" cy="22352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2381324" y="1621137"/>
            <a:ext cx="4095676" cy="1500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54" y="1219200"/>
            <a:ext cx="6645253" cy="9594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sentences are observed, dependency parse trees are treated as latent variables: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0" y="5763497"/>
            <a:ext cx="23388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288CD2"/>
                </a:solidFill>
              </a:rPr>
              <a:t>Klein &amp; Manning</a:t>
            </a:r>
          </a:p>
          <a:p>
            <a:r>
              <a:rPr lang="en-US" sz="2400" dirty="0" smtClean="0">
                <a:solidFill>
                  <a:srgbClr val="288CD2"/>
                </a:solidFill>
              </a:rPr>
              <a:t>Smith &amp; Eisner</a:t>
            </a:r>
          </a:p>
        </p:txBody>
      </p:sp>
    </p:spTree>
    <p:extLst>
      <p:ext uri="{BB962C8B-B14F-4D97-AF65-F5344CB8AC3E}">
        <p14:creationId xmlns:p14="http://schemas.microsoft.com/office/powerpoint/2010/main" val="3082612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Latent Syntactic Categories for Parsing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split Penn Treebank syntactic categories into finer subcategories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57323"/>
          <a:stretch/>
        </p:blipFill>
        <p:spPr>
          <a:xfrm>
            <a:off x="3903061" y="4113889"/>
            <a:ext cx="4796121" cy="21710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59676"/>
          <a:stretch/>
        </p:blipFill>
        <p:spPr>
          <a:xfrm>
            <a:off x="3952063" y="2094353"/>
            <a:ext cx="4725993" cy="1928814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3986083" y="4023167"/>
            <a:ext cx="4632035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046021" y="6284926"/>
            <a:ext cx="4572097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Example-tree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83" y="2801034"/>
            <a:ext cx="2530807" cy="20752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125517"/>
            <a:ext cx="1888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solidFill>
                  <a:srgbClr val="288CD2"/>
                </a:solidFill>
              </a:rPr>
              <a:t>Petrov</a:t>
            </a:r>
            <a:r>
              <a:rPr lang="en-US" sz="2400" dirty="0" smtClean="0">
                <a:solidFill>
                  <a:srgbClr val="288CD2"/>
                </a:solidFill>
              </a:rPr>
              <a:t> (2009)</a:t>
            </a:r>
          </a:p>
        </p:txBody>
      </p:sp>
    </p:spTree>
    <p:extLst>
      <p:ext uri="{BB962C8B-B14F-4D97-AF65-F5344CB8AC3E}">
        <p14:creationId xmlns:p14="http://schemas.microsoft.com/office/powerpoint/2010/main" val="22073456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Morphological Segmentation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04900"/>
            <a:ext cx="7975600" cy="4635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61092" y="6125517"/>
            <a:ext cx="3276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solidFill>
                  <a:srgbClr val="288CD2"/>
                </a:solidFill>
              </a:rPr>
              <a:t>Sirts</a:t>
            </a:r>
            <a:r>
              <a:rPr lang="en-US" sz="2400" dirty="0" smtClean="0">
                <a:solidFill>
                  <a:srgbClr val="288CD2"/>
                </a:solidFill>
              </a:rPr>
              <a:t> &amp; Goldwater (2013)</a:t>
            </a:r>
          </a:p>
        </p:txBody>
      </p:sp>
    </p:spTree>
    <p:extLst>
      <p:ext uri="{BB962C8B-B14F-4D97-AF65-F5344CB8AC3E}">
        <p14:creationId xmlns:p14="http://schemas.microsoft.com/office/powerpoint/2010/main" val="13026054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Morphological Segmentations, POS, and Syntactic Trees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831" y="926384"/>
            <a:ext cx="6148101" cy="57792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96326" y="5975862"/>
            <a:ext cx="2377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288CD2"/>
                </a:solidFill>
              </a:rPr>
              <a:t>Snyder &amp; </a:t>
            </a:r>
            <a:r>
              <a:rPr lang="en-US" sz="2400" dirty="0" err="1" smtClean="0">
                <a:solidFill>
                  <a:srgbClr val="288CD2"/>
                </a:solidFill>
              </a:rPr>
              <a:t>Barzilay</a:t>
            </a:r>
            <a:endParaRPr lang="en-US" sz="2400" dirty="0" smtClean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4722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Generative Stories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 hypothesize latent variables through which data are generated</a:t>
            </a:r>
          </a:p>
          <a:p>
            <a:r>
              <a:rPr lang="en-US" dirty="0" smtClean="0"/>
              <a:t>define “generative story” that describes how latent variables are generated, then how data is generated using latent variables</a:t>
            </a:r>
          </a:p>
          <a:p>
            <a:r>
              <a:rPr lang="en-US" dirty="0" smtClean="0"/>
              <a:t>we parameterize the distributions &amp; add parameter generation to generative story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123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Generative Story Template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100" y="3272518"/>
            <a:ext cx="4991100" cy="368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270000"/>
            <a:ext cx="69215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3964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 general, inference roughly means “calculate statistical quantities of interest”</a:t>
            </a:r>
          </a:p>
          <a:p>
            <a:r>
              <a:rPr lang="en-US" dirty="0" smtClean="0"/>
              <a:t>examples:</a:t>
            </a:r>
          </a:p>
          <a:p>
            <a:pPr lvl="1"/>
            <a:r>
              <a:rPr lang="en-US" dirty="0" smtClean="0"/>
              <a:t>compute the mode of some random variables when conditioning on some and marginalizing out others</a:t>
            </a:r>
          </a:p>
          <a:p>
            <a:pPr lvl="1"/>
            <a:r>
              <a:rPr lang="en-US" dirty="0" smtClean="0"/>
              <a:t>compute </a:t>
            </a:r>
            <a:r>
              <a:rPr lang="en-US" dirty="0" err="1" smtClean="0"/>
              <a:t>marginals</a:t>
            </a:r>
            <a:r>
              <a:rPr lang="en-US" dirty="0" smtClean="0"/>
              <a:t> of some random variables (variable posteriors when marginalizing out everything else)</a:t>
            </a:r>
          </a:p>
          <a:p>
            <a:pPr lvl="1"/>
            <a:r>
              <a:rPr lang="en-US" dirty="0" smtClean="0"/>
              <a:t>compute posterior distribution over some subset of random variables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0828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Learning?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Bayesian NLP, there’s often no “learning”</a:t>
            </a:r>
          </a:p>
          <a:p>
            <a:r>
              <a:rPr lang="en-US" dirty="0" smtClean="0"/>
              <a:t>there is only “inference”</a:t>
            </a:r>
          </a:p>
          <a:p>
            <a:r>
              <a:rPr lang="en-US" dirty="0" smtClean="0"/>
              <a:t>just define model and do inference to calculate what we want to calculate</a:t>
            </a:r>
          </a:p>
          <a:p>
            <a:pPr lvl="1"/>
            <a:r>
              <a:rPr lang="en-US" dirty="0" smtClean="0"/>
              <a:t>no parameters are being estimated from data*</a:t>
            </a:r>
          </a:p>
          <a:p>
            <a:pPr lvl="1"/>
            <a:r>
              <a:rPr lang="en-US" dirty="0" smtClean="0"/>
              <a:t>we are not optimizing any loss function*</a:t>
            </a:r>
          </a:p>
          <a:p>
            <a:pPr lvl="1"/>
            <a:r>
              <a:rPr lang="en-US" dirty="0" smtClean="0"/>
              <a:t>there is no gradient descent*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471711" y="5715448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* typically</a:t>
            </a:r>
          </a:p>
        </p:txBody>
      </p:sp>
    </p:spTree>
    <p:extLst>
      <p:ext uri="{BB962C8B-B14F-4D97-AF65-F5344CB8AC3E}">
        <p14:creationId xmlns:p14="http://schemas.microsoft.com/office/powerpoint/2010/main" val="28270915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975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Generative Story Template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354362" y="3519472"/>
            <a:ext cx="370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</a:t>
            </a:r>
            <a:r>
              <a:rPr lang="en-US" sz="2400" dirty="0" smtClean="0"/>
              <a:t>ur data is a set of samples: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0" y="992724"/>
            <a:ext cx="6807200" cy="1435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520" y="2773551"/>
            <a:ext cx="6184900" cy="3683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458" y="3539357"/>
            <a:ext cx="2501900" cy="4191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520" y="4434254"/>
            <a:ext cx="6134100" cy="4445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7745" y="4958134"/>
            <a:ext cx="62357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570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975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Key Quantities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354362" y="1557618"/>
            <a:ext cx="370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</a:t>
            </a:r>
            <a:r>
              <a:rPr lang="en-US" sz="2400" dirty="0" smtClean="0"/>
              <a:t>ur data is a set of samples: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520" y="1027157"/>
            <a:ext cx="6184900" cy="3683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458" y="1577503"/>
            <a:ext cx="2501900" cy="4191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660" y="2480694"/>
            <a:ext cx="6134100" cy="4445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8885" y="3004574"/>
            <a:ext cx="6235700" cy="1066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/>
          <a:srcRect r="76087"/>
          <a:stretch/>
        </p:blipFill>
        <p:spPr>
          <a:xfrm>
            <a:off x="908222" y="4583909"/>
            <a:ext cx="1633872" cy="444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/>
          <a:srcRect l="23913"/>
          <a:stretch/>
        </p:blipFill>
        <p:spPr>
          <a:xfrm>
            <a:off x="2542094" y="4583909"/>
            <a:ext cx="5198728" cy="444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320" y="5491125"/>
            <a:ext cx="8051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6156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Markov Chain Monte Carlo (MCMC)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MCMC algorithms are widely </a:t>
            </a:r>
            <a:r>
              <a:rPr lang="en-US" dirty="0"/>
              <a:t>used in Bayesian </a:t>
            </a:r>
            <a:r>
              <a:rPr lang="en-US" dirty="0" smtClean="0"/>
              <a:t>modeling but also useful more generally</a:t>
            </a:r>
          </a:p>
          <a:p>
            <a:r>
              <a:rPr lang="en-US" dirty="0" smtClean="0"/>
              <a:t>can be used to generate samples from distributions that are hard to sample from</a:t>
            </a:r>
          </a:p>
          <a:p>
            <a:r>
              <a:rPr lang="en-US" dirty="0" smtClean="0"/>
              <a:t>samples can be used to estimate quantities of interest</a:t>
            </a:r>
          </a:p>
          <a:p>
            <a:r>
              <a:rPr lang="en-US" dirty="0" smtClean="0"/>
              <a:t>these estimates are unbiased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488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Gibbs Sampling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Gibbs sampling is the simplest and most widely-used MCMC algorithm (at least in NLP)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731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Gibbs Sampling Template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1225156"/>
            <a:ext cx="6972300" cy="1435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3206381"/>
            <a:ext cx="5283200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6441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84774" y="4023968"/>
            <a:ext cx="86515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At convergence, each time we update any value of any random </a:t>
            </a:r>
          </a:p>
          <a:p>
            <a:r>
              <a:rPr lang="en-US" sz="2400" dirty="0" smtClean="0"/>
              <a:t>variable in                       , we have another sample from the posterior</a:t>
            </a:r>
          </a:p>
          <a:p>
            <a:endParaRPr lang="en-US" sz="2400" dirty="0"/>
          </a:p>
          <a:p>
            <a:r>
              <a:rPr lang="en-US" sz="2400" dirty="0" smtClean="0"/>
              <a:t>these samples can be used to estimate any quantity of interest </a:t>
            </a:r>
          </a:p>
          <a:p>
            <a:r>
              <a:rPr lang="en-US" sz="2400" dirty="0" smtClean="0"/>
              <a:t>while offering some nice theoretical properties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Gibbs Sampling Template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r="78965" b="74336"/>
          <a:stretch/>
        </p:blipFill>
        <p:spPr>
          <a:xfrm>
            <a:off x="1896890" y="4463016"/>
            <a:ext cx="1466631" cy="368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640" y="1337277"/>
            <a:ext cx="4478720" cy="207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9568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55273" y="3763837"/>
            <a:ext cx="710611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nearby samples are not necessarily uncorrelated, so it </a:t>
            </a:r>
          </a:p>
          <a:p>
            <a:r>
              <a:rPr lang="en-US" sz="2400" dirty="0" smtClean="0"/>
              <a:t>    can take many samples for good estimates, especially 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of rare events</a:t>
            </a:r>
          </a:p>
          <a:p>
            <a:endParaRPr lang="en-US" sz="2400" dirty="0" smtClean="0"/>
          </a:p>
          <a:p>
            <a:r>
              <a:rPr lang="en-US" sz="2400" dirty="0" smtClean="0"/>
              <a:t>guarantees are at convergence, “burn-in” time 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can be hard to estimate &amp; depends on initialization</a:t>
            </a:r>
          </a:p>
          <a:p>
            <a:endParaRPr lang="en-US" sz="2400" dirty="0" smtClean="0"/>
          </a:p>
          <a:p>
            <a:endParaRPr lang="en-US" sz="24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Disadvantages of Gibbs Sampling?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446" y="1435234"/>
            <a:ext cx="4005754" cy="185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781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0452"/>
            <a:ext cx="8229600" cy="458816"/>
          </a:xfrm>
        </p:spPr>
        <p:txBody>
          <a:bodyPr>
            <a:normAutofit fontScale="90000"/>
          </a:bodyPr>
          <a:lstStyle/>
          <a:p>
            <a:r>
              <a:rPr lang="en-US" sz="2800" dirty="0" smtClean="0"/>
              <a:t>LDA Inference Cheat Sheet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77" y="879242"/>
            <a:ext cx="8905868" cy="23420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62" y="3913454"/>
            <a:ext cx="1998251" cy="27079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45" y="3565597"/>
            <a:ext cx="2231691" cy="27079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3" y="4836090"/>
            <a:ext cx="3118946" cy="60339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62" y="4600140"/>
            <a:ext cx="1784132" cy="2639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63972" y="2050289"/>
            <a:ext cx="106199" cy="4020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17071" y="1208733"/>
            <a:ext cx="286540" cy="4020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540468" y="2050288"/>
            <a:ext cx="286540" cy="4020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966031" y="778014"/>
            <a:ext cx="286540" cy="4020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731035" y="2850848"/>
            <a:ext cx="321811" cy="4020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1134" y="883770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5890" y="2945003"/>
            <a:ext cx="292100" cy="2921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288123" y="2430917"/>
            <a:ext cx="286540" cy="4020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431393" y="2956065"/>
            <a:ext cx="286540" cy="4020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1543" y="2606592"/>
            <a:ext cx="139700" cy="1397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6713" y="3021203"/>
            <a:ext cx="215900" cy="1397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07570" y="3624011"/>
            <a:ext cx="3559201" cy="1651264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5764" y="630214"/>
            <a:ext cx="9096704" cy="27666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328744" y="3490670"/>
            <a:ext cx="3731448" cy="185384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76689" y="5532667"/>
            <a:ext cx="1422400" cy="2540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76689" y="5835183"/>
            <a:ext cx="1993900" cy="2032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6689" y="6153451"/>
            <a:ext cx="3556000" cy="2032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76689" y="6491107"/>
            <a:ext cx="3035300" cy="2794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3661364" y="5463133"/>
            <a:ext cx="3731448" cy="13593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5764" y="3464943"/>
            <a:ext cx="3318643" cy="20677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1302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68702</TotalTime>
  <Words>586</Words>
  <Application>Microsoft Macintosh PowerPoint</Application>
  <PresentationFormat>On-screen Show (4:3)</PresentationFormat>
  <Paragraphs>107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TTIC 31210: Advanced Natural Language Processing</vt:lpstr>
      <vt:lpstr>PowerPoint Presentation</vt:lpstr>
      <vt:lpstr>Bayesian Modeling</vt:lpstr>
      <vt:lpstr>Motivation</vt:lpstr>
      <vt:lpstr>Topic Modeling</vt:lpstr>
      <vt:lpstr>Word Alignment</vt:lpstr>
      <vt:lpstr>Unsupervised Part-of-Speech Tagging</vt:lpstr>
      <vt:lpstr>Unsupervised Dependency Parsing</vt:lpstr>
      <vt:lpstr>Latent Syntactic Categories for Parsing</vt:lpstr>
      <vt:lpstr>Morphological Segmentation</vt:lpstr>
      <vt:lpstr>Morphological Segmentations, POS, and Syntactic Trees</vt:lpstr>
      <vt:lpstr>Generative Stories</vt:lpstr>
      <vt:lpstr>Generative Story Template</vt:lpstr>
      <vt:lpstr>Inference</vt:lpstr>
      <vt:lpstr>Learning?</vt:lpstr>
      <vt:lpstr>Generative Story Template</vt:lpstr>
      <vt:lpstr>Key Quantities</vt:lpstr>
      <vt:lpstr>Markov Chain Monte Carlo (MCMC)</vt:lpstr>
      <vt:lpstr>Gibbs Sampling</vt:lpstr>
      <vt:lpstr>Gibbs Sampling Template</vt:lpstr>
      <vt:lpstr>Gibbs Sampling Template</vt:lpstr>
      <vt:lpstr>Disadvantages of Gibbs Sampling?</vt:lpstr>
      <vt:lpstr>LDA Inference Cheat Sheet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</cp:lastModifiedBy>
  <cp:revision>916</cp:revision>
  <dcterms:created xsi:type="dcterms:W3CDTF">2015-08-31T18:15:35Z</dcterms:created>
  <dcterms:modified xsi:type="dcterms:W3CDTF">2017-05-09T17:28:22Z</dcterms:modified>
</cp:coreProperties>
</file>