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1211" r:id="rId3"/>
    <p:sldId id="1212" r:id="rId4"/>
    <p:sldId id="1173" r:id="rId5"/>
    <p:sldId id="1267" r:id="rId6"/>
    <p:sldId id="1268" r:id="rId7"/>
    <p:sldId id="1271" r:id="rId8"/>
    <p:sldId id="1273" r:id="rId9"/>
    <p:sldId id="1279" r:id="rId10"/>
    <p:sldId id="1278" r:id="rId11"/>
    <p:sldId id="1277" r:id="rId12"/>
    <p:sldId id="1275" r:id="rId13"/>
    <p:sldId id="1285" r:id="rId14"/>
    <p:sldId id="1274" r:id="rId15"/>
    <p:sldId id="1281" r:id="rId16"/>
    <p:sldId id="1282" r:id="rId17"/>
    <p:sldId id="1283" r:id="rId18"/>
    <p:sldId id="1284" r:id="rId19"/>
    <p:sldId id="1323" r:id="rId20"/>
    <p:sldId id="1333" r:id="rId21"/>
    <p:sldId id="1334" r:id="rId22"/>
    <p:sldId id="1337" r:id="rId23"/>
    <p:sldId id="1338" r:id="rId24"/>
    <p:sldId id="1332" r:id="rId25"/>
    <p:sldId id="1339" r:id="rId26"/>
    <p:sldId id="1340" r:id="rId27"/>
    <p:sldId id="1348" r:id="rId28"/>
    <p:sldId id="1355" r:id="rId29"/>
    <p:sldId id="1336" r:id="rId30"/>
    <p:sldId id="1343" r:id="rId31"/>
    <p:sldId id="1185" r:id="rId32"/>
    <p:sldId id="1345" r:id="rId33"/>
    <p:sldId id="1186" r:id="rId34"/>
    <p:sldId id="1187" r:id="rId35"/>
    <p:sldId id="1188" r:id="rId36"/>
    <p:sldId id="1189" r:id="rId37"/>
    <p:sldId id="1191" r:id="rId38"/>
    <p:sldId id="1192" r:id="rId39"/>
    <p:sldId id="1193" r:id="rId40"/>
    <p:sldId id="1197" r:id="rId41"/>
    <p:sldId id="1198" r:id="rId42"/>
    <p:sldId id="1199" r:id="rId43"/>
    <p:sldId id="1200" r:id="rId44"/>
    <p:sldId id="1201" r:id="rId45"/>
    <p:sldId id="1202" r:id="rId46"/>
    <p:sldId id="1203" r:id="rId47"/>
    <p:sldId id="1204" r:id="rId48"/>
    <p:sldId id="1205" r:id="rId49"/>
    <p:sldId id="1206" r:id="rId50"/>
    <p:sldId id="1207" r:id="rId51"/>
    <p:sldId id="1357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5"/>
    <p:restoredTop sz="87284" autoAdjust="0"/>
  </p:normalViewPr>
  <p:slideViewPr>
    <p:cSldViewPr snapToGrid="0" snapToObjects="1">
      <p:cViewPr varScale="1">
        <p:scale>
          <a:sx n="113" d="100"/>
          <a:sy n="113" d="100"/>
        </p:scale>
        <p:origin x="2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handoutMaster" Target="handoutMasters/handout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5/30/17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5/30/17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Perhaps the simplest algorithm</a:t>
            </a:r>
            <a:r>
              <a:rPr lang="en-US" baseline="0" dirty="0" smtClean="0"/>
              <a:t> in widespread use for structured learning is the structured perceptron from Collins.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6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Perhaps the simplest algorithm</a:t>
            </a:r>
            <a:r>
              <a:rPr lang="en-US" baseline="0" dirty="0" smtClean="0"/>
              <a:t> in widespread use for structured learning is the structured perceptron from Collins.</a:t>
            </a:r>
          </a:p>
          <a:p>
            <a:endParaRPr lang="en-US" dirty="0" smtClean="0"/>
          </a:p>
          <a:p>
            <a:r>
              <a:rPr lang="en-US" dirty="0" err="1" smtClean="0"/>
              <a:t>perc</a:t>
            </a:r>
            <a:r>
              <a:rPr lang="en-US" dirty="0" smtClean="0"/>
              <a:t> result with regularization is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6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8EA1C4-20B1-1D43-87DF-774810F790EC}" type="slidenum">
              <a:rPr lang="en-US"/>
              <a:pPr/>
              <a:t>30</a:t>
            </a:fld>
            <a:endParaRPr 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 talk, the key ideas of cube pruning are those listed here:</a:t>
            </a:r>
          </a:p>
          <a:p>
            <a:r>
              <a:rPr lang="en-US"/>
              <a:t>We keep a k-best list of proofs or derivations for each theorem</a:t>
            </a:r>
          </a:p>
          <a:p>
            <a:r>
              <a:rPr lang="en-US"/>
              <a:t>We use these proofs to compute non-local feature functions</a:t>
            </a:r>
          </a:p>
          <a:p>
            <a:r>
              <a:rPr lang="en-US"/>
              <a:t>We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ll now go through an example of cube pruning.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C0EA-AD99-034B-861B-80DAEBD7E6FD}" type="slidenum">
              <a:rPr lang="en-US"/>
              <a:pPr/>
              <a:t>31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a treebank tree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32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409C8-950C-794B-B1D8-70CFF6ACABF6}" type="slidenum">
              <a:rPr lang="en-US"/>
              <a:pPr/>
              <a:t>33</a:t>
            </a:fld>
            <a:endParaRPr lang="en-US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4AD0C3-8E53-F446-9D5E-95778976CD33}" type="slidenum">
              <a:rPr lang="en-US"/>
              <a:pPr/>
              <a:t>34</a:t>
            </a:fld>
            <a:endParaRPr lang="en-US"/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56E3C0-DD76-1349-9186-72BDED2A4FCC}" type="slidenum">
              <a:rPr lang="en-US"/>
              <a:pPr/>
              <a:t>35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NP going to NP PP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6333A-38C1-9245-B440-D21B7D719F97}" type="slidenum">
              <a:rPr lang="en-US"/>
              <a:pPr/>
              <a:t>36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FE7EB3-30F2-984E-99CD-D0E9F97357D6}" type="slidenum">
              <a:rPr lang="en-US"/>
              <a:pPr/>
              <a:t>37</a:t>
            </a:fld>
            <a:endParaRPr lang="en-US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Right under the S, when the NP rewrites as NP PP, this feature must look at the proofs (or derivations) of the NP and the PP, so it is non-local.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992F3-29A4-8B46-952A-309DD2C899E2}" type="slidenum">
              <a:rPr lang="en-US"/>
              <a:pPr/>
              <a:t>38</a:t>
            </a:fld>
            <a:endParaRPr lang="en-US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another example, showing how the feature can look at arbitrarily long sequences of non-terminals depending on the grammar.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6DECD-5C67-E94C-AEB0-DB305DAE7DD8}" type="slidenum">
              <a:rPr lang="en-US"/>
              <a:pPr/>
              <a:t>39</a:t>
            </a:fld>
            <a:endParaRPr lang="en-US"/>
          </a:p>
        </p:txBody>
      </p:sp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But, non-local features break dynamic programming.  By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break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we mean that we lose our space and runtime guarantees and things become either exponential in general or must become approximate.</a:t>
            </a:r>
          </a:p>
          <a:p>
            <a:endParaRPr lang="en-US"/>
          </a:p>
          <a:p>
            <a:r>
              <a:rPr lang="en-US"/>
              <a:t>It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s sometimes possible to extend dynamic programming algorithms to accommodate extra information for computing these features, but it becomes exponential in general.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40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C9A416-677C-534D-A691-344335199469}" type="slidenum">
              <a:rPr lang="en-US"/>
              <a:pPr/>
              <a:t>41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we see a k-best list for the NP and one for the PP, along with their values. And k equals 3 here.</a:t>
            </a:r>
          </a:p>
          <a:p>
            <a:r>
              <a:rPr lang="en-US"/>
              <a:t>The bold tags are those that differ among proofs, for clarity.</a:t>
            </a:r>
          </a:p>
          <a:p>
            <a:r>
              <a:rPr lang="en-US"/>
              <a:t>The word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has a few different tags in the Penn Treebank. The tag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EX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indicates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existential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while the tag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RB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, normally used for adverbs, here indicates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as in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here or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.  EX is the more common tag for there but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is the correct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for this sentence.  In this example, we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ll show how the ngramtree feature helps us get the correct parse.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E9B271-76CD-384E-A0E0-F442447CBDD6}" type="slidenum">
              <a:rPr lang="en-US"/>
              <a:pPr/>
              <a:t>42</a:t>
            </a:fld>
            <a:endParaRPr 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proofs of the NP are along the rows and the proofs for the PP are along the columns.</a:t>
            </a:r>
          </a:p>
          <a:p>
            <a:r>
              <a:rPr lang="en-US"/>
              <a:t>The grid will contain the values of the resulting proofs obtained through multiplication.</a:t>
            </a:r>
          </a:p>
          <a:p>
            <a:r>
              <a:rPr lang="en-US"/>
              <a:t>First, we simply multiply the values of the two proofs in each cell.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51E7B4-870C-A841-B2FA-F02B200BA1BF}" type="slidenum">
              <a:rPr lang="en-US"/>
              <a:pPr/>
              <a:t>43</a:t>
            </a:fld>
            <a:endParaRPr 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Then, we need to multiply in weights for all local features.  Here, the only local feature is the rule NP goes to NP PP.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86CE37-91F3-744C-B663-DB87FF9864F5}" type="slidenum">
              <a:rPr lang="en-US"/>
              <a:pPr/>
              <a:t>44</a:t>
            </a:fld>
            <a:endParaRPr lang="en-US"/>
          </a:p>
        </p:txBody>
      </p:sp>
      <p:sp>
        <p:nvSpPr>
          <p:cNvPr id="519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Next, we need to apply non-local feature functions to each cell in the grid.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AA7E4-8439-2F45-9E94-6731A911401F}" type="slidenum">
              <a:rPr lang="en-US"/>
              <a:pPr/>
              <a:t>45</a:t>
            </a:fld>
            <a:endParaRPr lang="en-US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Shown in the upper-left is the NGramTree feature template for the first cell in the grid (which happens to be the same for the second cell).</a:t>
            </a:r>
          </a:p>
          <a:p>
            <a:r>
              <a:rPr lang="en-US"/>
              <a:t>I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ve given this feature a weight of 0.2 so this value now gets multiplied in.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10A5ED-6208-124A-AC97-23F85E0E923F}" type="slidenum">
              <a:rPr lang="en-US"/>
              <a:pPr/>
              <a:t>46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Unlike local features, there can now be a different weight multiplied in for each cell.  Here I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ve listed the weights for all the features used here.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B66C3-5A21-6B4F-9FF4-3A273CD54F49}" type="slidenum">
              <a:rPr lang="en-US"/>
              <a:pPr/>
              <a:t>47</a:t>
            </a:fld>
            <a:endParaRPr lang="en-US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we need to select the top k proofs for the result.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EED5E9-8A3F-D145-AF4E-B7CDB27E8464}" type="slidenum">
              <a:rPr lang="en-US"/>
              <a:pPr/>
              <a:t>48</a:t>
            </a:fld>
            <a:endParaRPr lang="en-US"/>
          </a:p>
        </p:txBody>
      </p:sp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Those are shown here in white.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D3C02C-A44E-1943-98F0-2E8F28211691}" type="slidenum">
              <a:rPr lang="en-US"/>
              <a:pPr/>
              <a:t>49</a:t>
            </a:fld>
            <a:endParaRPr lang="en-US"/>
          </a:p>
        </p:txBody>
      </p:sp>
      <p:sp>
        <p:nvSpPr>
          <p:cNvPr id="532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 the resulting k-best proof list is shown at the bottom.  And we see that interpretations with the </a:t>
            </a:r>
            <a:r>
              <a:rPr lang="ja-JP" altLang="en-US">
                <a:latin typeface="Arial"/>
              </a:rPr>
              <a:t>‘</a:t>
            </a:r>
            <a:r>
              <a:rPr lang="en-US"/>
              <a:t>deictic there</a:t>
            </a:r>
            <a:r>
              <a:rPr lang="ja-JP" altLang="en-US">
                <a:latin typeface="Arial"/>
              </a:rPr>
              <a:t>’</a:t>
            </a:r>
            <a:r>
              <a:rPr lang="en-US"/>
              <a:t> have risen to the top of the list.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7121E2-DEC5-9543-AB30-CBE8C0EA9FC3}" type="slidenum">
              <a:rPr lang="en-US"/>
              <a:pPr/>
              <a:t>50</a:t>
            </a:fld>
            <a:endParaRPr lang="en-US"/>
          </a:p>
        </p:txBody>
      </p:sp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5/30/17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5/30/17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5/30/17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3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6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4" Type="http://schemas.openxmlformats.org/officeDocument/2006/relationships/image" Target="../media/image36.emf"/><Relationship Id="rId5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4" Type="http://schemas.openxmlformats.org/officeDocument/2006/relationships/image" Target="../media/image40.emf"/><Relationship Id="rId5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15: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class Monday May 29 (Memorial Day)</a:t>
            </a:r>
          </a:p>
          <a:p>
            <a:r>
              <a:rPr lang="en-US" dirty="0" smtClean="0"/>
              <a:t>Final class is Wednesday May 31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1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Assignment 3 has been posted, due Thursday June 1</a:t>
            </a:r>
          </a:p>
          <a:p>
            <a:r>
              <a:rPr lang="en-US" sz="2800" dirty="0" smtClean="0"/>
              <a:t>Final project report due Friday, June 9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0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2256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Structured Prediction: </a:t>
            </a:r>
          </a:p>
          <a:p>
            <a:pPr marL="0" indent="0">
              <a:buNone/>
            </a:pPr>
            <a:r>
              <a:rPr lang="en-US" b="1" dirty="0" smtClean="0"/>
              <a:t>size of output space is exponential in size of input</a:t>
            </a:r>
          </a:p>
          <a:p>
            <a:pPr marL="0" indent="0">
              <a:buNone/>
            </a:pPr>
            <a:r>
              <a:rPr lang="en-US" b="1" dirty="0" smtClean="0"/>
              <a:t>or is unbounded (e.g., machine translation)</a:t>
            </a:r>
          </a:p>
          <a:p>
            <a:pPr marL="0" indent="0">
              <a:buNone/>
            </a:pPr>
            <a:r>
              <a:rPr lang="en-US" b="1" dirty="0" smtClean="0"/>
              <a:t>(we can’t just enumerate all possible outputs)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7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052424"/>
          </a:xfrm>
        </p:spPr>
        <p:txBody>
          <a:bodyPr>
            <a:normAutofit/>
          </a:bodyPr>
          <a:lstStyle/>
          <a:p>
            <a:r>
              <a:rPr lang="en-US" dirty="0" smtClean="0"/>
              <a:t>2 categories </a:t>
            </a:r>
            <a:r>
              <a:rPr lang="en-US" dirty="0"/>
              <a:t>of </a:t>
            </a:r>
            <a:r>
              <a:rPr lang="en-US" dirty="0" smtClean="0"/>
              <a:t>structured prediction: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score-based and search-based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Score-Based Structured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dirty="0" smtClean="0"/>
              <a:t>focus on defining the score function of the structured input/output pair:</a:t>
            </a:r>
          </a:p>
          <a:p>
            <a:pPr marL="342900" lvl="1" indent="-342900">
              <a:buFont typeface="Arial"/>
              <a:buChar char="•"/>
            </a:pPr>
            <a:endParaRPr lang="en-US" dirty="0"/>
          </a:p>
          <a:p>
            <a:pPr marL="342900" lvl="1" indent="-342900">
              <a:buFont typeface="Arial"/>
              <a:buChar char="•"/>
            </a:pPr>
            <a:endParaRPr lang="en-US" dirty="0" smtClean="0"/>
          </a:p>
          <a:p>
            <a:pPr marL="342900" lvl="1" indent="-342900">
              <a:buFont typeface="Arial"/>
              <a:buChar char="•"/>
            </a:pPr>
            <a:r>
              <a:rPr lang="en-US" dirty="0" smtClean="0"/>
              <a:t>cleanly separates score function, inference algorithm, and training loss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0" y="2386279"/>
            <a:ext cx="1701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4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Modeling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score as a sum or product over “parts” of the structured input/output pair: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711077"/>
            <a:ext cx="6426200" cy="800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4088968"/>
            <a:ext cx="6426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31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0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Parts Functions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3744"/>
            <a:ext cx="8229600" cy="4496654"/>
          </a:xfrm>
        </p:spPr>
        <p:txBody>
          <a:bodyPr/>
          <a:lstStyle/>
          <a:p>
            <a:r>
              <a:rPr lang="en-US" dirty="0" smtClean="0"/>
              <a:t>for an HMM: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each word-label pair forms a part, and each label bigram forms a part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708176"/>
            <a:ext cx="637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0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Parts Functions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3744"/>
            <a:ext cx="8229600" cy="4496654"/>
          </a:xfrm>
        </p:spPr>
        <p:txBody>
          <a:bodyPr/>
          <a:lstStyle/>
          <a:p>
            <a:r>
              <a:rPr lang="en-US" dirty="0" smtClean="0"/>
              <a:t>for a linear chain CRF: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each label bigram forms a part (each of which includes entire input!)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16" y="2961715"/>
            <a:ext cx="49149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2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0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Parts Functions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3744"/>
            <a:ext cx="8229600" cy="4496654"/>
          </a:xfrm>
        </p:spPr>
        <p:txBody>
          <a:bodyPr/>
          <a:lstStyle/>
          <a:p>
            <a:r>
              <a:rPr lang="en-US" dirty="0" smtClean="0"/>
              <a:t>for a PCFG: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each context-free grammar rule forms a part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07060"/>
            <a:ext cx="88392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9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0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Parts Functions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3744"/>
            <a:ext cx="8229600" cy="4496654"/>
          </a:xfrm>
        </p:spPr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sz="3200" dirty="0"/>
              <a:t>for an arc-factored dependency </a:t>
            </a:r>
            <a:r>
              <a:rPr lang="en-US" sz="3200" dirty="0" smtClean="0"/>
              <a:t>parser: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/>
              <a:t>each dependency arc forms a part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699446"/>
            <a:ext cx="5880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0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 in Score-Based 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inference algorithms are defined based on decomposition of score into parts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smaller parts = easier to define efficient exact inference algorithms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2507389"/>
            <a:ext cx="6426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7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Inference Algorithms for Score-Based SP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exact inference algorithms are often based on </a:t>
            </a:r>
            <a:r>
              <a:rPr lang="en-US" b="1" dirty="0" smtClean="0"/>
              <a:t>dynamic programming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4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Dynamic Programming (DP)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2160" cy="5052424"/>
          </a:xfrm>
        </p:spPr>
        <p:txBody>
          <a:bodyPr>
            <a:normAutofit/>
          </a:bodyPr>
          <a:lstStyle/>
          <a:p>
            <a:r>
              <a:rPr lang="en-US" dirty="0" smtClean="0"/>
              <a:t>a class of algorithms that break problems into smaller pieces and reuse solutions for pieces</a:t>
            </a:r>
          </a:p>
          <a:p>
            <a:pPr lvl="1"/>
            <a:r>
              <a:rPr lang="en-US" sz="2400" dirty="0" smtClean="0"/>
              <a:t>applicable if problem has certain properties (</a:t>
            </a:r>
            <a:r>
              <a:rPr lang="en-US" sz="2400" b="1" dirty="0" smtClean="0">
                <a:solidFill>
                  <a:srgbClr val="288CD2"/>
                </a:solidFill>
              </a:rPr>
              <a:t>optimal substructure </a:t>
            </a:r>
            <a:r>
              <a:rPr lang="en-US" sz="2400" dirty="0" smtClean="0"/>
              <a:t>and </a:t>
            </a:r>
            <a:r>
              <a:rPr lang="en-US" sz="2400" b="1" dirty="0" smtClean="0">
                <a:solidFill>
                  <a:srgbClr val="288CD2"/>
                </a:solidFill>
              </a:rPr>
              <a:t>overlapping sub-problems</a:t>
            </a:r>
            <a:r>
              <a:rPr lang="en-US" sz="2400" dirty="0" smtClean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in NLP, we use DP to iterate over exponentially-large output spaces in polynomial time</a:t>
            </a:r>
          </a:p>
          <a:p>
            <a:pPr lvl="1"/>
            <a:r>
              <a:rPr lang="en-US" sz="2400" dirty="0" smtClean="0"/>
              <a:t>Viterbi and forward</a:t>
            </a:r>
            <a:r>
              <a:rPr lang="en-US" sz="2400" dirty="0"/>
              <a:t>/</a:t>
            </a:r>
            <a:r>
              <a:rPr lang="en-US" sz="2400" dirty="0" smtClean="0"/>
              <a:t>backward for HMMs</a:t>
            </a:r>
          </a:p>
          <a:p>
            <a:pPr lvl="1"/>
            <a:r>
              <a:rPr lang="en-US" sz="2400" dirty="0" smtClean="0"/>
              <a:t>CKY for PCFGs</a:t>
            </a:r>
          </a:p>
          <a:p>
            <a:pPr lvl="1"/>
            <a:r>
              <a:rPr lang="en-US" sz="2400" dirty="0" smtClean="0"/>
              <a:t>Eisner algorithm for (arc-factored) dependency parsing</a:t>
            </a: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5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009"/>
            <a:ext cx="8229600" cy="5052424"/>
          </a:xfrm>
        </p:spPr>
        <p:txBody>
          <a:bodyPr/>
          <a:lstStyle/>
          <a:p>
            <a:r>
              <a:rPr lang="en-US" dirty="0" smtClean="0"/>
              <a:t>recursive equations + </a:t>
            </a:r>
            <a:r>
              <a:rPr lang="en-US" dirty="0" err="1" smtClean="0"/>
              <a:t>memoization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00480" y="2311400"/>
            <a:ext cx="203200" cy="6121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206500" y="3957320"/>
            <a:ext cx="195580" cy="533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574542"/>
            <a:ext cx="6373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base case: 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returns score of sequence starting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for first word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28" y="4446508"/>
            <a:ext cx="5209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recursive case: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computes score of max-scoring label sequence that ends with label </a:t>
            </a:r>
            <a:r>
              <a:rPr lang="en-US" sz="2000" i="1" dirty="0" smtClean="0">
                <a:solidFill>
                  <a:srgbClr val="288CD2"/>
                </a:solidFill>
              </a:rPr>
              <a:t>y</a:t>
            </a:r>
            <a:r>
              <a:rPr lang="en-US" sz="2000" dirty="0" smtClean="0">
                <a:solidFill>
                  <a:srgbClr val="288CD2"/>
                </a:solidFill>
              </a:rPr>
              <a:t> at position </a:t>
            </a:r>
            <a:r>
              <a:rPr lang="en-US" sz="2000" i="1" dirty="0" smtClean="0">
                <a:solidFill>
                  <a:srgbClr val="288CD2"/>
                </a:solidFill>
              </a:rPr>
              <a:t>t</a:t>
            </a:r>
            <a:endParaRPr lang="en-US" sz="2000" i="1" dirty="0">
              <a:solidFill>
                <a:srgbClr val="288CD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3680" y="5747378"/>
            <a:ext cx="206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final value is in: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340" y="5829988"/>
            <a:ext cx="21971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3042797"/>
            <a:ext cx="72136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6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time 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space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table, which is # of unique indices of recursive equations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520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space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4393832"/>
            <a:ext cx="72136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7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Viterbi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7078"/>
            <a:ext cx="8229600" cy="109609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space and </a:t>
            </a:r>
            <a:r>
              <a:rPr lang="en-US" b="1" dirty="0" smtClean="0"/>
              <a:t>time </a:t>
            </a:r>
            <a:r>
              <a:rPr lang="en-US" dirty="0" smtClean="0"/>
              <a:t>complexity?</a:t>
            </a:r>
          </a:p>
          <a:p>
            <a:r>
              <a:rPr lang="en-US" dirty="0" smtClean="0"/>
              <a:t>can be read off from the recursive equations: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1330960" y="3682395"/>
            <a:ext cx="358128" cy="62187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662928" y="1863171"/>
            <a:ext cx="829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time complexity:</a:t>
            </a:r>
          </a:p>
          <a:p>
            <a:r>
              <a:rPr lang="en-US" sz="2000" dirty="0" smtClean="0">
                <a:solidFill>
                  <a:srgbClr val="288CD2"/>
                </a:solidFill>
              </a:rPr>
              <a:t>size of </a:t>
            </a:r>
            <a:r>
              <a:rPr lang="en-US" sz="2000" dirty="0" err="1" smtClean="0">
                <a:solidFill>
                  <a:srgbClr val="288CD2"/>
                </a:solidFill>
              </a:rPr>
              <a:t>memoization</a:t>
            </a:r>
            <a:r>
              <a:rPr lang="en-US" sz="2000" dirty="0" smtClean="0">
                <a:solidFill>
                  <a:srgbClr val="288CD2"/>
                </a:solidFill>
              </a:rPr>
              <a:t> table * complexity of computing each entry</a:t>
            </a:r>
            <a:endParaRPr lang="en-US" sz="2000" dirty="0">
              <a:solidFill>
                <a:srgbClr val="288CD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4688" y="4984988"/>
            <a:ext cx="691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so, time complexity is O(|</a:t>
            </a:r>
            <a:r>
              <a:rPr lang="en-US" sz="2400" b="1" i="1" dirty="0" smtClean="0">
                <a:solidFill>
                  <a:srgbClr val="288CD2"/>
                </a:solidFill>
              </a:rPr>
              <a:t>x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 smtClean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dirty="0" smtClean="0">
                <a:solidFill>
                  <a:srgbClr val="288CD2"/>
                </a:solidFill>
              </a:rPr>
              <a:t>) = O(</a:t>
            </a:r>
            <a:r>
              <a:rPr lang="en-US" sz="2400" b="1" dirty="0">
                <a:solidFill>
                  <a:srgbClr val="288CD2"/>
                </a:solidFill>
              </a:rPr>
              <a:t>|</a:t>
            </a:r>
            <a:r>
              <a:rPr lang="en-US" sz="2400" b="1" i="1" dirty="0">
                <a:solidFill>
                  <a:srgbClr val="288CD2"/>
                </a:solidFill>
              </a:rPr>
              <a:t>x</a:t>
            </a:r>
            <a:r>
              <a:rPr lang="en-US" sz="2400" b="1" dirty="0">
                <a:solidFill>
                  <a:srgbClr val="288CD2"/>
                </a:solidFill>
              </a:rPr>
              <a:t>| |</a:t>
            </a:r>
            <a:r>
              <a:rPr lang="en-US" sz="2400" b="1" i="1" dirty="0">
                <a:solidFill>
                  <a:srgbClr val="288CD2"/>
                </a:solidFill>
              </a:rPr>
              <a:t>L</a:t>
            </a:r>
            <a:r>
              <a:rPr lang="en-US" sz="2400" b="1" dirty="0" smtClean="0">
                <a:solidFill>
                  <a:srgbClr val="288CD2"/>
                </a:solidFill>
              </a:rPr>
              <a:t>|</a:t>
            </a:r>
            <a:r>
              <a:rPr lang="en-US" sz="2400" b="1" baseline="30000" dirty="0" smtClean="0">
                <a:solidFill>
                  <a:srgbClr val="288CD2"/>
                </a:solidFill>
              </a:rPr>
              <a:t>2</a:t>
            </a:r>
            <a:r>
              <a:rPr lang="en-US" sz="2400" b="1" dirty="0" smtClean="0">
                <a:solidFill>
                  <a:srgbClr val="288CD2"/>
                </a:solidFill>
              </a:rPr>
              <a:t>)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28" y="3000950"/>
            <a:ext cx="122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length of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4688" y="2990790"/>
            <a:ext cx="1247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number of labels</a:t>
            </a: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2065008" y="3682395"/>
            <a:ext cx="434352" cy="64874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174115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3074664" y="3708836"/>
            <a:ext cx="1324616" cy="63858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3796024" y="2972434"/>
            <a:ext cx="3061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288CD2"/>
                </a:solidFill>
              </a:rPr>
              <a:t>each entry requires iterating through the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7072" y="3136780"/>
            <a:ext cx="32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288CD2"/>
                </a:solidFill>
              </a:rPr>
              <a:t>*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4393832"/>
            <a:ext cx="72136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0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Feature Locality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feature locality</a:t>
            </a:r>
            <a:r>
              <a:rPr lang="en-US" dirty="0" smtClean="0"/>
              <a:t>: </a:t>
            </a:r>
            <a:r>
              <a:rPr lang="en-US" dirty="0"/>
              <a:t>how </a:t>
            </a:r>
            <a:r>
              <a:rPr lang="en-US" dirty="0" smtClean="0"/>
              <a:t>big </a:t>
            </a:r>
            <a:r>
              <a:rPr lang="en-US" dirty="0"/>
              <a:t>are </a:t>
            </a:r>
            <a:r>
              <a:rPr lang="en-US" dirty="0" smtClean="0"/>
              <a:t>the parts?</a:t>
            </a:r>
            <a:endParaRPr lang="en-US" dirty="0"/>
          </a:p>
          <a:p>
            <a:r>
              <a:rPr lang="en-US" dirty="0" smtClean="0"/>
              <a:t>for efficient inference (w/ DP or other methods), we need to be mindful of this</a:t>
            </a:r>
            <a:endParaRPr lang="en-US" b="1" dirty="0" smtClean="0">
              <a:solidFill>
                <a:srgbClr val="288CD2"/>
              </a:solidFill>
            </a:endParaRPr>
          </a:p>
          <a:p>
            <a:r>
              <a:rPr lang="en-US" dirty="0" smtClean="0"/>
              <a:t>parts can be arbitrarily big in terms of input, but not in terms of </a:t>
            </a:r>
            <a:r>
              <a:rPr lang="en-US" i="1" dirty="0" smtClean="0"/>
              <a:t>output</a:t>
            </a:r>
            <a:r>
              <a:rPr lang="en-US" dirty="0" smtClean="0"/>
              <a:t>!</a:t>
            </a:r>
          </a:p>
          <a:p>
            <a:r>
              <a:rPr lang="en-US" dirty="0" smtClean="0"/>
              <a:t>HMM parts are small in both the input and output (only two pieces at a time)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0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0481"/>
            <a:ext cx="8229600" cy="118948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Learning with Score-Based SP:</a:t>
            </a:r>
            <a:br>
              <a:rPr lang="en-US" sz="3600" dirty="0" smtClean="0"/>
            </a:br>
            <a:r>
              <a:rPr lang="en-US" sz="3600" dirty="0" smtClean="0"/>
              <a:t>Empirical 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800698"/>
            <a:ext cx="5359400" cy="736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84" y="3060010"/>
            <a:ext cx="49276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4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95939"/>
            <a:ext cx="8420237" cy="546041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cost function</a:t>
            </a:r>
            <a:r>
              <a:rPr lang="en-US" sz="2400" dirty="0" smtClean="0"/>
              <a:t>: how different are these two structures?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typically used to compare predicted structure to gold standard</a:t>
            </a:r>
          </a:p>
          <a:p>
            <a:r>
              <a:rPr lang="en-US" sz="2400" dirty="0" smtClean="0"/>
              <a:t>should reflect evaluation metric for task</a:t>
            </a:r>
          </a:p>
          <a:p>
            <a:endParaRPr lang="en-US" sz="2400" dirty="0" smtClean="0"/>
          </a:p>
          <a:p>
            <a:r>
              <a:rPr lang="en-US" sz="2400" dirty="0" smtClean="0"/>
              <a:t>usual conventions:</a:t>
            </a:r>
            <a:endParaRPr lang="en-US" sz="2400" dirty="0"/>
          </a:p>
          <a:p>
            <a:r>
              <a:rPr lang="en-US" sz="2400" dirty="0" smtClean="0">
                <a:solidFill>
                  <a:schemeClr val="bg1"/>
                </a:solidFill>
              </a:rPr>
              <a:t>for classification, what cost should we use?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683040"/>
            <a:ext cx="2590800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220" y="3664062"/>
            <a:ext cx="1816100" cy="317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220" y="4239758"/>
            <a:ext cx="30988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3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111"/>
            <a:ext cx="8229600" cy="512223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for </a:t>
            </a:r>
            <a:r>
              <a:rPr lang="en-US" sz="2400" dirty="0"/>
              <a:t>classification, </a:t>
            </a:r>
            <a:r>
              <a:rPr lang="en-US" sz="2400" dirty="0" smtClean="0"/>
              <a:t>we used: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how about for sequences?</a:t>
            </a:r>
          </a:p>
          <a:p>
            <a:endParaRPr lang="en-US" sz="2400" dirty="0"/>
          </a:p>
          <a:p>
            <a:pPr lvl="1"/>
            <a:r>
              <a:rPr lang="en-US" sz="2000" dirty="0" smtClean="0"/>
              <a:t>“Hamming cost”: </a:t>
            </a:r>
          </a:p>
          <a:p>
            <a:pPr lvl="1"/>
            <a:endParaRPr lang="en-US" sz="2000" dirty="0"/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“0-1 cost”: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059905"/>
            <a:ext cx="2768600" cy="33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52" y="3162787"/>
            <a:ext cx="3429000" cy="93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4569900"/>
            <a:ext cx="28829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8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Empirical 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3941964"/>
            <a:ext cx="8623300" cy="127345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this is intractable so we typically minimize a </a:t>
            </a:r>
            <a:r>
              <a:rPr lang="en-US" sz="2800" b="1" dirty="0" smtClean="0"/>
              <a:t>surrogate loss function</a:t>
            </a:r>
            <a:r>
              <a:rPr lang="en-US" sz="2800" dirty="0" smtClean="0"/>
              <a:t> instead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585028"/>
            <a:ext cx="5359400" cy="736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84" y="3060010"/>
            <a:ext cx="49276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5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 for Score-Based SP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79521"/>
              </p:ext>
            </p:extLst>
          </p:nvPr>
        </p:nvGraphicFramePr>
        <p:xfrm>
          <a:off x="-1" y="1071880"/>
          <a:ext cx="9144001" cy="39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/>
                <a:gridCol w="6349584"/>
                <a:gridCol w="1871929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, 2003)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43953" y="1592445"/>
            <a:ext cx="1713190" cy="599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446276" y="2527992"/>
            <a:ext cx="5106923" cy="599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430810" y="2420294"/>
            <a:ext cx="1713190" cy="8051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72054" y="3406863"/>
            <a:ext cx="6192191" cy="5990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43953" y="3334970"/>
            <a:ext cx="1713190" cy="822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5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 for Score-Based SP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90910"/>
              </p:ext>
            </p:extLst>
          </p:nvPr>
        </p:nvGraphicFramePr>
        <p:xfrm>
          <a:off x="-1" y="1071880"/>
          <a:ext cx="9144001" cy="39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/>
                <a:gridCol w="6349584"/>
                <a:gridCol w="1871929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, 2003)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9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 for Score-Based SP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84529"/>
              </p:ext>
            </p:extLst>
          </p:nvPr>
        </p:nvGraphicFramePr>
        <p:xfrm>
          <a:off x="-1" y="1071880"/>
          <a:ext cx="9144001" cy="393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/>
                <a:gridCol w="6349584"/>
                <a:gridCol w="1871929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, 2003)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CRFs (Lafferty et al., 2001)</a:t>
                      </a:r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97" y="4270693"/>
            <a:ext cx="5546901" cy="6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 for Score-Based SP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6696"/>
              </p:ext>
            </p:extLst>
          </p:nvPr>
        </p:nvGraphicFramePr>
        <p:xfrm>
          <a:off x="-1" y="1071880"/>
          <a:ext cx="9144001" cy="484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/>
                <a:gridCol w="6349584"/>
                <a:gridCol w="1871929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, 2003)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CRFs (Lafferty et al., 2001)</a:t>
                      </a:r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softmax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-margin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err="1" smtClean="0">
                          <a:solidFill>
                            <a:srgbClr val="000000"/>
                          </a:solidFill>
                        </a:rPr>
                        <a:t>Povey</a:t>
                      </a:r>
                      <a:r>
                        <a:rPr lang="en-US" i="0" dirty="0" smtClean="0">
                          <a:solidFill>
                            <a:srgbClr val="000000"/>
                          </a:solidFill>
                        </a:rPr>
                        <a:t> et al. (2008), Gimpel &amp; Smith (2010)</a:t>
                      </a:r>
                      <a:endParaRPr lang="en-US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97" y="4270693"/>
            <a:ext cx="5546901" cy="684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674" y="5233010"/>
            <a:ext cx="6211492" cy="5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4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96198" y="231659"/>
            <a:ext cx="21682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0000"/>
                </a:solidFill>
                <a:latin typeface="Calibri"/>
                <a:cs typeface="Calibri"/>
              </a:rPr>
              <a:t>Perceptron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96198" y="3066445"/>
            <a:ext cx="21682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0000"/>
                </a:solidFill>
                <a:latin typeface="Calibri"/>
                <a:cs typeface="Calibri"/>
              </a:rPr>
              <a:t>Max-Margin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32026" y="3066461"/>
            <a:ext cx="2660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err="1" smtClean="0">
                <a:solidFill>
                  <a:srgbClr val="000000"/>
                </a:solidFill>
                <a:latin typeface="Calibri"/>
                <a:cs typeface="Calibri"/>
              </a:rPr>
              <a:t>Softmax</a:t>
            </a:r>
            <a:r>
              <a:rPr lang="en-US" sz="2800" i="0" dirty="0" smtClean="0">
                <a:solidFill>
                  <a:srgbClr val="000000"/>
                </a:solidFill>
                <a:latin typeface="Calibri"/>
                <a:cs typeface="Calibri"/>
              </a:rPr>
              <a:t>-Margin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99896" y="39306"/>
            <a:ext cx="212435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000000"/>
                </a:solidFill>
                <a:latin typeface="Calibri"/>
                <a:cs typeface="Calibri"/>
              </a:rPr>
              <a:t>Conditional</a:t>
            </a:r>
          </a:p>
          <a:p>
            <a:pPr algn="ctr" eaLnBrk="1" hangingPunct="1"/>
            <a:r>
              <a:rPr lang="en-US" sz="2800" i="0" dirty="0" smtClean="0">
                <a:solidFill>
                  <a:srgbClr val="000000"/>
                </a:solidFill>
                <a:latin typeface="Calibri"/>
                <a:cs typeface="Calibri"/>
              </a:rPr>
              <a:t>Likelihood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00907" y="912106"/>
            <a:ext cx="496455" cy="2112819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5" name="Down Arrow 14"/>
          <p:cNvSpPr/>
          <p:nvPr/>
        </p:nvSpPr>
        <p:spPr>
          <a:xfrm rot="16200000">
            <a:off x="4217540" y="-1019435"/>
            <a:ext cx="535717" cy="3128812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31450" y="1463983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dd cost function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362040" y="346394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ax to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29" name="Down Arrow 28"/>
          <p:cNvSpPr/>
          <p:nvPr/>
        </p:nvSpPr>
        <p:spPr>
          <a:xfrm rot="16200000">
            <a:off x="4150574" y="1799975"/>
            <a:ext cx="535717" cy="3128812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95074" y="3165804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ax to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7010394" y="983689"/>
            <a:ext cx="496455" cy="2112819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640937" y="1535566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dd cost function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434" y="3998899"/>
            <a:ext cx="6211492" cy="5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0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1489364" y="2389910"/>
            <a:ext cx="496455" cy="1766454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5" name="Down Arrow 14"/>
          <p:cNvSpPr/>
          <p:nvPr/>
        </p:nvSpPr>
        <p:spPr>
          <a:xfrm rot="16200000">
            <a:off x="4229087" y="296734"/>
            <a:ext cx="535717" cy="3128812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19907" y="2849422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dd cost function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373587" y="1662563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ax to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29" name="Down Arrow 28"/>
          <p:cNvSpPr/>
          <p:nvPr/>
        </p:nvSpPr>
        <p:spPr>
          <a:xfrm rot="16200000">
            <a:off x="4119415" y="3248912"/>
            <a:ext cx="535717" cy="2932543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83531" y="4516608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</a:t>
            </a:r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ax to </a:t>
            </a:r>
            <a:r>
              <a:rPr lang="en-US" sz="2400" i="0" dirty="0" err="1" smtClean="0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6906491" y="2574636"/>
            <a:ext cx="496455" cy="1662546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537034" y="2921005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dd cost function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183" y="1154545"/>
            <a:ext cx="7712362" cy="4214091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4800" y="157015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Results: Named Entity Recognition</a:t>
            </a:r>
            <a:br>
              <a:rPr lang="en-US" sz="3200" dirty="0" smtClean="0"/>
            </a:br>
            <a:r>
              <a:rPr lang="en-US" sz="2400" dirty="0" smtClean="0">
                <a:solidFill>
                  <a:srgbClr val="0062AC"/>
                </a:solidFill>
              </a:rPr>
              <a:t>(Gimpel &amp; Smith, 2010)</a:t>
            </a:r>
            <a:endParaRPr lang="en-US" sz="3200" dirty="0">
              <a:solidFill>
                <a:srgbClr val="0062AC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20483" y="4278725"/>
            <a:ext cx="2660072" cy="954107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err="1" smtClean="0">
                <a:solidFill>
                  <a:srgbClr val="FFFFFF"/>
                </a:solidFill>
                <a:latin typeface="Calibri"/>
                <a:cs typeface="Calibri"/>
              </a:rPr>
              <a:t>Softmax</a:t>
            </a:r>
            <a:r>
              <a:rPr lang="en-US" sz="2800" i="0" dirty="0" smtClean="0">
                <a:solidFill>
                  <a:srgbClr val="FFFFFF"/>
                </a:solidFill>
                <a:latin typeface="Calibri"/>
                <a:cs typeface="Calibri"/>
              </a:rPr>
              <a:t>-Margin</a:t>
            </a:r>
          </a:p>
          <a:p>
            <a:pPr algn="ctr" eaLnBrk="1" hangingPunct="1"/>
            <a:r>
              <a:rPr lang="en-US" sz="2800" i="0" dirty="0">
                <a:solidFill>
                  <a:srgbClr val="FFFF00"/>
                </a:solidFill>
                <a:latin typeface="Calibri"/>
                <a:cs typeface="Calibri"/>
              </a:rPr>
              <a:t>F1: </a:t>
            </a:r>
            <a:r>
              <a:rPr lang="en-US" sz="2800" i="0" dirty="0" smtClean="0">
                <a:solidFill>
                  <a:srgbClr val="FFFF00"/>
                </a:solidFill>
                <a:latin typeface="Calibri"/>
                <a:cs typeface="Calibri"/>
              </a:rPr>
              <a:t>86.03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142173" y="1124575"/>
            <a:ext cx="2124359" cy="1384995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FFFFFF"/>
                </a:solidFill>
                <a:latin typeface="Calibri"/>
                <a:cs typeface="Calibri"/>
              </a:rPr>
              <a:t>Conditional</a:t>
            </a:r>
          </a:p>
          <a:p>
            <a:pPr algn="ctr" eaLnBrk="1" hangingPunct="1"/>
            <a:r>
              <a:rPr lang="en-US" sz="2800" i="0" dirty="0" smtClean="0">
                <a:solidFill>
                  <a:srgbClr val="FFFFFF"/>
                </a:solidFill>
                <a:latin typeface="Calibri"/>
                <a:cs typeface="Calibri"/>
              </a:rPr>
              <a:t>Likelihood</a:t>
            </a:r>
          </a:p>
          <a:p>
            <a:pPr algn="ctr" eaLnBrk="1" hangingPunct="1"/>
            <a:r>
              <a:rPr lang="en-US" sz="2800" i="0" dirty="0">
                <a:solidFill>
                  <a:srgbClr val="FFFF00"/>
                </a:solidFill>
                <a:latin typeface="Calibri"/>
                <a:cs typeface="Calibri"/>
              </a:rPr>
              <a:t>F1: </a:t>
            </a:r>
            <a:r>
              <a:rPr lang="en-US" sz="2800" i="0" dirty="0" smtClean="0">
                <a:solidFill>
                  <a:srgbClr val="FFFF00"/>
                </a:solidFill>
                <a:latin typeface="Calibri"/>
                <a:cs typeface="Calibri"/>
              </a:rPr>
              <a:t>85.54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84655" y="4278709"/>
            <a:ext cx="2168236" cy="954107"/>
          </a:xfrm>
          <a:prstGeom prst="rect">
            <a:avLst/>
          </a:prstGeom>
          <a:solidFill>
            <a:srgbClr val="000000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rgbClr val="FFFFFF"/>
                </a:solidFill>
                <a:latin typeface="Calibri"/>
                <a:cs typeface="Calibri"/>
              </a:rPr>
              <a:t>Max-Margin</a:t>
            </a:r>
          </a:p>
          <a:p>
            <a:pPr algn="ctr" eaLnBrk="1" hangingPunct="1"/>
            <a:r>
              <a:rPr lang="en-US" sz="2800" i="0" dirty="0">
                <a:solidFill>
                  <a:srgbClr val="FFFF00"/>
                </a:solidFill>
                <a:latin typeface="Calibri"/>
                <a:cs typeface="Calibri"/>
              </a:rPr>
              <a:t>F1: 85.55</a:t>
            </a:r>
            <a:endParaRPr lang="en-US" sz="2800" i="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84655" y="1363108"/>
            <a:ext cx="2168236" cy="954107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Perceptron</a:t>
            </a:r>
          </a:p>
          <a:p>
            <a:pPr algn="ctr" eaLnBrk="1" hangingPunct="1"/>
            <a:r>
              <a:rPr lang="en-US" sz="2800" i="0" dirty="0" smtClean="0">
                <a:solidFill>
                  <a:srgbClr val="FFFF00"/>
                </a:solidFill>
                <a:latin typeface="Calibri"/>
                <a:cs typeface="Calibri"/>
              </a:rPr>
              <a:t>F1: 85.27</a:t>
            </a:r>
          </a:p>
        </p:txBody>
      </p:sp>
    </p:spTree>
    <p:extLst>
      <p:ext uri="{BB962C8B-B14F-4D97-AF65-F5344CB8AC3E}">
        <p14:creationId xmlns:p14="http://schemas.microsoft.com/office/powerpoint/2010/main" val="375323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Inference Algorithms for Score-Based SP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programming</a:t>
            </a:r>
          </a:p>
          <a:p>
            <a:pPr lvl="1"/>
            <a:r>
              <a:rPr lang="en-US" dirty="0" smtClean="0"/>
              <a:t>exact, but parts must be small for efficiency</a:t>
            </a:r>
          </a:p>
          <a:p>
            <a:r>
              <a:rPr lang="en-US" dirty="0" smtClean="0"/>
              <a:t>dynamic programming + “cube pruning”</a:t>
            </a:r>
          </a:p>
          <a:p>
            <a:pPr lvl="1"/>
            <a:r>
              <a:rPr lang="en-US" dirty="0" smtClean="0"/>
              <a:t>permits approximate incorporation of large parts (“non-local features”) while still using dynamic program backbone</a:t>
            </a:r>
          </a:p>
          <a:p>
            <a:r>
              <a:rPr lang="en-US" dirty="0" smtClean="0"/>
              <a:t>integer linear programming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/>
              <a:t>Cube Pruning</a:t>
            </a:r>
            <a:br>
              <a:rPr lang="en-US" sz="3200"/>
            </a:br>
            <a:r>
              <a:rPr lang="en-US" sz="2400"/>
              <a:t>(Chiang, 2007; Huang &amp; Chiang, 2007)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76800"/>
          </a:xfrm>
        </p:spPr>
        <p:txBody>
          <a:bodyPr/>
          <a:lstStyle/>
          <a:p>
            <a:r>
              <a:rPr lang="en-US" sz="2400" dirty="0"/>
              <a:t>Modification to dynamic programming algorithms for decoding to use non-local features approximately</a:t>
            </a:r>
          </a:p>
          <a:p>
            <a:endParaRPr lang="en-US" sz="2400" dirty="0"/>
          </a:p>
          <a:p>
            <a:r>
              <a:rPr lang="en-US" sz="2400" dirty="0"/>
              <a:t>Keeps a </a:t>
            </a:r>
            <a:r>
              <a:rPr lang="en-US" sz="2400" i="1" dirty="0">
                <a:latin typeface="Times New Roman" charset="0"/>
              </a:rPr>
              <a:t>k</a:t>
            </a:r>
            <a:r>
              <a:rPr lang="en-US" sz="2400" dirty="0"/>
              <a:t>-best list of </a:t>
            </a:r>
            <a:r>
              <a:rPr lang="en-US" sz="2400" dirty="0" smtClean="0"/>
              <a:t>derivations for </a:t>
            </a:r>
            <a:r>
              <a:rPr lang="en-US" sz="2400" dirty="0"/>
              <a:t>each </a:t>
            </a:r>
            <a:r>
              <a:rPr lang="en-US" sz="2400" dirty="0" smtClean="0"/>
              <a:t>item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Applies non-local feature functions on these </a:t>
            </a:r>
            <a:r>
              <a:rPr lang="en-US" sz="2400" dirty="0" smtClean="0"/>
              <a:t>derivations when defining new items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836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946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CKY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9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95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087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9348" name="Freeform 4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693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54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1395" name="Freeform 3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1399" name="Freeform 7"/>
          <p:cNvSpPr>
            <a:spLocks/>
          </p:cNvSpPr>
          <p:nvPr/>
        </p:nvSpPr>
        <p:spPr bwMode="auto">
          <a:xfrm>
            <a:off x="660400" y="1041400"/>
            <a:ext cx="3060700" cy="3276600"/>
          </a:xfrm>
          <a:custGeom>
            <a:avLst/>
            <a:gdLst>
              <a:gd name="T0" fmla="*/ 304 w 1928"/>
              <a:gd name="T1" fmla="*/ 2032 h 2064"/>
              <a:gd name="T2" fmla="*/ 112 w 1928"/>
              <a:gd name="T3" fmla="*/ 1936 h 2064"/>
              <a:gd name="T4" fmla="*/ 112 w 1928"/>
              <a:gd name="T5" fmla="*/ 1600 h 2064"/>
              <a:gd name="T6" fmla="*/ 784 w 1928"/>
              <a:gd name="T7" fmla="*/ 544 h 2064"/>
              <a:gd name="T8" fmla="*/ 1120 w 1928"/>
              <a:gd name="T9" fmla="*/ 64 h 2064"/>
              <a:gd name="T10" fmla="*/ 1456 w 1928"/>
              <a:gd name="T11" fmla="*/ 160 h 2064"/>
              <a:gd name="T12" fmla="*/ 1888 w 1928"/>
              <a:gd name="T13" fmla="*/ 688 h 2064"/>
              <a:gd name="T14" fmla="*/ 1696 w 1928"/>
              <a:gd name="T15" fmla="*/ 880 h 2064"/>
              <a:gd name="T16" fmla="*/ 1408 w 1928"/>
              <a:gd name="T17" fmla="*/ 784 h 2064"/>
              <a:gd name="T18" fmla="*/ 1264 w 1928"/>
              <a:gd name="T19" fmla="*/ 544 h 2064"/>
              <a:gd name="T20" fmla="*/ 592 w 1928"/>
              <a:gd name="T21" fmla="*/ 1552 h 2064"/>
              <a:gd name="T22" fmla="*/ 448 w 1928"/>
              <a:gd name="T23" fmla="*/ 1984 h 2064"/>
              <a:gd name="T24" fmla="*/ 304 w 1928"/>
              <a:gd name="T25" fmla="*/ 2032 h 2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8" h="2064">
                <a:moveTo>
                  <a:pt x="304" y="2032"/>
                </a:moveTo>
                <a:cubicBezTo>
                  <a:pt x="248" y="2024"/>
                  <a:pt x="144" y="2008"/>
                  <a:pt x="112" y="1936"/>
                </a:cubicBezTo>
                <a:cubicBezTo>
                  <a:pt x="80" y="1864"/>
                  <a:pt x="0" y="1832"/>
                  <a:pt x="112" y="1600"/>
                </a:cubicBezTo>
                <a:cubicBezTo>
                  <a:pt x="224" y="1368"/>
                  <a:pt x="616" y="800"/>
                  <a:pt x="784" y="544"/>
                </a:cubicBezTo>
                <a:cubicBezTo>
                  <a:pt x="952" y="288"/>
                  <a:pt x="1008" y="128"/>
                  <a:pt x="1120" y="64"/>
                </a:cubicBezTo>
                <a:cubicBezTo>
                  <a:pt x="1232" y="0"/>
                  <a:pt x="1328" y="56"/>
                  <a:pt x="1456" y="160"/>
                </a:cubicBezTo>
                <a:cubicBezTo>
                  <a:pt x="1584" y="264"/>
                  <a:pt x="1848" y="568"/>
                  <a:pt x="1888" y="688"/>
                </a:cubicBezTo>
                <a:cubicBezTo>
                  <a:pt x="1928" y="808"/>
                  <a:pt x="1776" y="864"/>
                  <a:pt x="1696" y="880"/>
                </a:cubicBezTo>
                <a:cubicBezTo>
                  <a:pt x="1616" y="896"/>
                  <a:pt x="1480" y="840"/>
                  <a:pt x="1408" y="784"/>
                </a:cubicBezTo>
                <a:cubicBezTo>
                  <a:pt x="1336" y="728"/>
                  <a:pt x="1400" y="416"/>
                  <a:pt x="1264" y="544"/>
                </a:cubicBezTo>
                <a:cubicBezTo>
                  <a:pt x="1128" y="672"/>
                  <a:pt x="728" y="1312"/>
                  <a:pt x="592" y="1552"/>
                </a:cubicBezTo>
                <a:cubicBezTo>
                  <a:pt x="456" y="1792"/>
                  <a:pt x="496" y="1904"/>
                  <a:pt x="448" y="1984"/>
                </a:cubicBezTo>
                <a:cubicBezTo>
                  <a:pt x="400" y="2064"/>
                  <a:pt x="360" y="2040"/>
                  <a:pt x="304" y="2032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1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874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Freeform 2"/>
          <p:cNvSpPr>
            <a:spLocks/>
          </p:cNvSpPr>
          <p:nvPr/>
        </p:nvSpPr>
        <p:spPr bwMode="auto">
          <a:xfrm>
            <a:off x="685800" y="45720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3" name="Freeform 3"/>
          <p:cNvSpPr>
            <a:spLocks/>
          </p:cNvSpPr>
          <p:nvPr/>
        </p:nvSpPr>
        <p:spPr bwMode="auto">
          <a:xfrm>
            <a:off x="685800" y="3733800"/>
            <a:ext cx="838200" cy="1219200"/>
          </a:xfrm>
          <a:custGeom>
            <a:avLst/>
            <a:gdLst>
              <a:gd name="T0" fmla="*/ 304 w 528"/>
              <a:gd name="T1" fmla="*/ 696 h 704"/>
              <a:gd name="T2" fmla="*/ 64 w 528"/>
              <a:gd name="T3" fmla="*/ 648 h 704"/>
              <a:gd name="T4" fmla="*/ 16 w 528"/>
              <a:gd name="T5" fmla="*/ 360 h 704"/>
              <a:gd name="T6" fmla="*/ 160 w 528"/>
              <a:gd name="T7" fmla="*/ 72 h 704"/>
              <a:gd name="T8" fmla="*/ 400 w 528"/>
              <a:gd name="T9" fmla="*/ 24 h 704"/>
              <a:gd name="T10" fmla="*/ 496 w 528"/>
              <a:gd name="T11" fmla="*/ 216 h 704"/>
              <a:gd name="T12" fmla="*/ 496 w 528"/>
              <a:gd name="T13" fmla="*/ 600 h 704"/>
              <a:gd name="T14" fmla="*/ 304 w 528"/>
              <a:gd name="T15" fmla="*/ 696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28" h="704">
                <a:moveTo>
                  <a:pt x="304" y="696"/>
                </a:moveTo>
                <a:cubicBezTo>
                  <a:pt x="232" y="704"/>
                  <a:pt x="112" y="704"/>
                  <a:pt x="64" y="648"/>
                </a:cubicBezTo>
                <a:cubicBezTo>
                  <a:pt x="16" y="592"/>
                  <a:pt x="0" y="456"/>
                  <a:pt x="16" y="360"/>
                </a:cubicBezTo>
                <a:cubicBezTo>
                  <a:pt x="32" y="264"/>
                  <a:pt x="96" y="128"/>
                  <a:pt x="160" y="72"/>
                </a:cubicBezTo>
                <a:cubicBezTo>
                  <a:pt x="224" y="16"/>
                  <a:pt x="344" y="0"/>
                  <a:pt x="400" y="24"/>
                </a:cubicBezTo>
                <a:cubicBezTo>
                  <a:pt x="456" y="48"/>
                  <a:pt x="480" y="120"/>
                  <a:pt x="496" y="216"/>
                </a:cubicBezTo>
                <a:cubicBezTo>
                  <a:pt x="512" y="312"/>
                  <a:pt x="528" y="520"/>
                  <a:pt x="496" y="600"/>
                </a:cubicBezTo>
                <a:cubicBezTo>
                  <a:pt x="464" y="680"/>
                  <a:pt x="376" y="688"/>
                  <a:pt x="304" y="696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4" name="Freeform 4"/>
          <p:cNvSpPr>
            <a:spLocks/>
          </p:cNvSpPr>
          <p:nvPr/>
        </p:nvSpPr>
        <p:spPr bwMode="auto">
          <a:xfrm>
            <a:off x="660400" y="1041400"/>
            <a:ext cx="3060700" cy="3276600"/>
          </a:xfrm>
          <a:custGeom>
            <a:avLst/>
            <a:gdLst>
              <a:gd name="T0" fmla="*/ 304 w 1928"/>
              <a:gd name="T1" fmla="*/ 2032 h 2064"/>
              <a:gd name="T2" fmla="*/ 112 w 1928"/>
              <a:gd name="T3" fmla="*/ 1936 h 2064"/>
              <a:gd name="T4" fmla="*/ 112 w 1928"/>
              <a:gd name="T5" fmla="*/ 1600 h 2064"/>
              <a:gd name="T6" fmla="*/ 784 w 1928"/>
              <a:gd name="T7" fmla="*/ 544 h 2064"/>
              <a:gd name="T8" fmla="*/ 1120 w 1928"/>
              <a:gd name="T9" fmla="*/ 64 h 2064"/>
              <a:gd name="T10" fmla="*/ 1456 w 1928"/>
              <a:gd name="T11" fmla="*/ 160 h 2064"/>
              <a:gd name="T12" fmla="*/ 1888 w 1928"/>
              <a:gd name="T13" fmla="*/ 688 h 2064"/>
              <a:gd name="T14" fmla="*/ 1696 w 1928"/>
              <a:gd name="T15" fmla="*/ 880 h 2064"/>
              <a:gd name="T16" fmla="*/ 1408 w 1928"/>
              <a:gd name="T17" fmla="*/ 784 h 2064"/>
              <a:gd name="T18" fmla="*/ 1264 w 1928"/>
              <a:gd name="T19" fmla="*/ 544 h 2064"/>
              <a:gd name="T20" fmla="*/ 592 w 1928"/>
              <a:gd name="T21" fmla="*/ 1552 h 2064"/>
              <a:gd name="T22" fmla="*/ 448 w 1928"/>
              <a:gd name="T23" fmla="*/ 1984 h 2064"/>
              <a:gd name="T24" fmla="*/ 304 w 1928"/>
              <a:gd name="T25" fmla="*/ 2032 h 20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8" h="2064">
                <a:moveTo>
                  <a:pt x="304" y="2032"/>
                </a:moveTo>
                <a:cubicBezTo>
                  <a:pt x="248" y="2024"/>
                  <a:pt x="144" y="2008"/>
                  <a:pt x="112" y="1936"/>
                </a:cubicBezTo>
                <a:cubicBezTo>
                  <a:pt x="80" y="1864"/>
                  <a:pt x="0" y="1832"/>
                  <a:pt x="112" y="1600"/>
                </a:cubicBezTo>
                <a:cubicBezTo>
                  <a:pt x="224" y="1368"/>
                  <a:pt x="616" y="800"/>
                  <a:pt x="784" y="544"/>
                </a:cubicBezTo>
                <a:cubicBezTo>
                  <a:pt x="952" y="288"/>
                  <a:pt x="1008" y="128"/>
                  <a:pt x="1120" y="64"/>
                </a:cubicBezTo>
                <a:cubicBezTo>
                  <a:pt x="1232" y="0"/>
                  <a:pt x="1328" y="56"/>
                  <a:pt x="1456" y="160"/>
                </a:cubicBezTo>
                <a:cubicBezTo>
                  <a:pt x="1584" y="264"/>
                  <a:pt x="1848" y="568"/>
                  <a:pt x="1888" y="688"/>
                </a:cubicBezTo>
                <a:cubicBezTo>
                  <a:pt x="1928" y="808"/>
                  <a:pt x="1776" y="864"/>
                  <a:pt x="1696" y="880"/>
                </a:cubicBezTo>
                <a:cubicBezTo>
                  <a:pt x="1616" y="896"/>
                  <a:pt x="1480" y="840"/>
                  <a:pt x="1408" y="784"/>
                </a:cubicBezTo>
                <a:cubicBezTo>
                  <a:pt x="1336" y="728"/>
                  <a:pt x="1400" y="416"/>
                  <a:pt x="1264" y="544"/>
                </a:cubicBezTo>
                <a:cubicBezTo>
                  <a:pt x="1128" y="672"/>
                  <a:pt x="728" y="1312"/>
                  <a:pt x="592" y="1552"/>
                </a:cubicBezTo>
                <a:cubicBezTo>
                  <a:pt x="456" y="1792"/>
                  <a:pt x="496" y="1904"/>
                  <a:pt x="448" y="1984"/>
                </a:cubicBezTo>
                <a:cubicBezTo>
                  <a:pt x="400" y="2064"/>
                  <a:pt x="360" y="2040"/>
                  <a:pt x="304" y="2032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446" name="Freeform 6"/>
          <p:cNvSpPr>
            <a:spLocks/>
          </p:cNvSpPr>
          <p:nvPr/>
        </p:nvSpPr>
        <p:spPr bwMode="auto">
          <a:xfrm>
            <a:off x="2108200" y="431800"/>
            <a:ext cx="4432300" cy="2552700"/>
          </a:xfrm>
          <a:custGeom>
            <a:avLst/>
            <a:gdLst>
              <a:gd name="T0" fmla="*/ 112 w 2792"/>
              <a:gd name="T1" fmla="*/ 784 h 1608"/>
              <a:gd name="T2" fmla="*/ 160 w 2792"/>
              <a:gd name="T3" fmla="*/ 496 h 1608"/>
              <a:gd name="T4" fmla="*/ 1072 w 2792"/>
              <a:gd name="T5" fmla="*/ 16 h 1608"/>
              <a:gd name="T6" fmla="*/ 1888 w 2792"/>
              <a:gd name="T7" fmla="*/ 400 h 1608"/>
              <a:gd name="T8" fmla="*/ 2704 w 2792"/>
              <a:gd name="T9" fmla="*/ 1264 h 1608"/>
              <a:gd name="T10" fmla="*/ 2416 w 2792"/>
              <a:gd name="T11" fmla="*/ 1456 h 1608"/>
              <a:gd name="T12" fmla="*/ 1168 w 2792"/>
              <a:gd name="T13" fmla="*/ 352 h 1608"/>
              <a:gd name="T14" fmla="*/ 400 w 2792"/>
              <a:gd name="T15" fmla="*/ 832 h 1608"/>
              <a:gd name="T16" fmla="*/ 112 w 2792"/>
              <a:gd name="T17" fmla="*/ 784 h 1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92" h="1608">
                <a:moveTo>
                  <a:pt x="112" y="784"/>
                </a:moveTo>
                <a:cubicBezTo>
                  <a:pt x="72" y="728"/>
                  <a:pt x="0" y="624"/>
                  <a:pt x="160" y="496"/>
                </a:cubicBezTo>
                <a:cubicBezTo>
                  <a:pt x="320" y="368"/>
                  <a:pt x="784" y="32"/>
                  <a:pt x="1072" y="16"/>
                </a:cubicBezTo>
                <a:cubicBezTo>
                  <a:pt x="1360" y="0"/>
                  <a:pt x="1616" y="192"/>
                  <a:pt x="1888" y="400"/>
                </a:cubicBezTo>
                <a:cubicBezTo>
                  <a:pt x="2160" y="608"/>
                  <a:pt x="2616" y="1088"/>
                  <a:pt x="2704" y="1264"/>
                </a:cubicBezTo>
                <a:cubicBezTo>
                  <a:pt x="2792" y="1440"/>
                  <a:pt x="2672" y="1608"/>
                  <a:pt x="2416" y="1456"/>
                </a:cubicBezTo>
                <a:cubicBezTo>
                  <a:pt x="2160" y="1304"/>
                  <a:pt x="1504" y="456"/>
                  <a:pt x="1168" y="352"/>
                </a:cubicBezTo>
                <a:cubicBezTo>
                  <a:pt x="832" y="248"/>
                  <a:pt x="576" y="760"/>
                  <a:pt x="400" y="832"/>
                </a:cubicBezTo>
                <a:cubicBezTo>
                  <a:pt x="224" y="904"/>
                  <a:pt x="152" y="840"/>
                  <a:pt x="112" y="784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34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70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6" name="Freeform 8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754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75498" name="Text Box 10"/>
          <p:cNvSpPr txBox="1">
            <a:spLocks noChangeArrowheads="1"/>
          </p:cNvSpPr>
          <p:nvPr/>
        </p:nvSpPr>
        <p:spPr bwMode="auto">
          <a:xfrm>
            <a:off x="76200" y="762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ja-JP" altLang="en-US">
                <a:latin typeface="Arial"/>
              </a:rPr>
              <a:t>“</a:t>
            </a:r>
            <a:r>
              <a:rPr lang="en-US"/>
              <a:t>NGramTree</a:t>
            </a:r>
            <a:r>
              <a:rPr lang="ja-JP" altLang="en-US">
                <a:latin typeface="Arial"/>
              </a:rPr>
              <a:t>”</a:t>
            </a:r>
            <a:r>
              <a:rPr lang="en-US"/>
              <a:t> feature</a:t>
            </a:r>
          </a:p>
          <a:p>
            <a:r>
              <a:rPr lang="en-US"/>
              <a:t>(Charniak &amp; Johnson, 2005)</a:t>
            </a:r>
          </a:p>
        </p:txBody>
      </p:sp>
    </p:spTree>
    <p:extLst>
      <p:ext uri="{BB962C8B-B14F-4D97-AF65-F5344CB8AC3E}">
        <p14:creationId xmlns:p14="http://schemas.microsoft.com/office/powerpoint/2010/main" val="249764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30" name="Freeform 6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9832" name="Freeform 8"/>
          <p:cNvSpPr>
            <a:spLocks/>
          </p:cNvSpPr>
          <p:nvPr/>
        </p:nvSpPr>
        <p:spPr bwMode="auto">
          <a:xfrm>
            <a:off x="2235200" y="381000"/>
            <a:ext cx="4279900" cy="5473700"/>
          </a:xfrm>
          <a:custGeom>
            <a:avLst/>
            <a:gdLst>
              <a:gd name="T0" fmla="*/ 1568 w 2696"/>
              <a:gd name="T1" fmla="*/ 3368 h 3448"/>
              <a:gd name="T2" fmla="*/ 1424 w 2696"/>
              <a:gd name="T3" fmla="*/ 3272 h 3448"/>
              <a:gd name="T4" fmla="*/ 1376 w 2696"/>
              <a:gd name="T5" fmla="*/ 2600 h 3448"/>
              <a:gd name="T6" fmla="*/ 1184 w 2696"/>
              <a:gd name="T7" fmla="*/ 2264 h 3448"/>
              <a:gd name="T8" fmla="*/ 704 w 2696"/>
              <a:gd name="T9" fmla="*/ 1592 h 3448"/>
              <a:gd name="T10" fmla="*/ 80 w 2696"/>
              <a:gd name="T11" fmla="*/ 824 h 3448"/>
              <a:gd name="T12" fmla="*/ 224 w 2696"/>
              <a:gd name="T13" fmla="*/ 440 h 3448"/>
              <a:gd name="T14" fmla="*/ 1088 w 2696"/>
              <a:gd name="T15" fmla="*/ 8 h 3448"/>
              <a:gd name="T16" fmla="*/ 1808 w 2696"/>
              <a:gd name="T17" fmla="*/ 488 h 3448"/>
              <a:gd name="T18" fmla="*/ 2624 w 2696"/>
              <a:gd name="T19" fmla="*/ 1304 h 3448"/>
              <a:gd name="T20" fmla="*/ 2240 w 2696"/>
              <a:gd name="T21" fmla="*/ 2216 h 3448"/>
              <a:gd name="T22" fmla="*/ 2144 w 2696"/>
              <a:gd name="T23" fmla="*/ 2936 h 3448"/>
              <a:gd name="T24" fmla="*/ 2048 w 2696"/>
              <a:gd name="T25" fmla="*/ 3080 h 3448"/>
              <a:gd name="T26" fmla="*/ 2000 w 2696"/>
              <a:gd name="T27" fmla="*/ 3368 h 3448"/>
              <a:gd name="T28" fmla="*/ 1856 w 2696"/>
              <a:gd name="T29" fmla="*/ 3368 h 3448"/>
              <a:gd name="T30" fmla="*/ 1760 w 2696"/>
              <a:gd name="T31" fmla="*/ 2888 h 3448"/>
              <a:gd name="T32" fmla="*/ 1760 w 2696"/>
              <a:gd name="T33" fmla="*/ 2504 h 3448"/>
              <a:gd name="T34" fmla="*/ 2192 w 2696"/>
              <a:gd name="T35" fmla="*/ 1448 h 3448"/>
              <a:gd name="T36" fmla="*/ 1088 w 2696"/>
              <a:gd name="T37" fmla="*/ 440 h 3448"/>
              <a:gd name="T38" fmla="*/ 512 w 2696"/>
              <a:gd name="T39" fmla="*/ 728 h 3448"/>
              <a:gd name="T40" fmla="*/ 896 w 2696"/>
              <a:gd name="T41" fmla="*/ 1112 h 3448"/>
              <a:gd name="T42" fmla="*/ 1568 w 2696"/>
              <a:gd name="T43" fmla="*/ 2120 h 3448"/>
              <a:gd name="T44" fmla="*/ 1712 w 2696"/>
              <a:gd name="T45" fmla="*/ 2936 h 3448"/>
              <a:gd name="T46" fmla="*/ 1712 w 2696"/>
              <a:gd name="T47" fmla="*/ 3272 h 3448"/>
              <a:gd name="T48" fmla="*/ 1568 w 2696"/>
              <a:gd name="T49" fmla="*/ 3368 h 3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96" h="3448">
                <a:moveTo>
                  <a:pt x="1568" y="3368"/>
                </a:moveTo>
                <a:cubicBezTo>
                  <a:pt x="1520" y="3368"/>
                  <a:pt x="1456" y="3400"/>
                  <a:pt x="1424" y="3272"/>
                </a:cubicBezTo>
                <a:cubicBezTo>
                  <a:pt x="1392" y="3144"/>
                  <a:pt x="1416" y="2768"/>
                  <a:pt x="1376" y="2600"/>
                </a:cubicBezTo>
                <a:cubicBezTo>
                  <a:pt x="1336" y="2432"/>
                  <a:pt x="1296" y="2432"/>
                  <a:pt x="1184" y="2264"/>
                </a:cubicBezTo>
                <a:cubicBezTo>
                  <a:pt x="1072" y="2096"/>
                  <a:pt x="888" y="1832"/>
                  <a:pt x="704" y="1592"/>
                </a:cubicBezTo>
                <a:cubicBezTo>
                  <a:pt x="520" y="1352"/>
                  <a:pt x="160" y="1016"/>
                  <a:pt x="80" y="824"/>
                </a:cubicBezTo>
                <a:cubicBezTo>
                  <a:pt x="0" y="632"/>
                  <a:pt x="56" y="576"/>
                  <a:pt x="224" y="440"/>
                </a:cubicBezTo>
                <a:cubicBezTo>
                  <a:pt x="392" y="304"/>
                  <a:pt x="824" y="0"/>
                  <a:pt x="1088" y="8"/>
                </a:cubicBezTo>
                <a:cubicBezTo>
                  <a:pt x="1352" y="16"/>
                  <a:pt x="1552" y="272"/>
                  <a:pt x="1808" y="488"/>
                </a:cubicBezTo>
                <a:cubicBezTo>
                  <a:pt x="2064" y="704"/>
                  <a:pt x="2552" y="1016"/>
                  <a:pt x="2624" y="1304"/>
                </a:cubicBezTo>
                <a:cubicBezTo>
                  <a:pt x="2696" y="1592"/>
                  <a:pt x="2320" y="1944"/>
                  <a:pt x="2240" y="2216"/>
                </a:cubicBezTo>
                <a:cubicBezTo>
                  <a:pt x="2160" y="2488"/>
                  <a:pt x="2176" y="2792"/>
                  <a:pt x="2144" y="2936"/>
                </a:cubicBezTo>
                <a:cubicBezTo>
                  <a:pt x="2112" y="3080"/>
                  <a:pt x="2072" y="3008"/>
                  <a:pt x="2048" y="3080"/>
                </a:cubicBezTo>
                <a:cubicBezTo>
                  <a:pt x="2024" y="3152"/>
                  <a:pt x="2032" y="3320"/>
                  <a:pt x="2000" y="3368"/>
                </a:cubicBezTo>
                <a:cubicBezTo>
                  <a:pt x="1968" y="3416"/>
                  <a:pt x="1896" y="3448"/>
                  <a:pt x="1856" y="3368"/>
                </a:cubicBezTo>
                <a:cubicBezTo>
                  <a:pt x="1816" y="3288"/>
                  <a:pt x="1776" y="3032"/>
                  <a:pt x="1760" y="2888"/>
                </a:cubicBezTo>
                <a:cubicBezTo>
                  <a:pt x="1744" y="2744"/>
                  <a:pt x="1688" y="2744"/>
                  <a:pt x="1760" y="2504"/>
                </a:cubicBezTo>
                <a:cubicBezTo>
                  <a:pt x="1832" y="2264"/>
                  <a:pt x="2304" y="1792"/>
                  <a:pt x="2192" y="1448"/>
                </a:cubicBezTo>
                <a:cubicBezTo>
                  <a:pt x="2080" y="1104"/>
                  <a:pt x="1368" y="560"/>
                  <a:pt x="1088" y="440"/>
                </a:cubicBezTo>
                <a:cubicBezTo>
                  <a:pt x="808" y="320"/>
                  <a:pt x="544" y="616"/>
                  <a:pt x="512" y="728"/>
                </a:cubicBezTo>
                <a:cubicBezTo>
                  <a:pt x="480" y="840"/>
                  <a:pt x="720" y="880"/>
                  <a:pt x="896" y="1112"/>
                </a:cubicBezTo>
                <a:cubicBezTo>
                  <a:pt x="1072" y="1344"/>
                  <a:pt x="1432" y="1816"/>
                  <a:pt x="1568" y="2120"/>
                </a:cubicBezTo>
                <a:cubicBezTo>
                  <a:pt x="1704" y="2424"/>
                  <a:pt x="1688" y="2744"/>
                  <a:pt x="1712" y="2936"/>
                </a:cubicBezTo>
                <a:cubicBezTo>
                  <a:pt x="1736" y="3128"/>
                  <a:pt x="1736" y="3200"/>
                  <a:pt x="1712" y="3272"/>
                </a:cubicBezTo>
                <a:cubicBezTo>
                  <a:pt x="1688" y="3344"/>
                  <a:pt x="1616" y="3368"/>
                  <a:pt x="1568" y="3368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898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9834" name="Text Box 10"/>
          <p:cNvSpPr txBox="1">
            <a:spLocks noChangeArrowheads="1"/>
          </p:cNvSpPr>
          <p:nvPr/>
        </p:nvSpPr>
        <p:spPr bwMode="auto">
          <a:xfrm>
            <a:off x="76200" y="762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ja-JP" altLang="en-US">
                <a:latin typeface="Arial"/>
              </a:rPr>
              <a:t>“</a:t>
            </a:r>
            <a:r>
              <a:rPr lang="en-US"/>
              <a:t>NGramTree</a:t>
            </a:r>
            <a:r>
              <a:rPr lang="ja-JP" altLang="en-US">
                <a:latin typeface="Arial"/>
              </a:rPr>
              <a:t>”</a:t>
            </a:r>
            <a:r>
              <a:rPr lang="en-US"/>
              <a:t> feature</a:t>
            </a:r>
          </a:p>
          <a:p>
            <a:r>
              <a:rPr lang="en-US"/>
              <a:t>(Charniak &amp; Johnson, 2005)</a:t>
            </a:r>
          </a:p>
        </p:txBody>
      </p:sp>
    </p:spTree>
    <p:extLst>
      <p:ext uri="{BB962C8B-B14F-4D97-AF65-F5344CB8AC3E}">
        <p14:creationId xmlns:p14="http://schemas.microsoft.com/office/powerpoint/2010/main" val="429191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Freeform 2"/>
          <p:cNvSpPr>
            <a:spLocks/>
          </p:cNvSpPr>
          <p:nvPr/>
        </p:nvSpPr>
        <p:spPr bwMode="auto">
          <a:xfrm>
            <a:off x="609600" y="977900"/>
            <a:ext cx="3086100" cy="4826000"/>
          </a:xfrm>
          <a:custGeom>
            <a:avLst/>
            <a:gdLst>
              <a:gd name="T0" fmla="*/ 336 w 1944"/>
              <a:gd name="T1" fmla="*/ 2984 h 3040"/>
              <a:gd name="T2" fmla="*/ 48 w 1944"/>
              <a:gd name="T3" fmla="*/ 2936 h 3040"/>
              <a:gd name="T4" fmla="*/ 48 w 1944"/>
              <a:gd name="T5" fmla="*/ 2504 h 3040"/>
              <a:gd name="T6" fmla="*/ 240 w 1944"/>
              <a:gd name="T7" fmla="*/ 1640 h 3040"/>
              <a:gd name="T8" fmla="*/ 1104 w 1944"/>
              <a:gd name="T9" fmla="*/ 200 h 3040"/>
              <a:gd name="T10" fmla="*/ 1632 w 1944"/>
              <a:gd name="T11" fmla="*/ 440 h 3040"/>
              <a:gd name="T12" fmla="*/ 1920 w 1944"/>
              <a:gd name="T13" fmla="*/ 776 h 3040"/>
              <a:gd name="T14" fmla="*/ 1488 w 1944"/>
              <a:gd name="T15" fmla="*/ 1256 h 3040"/>
              <a:gd name="T16" fmla="*/ 864 w 1944"/>
              <a:gd name="T17" fmla="*/ 2360 h 3040"/>
              <a:gd name="T18" fmla="*/ 912 w 1944"/>
              <a:gd name="T19" fmla="*/ 2792 h 3040"/>
              <a:gd name="T20" fmla="*/ 912 w 1944"/>
              <a:gd name="T21" fmla="*/ 2984 h 3040"/>
              <a:gd name="T22" fmla="*/ 576 w 1944"/>
              <a:gd name="T23" fmla="*/ 2984 h 3040"/>
              <a:gd name="T24" fmla="*/ 576 w 1944"/>
              <a:gd name="T25" fmla="*/ 2744 h 3040"/>
              <a:gd name="T26" fmla="*/ 672 w 1944"/>
              <a:gd name="T27" fmla="*/ 2168 h 3040"/>
              <a:gd name="T28" fmla="*/ 1488 w 1944"/>
              <a:gd name="T29" fmla="*/ 824 h 3040"/>
              <a:gd name="T30" fmla="*/ 1200 w 1944"/>
              <a:gd name="T31" fmla="*/ 680 h 3040"/>
              <a:gd name="T32" fmla="*/ 528 w 1944"/>
              <a:gd name="T33" fmla="*/ 1880 h 3040"/>
              <a:gd name="T34" fmla="*/ 528 w 1944"/>
              <a:gd name="T35" fmla="*/ 2648 h 3040"/>
              <a:gd name="T36" fmla="*/ 576 w 1944"/>
              <a:gd name="T37" fmla="*/ 2984 h 3040"/>
              <a:gd name="T38" fmla="*/ 336 w 1944"/>
              <a:gd name="T39" fmla="*/ 298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44" h="3040">
                <a:moveTo>
                  <a:pt x="336" y="2984"/>
                </a:moveTo>
                <a:cubicBezTo>
                  <a:pt x="248" y="2976"/>
                  <a:pt x="96" y="3016"/>
                  <a:pt x="48" y="2936"/>
                </a:cubicBezTo>
                <a:cubicBezTo>
                  <a:pt x="0" y="2856"/>
                  <a:pt x="16" y="2720"/>
                  <a:pt x="48" y="2504"/>
                </a:cubicBezTo>
                <a:cubicBezTo>
                  <a:pt x="80" y="2288"/>
                  <a:pt x="64" y="2024"/>
                  <a:pt x="240" y="1640"/>
                </a:cubicBezTo>
                <a:cubicBezTo>
                  <a:pt x="416" y="1256"/>
                  <a:pt x="872" y="400"/>
                  <a:pt x="1104" y="200"/>
                </a:cubicBezTo>
                <a:cubicBezTo>
                  <a:pt x="1336" y="0"/>
                  <a:pt x="1496" y="344"/>
                  <a:pt x="1632" y="440"/>
                </a:cubicBezTo>
                <a:cubicBezTo>
                  <a:pt x="1768" y="536"/>
                  <a:pt x="1944" y="640"/>
                  <a:pt x="1920" y="776"/>
                </a:cubicBezTo>
                <a:cubicBezTo>
                  <a:pt x="1896" y="912"/>
                  <a:pt x="1664" y="992"/>
                  <a:pt x="1488" y="1256"/>
                </a:cubicBezTo>
                <a:cubicBezTo>
                  <a:pt x="1312" y="1520"/>
                  <a:pt x="960" y="2104"/>
                  <a:pt x="864" y="2360"/>
                </a:cubicBezTo>
                <a:cubicBezTo>
                  <a:pt x="768" y="2616"/>
                  <a:pt x="904" y="2688"/>
                  <a:pt x="912" y="2792"/>
                </a:cubicBezTo>
                <a:cubicBezTo>
                  <a:pt x="920" y="2896"/>
                  <a:pt x="968" y="2952"/>
                  <a:pt x="912" y="2984"/>
                </a:cubicBezTo>
                <a:cubicBezTo>
                  <a:pt x="856" y="3016"/>
                  <a:pt x="632" y="3024"/>
                  <a:pt x="576" y="2984"/>
                </a:cubicBezTo>
                <a:cubicBezTo>
                  <a:pt x="520" y="2944"/>
                  <a:pt x="560" y="2880"/>
                  <a:pt x="576" y="2744"/>
                </a:cubicBezTo>
                <a:cubicBezTo>
                  <a:pt x="592" y="2608"/>
                  <a:pt x="520" y="2488"/>
                  <a:pt x="672" y="2168"/>
                </a:cubicBezTo>
                <a:cubicBezTo>
                  <a:pt x="824" y="1848"/>
                  <a:pt x="1400" y="1072"/>
                  <a:pt x="1488" y="824"/>
                </a:cubicBezTo>
                <a:cubicBezTo>
                  <a:pt x="1576" y="576"/>
                  <a:pt x="1360" y="504"/>
                  <a:pt x="1200" y="680"/>
                </a:cubicBezTo>
                <a:cubicBezTo>
                  <a:pt x="1040" y="856"/>
                  <a:pt x="640" y="1552"/>
                  <a:pt x="528" y="1880"/>
                </a:cubicBezTo>
                <a:cubicBezTo>
                  <a:pt x="416" y="2208"/>
                  <a:pt x="520" y="2464"/>
                  <a:pt x="528" y="2648"/>
                </a:cubicBezTo>
                <a:cubicBezTo>
                  <a:pt x="536" y="2832"/>
                  <a:pt x="608" y="2928"/>
                  <a:pt x="576" y="2984"/>
                </a:cubicBezTo>
                <a:cubicBezTo>
                  <a:pt x="544" y="3040"/>
                  <a:pt x="424" y="2992"/>
                  <a:pt x="336" y="2984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547" name="Freeform 3"/>
          <p:cNvSpPr>
            <a:spLocks/>
          </p:cNvSpPr>
          <p:nvPr/>
        </p:nvSpPr>
        <p:spPr bwMode="auto">
          <a:xfrm>
            <a:off x="2235200" y="381000"/>
            <a:ext cx="4279900" cy="5473700"/>
          </a:xfrm>
          <a:custGeom>
            <a:avLst/>
            <a:gdLst>
              <a:gd name="T0" fmla="*/ 1568 w 2696"/>
              <a:gd name="T1" fmla="*/ 3368 h 3448"/>
              <a:gd name="T2" fmla="*/ 1424 w 2696"/>
              <a:gd name="T3" fmla="*/ 3272 h 3448"/>
              <a:gd name="T4" fmla="*/ 1376 w 2696"/>
              <a:gd name="T5" fmla="*/ 2600 h 3448"/>
              <a:gd name="T6" fmla="*/ 1184 w 2696"/>
              <a:gd name="T7" fmla="*/ 2264 h 3448"/>
              <a:gd name="T8" fmla="*/ 704 w 2696"/>
              <a:gd name="T9" fmla="*/ 1592 h 3448"/>
              <a:gd name="T10" fmla="*/ 80 w 2696"/>
              <a:gd name="T11" fmla="*/ 824 h 3448"/>
              <a:gd name="T12" fmla="*/ 224 w 2696"/>
              <a:gd name="T13" fmla="*/ 440 h 3448"/>
              <a:gd name="T14" fmla="*/ 1088 w 2696"/>
              <a:gd name="T15" fmla="*/ 8 h 3448"/>
              <a:gd name="T16" fmla="*/ 1808 w 2696"/>
              <a:gd name="T17" fmla="*/ 488 h 3448"/>
              <a:gd name="T18" fmla="*/ 2624 w 2696"/>
              <a:gd name="T19" fmla="*/ 1304 h 3448"/>
              <a:gd name="T20" fmla="*/ 2240 w 2696"/>
              <a:gd name="T21" fmla="*/ 2216 h 3448"/>
              <a:gd name="T22" fmla="*/ 2144 w 2696"/>
              <a:gd name="T23" fmla="*/ 2936 h 3448"/>
              <a:gd name="T24" fmla="*/ 2048 w 2696"/>
              <a:gd name="T25" fmla="*/ 3080 h 3448"/>
              <a:gd name="T26" fmla="*/ 2000 w 2696"/>
              <a:gd name="T27" fmla="*/ 3368 h 3448"/>
              <a:gd name="T28" fmla="*/ 1856 w 2696"/>
              <a:gd name="T29" fmla="*/ 3368 h 3448"/>
              <a:gd name="T30" fmla="*/ 1760 w 2696"/>
              <a:gd name="T31" fmla="*/ 2888 h 3448"/>
              <a:gd name="T32" fmla="*/ 1760 w 2696"/>
              <a:gd name="T33" fmla="*/ 2504 h 3448"/>
              <a:gd name="T34" fmla="*/ 2192 w 2696"/>
              <a:gd name="T35" fmla="*/ 1448 h 3448"/>
              <a:gd name="T36" fmla="*/ 1088 w 2696"/>
              <a:gd name="T37" fmla="*/ 440 h 3448"/>
              <a:gd name="T38" fmla="*/ 512 w 2696"/>
              <a:gd name="T39" fmla="*/ 728 h 3448"/>
              <a:gd name="T40" fmla="*/ 896 w 2696"/>
              <a:gd name="T41" fmla="*/ 1112 h 3448"/>
              <a:gd name="T42" fmla="*/ 1568 w 2696"/>
              <a:gd name="T43" fmla="*/ 2120 h 3448"/>
              <a:gd name="T44" fmla="*/ 1712 w 2696"/>
              <a:gd name="T45" fmla="*/ 2936 h 3448"/>
              <a:gd name="T46" fmla="*/ 1712 w 2696"/>
              <a:gd name="T47" fmla="*/ 3272 h 3448"/>
              <a:gd name="T48" fmla="*/ 1568 w 2696"/>
              <a:gd name="T49" fmla="*/ 3368 h 3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96" h="3448">
                <a:moveTo>
                  <a:pt x="1568" y="3368"/>
                </a:moveTo>
                <a:cubicBezTo>
                  <a:pt x="1520" y="3368"/>
                  <a:pt x="1456" y="3400"/>
                  <a:pt x="1424" y="3272"/>
                </a:cubicBezTo>
                <a:cubicBezTo>
                  <a:pt x="1392" y="3144"/>
                  <a:pt x="1416" y="2768"/>
                  <a:pt x="1376" y="2600"/>
                </a:cubicBezTo>
                <a:cubicBezTo>
                  <a:pt x="1336" y="2432"/>
                  <a:pt x="1296" y="2432"/>
                  <a:pt x="1184" y="2264"/>
                </a:cubicBezTo>
                <a:cubicBezTo>
                  <a:pt x="1072" y="2096"/>
                  <a:pt x="888" y="1832"/>
                  <a:pt x="704" y="1592"/>
                </a:cubicBezTo>
                <a:cubicBezTo>
                  <a:pt x="520" y="1352"/>
                  <a:pt x="160" y="1016"/>
                  <a:pt x="80" y="824"/>
                </a:cubicBezTo>
                <a:cubicBezTo>
                  <a:pt x="0" y="632"/>
                  <a:pt x="56" y="576"/>
                  <a:pt x="224" y="440"/>
                </a:cubicBezTo>
                <a:cubicBezTo>
                  <a:pt x="392" y="304"/>
                  <a:pt x="824" y="0"/>
                  <a:pt x="1088" y="8"/>
                </a:cubicBezTo>
                <a:cubicBezTo>
                  <a:pt x="1352" y="16"/>
                  <a:pt x="1552" y="272"/>
                  <a:pt x="1808" y="488"/>
                </a:cubicBezTo>
                <a:cubicBezTo>
                  <a:pt x="2064" y="704"/>
                  <a:pt x="2552" y="1016"/>
                  <a:pt x="2624" y="1304"/>
                </a:cubicBezTo>
                <a:cubicBezTo>
                  <a:pt x="2696" y="1592"/>
                  <a:pt x="2320" y="1944"/>
                  <a:pt x="2240" y="2216"/>
                </a:cubicBezTo>
                <a:cubicBezTo>
                  <a:pt x="2160" y="2488"/>
                  <a:pt x="2176" y="2792"/>
                  <a:pt x="2144" y="2936"/>
                </a:cubicBezTo>
                <a:cubicBezTo>
                  <a:pt x="2112" y="3080"/>
                  <a:pt x="2072" y="3008"/>
                  <a:pt x="2048" y="3080"/>
                </a:cubicBezTo>
                <a:cubicBezTo>
                  <a:pt x="2024" y="3152"/>
                  <a:pt x="2032" y="3320"/>
                  <a:pt x="2000" y="3368"/>
                </a:cubicBezTo>
                <a:cubicBezTo>
                  <a:pt x="1968" y="3416"/>
                  <a:pt x="1896" y="3448"/>
                  <a:pt x="1856" y="3368"/>
                </a:cubicBezTo>
                <a:cubicBezTo>
                  <a:pt x="1816" y="3288"/>
                  <a:pt x="1776" y="3032"/>
                  <a:pt x="1760" y="2888"/>
                </a:cubicBezTo>
                <a:cubicBezTo>
                  <a:pt x="1744" y="2744"/>
                  <a:pt x="1688" y="2744"/>
                  <a:pt x="1760" y="2504"/>
                </a:cubicBezTo>
                <a:cubicBezTo>
                  <a:pt x="1832" y="2264"/>
                  <a:pt x="2304" y="1792"/>
                  <a:pt x="2192" y="1448"/>
                </a:cubicBezTo>
                <a:cubicBezTo>
                  <a:pt x="2080" y="1104"/>
                  <a:pt x="1368" y="560"/>
                  <a:pt x="1088" y="440"/>
                </a:cubicBezTo>
                <a:cubicBezTo>
                  <a:pt x="808" y="320"/>
                  <a:pt x="544" y="616"/>
                  <a:pt x="512" y="728"/>
                </a:cubicBezTo>
                <a:cubicBezTo>
                  <a:pt x="480" y="840"/>
                  <a:pt x="720" y="880"/>
                  <a:pt x="896" y="1112"/>
                </a:cubicBezTo>
                <a:cubicBezTo>
                  <a:pt x="1072" y="1344"/>
                  <a:pt x="1432" y="1816"/>
                  <a:pt x="1568" y="2120"/>
                </a:cubicBezTo>
                <a:cubicBezTo>
                  <a:pt x="1704" y="2424"/>
                  <a:pt x="1688" y="2744"/>
                  <a:pt x="1712" y="2936"/>
                </a:cubicBezTo>
                <a:cubicBezTo>
                  <a:pt x="1736" y="3128"/>
                  <a:pt x="1736" y="3200"/>
                  <a:pt x="1712" y="3272"/>
                </a:cubicBezTo>
                <a:cubicBezTo>
                  <a:pt x="1688" y="3344"/>
                  <a:pt x="1616" y="3368"/>
                  <a:pt x="1568" y="3368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205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20549" name="Text Box 5"/>
          <p:cNvSpPr txBox="1">
            <a:spLocks noChangeArrowheads="1"/>
          </p:cNvSpPr>
          <p:nvPr/>
        </p:nvSpPr>
        <p:spPr bwMode="auto">
          <a:xfrm>
            <a:off x="76200" y="762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ja-JP" altLang="en-US">
                <a:latin typeface="Arial"/>
              </a:rPr>
              <a:t>“</a:t>
            </a:r>
            <a:r>
              <a:rPr lang="en-US"/>
              <a:t>NGramTree</a:t>
            </a:r>
            <a:r>
              <a:rPr lang="ja-JP" altLang="en-US">
                <a:latin typeface="Arial"/>
              </a:rPr>
              <a:t>”</a:t>
            </a:r>
            <a:r>
              <a:rPr lang="en-US"/>
              <a:t> feature</a:t>
            </a:r>
          </a:p>
          <a:p>
            <a:r>
              <a:rPr lang="en-US"/>
              <a:t>(Charniak &amp; Johnson, 2005)</a:t>
            </a:r>
          </a:p>
        </p:txBody>
      </p:sp>
      <p:sp>
        <p:nvSpPr>
          <p:cNvPr id="620550" name="Text Box 6"/>
          <p:cNvSpPr txBox="1">
            <a:spLocks noChangeArrowheads="1"/>
          </p:cNvSpPr>
          <p:nvPr/>
        </p:nvSpPr>
        <p:spPr bwMode="auto">
          <a:xfrm>
            <a:off x="838200" y="2819400"/>
            <a:ext cx="7543800" cy="1066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457200" tIns="320040" rIns="457200" bIns="320040"/>
          <a:lstStyle/>
          <a:p>
            <a:pPr algn="ctr"/>
            <a:r>
              <a:rPr lang="en-US" sz="2400" i="0">
                <a:solidFill>
                  <a:schemeClr val="bg1"/>
                </a:solidFill>
              </a:rPr>
              <a:t>Non-local features break dynamic programming!</a:t>
            </a:r>
          </a:p>
        </p:txBody>
      </p:sp>
    </p:spTree>
    <p:extLst>
      <p:ext uri="{BB962C8B-B14F-4D97-AF65-F5344CB8AC3E}">
        <p14:creationId xmlns:p14="http://schemas.microsoft.com/office/powerpoint/2010/main" val="308824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06475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07916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72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4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2253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8517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043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5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47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1709738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7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7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96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381000"/>
            <a:ext cx="4049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1815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26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4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94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200"/>
            <a:ext cx="2598737" cy="281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94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824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8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39050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28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52400"/>
            <a:ext cx="3014662" cy="277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151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50163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757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4613"/>
            <a:ext cx="7650163" cy="417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907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76200"/>
            <a:ext cx="7818437" cy="553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2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Clarification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Cube pruning does not actually expand all </a:t>
            </a:r>
            <a:r>
              <a:rPr lang="en-US" sz="2400" i="1" dirty="0">
                <a:latin typeface="Times New Roman" charset="0"/>
              </a:rPr>
              <a:t>k</a:t>
            </a:r>
            <a:r>
              <a:rPr lang="en-US" sz="2400" i="1" baseline="30000" dirty="0">
                <a:latin typeface="Times New Roman" charset="0"/>
              </a:rPr>
              <a:t>2</a:t>
            </a:r>
            <a:r>
              <a:rPr lang="en-US" sz="2400" dirty="0"/>
              <a:t> proofs as this example showed</a:t>
            </a:r>
          </a:p>
          <a:p>
            <a:endParaRPr lang="en-US" sz="2400" dirty="0"/>
          </a:p>
          <a:p>
            <a:r>
              <a:rPr lang="en-US" sz="2400" dirty="0"/>
              <a:t>It uses </a:t>
            </a:r>
            <a:r>
              <a:rPr lang="en-US" sz="2400" dirty="0" smtClean="0"/>
              <a:t>a fast </a:t>
            </a:r>
            <a:r>
              <a:rPr lang="en-US" sz="2400" dirty="0"/>
              <a:t>approximation that </a:t>
            </a:r>
            <a:r>
              <a:rPr lang="en-US" sz="2400" dirty="0" smtClean="0"/>
              <a:t>only </a:t>
            </a:r>
            <a:r>
              <a:rPr lang="en-US" sz="2400" dirty="0"/>
              <a:t>looks at </a:t>
            </a:r>
            <a:r>
              <a:rPr lang="en-US" sz="2400" i="1" dirty="0">
                <a:latin typeface="Times New Roman" charset="0"/>
              </a:rPr>
              <a:t>O(k)</a:t>
            </a:r>
            <a:r>
              <a:rPr lang="en-US" sz="2400" dirty="0"/>
              <a:t> proofs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746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Integer Linear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</a:t>
            </a:r>
            <a:r>
              <a:rPr lang="en-US" smtClean="0"/>
              <a:t>on board)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0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69492</TotalTime>
  <Words>1670</Words>
  <Application>Microsoft Macintosh PowerPoint</Application>
  <PresentationFormat>On-screen Show (4:3)</PresentationFormat>
  <Paragraphs>308</Paragraphs>
  <Slides>51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Calibri</vt:lpstr>
      <vt:lpstr>ＭＳ Ｐゴシック</vt:lpstr>
      <vt:lpstr>Times New Roman</vt:lpstr>
      <vt:lpstr>TIMES-ROMAN</vt:lpstr>
      <vt:lpstr>Arial</vt:lpstr>
      <vt:lpstr>Office Theme</vt:lpstr>
      <vt:lpstr>TTIC 31210: Advanced Natural Language Processing</vt:lpstr>
      <vt:lpstr>PowerPoint Presentation</vt:lpstr>
      <vt:lpstr>PowerPoint Presentation</vt:lpstr>
      <vt:lpstr>Modeling, Inference, Learning</vt:lpstr>
      <vt:lpstr>PowerPoint Presentation</vt:lpstr>
      <vt:lpstr>Score-Based Structured Prediction</vt:lpstr>
      <vt:lpstr>Modeling in Score-Based SP</vt:lpstr>
      <vt:lpstr>Parts Functions in Score-Based SP</vt:lpstr>
      <vt:lpstr>Parts Functions in Score-Based SP</vt:lpstr>
      <vt:lpstr>Parts Functions in Score-Based SP</vt:lpstr>
      <vt:lpstr>Parts Functions in Score-Based SP</vt:lpstr>
      <vt:lpstr>Inference in Score-Based SP</vt:lpstr>
      <vt:lpstr>Inference Algorithms for Score-Based SP</vt:lpstr>
      <vt:lpstr>Dynamic Programming (DP)</vt:lpstr>
      <vt:lpstr>Viterbi Algorithm</vt:lpstr>
      <vt:lpstr>Viterbi Algorithm</vt:lpstr>
      <vt:lpstr>Viterbi Algorithm</vt:lpstr>
      <vt:lpstr>Feature Locality</vt:lpstr>
      <vt:lpstr>Learning with Score-Based SP: Empirical Risk Minimization</vt:lpstr>
      <vt:lpstr>Cost Functions</vt:lpstr>
      <vt:lpstr>Cost Functions</vt:lpstr>
      <vt:lpstr>Empirical Risk Minimization</vt:lpstr>
      <vt:lpstr>Loss Functions for Score-Based SP</vt:lpstr>
      <vt:lpstr>Loss Functions for Score-Based SP</vt:lpstr>
      <vt:lpstr>Loss Functions for Score-Based SP</vt:lpstr>
      <vt:lpstr>Loss Functions for Score-Based SP</vt:lpstr>
      <vt:lpstr>PowerPoint Presentation</vt:lpstr>
      <vt:lpstr>Results: Named Entity Recognition (Gimpel &amp; Smith, 2010)</vt:lpstr>
      <vt:lpstr>Inference Algorithms for Score-Based SP</vt:lpstr>
      <vt:lpstr>Cube Pruning (Chiang, 2007; Huang &amp; Chiang, 2007)</vt:lpstr>
      <vt:lpstr>PowerPoint Presentation</vt:lpstr>
      <vt:lpstr>CKY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Clarification</vt:lpstr>
      <vt:lpstr>Integer Linear Programming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Microsoft Office User</cp:lastModifiedBy>
  <cp:revision>1081</cp:revision>
  <dcterms:created xsi:type="dcterms:W3CDTF">2015-08-31T18:15:35Z</dcterms:created>
  <dcterms:modified xsi:type="dcterms:W3CDTF">2017-05-30T18:23:08Z</dcterms:modified>
</cp:coreProperties>
</file>