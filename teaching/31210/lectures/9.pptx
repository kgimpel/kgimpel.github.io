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946" r:id="rId3"/>
    <p:sldId id="906" r:id="rId4"/>
    <p:sldId id="909" r:id="rId5"/>
    <p:sldId id="936" r:id="rId6"/>
    <p:sldId id="876" r:id="rId7"/>
    <p:sldId id="897" r:id="rId8"/>
    <p:sldId id="898" r:id="rId9"/>
    <p:sldId id="899" r:id="rId10"/>
    <p:sldId id="900" r:id="rId11"/>
    <p:sldId id="901" r:id="rId12"/>
    <p:sldId id="942" r:id="rId13"/>
    <p:sldId id="902" r:id="rId14"/>
    <p:sldId id="943" r:id="rId15"/>
    <p:sldId id="952" r:id="rId16"/>
    <p:sldId id="948" r:id="rId17"/>
    <p:sldId id="949" r:id="rId18"/>
    <p:sldId id="950" r:id="rId19"/>
    <p:sldId id="951" r:id="rId20"/>
    <p:sldId id="953" r:id="rId21"/>
    <p:sldId id="954" r:id="rId22"/>
    <p:sldId id="955" r:id="rId23"/>
    <p:sldId id="956" r:id="rId24"/>
    <p:sldId id="957" r:id="rId25"/>
    <p:sldId id="958" r:id="rId26"/>
    <p:sldId id="95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000"/>
    <a:srgbClr val="288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00"/>
    <p:restoredTop sz="87280" autoAdjust="0"/>
  </p:normalViewPr>
  <p:slideViewPr>
    <p:cSldViewPr snapToGrid="0" snapToObjects="1">
      <p:cViewPr varScale="1">
        <p:scale>
          <a:sx n="112" d="100"/>
          <a:sy n="112" d="100"/>
        </p:scale>
        <p:origin x="-3344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interSettings" Target="printerSettings/printerSettings1.bin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5/2/17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5/2/17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5/2/17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5/2/17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5/2/17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5/2/17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5/2/17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5/2/17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5/2/17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5/2/17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5/2/17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5/2/17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5/2/17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5/2/17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emf"/><Relationship Id="rId8" Type="http://schemas.openxmlformats.org/officeDocument/2006/relationships/image" Target="../media/image14.emf"/><Relationship Id="rId9" Type="http://schemas.openxmlformats.org/officeDocument/2006/relationships/image" Target="../media/image15.emf"/><Relationship Id="rId10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TTIC 31210:</a:t>
            </a:r>
            <a:br>
              <a:rPr lang="en-US" dirty="0" smtClean="0"/>
            </a:br>
            <a:r>
              <a:rPr lang="en-US" sz="4000" dirty="0" smtClean="0"/>
              <a:t>Advanced Natural Language Processing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4100" y="1993899"/>
            <a:ext cx="7061200" cy="418106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Spring 2017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9: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NMT, finishing up Neural NLP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Assignment 2 has been posted, due May 17</a:t>
            </a:r>
          </a:p>
          <a:p>
            <a:r>
              <a:rPr lang="en-US" dirty="0" smtClean="0"/>
              <a:t>Grades for Assignment 1 will be emailed to you soon</a:t>
            </a:r>
          </a:p>
          <a:p>
            <a:r>
              <a:rPr lang="en-US" dirty="0" smtClean="0"/>
              <a:t>Project proposal details posted, due May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539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Input RNN (“Encoder”)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81" y="3181640"/>
            <a:ext cx="2794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765" y="3181640"/>
            <a:ext cx="584200" cy="279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7" y="3181640"/>
            <a:ext cx="571500" cy="279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47" y="4538952"/>
            <a:ext cx="571500" cy="279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115" y="4538952"/>
            <a:ext cx="571500" cy="279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581" y="4538952"/>
            <a:ext cx="279400" cy="2794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6848" y="1775333"/>
            <a:ext cx="5194300" cy="55880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1" name="Straight Arrow Connector 30"/>
          <p:cNvCxnSpPr>
            <a:stCxn id="23" idx="0"/>
          </p:cNvCxnSpPr>
          <p:nvPr/>
        </p:nvCxnSpPr>
        <p:spPr bwMode="auto">
          <a:xfrm flipV="1">
            <a:off x="2735013" y="3792012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Arrow Connector 35"/>
          <p:cNvCxnSpPr/>
          <p:nvPr/>
        </p:nvCxnSpPr>
        <p:spPr bwMode="auto">
          <a:xfrm flipV="1">
            <a:off x="4565680" y="3782775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6391361" y="379663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320341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Output RNN (“Decoder”)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stCxn id="41" idx="0"/>
            <a:endCxn id="5" idx="4"/>
          </p:cNvCxnSpPr>
          <p:nvPr/>
        </p:nvCxnSpPr>
        <p:spPr bwMode="auto">
          <a:xfrm flipV="1">
            <a:off x="2735013" y="3792012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415" y="4511467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7" y="4511467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52" y="4511467"/>
            <a:ext cx="266700" cy="3556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 bwMode="auto">
          <a:xfrm flipV="1">
            <a:off x="4565680" y="3782775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6391361" y="379663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/>
          <p:nvPr/>
        </p:nvCxnSpPr>
        <p:spPr bwMode="auto">
          <a:xfrm flipV="1">
            <a:off x="2735013" y="244804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/>
          <p:nvPr/>
        </p:nvCxnSpPr>
        <p:spPr bwMode="auto">
          <a:xfrm flipV="1">
            <a:off x="4565680" y="2438806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/>
          <p:nvPr/>
        </p:nvCxnSpPr>
        <p:spPr bwMode="auto">
          <a:xfrm flipV="1">
            <a:off x="6391361" y="2452661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43" y="1814064"/>
            <a:ext cx="266700" cy="3556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940" y="1814064"/>
            <a:ext cx="584200" cy="3683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447" y="1839464"/>
            <a:ext cx="546100" cy="34290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5598702"/>
            <a:ext cx="6248400" cy="6477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4363" y="3205501"/>
            <a:ext cx="241300" cy="2794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940" y="3205501"/>
            <a:ext cx="533400" cy="27940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5447" y="3205501"/>
            <a:ext cx="546100" cy="279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16200" y="833451"/>
            <a:ext cx="39116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3029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43567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213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Minimum Risk Training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“Bayes risk” is an alternative training objective that has been classically used in speech recognition and machine translation</a:t>
            </a:r>
          </a:p>
          <a:p>
            <a:r>
              <a:rPr lang="en-US" dirty="0" smtClean="0"/>
              <a:t>it permits the use of nearly-arbitrary evaluation metrics in training (through the specification of a “cost function”)</a:t>
            </a:r>
          </a:p>
          <a:p>
            <a:r>
              <a:rPr lang="en-US" dirty="0" smtClean="0"/>
              <a:t>[on board]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313287" y="5885107"/>
            <a:ext cx="6800764" cy="707886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“Minimum Risk Training for Neural Machine Translation”</a:t>
            </a:r>
            <a:endParaRPr lang="en-US" sz="2000" b="1" dirty="0" smtClean="0">
              <a:solidFill>
                <a:srgbClr val="288CD2"/>
              </a:solidFill>
            </a:endParaRPr>
          </a:p>
          <a:p>
            <a:r>
              <a:rPr lang="en-US" sz="2000" b="1" dirty="0" err="1" smtClean="0">
                <a:solidFill>
                  <a:srgbClr val="288CD2"/>
                </a:solidFill>
              </a:rPr>
              <a:t>Shen</a:t>
            </a:r>
            <a:r>
              <a:rPr lang="en-US" sz="2000" b="1" dirty="0" smtClean="0">
                <a:solidFill>
                  <a:srgbClr val="288CD2"/>
                </a:solidFill>
              </a:rPr>
              <a:t> et al. (2016)</a:t>
            </a:r>
          </a:p>
        </p:txBody>
      </p:sp>
    </p:spTree>
    <p:extLst>
      <p:ext uri="{BB962C8B-B14F-4D97-AF65-F5344CB8AC3E}">
        <p14:creationId xmlns:p14="http://schemas.microsoft.com/office/powerpoint/2010/main" val="11239649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Minimum Risk Training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2038773"/>
            <a:ext cx="8940800" cy="2019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13287" y="5885107"/>
            <a:ext cx="6800764" cy="707886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“Minimum Risk Training for Neural Machine Translation”</a:t>
            </a:r>
            <a:endParaRPr lang="en-US" sz="2000" b="1" dirty="0" smtClean="0">
              <a:solidFill>
                <a:srgbClr val="288CD2"/>
              </a:solidFill>
            </a:endParaRPr>
          </a:p>
          <a:p>
            <a:r>
              <a:rPr lang="en-US" sz="2000" b="1" dirty="0" err="1" smtClean="0">
                <a:solidFill>
                  <a:srgbClr val="288CD2"/>
                </a:solidFill>
              </a:rPr>
              <a:t>Shen</a:t>
            </a:r>
            <a:r>
              <a:rPr lang="en-US" sz="2000" b="1" dirty="0" smtClean="0">
                <a:solidFill>
                  <a:srgbClr val="288CD2"/>
                </a:solidFill>
              </a:rPr>
              <a:t> et al. (2016)</a:t>
            </a:r>
          </a:p>
        </p:txBody>
      </p:sp>
    </p:spTree>
    <p:extLst>
      <p:ext uri="{BB962C8B-B14F-4D97-AF65-F5344CB8AC3E}">
        <p14:creationId xmlns:p14="http://schemas.microsoft.com/office/powerpoint/2010/main" val="1893999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0"/>
            <a:ext cx="9144000" cy="379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5403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Google’s NMT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7900"/>
            <a:ext cx="9144000" cy="490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3394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Google’s NMT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8800"/>
            <a:ext cx="9144000" cy="5322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898229"/>
            <a:ext cx="8425350" cy="3378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682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Google’s NMT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898229"/>
            <a:ext cx="8425350" cy="3378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94" y="1323876"/>
            <a:ext cx="8849169" cy="17502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9472" y="3678694"/>
            <a:ext cx="8538747" cy="2677656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288CD2"/>
                </a:solidFill>
              </a:rPr>
              <a:t>they use a procedure that deterministically segments any character sequence into </a:t>
            </a:r>
            <a:r>
              <a:rPr lang="en-US" sz="2400" b="1" dirty="0" err="1" smtClean="0">
                <a:solidFill>
                  <a:srgbClr val="288CD2"/>
                </a:solidFill>
              </a:rPr>
              <a:t>wordpieces</a:t>
            </a:r>
            <a:endParaRPr lang="en-US" sz="2400" b="1" dirty="0">
              <a:solidFill>
                <a:srgbClr val="288CD2"/>
              </a:solidFill>
            </a:endParaRPr>
          </a:p>
          <a:p>
            <a:endParaRPr lang="en-US" sz="2400" b="1" dirty="0" smtClean="0">
              <a:solidFill>
                <a:srgbClr val="288CD2"/>
              </a:solidFill>
            </a:endParaRPr>
          </a:p>
          <a:p>
            <a:r>
              <a:rPr lang="en-US" sz="2400" b="1" dirty="0" smtClean="0">
                <a:solidFill>
                  <a:srgbClr val="288CD2"/>
                </a:solidFill>
              </a:rPr>
              <a:t>vocab: 8k-32k </a:t>
            </a:r>
            <a:r>
              <a:rPr lang="en-US" sz="2400" b="1" dirty="0" err="1" smtClean="0">
                <a:solidFill>
                  <a:srgbClr val="288CD2"/>
                </a:solidFill>
              </a:rPr>
              <a:t>wordpieces</a:t>
            </a:r>
            <a:endParaRPr lang="en-US" sz="2400" b="1" dirty="0" smtClean="0">
              <a:solidFill>
                <a:srgbClr val="288CD2"/>
              </a:solidFill>
            </a:endParaRPr>
          </a:p>
          <a:p>
            <a:endParaRPr lang="en-US" sz="2400" b="1" dirty="0" smtClean="0">
              <a:solidFill>
                <a:srgbClr val="288CD2"/>
              </a:solidFill>
            </a:endParaRPr>
          </a:p>
          <a:p>
            <a:r>
              <a:rPr lang="en-US" sz="2400" b="1" dirty="0" smtClean="0">
                <a:solidFill>
                  <a:srgbClr val="288CD2"/>
                </a:solidFill>
              </a:rPr>
              <a:t>they first learn a “</a:t>
            </a:r>
            <a:r>
              <a:rPr lang="en-US" sz="2400" b="1" dirty="0" err="1" smtClean="0">
                <a:solidFill>
                  <a:srgbClr val="288CD2"/>
                </a:solidFill>
              </a:rPr>
              <a:t>wordpiece</a:t>
            </a:r>
            <a:r>
              <a:rPr lang="en-US" sz="2400" b="1" dirty="0" smtClean="0">
                <a:solidFill>
                  <a:srgbClr val="288CD2"/>
                </a:solidFill>
              </a:rPr>
              <a:t> model”</a:t>
            </a:r>
          </a:p>
          <a:p>
            <a:r>
              <a:rPr lang="en-US" sz="2400" b="1" dirty="0" smtClean="0">
                <a:solidFill>
                  <a:srgbClr val="288CD2"/>
                </a:solidFill>
              </a:rPr>
              <a:t>we’ll talk more about this sort of thing in the coming weeks</a:t>
            </a:r>
          </a:p>
        </p:txBody>
      </p:sp>
    </p:spTree>
    <p:extLst>
      <p:ext uri="{BB962C8B-B14F-4D97-AF65-F5344CB8AC3E}">
        <p14:creationId xmlns:p14="http://schemas.microsoft.com/office/powerpoint/2010/main" val="19148326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Google’s NMT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898229"/>
            <a:ext cx="8425350" cy="3378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1282700"/>
            <a:ext cx="6832600" cy="42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5324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6100"/>
            <a:ext cx="9144000" cy="321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146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5771"/>
            <a:ext cx="9144000" cy="17752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3" y="2996280"/>
            <a:ext cx="4877286" cy="3490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752850"/>
            <a:ext cx="7150100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564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Understanding Neural NLP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907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1144068"/>
          </a:xfrm>
        </p:spPr>
        <p:txBody>
          <a:bodyPr>
            <a:noAutofit/>
          </a:bodyPr>
          <a:lstStyle/>
          <a:p>
            <a:r>
              <a:rPr lang="en-US" sz="3600" dirty="0" smtClean="0"/>
              <a:t>How do we understand what information is captured in an embedding?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8352"/>
            <a:ext cx="8229600" cy="4447811"/>
          </a:xfrm>
        </p:spPr>
        <p:txBody>
          <a:bodyPr/>
          <a:lstStyle/>
          <a:p>
            <a:r>
              <a:rPr lang="en-US" dirty="0"/>
              <a:t>o</a:t>
            </a:r>
            <a:r>
              <a:rPr lang="en-US" dirty="0" smtClean="0"/>
              <a:t>ne approach is to attempt to predict different things and see what the accuracy is</a:t>
            </a:r>
          </a:p>
          <a:p>
            <a:r>
              <a:rPr lang="en-US" dirty="0" smtClean="0"/>
              <a:t>e.g., from a sentence embedding, attempt to predict sentence length, words in sentence, and word order in sentence (</a:t>
            </a:r>
            <a:r>
              <a:rPr lang="en-US" dirty="0" err="1" smtClean="0"/>
              <a:t>Adi</a:t>
            </a:r>
            <a:r>
              <a:rPr lang="en-US" dirty="0" smtClean="0"/>
              <a:t> et al., 2017)</a:t>
            </a:r>
          </a:p>
          <a:p>
            <a:r>
              <a:rPr lang="en-US" dirty="0" smtClean="0"/>
              <a:t>they compare word averaging (“CBOW”) and an LSTM (“ED”)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416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95"/>
            <a:ext cx="8229600" cy="726831"/>
          </a:xfrm>
        </p:spPr>
        <p:txBody>
          <a:bodyPr>
            <a:noAutofit/>
          </a:bodyPr>
          <a:lstStyle/>
          <a:p>
            <a:r>
              <a:rPr lang="en-US" sz="2800" dirty="0" smtClean="0"/>
              <a:t>Predicting Sentence Length from Sentence </a:t>
            </a:r>
            <a:r>
              <a:rPr lang="en-US" sz="2800" dirty="0" err="1" smtClean="0"/>
              <a:t>Embeddings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599131"/>
            <a:ext cx="6934200" cy="4775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9472" y="5305356"/>
            <a:ext cx="8538747" cy="830997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288CD2"/>
                </a:solidFill>
              </a:rPr>
              <a:t>length prediction = predict the length bin of the sentence, using 8 length bins (majority baseline gives 20% accuracy)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6785" y="6260692"/>
            <a:ext cx="2817215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Adi</a:t>
            </a:r>
            <a:r>
              <a:rPr lang="en-US" sz="2400" b="1" dirty="0" smtClean="0">
                <a:solidFill>
                  <a:srgbClr val="288CD2"/>
                </a:solidFill>
              </a:rPr>
              <a:t> et al. (ICLR 2017)</a:t>
            </a:r>
          </a:p>
        </p:txBody>
      </p:sp>
    </p:spTree>
    <p:extLst>
      <p:ext uri="{BB962C8B-B14F-4D97-AF65-F5344CB8AC3E}">
        <p14:creationId xmlns:p14="http://schemas.microsoft.com/office/powerpoint/2010/main" val="3697156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458508"/>
            <a:ext cx="6959600" cy="46355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609600" y="0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smtClean="0"/>
              <a:t>Predicting Words in Sentence (“Content”) from Sentence </a:t>
            </a:r>
            <a:r>
              <a:rPr lang="en-US" sz="2000" dirty="0" err="1" smtClean="0"/>
              <a:t>Embeddings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326785" y="6260692"/>
            <a:ext cx="2817215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Adi</a:t>
            </a:r>
            <a:r>
              <a:rPr lang="en-US" sz="2400" b="1" dirty="0" smtClean="0">
                <a:solidFill>
                  <a:srgbClr val="288CD2"/>
                </a:solidFill>
              </a:rPr>
              <a:t> et al. (ICLR 2017)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472" y="5305356"/>
            <a:ext cx="8538747" cy="830997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288CD2"/>
                </a:solidFill>
              </a:rPr>
              <a:t>content prediction = predict whether a word is contained in the sentence (baseline is 50%)</a:t>
            </a:r>
          </a:p>
        </p:txBody>
      </p:sp>
    </p:spTree>
    <p:extLst>
      <p:ext uri="{BB962C8B-B14F-4D97-AF65-F5344CB8AC3E}">
        <p14:creationId xmlns:p14="http://schemas.microsoft.com/office/powerpoint/2010/main" val="6791313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0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/>
              <a:t>Predicting Word Order from Sentence </a:t>
            </a:r>
            <a:r>
              <a:rPr lang="en-US" sz="2800" dirty="0" err="1" smtClean="0"/>
              <a:t>Embeddings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6326785" y="6260692"/>
            <a:ext cx="2817215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Adi</a:t>
            </a:r>
            <a:r>
              <a:rPr lang="en-US" sz="2400" b="1" dirty="0" smtClean="0">
                <a:solidFill>
                  <a:srgbClr val="288CD2"/>
                </a:solidFill>
              </a:rPr>
              <a:t> et al. (ICLR 2017)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472" y="5362056"/>
            <a:ext cx="8538747" cy="830997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288CD2"/>
                </a:solidFill>
              </a:rPr>
              <a:t>order prediction = given two random words in sentence, predict which comes first (baseline is 50%)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448" y="602088"/>
            <a:ext cx="7375080" cy="485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2688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Do LSTMs capture syntactic agreement?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1180995"/>
            <a:ext cx="4787900" cy="1943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37857" y="6260692"/>
            <a:ext cx="3406144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Linzen</a:t>
            </a:r>
            <a:r>
              <a:rPr lang="en-US" sz="2400" b="1" dirty="0" smtClean="0">
                <a:solidFill>
                  <a:srgbClr val="288CD2"/>
                </a:solidFill>
              </a:rPr>
              <a:t> et al. (TACL 2016)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3297023"/>
            <a:ext cx="61722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7094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Do LSTMs capture syntactic agreement?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1180995"/>
            <a:ext cx="4787900" cy="1943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37857" y="6260692"/>
            <a:ext cx="3406144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Linzen</a:t>
            </a:r>
            <a:r>
              <a:rPr lang="en-US" sz="2400" b="1" dirty="0" smtClean="0">
                <a:solidFill>
                  <a:srgbClr val="288CD2"/>
                </a:solidFill>
              </a:rPr>
              <a:t> et al. (TACL 2016)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3124095"/>
            <a:ext cx="6769100" cy="267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746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Yes, if you directly train to predict the verb form: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37857" y="6260692"/>
            <a:ext cx="3406144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Linzen</a:t>
            </a:r>
            <a:r>
              <a:rPr lang="en-US" sz="2400" b="1" dirty="0" smtClean="0">
                <a:solidFill>
                  <a:srgbClr val="288CD2"/>
                </a:solidFill>
              </a:rPr>
              <a:t> et al. (TACL 2016)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131" y="1485569"/>
            <a:ext cx="5208951" cy="377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097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 smtClean="0"/>
              <a:t>LSTM unit that remembers number (singular or plural) of earlier noun (X):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37857" y="6260692"/>
            <a:ext cx="3406144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Linzen</a:t>
            </a:r>
            <a:r>
              <a:rPr lang="en-US" sz="2400" b="1" dirty="0" smtClean="0">
                <a:solidFill>
                  <a:srgbClr val="288CD2"/>
                </a:solidFill>
              </a:rPr>
              <a:t> et al. (TACL 2016)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00" y="1219200"/>
            <a:ext cx="6642100" cy="44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2184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in a relative clause (RC</a:t>
            </a:r>
            <a:r>
              <a:rPr lang="en-US" sz="2800" dirty="0" smtClean="0"/>
              <a:t>), same LSTM unit recognizes that verb number agrees with Y: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37857" y="6260692"/>
            <a:ext cx="3406144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Linzen</a:t>
            </a:r>
            <a:r>
              <a:rPr lang="en-US" sz="2400" b="1" dirty="0" smtClean="0">
                <a:solidFill>
                  <a:srgbClr val="288CD2"/>
                </a:solidFill>
              </a:rPr>
              <a:t> et al. (TACL 2016)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1206500"/>
            <a:ext cx="66802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7173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223"/>
            <a:ext cx="8229600" cy="726831"/>
          </a:xfrm>
        </p:spPr>
        <p:txBody>
          <a:bodyPr>
            <a:noAutofit/>
          </a:bodyPr>
          <a:lstStyle/>
          <a:p>
            <a:r>
              <a:rPr lang="en-US" sz="3200" dirty="0" smtClean="0"/>
              <a:t>But how about if you train the LSTM as a language model?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37857" y="6260692"/>
            <a:ext cx="3406144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Linzen</a:t>
            </a:r>
            <a:r>
              <a:rPr lang="en-US" sz="2400" b="1" dirty="0" smtClean="0">
                <a:solidFill>
                  <a:srgbClr val="288CD2"/>
                </a:solidFill>
              </a:rPr>
              <a:t> et al. (TACL 2016)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020" y="2616200"/>
            <a:ext cx="9144000" cy="162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516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223"/>
            <a:ext cx="8229600" cy="726831"/>
          </a:xfrm>
        </p:spPr>
        <p:txBody>
          <a:bodyPr>
            <a:noAutofit/>
          </a:bodyPr>
          <a:lstStyle/>
          <a:p>
            <a:r>
              <a:rPr lang="en-US" sz="3200" dirty="0" smtClean="0"/>
              <a:t>Then it doesn’t do well at predicting agreement: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37857" y="6260692"/>
            <a:ext cx="3406144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Linzen</a:t>
            </a:r>
            <a:r>
              <a:rPr lang="en-US" sz="2400" b="1" dirty="0" smtClean="0">
                <a:solidFill>
                  <a:srgbClr val="288CD2"/>
                </a:solidFill>
              </a:rPr>
              <a:t> et al. (TACL 2016)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395667"/>
            <a:ext cx="82804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5993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64083</TotalTime>
  <Words>544</Words>
  <Application>Microsoft Macintosh PowerPoint</Application>
  <PresentationFormat>On-screen Show (4:3)</PresentationFormat>
  <Paragraphs>85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TTIC 31210: Advanced Natural Language Processing</vt:lpstr>
      <vt:lpstr>PowerPoint Presentation</vt:lpstr>
      <vt:lpstr>Input RNN (“Encoder”)</vt:lpstr>
      <vt:lpstr>Output RNN (“Decoder”)</vt:lpstr>
      <vt:lpstr>Learning</vt:lpstr>
      <vt:lpstr>Minimum Risk Training</vt:lpstr>
      <vt:lpstr>Minimum Risk Training</vt:lpstr>
      <vt:lpstr>PowerPoint Presentation</vt:lpstr>
      <vt:lpstr>Google’s NMT System</vt:lpstr>
      <vt:lpstr>Google’s NMT System</vt:lpstr>
      <vt:lpstr>Google’s NMT System</vt:lpstr>
      <vt:lpstr>Google’s NMT System</vt:lpstr>
      <vt:lpstr>PowerPoint Presentation</vt:lpstr>
      <vt:lpstr>PowerPoint Presentation</vt:lpstr>
      <vt:lpstr>Understanding Neural NLP</vt:lpstr>
      <vt:lpstr>How do we understand what information is captured in an embedding?</vt:lpstr>
      <vt:lpstr>Predicting Sentence Length from Sentence Embeddings</vt:lpstr>
      <vt:lpstr>PowerPoint Presentation</vt:lpstr>
      <vt:lpstr>PowerPoint Presentation</vt:lpstr>
      <vt:lpstr>Do LSTMs capture syntactic agreement?</vt:lpstr>
      <vt:lpstr>Do LSTMs capture syntactic agreement?</vt:lpstr>
      <vt:lpstr>Yes, if you directly train to predict the verb form:</vt:lpstr>
      <vt:lpstr>LSTM unit that remembers number (singular or plural) of earlier noun (X):</vt:lpstr>
      <vt:lpstr>in a relative clause (RC), same LSTM unit recognizes that verb number agrees with Y:</vt:lpstr>
      <vt:lpstr>But how about if you train the LSTM as a language model?</vt:lpstr>
      <vt:lpstr>Then it doesn’t do well at predicting agreement: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825</cp:revision>
  <dcterms:created xsi:type="dcterms:W3CDTF">2015-08-31T18:15:35Z</dcterms:created>
  <dcterms:modified xsi:type="dcterms:W3CDTF">2017-05-02T13:22:30Z</dcterms:modified>
</cp:coreProperties>
</file>