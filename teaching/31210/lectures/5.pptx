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765" r:id="rId3"/>
    <p:sldId id="781" r:id="rId4"/>
    <p:sldId id="782" r:id="rId5"/>
    <p:sldId id="783" r:id="rId6"/>
    <p:sldId id="786" r:id="rId7"/>
    <p:sldId id="787" r:id="rId8"/>
    <p:sldId id="788" r:id="rId9"/>
    <p:sldId id="797" r:id="rId10"/>
    <p:sldId id="796" r:id="rId11"/>
    <p:sldId id="790" r:id="rId12"/>
    <p:sldId id="795" r:id="rId13"/>
    <p:sldId id="784" r:id="rId14"/>
    <p:sldId id="791" r:id="rId15"/>
    <p:sldId id="768" r:id="rId16"/>
    <p:sldId id="769" r:id="rId17"/>
    <p:sldId id="770" r:id="rId18"/>
    <p:sldId id="772" r:id="rId19"/>
    <p:sldId id="773" r:id="rId20"/>
    <p:sldId id="691" r:id="rId21"/>
    <p:sldId id="690" r:id="rId22"/>
    <p:sldId id="685" r:id="rId23"/>
    <p:sldId id="693" r:id="rId24"/>
    <p:sldId id="639" r:id="rId25"/>
    <p:sldId id="612" r:id="rId26"/>
    <p:sldId id="637" r:id="rId27"/>
    <p:sldId id="760" r:id="rId28"/>
    <p:sldId id="638" r:id="rId29"/>
    <p:sldId id="694" r:id="rId30"/>
    <p:sldId id="641" r:id="rId31"/>
    <p:sldId id="614" r:id="rId32"/>
    <p:sldId id="615" r:id="rId33"/>
    <p:sldId id="682" r:id="rId34"/>
    <p:sldId id="683" r:id="rId35"/>
    <p:sldId id="695" r:id="rId36"/>
    <p:sldId id="616" r:id="rId37"/>
    <p:sldId id="617" r:id="rId38"/>
    <p:sldId id="680" r:id="rId39"/>
    <p:sldId id="696" r:id="rId40"/>
    <p:sldId id="678" r:id="rId41"/>
    <p:sldId id="687" r:id="rId42"/>
    <p:sldId id="697" r:id="rId43"/>
    <p:sldId id="698" r:id="rId44"/>
    <p:sldId id="779" r:id="rId45"/>
    <p:sldId id="625" r:id="rId46"/>
    <p:sldId id="626" r:id="rId47"/>
    <p:sldId id="780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0"/>
    <p:restoredTop sz="87280" autoAdjust="0"/>
  </p:normalViewPr>
  <p:slideViewPr>
    <p:cSldViewPr snapToGrid="0" snapToObjects="1">
      <p:cViewPr varScale="1">
        <p:scale>
          <a:sx n="109" d="100"/>
          <a:sy n="109" d="100"/>
        </p:scale>
        <p:origin x="-32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handoutMaster" Target="handoutMasters/handoutMaster1.xml"/><Relationship Id="rId51" Type="http://schemas.openxmlformats.org/officeDocument/2006/relationships/printerSettings" Target="printerSettings/printerSettings1.bin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4/13/17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0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00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00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smtClean="0"/>
              <a:t>These are nice because word similarities can be computed using distance functions in these continuous spaces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37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smtClean="0"/>
              <a:t>These are nice because word similarities can be computed using distance functions in these continuous spaces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37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smtClean="0"/>
              <a:t>These are nice because word similarities can be computed using distance functions in these continuous spaces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3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Features!!!! and scores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43E13-FABF-204C-A318-341DEE8C2C7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03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emf"/><Relationship Id="rId1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0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emf"/><Relationship Id="rId1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0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image" Target="../media/image11.emf"/><Relationship Id="rId13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1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5.emf"/><Relationship Id="rId1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1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1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8.emf"/><Relationship Id="rId9" Type="http://schemas.openxmlformats.org/officeDocument/2006/relationships/image" Target="../media/image9.emf"/><Relationship Id="rId10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5: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Sequence-to-Sequence </a:t>
            </a:r>
            <a:r>
              <a:rPr lang="en-US" sz="4000" dirty="0" smtClean="0">
                <a:solidFill>
                  <a:schemeClr val="tx1"/>
                </a:solidFill>
              </a:rPr>
              <a:t>Modeling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and Sentence </a:t>
            </a:r>
            <a:r>
              <a:rPr lang="en-US" sz="4000" dirty="0" err="1" smtClean="0">
                <a:solidFill>
                  <a:schemeClr val="tx1"/>
                </a:solidFill>
              </a:rPr>
              <a:t>Embeddings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Recurrent </a:t>
            </a:r>
            <a:r>
              <a:rPr lang="en-US" sz="3600" dirty="0" smtClean="0"/>
              <a:t>Neural Networks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924816"/>
            <a:ext cx="51943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18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“Output” Recurrent </a:t>
            </a:r>
            <a:r>
              <a:rPr lang="en-US" sz="3600" dirty="0" smtClean="0"/>
              <a:t>Neural Networks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-11652" y="3033931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924816"/>
            <a:ext cx="5194300" cy="5588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-11652" y="4313167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“output symbol”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800" y="5358022"/>
            <a:ext cx="3962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94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“Output” Recurrent </a:t>
            </a:r>
            <a:r>
              <a:rPr lang="en-US" sz="3600" dirty="0" smtClean="0"/>
              <a:t>Neural Networks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924816"/>
            <a:ext cx="5194300" cy="5588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94832" y="175426"/>
            <a:ext cx="7227567" cy="2769989"/>
          </a:xfrm>
          <a:prstGeom prst="rect">
            <a:avLst/>
          </a:prstGeom>
          <a:solidFill>
            <a:srgbClr val="288CD2"/>
          </a:solidFill>
          <a:ln w="28575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buFont typeface="Arial"/>
              <a:buChar char="•"/>
            </a:pPr>
            <a:r>
              <a:rPr lang="en-US" sz="2800" i="1" dirty="0" smtClean="0">
                <a:solidFill>
                  <a:schemeClr val="bg1"/>
                </a:solidFill>
                <a:latin typeface="Calibri"/>
                <a:cs typeface="Calibri"/>
              </a:rPr>
              <a:t>y</a:t>
            </a: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 is a symbol, not a vector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1" dirty="0" smtClean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lang="en-US" sz="2800" dirty="0" smtClean="0">
                <a:solidFill>
                  <a:schemeClr val="bg1"/>
                </a:solidFill>
                <a:latin typeface="Calibri"/>
                <a:cs typeface="Calibri"/>
              </a:rPr>
              <a:t> is the “output” vocabulary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we have a new parameter vector </a:t>
            </a:r>
            <a:r>
              <a:rPr lang="en-US" sz="2800" i="1" dirty="0" err="1" smtClean="0">
                <a:solidFill>
                  <a:schemeClr val="bg1"/>
                </a:solidFill>
                <a:latin typeface="Calibri"/>
                <a:cs typeface="Calibri"/>
              </a:rPr>
              <a:t>emb</a:t>
            </a:r>
            <a:r>
              <a:rPr lang="en-US" sz="2800" i="1" dirty="0" smtClean="0">
                <a:solidFill>
                  <a:schemeClr val="bg1"/>
                </a:solidFill>
                <a:latin typeface="Calibri"/>
                <a:cs typeface="Calibri"/>
              </a:rPr>
              <a:t>(y)</a:t>
            </a: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 for each output symbol in </a:t>
            </a:r>
            <a:r>
              <a:rPr lang="en-US" sz="2800" i="1" dirty="0" smtClean="0">
                <a:solidFill>
                  <a:schemeClr val="bg1"/>
                </a:solidFill>
                <a:latin typeface="Calibri"/>
                <a:cs typeface="Calibri"/>
              </a:rPr>
              <a:t>O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i="1" dirty="0" err="1">
                <a:solidFill>
                  <a:schemeClr val="bg1"/>
                </a:solidFill>
                <a:latin typeface="Calibri"/>
                <a:cs typeface="Calibri"/>
              </a:rPr>
              <a:t>emb</a:t>
            </a:r>
            <a:r>
              <a:rPr lang="en-US" sz="2800" i="1" dirty="0">
                <a:solidFill>
                  <a:schemeClr val="bg1"/>
                </a:solidFill>
                <a:latin typeface="Calibri"/>
                <a:cs typeface="Calibri"/>
              </a:rPr>
              <a:t>(y)</a:t>
            </a:r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Calibri"/>
                <a:cs typeface="Calibri"/>
              </a:rPr>
              <a:t> = </a:t>
            </a:r>
            <a:r>
              <a:rPr lang="en-US" sz="2800" b="1" dirty="0" smtClean="0">
                <a:solidFill>
                  <a:schemeClr val="bg1"/>
                </a:solidFill>
                <a:latin typeface="Calibri"/>
                <a:cs typeface="Calibri"/>
              </a:rPr>
              <a:t>x</a:t>
            </a:r>
            <a:r>
              <a:rPr lang="en-US" sz="2800" dirty="0" smtClean="0">
                <a:solidFill>
                  <a:schemeClr val="bg1"/>
                </a:solidFill>
                <a:latin typeface="Calibri"/>
                <a:cs typeface="Calibri"/>
              </a:rPr>
              <a:t>?</a:t>
            </a:r>
          </a:p>
          <a:p>
            <a:pPr marL="342900" indent="-342900" eaLnBrk="1" hangingPunct="1">
              <a:buFont typeface="Arial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Calibri"/>
                <a:cs typeface="Calibri"/>
              </a:rPr>
              <a:t>probability distribution over output symbols?</a:t>
            </a:r>
            <a:endParaRPr lang="en-US" sz="2000" i="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800" y="5358022"/>
            <a:ext cx="3962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70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15428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153363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198506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198506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989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110176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896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109252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20121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110407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1835361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1835361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1835361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493700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493700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493700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28936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28843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28982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2452494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2443258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2454803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316518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316518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3165188"/>
            <a:ext cx="266700" cy="355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" y="5612132"/>
            <a:ext cx="6553200" cy="4572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800" y="4053123"/>
            <a:ext cx="3962400" cy="673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05100" y="4891987"/>
            <a:ext cx="372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82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Example: Language Modeling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96427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463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Language Modeling: Training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96427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993" y="5463803"/>
            <a:ext cx="29210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12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Language Modeling: Training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165969" y="964274"/>
            <a:ext cx="49306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…  if                      the                     car  …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8247" y="5464867"/>
            <a:ext cx="2959100" cy="355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6421" y="5453944"/>
            <a:ext cx="2654300" cy="342900"/>
          </a:xfrm>
          <a:prstGeom prst="rect">
            <a:avLst/>
          </a:prstGeom>
        </p:spPr>
      </p:pic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317973" y="5418991"/>
            <a:ext cx="57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latin typeface="Calibri"/>
                <a:cs typeface="Calibri"/>
              </a:rPr>
              <a:t>…</a:t>
            </a:r>
            <a:endParaRPr lang="en-US" sz="24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39833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Language Modeling: Decoding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we’ll use the term “decoding” to mean roughly “test-time inference”</a:t>
            </a:r>
          </a:p>
          <a:p>
            <a:r>
              <a:rPr lang="en-US" dirty="0" smtClean="0"/>
              <a:t>for language modeling, decoding means “output the highest-probability sentence”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27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Language Modeling: Decoding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437369" y="964274"/>
            <a:ext cx="4239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&lt;s&gt;                                        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2265812" y="5984931"/>
            <a:ext cx="9618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“The”                                        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769" y="5284171"/>
            <a:ext cx="40259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220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Language Modeling: Decoding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437369" y="964274"/>
            <a:ext cx="4239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&lt;s&gt;                    The                                        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70200" y="5338916"/>
            <a:ext cx="3403600" cy="584200"/>
          </a:xfrm>
          <a:prstGeom prst="rect">
            <a:avLst/>
          </a:prstGeom>
        </p:spPr>
      </p:pic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4123929" y="5969658"/>
            <a:ext cx="9618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“one”                                        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4105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Language Modeling: Decoding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35013" y="2448042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73048" y="2438806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399537" y="2450351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1839979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1839979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1839979"/>
            <a:ext cx="279400" cy="27940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endCxn id="41" idx="0"/>
          </p:cNvCxnSpPr>
          <p:nvPr/>
        </p:nvCxnSpPr>
        <p:spPr bwMode="auto">
          <a:xfrm flipH="1">
            <a:off x="2735013" y="3798773"/>
            <a:ext cx="2309" cy="441112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endCxn id="42" idx="0"/>
          </p:cNvCxnSpPr>
          <p:nvPr/>
        </p:nvCxnSpPr>
        <p:spPr bwMode="auto">
          <a:xfrm flipH="1">
            <a:off x="4573048" y="3789537"/>
            <a:ext cx="2310" cy="44111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endCxn id="43" idx="0"/>
          </p:cNvCxnSpPr>
          <p:nvPr/>
        </p:nvCxnSpPr>
        <p:spPr bwMode="auto">
          <a:xfrm flipH="1">
            <a:off x="6399537" y="3801082"/>
            <a:ext cx="3" cy="443421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437369" y="964274"/>
            <a:ext cx="48219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&lt;s&gt;                    The                    one                                        </a:t>
            </a:r>
            <a:endParaRPr lang="en-US" sz="2400" i="0" dirty="0" smtClean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90411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there’s a mismatch between training and test!</a:t>
            </a:r>
          </a:p>
          <a:p>
            <a:r>
              <a:rPr lang="en-US" dirty="0" smtClean="0"/>
              <a:t>(what is it?)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701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Sequence-to-Sequence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8410" cy="5052424"/>
          </a:xfrm>
        </p:spPr>
        <p:txBody>
          <a:bodyPr/>
          <a:lstStyle/>
          <a:p>
            <a:r>
              <a:rPr lang="en-US" dirty="0" smtClean="0"/>
              <a:t>data: &lt;input sequence, output sequence&gt; pairs</a:t>
            </a:r>
          </a:p>
          <a:p>
            <a:r>
              <a:rPr lang="en-US" dirty="0" smtClean="0"/>
              <a:t>use one neural network to encode input sequence as a vector</a:t>
            </a:r>
          </a:p>
          <a:p>
            <a:r>
              <a:rPr lang="en-US" dirty="0" smtClean="0"/>
              <a:t>use an output RNN to generate the output sequence (conditioned on the input sequence vector)</a:t>
            </a:r>
          </a:p>
          <a:p>
            <a:r>
              <a:rPr lang="en-US" dirty="0" smtClean="0"/>
              <a:t>more generally called “encoder-decoder” architectures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99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54"/>
          <a:stretch/>
        </p:blipFill>
        <p:spPr>
          <a:xfrm>
            <a:off x="1713944" y="91440"/>
            <a:ext cx="5641896" cy="20218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804" y="2265680"/>
            <a:ext cx="3949671" cy="4455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55840" y="802640"/>
            <a:ext cx="1524776" cy="400110"/>
          </a:xfrm>
          <a:prstGeom prst="rect">
            <a:avLst/>
          </a:prstGeom>
          <a:noFill/>
          <a:ln w="28575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smtClean="0">
                <a:solidFill>
                  <a:srgbClr val="288CD2"/>
                </a:solidFill>
              </a:rPr>
              <a:t>EMNLP 2013</a:t>
            </a:r>
            <a:endParaRPr lang="en-US" sz="2000" b="1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53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700"/>
            <a:ext cx="9144000" cy="58963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51"/>
          <a:stretch/>
        </p:blipFill>
        <p:spPr>
          <a:xfrm>
            <a:off x="1574800" y="91440"/>
            <a:ext cx="5953760" cy="426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28560" y="574645"/>
            <a:ext cx="1524776" cy="400110"/>
          </a:xfrm>
          <a:prstGeom prst="rect">
            <a:avLst/>
          </a:prstGeom>
          <a:noFill/>
          <a:ln w="28575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smtClean="0">
                <a:solidFill>
                  <a:srgbClr val="288CD2"/>
                </a:solidFill>
              </a:rPr>
              <a:t>EMNLP 2013</a:t>
            </a:r>
            <a:endParaRPr lang="en-US" sz="2000" b="1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228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68" y="0"/>
            <a:ext cx="7274560" cy="2569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08240" y="568960"/>
            <a:ext cx="1524776" cy="400110"/>
          </a:xfrm>
          <a:prstGeom prst="rect">
            <a:avLst/>
          </a:prstGeom>
          <a:noFill/>
          <a:ln w="28575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smtClean="0">
                <a:solidFill>
                  <a:srgbClr val="288CD2"/>
                </a:solidFill>
              </a:rPr>
              <a:t>EMNLP 2014</a:t>
            </a:r>
            <a:endParaRPr lang="en-US" sz="2000" b="1">
              <a:solidFill>
                <a:srgbClr val="288CD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03" y="2569748"/>
            <a:ext cx="4360934" cy="42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66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0"/>
            <a:ext cx="6513377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1440" y="436880"/>
            <a:ext cx="1257075" cy="400110"/>
          </a:xfrm>
          <a:prstGeom prst="rect">
            <a:avLst/>
          </a:prstGeom>
          <a:noFill/>
          <a:ln w="28575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smtClean="0">
                <a:solidFill>
                  <a:srgbClr val="288CD2"/>
                </a:solidFill>
              </a:rPr>
              <a:t>NIPS 2014</a:t>
            </a:r>
            <a:endParaRPr lang="en-US" sz="2000" b="1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469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07"/>
          <a:stretch/>
        </p:blipFill>
        <p:spPr>
          <a:xfrm>
            <a:off x="1308100" y="0"/>
            <a:ext cx="6513377" cy="223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1440" y="436880"/>
            <a:ext cx="1257075" cy="400110"/>
          </a:xfrm>
          <a:prstGeom prst="rect">
            <a:avLst/>
          </a:prstGeom>
          <a:noFill/>
          <a:ln w="28575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smtClean="0">
                <a:solidFill>
                  <a:srgbClr val="288CD2"/>
                </a:solidFill>
              </a:rPr>
              <a:t>NIPS 2014</a:t>
            </a:r>
            <a:endParaRPr lang="en-US" sz="2000" b="1">
              <a:solidFill>
                <a:srgbClr val="288CD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7160"/>
            <a:ext cx="91440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79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Unsupervised Sentence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</a:t>
            </a:r>
            <a:r>
              <a:rPr lang="en-US" dirty="0" smtClean="0"/>
              <a:t>ow should we evaluate sentence models?</a:t>
            </a:r>
            <a:endParaRPr lang="en-US" dirty="0"/>
          </a:p>
          <a:p>
            <a:r>
              <a:rPr lang="en-US" dirty="0" smtClean="0"/>
              <a:t>we consider two </a:t>
            </a:r>
            <a:r>
              <a:rPr lang="en-US" dirty="0" smtClean="0"/>
              <a:t>ways here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sentence </a:t>
            </a:r>
            <a:r>
              <a:rPr lang="en-US" dirty="0" smtClean="0"/>
              <a:t>similarity:</a:t>
            </a:r>
          </a:p>
          <a:p>
            <a:pPr lvl="2"/>
            <a:r>
              <a:rPr lang="en-US" dirty="0" smtClean="0"/>
              <a:t>two sentences with similar meanings should have high cosine similarities</a:t>
            </a:r>
            <a:endParaRPr lang="en-US" dirty="0" smtClean="0"/>
          </a:p>
          <a:p>
            <a:pPr lvl="2"/>
            <a:r>
              <a:rPr lang="en-US" dirty="0" smtClean="0"/>
              <a:t>metric: corr. between similarities &amp; human judgments</a:t>
            </a:r>
            <a:endParaRPr lang="en-US" dirty="0" smtClean="0"/>
          </a:p>
          <a:p>
            <a:pPr lvl="1"/>
            <a:r>
              <a:rPr lang="en-US" dirty="0" smtClean="0"/>
              <a:t>sentence </a:t>
            </a:r>
            <a:r>
              <a:rPr lang="en-US" dirty="0" smtClean="0"/>
              <a:t>classification:</a:t>
            </a:r>
          </a:p>
          <a:p>
            <a:pPr lvl="2"/>
            <a:r>
              <a:rPr lang="en-US" dirty="0" smtClean="0"/>
              <a:t>train </a:t>
            </a:r>
            <a:r>
              <a:rPr lang="en-US" dirty="0" smtClean="0"/>
              <a:t>a linear classifier </a:t>
            </a:r>
            <a:r>
              <a:rPr lang="en-US" dirty="0" smtClean="0"/>
              <a:t>using </a:t>
            </a:r>
            <a:r>
              <a:rPr lang="en-US" dirty="0" smtClean="0"/>
              <a:t>the fixed sentence representation as the input features</a:t>
            </a:r>
          </a:p>
          <a:p>
            <a:pPr lvl="2"/>
            <a:r>
              <a:rPr lang="en-US" dirty="0" smtClean="0"/>
              <a:t>metric: average accuracy </a:t>
            </a:r>
            <a:r>
              <a:rPr lang="en-US" dirty="0" smtClean="0"/>
              <a:t>over 6 tasks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119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Evaluation 1: Semantic Textual Similarity (STS)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1" y="914400"/>
            <a:ext cx="4800600" cy="1200328"/>
          </a:xfrm>
          <a:prstGeom prst="rect">
            <a:avLst/>
          </a:prstGeom>
          <a:noFill/>
          <a:ln>
            <a:solidFill>
              <a:srgbClr val="0062AC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Other </a:t>
            </a:r>
            <a:r>
              <a:rPr lang="en-US" sz="2400" i="0" dirty="0">
                <a:solidFill>
                  <a:srgbClr val="0070C0"/>
                </a:solidFill>
                <a:latin typeface="Calibri"/>
                <a:cs typeface="Calibri"/>
              </a:rPr>
              <a:t>ways are </a:t>
            </a:r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needed.</a:t>
            </a:r>
          </a:p>
          <a:p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	</a:t>
            </a:r>
          </a:p>
          <a:p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lang="en-US" sz="2400" i="0" dirty="0">
                <a:solidFill>
                  <a:srgbClr val="0070C0"/>
                </a:solidFill>
                <a:latin typeface="Calibri"/>
                <a:cs typeface="Calibri"/>
              </a:rPr>
              <a:t>must find other </a:t>
            </a:r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ways. </a:t>
            </a:r>
            <a:endParaRPr lang="en-US" sz="2400" i="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" y="2398060"/>
            <a:ext cx="6019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I absolutely do believe there was an iceberg in those 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waters.</a:t>
            </a:r>
          </a:p>
          <a:p>
            <a:endParaRPr lang="en-US" sz="2400" i="0" dirty="0" smtClean="0">
              <a:solidFill>
                <a:srgbClr val="FF0000"/>
              </a:solidFill>
              <a:latin typeface="Calibri"/>
              <a:cs typeface="Calibri"/>
            </a:endParaRPr>
          </a:p>
          <a:p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I don't 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believe there was any iceberg at all anywhere near the Titanic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. </a:t>
            </a:r>
            <a:r>
              <a:rPr lang="en-US" i="0" dirty="0">
                <a:latin typeface="Calibri"/>
                <a:cs typeface="Calibri"/>
              </a:rPr>
              <a:t>	</a:t>
            </a:r>
            <a:endParaRPr lang="en-US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4258" y="1327666"/>
            <a:ext cx="568873" cy="461665"/>
          </a:xfrm>
          <a:prstGeom prst="rect">
            <a:avLst/>
          </a:prstGeom>
          <a:noFill/>
          <a:ln w="317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solidFill>
                  <a:srgbClr val="0070C0"/>
                </a:solidFill>
                <a:latin typeface="Calibri"/>
                <a:cs typeface="Calibri"/>
              </a:rPr>
              <a:t>4.4</a:t>
            </a:r>
            <a:endParaRPr lang="en-US" sz="2400" i="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3048000"/>
            <a:ext cx="613542" cy="46166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1.2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362200"/>
            <a:ext cx="7315200" cy="2057400"/>
          </a:xfrm>
          <a:prstGeom prst="rect">
            <a:avLst/>
          </a:prstGeom>
          <a:noFill/>
          <a:ln>
            <a:solidFill>
              <a:srgbClr val="DD101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4572000"/>
            <a:ext cx="8229600" cy="121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Results reported on datasets from 6 domains</a:t>
            </a:r>
          </a:p>
        </p:txBody>
      </p:sp>
    </p:spTree>
    <p:extLst>
      <p:ext uri="{BB962C8B-B14F-4D97-AF65-F5344CB8AC3E}">
        <p14:creationId xmlns:p14="http://schemas.microsoft.com/office/powerpoint/2010/main" val="3027754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Paragraph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1143000"/>
          </a:xfrm>
        </p:spPr>
        <p:txBody>
          <a:bodyPr/>
          <a:lstStyle/>
          <a:p>
            <a:r>
              <a:rPr lang="en-US" dirty="0"/>
              <a:t>Represent sentence (or paragraph) by predicting its own words or context </a:t>
            </a:r>
            <a:r>
              <a:rPr lang="en-US" dirty="0" smtClean="0"/>
              <a:t>words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 descr="pv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40000"/>
            <a:ext cx="3810000" cy="2051050"/>
          </a:xfrm>
          <a:prstGeom prst="rect">
            <a:avLst/>
          </a:prstGeom>
        </p:spPr>
      </p:pic>
      <p:pic>
        <p:nvPicPr>
          <p:cNvPr id="6" name="Picture 5" descr="pv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514600"/>
            <a:ext cx="3810000" cy="2101850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95800" y="5496580"/>
            <a:ext cx="480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Le &amp;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Mikolov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(2014)</a:t>
            </a:r>
          </a:p>
        </p:txBody>
      </p:sp>
    </p:spTree>
    <p:extLst>
      <p:ext uri="{BB962C8B-B14F-4D97-AF65-F5344CB8AC3E}">
        <p14:creationId xmlns:p14="http://schemas.microsoft.com/office/powerpoint/2010/main" val="2815094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856684"/>
              </p:ext>
            </p:extLst>
          </p:nvPr>
        </p:nvGraphicFramePr>
        <p:xfrm>
          <a:off x="237067" y="838200"/>
          <a:ext cx="8678333" cy="914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Sentence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dirty="0" smtClean="0"/>
              <a:t>ncode sentence as vector, then decode it</a:t>
            </a:r>
          </a:p>
          <a:p>
            <a:r>
              <a:rPr lang="en-US" dirty="0" smtClean="0"/>
              <a:t>minimize reconstruction error (using squared error or cross entropy) of original words in sentence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488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Recursive Neural Net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00200" y="5267980"/>
            <a:ext cx="746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Socher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Huang, Pennington, Ng, Manning (2011)</a:t>
            </a:r>
          </a:p>
        </p:txBody>
      </p:sp>
      <p:pic>
        <p:nvPicPr>
          <p:cNvPr id="7" name="Picture 6" descr="Screen Shot 2017-03-30 at 3.04.5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905000"/>
            <a:ext cx="4876800" cy="2071767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990600"/>
          </a:xfrm>
        </p:spPr>
        <p:txBody>
          <a:bodyPr/>
          <a:lstStyle/>
          <a:p>
            <a:r>
              <a:rPr lang="en-US" dirty="0" smtClean="0"/>
              <a:t>composition based on syntactic parse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62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LSTM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24400" y="5267980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Li,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Luong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Jurafsky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(2015)</a:t>
            </a:r>
          </a:p>
        </p:txBody>
      </p:sp>
      <p:pic>
        <p:nvPicPr>
          <p:cNvPr id="5" name="Picture 4" descr="Screen Shot 2017-03-30 at 3.18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63700"/>
            <a:ext cx="8534400" cy="35179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762000"/>
          </a:xfrm>
        </p:spPr>
        <p:txBody>
          <a:bodyPr/>
          <a:lstStyle/>
          <a:p>
            <a:r>
              <a:rPr lang="en-US" sz="2800" dirty="0" smtClean="0"/>
              <a:t>Encode sentence, decode sentence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8015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956197"/>
              </p:ext>
            </p:extLst>
          </p:nvPr>
        </p:nvGraphicFramePr>
        <p:xfrm>
          <a:off x="237067" y="838200"/>
          <a:ext cx="8678333" cy="1371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183235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LSTM </a:t>
            </a:r>
            <a:r>
              <a:rPr lang="en-US" dirty="0" err="1" smtClean="0"/>
              <a:t>Denoising</a:t>
            </a:r>
            <a:r>
              <a:rPr lang="en-US" dirty="0" smtClean="0"/>
              <a:t> </a:t>
            </a:r>
            <a:r>
              <a:rPr lang="en-US" dirty="0" err="1" smtClean="0"/>
              <a:t>Autoencoders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24400" y="5267980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  <p:pic>
        <p:nvPicPr>
          <p:cNvPr id="5" name="Picture 4" descr="Screen Shot 2017-03-30 at 3.18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63700"/>
            <a:ext cx="8534400" cy="3517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10200" y="3352800"/>
            <a:ext cx="7620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5334000" y="3694176"/>
            <a:ext cx="8382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Curved Up Arrow 18"/>
          <p:cNvSpPr/>
          <p:nvPr/>
        </p:nvSpPr>
        <p:spPr>
          <a:xfrm>
            <a:off x="1600200" y="4953000"/>
            <a:ext cx="1676400" cy="762000"/>
          </a:xfrm>
          <a:prstGeom prst="curved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762000"/>
          </a:xfrm>
        </p:spPr>
        <p:txBody>
          <a:bodyPr/>
          <a:lstStyle/>
          <a:p>
            <a:r>
              <a:rPr lang="en-US" sz="2800" dirty="0" smtClean="0"/>
              <a:t>Encode “corrupted” sentence, decode sentence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50662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74345"/>
              </p:ext>
            </p:extLst>
          </p:nvPr>
        </p:nvGraphicFramePr>
        <p:xfrm>
          <a:off x="237067" y="838200"/>
          <a:ext cx="8678333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Other Training Criteria for Sentence </a:t>
            </a:r>
            <a:r>
              <a:rPr lang="en-US" sz="3200" dirty="0" err="1" smtClean="0"/>
              <a:t>Embeddings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encode sentence, decode other things from it:</a:t>
            </a:r>
          </a:p>
          <a:p>
            <a:pPr lvl="1"/>
            <a:r>
              <a:rPr lang="en-US" dirty="0" smtClean="0"/>
              <a:t>decode its translation</a:t>
            </a:r>
          </a:p>
          <a:p>
            <a:pPr lvl="1"/>
            <a:r>
              <a:rPr lang="en-US" dirty="0" smtClean="0"/>
              <a:t>decode neighboring sentences</a:t>
            </a:r>
          </a:p>
          <a:p>
            <a:pPr lvl="1"/>
            <a:r>
              <a:rPr lang="en-US" dirty="0" smtClean="0"/>
              <a:t>predict words in the sentence and predict words in neighboring sentences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254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3400" y="5943600"/>
            <a:ext cx="845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Cho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van </a:t>
            </a:r>
            <a:r>
              <a:rPr lang="en-US" sz="2000" i="0" dirty="0" err="1">
                <a:solidFill>
                  <a:srgbClr val="0062AC"/>
                </a:solidFill>
                <a:latin typeface="Calibri"/>
                <a:cs typeface="Calibri"/>
              </a:rPr>
              <a:t>Merrienboer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Gulcehre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Bahdanau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Bougares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Schwenk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Bengio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(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2014)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762000"/>
          </a:xfrm>
        </p:spPr>
        <p:txBody>
          <a:bodyPr/>
          <a:lstStyle/>
          <a:p>
            <a:r>
              <a:rPr lang="en-US" sz="3200" dirty="0" smtClean="0"/>
              <a:t>Neural Machine Translation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1752600"/>
          </a:xfrm>
        </p:spPr>
        <p:txBody>
          <a:bodyPr/>
          <a:lstStyle/>
          <a:p>
            <a:r>
              <a:rPr lang="en-US" sz="2800" dirty="0" smtClean="0"/>
              <a:t>Encode source sentence, decode translation</a:t>
            </a:r>
            <a:endParaRPr lang="en-US" sz="2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06"/>
          <a:stretch/>
        </p:blipFill>
        <p:spPr>
          <a:xfrm>
            <a:off x="0" y="1981200"/>
            <a:ext cx="9144000" cy="1913467"/>
          </a:xfrm>
          <a:prstGeom prst="rect">
            <a:avLst/>
          </a:prstGeom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562600" y="556260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Sutskever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Vinyals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Le (2014)</a:t>
            </a:r>
          </a:p>
        </p:txBody>
      </p:sp>
    </p:spTree>
    <p:extLst>
      <p:ext uri="{BB962C8B-B14F-4D97-AF65-F5344CB8AC3E}">
        <p14:creationId xmlns:p14="http://schemas.microsoft.com/office/powerpoint/2010/main" val="1051106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81600" y="594360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Sutskever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Vinyals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Le (2014)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762000"/>
          </a:xfrm>
        </p:spPr>
        <p:txBody>
          <a:bodyPr/>
          <a:lstStyle/>
          <a:p>
            <a:r>
              <a:rPr lang="en-US" sz="3200" dirty="0" smtClean="0"/>
              <a:t>Encoder as a Sentence Embedding Model?</a:t>
            </a:r>
            <a:endParaRPr lang="en-US" sz="2400" dirty="0">
              <a:solidFill>
                <a:srgbClr val="288CD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" r="51781" b="30088"/>
          <a:stretch/>
        </p:blipFill>
        <p:spPr>
          <a:xfrm>
            <a:off x="1155079" y="685800"/>
            <a:ext cx="6845921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19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762000"/>
          </a:xfrm>
        </p:spPr>
        <p:txBody>
          <a:bodyPr/>
          <a:lstStyle/>
          <a:p>
            <a:r>
              <a:rPr lang="en-US" sz="3200" dirty="0" smtClean="0"/>
              <a:t>Encoder as a Sentence Embedding Model?</a:t>
            </a:r>
            <a:endParaRPr lang="en-US" sz="2400" dirty="0">
              <a:solidFill>
                <a:srgbClr val="288CD2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4" r="3194" b="29155"/>
          <a:stretch/>
        </p:blipFill>
        <p:spPr>
          <a:xfrm>
            <a:off x="1059889" y="800100"/>
            <a:ext cx="6977488" cy="5346950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207000" y="615950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Sutskever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Vinyals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, Le (2014)</a:t>
            </a:r>
          </a:p>
        </p:txBody>
      </p:sp>
    </p:spTree>
    <p:extLst>
      <p:ext uri="{BB962C8B-B14F-4D97-AF65-F5344CB8AC3E}">
        <p14:creationId xmlns:p14="http://schemas.microsoft.com/office/powerpoint/2010/main" val="23175029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14" y="6791"/>
            <a:ext cx="8621731" cy="5870326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3400" y="6079064"/>
            <a:ext cx="8458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Cho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van </a:t>
            </a:r>
            <a:r>
              <a:rPr lang="en-US" sz="2000" i="0" dirty="0" err="1">
                <a:solidFill>
                  <a:srgbClr val="0062AC"/>
                </a:solidFill>
                <a:latin typeface="Calibri"/>
                <a:cs typeface="Calibri"/>
              </a:rPr>
              <a:t>Merrienboer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Gulcehre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Bahdanau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Bougares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Schwenk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Bengio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 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(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2014)</a:t>
            </a:r>
          </a:p>
        </p:txBody>
      </p:sp>
    </p:spTree>
    <p:extLst>
      <p:ext uri="{BB962C8B-B14F-4D97-AF65-F5344CB8AC3E}">
        <p14:creationId xmlns:p14="http://schemas.microsoft.com/office/powerpoint/2010/main" val="11257881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735333"/>
              </p:ext>
            </p:extLst>
          </p:nvPr>
        </p:nvGraphicFramePr>
        <p:xfrm>
          <a:off x="237067" y="838200"/>
          <a:ext cx="8678333" cy="2286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Skip-Thoughts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4800" y="838199"/>
            <a:ext cx="8229600" cy="1595735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e</a:t>
            </a:r>
            <a:r>
              <a:rPr lang="en-US" sz="2800" dirty="0" smtClean="0"/>
              <a:t>ncode sentence using an RNN</a:t>
            </a:r>
          </a:p>
          <a:p>
            <a:r>
              <a:rPr lang="en-US" sz="2800" dirty="0" smtClean="0"/>
              <a:t>decode two neighboring sentences</a:t>
            </a:r>
          </a:p>
          <a:p>
            <a:r>
              <a:rPr lang="en-US" sz="2800" dirty="0" smtClean="0"/>
              <a:t>use different RNNs for previous and next sentences</a:t>
            </a:r>
          </a:p>
          <a:p>
            <a:r>
              <a:rPr lang="en-US" sz="2800" dirty="0" smtClean="0"/>
              <a:t>also pass center sentence vector on each decoding step</a:t>
            </a:r>
            <a:endParaRPr lang="en-US" sz="2800" dirty="0"/>
          </a:p>
        </p:txBody>
      </p:sp>
      <p:pic>
        <p:nvPicPr>
          <p:cNvPr id="10" name="Picture 9" descr="skipthough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2904"/>
            <a:ext cx="9144000" cy="1453896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6200" y="2433935"/>
            <a:ext cx="899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DD1010"/>
                </a:solidFill>
                <a:latin typeface="Calibri"/>
                <a:cs typeface="Calibri"/>
              </a:rPr>
              <a:t>…I got back home  </a:t>
            </a:r>
            <a:r>
              <a:rPr lang="en-US" sz="2400" dirty="0" smtClean="0">
                <a:latin typeface="Calibri"/>
                <a:cs typeface="Calibri"/>
              </a:rPr>
              <a:t> I could see the cat on the steps   </a:t>
            </a:r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This was strange …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57200" y="5634335"/>
            <a:ext cx="868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Kiros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Zhu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Salakhutdinov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Zemel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Torralba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Urtasun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Fidler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 (2015)</a:t>
            </a:r>
          </a:p>
        </p:txBody>
      </p:sp>
    </p:spTree>
    <p:extLst>
      <p:ext uri="{BB962C8B-B14F-4D97-AF65-F5344CB8AC3E}">
        <p14:creationId xmlns:p14="http://schemas.microsoft.com/office/powerpoint/2010/main" val="2269449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Skip-Thoughts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505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query sentence: </a:t>
            </a:r>
          </a:p>
          <a:p>
            <a:pPr marL="0" indent="0">
              <a:buNone/>
            </a:pPr>
            <a:r>
              <a:rPr lang="en-US" sz="2800" i="1" dirty="0" err="1" smtClean="0"/>
              <a:t>im</a:t>
            </a:r>
            <a:r>
              <a:rPr lang="en-US" sz="2800" i="1" dirty="0" smtClean="0"/>
              <a:t> </a:t>
            </a:r>
            <a:r>
              <a:rPr lang="en-US" sz="2800" i="1" dirty="0"/>
              <a:t>sure </a:t>
            </a:r>
            <a:r>
              <a:rPr lang="en-US" sz="2800" i="1" dirty="0" err="1"/>
              <a:t>youll</a:t>
            </a:r>
            <a:r>
              <a:rPr lang="en-US" sz="2800" i="1" dirty="0"/>
              <a:t> have a glamorous evening , she said , giving an exaggerated wink .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b="1" dirty="0" smtClean="0"/>
              <a:t>nearest neighbor:</a:t>
            </a:r>
          </a:p>
          <a:p>
            <a:pPr marL="0" indent="0">
              <a:buNone/>
            </a:pPr>
            <a:r>
              <a:rPr lang="en-US" sz="2800" i="1" dirty="0" err="1" smtClean="0"/>
              <a:t>im</a:t>
            </a:r>
            <a:r>
              <a:rPr lang="en-US" sz="2800" i="1" dirty="0" smtClean="0"/>
              <a:t> </a:t>
            </a:r>
            <a:r>
              <a:rPr lang="en-US" sz="2800" i="1" dirty="0"/>
              <a:t>really glad you came to the party tonight , he said , turning to her </a:t>
            </a:r>
            <a:r>
              <a:rPr lang="en-US" sz="2800" i="1" dirty="0" smtClean="0"/>
              <a:t>.</a:t>
            </a:r>
            <a:endParaRPr lang="en-US" sz="2800" i="1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" y="5634335"/>
            <a:ext cx="868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Kiros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Zhu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Salakhutdinov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Zemel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Torralba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Urtasun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Fidler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 (2015)</a:t>
            </a:r>
          </a:p>
        </p:txBody>
      </p:sp>
    </p:spTree>
    <p:extLst>
      <p:ext uri="{BB962C8B-B14F-4D97-AF65-F5344CB8AC3E}">
        <p14:creationId xmlns:p14="http://schemas.microsoft.com/office/powerpoint/2010/main" val="2141310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Skip-Thoughts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505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query sentence: </a:t>
            </a:r>
          </a:p>
          <a:p>
            <a:pPr marL="0" indent="0">
              <a:buNone/>
            </a:pPr>
            <a:r>
              <a:rPr lang="en-US" sz="2800" i="1" dirty="0"/>
              <a:t>if he had a weapon , he could maybe take out their last imp , and then beat up </a:t>
            </a:r>
            <a:r>
              <a:rPr lang="en-US" sz="2800" i="1" dirty="0" err="1"/>
              <a:t>errol</a:t>
            </a:r>
            <a:r>
              <a:rPr lang="en-US" sz="2800" i="1" dirty="0"/>
              <a:t> and </a:t>
            </a:r>
            <a:r>
              <a:rPr lang="en-US" sz="2800" i="1" dirty="0" err="1"/>
              <a:t>vanessa</a:t>
            </a:r>
            <a:r>
              <a:rPr lang="en-US" sz="2800" i="1" dirty="0"/>
              <a:t> </a:t>
            </a:r>
            <a:r>
              <a:rPr lang="en-US" sz="2800" i="1" dirty="0" smtClean="0"/>
              <a:t>.</a:t>
            </a:r>
            <a:endParaRPr lang="en-US" sz="2800" i="1" dirty="0"/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b="1" dirty="0" smtClean="0"/>
              <a:t>nearest neighbor:</a:t>
            </a:r>
          </a:p>
          <a:p>
            <a:pPr marL="0" indent="0">
              <a:buNone/>
            </a:pPr>
            <a:r>
              <a:rPr lang="en-US" sz="2800" i="1" dirty="0"/>
              <a:t>if he could ram them from behind , send them sailing over the far side of the levee , he had a chance of stopping them .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" y="5634335"/>
            <a:ext cx="868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Kiros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Zhu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Salakhutdinov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Zemel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Torralba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Urtasun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Fidler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 (2015)</a:t>
            </a:r>
          </a:p>
        </p:txBody>
      </p:sp>
    </p:spTree>
    <p:extLst>
      <p:ext uri="{BB962C8B-B14F-4D97-AF65-F5344CB8AC3E}">
        <p14:creationId xmlns:p14="http://schemas.microsoft.com/office/powerpoint/2010/main" val="4067258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511696"/>
              </p:ext>
            </p:extLst>
          </p:nvPr>
        </p:nvGraphicFramePr>
        <p:xfrm>
          <a:off x="237067" y="838200"/>
          <a:ext cx="8678333" cy="2743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Skip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Thought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  <a:p>
            <a:pPr algn="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Wieting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Bansal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Gimpel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Livescu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7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FastSent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3540"/>
            <a:ext cx="9144000" cy="14027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encode center sentence using sum</a:t>
            </a:r>
          </a:p>
          <a:p>
            <a:r>
              <a:rPr lang="en-US" sz="2800" dirty="0" smtClean="0"/>
              <a:t>decode to predict words in neighboring sentences</a:t>
            </a:r>
          </a:p>
          <a:p>
            <a:r>
              <a:rPr lang="en-US" sz="2800" dirty="0" smtClean="0"/>
              <a:t>different embedding spaces for “input” and “output” words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200" y="2362099"/>
            <a:ext cx="899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DD1010"/>
                </a:solidFill>
                <a:latin typeface="Calibri"/>
                <a:cs typeface="Calibri"/>
              </a:rPr>
              <a:t>…I got back home  </a:t>
            </a:r>
            <a:r>
              <a:rPr lang="en-US" sz="2400" dirty="0" smtClean="0">
                <a:latin typeface="Calibri"/>
                <a:cs typeface="Calibri"/>
              </a:rPr>
              <a:t> I could see the cat on the steps   </a:t>
            </a:r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This was strange …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000500" y="6235700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  <p:sp>
        <p:nvSpPr>
          <p:cNvPr id="39" name="Rounded Rectangle 38"/>
          <p:cNvSpPr/>
          <p:nvPr/>
        </p:nvSpPr>
        <p:spPr>
          <a:xfrm rot="5400000">
            <a:off x="4171950" y="3736377"/>
            <a:ext cx="381000" cy="14859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/>
          <p:cNvSpPr/>
          <p:nvPr/>
        </p:nvSpPr>
        <p:spPr>
          <a:xfrm rot="5400000">
            <a:off x="4432300" y="436502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7" name="Straight Connector 46"/>
          <p:cNvCxnSpPr>
            <a:endCxn id="39" idx="3"/>
          </p:cNvCxnSpPr>
          <p:nvPr/>
        </p:nvCxnSpPr>
        <p:spPr bwMode="auto">
          <a:xfrm flipV="1">
            <a:off x="2667000" y="4669827"/>
            <a:ext cx="16954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>
            <a:endCxn id="39" idx="3"/>
          </p:cNvCxnSpPr>
          <p:nvPr/>
        </p:nvCxnSpPr>
        <p:spPr bwMode="auto">
          <a:xfrm flipH="1" flipV="1">
            <a:off x="4362450" y="4669827"/>
            <a:ext cx="16573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Connector 51"/>
          <p:cNvCxnSpPr>
            <a:endCxn id="39" idx="3"/>
          </p:cNvCxnSpPr>
          <p:nvPr/>
        </p:nvCxnSpPr>
        <p:spPr bwMode="auto">
          <a:xfrm flipV="1">
            <a:off x="3124200" y="4669827"/>
            <a:ext cx="12382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>
            <a:endCxn id="39" idx="3"/>
          </p:cNvCxnSpPr>
          <p:nvPr/>
        </p:nvCxnSpPr>
        <p:spPr bwMode="auto">
          <a:xfrm flipV="1">
            <a:off x="3733800" y="4669827"/>
            <a:ext cx="6286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/>
          <p:nvPr/>
        </p:nvSpPr>
        <p:spPr>
          <a:xfrm>
            <a:off x="4508500" y="48984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 smtClean="0"/>
              <a:t>…</a:t>
            </a:r>
            <a:endParaRPr lang="en-US" i="0" dirty="0"/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2425700" y="5309292"/>
            <a:ext cx="403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latin typeface="Calibri"/>
                <a:cs typeface="Calibri"/>
              </a:rPr>
              <a:t>I could see the cat on the steps</a:t>
            </a:r>
          </a:p>
        </p:txBody>
      </p:sp>
      <p:sp>
        <p:nvSpPr>
          <p:cNvPr id="57" name="Oval 56"/>
          <p:cNvSpPr/>
          <p:nvPr/>
        </p:nvSpPr>
        <p:spPr>
          <a:xfrm rot="5400000">
            <a:off x="4753402" y="436502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6" name="Oval 65"/>
          <p:cNvSpPr/>
          <p:nvPr/>
        </p:nvSpPr>
        <p:spPr>
          <a:xfrm rot="5400000">
            <a:off x="3759200" y="436502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7" name="Oval 66"/>
          <p:cNvSpPr/>
          <p:nvPr/>
        </p:nvSpPr>
        <p:spPr>
          <a:xfrm rot="5400000">
            <a:off x="4102100" y="436502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1955800" y="3614189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DD1010"/>
                </a:solidFill>
                <a:latin typeface="Calibri"/>
                <a:cs typeface="Calibri"/>
              </a:rPr>
              <a:t>home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127750" y="3645498"/>
            <a:ext cx="800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was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81" name="Freeform 80"/>
          <p:cNvSpPr/>
          <p:nvPr/>
        </p:nvSpPr>
        <p:spPr>
          <a:xfrm>
            <a:off x="4330700" y="3322612"/>
            <a:ext cx="21082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1"/>
          <p:cNvSpPr/>
          <p:nvPr/>
        </p:nvSpPr>
        <p:spPr>
          <a:xfrm>
            <a:off x="4483100" y="3335312"/>
            <a:ext cx="30988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7372350" y="3622424"/>
            <a:ext cx="1333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strange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84" name="Freeform 83"/>
          <p:cNvSpPr/>
          <p:nvPr/>
        </p:nvSpPr>
        <p:spPr>
          <a:xfrm flipH="1">
            <a:off x="2540000" y="3335312"/>
            <a:ext cx="17653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24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085167" y="2865452"/>
            <a:ext cx="651302" cy="15461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7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FastSent</a:t>
            </a:r>
            <a:r>
              <a:rPr lang="en-US" dirty="0" smtClean="0"/>
              <a:t> + </a:t>
            </a:r>
            <a:r>
              <a:rPr lang="en-US" dirty="0" err="1" smtClean="0"/>
              <a:t>Autoencoder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3540"/>
            <a:ext cx="9144000" cy="14027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encode center sentence using sum</a:t>
            </a:r>
          </a:p>
          <a:p>
            <a:r>
              <a:rPr lang="en-US" sz="2800" dirty="0" smtClean="0"/>
              <a:t>decode to predict words in </a:t>
            </a:r>
            <a:r>
              <a:rPr lang="en-US" sz="2800" b="1" dirty="0" err="1" smtClean="0"/>
              <a:t>current+</a:t>
            </a:r>
            <a:r>
              <a:rPr lang="en-US" sz="2800" dirty="0" err="1" smtClean="0"/>
              <a:t>neighboring</a:t>
            </a:r>
            <a:r>
              <a:rPr lang="en-US" sz="2800" dirty="0" smtClean="0"/>
              <a:t> sentences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6200" y="2040372"/>
            <a:ext cx="899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DD1010"/>
                </a:solidFill>
                <a:latin typeface="Calibri"/>
                <a:cs typeface="Calibri"/>
              </a:rPr>
              <a:t>…I got back home  </a:t>
            </a:r>
            <a:r>
              <a:rPr lang="en-US" sz="2400" dirty="0" smtClean="0">
                <a:latin typeface="Calibri"/>
                <a:cs typeface="Calibri"/>
              </a:rPr>
              <a:t> I could see the cat on the steps   </a:t>
            </a:r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This was strange …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000500" y="6235700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  <p:sp>
        <p:nvSpPr>
          <p:cNvPr id="39" name="Rounded Rectangle 38"/>
          <p:cNvSpPr/>
          <p:nvPr/>
        </p:nvSpPr>
        <p:spPr>
          <a:xfrm rot="5400000">
            <a:off x="4171950" y="3821042"/>
            <a:ext cx="381000" cy="14859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/>
          <p:cNvSpPr/>
          <p:nvPr/>
        </p:nvSpPr>
        <p:spPr>
          <a:xfrm rot="5400000">
            <a:off x="4432300" y="444969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7" name="Straight Connector 46"/>
          <p:cNvCxnSpPr>
            <a:endCxn id="39" idx="3"/>
          </p:cNvCxnSpPr>
          <p:nvPr/>
        </p:nvCxnSpPr>
        <p:spPr bwMode="auto">
          <a:xfrm flipV="1">
            <a:off x="2667000" y="4754492"/>
            <a:ext cx="16954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>
            <a:endCxn id="39" idx="3"/>
          </p:cNvCxnSpPr>
          <p:nvPr/>
        </p:nvCxnSpPr>
        <p:spPr bwMode="auto">
          <a:xfrm flipH="1" flipV="1">
            <a:off x="4362450" y="4754492"/>
            <a:ext cx="16573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Connector 51"/>
          <p:cNvCxnSpPr>
            <a:endCxn id="39" idx="3"/>
          </p:cNvCxnSpPr>
          <p:nvPr/>
        </p:nvCxnSpPr>
        <p:spPr bwMode="auto">
          <a:xfrm flipV="1">
            <a:off x="3124200" y="4754492"/>
            <a:ext cx="12382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>
            <a:endCxn id="39" idx="3"/>
          </p:cNvCxnSpPr>
          <p:nvPr/>
        </p:nvCxnSpPr>
        <p:spPr bwMode="auto">
          <a:xfrm flipV="1">
            <a:off x="3733800" y="4754492"/>
            <a:ext cx="62865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/>
          <p:nvPr/>
        </p:nvSpPr>
        <p:spPr>
          <a:xfrm>
            <a:off x="4508500" y="49830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0" dirty="0" smtClean="0"/>
              <a:t>…</a:t>
            </a:r>
            <a:endParaRPr lang="en-US" i="0" dirty="0"/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2425700" y="5393957"/>
            <a:ext cx="403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latin typeface="Calibri"/>
                <a:cs typeface="Calibri"/>
              </a:rPr>
              <a:t>I could see the cat on the steps</a:t>
            </a:r>
          </a:p>
        </p:txBody>
      </p:sp>
      <p:sp>
        <p:nvSpPr>
          <p:cNvPr id="57" name="Oval 56"/>
          <p:cNvSpPr/>
          <p:nvPr/>
        </p:nvSpPr>
        <p:spPr>
          <a:xfrm rot="5400000">
            <a:off x="4753402" y="444969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6" name="Oval 65"/>
          <p:cNvSpPr/>
          <p:nvPr/>
        </p:nvSpPr>
        <p:spPr>
          <a:xfrm rot="5400000">
            <a:off x="3759200" y="444969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7" name="Oval 66"/>
          <p:cNvSpPr/>
          <p:nvPr/>
        </p:nvSpPr>
        <p:spPr>
          <a:xfrm rot="5400000">
            <a:off x="4102100" y="444969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1955800" y="3698854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DD1010"/>
                </a:solidFill>
                <a:latin typeface="Calibri"/>
                <a:cs typeface="Calibri"/>
              </a:rPr>
              <a:t>home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6127750" y="3730163"/>
            <a:ext cx="800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was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81" name="Freeform 80"/>
          <p:cNvSpPr/>
          <p:nvPr/>
        </p:nvSpPr>
        <p:spPr>
          <a:xfrm>
            <a:off x="4330700" y="3407277"/>
            <a:ext cx="21082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1"/>
          <p:cNvSpPr/>
          <p:nvPr/>
        </p:nvSpPr>
        <p:spPr>
          <a:xfrm>
            <a:off x="4483100" y="3419977"/>
            <a:ext cx="30988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7372350" y="3707089"/>
            <a:ext cx="1333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008000"/>
                </a:solidFill>
                <a:latin typeface="Calibri"/>
                <a:cs typeface="Calibri"/>
              </a:rPr>
              <a:t>strange</a:t>
            </a:r>
            <a:endParaRPr lang="en-US" sz="2400" dirty="0" smtClean="0">
              <a:latin typeface="Calibri"/>
              <a:cs typeface="Calibri"/>
            </a:endParaRPr>
          </a:p>
        </p:txBody>
      </p:sp>
      <p:sp>
        <p:nvSpPr>
          <p:cNvPr id="84" name="Freeform 83"/>
          <p:cNvSpPr/>
          <p:nvPr/>
        </p:nvSpPr>
        <p:spPr>
          <a:xfrm flipH="1">
            <a:off x="2540000" y="3419977"/>
            <a:ext cx="1765300" cy="953515"/>
          </a:xfrm>
          <a:custGeom>
            <a:avLst/>
            <a:gdLst>
              <a:gd name="connsiteX0" fmla="*/ 0 w 2108200"/>
              <a:gd name="connsiteY0" fmla="*/ 953515 h 953515"/>
              <a:gd name="connsiteX1" fmla="*/ 1054100 w 2108200"/>
              <a:gd name="connsiteY1" fmla="*/ 13715 h 953515"/>
              <a:gd name="connsiteX2" fmla="*/ 2108200 w 2108200"/>
              <a:gd name="connsiteY2" fmla="*/ 369315 h 95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8200" h="953515">
                <a:moveTo>
                  <a:pt x="0" y="953515"/>
                </a:moveTo>
                <a:cubicBezTo>
                  <a:pt x="351366" y="532298"/>
                  <a:pt x="702733" y="111082"/>
                  <a:pt x="1054100" y="13715"/>
                </a:cubicBezTo>
                <a:cubicBezTo>
                  <a:pt x="1405467" y="-83652"/>
                  <a:pt x="2108200" y="369315"/>
                  <a:pt x="2108200" y="369315"/>
                </a:cubicBezTo>
              </a:path>
            </a:pathLst>
          </a:custGeom>
          <a:ln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895298" y="2814653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dirty="0" smtClean="0">
                <a:latin typeface="Calibri"/>
                <a:cs typeface="Calibri"/>
              </a:rPr>
              <a:t>cat</a:t>
            </a:r>
          </a:p>
        </p:txBody>
      </p:sp>
      <p:cxnSp>
        <p:nvCxnSpPr>
          <p:cNvPr id="26" name="Straight Connector 25"/>
          <p:cNvCxnSpPr>
            <a:stCxn id="84" idx="0"/>
            <a:endCxn id="24" idx="2"/>
          </p:cNvCxnSpPr>
          <p:nvPr/>
        </p:nvCxnSpPr>
        <p:spPr bwMode="auto">
          <a:xfrm flipV="1">
            <a:off x="4305300" y="3276318"/>
            <a:ext cx="104348" cy="10971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57176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1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Evaluation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548905"/>
              </p:ext>
            </p:extLst>
          </p:nvPr>
        </p:nvGraphicFramePr>
        <p:xfrm>
          <a:off x="237067" y="838200"/>
          <a:ext cx="8678333" cy="3657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233333"/>
                <a:gridCol w="1845733"/>
                <a:gridCol w="25992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Skip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Thought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FastSent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FastSent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+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  <a:p>
            <a:pPr algn="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Wieting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Bansal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Gimpel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Livescu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447891"/>
              </p:ext>
            </p:extLst>
          </p:nvPr>
        </p:nvGraphicFramePr>
        <p:xfrm>
          <a:off x="237067" y="185751"/>
          <a:ext cx="8678333" cy="4114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854909"/>
                <a:gridCol w="1514775"/>
                <a:gridCol w="23086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Skip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Thought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FastSent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FastSent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+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C-PHRASE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  <a:p>
            <a:pPr algn="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Wieting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Bansal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Gimpel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Livescu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987332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289407"/>
              </p:ext>
            </p:extLst>
          </p:nvPr>
        </p:nvGraphicFramePr>
        <p:xfrm>
          <a:off x="237067" y="185751"/>
          <a:ext cx="8678333" cy="4572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854909"/>
                <a:gridCol w="1514775"/>
                <a:gridCol w="23086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Skip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Thought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FastSent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FastSent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+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C-PHRASE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Avg. </a:t>
                      </a:r>
                      <a:r>
                        <a:rPr lang="en-US" sz="2400" dirty="0" err="1" smtClean="0"/>
                        <a:t>pretrained</a:t>
                      </a:r>
                      <a:r>
                        <a:rPr lang="en-US" sz="2400" dirty="0" smtClean="0"/>
                        <a:t> word </a:t>
                      </a:r>
                      <a:r>
                        <a:rPr lang="en-US" sz="2400" dirty="0" err="1" smtClean="0"/>
                        <a:t>embeddings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65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  <a:p>
            <a:pPr algn="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Wieting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Bansal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Gimpel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Livescu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782811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4547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Paraphrase Database (PPDB)</a:t>
            </a:r>
            <a:br>
              <a:rPr lang="en-US" dirty="0" smtClean="0"/>
            </a:br>
            <a:r>
              <a:rPr lang="en-US" sz="2400" dirty="0" smtClean="0">
                <a:solidFill>
                  <a:srgbClr val="0062AC"/>
                </a:solidFill>
              </a:rPr>
              <a:t>(</a:t>
            </a:r>
            <a:r>
              <a:rPr lang="en-US" sz="2400" dirty="0" err="1" smtClean="0">
                <a:solidFill>
                  <a:srgbClr val="0062AC"/>
                </a:solidFill>
              </a:rPr>
              <a:t>Ganitkevitch</a:t>
            </a:r>
            <a:r>
              <a:rPr lang="en-US" sz="2400" dirty="0" smtClean="0">
                <a:solidFill>
                  <a:srgbClr val="0062AC"/>
                </a:solidFill>
              </a:rPr>
              <a:t>, Van </a:t>
            </a:r>
            <a:r>
              <a:rPr lang="en-US" sz="2400" dirty="0" err="1" smtClean="0">
                <a:solidFill>
                  <a:srgbClr val="0062AC"/>
                </a:solidFill>
              </a:rPr>
              <a:t>Durme</a:t>
            </a:r>
            <a:r>
              <a:rPr lang="en-US" sz="2400" dirty="0" smtClean="0">
                <a:solidFill>
                  <a:srgbClr val="0062AC"/>
                </a:solidFill>
              </a:rPr>
              <a:t>, and </a:t>
            </a:r>
            <a:r>
              <a:rPr lang="en-US" sz="2400" dirty="0" err="1" smtClean="0">
                <a:solidFill>
                  <a:srgbClr val="0062AC"/>
                </a:solidFill>
              </a:rPr>
              <a:t>Callison</a:t>
            </a:r>
            <a:r>
              <a:rPr lang="en-US" sz="2400" dirty="0" smtClean="0">
                <a:solidFill>
                  <a:srgbClr val="0062AC"/>
                </a:solidFill>
              </a:rPr>
              <a:t>-Burch, 2013)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872817" y="5943600"/>
            <a:ext cx="32711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credit: Chris </a:t>
            </a:r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Callison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-Burch</a:t>
            </a:r>
          </a:p>
        </p:txBody>
      </p:sp>
      <p:pic>
        <p:nvPicPr>
          <p:cNvPr id="3" name="Picture 2" descr="ppdb-figure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24000"/>
            <a:ext cx="6458993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99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525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Training Data: phrase pairs from PPDB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		</a:t>
            </a:r>
            <a:r>
              <a:rPr lang="en-US" sz="2400" dirty="0" smtClean="0">
                <a:solidFill>
                  <a:srgbClr val="0062AC"/>
                </a:solidFill>
              </a:rPr>
              <a:t>tens of millions more!</a:t>
            </a:r>
            <a:endParaRPr lang="en-US" sz="2800" dirty="0" smtClean="0">
              <a:solidFill>
                <a:srgbClr val="0062AC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31858"/>
              </p:ext>
            </p:extLst>
          </p:nvPr>
        </p:nvGraphicFramePr>
        <p:xfrm>
          <a:off x="1545679" y="1066800"/>
          <a:ext cx="5715000" cy="25603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857500"/>
                <a:gridCol w="2857500"/>
              </a:tblGrid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good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great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be given the opportunity to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have the possibility of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i</a:t>
                      </a: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 can hardly hear you .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you 're breaking up .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and the establishment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as well as the development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70C0"/>
                          </a:solidFill>
                          <a:latin typeface="Calibri"/>
                          <a:ea typeface="+mn-ea"/>
                          <a:cs typeface="Calibri"/>
                        </a:rPr>
                        <a:t>laying the foundations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rgbClr val="0070C0"/>
                          </a:solidFill>
                          <a:latin typeface="Calibri"/>
                          <a:ea typeface="+mn-ea"/>
                          <a:cs typeface="Calibri"/>
                        </a:rPr>
                        <a:t>pave the way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70C0"/>
                          </a:solidFill>
                          <a:latin typeface="Calibri"/>
                          <a:ea typeface="+mn-ea"/>
                          <a:cs typeface="Calibri"/>
                        </a:rPr>
                        <a:t>making every effort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rgbClr val="0070C0"/>
                          </a:solidFill>
                          <a:latin typeface="Calibri"/>
                          <a:ea typeface="+mn-ea"/>
                          <a:cs typeface="Calibri"/>
                        </a:rPr>
                        <a:t>to do its utmost</a:t>
                      </a:r>
                      <a:endParaRPr lang="en-US" sz="1800" b="0" dirty="0" smtClean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10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146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592404"/>
              </p:ext>
            </p:extLst>
          </p:nvPr>
        </p:nvGraphicFramePr>
        <p:xfrm>
          <a:off x="237067" y="185751"/>
          <a:ext cx="8678333" cy="5029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854909"/>
                <a:gridCol w="1514775"/>
                <a:gridCol w="230864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Sentence Embedding Model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STS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Paragraph Vector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70.4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75.9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LSTM </a:t>
                      </a:r>
                      <a:r>
                        <a:rPr lang="en-US" sz="2400" dirty="0" err="1" smtClean="0"/>
                        <a:t>Denoising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78.9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Neural MT 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76.9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Skip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Thought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FastSent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64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FastSent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+ </a:t>
                      </a:r>
                      <a:r>
                        <a:rPr lang="en-US" sz="24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Autoencoder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79.7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C-PHRASE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Avg. </a:t>
                      </a:r>
                      <a:r>
                        <a:rPr lang="en-US" sz="2400" dirty="0" err="1" smtClean="0"/>
                        <a:t>pretrained</a:t>
                      </a:r>
                      <a:r>
                        <a:rPr lang="en-US" sz="2400" dirty="0" smtClean="0"/>
                        <a:t> word </a:t>
                      </a:r>
                      <a:r>
                        <a:rPr lang="en-US" sz="2400" dirty="0" err="1" smtClean="0"/>
                        <a:t>embeddings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65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Ours (avg. trained on PPDB)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N/A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57500" y="5471180"/>
            <a:ext cx="60579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/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Hill, Cho,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Korhonen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  <a:p>
            <a:pPr algn="r" eaLnBrk="1" hangingPunct="1"/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Wieting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Bansal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Gimpel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, </a:t>
            </a:r>
            <a:r>
              <a:rPr lang="en-US" sz="2800" i="0" dirty="0" err="1" smtClean="0">
                <a:solidFill>
                  <a:srgbClr val="0062AC"/>
                </a:solidFill>
                <a:latin typeface="Calibri"/>
                <a:cs typeface="Calibri"/>
              </a:rPr>
              <a:t>Livescu</a:t>
            </a:r>
            <a:r>
              <a:rPr lang="en-US" sz="2800" i="0" dirty="0" smtClean="0">
                <a:solidFill>
                  <a:srgbClr val="0062AC"/>
                </a:solidFill>
                <a:latin typeface="Calibri"/>
                <a:cs typeface="Calibri"/>
              </a:rPr>
              <a:t> (2016)</a:t>
            </a:r>
          </a:p>
        </p:txBody>
      </p:sp>
    </p:spTree>
    <p:extLst>
      <p:ext uri="{BB962C8B-B14F-4D97-AF65-F5344CB8AC3E}">
        <p14:creationId xmlns:p14="http://schemas.microsoft.com/office/powerpoint/2010/main" val="14027599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58214</TotalTime>
  <Words>1463</Words>
  <Application>Microsoft Macintosh PowerPoint</Application>
  <PresentationFormat>On-screen Show (4:3)</PresentationFormat>
  <Paragraphs>415</Paragraphs>
  <Slides>47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TTIC 31210: Advanced Natural Language Processing</vt:lpstr>
      <vt:lpstr>Recurrent Neural Networks</vt:lpstr>
      <vt:lpstr>“Output” Recurrent Neural Networks</vt:lpstr>
      <vt:lpstr>“Output” Recurrent Neural Networks</vt:lpstr>
      <vt:lpstr>PowerPoint Presentation</vt:lpstr>
      <vt:lpstr>Example: Language Modeling</vt:lpstr>
      <vt:lpstr>Language Modeling: Training</vt:lpstr>
      <vt:lpstr>Language Modeling: Training</vt:lpstr>
      <vt:lpstr>Language Modeling: Decoding</vt:lpstr>
      <vt:lpstr>Language Modeling: Decoding</vt:lpstr>
      <vt:lpstr>Language Modeling: Decoding</vt:lpstr>
      <vt:lpstr>Language Modeling: Decoding</vt:lpstr>
      <vt:lpstr>Concern</vt:lpstr>
      <vt:lpstr>Sequence-to-Sequence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Unsupervised Sentence Models</vt:lpstr>
      <vt:lpstr>Evaluation 1: Semantic Textual Similarity (STS)</vt:lpstr>
      <vt:lpstr>Paragraph Vectors</vt:lpstr>
      <vt:lpstr>Evaluation</vt:lpstr>
      <vt:lpstr>Sentence Autoencoders</vt:lpstr>
      <vt:lpstr>Recursive Neural Net Autoencoders</vt:lpstr>
      <vt:lpstr>LSTM Autoencoders</vt:lpstr>
      <vt:lpstr>Evaluation</vt:lpstr>
      <vt:lpstr>LSTM Denoising Autoencoders</vt:lpstr>
      <vt:lpstr>Evaluation</vt:lpstr>
      <vt:lpstr>Other Training Criteria for Sentence Embeddings</vt:lpstr>
      <vt:lpstr>Neural Machine Translation</vt:lpstr>
      <vt:lpstr>Encoder as a Sentence Embedding Model?</vt:lpstr>
      <vt:lpstr>Encoder as a Sentence Embedding Model?</vt:lpstr>
      <vt:lpstr>PowerPoint Presentation</vt:lpstr>
      <vt:lpstr>Evaluation</vt:lpstr>
      <vt:lpstr>Skip-Thoughts</vt:lpstr>
      <vt:lpstr>Skip-Thoughts</vt:lpstr>
      <vt:lpstr>Skip-Thoughts</vt:lpstr>
      <vt:lpstr>Evaluation</vt:lpstr>
      <vt:lpstr>FastSent</vt:lpstr>
      <vt:lpstr>FastSent + Autoencoder</vt:lpstr>
      <vt:lpstr>Evaluation</vt:lpstr>
      <vt:lpstr>PowerPoint Presentation</vt:lpstr>
      <vt:lpstr>PowerPoint Presentation</vt:lpstr>
      <vt:lpstr>Paraphrase Database (PPDB) (Ganitkevitch, Van Durme, and Callison-Burch, 2013)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748</cp:revision>
  <dcterms:created xsi:type="dcterms:W3CDTF">2015-08-31T18:15:35Z</dcterms:created>
  <dcterms:modified xsi:type="dcterms:W3CDTF">2017-04-17T16:58:08Z</dcterms:modified>
</cp:coreProperties>
</file>