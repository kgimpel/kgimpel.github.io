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wdp" ContentType="image/vnd.ms-photo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352" r:id="rId3"/>
    <p:sldId id="259" r:id="rId4"/>
    <p:sldId id="542" r:id="rId5"/>
    <p:sldId id="543" r:id="rId6"/>
    <p:sldId id="555" r:id="rId7"/>
    <p:sldId id="557" r:id="rId8"/>
    <p:sldId id="591" r:id="rId9"/>
    <p:sldId id="713" r:id="rId10"/>
    <p:sldId id="714" r:id="rId11"/>
    <p:sldId id="703" r:id="rId12"/>
    <p:sldId id="715" r:id="rId13"/>
    <p:sldId id="716" r:id="rId14"/>
    <p:sldId id="700" r:id="rId15"/>
    <p:sldId id="701" r:id="rId16"/>
    <p:sldId id="702" r:id="rId17"/>
    <p:sldId id="582" r:id="rId18"/>
    <p:sldId id="590" r:id="rId19"/>
    <p:sldId id="721" r:id="rId20"/>
    <p:sldId id="599" r:id="rId21"/>
    <p:sldId id="600" r:id="rId22"/>
    <p:sldId id="602" r:id="rId23"/>
    <p:sldId id="722" r:id="rId24"/>
    <p:sldId id="603" r:id="rId25"/>
    <p:sldId id="604" r:id="rId26"/>
    <p:sldId id="605" r:id="rId27"/>
    <p:sldId id="606" r:id="rId28"/>
    <p:sldId id="706" r:id="rId29"/>
    <p:sldId id="708" r:id="rId30"/>
    <p:sldId id="723" r:id="rId31"/>
    <p:sldId id="709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0000"/>
    <a:srgbClr val="288C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48"/>
    <p:restoredTop sz="99344" autoAdjust="0"/>
  </p:normalViewPr>
  <p:slideViewPr>
    <p:cSldViewPr snapToGrid="0" snapToObjects="1">
      <p:cViewPr>
        <p:scale>
          <a:sx n="100" d="100"/>
          <a:sy n="100" d="100"/>
        </p:scale>
        <p:origin x="-3016" y="-6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notesMaster" Target="notesMasters/notesMaster1.xml"/><Relationship Id="rId34" Type="http://schemas.openxmlformats.org/officeDocument/2006/relationships/handoutMaster" Target="handoutMasters/handoutMaster1.xml"/><Relationship Id="rId35" Type="http://schemas.openxmlformats.org/officeDocument/2006/relationships/printerSettings" Target="printerSettings/printerSettings1.bin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4/11/17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4/11/17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These are nice because word similarities can be computed using distance functions in these continuous spaces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07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4/11/17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4/11/17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4/11/17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4/11/17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4/11/17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4/11/17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4/11/17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4/11/17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4/11/17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4/11/17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4/11/17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4/11/17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4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4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4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Relationship Id="rId3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4" Type="http://schemas.openxmlformats.org/officeDocument/2006/relationships/image" Target="../media/image14.emf"/><Relationship Id="rId5" Type="http://schemas.openxmlformats.org/officeDocument/2006/relationships/image" Target="../media/image15.emf"/><Relationship Id="rId6" Type="http://schemas.openxmlformats.org/officeDocument/2006/relationships/image" Target="../media/image16.emf"/><Relationship Id="rId7" Type="http://schemas.openxmlformats.org/officeDocument/2006/relationships/image" Target="../media/image17.emf"/><Relationship Id="rId8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emf"/><Relationship Id="rId3" Type="http://schemas.openxmlformats.org/officeDocument/2006/relationships/image" Target="../media/image19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4" Type="http://schemas.microsoft.com/office/2007/relationships/hdphoto" Target="../media/hdphoto1.wdp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emf"/><Relationship Id="rId3" Type="http://schemas.openxmlformats.org/officeDocument/2006/relationships/image" Target="../media/image25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emf"/><Relationship Id="rId3" Type="http://schemas.openxmlformats.org/officeDocument/2006/relationships/image" Target="../media/image29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emf"/><Relationship Id="rId3" Type="http://schemas.openxmlformats.org/officeDocument/2006/relationships/image" Target="../media/image32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4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4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4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TTIC 31210:</a:t>
            </a:r>
            <a:br>
              <a:rPr lang="en-US" dirty="0" smtClean="0"/>
            </a:br>
            <a:r>
              <a:rPr lang="en-US" sz="4000" dirty="0" smtClean="0"/>
              <a:t>Advanced Natural Language Processing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993900"/>
            <a:ext cx="6400800" cy="34036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Spring 2017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 smtClean="0">
                <a:solidFill>
                  <a:schemeClr val="tx1"/>
                </a:solidFill>
              </a:rPr>
              <a:t>Lecture 3:</a:t>
            </a:r>
          </a:p>
          <a:p>
            <a:r>
              <a:rPr lang="en-US" sz="4000" dirty="0" smtClean="0">
                <a:solidFill>
                  <a:schemeClr val="tx1"/>
                </a:solidFill>
              </a:rPr>
              <a:t>Word </a:t>
            </a:r>
            <a:r>
              <a:rPr lang="en-US" sz="4000" dirty="0" err="1" smtClean="0">
                <a:solidFill>
                  <a:schemeClr val="tx1"/>
                </a:solidFill>
              </a:rPr>
              <a:t>Embeddings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Assignment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Assignment 1 due tonight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2009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Roadmap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sz="2400" dirty="0" smtClean="0"/>
              <a:t>review of TTIC 31190 (week 1)</a:t>
            </a:r>
          </a:p>
          <a:p>
            <a:r>
              <a:rPr lang="en-US" sz="2400" b="1" dirty="0" smtClean="0"/>
              <a:t>deep learning for NLP (weeks 2-4)</a:t>
            </a:r>
          </a:p>
          <a:p>
            <a:r>
              <a:rPr lang="en-US" sz="2400" dirty="0" smtClean="0"/>
              <a:t>generative models &amp; Bayesian inference (week 5)</a:t>
            </a:r>
          </a:p>
          <a:p>
            <a:r>
              <a:rPr lang="en-US" sz="2400" dirty="0" smtClean="0"/>
              <a:t>Bayesian </a:t>
            </a:r>
            <a:r>
              <a:rPr lang="en-US" sz="2400" dirty="0" err="1" smtClean="0"/>
              <a:t>nonparametrics</a:t>
            </a:r>
            <a:r>
              <a:rPr lang="en-US" sz="2400" dirty="0" smtClean="0"/>
              <a:t> in NLP (week 6)</a:t>
            </a:r>
          </a:p>
          <a:p>
            <a:r>
              <a:rPr lang="en-US" sz="2400" dirty="0" smtClean="0"/>
              <a:t>EM for unsupervised NLP (week 7)</a:t>
            </a:r>
          </a:p>
          <a:p>
            <a:r>
              <a:rPr lang="en-US" sz="2400" dirty="0" smtClean="0"/>
              <a:t>syntax/semantics and structure prediction (weeks 8-9)</a:t>
            </a:r>
          </a:p>
          <a:p>
            <a:r>
              <a:rPr lang="en-US" sz="2400" dirty="0" smtClean="0"/>
              <a:t>applications (week 10)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1065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7898"/>
            <a:ext cx="8229600" cy="726831"/>
          </a:xfrm>
        </p:spPr>
        <p:txBody>
          <a:bodyPr>
            <a:normAutofit/>
          </a:bodyPr>
          <a:lstStyle/>
          <a:p>
            <a:r>
              <a:rPr lang="en-US" sz="3200" dirty="0" smtClean="0"/>
              <a:t>Neural Similarity Modeling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671" y="2319868"/>
            <a:ext cx="5019681" cy="457467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8229"/>
            <a:ext cx="8229600" cy="2471504"/>
          </a:xfrm>
        </p:spPr>
        <p:txBody>
          <a:bodyPr>
            <a:normAutofit/>
          </a:bodyPr>
          <a:lstStyle/>
          <a:p>
            <a:r>
              <a:rPr lang="en-US" sz="2800" dirty="0" smtClean="0"/>
              <a:t>“Siamese networks” (Bromley et al., 1993)</a:t>
            </a:r>
          </a:p>
          <a:p>
            <a:pPr lvl="1"/>
            <a:r>
              <a:rPr lang="en-US" sz="2400" dirty="0" smtClean="0"/>
              <a:t>two identical networks with shared parameters</a:t>
            </a:r>
          </a:p>
          <a:p>
            <a:pPr lvl="1"/>
            <a:r>
              <a:rPr lang="en-US" sz="2400" dirty="0" smtClean="0"/>
              <a:t>at end, similarity computed between two representations</a:t>
            </a:r>
          </a:p>
        </p:txBody>
      </p:sp>
    </p:spTree>
    <p:extLst>
      <p:ext uri="{BB962C8B-B14F-4D97-AF65-F5344CB8AC3E}">
        <p14:creationId xmlns:p14="http://schemas.microsoft.com/office/powerpoint/2010/main" val="6141408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Similarity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many choices for similarity functions</a:t>
            </a:r>
          </a:p>
          <a:p>
            <a:r>
              <a:rPr lang="en-US" dirty="0" smtClean="0"/>
              <a:t>we talked about some during </a:t>
            </a:r>
            <a:r>
              <a:rPr lang="en-US" dirty="0"/>
              <a:t>L</a:t>
            </a:r>
            <a:r>
              <a:rPr lang="en-US" dirty="0" smtClean="0"/>
              <a:t>ecture 2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0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Learning for Similarity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We want to learn input representation function       as well as any parameters of similarity function</a:t>
            </a:r>
          </a:p>
          <a:p>
            <a:r>
              <a:rPr lang="en-US" dirty="0" smtClean="0"/>
              <a:t>We’ll just write all these parameters as </a:t>
            </a:r>
          </a:p>
          <a:p>
            <a:r>
              <a:rPr lang="en-US" dirty="0" smtClean="0"/>
              <a:t>How about this loss? (loss </a:t>
            </a:r>
            <a:r>
              <a:rPr lang="en-US" dirty="0" smtClean="0"/>
              <a:t>A on your handout)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Any potential problems with this?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6066" y="2616200"/>
            <a:ext cx="2159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6067" y="1644651"/>
            <a:ext cx="355600" cy="381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8600" y="3814231"/>
            <a:ext cx="61468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9869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(Better) Learning for Similarity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Contrastive hinge loss (loss </a:t>
            </a:r>
            <a:r>
              <a:rPr lang="en-US" dirty="0"/>
              <a:t>B on </a:t>
            </a:r>
            <a:r>
              <a:rPr lang="en-US" dirty="0" smtClean="0"/>
              <a:t>handout</a:t>
            </a:r>
            <a:r>
              <a:rPr lang="en-US" dirty="0"/>
              <a:t>)</a:t>
            </a:r>
            <a:r>
              <a:rPr lang="en-US" dirty="0" smtClean="0"/>
              <a:t>: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    is a “negative” example</a:t>
            </a:r>
          </a:p>
          <a:p>
            <a:r>
              <a:rPr lang="en-US" dirty="0" smtClean="0"/>
              <a:t>Any potential problems with this?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900" y="3180852"/>
            <a:ext cx="2832100" cy="419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4244182"/>
            <a:ext cx="228600" cy="203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335" y="1900767"/>
            <a:ext cx="8856133" cy="837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3183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(Better) Learning for Similarity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Large-margin contrastive hinge loss: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     is the “margin”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900" y="3180852"/>
            <a:ext cx="2832100" cy="4191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768" y="4157133"/>
            <a:ext cx="317500" cy="304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335" y="1976969"/>
            <a:ext cx="8856133" cy="79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8888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(Better) Learning for Similarity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Large-margin contrastive hinge loss: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How should we choose negative examples?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5" y="1976969"/>
            <a:ext cx="8856133" cy="79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7699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(Better) Learning for Similarity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Large-margin contrastive hinge loss: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How should we choose negative examples?</a:t>
            </a:r>
          </a:p>
          <a:p>
            <a:pPr lvl="1"/>
            <a:r>
              <a:rPr lang="en-US" dirty="0" smtClean="0"/>
              <a:t>random: just pick </a:t>
            </a:r>
            <a:r>
              <a:rPr lang="en-US" i="1" dirty="0" smtClean="0"/>
              <a:t>v</a:t>
            </a:r>
            <a:r>
              <a:rPr lang="en-US" dirty="0" smtClean="0"/>
              <a:t> randomly from the data</a:t>
            </a:r>
          </a:p>
          <a:p>
            <a:pPr lvl="1"/>
            <a:r>
              <a:rPr lang="en-US" dirty="0" smtClean="0"/>
              <a:t>max: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many other ways depending on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10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5" y="1976969"/>
            <a:ext cx="8856133" cy="7975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3673" y="4605872"/>
            <a:ext cx="6585524" cy="77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1789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Aside: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 descr="Screen Shot 2017-04-06 at 7.42.5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6" y="1100679"/>
            <a:ext cx="9144000" cy="320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1346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Recurrent Neural Networks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295236" y="359986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33271" y="359062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59760" y="360448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98094" y="4042057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36129" y="4042057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97545" y="175490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4" name="Straight Arrow Connector 13"/>
          <p:cNvCxnSpPr>
            <a:stCxn id="13" idx="4"/>
            <a:endCxn id="5" idx="0"/>
          </p:cNvCxnSpPr>
          <p:nvPr/>
        </p:nvCxnSpPr>
        <p:spPr bwMode="auto">
          <a:xfrm flipH="1">
            <a:off x="2746665" y="2657760"/>
            <a:ext cx="2309" cy="94210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4135581" y="174566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5" name="Straight Arrow Connector 24"/>
          <p:cNvCxnSpPr>
            <a:stCxn id="24" idx="4"/>
            <a:endCxn id="6" idx="0"/>
          </p:cNvCxnSpPr>
          <p:nvPr/>
        </p:nvCxnSpPr>
        <p:spPr bwMode="auto">
          <a:xfrm flipH="1">
            <a:off x="4584700" y="2648524"/>
            <a:ext cx="2310" cy="94210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Oval 25"/>
          <p:cNvSpPr/>
          <p:nvPr/>
        </p:nvSpPr>
        <p:spPr>
          <a:xfrm>
            <a:off x="5959763" y="1757211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7" name="Straight Arrow Connector 26"/>
          <p:cNvCxnSpPr>
            <a:stCxn id="26" idx="4"/>
            <a:endCxn id="7" idx="0"/>
          </p:cNvCxnSpPr>
          <p:nvPr/>
        </p:nvCxnSpPr>
        <p:spPr bwMode="auto">
          <a:xfrm flipH="1">
            <a:off x="6411189" y="2660069"/>
            <a:ext cx="3" cy="944414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0" y="3744642"/>
            <a:ext cx="2297545" cy="553998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 smtClean="0">
                <a:solidFill>
                  <a:srgbClr val="C50C0C"/>
                </a:solidFill>
                <a:latin typeface="Calibri"/>
                <a:cs typeface="Calibri"/>
              </a:rPr>
              <a:t>“hidden vector”</a:t>
            </a:r>
            <a:endParaRPr lang="en-US" i="0" dirty="0" smtClean="0">
              <a:solidFill>
                <a:srgbClr val="C50C0C"/>
              </a:solidFill>
              <a:latin typeface="Calibri"/>
              <a:cs typeface="Calibri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233" y="3892351"/>
            <a:ext cx="2794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17" y="3892351"/>
            <a:ext cx="584200" cy="279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999" y="3892351"/>
            <a:ext cx="571500" cy="2794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8999" y="2049697"/>
            <a:ext cx="571500" cy="2794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4767" y="2049697"/>
            <a:ext cx="571500" cy="2794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9233" y="2049697"/>
            <a:ext cx="279400" cy="27940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68500" y="1134534"/>
            <a:ext cx="51943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2919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Recurrent Neural Networks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0" y="1134534"/>
            <a:ext cx="5194300" cy="558800"/>
          </a:xfrm>
          <a:prstGeom prst="rect">
            <a:avLst/>
          </a:prstGeom>
        </p:spPr>
      </p:pic>
      <p:sp>
        <p:nvSpPr>
          <p:cNvPr id="33" name="Title 1"/>
          <p:cNvSpPr txBox="1">
            <a:spLocks/>
          </p:cNvSpPr>
          <p:nvPr/>
        </p:nvSpPr>
        <p:spPr>
          <a:xfrm>
            <a:off x="508002" y="2508198"/>
            <a:ext cx="8229600" cy="11494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Multiplicative Integration </a:t>
            </a:r>
          </a:p>
          <a:p>
            <a:r>
              <a:rPr lang="en-US" dirty="0" smtClean="0"/>
              <a:t>Recurrent Neural Networks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500" y="4064000"/>
            <a:ext cx="51943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2822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 descr="Screen Shot 2017-04-06 at 7.42.5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6" y="0"/>
            <a:ext cx="9144000" cy="3204383"/>
          </a:xfrm>
          <a:prstGeom prst="rect">
            <a:avLst/>
          </a:prstGeom>
        </p:spPr>
      </p:pic>
      <p:pic>
        <p:nvPicPr>
          <p:cNvPr id="2" name="Picture 1" descr="Screen Shot 2017-04-07 at 11.25.41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42529"/>
            <a:ext cx="9144000" cy="400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0894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15</a:t>
            </a:fld>
            <a:endParaRPr lang="en-US"/>
          </a:p>
        </p:txBody>
      </p:sp>
      <p:pic>
        <p:nvPicPr>
          <p:cNvPr id="3" name="Picture 2" descr="Screen Shot 2017-04-07 at 11.34.09 A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85"/>
          <a:stretch/>
        </p:blipFill>
        <p:spPr>
          <a:xfrm>
            <a:off x="1380065" y="592666"/>
            <a:ext cx="6354789" cy="508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9030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16</a:t>
            </a:fld>
            <a:endParaRPr lang="en-US"/>
          </a:p>
        </p:txBody>
      </p:sp>
      <p:pic>
        <p:nvPicPr>
          <p:cNvPr id="2" name="Picture 1" descr="Screen Shot 2017-04-07 at 11.35.0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01800"/>
            <a:ext cx="9144000" cy="3444159"/>
          </a:xfrm>
          <a:prstGeom prst="rect">
            <a:avLst/>
          </a:prstGeom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502829" y="975384"/>
            <a:ext cx="2120900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3200" i="0" dirty="0" smtClean="0">
                <a:latin typeface="Calibri"/>
                <a:cs typeface="Calibri"/>
              </a:rPr>
              <a:t>RNN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990162" y="975384"/>
            <a:ext cx="2120900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3200" i="0" dirty="0" smtClean="0">
                <a:latin typeface="Calibri"/>
                <a:cs typeface="Calibri"/>
              </a:rPr>
              <a:t>MI-RNN</a:t>
            </a:r>
          </a:p>
        </p:txBody>
      </p:sp>
    </p:spTree>
    <p:extLst>
      <p:ext uri="{BB962C8B-B14F-4D97-AF65-F5344CB8AC3E}">
        <p14:creationId xmlns:p14="http://schemas.microsoft.com/office/powerpoint/2010/main" val="14765111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59664" t="47001" r="18104" b="35368"/>
          <a:stretch/>
        </p:blipFill>
        <p:spPr>
          <a:xfrm>
            <a:off x="80818" y="865926"/>
            <a:ext cx="9044768" cy="43041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2000" y="914400"/>
            <a:ext cx="1295400" cy="83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324600" y="5791200"/>
            <a:ext cx="285561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000" i="0" dirty="0" err="1" smtClean="0">
                <a:solidFill>
                  <a:srgbClr val="0062AC"/>
                </a:solidFill>
                <a:latin typeface="Calibri"/>
                <a:cs typeface="Calibri"/>
              </a:rPr>
              <a:t>Turian</a:t>
            </a:r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 et al.</a:t>
            </a:r>
            <a:r>
              <a:rPr lang="en-US" sz="2000" i="0" dirty="0">
                <a:solidFill>
                  <a:srgbClr val="0062AC"/>
                </a:solidFill>
                <a:latin typeface="Calibri"/>
                <a:cs typeface="Calibri"/>
              </a:rPr>
              <a:t> </a:t>
            </a:r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(2010)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534400" cy="990600"/>
          </a:xfrm>
        </p:spPr>
        <p:txBody>
          <a:bodyPr/>
          <a:lstStyle/>
          <a:p>
            <a:r>
              <a:rPr lang="en-US" sz="3200" dirty="0" smtClean="0"/>
              <a:t>Word </a:t>
            </a:r>
            <a:r>
              <a:rPr lang="en-US" sz="3200" dirty="0" err="1" smtClean="0"/>
              <a:t>Embeddings</a:t>
            </a:r>
            <a:endParaRPr lang="en-US" sz="2400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79430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26" y="152405"/>
            <a:ext cx="7665440" cy="3276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57200" y="3698409"/>
            <a:ext cx="8229600" cy="2685460"/>
          </a:xfrm>
        </p:spPr>
        <p:txBody>
          <a:bodyPr>
            <a:normAutofit/>
          </a:bodyPr>
          <a:lstStyle/>
          <a:p>
            <a:r>
              <a:rPr lang="en-US" dirty="0" smtClean="0"/>
              <a:t>idea: use a neural network for </a:t>
            </a:r>
            <a:r>
              <a:rPr lang="en-US" i="1" dirty="0" smtClean="0"/>
              <a:t>n</a:t>
            </a:r>
            <a:r>
              <a:rPr lang="en-US" dirty="0" smtClean="0"/>
              <a:t>-gram language modeling: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600" y="4974166"/>
            <a:ext cx="53721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4987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26" y="152405"/>
            <a:ext cx="7665440" cy="3276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57200" y="3800007"/>
            <a:ext cx="8229600" cy="2685460"/>
          </a:xfrm>
        </p:spPr>
        <p:txBody>
          <a:bodyPr>
            <a:normAutofit/>
          </a:bodyPr>
          <a:lstStyle/>
          <a:p>
            <a:r>
              <a:rPr lang="en-US" dirty="0" smtClean="0"/>
              <a:t>this is not the earliest paper on using neural networks for </a:t>
            </a:r>
            <a:r>
              <a:rPr lang="en-US" i="1" dirty="0" smtClean="0"/>
              <a:t>n</a:t>
            </a:r>
            <a:r>
              <a:rPr lang="en-US" dirty="0" smtClean="0"/>
              <a:t>-gram language models, but it’s the most well-known and first to scale up</a:t>
            </a:r>
          </a:p>
          <a:p>
            <a:r>
              <a:rPr lang="en-US" dirty="0" smtClean="0"/>
              <a:t>see paper for citations of earlier work</a:t>
            </a:r>
          </a:p>
        </p:txBody>
      </p:sp>
    </p:spTree>
    <p:extLst>
      <p:ext uri="{BB962C8B-B14F-4D97-AF65-F5344CB8AC3E}">
        <p14:creationId xmlns:p14="http://schemas.microsoft.com/office/powerpoint/2010/main" val="34397765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Neural Probabilistic Language Models</a:t>
            </a:r>
            <a:br>
              <a:rPr lang="en-US" dirty="0" smtClean="0"/>
            </a:br>
            <a:r>
              <a:rPr lang="en-US" sz="3600" dirty="0" smtClean="0"/>
              <a:t>(</a:t>
            </a:r>
            <a:r>
              <a:rPr lang="en-US" sz="3600" dirty="0" err="1" smtClean="0"/>
              <a:t>Bengio</a:t>
            </a:r>
            <a:r>
              <a:rPr lang="en-US" sz="3600" dirty="0" smtClean="0"/>
              <a:t> et al., 2003)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9" y="1621367"/>
            <a:ext cx="8737593" cy="352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0134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799"/>
            <a:ext cx="8229600" cy="501702"/>
          </a:xfrm>
        </p:spPr>
        <p:txBody>
          <a:bodyPr>
            <a:normAutofit fontScale="90000"/>
          </a:bodyPr>
          <a:lstStyle/>
          <a:p>
            <a:r>
              <a:rPr lang="en-US" sz="2800" dirty="0" smtClean="0"/>
              <a:t>Model</a:t>
            </a:r>
            <a:r>
              <a:rPr lang="en-US" sz="2800" dirty="0"/>
              <a:t> </a:t>
            </a:r>
            <a:r>
              <a:rPr lang="en-US" sz="2800" dirty="0" smtClean="0"/>
              <a:t>(</a:t>
            </a:r>
            <a:r>
              <a:rPr lang="en-US" sz="2800" dirty="0" err="1" smtClean="0"/>
              <a:t>Bengio</a:t>
            </a:r>
            <a:r>
              <a:rPr lang="en-US" sz="2800" dirty="0" smtClean="0"/>
              <a:t> et al., 2003)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b="12520"/>
          <a:stretch/>
        </p:blipFill>
        <p:spPr>
          <a:xfrm>
            <a:off x="-384238" y="723657"/>
            <a:ext cx="9847590" cy="563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0006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Bengio</a:t>
            </a:r>
            <a:r>
              <a:rPr lang="en-US" dirty="0"/>
              <a:t> et al</a:t>
            </a:r>
            <a:r>
              <a:rPr lang="en-US" dirty="0" smtClean="0"/>
              <a:t>. (2003</a:t>
            </a:r>
            <a:r>
              <a:rPr lang="en-US" dirty="0"/>
              <a:t>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339666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Experiments:</a:t>
            </a:r>
          </a:p>
          <a:p>
            <a:pPr lvl="1"/>
            <a:r>
              <a:rPr lang="en-US" dirty="0" smtClean="0"/>
              <a:t>they minimized log loss of next word conditioned on a fixed number of previous words</a:t>
            </a:r>
          </a:p>
          <a:p>
            <a:pPr lvl="1"/>
            <a:r>
              <a:rPr lang="en-US" dirty="0" smtClean="0"/>
              <a:t>no RNNs here. just a feed-forward network.</a:t>
            </a:r>
          </a:p>
          <a:p>
            <a:pPr lvl="1"/>
            <a:r>
              <a:rPr lang="en-US" dirty="0" smtClean="0"/>
              <a:t>~</a:t>
            </a:r>
            <a:r>
              <a:rPr lang="en-US" dirty="0"/>
              <a:t>800k training tokens, vocab size of 17k</a:t>
            </a:r>
          </a:p>
          <a:p>
            <a:pPr lvl="1"/>
            <a:r>
              <a:rPr lang="en-US" dirty="0" smtClean="0"/>
              <a:t>they trained for 5 epochs, which took 3 weeks on 40 CPUs!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3049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Experiments (</a:t>
            </a:r>
            <a:r>
              <a:rPr lang="en-US" sz="3600" dirty="0" err="1" smtClean="0"/>
              <a:t>Bengio</a:t>
            </a:r>
            <a:r>
              <a:rPr lang="en-US" sz="3600" dirty="0" smtClean="0"/>
              <a:t> et al., 2003)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918" y="893241"/>
            <a:ext cx="7540832" cy="304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99" y="4271441"/>
            <a:ext cx="7776791" cy="157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777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934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/>
              <a:t>Experiments (</a:t>
            </a:r>
            <a:r>
              <a:rPr lang="en-US" sz="3600" dirty="0" err="1" smtClean="0"/>
              <a:t>Bengio</a:t>
            </a:r>
            <a:r>
              <a:rPr lang="en-US" sz="3600" dirty="0" smtClean="0"/>
              <a:t> et al., 2003)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918" y="757777"/>
            <a:ext cx="7540832" cy="3048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3860804"/>
            <a:ext cx="8229600" cy="2455333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Observations:</a:t>
            </a:r>
          </a:p>
          <a:p>
            <a:pPr lvl="1"/>
            <a:r>
              <a:rPr lang="en-US" dirty="0" smtClean="0"/>
              <a:t>hidden layer (h &gt; 0) helps</a:t>
            </a:r>
          </a:p>
          <a:p>
            <a:pPr lvl="1"/>
            <a:r>
              <a:rPr lang="en-US" dirty="0" smtClean="0"/>
              <a:t>interpolating with n-gram model (“mix”) helps</a:t>
            </a:r>
          </a:p>
          <a:p>
            <a:pPr lvl="1"/>
            <a:r>
              <a:rPr lang="en-US" dirty="0" smtClean="0"/>
              <a:t>using higher word embedding dimensionality helps</a:t>
            </a:r>
          </a:p>
          <a:p>
            <a:pPr lvl="1"/>
            <a:r>
              <a:rPr lang="en-US" dirty="0" smtClean="0"/>
              <a:t>5-gram model better than trigram</a:t>
            </a:r>
          </a:p>
        </p:txBody>
      </p:sp>
    </p:spTree>
    <p:extLst>
      <p:ext uri="{BB962C8B-B14F-4D97-AF65-F5344CB8AC3E}">
        <p14:creationId xmlns:p14="http://schemas.microsoft.com/office/powerpoint/2010/main" val="38307282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44502"/>
            <a:ext cx="8229600" cy="726831"/>
          </a:xfrm>
        </p:spPr>
        <p:txBody>
          <a:bodyPr>
            <a:normAutofit/>
          </a:bodyPr>
          <a:lstStyle/>
          <a:p>
            <a:r>
              <a:rPr lang="en-US" sz="2800" dirty="0" smtClean="0"/>
              <a:t>Experiments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504" y="682329"/>
            <a:ext cx="7149490" cy="28898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b="29863"/>
          <a:stretch/>
        </p:blipFill>
        <p:spPr>
          <a:xfrm>
            <a:off x="1066800" y="3670300"/>
            <a:ext cx="7093194" cy="2053167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584200" y="3606015"/>
            <a:ext cx="7924800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0491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Bengio</a:t>
            </a:r>
            <a:r>
              <a:rPr lang="en-US" dirty="0" smtClean="0"/>
              <a:t> et al. (2003)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they discuss how the word embedding space might be interesting to examine but they don’t do this</a:t>
            </a:r>
          </a:p>
          <a:p>
            <a:r>
              <a:rPr lang="en-US" dirty="0" smtClean="0"/>
              <a:t>they suggest that a good way to visualize/interpret word </a:t>
            </a:r>
            <a:r>
              <a:rPr lang="en-US" dirty="0" err="1" smtClean="0"/>
              <a:t>embeddings</a:t>
            </a:r>
            <a:r>
              <a:rPr lang="en-US" dirty="0" smtClean="0"/>
              <a:t> would be to use 2 dimensions </a:t>
            </a:r>
            <a:r>
              <a:rPr lang="en-US" dirty="0" smtClean="0">
                <a:sym typeface="Wingdings"/>
              </a:rPr>
              <a:t></a:t>
            </a:r>
          </a:p>
          <a:p>
            <a:r>
              <a:rPr lang="en-US" dirty="0" smtClean="0">
                <a:sym typeface="Wingdings"/>
              </a:rPr>
              <a:t>they discussed handling </a:t>
            </a:r>
            <a:r>
              <a:rPr lang="en-US" dirty="0" err="1" smtClean="0">
                <a:sym typeface="Wingdings"/>
              </a:rPr>
              <a:t>polysemous</a:t>
            </a:r>
            <a:r>
              <a:rPr lang="en-US" dirty="0" smtClean="0">
                <a:sym typeface="Wingdings"/>
              </a:rPr>
              <a:t> words, unknown words, inference speed-ups, etc.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5101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Collobert</a:t>
            </a:r>
            <a:r>
              <a:rPr lang="en-US" dirty="0" smtClean="0"/>
              <a:t> et al. (2011)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367366"/>
            <a:ext cx="8205113" cy="41190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189665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198" y="182398"/>
            <a:ext cx="4639734" cy="659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5872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Collobert</a:t>
            </a:r>
            <a:r>
              <a:rPr lang="en-US" dirty="0" smtClean="0"/>
              <a:t> et al. Pairwise Ranking Loss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4" y="1718367"/>
            <a:ext cx="8839201" cy="669241"/>
          </a:xfrm>
          <a:prstGeom prst="rect">
            <a:avLst/>
          </a:prstGeom>
        </p:spPr>
      </p:pic>
      <p:sp>
        <p:nvSpPr>
          <p:cNvPr id="10" name="Content Placeholder 4"/>
          <p:cNvSpPr>
            <a:spLocks noGrp="1"/>
          </p:cNvSpPr>
          <p:nvPr>
            <p:ph idx="1"/>
          </p:nvPr>
        </p:nvSpPr>
        <p:spPr>
          <a:xfrm>
            <a:off x="457200" y="2750140"/>
            <a:ext cx="8229600" cy="3142660"/>
          </a:xfrm>
        </p:spPr>
        <p:txBody>
          <a:bodyPr>
            <a:normAutofit/>
          </a:bodyPr>
          <a:lstStyle/>
          <a:p>
            <a:r>
              <a:rPr lang="en-US" dirty="0" smtClean="0"/>
              <a:t>      is training set of 11-word windows</a:t>
            </a:r>
          </a:p>
          <a:p>
            <a:r>
              <a:rPr lang="en-US" dirty="0"/>
              <a:t> </a:t>
            </a:r>
            <a:r>
              <a:rPr lang="en-US" dirty="0" smtClean="0"/>
              <a:t>     is vocabulary</a:t>
            </a:r>
          </a:p>
          <a:p>
            <a:r>
              <a:rPr lang="en-US" dirty="0" smtClean="0"/>
              <a:t>What is going on here? (loss </a:t>
            </a:r>
            <a:r>
              <a:rPr lang="en-US" dirty="0"/>
              <a:t>C on </a:t>
            </a:r>
            <a:r>
              <a:rPr lang="en-US" dirty="0" smtClean="0"/>
              <a:t>handout</a:t>
            </a:r>
            <a:r>
              <a:rPr lang="en-US" dirty="0"/>
              <a:t>)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367" y="2906771"/>
            <a:ext cx="330200" cy="330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068" y="3507315"/>
            <a:ext cx="2667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6277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Collobert</a:t>
            </a:r>
            <a:r>
              <a:rPr lang="en-US" dirty="0" smtClean="0"/>
              <a:t> et al. Pairwise Ranking Loss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4" y="1718367"/>
            <a:ext cx="8839201" cy="669241"/>
          </a:xfrm>
          <a:prstGeom prst="rect">
            <a:avLst/>
          </a:prstGeom>
        </p:spPr>
      </p:pic>
      <p:sp>
        <p:nvSpPr>
          <p:cNvPr id="10" name="Content Placeholder 4"/>
          <p:cNvSpPr>
            <a:spLocks noGrp="1"/>
          </p:cNvSpPr>
          <p:nvPr>
            <p:ph idx="1"/>
          </p:nvPr>
        </p:nvSpPr>
        <p:spPr>
          <a:xfrm>
            <a:off x="457200" y="2750140"/>
            <a:ext cx="8229600" cy="3142660"/>
          </a:xfrm>
        </p:spPr>
        <p:txBody>
          <a:bodyPr>
            <a:normAutofit/>
          </a:bodyPr>
          <a:lstStyle/>
          <a:p>
            <a:r>
              <a:rPr lang="en-US" dirty="0" smtClean="0"/>
              <a:t>      is training set of 11-word windows</a:t>
            </a:r>
          </a:p>
          <a:p>
            <a:r>
              <a:rPr lang="en-US" dirty="0"/>
              <a:t> </a:t>
            </a:r>
            <a:r>
              <a:rPr lang="en-US" dirty="0" smtClean="0"/>
              <a:t>     is vocabulary</a:t>
            </a:r>
          </a:p>
          <a:p>
            <a:r>
              <a:rPr lang="en-US" dirty="0" smtClean="0"/>
              <a:t>What is going on here?</a:t>
            </a:r>
          </a:p>
          <a:p>
            <a:pPr lvl="1"/>
            <a:r>
              <a:rPr lang="en-US" dirty="0" smtClean="0"/>
              <a:t>Make actual text window have higher score than all windows with center word replaced by </a:t>
            </a:r>
            <a:r>
              <a:rPr lang="en-US" i="1" dirty="0" smtClean="0"/>
              <a:t>w</a:t>
            </a:r>
            <a:endParaRPr lang="en-US" i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367" y="2906771"/>
            <a:ext cx="330200" cy="330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068" y="3507315"/>
            <a:ext cx="2667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7091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Collobert</a:t>
            </a:r>
            <a:r>
              <a:rPr lang="en-US" dirty="0" smtClean="0"/>
              <a:t> et al. Pairwise Ranking Loss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4" y="1718367"/>
            <a:ext cx="8839201" cy="669241"/>
          </a:xfrm>
          <a:prstGeom prst="rect">
            <a:avLst/>
          </a:prstGeom>
        </p:spPr>
      </p:pic>
      <p:sp>
        <p:nvSpPr>
          <p:cNvPr id="10" name="Content Placeholder 4"/>
          <p:cNvSpPr>
            <a:spLocks noGrp="1"/>
          </p:cNvSpPr>
          <p:nvPr>
            <p:ph idx="1"/>
          </p:nvPr>
        </p:nvSpPr>
        <p:spPr>
          <a:xfrm>
            <a:off x="457200" y="2750140"/>
            <a:ext cx="8229600" cy="3422060"/>
          </a:xfrm>
        </p:spPr>
        <p:txBody>
          <a:bodyPr>
            <a:normAutofit/>
          </a:bodyPr>
          <a:lstStyle/>
          <a:p>
            <a:r>
              <a:rPr lang="en-US" dirty="0" smtClean="0"/>
              <a:t>      is training set of 11-word windows</a:t>
            </a:r>
          </a:p>
          <a:p>
            <a:r>
              <a:rPr lang="en-US" dirty="0"/>
              <a:t> </a:t>
            </a:r>
            <a:r>
              <a:rPr lang="en-US" dirty="0" smtClean="0"/>
              <a:t>     is vocabulary</a:t>
            </a:r>
          </a:p>
          <a:p>
            <a:r>
              <a:rPr lang="en-US" dirty="0" smtClean="0"/>
              <a:t>This still sums over entire vocabulary, so it should be as slow as log loss…</a:t>
            </a:r>
          </a:p>
          <a:p>
            <a:r>
              <a:rPr lang="en-US" dirty="0" smtClean="0"/>
              <a:t>Why can it be faster</a:t>
            </a:r>
            <a:r>
              <a:rPr lang="en-US" dirty="0" smtClean="0"/>
              <a:t>?</a:t>
            </a:r>
          </a:p>
          <a:p>
            <a:pPr lvl="1"/>
            <a:r>
              <a:rPr lang="en-US" dirty="0" smtClean="0"/>
              <a:t>when using SGD, summation </a:t>
            </a:r>
            <a:r>
              <a:rPr lang="en-US" dirty="0" smtClean="0">
                <a:sym typeface="Wingdings"/>
              </a:rPr>
              <a:t></a:t>
            </a:r>
            <a:r>
              <a:rPr lang="en-US" dirty="0" smtClean="0"/>
              <a:t> sample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367" y="2906771"/>
            <a:ext cx="330200" cy="330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068" y="3507315"/>
            <a:ext cx="2667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5571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52003</TotalTime>
  <Words>709</Words>
  <Application>Microsoft Macintosh PowerPoint</Application>
  <PresentationFormat>On-screen Show (4:3)</PresentationFormat>
  <Paragraphs>144</Paragraphs>
  <Slides>31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TTIC 31210: Advanced Natural Language Processing</vt:lpstr>
      <vt:lpstr>Assignment 1</vt:lpstr>
      <vt:lpstr>Roadmap</vt:lpstr>
      <vt:lpstr>Neural Similarity Modeling</vt:lpstr>
      <vt:lpstr>Similarity Functions</vt:lpstr>
      <vt:lpstr>Learning for Similarity</vt:lpstr>
      <vt:lpstr>(Better) Learning for Similarity</vt:lpstr>
      <vt:lpstr>(Better) Learning for Similarity</vt:lpstr>
      <vt:lpstr>(Better) Learning for Similarity</vt:lpstr>
      <vt:lpstr>(Better) Learning for Similarity</vt:lpstr>
      <vt:lpstr>Aside:</vt:lpstr>
      <vt:lpstr>Recurrent Neural Networks</vt:lpstr>
      <vt:lpstr>Recurrent Neural Networks</vt:lpstr>
      <vt:lpstr>PowerPoint Presentation</vt:lpstr>
      <vt:lpstr>PowerPoint Presentation</vt:lpstr>
      <vt:lpstr>PowerPoint Presentation</vt:lpstr>
      <vt:lpstr>Word Embeddings</vt:lpstr>
      <vt:lpstr>PowerPoint Presentation</vt:lpstr>
      <vt:lpstr>PowerPoint Presentation</vt:lpstr>
      <vt:lpstr>Neural Probabilistic Language Models (Bengio et al., 2003)</vt:lpstr>
      <vt:lpstr>Model (Bengio et al., 2003)</vt:lpstr>
      <vt:lpstr>Bengio et al. (2003)</vt:lpstr>
      <vt:lpstr>Experiments (Bengio et al., 2003)</vt:lpstr>
      <vt:lpstr>Experiments (Bengio et al., 2003)</vt:lpstr>
      <vt:lpstr>Experiments</vt:lpstr>
      <vt:lpstr>Bengio et al. (2003)</vt:lpstr>
      <vt:lpstr>Collobert et al. (2011)</vt:lpstr>
      <vt:lpstr>PowerPoint Presentation</vt:lpstr>
      <vt:lpstr>Collobert et al. Pairwise Ranking Loss</vt:lpstr>
      <vt:lpstr>Collobert et al. Pairwise Ranking Loss</vt:lpstr>
      <vt:lpstr>Collobert et al. Pairwise Ranking Loss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Kevin Gimpel</cp:lastModifiedBy>
  <cp:revision>721</cp:revision>
  <dcterms:created xsi:type="dcterms:W3CDTF">2015-08-31T18:15:35Z</dcterms:created>
  <dcterms:modified xsi:type="dcterms:W3CDTF">2017-04-11T14:24:34Z</dcterms:modified>
</cp:coreProperties>
</file>