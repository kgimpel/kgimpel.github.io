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256" r:id="rId2"/>
    <p:sldId id="1211" r:id="rId3"/>
    <p:sldId id="1212" r:id="rId4"/>
    <p:sldId id="1225" r:id="rId5"/>
    <p:sldId id="1226" r:id="rId6"/>
    <p:sldId id="1228" r:id="rId7"/>
    <p:sldId id="1229" r:id="rId8"/>
    <p:sldId id="1230" r:id="rId9"/>
    <p:sldId id="1245" r:id="rId10"/>
    <p:sldId id="1231" r:id="rId11"/>
    <p:sldId id="1246" r:id="rId12"/>
    <p:sldId id="1247" r:id="rId13"/>
    <p:sldId id="1248" r:id="rId14"/>
    <p:sldId id="1249" r:id="rId15"/>
    <p:sldId id="1254" r:id="rId16"/>
    <p:sldId id="1256" r:id="rId17"/>
    <p:sldId id="1255" r:id="rId18"/>
    <p:sldId id="1257" r:id="rId19"/>
    <p:sldId id="1258" r:id="rId20"/>
    <p:sldId id="1261" r:id="rId21"/>
    <p:sldId id="1259" r:id="rId22"/>
    <p:sldId id="1260" r:id="rId23"/>
    <p:sldId id="1263" r:id="rId24"/>
    <p:sldId id="1262" r:id="rId25"/>
    <p:sldId id="1264" r:id="rId26"/>
    <p:sldId id="1241" r:id="rId27"/>
    <p:sldId id="1265" r:id="rId28"/>
    <p:sldId id="1266" r:id="rId29"/>
    <p:sldId id="1124" r:id="rId30"/>
    <p:sldId id="1125" r:id="rId31"/>
    <p:sldId id="1130" r:id="rId32"/>
    <p:sldId id="1131" r:id="rId33"/>
    <p:sldId id="1132" r:id="rId34"/>
    <p:sldId id="1173" r:id="rId35"/>
    <p:sldId id="1133" r:id="rId36"/>
    <p:sldId id="1134" r:id="rId37"/>
    <p:sldId id="1135" r:id="rId38"/>
    <p:sldId id="1136" r:id="rId39"/>
    <p:sldId id="1208" r:id="rId40"/>
    <p:sldId id="1210" r:id="rId41"/>
    <p:sldId id="1138" r:id="rId42"/>
    <p:sldId id="1176" r:id="rId43"/>
    <p:sldId id="1177" r:id="rId44"/>
    <p:sldId id="1267" r:id="rId45"/>
    <p:sldId id="1268" r:id="rId46"/>
    <p:sldId id="1269" r:id="rId47"/>
    <p:sldId id="1270" r:id="rId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0000"/>
    <a:srgbClr val="288C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75"/>
    <p:restoredTop sz="87284" autoAdjust="0"/>
  </p:normalViewPr>
  <p:slideViewPr>
    <p:cSldViewPr snapToGrid="0" snapToObjects="1">
      <p:cViewPr varScale="1">
        <p:scale>
          <a:sx n="113" d="100"/>
          <a:sy n="113" d="100"/>
        </p:scale>
        <p:origin x="25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handoutMaster" Target="handoutMasters/handout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5/22/17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5/22/17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sentence -&gt; NER labeling</a:t>
            </a:r>
          </a:p>
          <a:p>
            <a:endParaRPr lang="en-US" dirty="0" smtClean="0"/>
          </a:p>
          <a:p>
            <a:r>
              <a:rPr lang="en-US" dirty="0" smtClean="0"/>
              <a:t>sentence -&gt; translation</a:t>
            </a:r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err="1" smtClean="0"/>
              <a:t>Neue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Umfrage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Kaufen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Sie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eine</a:t>
            </a:r>
            <a:r>
              <a:rPr lang="en-US" baseline="0" dirty="0" smtClean="0"/>
              <a:t> Apple Watch?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sentence -&gt; parse tree</a:t>
            </a:r>
          </a:p>
          <a:p>
            <a:r>
              <a:rPr lang="en-US" dirty="0" smtClean="0"/>
              <a:t>set of documents</a:t>
            </a:r>
            <a:r>
              <a:rPr lang="en-US" baseline="0" dirty="0" smtClean="0"/>
              <a:t> -&gt;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371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sentence -&gt; NER labeling</a:t>
            </a:r>
          </a:p>
          <a:p>
            <a:endParaRPr lang="en-US" dirty="0" smtClean="0"/>
          </a:p>
          <a:p>
            <a:r>
              <a:rPr lang="en-US" dirty="0" smtClean="0"/>
              <a:t>sentence -&gt; translation</a:t>
            </a:r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err="1" smtClean="0"/>
              <a:t>Neue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Umfrage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Kaufen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Sie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eine</a:t>
            </a:r>
            <a:r>
              <a:rPr lang="en-US" baseline="0" dirty="0" smtClean="0"/>
              <a:t> Apple Watch?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sentence -&gt; parse tree</a:t>
            </a:r>
          </a:p>
          <a:p>
            <a:r>
              <a:rPr lang="en-US" dirty="0" smtClean="0"/>
              <a:t>set of documents</a:t>
            </a:r>
            <a:r>
              <a:rPr lang="en-US" baseline="0" dirty="0" smtClean="0"/>
              <a:t> -&gt;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9594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43F9CE-6341-5C49-8ACC-17EA083516A9}" type="slidenum">
              <a:rPr lang="en-US"/>
              <a:pPr/>
              <a:t>43</a:t>
            </a:fld>
            <a:endParaRPr lang="en-US"/>
          </a:p>
        </p:txBody>
      </p:sp>
      <p:sp>
        <p:nvSpPr>
          <p:cNvPr id="130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30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672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5/22/17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5/22/17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5/22/17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5/22/17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5/22/17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5/22/17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5/22/17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5/22/17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5/22/17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5/22/17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5/22/17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5/22/17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5" Type="http://schemas.openxmlformats.org/officeDocument/2006/relationships/image" Target="../media/image4.emf"/><Relationship Id="rId6" Type="http://schemas.openxmlformats.org/officeDocument/2006/relationships/image" Target="../media/image5.emf"/><Relationship Id="rId7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Relationship Id="rId3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Relationship Id="rId3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emf"/><Relationship Id="rId3" Type="http://schemas.openxmlformats.org/officeDocument/2006/relationships/image" Target="../media/image13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emf"/><Relationship Id="rId3" Type="http://schemas.openxmlformats.org/officeDocument/2006/relationships/image" Target="../media/image1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4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emf"/><Relationship Id="rId3" Type="http://schemas.openxmlformats.org/officeDocument/2006/relationships/image" Target="../media/image20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emf"/><Relationship Id="rId3" Type="http://schemas.openxmlformats.org/officeDocument/2006/relationships/image" Target="../media/image22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4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4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4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emf"/><Relationship Id="rId3" Type="http://schemas.openxmlformats.org/officeDocument/2006/relationships/image" Target="../media/image30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4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4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4" Type="http://schemas.openxmlformats.org/officeDocument/2006/relationships/image" Target="../media/image32.emf"/><Relationship Id="rId5" Type="http://schemas.openxmlformats.org/officeDocument/2006/relationships/image" Target="../media/image3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4" Type="http://schemas.openxmlformats.org/officeDocument/2006/relationships/image" Target="../media/image32.emf"/><Relationship Id="rId5" Type="http://schemas.openxmlformats.org/officeDocument/2006/relationships/image" Target="../media/image3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e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e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8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e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TTIC 31210:</a:t>
            </a:r>
            <a:br>
              <a:rPr lang="en-US" dirty="0" smtClean="0"/>
            </a:br>
            <a:r>
              <a:rPr lang="en-US" sz="4000" dirty="0" smtClean="0"/>
              <a:t>Advanced Natural Language Processing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5" y="1993899"/>
            <a:ext cx="8555274" cy="4181067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Spring 2017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 smtClean="0">
                <a:solidFill>
                  <a:schemeClr val="tx1"/>
                </a:solidFill>
              </a:rPr>
              <a:t>Lecture 14:</a:t>
            </a:r>
          </a:p>
          <a:p>
            <a:r>
              <a:rPr lang="en-US" sz="4000" dirty="0" smtClean="0">
                <a:solidFill>
                  <a:schemeClr val="tx1"/>
                </a:solidFill>
              </a:rPr>
              <a:t>Finish up Bayesian/Unsupervised NLP, </a:t>
            </a:r>
          </a:p>
          <a:p>
            <a:r>
              <a:rPr lang="en-US" sz="4000" dirty="0" smtClean="0">
                <a:solidFill>
                  <a:schemeClr val="tx1"/>
                </a:solidFill>
              </a:rPr>
              <a:t>Start Structured Prediction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Today and Wednesday: structured prediction</a:t>
            </a:r>
          </a:p>
          <a:p>
            <a:r>
              <a:rPr lang="en-US" dirty="0" smtClean="0"/>
              <a:t>No class Monday May 29 (Memorial Day)</a:t>
            </a:r>
          </a:p>
          <a:p>
            <a:r>
              <a:rPr lang="en-US" dirty="0" smtClean="0"/>
              <a:t>Final class is Wednesday May 31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318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Assignment 3 has been posted, due Thursday June 1</a:t>
            </a:r>
          </a:p>
          <a:p>
            <a:r>
              <a:rPr lang="en-US" sz="2800" dirty="0" smtClean="0"/>
              <a:t>Final project report due Friday, June 9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809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975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Key Quantities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354362" y="1557618"/>
            <a:ext cx="370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</a:t>
            </a:r>
            <a:r>
              <a:rPr lang="en-US" sz="2400" dirty="0" smtClean="0"/>
              <a:t>ur data is a set of samples: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520" y="1027157"/>
            <a:ext cx="6184900" cy="3683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458" y="1577503"/>
            <a:ext cx="2501900" cy="4191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660" y="2480694"/>
            <a:ext cx="6134100" cy="4445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8885" y="3004574"/>
            <a:ext cx="6235700" cy="1066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6"/>
          <a:srcRect r="76087"/>
          <a:stretch/>
        </p:blipFill>
        <p:spPr>
          <a:xfrm>
            <a:off x="908222" y="4583909"/>
            <a:ext cx="1633872" cy="4445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6"/>
          <a:srcRect l="23913"/>
          <a:stretch/>
        </p:blipFill>
        <p:spPr>
          <a:xfrm>
            <a:off x="2542094" y="4583909"/>
            <a:ext cx="5198728" cy="444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320" y="5491125"/>
            <a:ext cx="80518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745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Gibbs Sampling Template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" y="1225156"/>
            <a:ext cx="6972300" cy="1435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3206381"/>
            <a:ext cx="5283200" cy="245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336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79" y="1086094"/>
            <a:ext cx="3441700" cy="17907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79" y="3462653"/>
            <a:ext cx="71374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106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Expectation Maximization (EM)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19172"/>
            <a:ext cx="8229600" cy="3006992"/>
          </a:xfrm>
        </p:spPr>
        <p:txBody>
          <a:bodyPr/>
          <a:lstStyle/>
          <a:p>
            <a:r>
              <a:rPr lang="en-US" dirty="0" smtClean="0"/>
              <a:t>EM is an algorithmic template that finds a local maximum of the marginal likelihood of the observed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00" y="1698512"/>
            <a:ext cx="35687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164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1649" y="71139"/>
            <a:ext cx="3241622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2529"/>
            <a:ext cx="8229600" cy="3914208"/>
          </a:xfrm>
        </p:spPr>
        <p:txBody>
          <a:bodyPr>
            <a:normAutofit/>
          </a:bodyPr>
          <a:lstStyle/>
          <a:p>
            <a:r>
              <a:rPr lang="en-US" dirty="0" smtClean="0"/>
              <a:t>“E” step: </a:t>
            </a:r>
          </a:p>
          <a:p>
            <a:pPr lvl="1"/>
            <a:r>
              <a:rPr lang="en-US" dirty="0" smtClean="0"/>
              <a:t>compute posteriors over latent variables: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r>
              <a:rPr lang="en-US" dirty="0" smtClean="0"/>
              <a:t>“M” step:</a:t>
            </a:r>
          </a:p>
          <a:p>
            <a:pPr lvl="1"/>
            <a:r>
              <a:rPr lang="en-US" dirty="0" smtClean="0"/>
              <a:t>update parameters given posteriors: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661" y="2102202"/>
            <a:ext cx="4673600" cy="444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4181368"/>
            <a:ext cx="62484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657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Different Views of the </a:t>
            </a:r>
            <a:r>
              <a:rPr lang="en-US" sz="3600" dirty="0" err="1" smtClean="0"/>
              <a:t>Dirichlet</a:t>
            </a:r>
            <a:r>
              <a:rPr lang="en-US" sz="3600" dirty="0" smtClean="0"/>
              <a:t> Process (DP)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last time we discussed the “stick-breaking” view of the DP</a:t>
            </a:r>
          </a:p>
          <a:p>
            <a:r>
              <a:rPr lang="en-US" dirty="0" smtClean="0"/>
              <a:t>today we’ll briefly discuss the “Chinese Restaurant Process” view</a:t>
            </a:r>
          </a:p>
          <a:p>
            <a:r>
              <a:rPr lang="en-US" dirty="0" smtClean="0"/>
              <a:t>with both views, we still have the same DP </a:t>
            </a:r>
            <a:r>
              <a:rPr lang="en-US" dirty="0" err="1" smtClean="0"/>
              <a:t>hyperparameters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(base distribution &amp; concentration parameter)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5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Base Distribution       for DP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unbounded distribution over items will choose them from the base distribution</a:t>
            </a:r>
          </a:p>
          <a:p>
            <a:r>
              <a:rPr lang="en-US" dirty="0"/>
              <a:t>base distribution usually has infinite support</a:t>
            </a:r>
          </a:p>
          <a:p>
            <a:r>
              <a:rPr lang="en-US" dirty="0" smtClean="0"/>
              <a:t>simple example base distribution for our morph lexicon:</a:t>
            </a:r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5973" y="431337"/>
            <a:ext cx="486183" cy="39614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4246564"/>
            <a:ext cx="40513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124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Concentration Parameter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stick-breaking process, concentration parameter determines how much of the stick we break off each time</a:t>
            </a:r>
          </a:p>
          <a:p>
            <a:r>
              <a:rPr lang="en-US" dirty="0" smtClean="0"/>
              <a:t>high concentration == small parts of stick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467414" y="3857144"/>
            <a:ext cx="6038438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467414" y="3810869"/>
            <a:ext cx="955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full stick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67413" y="4388300"/>
            <a:ext cx="5829961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375362" y="4388300"/>
            <a:ext cx="208478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467414" y="4986296"/>
            <a:ext cx="5562576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107978" y="4983833"/>
            <a:ext cx="267384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467414" y="5595432"/>
            <a:ext cx="5261769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796027" y="5595432"/>
            <a:ext cx="311951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2392" y="4408117"/>
            <a:ext cx="266700" cy="2921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6872" y="5006113"/>
            <a:ext cx="279400" cy="2921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578" y="5615249"/>
            <a:ext cx="2794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532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stick-breaking construction of the DP is useful for specifying models and defining inference algorithms</a:t>
            </a:r>
          </a:p>
          <a:p>
            <a:r>
              <a:rPr lang="en-US" dirty="0" smtClean="0"/>
              <a:t>another useful way of representing a draw from a DP is with the Chinese Restaurant Process (CRP)</a:t>
            </a:r>
          </a:p>
          <a:p>
            <a:pPr lvl="1"/>
            <a:r>
              <a:rPr lang="en-US" dirty="0" smtClean="0"/>
              <a:t>CRP provides a distribution over partitions with an unbounded number of parts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005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8987"/>
            <a:ext cx="8229600" cy="5052424"/>
          </a:xfrm>
        </p:spPr>
        <p:txBody>
          <a:bodyPr/>
          <a:lstStyle/>
          <a:p>
            <a:r>
              <a:rPr lang="en-US" dirty="0" smtClean="0"/>
              <a:t>imagine a Chinese restaurant with an infinite number of tables…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13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70828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632261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00187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558463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452801" y="3266328"/>
            <a:ext cx="467997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…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114144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1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102875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2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5088268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3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701376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4</a:t>
            </a:r>
            <a:endParaRPr lang="en-US" sz="3200" i="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2129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5024"/>
            <a:ext cx="8229600" cy="5052424"/>
          </a:xfrm>
        </p:spPr>
        <p:txBody>
          <a:bodyPr/>
          <a:lstStyle/>
          <a:p>
            <a:r>
              <a:rPr lang="en-US" dirty="0" smtClean="0"/>
              <a:t>first customer sits at first table: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14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70828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632261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00187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558463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452801" y="3266328"/>
            <a:ext cx="467997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…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15084" y="2647985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14144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1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102875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2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088268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3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01376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4</a:t>
            </a:r>
            <a:endParaRPr lang="en-US" sz="3200" i="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4595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520" y="127186"/>
            <a:ext cx="8229600" cy="5052424"/>
          </a:xfrm>
        </p:spPr>
        <p:txBody>
          <a:bodyPr/>
          <a:lstStyle/>
          <a:p>
            <a:r>
              <a:rPr lang="en-US" dirty="0" smtClean="0"/>
              <a:t>second customer       enters, chooses a table:</a:t>
            </a:r>
          </a:p>
          <a:p>
            <a:endParaRPr lang="en-US" sz="5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15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70828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632261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00187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558463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452801" y="3266328"/>
            <a:ext cx="467997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…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15084" y="2647985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14144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1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102875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2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088268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3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01376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4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3686678" y="260270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36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520" y="127186"/>
            <a:ext cx="8229600" cy="5052424"/>
          </a:xfrm>
        </p:spPr>
        <p:txBody>
          <a:bodyPr/>
          <a:lstStyle/>
          <a:p>
            <a:r>
              <a:rPr lang="en-US" dirty="0" smtClean="0"/>
              <a:t>second customer       enters, </a:t>
            </a:r>
          </a:p>
          <a:p>
            <a:endParaRPr lang="en-US" sz="500" dirty="0" smtClean="0"/>
          </a:p>
          <a:p>
            <a:pPr marL="0" indent="0">
              <a:buNone/>
            </a:pPr>
            <a:r>
              <a:rPr lang="en-US" dirty="0" smtClean="0"/>
              <a:t>chooses table 1:</a:t>
            </a:r>
          </a:p>
          <a:p>
            <a:pPr marL="0" indent="0">
              <a:buNone/>
            </a:pPr>
            <a:endParaRPr lang="en-US" sz="105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16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70828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632261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00187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558463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452801" y="3266328"/>
            <a:ext cx="467997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…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15084" y="2647985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14144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1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102875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2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088268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3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01376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4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3686678" y="260270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283" y="810303"/>
            <a:ext cx="37465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140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520" y="127186"/>
            <a:ext cx="8229600" cy="5052424"/>
          </a:xfrm>
        </p:spPr>
        <p:txBody>
          <a:bodyPr/>
          <a:lstStyle/>
          <a:p>
            <a:r>
              <a:rPr lang="en-US" dirty="0" smtClean="0"/>
              <a:t>second customer       enters, </a:t>
            </a:r>
          </a:p>
          <a:p>
            <a:endParaRPr lang="en-US" sz="500" dirty="0" smtClean="0"/>
          </a:p>
          <a:p>
            <a:pPr marL="0" indent="0">
              <a:buNone/>
            </a:pPr>
            <a:r>
              <a:rPr lang="en-US" dirty="0" smtClean="0"/>
              <a:t>chooses table 1:</a:t>
            </a:r>
          </a:p>
          <a:p>
            <a:pPr marL="0" indent="0">
              <a:buNone/>
            </a:pPr>
            <a:endParaRPr lang="en-US" sz="1050" dirty="0" smtClean="0"/>
          </a:p>
          <a:p>
            <a:pPr marL="0" indent="0">
              <a:buNone/>
            </a:pPr>
            <a:r>
              <a:rPr lang="en-US" dirty="0" smtClean="0"/>
              <a:t>chooses new table: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17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70828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632261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00187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558463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452801" y="3266328"/>
            <a:ext cx="467997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…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15084" y="2647985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14144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1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102875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2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088268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3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01376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4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3686678" y="260270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283" y="810303"/>
            <a:ext cx="3746500" cy="6604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543" y="1650429"/>
            <a:ext cx="37465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166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520" y="127186"/>
            <a:ext cx="8229600" cy="5052424"/>
          </a:xfrm>
        </p:spPr>
        <p:txBody>
          <a:bodyPr/>
          <a:lstStyle/>
          <a:p>
            <a:r>
              <a:rPr lang="en-US" dirty="0" smtClean="0"/>
              <a:t>second customer       enters, </a:t>
            </a:r>
          </a:p>
          <a:p>
            <a:endParaRPr lang="en-US" sz="500" dirty="0" smtClean="0"/>
          </a:p>
          <a:p>
            <a:pPr marL="0" indent="0">
              <a:buNone/>
            </a:pPr>
            <a:r>
              <a:rPr lang="en-US" dirty="0" smtClean="0"/>
              <a:t>chooses table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18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70828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632261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00187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558463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452801" y="3266328"/>
            <a:ext cx="467997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…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15084" y="2647985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14144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1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102875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2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088268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3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01376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4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3686678" y="260270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155674" y="3180433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795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520" y="127186"/>
            <a:ext cx="8229600" cy="5052424"/>
          </a:xfrm>
        </p:spPr>
        <p:txBody>
          <a:bodyPr/>
          <a:lstStyle/>
          <a:p>
            <a:r>
              <a:rPr lang="en-US" dirty="0" smtClean="0"/>
              <a:t>third customer       enters, </a:t>
            </a:r>
          </a:p>
          <a:p>
            <a:endParaRPr lang="en-US" sz="5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19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70828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632261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00187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558463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452801" y="3266328"/>
            <a:ext cx="467997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…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15084" y="2647985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14144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1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102875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2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088268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3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01376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4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3291328" y="260270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155674" y="3180433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749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520" y="127186"/>
            <a:ext cx="8229600" cy="5052424"/>
          </a:xfrm>
        </p:spPr>
        <p:txBody>
          <a:bodyPr/>
          <a:lstStyle/>
          <a:p>
            <a:r>
              <a:rPr lang="en-US" dirty="0" smtClean="0"/>
              <a:t>third customer       enters, </a:t>
            </a:r>
          </a:p>
          <a:p>
            <a:endParaRPr lang="en-US" sz="500" dirty="0" smtClean="0"/>
          </a:p>
          <a:p>
            <a:pPr marL="0" indent="0">
              <a:buNone/>
            </a:pPr>
            <a:r>
              <a:rPr lang="en-US" dirty="0" smtClean="0"/>
              <a:t>chooses table 1:</a:t>
            </a:r>
          </a:p>
          <a:p>
            <a:pPr marL="0" indent="0">
              <a:buNone/>
            </a:pPr>
            <a:endParaRPr lang="en-US" sz="1050" dirty="0" smtClean="0"/>
          </a:p>
          <a:p>
            <a:pPr marL="0" indent="0">
              <a:buNone/>
            </a:pPr>
            <a:r>
              <a:rPr lang="en-US" dirty="0" smtClean="0"/>
              <a:t>chooses new table: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20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70828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632261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00187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558463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452801" y="3266328"/>
            <a:ext cx="467997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…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15084" y="2647985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14144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1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102875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2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088268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3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01376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4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3291328" y="260270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155674" y="3180433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424" y="810303"/>
            <a:ext cx="4445000" cy="6604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4333" y="1663156"/>
            <a:ext cx="44450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41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520" y="127186"/>
            <a:ext cx="8229600" cy="5052424"/>
          </a:xfrm>
        </p:spPr>
        <p:txBody>
          <a:bodyPr/>
          <a:lstStyle/>
          <a:p>
            <a:r>
              <a:rPr lang="en-US" dirty="0" smtClean="0"/>
              <a:t>third customer       enters, </a:t>
            </a:r>
          </a:p>
          <a:p>
            <a:endParaRPr lang="en-US" sz="500" dirty="0" smtClean="0"/>
          </a:p>
          <a:p>
            <a:pPr marL="0" indent="0">
              <a:buNone/>
            </a:pPr>
            <a:r>
              <a:rPr lang="en-US" dirty="0" smtClean="0"/>
              <a:t>chooses new table</a:t>
            </a:r>
          </a:p>
          <a:p>
            <a:pPr marL="0" indent="0">
              <a:buNone/>
            </a:pPr>
            <a:endParaRPr lang="en-US" sz="105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21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70828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632261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00187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558463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452801" y="3266328"/>
            <a:ext cx="467997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…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15084" y="2647985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14144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1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102875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2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088268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3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01376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4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3291328" y="260270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155674" y="3180433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2569093" y="2600057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258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520" y="127186"/>
            <a:ext cx="8229600" cy="5052424"/>
          </a:xfrm>
        </p:spPr>
        <p:txBody>
          <a:bodyPr/>
          <a:lstStyle/>
          <a:p>
            <a:r>
              <a:rPr lang="en-US" dirty="0" smtClean="0"/>
              <a:t>fourth customer       enters, </a:t>
            </a:r>
          </a:p>
          <a:p>
            <a:endParaRPr lang="en-US" sz="500" dirty="0" smtClean="0"/>
          </a:p>
          <a:p>
            <a:pPr marL="0" indent="0">
              <a:buNone/>
            </a:pPr>
            <a:r>
              <a:rPr lang="en-US" dirty="0" smtClean="0"/>
              <a:t>p(choose table 1):                p(choose table 2): </a:t>
            </a:r>
          </a:p>
          <a:p>
            <a:pPr marL="0" indent="0">
              <a:buNone/>
            </a:pPr>
            <a:endParaRPr lang="en-US" sz="1050" dirty="0" smtClean="0"/>
          </a:p>
          <a:p>
            <a:pPr marL="0" indent="0">
              <a:buNone/>
            </a:pPr>
            <a:r>
              <a:rPr lang="en-US" dirty="0" smtClean="0"/>
              <a:t>p(choose new table):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22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70828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632261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00187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558463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452801" y="3266328"/>
            <a:ext cx="467997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…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15084" y="2647985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14144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1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102875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2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088268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3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01376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4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3554628" y="260270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155674" y="3180433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2569093" y="2600057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313" y="810304"/>
            <a:ext cx="685800" cy="6604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801" y="798324"/>
            <a:ext cx="685800" cy="6604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0243" y="1663157"/>
            <a:ext cx="6858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222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23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70828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632261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00187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558463" y="2947487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452801" y="3266328"/>
            <a:ext cx="467997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…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15084" y="2647985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14144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1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102875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2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088268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3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013763" y="4478239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4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241560" y="3851104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155674" y="3180433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2569093" y="2600057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07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520" y="127186"/>
            <a:ext cx="8229600" cy="5052424"/>
          </a:xfrm>
        </p:spPr>
        <p:txBody>
          <a:bodyPr/>
          <a:lstStyle/>
          <a:p>
            <a:r>
              <a:rPr lang="en-US" dirty="0" smtClean="0"/>
              <a:t>large value of concentration parameter: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24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70828" y="1453533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632261" y="1453533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00187" y="1453533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558463" y="1453533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452801" y="1772374"/>
            <a:ext cx="467997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…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15084" y="1154031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141443" y="2984285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1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102875" y="2984285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2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088268" y="2984285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3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013763" y="2984285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4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4636043" y="1106103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155674" y="1686479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2569093" y="1106103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6426678" y="1154031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467414" y="3857144"/>
            <a:ext cx="6038438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467414" y="3810869"/>
            <a:ext cx="955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full stick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467413" y="4388300"/>
            <a:ext cx="5829961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375362" y="4388300"/>
            <a:ext cx="208478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467414" y="4986296"/>
            <a:ext cx="5562576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107978" y="4983833"/>
            <a:ext cx="267384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467414" y="5595432"/>
            <a:ext cx="5261769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6796027" y="5595432"/>
            <a:ext cx="311951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2392" y="4408117"/>
            <a:ext cx="266700" cy="29210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6872" y="5006113"/>
            <a:ext cx="279400" cy="29210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578" y="5615249"/>
            <a:ext cx="2794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760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  <p:bldP spid="18" grpId="0" animBg="1"/>
      <p:bldP spid="20" grpId="0" animBg="1"/>
      <p:bldP spid="22" grpId="0" animBg="1"/>
      <p:bldP spid="23" grpId="0" animBg="1"/>
      <p:bldP spid="24" grpId="0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520" y="127186"/>
            <a:ext cx="8229600" cy="5052424"/>
          </a:xfrm>
        </p:spPr>
        <p:txBody>
          <a:bodyPr/>
          <a:lstStyle/>
          <a:p>
            <a:r>
              <a:rPr lang="en-US" dirty="0" smtClean="0"/>
              <a:t>small value of concentration parameter: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25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70828" y="1424315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632261" y="1424315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00187" y="1424315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558463" y="1424315"/>
            <a:ext cx="1317982" cy="13179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452801" y="1743156"/>
            <a:ext cx="467997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…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15084" y="1124813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141443" y="2955067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1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102875" y="2955067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i="0" dirty="0" smtClean="0">
                <a:latin typeface="Calibri"/>
                <a:cs typeface="Calibri"/>
              </a:rPr>
              <a:t>2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088268" y="2955067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3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013763" y="2955067"/>
            <a:ext cx="3926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4</a:t>
            </a:r>
            <a:endParaRPr lang="en-US" sz="3200" i="0" dirty="0">
              <a:latin typeface="Calibri"/>
              <a:cs typeface="Calibr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174689" y="945108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155674" y="1657261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265520" y="2327932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670828" y="2775362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2644314" y="1052923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272851" y="1436316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3136121" y="969091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3662787" y="1088887"/>
            <a:ext cx="359410" cy="35941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16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  <p:bldP spid="18" grpId="0" animBg="1"/>
      <p:bldP spid="20" grpId="0" animBg="1"/>
      <p:bldP spid="22" grpId="0" animBg="1"/>
      <p:bldP spid="19" grpId="0" animBg="1"/>
      <p:bldP spid="21" grpId="0" animBg="1"/>
      <p:bldP spid="23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 Draw G from a DP</a:t>
            </a:r>
            <a:br>
              <a:rPr lang="en-US" dirty="0" smtClean="0"/>
            </a:br>
            <a:r>
              <a:rPr lang="en-US" sz="3600" dirty="0" smtClean="0"/>
              <a:t>(Stick-Breaking Representation)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776" y="1975892"/>
            <a:ext cx="4533900" cy="1168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276" y="3431660"/>
            <a:ext cx="2946400" cy="850900"/>
          </a:xfrm>
          <a:prstGeom prst="rect">
            <a:avLst/>
          </a:prstGeom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088758" y="1305573"/>
            <a:ext cx="433356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draw infinite probabilities from </a:t>
            </a:r>
          </a:p>
          <a:p>
            <a:pPr eaLnBrk="1" hangingPunct="1"/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stick-breaking </a:t>
            </a:r>
            <a:r>
              <a:rPr lang="en-US" sz="2000" dirty="0" smtClean="0">
                <a:solidFill>
                  <a:srgbClr val="0062AC"/>
                </a:solidFill>
                <a:latin typeface="Calibri"/>
                <a:cs typeface="Calibri"/>
              </a:rPr>
              <a:t>process with parameter s</a:t>
            </a:r>
            <a:endParaRPr lang="en-US" sz="2000" i="0" dirty="0">
              <a:solidFill>
                <a:srgbClr val="0062AC"/>
              </a:solidFill>
              <a:latin typeface="Calibri"/>
              <a:cs typeface="Calibri"/>
            </a:endParaRPr>
          </a:p>
        </p:txBody>
      </p:sp>
      <p:cxnSp>
        <p:nvCxnSpPr>
          <p:cNvPr id="8" name="Straight Arrow Connector 7"/>
          <p:cNvCxnSpPr>
            <a:stCxn id="7" idx="1"/>
          </p:cNvCxnSpPr>
          <p:nvPr/>
        </p:nvCxnSpPr>
        <p:spPr>
          <a:xfrm flipH="1">
            <a:off x="3066058" y="1659516"/>
            <a:ext cx="1022700" cy="468211"/>
          </a:xfrm>
          <a:prstGeom prst="straightConnector1">
            <a:avLst/>
          </a:prstGeom>
          <a:ln w="25400">
            <a:solidFill>
              <a:srgbClr val="0062A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3218459" y="2419071"/>
            <a:ext cx="1204530" cy="216610"/>
          </a:xfrm>
          <a:prstGeom prst="straightConnector1">
            <a:avLst/>
          </a:prstGeom>
          <a:ln w="25400">
            <a:solidFill>
              <a:srgbClr val="0062A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4444975" y="2159300"/>
            <a:ext cx="38000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draw atoms from base distribution</a:t>
            </a:r>
            <a:endParaRPr lang="en-US" sz="2000" i="0" dirty="0">
              <a:solidFill>
                <a:srgbClr val="0062AC"/>
              </a:solidFill>
              <a:latin typeface="Calibri"/>
              <a:cs typeface="Calibri"/>
            </a:endParaRP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6016478" y="2559410"/>
            <a:ext cx="26703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atoms can be repeated!</a:t>
            </a:r>
            <a:endParaRPr lang="en-US" sz="2000" i="0" dirty="0">
              <a:solidFill>
                <a:srgbClr val="0062AC"/>
              </a:solidFill>
              <a:latin typeface="Calibri"/>
              <a:cs typeface="Calibri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5113780"/>
            <a:ext cx="41148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344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91" y="2379744"/>
            <a:ext cx="5054600" cy="1358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191" y="171398"/>
            <a:ext cx="8530569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 Representation of G Drawn from a DP</a:t>
            </a:r>
            <a:br>
              <a:rPr lang="en-US" dirty="0" smtClean="0"/>
            </a:br>
            <a:r>
              <a:rPr lang="en-US" sz="3600" dirty="0" smtClean="0"/>
              <a:t>(Chinese Restaurant Process Representation)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27</a:t>
            </a:fld>
            <a:endParaRPr lang="en-US"/>
          </a:p>
        </p:txBody>
      </p:sp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454914" y="1805357"/>
            <a:ext cx="435084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draw table assignments for </a:t>
            </a:r>
            <a:r>
              <a:rPr lang="en-US" sz="2000" i="1" dirty="0" smtClean="0">
                <a:solidFill>
                  <a:srgbClr val="0062AC"/>
                </a:solidFill>
                <a:latin typeface="Calibri"/>
                <a:cs typeface="Calibri"/>
              </a:rPr>
              <a:t>n</a:t>
            </a:r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 customers </a:t>
            </a:r>
          </a:p>
          <a:p>
            <a:pPr eaLnBrk="1" hangingPunct="1"/>
            <a:r>
              <a:rPr lang="en-US" sz="2000" dirty="0" smtClean="0">
                <a:solidFill>
                  <a:srgbClr val="0062AC"/>
                </a:solidFill>
                <a:latin typeface="Calibri"/>
                <a:cs typeface="Calibri"/>
              </a:rPr>
              <a:t>with parameter </a:t>
            </a:r>
            <a:r>
              <a:rPr lang="en-US" sz="2000" i="1" dirty="0" smtClean="0">
                <a:solidFill>
                  <a:srgbClr val="0062AC"/>
                </a:solidFill>
                <a:latin typeface="Calibri"/>
                <a:cs typeface="Calibri"/>
              </a:rPr>
              <a:t>s</a:t>
            </a:r>
            <a:endParaRPr lang="en-US" sz="2000" i="1" dirty="0">
              <a:solidFill>
                <a:srgbClr val="0062AC"/>
              </a:solidFill>
              <a:latin typeface="Calibri"/>
              <a:cs typeface="Calibri"/>
            </a:endParaRPr>
          </a:p>
        </p:txBody>
      </p:sp>
      <p:cxnSp>
        <p:nvCxnSpPr>
          <p:cNvPr id="8" name="Straight Arrow Connector 7"/>
          <p:cNvCxnSpPr>
            <a:stCxn id="7" idx="1"/>
          </p:cNvCxnSpPr>
          <p:nvPr/>
        </p:nvCxnSpPr>
        <p:spPr>
          <a:xfrm flipH="1">
            <a:off x="3608034" y="2159300"/>
            <a:ext cx="846880" cy="454549"/>
          </a:xfrm>
          <a:prstGeom prst="straightConnector1">
            <a:avLst/>
          </a:prstGeom>
          <a:ln w="25400">
            <a:solidFill>
              <a:srgbClr val="0062A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3005769" y="2842584"/>
            <a:ext cx="815962" cy="216610"/>
          </a:xfrm>
          <a:prstGeom prst="straightConnector1">
            <a:avLst/>
          </a:prstGeom>
          <a:ln w="25400">
            <a:solidFill>
              <a:srgbClr val="0062A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821731" y="2565921"/>
            <a:ext cx="401020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for each occupied table, draw atom </a:t>
            </a:r>
          </a:p>
          <a:p>
            <a:pPr eaLnBrk="1" hangingPunct="1"/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from base distribution</a:t>
            </a:r>
            <a:endParaRPr lang="en-US" sz="2000" i="0" dirty="0">
              <a:solidFill>
                <a:srgbClr val="0062AC"/>
              </a:solidFill>
              <a:latin typeface="Calibri"/>
              <a:cs typeface="Calibri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260" y="3490994"/>
            <a:ext cx="2095500" cy="495300"/>
          </a:xfrm>
          <a:prstGeom prst="rect">
            <a:avLst/>
          </a:prstGeom>
        </p:spPr>
      </p:pic>
      <p:cxnSp>
        <p:nvCxnSpPr>
          <p:cNvPr id="18" name="Straight Arrow Connector 17"/>
          <p:cNvCxnSpPr/>
          <p:nvPr/>
        </p:nvCxnSpPr>
        <p:spPr>
          <a:xfrm flipH="1" flipV="1">
            <a:off x="7058741" y="3986295"/>
            <a:ext cx="533248" cy="434085"/>
          </a:xfrm>
          <a:prstGeom prst="straightConnector1">
            <a:avLst/>
          </a:prstGeom>
          <a:ln w="25400">
            <a:solidFill>
              <a:srgbClr val="0062A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11"/>
          <p:cNvSpPr txBox="1">
            <a:spLocks noChangeArrowheads="1"/>
          </p:cNvSpPr>
          <p:nvPr/>
        </p:nvSpPr>
        <p:spPr bwMode="auto">
          <a:xfrm>
            <a:off x="6936621" y="4361749"/>
            <a:ext cx="186462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number of</a:t>
            </a:r>
          </a:p>
          <a:p>
            <a:pPr algn="ctr" eaLnBrk="1" hangingPunct="1"/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tables occupied</a:t>
            </a:r>
            <a:endParaRPr lang="en-US" sz="2000" i="1" dirty="0">
              <a:solidFill>
                <a:srgbClr val="0062AC"/>
              </a:solidFill>
              <a:latin typeface="Calibri"/>
              <a:cs typeface="Calibri"/>
            </a:endParaRP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591309" y="3912548"/>
            <a:ext cx="427971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each draw from G is an atom, where its </a:t>
            </a:r>
          </a:p>
          <a:p>
            <a:pPr eaLnBrk="1" hangingPunct="1"/>
            <a:r>
              <a:rPr lang="en-US" sz="2000" dirty="0" smtClean="0">
                <a:solidFill>
                  <a:srgbClr val="0062AC"/>
                </a:solidFill>
                <a:latin typeface="Calibri"/>
                <a:cs typeface="Calibri"/>
              </a:rPr>
              <a:t>probability comes from the number of </a:t>
            </a:r>
          </a:p>
          <a:p>
            <a:pPr eaLnBrk="1" hangingPunct="1"/>
            <a:r>
              <a:rPr lang="en-US" sz="2000" dirty="0" smtClean="0">
                <a:solidFill>
                  <a:srgbClr val="0062AC"/>
                </a:solidFill>
                <a:latin typeface="Calibri"/>
                <a:cs typeface="Calibri"/>
              </a:rPr>
              <a:t>customers at its table</a:t>
            </a:r>
            <a:endParaRPr lang="en-US" sz="2000" i="0" dirty="0">
              <a:solidFill>
                <a:srgbClr val="0062AC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4563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21" grpId="0"/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When to be Bayesian?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you’re doing unsupervised learning or learning with latent variables</a:t>
            </a:r>
          </a:p>
          <a:p>
            <a:r>
              <a:rPr lang="en-US" dirty="0" smtClean="0"/>
              <a:t>if you want to marginalize out some model parameters</a:t>
            </a:r>
          </a:p>
          <a:p>
            <a:r>
              <a:rPr lang="en-US" dirty="0" smtClean="0"/>
              <a:t>if you want to learn the structure/architecture of your model</a:t>
            </a:r>
          </a:p>
          <a:p>
            <a:r>
              <a:rPr lang="en-US" dirty="0" smtClean="0"/>
              <a:t>if you want to learn a potentially-unbounded lexicon (Bayesian </a:t>
            </a:r>
            <a:r>
              <a:rPr lang="en-US" dirty="0" err="1" smtClean="0"/>
              <a:t>nonparametrics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99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is Structured Prediction?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666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Modeling, Inference, Learning</a:t>
            </a:r>
            <a:endParaRPr lang="en-US" sz="3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276" y="2207460"/>
            <a:ext cx="4902200" cy="520700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776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Modeling, Inference, Learning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81344"/>
            <a:ext cx="8229600" cy="1938419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288CD2"/>
                </a:solidFill>
              </a:rPr>
              <a:t>Modeling</a:t>
            </a:r>
            <a:r>
              <a:rPr lang="en-US" dirty="0" smtClean="0"/>
              <a:t>: How do we assign a score to an (</a:t>
            </a:r>
            <a:r>
              <a:rPr lang="en-US" i="1" dirty="0" err="1" smtClean="0"/>
              <a:t>x</a:t>
            </a:r>
            <a:r>
              <a:rPr lang="en-US" dirty="0" err="1" smtClean="0"/>
              <a:t>,</a:t>
            </a:r>
            <a:r>
              <a:rPr lang="en-US" i="1" dirty="0" err="1" smtClean="0"/>
              <a:t>y</a:t>
            </a:r>
            <a:r>
              <a:rPr lang="en-US" dirty="0" smtClean="0"/>
              <a:t>) pair using parameters    ?</a:t>
            </a:r>
          </a:p>
          <a:p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 bwMode="auto">
          <a:xfrm flipH="1">
            <a:off x="5151076" y="1253197"/>
            <a:ext cx="304800" cy="914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4562946" y="1214933"/>
            <a:ext cx="425233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i="0" dirty="0" smtClean="0">
                <a:solidFill>
                  <a:srgbClr val="288CD2"/>
                </a:solidFill>
                <a:latin typeface="Calibri"/>
                <a:cs typeface="Calibri"/>
              </a:rPr>
              <a:t>modeling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: define  </a:t>
            </a:r>
            <a:r>
              <a:rPr lang="en-US" sz="2400" i="0" dirty="0" smtClean="0">
                <a:solidFill>
                  <a:srgbClr val="FFFFFF"/>
                </a:solidFill>
                <a:latin typeface="Calibri"/>
                <a:cs typeface="Calibri"/>
              </a:rPr>
              <a:t>score 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function</a:t>
            </a:r>
            <a:endParaRPr lang="en-US" sz="2400" i="0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276" y="2207460"/>
            <a:ext cx="4902200" cy="5207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383" y="1422405"/>
            <a:ext cx="647700" cy="1524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5876" y="4461932"/>
            <a:ext cx="204851" cy="28363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238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Modeling, Inference, Learning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81344"/>
            <a:ext cx="8229600" cy="1938419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000"/>
                </a:solidFill>
              </a:rPr>
              <a:t>Inference</a:t>
            </a:r>
            <a:r>
              <a:rPr lang="en-US" dirty="0" smtClean="0"/>
              <a:t>: How do we efficiently search over the space of all labels?</a:t>
            </a: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276" y="2207460"/>
            <a:ext cx="4902200" cy="520700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 bwMode="auto">
          <a:xfrm>
            <a:off x="3699925" y="1676598"/>
            <a:ext cx="338667" cy="49099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1045609" y="1214933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endParaRPr lang="en-US" sz="2400" i="0" dirty="0">
              <a:solidFill>
                <a:srgbClr val="008000"/>
              </a:solidFill>
              <a:latin typeface="Calibri"/>
              <a:cs typeface="Calibri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625" y="1414131"/>
            <a:ext cx="990600" cy="215900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 bwMode="auto">
          <a:xfrm flipH="1">
            <a:off x="5151076" y="1253197"/>
            <a:ext cx="304800" cy="914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4562946" y="1214933"/>
            <a:ext cx="425233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i="0" dirty="0" smtClean="0">
                <a:solidFill>
                  <a:srgbClr val="288CD2"/>
                </a:solidFill>
                <a:latin typeface="Calibri"/>
                <a:cs typeface="Calibri"/>
              </a:rPr>
              <a:t>modeling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: define  </a:t>
            </a:r>
            <a:r>
              <a:rPr lang="en-US" sz="2400" i="0" dirty="0" smtClean="0">
                <a:solidFill>
                  <a:srgbClr val="FFFFFF"/>
                </a:solidFill>
                <a:latin typeface="Calibri"/>
                <a:cs typeface="Calibri"/>
              </a:rPr>
              <a:t>score 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function</a:t>
            </a:r>
            <a:endParaRPr lang="en-US" sz="2400" i="0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383" y="1422405"/>
            <a:ext cx="647700" cy="1524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682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Modeling, Inference, Learning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81344"/>
            <a:ext cx="8229600" cy="1938419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Learning</a:t>
            </a:r>
            <a:r>
              <a:rPr lang="en-US" dirty="0" smtClean="0"/>
              <a:t>: How do we choose    ?</a:t>
            </a: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276" y="2207460"/>
            <a:ext cx="4902200" cy="52070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 bwMode="auto">
          <a:xfrm flipV="1">
            <a:off x="5907224" y="2527564"/>
            <a:ext cx="283613" cy="65997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Box 8"/>
          <p:cNvSpPr txBox="1"/>
          <p:nvPr/>
        </p:nvSpPr>
        <p:spPr>
          <a:xfrm>
            <a:off x="5366668" y="3056704"/>
            <a:ext cx="2493140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lang="en-US" sz="2400" b="1" i="0" dirty="0" smtClean="0">
                <a:solidFill>
                  <a:srgbClr val="FF0000"/>
                </a:solidFill>
                <a:latin typeface="Calibri"/>
                <a:cs typeface="Calibri"/>
              </a:rPr>
              <a:t>earning</a:t>
            </a:r>
            <a:r>
              <a:rPr lang="en-US" sz="2400" i="0" dirty="0" smtClean="0">
                <a:solidFill>
                  <a:srgbClr val="FF0000"/>
                </a:solidFill>
                <a:latin typeface="Calibri"/>
                <a:cs typeface="Calibri"/>
              </a:rPr>
              <a:t>: choose </a:t>
            </a: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 smtClean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endParaRPr lang="en-US" sz="2400" i="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475" y="3204638"/>
            <a:ext cx="165100" cy="2286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098" y="3966632"/>
            <a:ext cx="204851" cy="283639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 bwMode="auto">
          <a:xfrm flipH="1">
            <a:off x="5151076" y="1253197"/>
            <a:ext cx="304800" cy="914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4562946" y="1214933"/>
            <a:ext cx="425233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i="0" dirty="0" smtClean="0">
                <a:solidFill>
                  <a:srgbClr val="288CD2"/>
                </a:solidFill>
                <a:latin typeface="Calibri"/>
                <a:cs typeface="Calibri"/>
              </a:rPr>
              <a:t>modeling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: define  </a:t>
            </a:r>
            <a:r>
              <a:rPr lang="en-US" sz="2400" i="0" dirty="0" smtClean="0">
                <a:solidFill>
                  <a:srgbClr val="FFFFFF"/>
                </a:solidFill>
                <a:latin typeface="Calibri"/>
                <a:cs typeface="Calibri"/>
              </a:rPr>
              <a:t>score 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function</a:t>
            </a:r>
            <a:endParaRPr lang="en-US" sz="2400" i="0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383" y="1422405"/>
            <a:ext cx="647700" cy="152400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 bwMode="auto">
          <a:xfrm>
            <a:off x="3699925" y="1676598"/>
            <a:ext cx="338667" cy="49099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Box 21"/>
          <p:cNvSpPr txBox="1"/>
          <p:nvPr/>
        </p:nvSpPr>
        <p:spPr>
          <a:xfrm>
            <a:off x="1045609" y="1214933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endParaRPr lang="en-US" sz="2400" i="0" dirty="0">
              <a:solidFill>
                <a:srgbClr val="008000"/>
              </a:solidFill>
              <a:latin typeface="Calibri"/>
              <a:cs typeface="Calibri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625" y="1414131"/>
            <a:ext cx="990600" cy="2159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26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Modeling, Inference, Learning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81344"/>
            <a:ext cx="8229600" cy="225648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 smtClean="0"/>
              <a:t>Structured Prediction: </a:t>
            </a:r>
          </a:p>
          <a:p>
            <a:pPr marL="0" indent="0">
              <a:buNone/>
            </a:pPr>
            <a:r>
              <a:rPr lang="en-US" b="1" dirty="0" smtClean="0"/>
              <a:t>size of output space is exponential in size of input</a:t>
            </a:r>
          </a:p>
          <a:p>
            <a:pPr marL="0" indent="0">
              <a:buNone/>
            </a:pPr>
            <a:r>
              <a:rPr lang="en-US" b="1" dirty="0" smtClean="0"/>
              <a:t>or is unbounded (e.g., machine translation)</a:t>
            </a:r>
          </a:p>
          <a:p>
            <a:pPr marL="0" indent="0">
              <a:buNone/>
            </a:pPr>
            <a:r>
              <a:rPr lang="en-US" b="1" dirty="0" smtClean="0"/>
              <a:t>(we can’t just enumerate all possible outputs)</a:t>
            </a: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276" y="2207460"/>
            <a:ext cx="4902200" cy="52070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 bwMode="auto">
          <a:xfrm flipV="1">
            <a:off x="5907224" y="2527564"/>
            <a:ext cx="283613" cy="65997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Box 8"/>
          <p:cNvSpPr txBox="1"/>
          <p:nvPr/>
        </p:nvSpPr>
        <p:spPr>
          <a:xfrm>
            <a:off x="5366668" y="3056704"/>
            <a:ext cx="2493140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lang="en-US" sz="2400" b="1" i="0" dirty="0" smtClean="0">
                <a:solidFill>
                  <a:srgbClr val="FF0000"/>
                </a:solidFill>
                <a:latin typeface="Calibri"/>
                <a:cs typeface="Calibri"/>
              </a:rPr>
              <a:t>earning</a:t>
            </a:r>
            <a:r>
              <a:rPr lang="en-US" sz="2400" i="0" dirty="0" smtClean="0">
                <a:solidFill>
                  <a:srgbClr val="FF0000"/>
                </a:solidFill>
                <a:latin typeface="Calibri"/>
                <a:cs typeface="Calibri"/>
              </a:rPr>
              <a:t>: choose </a:t>
            </a: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 smtClean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endParaRPr lang="en-US" sz="2400" i="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475" y="3204638"/>
            <a:ext cx="165100" cy="228600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 bwMode="auto">
          <a:xfrm flipH="1">
            <a:off x="5151076" y="1253197"/>
            <a:ext cx="304800" cy="914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4562946" y="1214933"/>
            <a:ext cx="425233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i="0" dirty="0" smtClean="0">
                <a:solidFill>
                  <a:srgbClr val="288CD2"/>
                </a:solidFill>
                <a:latin typeface="Calibri"/>
                <a:cs typeface="Calibri"/>
              </a:rPr>
              <a:t>modeling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: define  </a:t>
            </a:r>
            <a:r>
              <a:rPr lang="en-US" sz="2400" i="0" dirty="0" smtClean="0">
                <a:solidFill>
                  <a:srgbClr val="FFFFFF"/>
                </a:solidFill>
                <a:latin typeface="Calibri"/>
                <a:cs typeface="Calibri"/>
              </a:rPr>
              <a:t>score 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function</a:t>
            </a:r>
            <a:endParaRPr lang="en-US" sz="2400" i="0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383" y="1422405"/>
            <a:ext cx="647700" cy="152400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 bwMode="auto">
          <a:xfrm>
            <a:off x="3699925" y="1676598"/>
            <a:ext cx="338667" cy="49099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Box 21"/>
          <p:cNvSpPr txBox="1"/>
          <p:nvPr/>
        </p:nvSpPr>
        <p:spPr>
          <a:xfrm>
            <a:off x="1045609" y="1214933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endParaRPr lang="en-US" sz="2400" i="0" dirty="0">
              <a:solidFill>
                <a:srgbClr val="008000"/>
              </a:solidFill>
              <a:latin typeface="Calibri"/>
              <a:cs typeface="Calibri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625" y="1414131"/>
            <a:ext cx="990600" cy="2159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571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04915" y="1614270"/>
            <a:ext cx="8364189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chemeClr val="bg1"/>
                </a:solidFill>
                <a:latin typeface="Calibri"/>
                <a:cs typeface="Calibri"/>
              </a:rPr>
              <a:t>determiner     verb (past)      prep.   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proper     proper   </a:t>
            </a:r>
            <a:r>
              <a:rPr lang="en-US" sz="2000" i="0" dirty="0" smtClean="0">
                <a:solidFill>
                  <a:srgbClr val="FFFFFF"/>
                </a:solidFill>
                <a:latin typeface="Calibri"/>
                <a:cs typeface="Calibri"/>
              </a:rPr>
              <a:t>poss.     adj.             noun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</a:t>
            </a:r>
          </a:p>
          <a:p>
            <a:pPr eaLnBrk="1" hangingPunct="1"/>
            <a:endParaRPr lang="en-US" sz="1600" i="0" dirty="0" smtClean="0">
              <a:latin typeface="Calibri"/>
              <a:cs typeface="Calibri"/>
            </a:endParaRPr>
          </a:p>
          <a:p>
            <a:pPr eaLnBrk="1" hangingPunct="1"/>
            <a:r>
              <a:rPr lang="en-US" sz="2000" i="0" dirty="0" smtClean="0">
                <a:latin typeface="Calibri"/>
                <a:cs typeface="Calibri"/>
              </a:rPr>
              <a:t> </a:t>
            </a:r>
            <a:r>
              <a:rPr lang="en-US" sz="2000" i="0" dirty="0" smtClean="0">
                <a:solidFill>
                  <a:srgbClr val="FFFFFF"/>
                </a:solidFill>
                <a:latin typeface="Calibri"/>
                <a:cs typeface="Calibri"/>
              </a:rPr>
              <a:t>   modal       verb    det.         adjective         noun    prep.      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proper     </a:t>
            </a:r>
            <a:r>
              <a:rPr lang="en-US" sz="2000" i="0" dirty="0" err="1" smtClean="0">
                <a:solidFill>
                  <a:srgbClr val="FFFFFF"/>
                </a:solidFill>
                <a:latin typeface="Calibri"/>
                <a:cs typeface="Calibri"/>
              </a:rPr>
              <a:t>punc</a:t>
            </a:r>
            <a:r>
              <a:rPr lang="en-US" sz="2000" i="0" dirty="0" smtClean="0">
                <a:solidFill>
                  <a:srgbClr val="FFFFFF"/>
                </a:solidFill>
                <a:latin typeface="Calibri"/>
                <a:cs typeface="Calibri"/>
              </a:rPr>
              <a:t>.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17948" y="943018"/>
            <a:ext cx="3091870" cy="461665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Part-of-Speech Tagging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14145" y="1854400"/>
            <a:ext cx="8433769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determiner     verb (past)      prep.    noun        noun     poss.     adj.            noun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 Some      questioned      if       Tim      Cook      ’s      first      product </a:t>
            </a:r>
          </a:p>
          <a:p>
            <a:pPr eaLnBrk="1" hangingPunct="1"/>
            <a:endParaRPr lang="en-US" sz="1600" i="0" dirty="0" smtClean="0">
              <a:latin typeface="Calibri"/>
              <a:cs typeface="Calibri"/>
            </a:endParaRPr>
          </a:p>
          <a:p>
            <a:pPr eaLnBrk="1" hangingPunct="1"/>
            <a:r>
              <a:rPr lang="en-US" sz="2000" i="0" dirty="0" smtClean="0">
                <a:latin typeface="Calibri"/>
                <a:cs typeface="Calibri"/>
              </a:rPr>
              <a:t>    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modal       verb    det.         adjective         noun    prep.       </a:t>
            </a:r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n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oun      </a:t>
            </a:r>
            <a:r>
              <a:rPr lang="en-US" sz="2000" i="0" dirty="0" err="1" smtClean="0">
                <a:solidFill>
                  <a:srgbClr val="C50C0C"/>
                </a:solidFill>
                <a:latin typeface="Calibri"/>
                <a:cs typeface="Calibri"/>
              </a:rPr>
              <a:t>punc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.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 would      be      a      breakaway      hit      for      Apple        .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18998"/>
            <a:ext cx="8229600" cy="726831"/>
          </a:xfrm>
        </p:spPr>
        <p:txBody>
          <a:bodyPr>
            <a:noAutofit/>
          </a:bodyPr>
          <a:lstStyle/>
          <a:p>
            <a:r>
              <a:rPr lang="en-US" sz="2400" dirty="0" smtClean="0"/>
              <a:t>Simplest kind of structured prediction: Sequence Labeling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16505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14145" y="2225855"/>
            <a:ext cx="8503349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        O                    O              O     B-PERSON   I-PERSON      O          O                 O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 Some   questioned   if         Tim          Cook       ’s      first      product </a:t>
            </a:r>
          </a:p>
          <a:p>
            <a:pPr eaLnBrk="1" hangingPunct="1"/>
            <a:endParaRPr lang="en-US" sz="1600" i="0" dirty="0" smtClean="0">
              <a:latin typeface="Calibri"/>
              <a:cs typeface="Calibri"/>
            </a:endParaRPr>
          </a:p>
          <a:p>
            <a:pPr eaLnBrk="1" hangingPunct="1"/>
            <a:r>
              <a:rPr lang="en-US" sz="2000" i="0" dirty="0" smtClean="0">
                <a:latin typeface="Calibri"/>
                <a:cs typeface="Calibri"/>
              </a:rPr>
              <a:t>        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O              O         O                 O                 O        O     B-ORGANIZATION      O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 would      be      a      breakaway    hit    for            Apple              .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13329" y="1564254"/>
            <a:ext cx="3465944" cy="461665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Named Entity Recognition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155374" y="4789138"/>
            <a:ext cx="190884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400" b="1" i="0" dirty="0" smtClean="0">
                <a:solidFill>
                  <a:srgbClr val="C50C0C"/>
                </a:solidFill>
                <a:latin typeface="Calibri"/>
                <a:cs typeface="Calibri"/>
              </a:rPr>
              <a:t>B = “begin”</a:t>
            </a:r>
          </a:p>
          <a:p>
            <a:pPr eaLnBrk="1" hangingPunct="1"/>
            <a:r>
              <a:rPr lang="en-US" sz="2400" b="1" dirty="0" smtClean="0">
                <a:solidFill>
                  <a:srgbClr val="C50C0C"/>
                </a:solidFill>
                <a:latin typeface="Calibri"/>
                <a:cs typeface="Calibri"/>
              </a:rPr>
              <a:t> I = “inside”</a:t>
            </a:r>
          </a:p>
          <a:p>
            <a:pPr eaLnBrk="1" hangingPunct="1"/>
            <a:r>
              <a:rPr lang="en-US" sz="2400" b="1" dirty="0">
                <a:solidFill>
                  <a:srgbClr val="C50C0C"/>
                </a:solidFill>
                <a:latin typeface="Calibri"/>
                <a:cs typeface="Calibri"/>
              </a:rPr>
              <a:t>O = “outside”</a:t>
            </a:r>
          </a:p>
          <a:p>
            <a:pPr eaLnBrk="1" hangingPunct="1"/>
            <a:endParaRPr lang="en-US" sz="2400" b="1" dirty="0" smtClean="0">
              <a:solidFill>
                <a:srgbClr val="C50C0C"/>
              </a:solidFill>
              <a:latin typeface="Calibri"/>
              <a:cs typeface="Calibri"/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18998"/>
            <a:ext cx="8229600" cy="1210362"/>
          </a:xfrm>
        </p:spPr>
        <p:txBody>
          <a:bodyPr>
            <a:noAutofit/>
          </a:bodyPr>
          <a:lstStyle/>
          <a:p>
            <a:r>
              <a:rPr lang="en-US" sz="2800" dirty="0" smtClean="0"/>
              <a:t>Formulating segmentation tasks as sequence labeling via B-I-O labeling: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56445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Constituent </a:t>
            </a:r>
            <a:r>
              <a:rPr lang="en-US" dirty="0" smtClean="0"/>
              <a:t>Parsing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71442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smtClean="0"/>
              <a:t>(S (NP the </a:t>
            </a:r>
            <a:r>
              <a:rPr lang="en-US" dirty="0"/>
              <a:t>man) </a:t>
            </a:r>
            <a:r>
              <a:rPr lang="en-US" dirty="0" smtClean="0"/>
              <a:t>(VP walked (PP to (NP the </a:t>
            </a:r>
            <a:r>
              <a:rPr lang="en-US" dirty="0"/>
              <a:t>park)))</a:t>
            </a:r>
            <a:r>
              <a:rPr lang="en-US" dirty="0" smtClean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37</a:t>
            </a:fld>
            <a:endParaRPr lang="en-US"/>
          </a:p>
        </p:txBody>
      </p:sp>
      <p:cxnSp>
        <p:nvCxnSpPr>
          <p:cNvPr id="6" name="Straight Connector 5"/>
          <p:cNvCxnSpPr>
            <a:stCxn id="5" idx="2"/>
          </p:cNvCxnSpPr>
          <p:nvPr/>
        </p:nvCxnSpPr>
        <p:spPr>
          <a:xfrm flipH="1">
            <a:off x="1402080" y="2061884"/>
            <a:ext cx="1065175" cy="91499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endCxn id="5" idx="2"/>
          </p:cNvCxnSpPr>
          <p:nvPr/>
        </p:nvCxnSpPr>
        <p:spPr>
          <a:xfrm flipH="1" flipV="1">
            <a:off x="2467255" y="2061884"/>
            <a:ext cx="1312265" cy="39683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690880" y="3464560"/>
            <a:ext cx="487680" cy="116644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 flipV="1">
            <a:off x="1178560" y="3464560"/>
            <a:ext cx="416560" cy="116644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6240" y="4954170"/>
            <a:ext cx="5365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the man walked to the park</a:t>
            </a:r>
            <a:endParaRPr lang="en-US" sz="3600" dirty="0"/>
          </a:p>
        </p:txBody>
      </p:sp>
      <p:cxnSp>
        <p:nvCxnSpPr>
          <p:cNvPr id="14" name="Straight Connector 13"/>
          <p:cNvCxnSpPr>
            <a:stCxn id="21" idx="2"/>
          </p:cNvCxnSpPr>
          <p:nvPr/>
        </p:nvCxnSpPr>
        <p:spPr>
          <a:xfrm flipH="1">
            <a:off x="2753360" y="2935068"/>
            <a:ext cx="1115988" cy="169593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21" idx="2"/>
          </p:cNvCxnSpPr>
          <p:nvPr/>
        </p:nvCxnSpPr>
        <p:spPr>
          <a:xfrm>
            <a:off x="3869348" y="2935068"/>
            <a:ext cx="384181" cy="27434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30" idx="2"/>
          </p:cNvCxnSpPr>
          <p:nvPr/>
        </p:nvCxnSpPr>
        <p:spPr>
          <a:xfrm flipH="1">
            <a:off x="3830320" y="3631028"/>
            <a:ext cx="609600" cy="99997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endCxn id="30" idx="2"/>
          </p:cNvCxnSpPr>
          <p:nvPr/>
        </p:nvCxnSpPr>
        <p:spPr>
          <a:xfrm flipH="1" flipV="1">
            <a:off x="4439920" y="3631028"/>
            <a:ext cx="277830" cy="250092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9" idx="2"/>
          </p:cNvCxnSpPr>
          <p:nvPr/>
        </p:nvCxnSpPr>
        <p:spPr>
          <a:xfrm flipH="1">
            <a:off x="4439920" y="4320530"/>
            <a:ext cx="416244" cy="31047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92430" y="1538664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S</a:t>
            </a:r>
            <a:endParaRPr lang="en-US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913241" y="2920424"/>
            <a:ext cx="601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NP</a:t>
            </a:r>
            <a:endParaRPr lang="en-US" sz="2800" dirty="0"/>
          </a:p>
        </p:txBody>
      </p:sp>
      <p:sp>
        <p:nvSpPr>
          <p:cNvPr id="19" name="TextBox 18"/>
          <p:cNvSpPr txBox="1"/>
          <p:nvPr/>
        </p:nvSpPr>
        <p:spPr>
          <a:xfrm>
            <a:off x="4555190" y="3797310"/>
            <a:ext cx="601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NP</a:t>
            </a:r>
            <a:endParaRPr lang="en-US" sz="2800" dirty="0"/>
          </a:p>
        </p:txBody>
      </p:sp>
      <p:sp>
        <p:nvSpPr>
          <p:cNvPr id="21" name="TextBox 20"/>
          <p:cNvSpPr txBox="1"/>
          <p:nvPr/>
        </p:nvSpPr>
        <p:spPr>
          <a:xfrm>
            <a:off x="3582400" y="2411848"/>
            <a:ext cx="573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</a:t>
            </a:r>
            <a:r>
              <a:rPr lang="en-US" sz="2800" dirty="0" smtClean="0"/>
              <a:t>P</a:t>
            </a:r>
            <a:endParaRPr lang="en-US" sz="2800" dirty="0"/>
          </a:p>
        </p:txBody>
      </p:sp>
      <p:sp>
        <p:nvSpPr>
          <p:cNvPr id="30" name="TextBox 29"/>
          <p:cNvSpPr txBox="1"/>
          <p:nvPr/>
        </p:nvSpPr>
        <p:spPr>
          <a:xfrm>
            <a:off x="4162089" y="3107808"/>
            <a:ext cx="555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</a:t>
            </a:r>
            <a:r>
              <a:rPr lang="en-US" sz="2800" dirty="0" smtClean="0"/>
              <a:t>P</a:t>
            </a:r>
            <a:endParaRPr lang="en-US" sz="2800" dirty="0"/>
          </a:p>
        </p:txBody>
      </p:sp>
      <p:cxnSp>
        <p:nvCxnSpPr>
          <p:cNvPr id="43" name="Straight Connector 42"/>
          <p:cNvCxnSpPr>
            <a:endCxn id="19" idx="2"/>
          </p:cNvCxnSpPr>
          <p:nvPr/>
        </p:nvCxnSpPr>
        <p:spPr>
          <a:xfrm flipH="1" flipV="1">
            <a:off x="4856164" y="4320530"/>
            <a:ext cx="300974" cy="31047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997539" y="2420856"/>
            <a:ext cx="2836634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Key:</a:t>
            </a:r>
          </a:p>
          <a:p>
            <a:r>
              <a:rPr lang="en-US" sz="2000" dirty="0" smtClean="0"/>
              <a:t>S = sentence</a:t>
            </a:r>
          </a:p>
          <a:p>
            <a:r>
              <a:rPr lang="en-US" sz="2000" dirty="0" smtClean="0"/>
              <a:t>NP = noun phrase</a:t>
            </a:r>
          </a:p>
          <a:p>
            <a:r>
              <a:rPr lang="en-US" sz="2000" dirty="0" smtClean="0"/>
              <a:t>VP = verb phrase</a:t>
            </a:r>
          </a:p>
          <a:p>
            <a:r>
              <a:rPr lang="en-US" sz="2000" dirty="0" smtClean="0"/>
              <a:t>PP = prepositional phrase</a:t>
            </a:r>
          </a:p>
          <a:p>
            <a:r>
              <a:rPr lang="en-US" sz="2000" dirty="0" smtClean="0"/>
              <a:t>DT = determiner</a:t>
            </a:r>
          </a:p>
          <a:p>
            <a:r>
              <a:rPr lang="en-US" sz="2000" dirty="0" smtClean="0"/>
              <a:t>NN = noun</a:t>
            </a:r>
          </a:p>
          <a:p>
            <a:r>
              <a:rPr lang="en-US" sz="2000" dirty="0" smtClean="0"/>
              <a:t>VBD = verb (past tense)</a:t>
            </a:r>
          </a:p>
          <a:p>
            <a:r>
              <a:rPr lang="en-US" sz="2000" dirty="0" smtClean="0"/>
              <a:t>IN = preposition</a:t>
            </a:r>
          </a:p>
          <a:p>
            <a:endParaRPr lang="en-US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440706" y="4589769"/>
            <a:ext cx="580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DT</a:t>
            </a:r>
            <a:endParaRPr lang="en-US" sz="2800" dirty="0"/>
          </a:p>
        </p:txBody>
      </p:sp>
      <p:sp>
        <p:nvSpPr>
          <p:cNvPr id="25" name="TextBox 24"/>
          <p:cNvSpPr txBox="1"/>
          <p:nvPr/>
        </p:nvSpPr>
        <p:spPr>
          <a:xfrm>
            <a:off x="1304841" y="4589769"/>
            <a:ext cx="6482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NN</a:t>
            </a:r>
            <a:endParaRPr lang="en-US" sz="2800" dirty="0"/>
          </a:p>
        </p:txBody>
      </p:sp>
      <p:sp>
        <p:nvSpPr>
          <p:cNvPr id="26" name="TextBox 25"/>
          <p:cNvSpPr txBox="1"/>
          <p:nvPr/>
        </p:nvSpPr>
        <p:spPr>
          <a:xfrm>
            <a:off x="2385975" y="4607538"/>
            <a:ext cx="3122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VBD      IN    DT    NN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45721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6574"/>
          <a:stretch/>
        </p:blipFill>
        <p:spPr>
          <a:xfrm>
            <a:off x="3059545" y="1663152"/>
            <a:ext cx="3493655" cy="2235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745345" y="2526752"/>
            <a:ext cx="3048000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10" idx="3"/>
          </p:cNvCxnSpPr>
          <p:nvPr/>
        </p:nvCxnSpPr>
        <p:spPr bwMode="auto">
          <a:xfrm>
            <a:off x="2500745" y="2860097"/>
            <a:ext cx="721360" cy="311815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TextBox 9"/>
          <p:cNvSpPr txBox="1"/>
          <p:nvPr/>
        </p:nvSpPr>
        <p:spPr>
          <a:xfrm>
            <a:off x="675684" y="2660042"/>
            <a:ext cx="1825061" cy="400110"/>
          </a:xfrm>
          <a:prstGeom prst="rect">
            <a:avLst/>
          </a:prstGeom>
          <a:noFill/>
          <a:ln w="38100" cmpd="sng">
            <a:solidFill>
              <a:srgbClr val="288CD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“wall” symbol</a:t>
            </a:r>
            <a:endParaRPr lang="en-US" sz="2000" dirty="0"/>
          </a:p>
        </p:txBody>
      </p:sp>
      <p:cxnSp>
        <p:nvCxnSpPr>
          <p:cNvPr id="13" name="Straight Arrow Connector 12"/>
          <p:cNvCxnSpPr>
            <a:stCxn id="10" idx="3"/>
          </p:cNvCxnSpPr>
          <p:nvPr/>
        </p:nvCxnSpPr>
        <p:spPr bwMode="auto">
          <a:xfrm flipV="1">
            <a:off x="2500745" y="2440392"/>
            <a:ext cx="721360" cy="419705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Dependency Parsing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744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979"/>
            <a:ext cx="8229600" cy="623836"/>
          </a:xfrm>
        </p:spPr>
        <p:txBody>
          <a:bodyPr>
            <a:normAutofit/>
          </a:bodyPr>
          <a:lstStyle/>
          <a:p>
            <a:r>
              <a:rPr lang="en-US" sz="3200" dirty="0" err="1" smtClean="0"/>
              <a:t>Coreference</a:t>
            </a:r>
            <a:r>
              <a:rPr lang="en-US" sz="3200" dirty="0" smtClean="0"/>
              <a:t> Resolution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514" y="724091"/>
            <a:ext cx="8522888" cy="580388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 smtClean="0"/>
              <a:t>    As </a:t>
            </a:r>
            <a:r>
              <a:rPr lang="en-US" sz="2800" dirty="0"/>
              <a:t>we head towards training camp, </a:t>
            </a:r>
            <a:r>
              <a:rPr lang="en-US" sz="2800" dirty="0" smtClean="0"/>
              <a:t>the </a:t>
            </a:r>
            <a:r>
              <a:rPr lang="en-US" sz="2800" b="1" dirty="0">
                <a:solidFill>
                  <a:srgbClr val="008000"/>
                </a:solidFill>
              </a:rPr>
              <a:t>Philadelphia Eagles </a:t>
            </a:r>
            <a:r>
              <a:rPr lang="en-US" sz="2800" dirty="0"/>
              <a:t>have finally filled most of their needs on offense. </a:t>
            </a:r>
          </a:p>
          <a:p>
            <a:pPr marL="0" indent="0">
              <a:buNone/>
            </a:pPr>
            <a:r>
              <a:rPr lang="en-US" sz="2800" dirty="0" smtClean="0"/>
              <a:t>    One </a:t>
            </a:r>
            <a:r>
              <a:rPr lang="en-US" sz="2800" dirty="0"/>
              <a:t>of the main goals for this off-season was to find weapons for </a:t>
            </a:r>
            <a:r>
              <a:rPr lang="en-US" sz="2800" b="1" dirty="0">
                <a:solidFill>
                  <a:srgbClr val="008000"/>
                </a:solidFill>
              </a:rPr>
              <a:t>the </a:t>
            </a:r>
            <a:r>
              <a:rPr lang="en-US" sz="2800" b="1" dirty="0" smtClean="0">
                <a:solidFill>
                  <a:srgbClr val="008000"/>
                </a:solidFill>
              </a:rPr>
              <a:t>team’s </a:t>
            </a:r>
            <a:r>
              <a:rPr lang="en-US" sz="2800" dirty="0"/>
              <a:t>franchise quarterback, </a:t>
            </a:r>
            <a:r>
              <a:rPr lang="en-US" sz="2800" b="1" dirty="0">
                <a:solidFill>
                  <a:srgbClr val="BC0000"/>
                </a:solidFill>
              </a:rPr>
              <a:t>Carson Wentz</a:t>
            </a:r>
            <a:r>
              <a:rPr lang="en-US" sz="2800" dirty="0" smtClean="0"/>
              <a:t>. </a:t>
            </a:r>
            <a:r>
              <a:rPr lang="en-US" sz="2800" b="1" dirty="0" smtClean="0">
                <a:solidFill>
                  <a:srgbClr val="008000"/>
                </a:solidFill>
              </a:rPr>
              <a:t>The </a:t>
            </a:r>
            <a:r>
              <a:rPr lang="en-US" sz="2800" b="1" dirty="0">
                <a:solidFill>
                  <a:srgbClr val="008000"/>
                </a:solidFill>
              </a:rPr>
              <a:t>Eagles</a:t>
            </a:r>
            <a:r>
              <a:rPr lang="en-US" sz="2800" dirty="0">
                <a:solidFill>
                  <a:srgbClr val="008000"/>
                </a:solidFill>
              </a:rPr>
              <a:t> </a:t>
            </a:r>
            <a:r>
              <a:rPr lang="en-US" sz="2800" dirty="0"/>
              <a:t>needed a wide receiver who could stretch the field and give </a:t>
            </a:r>
            <a:r>
              <a:rPr lang="en-US" sz="2800" b="1" dirty="0">
                <a:solidFill>
                  <a:srgbClr val="BC0000"/>
                </a:solidFill>
              </a:rPr>
              <a:t>Wentz</a:t>
            </a:r>
            <a:r>
              <a:rPr lang="en-US" sz="2800" dirty="0"/>
              <a:t> the opportunity to throw the long ball. 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b="1" dirty="0" smtClean="0">
                <a:solidFill>
                  <a:srgbClr val="008000"/>
                </a:solidFill>
              </a:rPr>
              <a:t>    They</a:t>
            </a:r>
            <a:r>
              <a:rPr lang="en-US" sz="2800" dirty="0" smtClean="0">
                <a:solidFill>
                  <a:srgbClr val="008000"/>
                </a:solidFill>
              </a:rPr>
              <a:t> </a:t>
            </a:r>
            <a:r>
              <a:rPr lang="en-US" sz="2800" dirty="0"/>
              <a:t>signed </a:t>
            </a:r>
            <a:r>
              <a:rPr lang="en-US" sz="2800" dirty="0" smtClean="0"/>
              <a:t>receiver </a:t>
            </a:r>
            <a:r>
              <a:rPr lang="en-US" sz="2800" b="1" dirty="0">
                <a:solidFill>
                  <a:srgbClr val="288CD2"/>
                </a:solidFill>
              </a:rPr>
              <a:t>Torrey Smith </a:t>
            </a:r>
            <a:r>
              <a:rPr lang="en-US" sz="2800" dirty="0"/>
              <a:t>to a </a:t>
            </a:r>
            <a:r>
              <a:rPr lang="en-US" sz="2800" dirty="0" smtClean="0"/>
              <a:t>3-</a:t>
            </a:r>
            <a:r>
              <a:rPr lang="en-US" sz="2800" dirty="0"/>
              <a:t>year deal. While the signing of </a:t>
            </a:r>
            <a:r>
              <a:rPr lang="en-US" sz="2800" b="1" dirty="0">
                <a:solidFill>
                  <a:srgbClr val="288CD2"/>
                </a:solidFill>
              </a:rPr>
              <a:t>Smith</a:t>
            </a:r>
            <a:r>
              <a:rPr lang="en-US" sz="2800" dirty="0"/>
              <a:t> was huge for </a:t>
            </a:r>
            <a:r>
              <a:rPr lang="en-US" sz="2800" b="1" dirty="0">
                <a:solidFill>
                  <a:srgbClr val="008000"/>
                </a:solidFill>
              </a:rPr>
              <a:t>the team</a:t>
            </a:r>
            <a:r>
              <a:rPr lang="en-US" sz="2800" dirty="0"/>
              <a:t>, the biggest signing </a:t>
            </a:r>
            <a:r>
              <a:rPr lang="en-US" sz="2800" b="1" dirty="0">
                <a:solidFill>
                  <a:srgbClr val="008000"/>
                </a:solidFill>
              </a:rPr>
              <a:t>the Eagles </a:t>
            </a:r>
            <a:r>
              <a:rPr lang="en-US" sz="2800" dirty="0"/>
              <a:t>made was former </a:t>
            </a:r>
            <a:r>
              <a:rPr lang="en-US" sz="2800" b="1" dirty="0">
                <a:solidFill>
                  <a:srgbClr val="FF6600"/>
                </a:solidFill>
              </a:rPr>
              <a:t>Chicago Bears </a:t>
            </a:r>
            <a:r>
              <a:rPr lang="en-US" sz="2800" dirty="0"/>
              <a:t>receiver </a:t>
            </a:r>
            <a:r>
              <a:rPr lang="en-US" sz="2800" b="1" dirty="0" err="1">
                <a:solidFill>
                  <a:schemeClr val="accent4"/>
                </a:solidFill>
              </a:rPr>
              <a:t>Alshon</a:t>
            </a:r>
            <a:r>
              <a:rPr lang="en-US" sz="2800" b="1" dirty="0">
                <a:solidFill>
                  <a:schemeClr val="accent4"/>
                </a:solidFill>
              </a:rPr>
              <a:t> Jeffery</a:t>
            </a:r>
            <a:r>
              <a:rPr lang="en-US" sz="2800" dirty="0"/>
              <a:t>. </a:t>
            </a:r>
            <a:r>
              <a:rPr lang="en-US" sz="2800" b="1" dirty="0">
                <a:solidFill>
                  <a:srgbClr val="8064A2"/>
                </a:solidFill>
              </a:rPr>
              <a:t>He</a:t>
            </a:r>
            <a:r>
              <a:rPr lang="en-US" sz="2800" dirty="0">
                <a:solidFill>
                  <a:srgbClr val="8064A2"/>
                </a:solidFill>
              </a:rPr>
              <a:t> </a:t>
            </a:r>
            <a:r>
              <a:rPr lang="en-US" sz="2800" dirty="0"/>
              <a:t>had a solid </a:t>
            </a:r>
            <a:r>
              <a:rPr lang="en-US" sz="2800" dirty="0" smtClean="0"/>
              <a:t>5-</a:t>
            </a:r>
            <a:r>
              <a:rPr lang="en-US" sz="2800" dirty="0"/>
              <a:t>year stint in Chicago, but as </a:t>
            </a:r>
            <a:r>
              <a:rPr lang="en-US" sz="2800" b="1" dirty="0">
                <a:solidFill>
                  <a:srgbClr val="FF6600"/>
                </a:solidFill>
              </a:rPr>
              <a:t>the team </a:t>
            </a:r>
            <a:r>
              <a:rPr lang="en-US" sz="2800" dirty="0"/>
              <a:t>started to fall apart, </a:t>
            </a:r>
            <a:r>
              <a:rPr lang="en-US" sz="2800" b="1" dirty="0">
                <a:solidFill>
                  <a:srgbClr val="8064A2"/>
                </a:solidFill>
              </a:rPr>
              <a:t>Jeffery</a:t>
            </a:r>
            <a:r>
              <a:rPr lang="en-US" sz="2800" dirty="0">
                <a:solidFill>
                  <a:srgbClr val="8064A2"/>
                </a:solidFill>
              </a:rPr>
              <a:t> </a:t>
            </a:r>
            <a:r>
              <a:rPr lang="en-US" sz="2800" dirty="0"/>
              <a:t>was forced to explore other options.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690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979"/>
            <a:ext cx="8229600" cy="623836"/>
          </a:xfrm>
        </p:spPr>
        <p:txBody>
          <a:bodyPr>
            <a:normAutofit/>
          </a:bodyPr>
          <a:lstStyle/>
          <a:p>
            <a:r>
              <a:rPr lang="en-US" sz="3200" dirty="0" err="1" smtClean="0"/>
              <a:t>Coreference</a:t>
            </a:r>
            <a:r>
              <a:rPr lang="en-US" sz="3200" dirty="0" smtClean="0"/>
              <a:t> Resolution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514" y="724091"/>
            <a:ext cx="8522888" cy="580388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 smtClean="0"/>
              <a:t>input</a:t>
            </a:r>
            <a:r>
              <a:rPr lang="en-US" sz="2800" dirty="0" smtClean="0"/>
              <a:t>: a document</a:t>
            </a:r>
          </a:p>
          <a:p>
            <a:pPr marL="0" indent="0">
              <a:buNone/>
            </a:pPr>
            <a:r>
              <a:rPr lang="en-US" sz="2800" b="1" dirty="0" smtClean="0"/>
              <a:t>output</a:t>
            </a:r>
            <a:r>
              <a:rPr lang="en-US" sz="2800" dirty="0" smtClean="0"/>
              <a:t>: a set of “mentions” (textual spans in document), and memberships of those mentions in clusters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627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2920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Semantic Role Labeling</a:t>
            </a:r>
            <a:endParaRPr lang="en-US" dirty="0"/>
          </a:p>
        </p:txBody>
      </p:sp>
      <p:pic>
        <p:nvPicPr>
          <p:cNvPr id="5" name="Content Placeholder 4" descr="whodidwhattowom.pd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0208" b="-30208"/>
          <a:stretch>
            <a:fillRect/>
          </a:stretch>
        </p:blipFill>
        <p:spPr>
          <a:xfrm>
            <a:off x="182880" y="376739"/>
            <a:ext cx="8839200" cy="3535680"/>
          </a:xfrm>
        </p:spPr>
      </p:pic>
      <p:sp>
        <p:nvSpPr>
          <p:cNvPr id="6" name="TextBox 5"/>
          <p:cNvSpPr txBox="1"/>
          <p:nvPr/>
        </p:nvSpPr>
        <p:spPr>
          <a:xfrm>
            <a:off x="1229360" y="3232855"/>
            <a:ext cx="766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Agent</a:t>
            </a:r>
            <a:endParaRPr lang="en-US" dirty="0"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67199" y="3232855"/>
            <a:ext cx="862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Theme</a:t>
            </a:r>
            <a:endParaRPr lang="en-US" dirty="0">
              <a:latin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1" y="3232855"/>
            <a:ext cx="1112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Predicate</a:t>
            </a:r>
            <a:endParaRPr lang="en-US" dirty="0">
              <a:latin typeface="+mn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7000" y="3232855"/>
            <a:ext cx="1018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Location</a:t>
            </a:r>
            <a:endParaRPr lang="en-US" dirty="0">
              <a:latin typeface="+mn-lt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 smtClean="0">
                <a:solidFill>
                  <a:srgbClr val="288CD2"/>
                </a:solidFill>
              </a:rPr>
              <a:t>J&amp;M/SLP3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56514" y="4153444"/>
            <a:ext cx="8522888" cy="2250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800" b="1" dirty="0" smtClean="0"/>
              <a:t>input</a:t>
            </a:r>
            <a:r>
              <a:rPr lang="en-US" sz="2800" dirty="0" smtClean="0"/>
              <a:t>: a sentence</a:t>
            </a:r>
          </a:p>
          <a:p>
            <a:pPr marL="0" indent="0">
              <a:buFont typeface="Arial"/>
              <a:buNone/>
            </a:pPr>
            <a:r>
              <a:rPr lang="en-US" sz="2800" b="1" dirty="0" smtClean="0"/>
              <a:t>output</a:t>
            </a:r>
            <a:r>
              <a:rPr lang="en-US" sz="2800" dirty="0" smtClean="0"/>
              <a:t>: one span in the sentence identified as a </a:t>
            </a:r>
            <a:r>
              <a:rPr lang="en-US" sz="2800" i="1" dirty="0" smtClean="0"/>
              <a:t>predicate</a:t>
            </a:r>
            <a:r>
              <a:rPr lang="en-US" sz="2800" dirty="0" smtClean="0"/>
              <a:t>, and a set of other spans identified as particular </a:t>
            </a:r>
            <a:r>
              <a:rPr lang="en-US" sz="2800" i="1" dirty="0" smtClean="0"/>
              <a:t>roles </a:t>
            </a:r>
            <a:r>
              <a:rPr lang="en-US" sz="2800" dirty="0" smtClean="0"/>
              <a:t>for that predicate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76746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Supervised Word Alignment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8623"/>
            <a:ext cx="9144000" cy="3520440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7966280" cy="9594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given parallel sentences, predict word alignments: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20146" y="6125517"/>
            <a:ext cx="2574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288CD2"/>
                </a:solidFill>
              </a:rPr>
              <a:t>Brown et al. (1990)</a:t>
            </a:r>
          </a:p>
        </p:txBody>
      </p:sp>
    </p:spTree>
    <p:extLst>
      <p:ext uri="{BB962C8B-B14F-4D97-AF65-F5344CB8AC3E}">
        <p14:creationId xmlns:p14="http://schemas.microsoft.com/office/powerpoint/2010/main" val="498959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048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" y="929960"/>
            <a:ext cx="8775700" cy="4421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534400" cy="853760"/>
          </a:xfrm>
        </p:spPr>
        <p:txBody>
          <a:bodyPr>
            <a:normAutofit/>
          </a:bodyPr>
          <a:lstStyle/>
          <a:p>
            <a:r>
              <a:rPr lang="en-US" sz="3600" dirty="0"/>
              <a:t>Machine </a:t>
            </a:r>
            <a:r>
              <a:rPr lang="en-US" sz="3600" dirty="0" smtClean="0"/>
              <a:t>Translation</a:t>
            </a:r>
            <a:endParaRPr lang="en-US" sz="2800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929960"/>
            <a:ext cx="8229600" cy="73549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phrase-based model (Koehn et al., 2003):</a:t>
            </a:r>
            <a:endParaRPr lang="en-US" sz="28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56514" y="4624919"/>
            <a:ext cx="8522888" cy="19410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800" b="1" dirty="0" smtClean="0"/>
              <a:t>input</a:t>
            </a:r>
            <a:r>
              <a:rPr lang="en-US" sz="2800" dirty="0" smtClean="0"/>
              <a:t>: a sentence in the source language</a:t>
            </a:r>
          </a:p>
          <a:p>
            <a:pPr marL="0" indent="0">
              <a:buFont typeface="Arial"/>
              <a:buNone/>
            </a:pPr>
            <a:r>
              <a:rPr lang="en-US" sz="2800" b="1" dirty="0" smtClean="0"/>
              <a:t>output</a:t>
            </a:r>
            <a:r>
              <a:rPr lang="en-US" sz="2800" dirty="0" smtClean="0"/>
              <a:t>: a segmentation of the source sentence into segments, a translation of each segment, and an ordering of the translations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08467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5052424"/>
          </a:xfrm>
        </p:spPr>
        <p:txBody>
          <a:bodyPr>
            <a:normAutofit/>
          </a:bodyPr>
          <a:lstStyle/>
          <a:p>
            <a:r>
              <a:rPr lang="en-US" dirty="0" smtClean="0"/>
              <a:t>I think of structured prediction methods in two primary categories:</a:t>
            </a:r>
          </a:p>
          <a:p>
            <a:pPr marL="0" indent="0">
              <a:buNone/>
            </a:pPr>
            <a:r>
              <a:rPr lang="en-US" dirty="0" smtClean="0"/>
              <a:t>	score-based and search-based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Key Categories of Structured Prediction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910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Score-Based Structured Prediction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/>
              <a:buChar char="•"/>
            </a:pPr>
            <a:r>
              <a:rPr lang="en-US" dirty="0" smtClean="0"/>
              <a:t>focus on defining the score function of the structured input/output pair:</a:t>
            </a:r>
          </a:p>
          <a:p>
            <a:pPr marL="342900" lvl="1" indent="-342900">
              <a:buFont typeface="Arial"/>
              <a:buChar char="•"/>
            </a:pPr>
            <a:endParaRPr lang="en-US" dirty="0"/>
          </a:p>
          <a:p>
            <a:pPr marL="342900" lvl="1" indent="-342900">
              <a:buFont typeface="Arial"/>
              <a:buChar char="•"/>
            </a:pPr>
            <a:endParaRPr lang="en-US" dirty="0" smtClean="0"/>
          </a:p>
          <a:p>
            <a:pPr marL="342900" lvl="1" indent="-342900">
              <a:buFont typeface="Arial"/>
              <a:buChar char="•"/>
            </a:pPr>
            <a:r>
              <a:rPr lang="en-US" dirty="0" smtClean="0"/>
              <a:t>in </a:t>
            </a:r>
            <a:r>
              <a:rPr lang="en-US" dirty="0"/>
              <a:t>dependency parsing, this is called “graph-based parsing</a:t>
            </a:r>
            <a:r>
              <a:rPr lang="en-US" dirty="0" smtClean="0"/>
              <a:t>” because minimum spanning tree algorithms can be used to find the globally-optimal max-scoring tree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100" y="2386279"/>
            <a:ext cx="17018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643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Search-Based Structured Prediction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/>
              <a:buChar char="•"/>
            </a:pPr>
            <a:r>
              <a:rPr lang="en-US" dirty="0" smtClean="0"/>
              <a:t>focus on the procedure for searching through the structured output space (usually involves simple greedy or beam search)</a:t>
            </a:r>
          </a:p>
          <a:p>
            <a:pPr marL="342900" lvl="1" indent="-342900">
              <a:buFont typeface="Arial"/>
              <a:buChar char="•"/>
            </a:pPr>
            <a:r>
              <a:rPr lang="en-US" dirty="0" smtClean="0"/>
              <a:t>design a classifier to score a small number of decisions at each position in the search</a:t>
            </a:r>
          </a:p>
          <a:p>
            <a:pPr marL="742950" lvl="2" indent="-342900"/>
            <a:r>
              <a:rPr lang="en-US" dirty="0" smtClean="0"/>
              <a:t>this classifier can use information about the current state as well as the entire history of the search</a:t>
            </a:r>
          </a:p>
          <a:p>
            <a:pPr marL="342900" lvl="1" indent="-342900">
              <a:buFont typeface="Arial"/>
              <a:buChar char="•"/>
            </a:pPr>
            <a:endParaRPr lang="en-US" dirty="0" smtClean="0"/>
          </a:p>
          <a:p>
            <a:pPr marL="342900" lvl="1" indent="-342900">
              <a:buFont typeface="Arial"/>
              <a:buChar char="•"/>
            </a:pPr>
            <a:r>
              <a:rPr lang="en-US" dirty="0" smtClean="0"/>
              <a:t>in </a:t>
            </a:r>
            <a:r>
              <a:rPr lang="en-US" dirty="0"/>
              <a:t>dependency parsing, this is </a:t>
            </a:r>
            <a:r>
              <a:rPr lang="en-US" dirty="0" smtClean="0"/>
              <a:t>called </a:t>
            </a:r>
            <a:r>
              <a:rPr lang="en-US" dirty="0"/>
              <a:t>“transition-based parsing</a:t>
            </a:r>
            <a:r>
              <a:rPr lang="en-US" dirty="0" smtClean="0"/>
              <a:t>” because it consists of greedily, sequentially deciding what parsing decision to make</a:t>
            </a:r>
            <a:endParaRPr lang="en-US" dirty="0"/>
          </a:p>
          <a:p>
            <a:pPr marL="342900" lvl="1" indent="-342900">
              <a:buFont typeface="Arial"/>
              <a:buChar char="•"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566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	Structured Prediction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make SP practical, we need to decompose the SP problem into </a:t>
            </a:r>
            <a:r>
              <a:rPr lang="en-US" b="1" dirty="0" smtClean="0"/>
              <a:t>parts</a:t>
            </a:r>
            <a:endParaRPr lang="en-US" dirty="0" smtClean="0"/>
          </a:p>
          <a:p>
            <a:r>
              <a:rPr lang="en-US" dirty="0" smtClean="0"/>
              <a:t>this is true whether we are going to use search-based or score-based SP</a:t>
            </a:r>
          </a:p>
          <a:p>
            <a:pPr lvl="1"/>
            <a:r>
              <a:rPr lang="en-US" dirty="0" smtClean="0"/>
              <a:t>score-based: score function decomposes additively into scores of parts</a:t>
            </a:r>
          </a:p>
          <a:p>
            <a:pPr lvl="1"/>
            <a:r>
              <a:rPr lang="en-US" dirty="0" smtClean="0"/>
              <a:t>search-based: search factors into a sequence of decisions, each one adding a part to the final output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369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69259</TotalTime>
  <Words>1472</Words>
  <Application>Microsoft Macintosh PowerPoint</Application>
  <PresentationFormat>On-screen Show (4:3)</PresentationFormat>
  <Paragraphs>326</Paragraphs>
  <Slides>47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Calibri</vt:lpstr>
      <vt:lpstr>Times New Roman</vt:lpstr>
      <vt:lpstr>TIMES-ROMAN</vt:lpstr>
      <vt:lpstr>Arial</vt:lpstr>
      <vt:lpstr>Office Theme</vt:lpstr>
      <vt:lpstr>TTIC 31210: Advanced Natural Language Processing</vt:lpstr>
      <vt:lpstr>PowerPoint Presentation</vt:lpstr>
      <vt:lpstr>PowerPoint Presentation</vt:lpstr>
      <vt:lpstr>Key Quantities</vt:lpstr>
      <vt:lpstr>Gibbs Sampling Template</vt:lpstr>
      <vt:lpstr>LDA</vt:lpstr>
      <vt:lpstr>Expectation Maximization (EM)</vt:lpstr>
      <vt:lpstr>EM</vt:lpstr>
      <vt:lpstr>Different Views of the Dirichlet Process (DP)</vt:lpstr>
      <vt:lpstr>Base Distribution       for DP</vt:lpstr>
      <vt:lpstr>Concentration Parameter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Draw G from a DP (Stick-Breaking Representation)</vt:lpstr>
      <vt:lpstr>A Representation of G Drawn from a DP (Chinese Restaurant Process Representation)</vt:lpstr>
      <vt:lpstr>When to be Bayesian?</vt:lpstr>
      <vt:lpstr>What is Structured Prediction?</vt:lpstr>
      <vt:lpstr>Modeling, Inference, Learning</vt:lpstr>
      <vt:lpstr>Modeling, Inference, Learning</vt:lpstr>
      <vt:lpstr>Modeling, Inference, Learning</vt:lpstr>
      <vt:lpstr>Modeling, Inference, Learning</vt:lpstr>
      <vt:lpstr>Modeling, Inference, Learning</vt:lpstr>
      <vt:lpstr>Simplest kind of structured prediction: Sequence Labeling</vt:lpstr>
      <vt:lpstr>Formulating segmentation tasks as sequence labeling via B-I-O labeling:</vt:lpstr>
      <vt:lpstr>Constituent Parsing</vt:lpstr>
      <vt:lpstr>Dependency Parsing</vt:lpstr>
      <vt:lpstr>Coreference Resolution</vt:lpstr>
      <vt:lpstr>Coreference Resolution</vt:lpstr>
      <vt:lpstr>Semantic Role Labeling</vt:lpstr>
      <vt:lpstr>Supervised Word Alignment</vt:lpstr>
      <vt:lpstr>Machine Translation</vt:lpstr>
      <vt:lpstr>Key Categories of Structured Prediction</vt:lpstr>
      <vt:lpstr>Score-Based Structured Prediction</vt:lpstr>
      <vt:lpstr>Search-Based Structured Prediction</vt:lpstr>
      <vt:lpstr> Structured Prediction</vt:lpstr>
    </vt:vector>
  </TitlesOfParts>
  <Company/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Microsoft Office User</cp:lastModifiedBy>
  <cp:revision>1020</cp:revision>
  <dcterms:created xsi:type="dcterms:W3CDTF">2015-08-31T18:15:35Z</dcterms:created>
  <dcterms:modified xsi:type="dcterms:W3CDTF">2017-05-22T20:54:34Z</dcterms:modified>
</cp:coreProperties>
</file>