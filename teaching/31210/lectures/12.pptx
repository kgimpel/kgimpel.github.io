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1003" r:id="rId3"/>
    <p:sldId id="1004" r:id="rId4"/>
    <p:sldId id="1007" r:id="rId5"/>
    <p:sldId id="1040" r:id="rId6"/>
    <p:sldId id="1014" r:id="rId7"/>
    <p:sldId id="1011" r:id="rId8"/>
    <p:sldId id="1013" r:id="rId9"/>
    <p:sldId id="1038" r:id="rId10"/>
    <p:sldId id="1016" r:id="rId11"/>
    <p:sldId id="1018" r:id="rId12"/>
    <p:sldId id="1020" r:id="rId13"/>
    <p:sldId id="1041" r:id="rId14"/>
    <p:sldId id="1045" r:id="rId15"/>
    <p:sldId id="1042" r:id="rId16"/>
    <p:sldId id="1046" r:id="rId17"/>
    <p:sldId id="1047" r:id="rId18"/>
    <p:sldId id="1048" r:id="rId19"/>
    <p:sldId id="1044" r:id="rId20"/>
    <p:sldId id="1049" r:id="rId21"/>
    <p:sldId id="1050" r:id="rId22"/>
    <p:sldId id="105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31"/>
    <p:restoredTop sz="87262" autoAdjust="0"/>
  </p:normalViewPr>
  <p:slideViewPr>
    <p:cSldViewPr snapToGrid="0" snapToObjects="1">
      <p:cViewPr varScale="1">
        <p:scale>
          <a:sx n="113" d="100"/>
          <a:sy n="113" d="100"/>
        </p:scale>
        <p:origin x="-327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interSettings" Target="printerSettings/printerSettings1.bin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5/16/17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5/16/17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5/16/17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5/16/17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5/16/17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5/16/17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5/16/17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5/16/17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5/16/17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5/16/17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5/16/17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5/16/17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5/16/17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5/16/17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5.emf"/><Relationship Id="rId6" Type="http://schemas.openxmlformats.org/officeDocument/2006/relationships/image" Target="../media/image6.emf"/><Relationship Id="rId7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3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13.emf"/><Relationship Id="rId5" Type="http://schemas.openxmlformats.org/officeDocument/2006/relationships/image" Target="../media/image14.emf"/><Relationship Id="rId6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6.emf"/><Relationship Id="rId5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emf"/><Relationship Id="rId3" Type="http://schemas.openxmlformats.org/officeDocument/2006/relationships/image" Target="../media/image21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emf"/><Relationship Id="rId3" Type="http://schemas.openxmlformats.org/officeDocument/2006/relationships/image" Target="../media/image21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emf"/><Relationship Id="rId3" Type="http://schemas.openxmlformats.org/officeDocument/2006/relationships/image" Target="../media/image21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Relationship Id="rId3" Type="http://schemas.openxmlformats.org/officeDocument/2006/relationships/image" Target="../media/image24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Relationship Id="rId3" Type="http://schemas.openxmlformats.org/officeDocument/2006/relationships/image" Target="../media/image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TTIC 31210:</a:t>
            </a:r>
            <a:br>
              <a:rPr lang="en-US" dirty="0" smtClean="0"/>
            </a:br>
            <a:r>
              <a:rPr lang="en-US" sz="4000" dirty="0" smtClean="0"/>
              <a:t>Advanced Natural Language Processing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4100" y="1993899"/>
            <a:ext cx="7061200" cy="41810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Spring 2017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12: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Bayesian Inference, Unsupervised NLP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75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Generative Story Template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992724"/>
            <a:ext cx="6807200" cy="1435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520" y="2773551"/>
            <a:ext cx="6184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89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75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Quantities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54362" y="1557618"/>
            <a:ext cx="370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</a:t>
            </a:r>
            <a:r>
              <a:rPr lang="en-US" sz="2400" dirty="0" smtClean="0"/>
              <a:t>ur data is a set of samples: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520" y="1027157"/>
            <a:ext cx="6184900" cy="368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458" y="1577503"/>
            <a:ext cx="2501900" cy="4191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660" y="2480694"/>
            <a:ext cx="6134100" cy="444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8885" y="3004574"/>
            <a:ext cx="6235700" cy="1066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/>
          <a:srcRect r="76087"/>
          <a:stretch/>
        </p:blipFill>
        <p:spPr>
          <a:xfrm>
            <a:off x="908222" y="4583909"/>
            <a:ext cx="1633872" cy="444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/>
          <a:srcRect l="23913"/>
          <a:stretch/>
        </p:blipFill>
        <p:spPr>
          <a:xfrm>
            <a:off x="2542094" y="4583909"/>
            <a:ext cx="5198728" cy="444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320" y="5491125"/>
            <a:ext cx="8051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94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Gibbs Sampling Template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1225156"/>
            <a:ext cx="6972300" cy="1435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3206381"/>
            <a:ext cx="52832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112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00"/>
            <a:ext cx="9144000" cy="481210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 Modeling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720146" y="6125517"/>
            <a:ext cx="2217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rgbClr val="288CD2"/>
                </a:solidFill>
              </a:rPr>
              <a:t>Blei</a:t>
            </a:r>
            <a:r>
              <a:rPr lang="en-US" sz="2400" dirty="0" smtClean="0">
                <a:solidFill>
                  <a:srgbClr val="288CD2"/>
                </a:solidFill>
              </a:rPr>
              <a:t> et al. (2003)</a:t>
            </a:r>
          </a:p>
        </p:txBody>
      </p:sp>
    </p:spTree>
    <p:extLst>
      <p:ext uri="{BB962C8B-B14F-4D97-AF65-F5344CB8AC3E}">
        <p14:creationId xmlns:p14="http://schemas.microsoft.com/office/powerpoint/2010/main" val="30189532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LDA Generative Story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52" y="1514227"/>
            <a:ext cx="8910038" cy="22532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764" y="1220628"/>
            <a:ext cx="9096704" cy="27666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7" y="4807293"/>
            <a:ext cx="1422400" cy="254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467" y="5109809"/>
            <a:ext cx="1993900" cy="20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6467" y="5428077"/>
            <a:ext cx="3556000" cy="20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6467" y="5765733"/>
            <a:ext cx="3035300" cy="279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01142" y="4737759"/>
            <a:ext cx="3731448" cy="13593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382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Gibbs Sampling for LDA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0" y="1614908"/>
            <a:ext cx="8776345" cy="362084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45372" y="2050289"/>
            <a:ext cx="5470245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" y="2476122"/>
            <a:ext cx="5470245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943413" y="4352690"/>
            <a:ext cx="5470245" cy="50430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43413" y="4868136"/>
            <a:ext cx="8200587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968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Gibbs Sampling for LDA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0" y="1614908"/>
            <a:ext cx="8776345" cy="362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826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now have a way to generate samples from the posterior for the LDA model</a:t>
            </a:r>
          </a:p>
          <a:p>
            <a:r>
              <a:rPr lang="en-US" dirty="0" smtClean="0"/>
              <a:t>how should we do the following?</a:t>
            </a:r>
          </a:p>
          <a:p>
            <a:pPr lvl="1"/>
            <a:r>
              <a:rPr lang="en-US" dirty="0" smtClean="0"/>
              <a:t>get topic assignments for each word in the document collection?</a:t>
            </a:r>
          </a:p>
          <a:p>
            <a:pPr lvl="1"/>
            <a:r>
              <a:rPr lang="en-US" dirty="0" smtClean="0"/>
              <a:t>get topic distribution for a document?</a:t>
            </a:r>
          </a:p>
          <a:p>
            <a:pPr lvl="1"/>
            <a:r>
              <a:rPr lang="en-US" dirty="0" smtClean="0"/>
              <a:t>get estimates of topic-word distributions for each topic?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273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9" y="1086094"/>
            <a:ext cx="3441700" cy="1790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79" y="3462653"/>
            <a:ext cx="7137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889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Conjugate Priors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Dirichlet</a:t>
            </a:r>
            <a:r>
              <a:rPr lang="en-US" dirty="0"/>
              <a:t> is (simplest) conjugate prior to multinomial</a:t>
            </a:r>
          </a:p>
          <a:p>
            <a:pPr lvl="1"/>
            <a:r>
              <a:rPr lang="en-US" dirty="0" err="1"/>
              <a:t>Dirichlet</a:t>
            </a:r>
            <a:r>
              <a:rPr lang="en-US" dirty="0"/>
              <a:t> </a:t>
            </a:r>
            <a:r>
              <a:rPr lang="en-US" dirty="0" err="1"/>
              <a:t>hyperparameters</a:t>
            </a:r>
            <a:r>
              <a:rPr lang="en-US" dirty="0"/>
              <a:t> are like “pseudo-observations”</a:t>
            </a:r>
          </a:p>
          <a:p>
            <a:endParaRPr lang="en-US" dirty="0" smtClean="0"/>
          </a:p>
          <a:p>
            <a:r>
              <a:rPr lang="en-US" dirty="0" smtClean="0"/>
              <a:t>definition: “posterior obtained from a given prior in the prior family and a given likelihood function belongs to the same prior family”</a:t>
            </a:r>
          </a:p>
          <a:p>
            <a:endParaRPr lang="en-US" dirty="0" smtClean="0"/>
          </a:p>
          <a:p>
            <a:r>
              <a:rPr lang="en-US" dirty="0" smtClean="0"/>
              <a:t>direct result of “algebraic similarity” between prior family and likelihood</a:t>
            </a:r>
          </a:p>
          <a:p>
            <a:endParaRPr lang="en-US" dirty="0" smtClean="0"/>
          </a:p>
          <a:p>
            <a:r>
              <a:rPr lang="en-US" dirty="0" smtClean="0"/>
              <a:t>often leads to tractability &amp; closed-form analytic solutions for posterior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476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75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Quantities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54362" y="1557618"/>
            <a:ext cx="370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</a:t>
            </a:r>
            <a:r>
              <a:rPr lang="en-US" sz="2400" dirty="0" smtClean="0"/>
              <a:t>ur data is a set of samples: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520" y="1027157"/>
            <a:ext cx="6184900" cy="368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458" y="1577503"/>
            <a:ext cx="2501900" cy="419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r="76087"/>
          <a:stretch/>
        </p:blipFill>
        <p:spPr>
          <a:xfrm>
            <a:off x="1153324" y="3091163"/>
            <a:ext cx="1633872" cy="444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23913"/>
          <a:stretch/>
        </p:blipFill>
        <p:spPr>
          <a:xfrm>
            <a:off x="2787196" y="3091163"/>
            <a:ext cx="5198728" cy="444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22" y="3998379"/>
            <a:ext cx="8051800" cy="444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43115" y="3763218"/>
            <a:ext cx="8580580" cy="8487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02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Collapsed Gibbs Sampling for LDA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52850"/>
            <a:ext cx="8229600" cy="2873313"/>
          </a:xfrm>
        </p:spPr>
        <p:txBody>
          <a:bodyPr>
            <a:normAutofit/>
          </a:bodyPr>
          <a:lstStyle/>
          <a:p>
            <a:r>
              <a:rPr lang="en-US" dirty="0" smtClean="0"/>
              <a:t>the collapsed posterior is tricky to work with because all latent variables become coupled</a:t>
            </a:r>
          </a:p>
          <a:p>
            <a:r>
              <a:rPr lang="en-US" dirty="0" smtClean="0"/>
              <a:t>i.e., we now have fewer independence assumptions to help us simplify </a:t>
            </a:r>
            <a:r>
              <a:rPr lang="en-US" dirty="0" smtClean="0"/>
              <a:t>things</a:t>
            </a:r>
          </a:p>
          <a:p>
            <a:r>
              <a:rPr lang="en-US" dirty="0" smtClean="0"/>
              <a:t>[on board]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51" y="1735272"/>
            <a:ext cx="8895779" cy="88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061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Collapsed Gibbs Sampling for LDA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33" y="1681351"/>
            <a:ext cx="8898897" cy="103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804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Expectation Maximization (EM)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19172"/>
            <a:ext cx="8229600" cy="3006992"/>
          </a:xfrm>
        </p:spPr>
        <p:txBody>
          <a:bodyPr/>
          <a:lstStyle/>
          <a:p>
            <a:r>
              <a:rPr lang="en-US" dirty="0" smtClean="0"/>
              <a:t>EM is an algorithmic template that finds a local maximum of the marginal likelihood of the observed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698512"/>
            <a:ext cx="35687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58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Expectation Maximization (EM)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3524"/>
            <a:ext cx="8229600" cy="4332640"/>
          </a:xfrm>
        </p:spPr>
        <p:txBody>
          <a:bodyPr/>
          <a:lstStyle/>
          <a:p>
            <a:r>
              <a:rPr lang="en-US" dirty="0"/>
              <a:t>w</a:t>
            </a:r>
            <a:r>
              <a:rPr lang="en-US" dirty="0" smtClean="0"/>
              <a:t>orking instead with the log-likelihood: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where </a:t>
            </a:r>
            <a:r>
              <a:rPr lang="en-US" i="1" dirty="0" smtClean="0"/>
              <a:t>q</a:t>
            </a:r>
            <a:r>
              <a:rPr lang="en-US" i="1" baseline="-25000" dirty="0" smtClean="0"/>
              <a:t>i</a:t>
            </a:r>
            <a:r>
              <a:rPr lang="en-US" dirty="0" smtClean="0"/>
              <a:t> is some distribution over values for </a:t>
            </a:r>
            <a:r>
              <a:rPr lang="en-US" i="1" dirty="0" smtClean="0"/>
              <a:t>z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35434"/>
          <a:stretch/>
        </p:blipFill>
        <p:spPr>
          <a:xfrm>
            <a:off x="2222500" y="2750073"/>
            <a:ext cx="4699000" cy="19843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0" y="1018824"/>
            <a:ext cx="35687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271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Expectation Maximization (EM)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3524"/>
            <a:ext cx="8229600" cy="4332640"/>
          </a:xfrm>
        </p:spPr>
        <p:txBody>
          <a:bodyPr/>
          <a:lstStyle/>
          <a:p>
            <a:r>
              <a:rPr lang="en-US" dirty="0"/>
              <a:t>w</a:t>
            </a:r>
            <a:r>
              <a:rPr lang="en-US" dirty="0" smtClean="0"/>
              <a:t>orking instead with the log-likelihood: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2750073"/>
            <a:ext cx="4699000" cy="3073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0" y="1018824"/>
            <a:ext cx="3568700" cy="774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633" y="4881077"/>
            <a:ext cx="2042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via Jensen’s inequality</a:t>
            </a:r>
          </a:p>
        </p:txBody>
      </p:sp>
    </p:spTree>
    <p:extLst>
      <p:ext uri="{BB962C8B-B14F-4D97-AF65-F5344CB8AC3E}">
        <p14:creationId xmlns:p14="http://schemas.microsoft.com/office/powerpoint/2010/main" val="5684196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Expectation Maximization (EM)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86427"/>
            <a:ext cx="8229600" cy="4332640"/>
          </a:xfrm>
        </p:spPr>
        <p:txBody>
          <a:bodyPr/>
          <a:lstStyle/>
          <a:p>
            <a:r>
              <a:rPr lang="en-US" dirty="0" smtClean="0"/>
              <a:t>maximize lower bound of the log-likelihood: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alternate between optimizing </a:t>
            </a:r>
            <a:r>
              <a:rPr lang="en-US" dirty="0" err="1" smtClean="0"/>
              <a:t>wrt</a:t>
            </a:r>
            <a:r>
              <a:rPr lang="en-US" dirty="0" smtClean="0"/>
              <a:t> </a:t>
            </a:r>
            <a:r>
              <a:rPr lang="en-US" i="1" dirty="0" smtClean="0"/>
              <a:t>q</a:t>
            </a:r>
            <a:r>
              <a:rPr lang="en-US" dirty="0" smtClean="0"/>
              <a:t> and theta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760" t="63479"/>
          <a:stretch/>
        </p:blipFill>
        <p:spPr>
          <a:xfrm>
            <a:off x="2395320" y="2985492"/>
            <a:ext cx="4381345" cy="11224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0" y="1018824"/>
            <a:ext cx="35687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324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649" y="71139"/>
            <a:ext cx="3241622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2529"/>
            <a:ext cx="8229600" cy="3914208"/>
          </a:xfrm>
        </p:spPr>
        <p:txBody>
          <a:bodyPr>
            <a:normAutofit/>
          </a:bodyPr>
          <a:lstStyle/>
          <a:p>
            <a:r>
              <a:rPr lang="en-US" dirty="0" smtClean="0"/>
              <a:t>“E” step: </a:t>
            </a:r>
          </a:p>
          <a:p>
            <a:pPr lvl="1"/>
            <a:r>
              <a:rPr lang="en-US" dirty="0" smtClean="0"/>
              <a:t>compute posteriors over latent variables: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661" y="2102202"/>
            <a:ext cx="46736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346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649" y="71139"/>
            <a:ext cx="3241622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2529"/>
            <a:ext cx="8229600" cy="3914208"/>
          </a:xfrm>
        </p:spPr>
        <p:txBody>
          <a:bodyPr>
            <a:normAutofit/>
          </a:bodyPr>
          <a:lstStyle/>
          <a:p>
            <a:r>
              <a:rPr lang="en-US" dirty="0" smtClean="0"/>
              <a:t>“E” step: </a:t>
            </a:r>
          </a:p>
          <a:p>
            <a:pPr lvl="1"/>
            <a:r>
              <a:rPr lang="en-US" dirty="0" smtClean="0"/>
              <a:t>compute posteriors over latent variables: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“M” step:</a:t>
            </a:r>
          </a:p>
          <a:p>
            <a:pPr lvl="1"/>
            <a:r>
              <a:rPr lang="en-US" dirty="0" smtClean="0"/>
              <a:t>update parameters given posteriors: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661" y="2102202"/>
            <a:ext cx="4673600" cy="444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181368"/>
            <a:ext cx="6248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015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649" y="71139"/>
            <a:ext cx="3241622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EM for LDA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2529"/>
            <a:ext cx="8229600" cy="4114726"/>
          </a:xfrm>
        </p:spPr>
        <p:txBody>
          <a:bodyPr>
            <a:normAutofit/>
          </a:bodyPr>
          <a:lstStyle/>
          <a:p>
            <a:r>
              <a:rPr lang="en-US" dirty="0" smtClean="0"/>
              <a:t>“E” step: </a:t>
            </a:r>
          </a:p>
          <a:p>
            <a:pPr lvl="1"/>
            <a:r>
              <a:rPr lang="en-US" dirty="0" smtClean="0"/>
              <a:t>compute posteriors over latent variables: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824" y="2141218"/>
            <a:ext cx="6026376" cy="92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141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649" y="71139"/>
            <a:ext cx="3241622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EM for LDA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2529"/>
            <a:ext cx="8229600" cy="4114726"/>
          </a:xfrm>
        </p:spPr>
        <p:txBody>
          <a:bodyPr>
            <a:normAutofit/>
          </a:bodyPr>
          <a:lstStyle/>
          <a:p>
            <a:r>
              <a:rPr lang="en-US" dirty="0" smtClean="0"/>
              <a:t>“E” step: </a:t>
            </a:r>
          </a:p>
          <a:p>
            <a:pPr lvl="1"/>
            <a:r>
              <a:rPr lang="en-US" dirty="0" smtClean="0"/>
              <a:t>compute posteriors over latent variables: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“M” step:</a:t>
            </a:r>
          </a:p>
          <a:p>
            <a:pPr lvl="1"/>
            <a:r>
              <a:rPr lang="en-US" dirty="0" smtClean="0"/>
              <a:t>update parameters given posteriors: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824" y="2141218"/>
            <a:ext cx="6026376" cy="9253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60" y="4744823"/>
            <a:ext cx="8765205" cy="100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202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67632</TotalTime>
  <Words>400</Words>
  <Application>Microsoft Macintosh PowerPoint</Application>
  <PresentationFormat>On-screen Show (4:3)</PresentationFormat>
  <Paragraphs>100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TTIC 31210: Advanced Natural Language Processing</vt:lpstr>
      <vt:lpstr>Generative Story Template</vt:lpstr>
      <vt:lpstr>Key Quantities</vt:lpstr>
      <vt:lpstr>Gibbs Sampling Template</vt:lpstr>
      <vt:lpstr>Topic Modeling</vt:lpstr>
      <vt:lpstr>LDA Generative Story</vt:lpstr>
      <vt:lpstr>Gibbs Sampling for LDA</vt:lpstr>
      <vt:lpstr>Gibbs Sampling for LDA</vt:lpstr>
      <vt:lpstr>PowerPoint Presentation</vt:lpstr>
      <vt:lpstr>LDA</vt:lpstr>
      <vt:lpstr>Conjugate Priors</vt:lpstr>
      <vt:lpstr>Key Quantities</vt:lpstr>
      <vt:lpstr>Collapsed Gibbs Sampling for LDA</vt:lpstr>
      <vt:lpstr>Collapsed Gibbs Sampling for LDA</vt:lpstr>
      <vt:lpstr>Expectation Maximization (EM)</vt:lpstr>
      <vt:lpstr>Expectation Maximization (EM)</vt:lpstr>
      <vt:lpstr>Expectation Maximization (EM)</vt:lpstr>
      <vt:lpstr>Expectation Maximization (EM)</vt:lpstr>
      <vt:lpstr>EM</vt:lpstr>
      <vt:lpstr>EM</vt:lpstr>
      <vt:lpstr>EM for LDA</vt:lpstr>
      <vt:lpstr>EM for LDA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961</cp:revision>
  <dcterms:created xsi:type="dcterms:W3CDTF">2015-08-31T18:15:35Z</dcterms:created>
  <dcterms:modified xsi:type="dcterms:W3CDTF">2017-05-16T13:50:15Z</dcterms:modified>
</cp:coreProperties>
</file>