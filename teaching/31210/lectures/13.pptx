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1126" r:id="rId3"/>
    <p:sldId id="1127" r:id="rId4"/>
    <p:sldId id="1128" r:id="rId5"/>
    <p:sldId id="1129" r:id="rId6"/>
    <p:sldId id="1130" r:id="rId7"/>
    <p:sldId id="1125" r:id="rId8"/>
    <p:sldId id="1123" r:id="rId9"/>
    <p:sldId id="1124" r:id="rId10"/>
    <p:sldId id="1131" r:id="rId11"/>
    <p:sldId id="1133" r:id="rId12"/>
    <p:sldId id="1134" r:id="rId13"/>
    <p:sldId id="1135" r:id="rId14"/>
    <p:sldId id="1137" r:id="rId15"/>
    <p:sldId id="1136" r:id="rId16"/>
    <p:sldId id="1138" r:id="rId17"/>
    <p:sldId id="1139" r:id="rId18"/>
    <p:sldId id="1140" r:id="rId19"/>
    <p:sldId id="1199" r:id="rId20"/>
    <p:sldId id="1200" r:id="rId21"/>
    <p:sldId id="1201" r:id="rId22"/>
    <p:sldId id="1203" r:id="rId23"/>
    <p:sldId id="1204" r:id="rId24"/>
    <p:sldId id="1205" r:id="rId25"/>
    <p:sldId id="1202" r:id="rId26"/>
    <p:sldId id="1209" r:id="rId27"/>
    <p:sldId id="1206" r:id="rId28"/>
    <p:sldId id="120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37"/>
    <p:restoredTop sz="87308" autoAdjust="0"/>
  </p:normalViewPr>
  <p:slideViewPr>
    <p:cSldViewPr snapToGrid="0" snapToObjects="1">
      <p:cViewPr varScale="1">
        <p:scale>
          <a:sx n="72" d="100"/>
          <a:sy n="72" d="100"/>
        </p:scale>
        <p:origin x="-27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5/17/17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5/17/17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5/17/17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6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6" Type="http://schemas.openxmlformats.org/officeDocument/2006/relationships/image" Target="../media/image15.emf"/><Relationship Id="rId7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5" Type="http://schemas.openxmlformats.org/officeDocument/2006/relationships/image" Target="../media/image17.emf"/><Relationship Id="rId6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emf"/><Relationship Id="rId6" Type="http://schemas.openxmlformats.org/officeDocument/2006/relationships/image" Target="../media/image23.emf"/><Relationship Id="rId7" Type="http://schemas.openxmlformats.org/officeDocument/2006/relationships/image" Target="../media/image24.emf"/><Relationship Id="rId8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3" Type="http://schemas.openxmlformats.org/officeDocument/2006/relationships/image" Target="../media/image2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3" Type="http://schemas.openxmlformats.org/officeDocument/2006/relationships/image" Target="../media/image2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100" y="1993899"/>
            <a:ext cx="7061200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13: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Introduction to Bayesian </a:t>
            </a:r>
            <a:r>
              <a:rPr lang="en-US" sz="4000" dirty="0" err="1" smtClean="0">
                <a:solidFill>
                  <a:schemeClr val="tx1"/>
                </a:solidFill>
              </a:rPr>
              <a:t>Nonparametrics</a:t>
            </a:r>
            <a:r>
              <a:rPr lang="en-US" sz="4000" dirty="0" smtClean="0">
                <a:solidFill>
                  <a:schemeClr val="tx1"/>
                </a:solidFill>
              </a:rPr>
              <a:t> for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“Nonparametric”?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nonparametric does not mean “no parameters”</a:t>
            </a:r>
          </a:p>
          <a:p>
            <a:endParaRPr lang="en-US" sz="2800" dirty="0" smtClean="0"/>
          </a:p>
          <a:p>
            <a:r>
              <a:rPr lang="en-US" sz="2800" dirty="0" smtClean="0"/>
              <a:t>it means that “the number of parameters grows as the data grows”</a:t>
            </a:r>
          </a:p>
          <a:p>
            <a:endParaRPr lang="en-US" sz="2800" dirty="0"/>
          </a:p>
          <a:p>
            <a:r>
              <a:rPr lang="en-US" sz="2800" dirty="0" smtClean="0"/>
              <a:t>for our purposes, think of it as “some component of the model permits an unbounded set of something”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203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586115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Parametric or Nonparametric?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727528"/>
              </p:ext>
            </p:extLst>
          </p:nvPr>
        </p:nvGraphicFramePr>
        <p:xfrm>
          <a:off x="434918" y="836217"/>
          <a:ext cx="8355353" cy="54904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2981"/>
                <a:gridCol w="2952372"/>
              </a:tblGrid>
              <a:tr h="8087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Model</a:t>
                      </a:r>
                      <a:endParaRPr 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Parametric or Nonparametric?</a:t>
                      </a:r>
                      <a:endParaRPr 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8000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Gaussian Mixture</a:t>
                      </a:r>
                      <a:r>
                        <a:rPr lang="en-US" sz="2000" baseline="0" dirty="0" smtClean="0"/>
                        <a:t> Model (GMM)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parametric</a:t>
                      </a:r>
                      <a:endParaRPr lang="en-US" sz="2000" dirty="0"/>
                    </a:p>
                  </a:txBody>
                  <a:tcPr anchor="ctr"/>
                </a:tc>
              </a:tr>
              <a:tr h="579275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Hidden Markov</a:t>
                      </a:r>
                      <a:r>
                        <a:rPr lang="en-US" sz="2000" baseline="0" dirty="0" smtClean="0"/>
                        <a:t> Model (with GMM emissions)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parametric</a:t>
                      </a:r>
                      <a:endParaRPr lang="en-US" sz="2000" dirty="0"/>
                    </a:p>
                  </a:txBody>
                  <a:tcPr anchor="ctr"/>
                </a:tc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Hidden Markov Model (for</a:t>
                      </a:r>
                      <a:r>
                        <a:rPr lang="en-US" sz="2000" baseline="0" dirty="0" smtClean="0"/>
                        <a:t> part-of-speech tagging, with multinomial emissions)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nonparametric*</a:t>
                      </a:r>
                    </a:p>
                  </a:txBody>
                  <a:tcPr anchor="ctr"/>
                </a:tc>
              </a:tr>
              <a:tr h="583741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n-gram language models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nonparametric</a:t>
                      </a:r>
                    </a:p>
                  </a:txBody>
                  <a:tcPr anchor="ctr"/>
                </a:tc>
              </a:tr>
              <a:tr h="512435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LDA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nonparametric*</a:t>
                      </a:r>
                      <a:endParaRPr lang="en-US" sz="2000" dirty="0"/>
                    </a:p>
                  </a:txBody>
                  <a:tcPr anchor="ctr"/>
                </a:tc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LSTM</a:t>
                      </a:r>
                      <a:r>
                        <a:rPr lang="en-US" sz="2000" baseline="0" dirty="0" smtClean="0"/>
                        <a:t> language model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nonparametric*</a:t>
                      </a:r>
                    </a:p>
                  </a:txBody>
                  <a:tcPr anchor="ctr"/>
                </a:tc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character-level LSTM language model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parametric (assuming fixed set of characters)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45372" y="1648268"/>
            <a:ext cx="5559374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5372" y="2261400"/>
            <a:ext cx="5882464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328105" y="1648268"/>
            <a:ext cx="2462166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28105" y="2317100"/>
            <a:ext cx="2462166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2636" y="2971232"/>
            <a:ext cx="5492110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300668" y="2971232"/>
            <a:ext cx="2782054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5372" y="3559400"/>
            <a:ext cx="5882464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328105" y="3539804"/>
            <a:ext cx="2462166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12636" y="4114585"/>
            <a:ext cx="5882464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328105" y="4108376"/>
            <a:ext cx="2462166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34918" y="4802137"/>
            <a:ext cx="5882464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146646" y="4829348"/>
            <a:ext cx="2462166" cy="673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01495" y="5571228"/>
            <a:ext cx="5592379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93874" y="5652901"/>
            <a:ext cx="2692926" cy="673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649846" y="6353059"/>
            <a:ext cx="262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*parametric </a:t>
            </a:r>
            <a:r>
              <a:rPr lang="en-US" dirty="0"/>
              <a:t>if vocab </a:t>
            </a:r>
            <a:r>
              <a:rPr lang="en-US" dirty="0" smtClean="0"/>
              <a:t>fixed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369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586115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Parametric or Nonparametric?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144257"/>
              </p:ext>
            </p:extLst>
          </p:nvPr>
        </p:nvGraphicFramePr>
        <p:xfrm>
          <a:off x="434918" y="836217"/>
          <a:ext cx="8355353" cy="54904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2981"/>
                <a:gridCol w="2952372"/>
              </a:tblGrid>
              <a:tr h="8087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Model</a:t>
                      </a:r>
                      <a:endParaRPr 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Parametric or Nonparametric?</a:t>
                      </a:r>
                      <a:endParaRPr lang="en-US" sz="2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8000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Gaussian Mixture</a:t>
                      </a:r>
                      <a:r>
                        <a:rPr lang="en-US" sz="2000" baseline="0" dirty="0" smtClean="0"/>
                        <a:t> Model (GMM)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parametric</a:t>
                      </a:r>
                      <a:endParaRPr lang="en-US" sz="2000" dirty="0"/>
                    </a:p>
                  </a:txBody>
                  <a:tcPr anchor="ctr"/>
                </a:tc>
              </a:tr>
              <a:tr h="579275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Hidden Markov</a:t>
                      </a:r>
                      <a:r>
                        <a:rPr lang="en-US" sz="2000" baseline="0" dirty="0" smtClean="0"/>
                        <a:t> Model (with GMM emissions)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parametric</a:t>
                      </a:r>
                      <a:endParaRPr lang="en-US" sz="2000" dirty="0"/>
                    </a:p>
                  </a:txBody>
                  <a:tcPr anchor="ctr"/>
                </a:tc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Hidden Markov Model (for</a:t>
                      </a:r>
                      <a:r>
                        <a:rPr lang="en-US" sz="2000" baseline="0" dirty="0" smtClean="0"/>
                        <a:t> part-of-speech tagging, with multinomial emissions)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nonparametric*</a:t>
                      </a:r>
                    </a:p>
                  </a:txBody>
                  <a:tcPr anchor="ctr"/>
                </a:tc>
              </a:tr>
              <a:tr h="583741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n-gram language models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nonparametric</a:t>
                      </a:r>
                    </a:p>
                  </a:txBody>
                  <a:tcPr anchor="ctr"/>
                </a:tc>
              </a:tr>
              <a:tr h="512435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LDA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nonparametric*</a:t>
                      </a:r>
                      <a:endParaRPr lang="en-US" sz="2000" dirty="0"/>
                    </a:p>
                  </a:txBody>
                  <a:tcPr anchor="ctr"/>
                </a:tc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LSTM</a:t>
                      </a:r>
                      <a:r>
                        <a:rPr lang="en-US" sz="2000" baseline="0" dirty="0" smtClean="0"/>
                        <a:t> language model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nonparametric*</a:t>
                      </a:r>
                    </a:p>
                  </a:txBody>
                  <a:tcPr anchor="ctr"/>
                </a:tc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character-level LSTM language model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parametric (assuming fixed set of characters)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649846" y="6353059"/>
            <a:ext cx="262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*parametric </a:t>
            </a:r>
            <a:r>
              <a:rPr lang="en-US" dirty="0"/>
              <a:t>if vocab </a:t>
            </a:r>
            <a:r>
              <a:rPr lang="en-US" dirty="0" smtClean="0"/>
              <a:t>fixed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4958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00864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“nonparametric modeling” in terms of vocab has a lot of engineering solutions:</a:t>
            </a:r>
          </a:p>
          <a:p>
            <a:pPr lvl="1"/>
            <a:r>
              <a:rPr lang="en-US" dirty="0" smtClean="0"/>
              <a:t>use UNK for unknown words, do smoothing of high-order </a:t>
            </a:r>
            <a:r>
              <a:rPr lang="en-US" i="1" dirty="0" smtClean="0"/>
              <a:t>n</a:t>
            </a:r>
            <a:r>
              <a:rPr lang="en-US" dirty="0" smtClean="0"/>
              <a:t>-grams, etc.</a:t>
            </a:r>
          </a:p>
          <a:p>
            <a:endParaRPr lang="en-US" dirty="0" smtClean="0"/>
          </a:p>
          <a:p>
            <a:r>
              <a:rPr lang="en-US" dirty="0" smtClean="0"/>
              <a:t>in this case, unbounded part of model is mostly determined by observed data, heuristics are useful</a:t>
            </a:r>
          </a:p>
          <a:p>
            <a:endParaRPr lang="en-US" dirty="0" smtClean="0"/>
          </a:p>
          <a:p>
            <a:r>
              <a:rPr lang="en-US" dirty="0" smtClean="0"/>
              <a:t>modeling gets more interesting when unbounded part of model relates to </a:t>
            </a:r>
            <a:r>
              <a:rPr lang="en-US" b="1" dirty="0" smtClean="0"/>
              <a:t>latent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030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might you want to permit an unbounded set of latent items in a model?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221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Infinite Mixture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 of mixture components is unbounded (grows depending on the data)</a:t>
            </a:r>
          </a:p>
          <a:p>
            <a:r>
              <a:rPr lang="en-US" dirty="0" smtClean="0"/>
              <a:t>e.g., LDA with an unbounded set of topics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116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859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“Infinite” HMM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5897"/>
            <a:ext cx="8229600" cy="2044686"/>
          </a:xfrm>
        </p:spPr>
        <p:txBody>
          <a:bodyPr/>
          <a:lstStyle/>
          <a:p>
            <a:r>
              <a:rPr lang="en-US" dirty="0" smtClean="0"/>
              <a:t>HMMs permit infinite sequences already</a:t>
            </a:r>
          </a:p>
          <a:p>
            <a:r>
              <a:rPr lang="en-US" dirty="0" smtClean="0"/>
              <a:t>what’s new here?</a:t>
            </a:r>
          </a:p>
          <a:p>
            <a:r>
              <a:rPr lang="en-US" dirty="0" smtClean="0"/>
              <a:t>infinite number of </a:t>
            </a:r>
            <a:r>
              <a:rPr lang="en-US" b="1" dirty="0" smtClean="0"/>
              <a:t>hidden states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18" y="2675764"/>
            <a:ext cx="7329906" cy="346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6698" y="6280663"/>
            <a:ext cx="4477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288CD2"/>
                </a:solidFill>
              </a:rPr>
              <a:t>Beal et al. (2002), </a:t>
            </a:r>
            <a:r>
              <a:rPr lang="en-US" sz="2400" dirty="0" err="1" smtClean="0">
                <a:solidFill>
                  <a:srgbClr val="288CD2"/>
                </a:solidFill>
              </a:rPr>
              <a:t>Teh</a:t>
            </a:r>
            <a:r>
              <a:rPr lang="en-US" sz="2400" dirty="0" smtClean="0">
                <a:solidFill>
                  <a:srgbClr val="288CD2"/>
                </a:solidFill>
              </a:rPr>
              <a:t> et al. (2005)</a:t>
            </a:r>
          </a:p>
        </p:txBody>
      </p:sp>
    </p:spTree>
    <p:extLst>
      <p:ext uri="{BB962C8B-B14F-4D97-AF65-F5344CB8AC3E}">
        <p14:creationId xmlns:p14="http://schemas.microsoft.com/office/powerpoint/2010/main" val="4726239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0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“Infinite” PCFG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87" y="731131"/>
            <a:ext cx="9066013" cy="227936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PCFGs can already handle infinite-length derivations</a:t>
            </a:r>
          </a:p>
          <a:p>
            <a:r>
              <a:rPr lang="en-US" sz="2800" dirty="0" smtClean="0"/>
              <a:t>“infinite” here means an infinite number of </a:t>
            </a:r>
            <a:r>
              <a:rPr lang="en-US" sz="2800" b="1" dirty="0" err="1" smtClean="0"/>
              <a:t>nonterminals</a:t>
            </a:r>
            <a:r>
              <a:rPr lang="en-US" sz="2800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9563"/>
            <a:ext cx="9144000" cy="4153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39376" y="6280663"/>
            <a:ext cx="4865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288CD2"/>
                </a:solidFill>
              </a:rPr>
              <a:t>Liang et al. (2007</a:t>
            </a:r>
            <a:r>
              <a:rPr lang="en-US" sz="2400" dirty="0" smtClean="0">
                <a:solidFill>
                  <a:srgbClr val="288CD2"/>
                </a:solidFill>
              </a:rPr>
              <a:t>), </a:t>
            </a:r>
            <a:r>
              <a:rPr lang="en-US" sz="2400" dirty="0" err="1" smtClean="0">
                <a:solidFill>
                  <a:srgbClr val="288CD2"/>
                </a:solidFill>
              </a:rPr>
              <a:t>Finkel</a:t>
            </a:r>
            <a:r>
              <a:rPr lang="en-US" sz="2400" dirty="0" smtClean="0">
                <a:solidFill>
                  <a:srgbClr val="288CD2"/>
                </a:solidFill>
              </a:rPr>
              <a:t> et al. (2007)</a:t>
            </a:r>
            <a:endParaRPr lang="en-US" sz="2400" dirty="0" smtClean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5707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358"/>
            <a:ext cx="8229600" cy="5858806"/>
          </a:xfrm>
        </p:spPr>
        <p:txBody>
          <a:bodyPr>
            <a:normAutofit/>
          </a:bodyPr>
          <a:lstStyle/>
          <a:p>
            <a:r>
              <a:rPr lang="en-US" dirty="0" smtClean="0"/>
              <a:t>when might you want to permit an unbounded set of latent items in a model?</a:t>
            </a:r>
          </a:p>
          <a:p>
            <a:pPr lvl="1"/>
            <a:r>
              <a:rPr lang="en-US" dirty="0" smtClean="0"/>
              <a:t>number of topics in LDA</a:t>
            </a:r>
          </a:p>
          <a:p>
            <a:pPr lvl="1"/>
            <a:r>
              <a:rPr lang="en-US" dirty="0" smtClean="0"/>
              <a:t>number of Gaussians in a Gaussian Mixture Model</a:t>
            </a:r>
          </a:p>
          <a:p>
            <a:pPr lvl="1"/>
            <a:r>
              <a:rPr lang="en-US" dirty="0" smtClean="0"/>
              <a:t>number of hidden states in an HMM</a:t>
            </a:r>
          </a:p>
          <a:p>
            <a:pPr lvl="1"/>
            <a:r>
              <a:rPr lang="en-US" dirty="0"/>
              <a:t>number of </a:t>
            </a:r>
            <a:r>
              <a:rPr lang="en-US" dirty="0" err="1"/>
              <a:t>nonterminals</a:t>
            </a:r>
            <a:r>
              <a:rPr lang="en-US" dirty="0"/>
              <a:t> in a PCFG</a:t>
            </a:r>
          </a:p>
          <a:p>
            <a:pPr lvl="1"/>
            <a:r>
              <a:rPr lang="en-US" dirty="0" smtClean="0"/>
              <a:t>morph lexicon for morphological segmentation</a:t>
            </a:r>
          </a:p>
          <a:p>
            <a:pPr lvl="1"/>
            <a:r>
              <a:rPr lang="en-US" dirty="0" smtClean="0"/>
              <a:t>lexicon for Chinese word segmentation</a:t>
            </a:r>
          </a:p>
          <a:p>
            <a:pPr lvl="1"/>
            <a:r>
              <a:rPr lang="en-US" dirty="0" smtClean="0"/>
              <a:t>number of </a:t>
            </a:r>
            <a:r>
              <a:rPr lang="en-US" dirty="0" err="1" smtClean="0"/>
              <a:t>coreference</a:t>
            </a:r>
            <a:r>
              <a:rPr lang="en-US" dirty="0" smtClean="0"/>
              <a:t> chains in </a:t>
            </a:r>
            <a:r>
              <a:rPr lang="en-US" dirty="0" err="1" smtClean="0"/>
              <a:t>coreference</a:t>
            </a:r>
            <a:r>
              <a:rPr lang="en-US" dirty="0" smtClean="0"/>
              <a:t> resolution</a:t>
            </a:r>
          </a:p>
          <a:p>
            <a:pPr lvl="1"/>
            <a:r>
              <a:rPr lang="en-US" dirty="0" smtClean="0"/>
              <a:t>number of dimensions in an embedding (?!)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531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need priors over distributions that permit an unbounded set of items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11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LDA Generative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2" y="1514227"/>
            <a:ext cx="8910038" cy="22532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764" y="1220628"/>
            <a:ext cx="9096704" cy="27666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91" y="4817950"/>
            <a:ext cx="1422400" cy="25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91" y="5120466"/>
            <a:ext cx="1993900" cy="20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91" y="5438734"/>
            <a:ext cx="3556000" cy="20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91" y="5776390"/>
            <a:ext cx="3035300" cy="279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666" y="4748416"/>
            <a:ext cx="3731448" cy="1359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4980179" y="4934048"/>
            <a:ext cx="362110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dimensionality of alpha </a:t>
            </a:r>
          </a:p>
          <a:p>
            <a:pPr algn="ctr" eaLnBrk="1" hangingPunct="1"/>
            <a:r>
              <a:rPr lang="en-US" sz="2000" dirty="0" smtClean="0">
                <a:solidFill>
                  <a:srgbClr val="0062AC"/>
                </a:solidFill>
                <a:latin typeface="Calibri"/>
                <a:cs typeface="Calibri"/>
              </a:rPr>
              <a:t>must be </a:t>
            </a:r>
            <a:r>
              <a:rPr lang="en-US" sz="2000" i="1" dirty="0" smtClean="0">
                <a:solidFill>
                  <a:srgbClr val="0062AC"/>
                </a:solidFill>
                <a:latin typeface="Calibri"/>
                <a:cs typeface="Calibri"/>
              </a:rPr>
              <a:t>K</a:t>
            </a:r>
            <a:r>
              <a:rPr lang="en-US" sz="2000" dirty="0" smtClean="0">
                <a:solidFill>
                  <a:srgbClr val="0062AC"/>
                </a:solidFill>
                <a:latin typeface="Calibri"/>
                <a:cs typeface="Calibri"/>
              </a:rPr>
              <a:t> (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the number of topics)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6597764" y="2573317"/>
            <a:ext cx="231687" cy="2383939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145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Dirichlet</a:t>
            </a:r>
            <a:r>
              <a:rPr lang="en-US" dirty="0" smtClean="0"/>
              <a:t> Process (DP)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“distribution over distributions”</a:t>
            </a:r>
          </a:p>
          <a:p>
            <a:endParaRPr lang="en-US" dirty="0" smtClean="0"/>
          </a:p>
          <a:p>
            <a:r>
              <a:rPr lang="en-US" dirty="0" smtClean="0"/>
              <a:t>unlike </a:t>
            </a:r>
            <a:r>
              <a:rPr lang="en-US" dirty="0" err="1" smtClean="0"/>
              <a:t>Dirichlet</a:t>
            </a:r>
            <a:r>
              <a:rPr lang="en-US" dirty="0" smtClean="0"/>
              <a:t> distribution, DP does not require pre-specifying number of components</a:t>
            </a:r>
          </a:p>
          <a:p>
            <a:endParaRPr lang="en-US" dirty="0"/>
          </a:p>
          <a:p>
            <a:r>
              <a:rPr lang="en-US" dirty="0" smtClean="0"/>
              <a:t>we’ll now describe how a DP generates a distribution over an unbounded set of items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86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Running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say we’re trying to segment words into morphological units without any supervision:</a:t>
            </a:r>
          </a:p>
          <a:p>
            <a:pPr lvl="1"/>
            <a:r>
              <a:rPr lang="en-US" dirty="0" smtClean="0"/>
              <a:t>walking </a:t>
            </a:r>
            <a:r>
              <a:rPr lang="en-US" dirty="0" smtClean="0">
                <a:sym typeface="Wingdings"/>
              </a:rPr>
              <a:t> walk + </a:t>
            </a:r>
            <a:r>
              <a:rPr lang="en-US" dirty="0" err="1" smtClean="0">
                <a:sym typeface="Wingdings"/>
              </a:rPr>
              <a:t>ing</a:t>
            </a:r>
            <a:endParaRPr lang="en-US" dirty="0" smtClean="0">
              <a:sym typeface="Wingdings"/>
            </a:endParaRPr>
          </a:p>
          <a:p>
            <a:pPr lvl="1"/>
            <a:r>
              <a:rPr lang="en-US" dirty="0" smtClean="0">
                <a:sym typeface="Wingdings"/>
              </a:rPr>
              <a:t>restarted  re + start + </a:t>
            </a:r>
            <a:r>
              <a:rPr lang="en-US" dirty="0" err="1" smtClean="0">
                <a:sym typeface="Wingdings"/>
              </a:rPr>
              <a:t>ed</a:t>
            </a:r>
            <a:endParaRPr lang="en-US" dirty="0" smtClean="0">
              <a:sym typeface="Wingdings"/>
            </a:endParaRPr>
          </a:p>
          <a:p>
            <a:pPr lvl="1"/>
            <a:endParaRPr lang="en-US" dirty="0">
              <a:sym typeface="Wingdings"/>
            </a:endParaRPr>
          </a:p>
          <a:p>
            <a:r>
              <a:rPr lang="en-US" dirty="0" smtClean="0"/>
              <a:t>what is the unbounded set of latent items here?</a:t>
            </a:r>
          </a:p>
          <a:p>
            <a:pPr lvl="1"/>
            <a:r>
              <a:rPr lang="en-US" dirty="0" smtClean="0"/>
              <a:t>lexicon of possible morphological units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61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Dirichlet</a:t>
            </a:r>
            <a:r>
              <a:rPr lang="en-US" dirty="0" smtClean="0"/>
              <a:t> Process (DP)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contains a “base distribution” </a:t>
            </a:r>
          </a:p>
          <a:p>
            <a:r>
              <a:rPr lang="en-US" dirty="0" smtClean="0"/>
              <a:t>simple example base distribution for our morph lexicon: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e.g., probability of “</a:t>
            </a:r>
            <a:r>
              <a:rPr lang="en-US" dirty="0" err="1" smtClean="0"/>
              <a:t>ing</a:t>
            </a:r>
            <a:r>
              <a:rPr lang="en-US" dirty="0" smtClean="0"/>
              <a:t>”: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662" y="1261838"/>
            <a:ext cx="452148" cy="3684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789977"/>
            <a:ext cx="4051300" cy="939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800" y="4767787"/>
            <a:ext cx="57404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056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Dirichlet</a:t>
            </a:r>
            <a:r>
              <a:rPr lang="en-US" dirty="0" smtClean="0"/>
              <a:t>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our unbounded distribution over items will choose its items by sampling from the base distribution</a:t>
            </a:r>
          </a:p>
          <a:p>
            <a:r>
              <a:rPr lang="en-US" dirty="0" smtClean="0"/>
              <a:t>base distribution typically has an infinite set of items with nonzero probability, as in our 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4071065"/>
            <a:ext cx="40513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8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</a:t>
            </a:r>
            <a:r>
              <a:rPr lang="en-US" dirty="0" smtClean="0"/>
              <a:t>tems and Probabilities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 distribution provides the items (“atoms”), as many as we want</a:t>
            </a:r>
          </a:p>
          <a:p>
            <a:r>
              <a:rPr lang="en-US" dirty="0" smtClean="0"/>
              <a:t>where do their probabilities come from?</a:t>
            </a:r>
          </a:p>
          <a:p>
            <a:r>
              <a:rPr lang="en-US" dirty="0" smtClean="0"/>
              <a:t>we need an infinite set of probabilities that sum to 1</a:t>
            </a:r>
          </a:p>
          <a:p>
            <a:r>
              <a:rPr lang="en-US" dirty="0" smtClean="0"/>
              <a:t>DPs have another parameter: concentration (strength) parameter </a:t>
            </a:r>
            <a:r>
              <a:rPr lang="en-US" i="1" dirty="0" smtClean="0"/>
              <a:t>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411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Stick-Breaking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46374"/>
            <a:ext cx="8229600" cy="107979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betas form an infinite sequence that sums to 1</a:t>
            </a:r>
          </a:p>
          <a:p>
            <a:r>
              <a:rPr lang="en-US" dirty="0" smtClean="0"/>
              <a:t>they provide probabilities for an infinite set of items!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full stick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89426" y="1812244"/>
            <a:ext cx="4515320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82734" y="1812244"/>
            <a:ext cx="152311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89426" y="2410240"/>
            <a:ext cx="3780012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47426" y="2410240"/>
            <a:ext cx="73530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89426" y="3019376"/>
            <a:ext cx="2821883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89297" y="3019376"/>
            <a:ext cx="958129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995019" y="3526074"/>
            <a:ext cx="43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</a:t>
            </a:r>
            <a:endParaRPr lang="en-US" sz="28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224" y="1832061"/>
            <a:ext cx="266700" cy="2921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171" y="1840390"/>
            <a:ext cx="7747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171" y="2404657"/>
            <a:ext cx="1701800" cy="317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275" y="2430057"/>
            <a:ext cx="2794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136" y="3039193"/>
            <a:ext cx="2794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171" y="3019376"/>
            <a:ext cx="23876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58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Stick-Breaking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46374"/>
            <a:ext cx="8229600" cy="107979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betas form an infinite sequence that sums to 1</a:t>
            </a:r>
          </a:p>
          <a:p>
            <a:r>
              <a:rPr lang="en-US" dirty="0" smtClean="0"/>
              <a:t>they provide probabilities for an infinite set of items!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full stick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89426" y="1812244"/>
            <a:ext cx="4515320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82734" y="1812244"/>
            <a:ext cx="152311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89426" y="2410240"/>
            <a:ext cx="3780012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47426" y="2410240"/>
            <a:ext cx="73530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89426" y="3019376"/>
            <a:ext cx="2821883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89297" y="3019376"/>
            <a:ext cx="958129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224" y="1832061"/>
            <a:ext cx="2667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275" y="2430057"/>
            <a:ext cx="2794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136" y="3039193"/>
            <a:ext cx="279400" cy="292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0" y="4049294"/>
            <a:ext cx="2527300" cy="939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1397" y="3684824"/>
            <a:ext cx="195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324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40"/>
            <a:ext cx="8229600" cy="58611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Beta Distribution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Screen Shot 2017-05-17 at 10.57.2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770" y="630870"/>
            <a:ext cx="5545030" cy="2096143"/>
          </a:xfrm>
          <a:prstGeom prst="rect">
            <a:avLst/>
          </a:prstGeom>
        </p:spPr>
      </p:pic>
      <p:pic>
        <p:nvPicPr>
          <p:cNvPr id="7" name="Picture 6" descr="Screen Shot 2017-05-17 at 10.57.3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206" y="4697660"/>
            <a:ext cx="5653094" cy="2163980"/>
          </a:xfrm>
          <a:prstGeom prst="rect">
            <a:avLst/>
          </a:prstGeom>
        </p:spPr>
      </p:pic>
      <p:pic>
        <p:nvPicPr>
          <p:cNvPr id="5" name="Picture 4" descr="Screen Shot 2017-05-17 at 10.57.06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206" y="2645597"/>
            <a:ext cx="5583130" cy="21194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70117"/>
            <a:ext cx="20828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63900"/>
            <a:ext cx="18415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347061"/>
            <a:ext cx="1993900" cy="317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153476"/>
            <a:ext cx="195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86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Stick-Breaking with High Concentration (</a:t>
            </a:r>
            <a:r>
              <a:rPr lang="en-US" sz="3200" i="1" dirty="0" smtClean="0"/>
              <a:t>s</a:t>
            </a:r>
            <a:r>
              <a:rPr lang="en-US" sz="3200" dirty="0" smtClean="0"/>
              <a:t> = 10)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full stick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3458880"/>
            <a:ext cx="2527300" cy="9398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397" y="3094410"/>
            <a:ext cx="195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584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Stick-Breaking with High Concentration (</a:t>
            </a:r>
            <a:r>
              <a:rPr lang="en-US" sz="3200" i="1" dirty="0" smtClean="0"/>
              <a:t>s</a:t>
            </a:r>
            <a:r>
              <a:rPr lang="en-US" sz="3200" dirty="0" smtClean="0"/>
              <a:t> = 10)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77721"/>
            <a:ext cx="8229600" cy="1079790"/>
          </a:xfrm>
        </p:spPr>
        <p:txBody>
          <a:bodyPr>
            <a:normAutofit/>
          </a:bodyPr>
          <a:lstStyle/>
          <a:p>
            <a:r>
              <a:rPr lang="en-US" dirty="0" smtClean="0"/>
              <a:t>high concentration = more of probability mass preserved for other pieces in the stick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full stick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89425" y="1812244"/>
            <a:ext cx="5829961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97374" y="1812244"/>
            <a:ext cx="20847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89426" y="2410240"/>
            <a:ext cx="5562576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029990" y="2407777"/>
            <a:ext cx="26738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89426" y="3019376"/>
            <a:ext cx="5261769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718039" y="3019376"/>
            <a:ext cx="311951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404" y="1832061"/>
            <a:ext cx="2667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884" y="2430057"/>
            <a:ext cx="2794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590" y="3039193"/>
            <a:ext cx="2794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023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Stick-Breaking with Low Concentration (</a:t>
            </a:r>
            <a:r>
              <a:rPr lang="en-US" sz="3200" i="1" dirty="0" smtClean="0"/>
              <a:t>s</a:t>
            </a:r>
            <a:r>
              <a:rPr lang="en-US" sz="3200" dirty="0" smtClean="0"/>
              <a:t> = 0.1)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full stick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3436599"/>
            <a:ext cx="2527300" cy="939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397" y="3072129"/>
            <a:ext cx="195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1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Stick-Breaking with Low Concentration (</a:t>
            </a:r>
            <a:r>
              <a:rPr lang="en-US" sz="3200" i="1" dirty="0" smtClean="0"/>
              <a:t>s</a:t>
            </a:r>
            <a:r>
              <a:rPr lang="en-US" sz="3200" dirty="0" smtClean="0"/>
              <a:t> = 0.1)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full stick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89425" y="1812244"/>
            <a:ext cx="2532217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99630" y="1812244"/>
            <a:ext cx="352270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89426" y="2410240"/>
            <a:ext cx="1406972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874386" y="2407777"/>
            <a:ext cx="112524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89426" y="3019376"/>
            <a:ext cx="459985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938537" y="3019376"/>
            <a:ext cx="935849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903" y="1832061"/>
            <a:ext cx="266700" cy="292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921" y="2430057"/>
            <a:ext cx="2794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374" y="3039193"/>
            <a:ext cx="279400" cy="292100"/>
          </a:xfrm>
          <a:prstGeom prst="rect">
            <a:avLst/>
          </a:prstGeom>
        </p:spPr>
      </p:pic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57200" y="4277721"/>
            <a:ext cx="8229600" cy="1079790"/>
          </a:xfrm>
        </p:spPr>
        <p:txBody>
          <a:bodyPr>
            <a:normAutofit/>
          </a:bodyPr>
          <a:lstStyle/>
          <a:p>
            <a:r>
              <a:rPr lang="en-US" dirty="0" smtClean="0"/>
              <a:t>low concentration = stronger power law effects in resulting probabilities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936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Draw G from a DP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76" y="1975892"/>
            <a:ext cx="4533900" cy="116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76" y="3431660"/>
            <a:ext cx="2946400" cy="850900"/>
          </a:xfrm>
          <a:prstGeom prst="rect">
            <a:avLst/>
          </a:prstGeom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088758" y="1305573"/>
            <a:ext cx="43335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draw infinite probabilities from </a:t>
            </a:r>
          </a:p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stick-breaking </a:t>
            </a:r>
            <a:r>
              <a:rPr lang="en-US" sz="2000" dirty="0" smtClean="0">
                <a:solidFill>
                  <a:srgbClr val="0062AC"/>
                </a:solidFill>
                <a:latin typeface="Calibri"/>
                <a:cs typeface="Calibri"/>
              </a:rPr>
              <a:t>process with parameter s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3066058" y="1659516"/>
            <a:ext cx="1022700" cy="468211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18459" y="2419071"/>
            <a:ext cx="1204530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444975" y="2159300"/>
            <a:ext cx="38000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draw atoms from base distribution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016478" y="2559410"/>
            <a:ext cx="2670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atoms can be repeated!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70246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Draw G from a DP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76" y="1975892"/>
            <a:ext cx="4533900" cy="116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76" y="3431660"/>
            <a:ext cx="2946400" cy="850900"/>
          </a:xfrm>
          <a:prstGeom prst="rect">
            <a:avLst/>
          </a:prstGeom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088758" y="1305573"/>
            <a:ext cx="43335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draw infinite probabilities from </a:t>
            </a:r>
          </a:p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stick-breaking </a:t>
            </a:r>
            <a:r>
              <a:rPr lang="en-US" sz="2000" dirty="0" smtClean="0">
                <a:solidFill>
                  <a:srgbClr val="0062AC"/>
                </a:solidFill>
                <a:latin typeface="Calibri"/>
                <a:cs typeface="Calibri"/>
              </a:rPr>
              <a:t>process with parameter s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3066058" y="1659516"/>
            <a:ext cx="1022700" cy="468211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18459" y="2419071"/>
            <a:ext cx="1204530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444975" y="2159300"/>
            <a:ext cx="38000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draw atoms from base distribution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016478" y="2559410"/>
            <a:ext cx="2670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atoms can be repeated!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5113780"/>
            <a:ext cx="41148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37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stick-breaking construction of the DP is useful for specifying models and defining inference algorithms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166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Dirichlet</a:t>
            </a:r>
            <a:r>
              <a:rPr lang="en-US" dirty="0" smtClean="0"/>
              <a:t> Process Mixture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39"/>
            <a:ext cx="8229600" cy="5376262"/>
          </a:xfrm>
        </p:spPr>
        <p:txBody>
          <a:bodyPr>
            <a:normAutofit/>
          </a:bodyPr>
          <a:lstStyle/>
          <a:p>
            <a:r>
              <a:rPr lang="en-US" dirty="0" smtClean="0"/>
              <a:t>generative story for dataset                          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2800" dirty="0" smtClean="0"/>
              <a:t>each </a:t>
            </a:r>
            <a:r>
              <a:rPr lang="en-US" sz="2800" i="1" dirty="0" smtClean="0"/>
              <a:t>x</a:t>
            </a:r>
            <a:r>
              <a:rPr lang="en-US" sz="2800" dirty="0" smtClean="0"/>
              <a:t> is generated from a single mixture component</a:t>
            </a:r>
          </a:p>
          <a:p>
            <a:r>
              <a:rPr lang="en-US" sz="2800" dirty="0" smtClean="0"/>
              <a:t>the number of mixture components is unbounded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35" y="2181963"/>
            <a:ext cx="4533900" cy="18034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3240445" y="2527376"/>
            <a:ext cx="1204530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466961" y="2267605"/>
            <a:ext cx="4125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what should the base distribution be?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659" y="1246018"/>
            <a:ext cx="21463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93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70250</TotalTime>
  <Words>945</Words>
  <Application>Microsoft Macintosh PowerPoint</Application>
  <PresentationFormat>On-screen Show (4:3)</PresentationFormat>
  <Paragraphs>176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TTIC 31210: Advanced Natural Language Processing</vt:lpstr>
      <vt:lpstr>“Nonparametric”?</vt:lpstr>
      <vt:lpstr>Parametric or Nonparametric?</vt:lpstr>
      <vt:lpstr>Parametric or Nonparametric?</vt:lpstr>
      <vt:lpstr>PowerPoint Presentation</vt:lpstr>
      <vt:lpstr>PowerPoint Presentation</vt:lpstr>
      <vt:lpstr>Infinite Mixture Model</vt:lpstr>
      <vt:lpstr>“Infinite” HMM</vt:lpstr>
      <vt:lpstr>“Infinite” PCFG</vt:lpstr>
      <vt:lpstr>PowerPoint Presentation</vt:lpstr>
      <vt:lpstr>PowerPoint Presentation</vt:lpstr>
      <vt:lpstr>LDA Generative Story</vt:lpstr>
      <vt:lpstr>Dirichlet Process (DP)</vt:lpstr>
      <vt:lpstr>Running Example</vt:lpstr>
      <vt:lpstr>Dirichlet Process (DP)</vt:lpstr>
      <vt:lpstr>Dirichlet Processes</vt:lpstr>
      <vt:lpstr>Items and Probabilities</vt:lpstr>
      <vt:lpstr>Stick-Breaking Process</vt:lpstr>
      <vt:lpstr>Stick-Breaking Process</vt:lpstr>
      <vt:lpstr>Beta Distribution</vt:lpstr>
      <vt:lpstr>Stick-Breaking with High Concentration (s = 10)</vt:lpstr>
      <vt:lpstr>Stick-Breaking with High Concentration (s = 10)</vt:lpstr>
      <vt:lpstr>Stick-Breaking with Low Concentration (s = 0.1)</vt:lpstr>
      <vt:lpstr>Stick-Breaking with Low Concentration (s = 0.1)</vt:lpstr>
      <vt:lpstr>A Draw G from a DP</vt:lpstr>
      <vt:lpstr>A Draw G from a DP</vt:lpstr>
      <vt:lpstr>PowerPoint Presentation</vt:lpstr>
      <vt:lpstr>Dirichlet Process Mixture Model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1029</cp:revision>
  <dcterms:created xsi:type="dcterms:W3CDTF">2015-08-31T18:15:35Z</dcterms:created>
  <dcterms:modified xsi:type="dcterms:W3CDTF">2017-05-18T18:32:39Z</dcterms:modified>
</cp:coreProperties>
</file>