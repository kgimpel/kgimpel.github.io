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Default Extension="emf" ContentType="image/x-em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handoutMasterIdLst>
    <p:handoutMasterId r:id="rId31"/>
  </p:handoutMasterIdLst>
  <p:sldIdLst>
    <p:sldId id="256" r:id="rId2"/>
    <p:sldId id="946" r:id="rId3"/>
    <p:sldId id="947" r:id="rId4"/>
    <p:sldId id="951" r:id="rId5"/>
    <p:sldId id="952" r:id="rId6"/>
    <p:sldId id="953" r:id="rId7"/>
    <p:sldId id="954" r:id="rId8"/>
    <p:sldId id="955" r:id="rId9"/>
    <p:sldId id="949" r:id="rId10"/>
    <p:sldId id="956" r:id="rId11"/>
    <p:sldId id="957" r:id="rId12"/>
    <p:sldId id="969" r:id="rId13"/>
    <p:sldId id="958" r:id="rId14"/>
    <p:sldId id="960" r:id="rId15"/>
    <p:sldId id="961" r:id="rId16"/>
    <p:sldId id="972" r:id="rId17"/>
    <p:sldId id="962" r:id="rId18"/>
    <p:sldId id="964" r:id="rId19"/>
    <p:sldId id="970" r:id="rId20"/>
    <p:sldId id="965" r:id="rId21"/>
    <p:sldId id="966" r:id="rId22"/>
    <p:sldId id="967" r:id="rId23"/>
    <p:sldId id="968" r:id="rId24"/>
    <p:sldId id="971" r:id="rId25"/>
    <p:sldId id="976" r:id="rId26"/>
    <p:sldId id="973" r:id="rId27"/>
    <p:sldId id="974" r:id="rId28"/>
    <p:sldId id="975" r:id="rId2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C0000"/>
    <a:srgbClr val="288CD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900"/>
    <p:restoredTop sz="87280" autoAdjust="0"/>
  </p:normalViewPr>
  <p:slideViewPr>
    <p:cSldViewPr snapToGrid="0" snapToObjects="1">
      <p:cViewPr varScale="1">
        <p:scale>
          <a:sx n="111" d="100"/>
          <a:sy n="111" d="100"/>
        </p:scale>
        <p:origin x="-3304" y="-1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30" Type="http://schemas.openxmlformats.org/officeDocument/2006/relationships/notesMaster" Target="notesMasters/notesMaster1.xml"/><Relationship Id="rId31" Type="http://schemas.openxmlformats.org/officeDocument/2006/relationships/handoutMaster" Target="handoutMasters/handoutMaster1.xml"/><Relationship Id="rId32" Type="http://schemas.openxmlformats.org/officeDocument/2006/relationships/printerSettings" Target="printerSettings/printerSettings1.bin"/><Relationship Id="rId9" Type="http://schemas.openxmlformats.org/officeDocument/2006/relationships/slide" Target="slides/slide8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664593-8E4E-8747-9BDB-DA84BDED518C}" type="datetime1">
              <a:rPr lang="en-US" smtClean="0"/>
              <a:t>5/6/17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2E5790-10E5-C04B-864A-21F4E57B9F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104023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A541DB-7577-ED4C-AF0A-388D8C680A39}" type="datetime1">
              <a:rPr lang="en-US" smtClean="0"/>
              <a:t>5/6/17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1B48C7-8E5C-9640-8445-8A9544EEA5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63304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CD7B2-AEA0-D043-916D-6794629D2DCA}" type="datetime1">
              <a:rPr lang="en-US" smtClean="0"/>
              <a:t>5/6/17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3995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68728-3264-AF4F-9CE5-FA0C8D0912D9}" type="datetime1">
              <a:rPr lang="en-US" smtClean="0"/>
              <a:t>5/6/17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9465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B400C-B81F-7045-98E0-E0086ED4BE98}" type="datetime1">
              <a:rPr lang="en-US" smtClean="0"/>
              <a:t>5/6/17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4559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F1F27A-F732-8B4A-9B27-686442D49E4C}" type="datetime1">
              <a:rPr lang="en-US" smtClean="0"/>
              <a:t>5/6/17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3053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171ED0-786B-FC43-99CE-2369D6469C8C}" type="datetime1">
              <a:rPr lang="en-US" smtClean="0"/>
              <a:t>5/6/17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43111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05BA2-5204-E043-BD0E-95E8A7C0A256}" type="datetime1">
              <a:rPr lang="en-US" smtClean="0"/>
              <a:t>5/6/17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3770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B0B10-84AC-A845-8EBB-B973F6A52188}" type="datetime1">
              <a:rPr lang="en-US" smtClean="0"/>
              <a:t>5/6/17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68174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13713-D95F-9C47-88D3-6BB1CDB9F1E4}" type="datetime1">
              <a:rPr lang="en-US" smtClean="0"/>
              <a:t>5/6/17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70952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6023A-8A28-1649-91E1-905AF24D9B1C}" type="datetime1">
              <a:rPr lang="en-US" smtClean="0"/>
              <a:t>5/6/17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0874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BA977-597A-F949-8426-B66CA967B053}" type="datetime1">
              <a:rPr lang="en-US" smtClean="0"/>
              <a:t>5/6/17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78594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14735-0AB7-1A46-9AC6-2D030CB4F2E1}" type="datetime1">
              <a:rPr lang="en-US" smtClean="0"/>
              <a:t>5/6/17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8555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71398"/>
            <a:ext cx="8229600" cy="7268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073740"/>
            <a:ext cx="8229600" cy="50524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EB2050-0557-6041-8605-A9AD7CC206C9}" type="datetime1">
              <a:rPr lang="en-US" smtClean="0"/>
              <a:t>5/6/17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FF3AF9-2D61-8E40-AE3D-8390D801ED2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61579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emf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emf"/><Relationship Id="rId3" Type="http://schemas.openxmlformats.org/officeDocument/2006/relationships/image" Target="../media/image3.emf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emf"/><Relationship Id="rId3" Type="http://schemas.openxmlformats.org/officeDocument/2006/relationships/image" Target="../media/image4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4" Type="http://schemas.openxmlformats.org/officeDocument/2006/relationships/image" Target="../media/image5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4" Type="http://schemas.openxmlformats.org/officeDocument/2006/relationships/image" Target="../media/image5.emf"/><Relationship Id="rId5" Type="http://schemas.openxmlformats.org/officeDocument/2006/relationships/image" Target="../media/image6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emf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emf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emf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emf"/><Relationship Id="rId3" Type="http://schemas.openxmlformats.org/officeDocument/2006/relationships/image" Target="../media/image10.emf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emf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emf"/><Relationship Id="rId3" Type="http://schemas.openxmlformats.org/officeDocument/2006/relationships/image" Target="../media/image12.emf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emf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emf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emf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emf"/><Relationship Id="rId3" Type="http://schemas.openxmlformats.org/officeDocument/2006/relationships/image" Target="../media/image17.emf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emf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emf"/><Relationship Id="rId3" Type="http://schemas.openxmlformats.org/officeDocument/2006/relationships/image" Target="../media/image19.e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4" Type="http://schemas.openxmlformats.org/officeDocument/2006/relationships/image" Target="../media/image21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emf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emf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emf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90525"/>
            <a:ext cx="7772400" cy="1470025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TTIC 31210:</a:t>
            </a:r>
            <a:br>
              <a:rPr lang="en-US" dirty="0" smtClean="0"/>
            </a:br>
            <a:r>
              <a:rPr lang="en-US" sz="4000" dirty="0" smtClean="0"/>
              <a:t>Advanced Natural Language Processing</a:t>
            </a:r>
            <a:endParaRPr lang="en-US" sz="4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54100" y="1993899"/>
            <a:ext cx="7061200" cy="4181067"/>
          </a:xfrm>
        </p:spPr>
        <p:txBody>
          <a:bodyPr>
            <a:normAutofit/>
          </a:bodyPr>
          <a:lstStyle/>
          <a:p>
            <a:r>
              <a:rPr lang="en-US" dirty="0" smtClean="0">
                <a:solidFill>
                  <a:schemeClr val="tx1"/>
                </a:solidFill>
              </a:rPr>
              <a:t>Kevin Gimpel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Spring 2017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sz="4000" dirty="0" smtClean="0">
                <a:solidFill>
                  <a:schemeClr val="tx1"/>
                </a:solidFill>
              </a:rPr>
              <a:t>Lecture 10:</a:t>
            </a:r>
          </a:p>
          <a:p>
            <a:r>
              <a:rPr lang="en-US" sz="4000" dirty="0" smtClean="0">
                <a:solidFill>
                  <a:schemeClr val="tx1"/>
                </a:solidFill>
              </a:rPr>
              <a:t>Introduction to Bayesian NLP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82031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Assignment 2 has been posted, due May 17</a:t>
            </a:r>
          </a:p>
          <a:p>
            <a:r>
              <a:rPr lang="en-US" dirty="0" smtClean="0"/>
              <a:t>Grades for Assignment 1 will be emailed to you soon</a:t>
            </a:r>
          </a:p>
          <a:p>
            <a:r>
              <a:rPr lang="en-US" dirty="0" smtClean="0"/>
              <a:t>Project proposal details posted, due May 10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075392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Additional Reading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351" y="1073740"/>
            <a:ext cx="4486882" cy="5052424"/>
          </a:xfrm>
        </p:spPr>
        <p:txBody>
          <a:bodyPr/>
          <a:lstStyle/>
          <a:p>
            <a:r>
              <a:rPr lang="en-US" dirty="0" smtClean="0"/>
              <a:t>For this segment of the course, the optional text is Cohen (2016)</a:t>
            </a:r>
          </a:p>
          <a:p>
            <a:r>
              <a:rPr lang="en-US" dirty="0" smtClean="0"/>
              <a:t>There is a copy in the TTIC library</a:t>
            </a:r>
          </a:p>
          <a:p>
            <a:r>
              <a:rPr lang="en-US" dirty="0" smtClean="0"/>
              <a:t>Readings will be drawn from this book for the next few lectures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3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8555" y="1100004"/>
            <a:ext cx="4236484" cy="5243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326104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26831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Motivation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98229"/>
            <a:ext cx="8229600" cy="4220953"/>
          </a:xfrm>
        </p:spPr>
        <p:txBody>
          <a:bodyPr>
            <a:noAutofit/>
          </a:bodyPr>
          <a:lstStyle/>
          <a:p>
            <a:r>
              <a:rPr lang="en-US" dirty="0" smtClean="0"/>
              <a:t>in most neural NLP, we assume parameters and architectures are fixed</a:t>
            </a:r>
          </a:p>
          <a:p>
            <a:r>
              <a:rPr lang="en-US" dirty="0" smtClean="0"/>
              <a:t>consider a one-hidden-layer MLP: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4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1300" y="2726394"/>
            <a:ext cx="6121400" cy="825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53997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26831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Motivation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98229"/>
            <a:ext cx="8229600" cy="4220953"/>
          </a:xfrm>
        </p:spPr>
        <p:txBody>
          <a:bodyPr>
            <a:noAutofit/>
          </a:bodyPr>
          <a:lstStyle/>
          <a:p>
            <a:r>
              <a:rPr lang="en-US" dirty="0" smtClean="0"/>
              <a:t>in most neural NLP, we assume parameters and architectures are fixed</a:t>
            </a:r>
          </a:p>
          <a:p>
            <a:r>
              <a:rPr lang="en-US" dirty="0" smtClean="0"/>
              <a:t>consider a one-hidden-layer MLP: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n</a:t>
            </a:r>
            <a:r>
              <a:rPr lang="en-US" dirty="0" smtClean="0"/>
              <a:t>ow let’s be more explicit about what we’re conditioning on: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5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1300" y="2726394"/>
            <a:ext cx="6121400" cy="8255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500" y="4926399"/>
            <a:ext cx="8255000" cy="825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475998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26831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Motivation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491533"/>
            <a:ext cx="8229600" cy="4220953"/>
          </a:xfrm>
        </p:spPr>
        <p:txBody>
          <a:bodyPr>
            <a:noAutofit/>
          </a:bodyPr>
          <a:lstStyle/>
          <a:p>
            <a:r>
              <a:rPr lang="en-US" dirty="0" smtClean="0"/>
              <a:t>how do we get back to                        ?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6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500" y="1127424"/>
            <a:ext cx="8255000" cy="8255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7462" y="2654481"/>
            <a:ext cx="1917700" cy="368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017674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26831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Motivation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491533"/>
            <a:ext cx="8229600" cy="4220953"/>
          </a:xfrm>
        </p:spPr>
        <p:txBody>
          <a:bodyPr>
            <a:noAutofit/>
          </a:bodyPr>
          <a:lstStyle/>
          <a:p>
            <a:r>
              <a:rPr lang="en-US" dirty="0" smtClean="0"/>
              <a:t>how do we get back to                        ?</a:t>
            </a:r>
          </a:p>
          <a:p>
            <a:r>
              <a:rPr lang="en-US" dirty="0" smtClean="0"/>
              <a:t>marginalize over new random variables: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7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500" y="1127424"/>
            <a:ext cx="8255000" cy="8255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7462" y="2654481"/>
            <a:ext cx="1917700" cy="3683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900" y="3918478"/>
            <a:ext cx="74295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76698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26831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Motivation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491533"/>
            <a:ext cx="8229600" cy="4220953"/>
          </a:xfrm>
        </p:spPr>
        <p:txBody>
          <a:bodyPr>
            <a:noAutofit/>
          </a:bodyPr>
          <a:lstStyle/>
          <a:p>
            <a:r>
              <a:rPr lang="en-US" dirty="0" smtClean="0"/>
              <a:t>how do we get back to                        ?</a:t>
            </a:r>
          </a:p>
          <a:p>
            <a:r>
              <a:rPr lang="en-US" dirty="0" smtClean="0"/>
              <a:t>marginalize over new random variables: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8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500" y="1127424"/>
            <a:ext cx="8255000" cy="8255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7462" y="2654481"/>
            <a:ext cx="1917700" cy="3683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900" y="3918478"/>
            <a:ext cx="7429500" cy="8128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6460" y="5215776"/>
            <a:ext cx="8699500" cy="274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422085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Going Further…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73740"/>
            <a:ext cx="8229600" cy="1772656"/>
          </a:xfrm>
        </p:spPr>
        <p:txBody>
          <a:bodyPr>
            <a:normAutofit/>
          </a:bodyPr>
          <a:lstStyle/>
          <a:p>
            <a:r>
              <a:rPr lang="en-US" dirty="0" smtClean="0"/>
              <a:t>marginalize over architectures &amp; parameters: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9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00" y="1963746"/>
            <a:ext cx="8940800" cy="176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225691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Going Further…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73740"/>
            <a:ext cx="8229600" cy="1772656"/>
          </a:xfrm>
        </p:spPr>
        <p:txBody>
          <a:bodyPr>
            <a:noAutofit/>
          </a:bodyPr>
          <a:lstStyle/>
          <a:p>
            <a:r>
              <a:rPr lang="en-US" dirty="0" smtClean="0"/>
              <a:t>marginalize over architectures &amp; parameters: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r>
              <a:rPr lang="en-US" dirty="0" smtClean="0"/>
              <a:t>the Bayesian framework gives us a vocabulary to discuss this kind of thing and methods for approximating these computations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10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00" y="1963746"/>
            <a:ext cx="8940800" cy="176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555338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Why “Bayesian”?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11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7000" y="1536700"/>
            <a:ext cx="6350000" cy="378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006290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Bayesian NLP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typically used with unsupervised learning:</a:t>
            </a:r>
          </a:p>
          <a:p>
            <a:pPr lvl="1"/>
            <a:r>
              <a:rPr lang="en-US" dirty="0" smtClean="0"/>
              <a:t>we have data</a:t>
            </a:r>
          </a:p>
          <a:p>
            <a:pPr lvl="1"/>
            <a:r>
              <a:rPr lang="en-US" dirty="0" smtClean="0"/>
              <a:t>we hypothesize some latent variables through which the data are generated</a:t>
            </a:r>
          </a:p>
          <a:p>
            <a:pPr lvl="1"/>
            <a:r>
              <a:rPr lang="en-US" dirty="0" smtClean="0"/>
              <a:t>we define the “generative story” that describes how latent variables are generated, then how data is generated using latent variables</a:t>
            </a:r>
          </a:p>
          <a:p>
            <a:pPr lvl="1"/>
            <a:r>
              <a:rPr lang="en-US" dirty="0" smtClean="0"/>
              <a:t>we parameterize the distributions &amp; add the parameters themselves to the generative story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764361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Generative Story Template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13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0100" y="3272518"/>
            <a:ext cx="4991100" cy="3683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900" y="1270000"/>
            <a:ext cx="6921500" cy="1435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939640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Multinomial Distribution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73740"/>
            <a:ext cx="8229600" cy="3927298"/>
          </a:xfrm>
        </p:spPr>
        <p:txBody>
          <a:bodyPr/>
          <a:lstStyle/>
          <a:p>
            <a:r>
              <a:rPr lang="en-US" dirty="0" smtClean="0"/>
              <a:t>parameterized by a vector of probabilities, one for drawing each outcome</a:t>
            </a:r>
          </a:p>
          <a:p>
            <a:r>
              <a:rPr lang="en-US" dirty="0" smtClean="0"/>
              <a:t>i.e., prob. of drawing outcome </a:t>
            </a:r>
            <a:r>
              <a:rPr lang="en-US" dirty="0" err="1" smtClean="0"/>
              <a:t>i</a:t>
            </a:r>
            <a:r>
              <a:rPr lang="en-US" dirty="0" smtClean="0"/>
              <a:t> for variable A:</a:t>
            </a:r>
          </a:p>
          <a:p>
            <a:endParaRPr lang="en-US" dirty="0"/>
          </a:p>
          <a:p>
            <a:endParaRPr lang="en-US" sz="20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14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3100" y="3093783"/>
            <a:ext cx="2717800" cy="368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999183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Multinomial Distribution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73740"/>
            <a:ext cx="8229600" cy="3927298"/>
          </a:xfrm>
        </p:spPr>
        <p:txBody>
          <a:bodyPr/>
          <a:lstStyle/>
          <a:p>
            <a:r>
              <a:rPr lang="en-US" dirty="0" smtClean="0"/>
              <a:t>parameterized by a vector of probabilities, one for drawing each outcome</a:t>
            </a:r>
          </a:p>
          <a:p>
            <a:r>
              <a:rPr lang="en-US" dirty="0" smtClean="0"/>
              <a:t>i.e., prob. of drawing outcome </a:t>
            </a:r>
            <a:r>
              <a:rPr lang="en-US" dirty="0" err="1" smtClean="0"/>
              <a:t>i</a:t>
            </a:r>
            <a:r>
              <a:rPr lang="en-US" dirty="0" smtClean="0"/>
              <a:t> for variable A:</a:t>
            </a:r>
          </a:p>
          <a:p>
            <a:endParaRPr lang="en-US" dirty="0"/>
          </a:p>
          <a:p>
            <a:endParaRPr lang="en-US" sz="2000" dirty="0" smtClean="0"/>
          </a:p>
          <a:p>
            <a:r>
              <a:rPr lang="en-US" dirty="0" smtClean="0"/>
              <a:t>when we want to draw from this distribution, we will write: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15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3100" y="3093783"/>
            <a:ext cx="2717800" cy="3683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3100" y="5001038"/>
            <a:ext cx="3035300" cy="368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650212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we should more accurately call this a “categorical distribution”</a:t>
            </a:r>
          </a:p>
          <a:p>
            <a:r>
              <a:rPr lang="en-US" dirty="0" smtClean="0"/>
              <a:t>a multinomial is more general (permits more than 1 instance of an event)</a:t>
            </a:r>
          </a:p>
          <a:p>
            <a:r>
              <a:rPr lang="en-US" dirty="0" smtClean="0"/>
              <a:t>but multinomial is used </a:t>
            </a:r>
            <a:r>
              <a:rPr lang="en-US" dirty="0"/>
              <a:t>frequently </a:t>
            </a:r>
            <a:r>
              <a:rPr lang="en-US" dirty="0" smtClean="0"/>
              <a:t>to mean  categorical in this literature, so we’ll </a:t>
            </a:r>
            <a:r>
              <a:rPr lang="en-US" dirty="0"/>
              <a:t>often </a:t>
            </a:r>
            <a:r>
              <a:rPr lang="en-US" dirty="0" smtClean="0"/>
              <a:t>use multinomial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555194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606190"/>
            <a:ext cx="8229600" cy="2519973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generative model for document collections using latent variables that can be interpreted as “topics”</a:t>
            </a:r>
          </a:p>
          <a:p>
            <a:r>
              <a:rPr lang="en-US" dirty="0" smtClean="0"/>
              <a:t>learns a multinomial distribution over words for each topic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17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9924" y="113401"/>
            <a:ext cx="7351531" cy="3334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556026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18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/>
          <a:srcRect b="34764"/>
          <a:stretch/>
        </p:blipFill>
        <p:spPr>
          <a:xfrm>
            <a:off x="1685059" y="2111852"/>
            <a:ext cx="5638800" cy="246757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201558" y="1633362"/>
            <a:ext cx="67361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multinomial distributions over words for four topics:</a:t>
            </a:r>
            <a:endParaRPr lang="en-US" sz="2400" dirty="0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457200" y="171398"/>
            <a:ext cx="8229600" cy="90234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Latent </a:t>
            </a:r>
            <a:r>
              <a:rPr lang="en-US" dirty="0" err="1" smtClean="0"/>
              <a:t>Dirichlet</a:t>
            </a:r>
            <a:r>
              <a:rPr lang="en-US" dirty="0" smtClean="0"/>
              <a:t> Allocation</a:t>
            </a:r>
            <a:br>
              <a:rPr lang="en-US" dirty="0" smtClean="0"/>
            </a:br>
            <a:r>
              <a:rPr lang="en-US" sz="3100" dirty="0" smtClean="0"/>
              <a:t>(</a:t>
            </a:r>
            <a:r>
              <a:rPr lang="en-US" sz="3100" dirty="0" err="1" smtClean="0"/>
              <a:t>Blei</a:t>
            </a:r>
            <a:r>
              <a:rPr lang="en-US" sz="3100" dirty="0" smtClean="0"/>
              <a:t> et al., 2003)</a:t>
            </a:r>
            <a:endParaRPr lang="en-US" sz="3100" dirty="0"/>
          </a:p>
        </p:txBody>
      </p:sp>
    </p:spTree>
    <p:extLst>
      <p:ext uri="{BB962C8B-B14F-4D97-AF65-F5344CB8AC3E}">
        <p14:creationId xmlns:p14="http://schemas.microsoft.com/office/powerpoint/2010/main" val="32018862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19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16000"/>
            <a:ext cx="9144000" cy="4812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621435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Generative Story for Simple LDA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73740"/>
            <a:ext cx="8229600" cy="1330387"/>
          </a:xfrm>
        </p:spPr>
        <p:txBody>
          <a:bodyPr>
            <a:normAutofit/>
          </a:bodyPr>
          <a:lstStyle/>
          <a:p>
            <a:r>
              <a:rPr lang="en-US" sz="2400" dirty="0" smtClean="0"/>
              <a:t>simplified LDA model, and only showing generative story for a single document:</a:t>
            </a: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20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151" y="2105890"/>
            <a:ext cx="8769792" cy="1549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277465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Generative Story for Simple LDA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73740"/>
            <a:ext cx="8229600" cy="1330387"/>
          </a:xfrm>
        </p:spPr>
        <p:txBody>
          <a:bodyPr>
            <a:normAutofit/>
          </a:bodyPr>
          <a:lstStyle/>
          <a:p>
            <a:r>
              <a:rPr lang="en-US" sz="2400" dirty="0" smtClean="0"/>
              <a:t>simplified LDA model, and only showing generative story for a single document:</a:t>
            </a: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21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151" y="2105890"/>
            <a:ext cx="8769792" cy="154996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950611" y="4740584"/>
            <a:ext cx="59584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multinomial distribution over words for topic </a:t>
            </a:r>
            <a:endParaRPr lang="en-US" sz="24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4399" y="4934919"/>
            <a:ext cx="241300" cy="228600"/>
          </a:xfrm>
          <a:prstGeom prst="rect">
            <a:avLst/>
          </a:prstGeom>
        </p:spPr>
      </p:pic>
      <p:cxnSp>
        <p:nvCxnSpPr>
          <p:cNvPr id="10" name="Straight Arrow Connector 9"/>
          <p:cNvCxnSpPr/>
          <p:nvPr/>
        </p:nvCxnSpPr>
        <p:spPr>
          <a:xfrm flipV="1">
            <a:off x="2891608" y="3655853"/>
            <a:ext cx="1338077" cy="108473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803257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Generative Story for Simple LDA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73740"/>
            <a:ext cx="8229600" cy="1330387"/>
          </a:xfrm>
        </p:spPr>
        <p:txBody>
          <a:bodyPr>
            <a:normAutofit/>
          </a:bodyPr>
          <a:lstStyle/>
          <a:p>
            <a:r>
              <a:rPr lang="en-US" sz="2400" dirty="0" smtClean="0"/>
              <a:t>simplified LDA model, and only showing generative story for a single document:</a:t>
            </a: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22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151" y="2105890"/>
            <a:ext cx="8769792" cy="154996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95873" y="4343676"/>
            <a:ext cx="425504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what should we keep in mind </a:t>
            </a:r>
          </a:p>
          <a:p>
            <a:r>
              <a:rPr lang="en-US" sz="2400" dirty="0" smtClean="0"/>
              <a:t>when choosing this distribution?</a:t>
            </a:r>
          </a:p>
        </p:txBody>
      </p:sp>
      <p:cxnSp>
        <p:nvCxnSpPr>
          <p:cNvPr id="7" name="Straight Arrow Connector 6"/>
          <p:cNvCxnSpPr/>
          <p:nvPr/>
        </p:nvCxnSpPr>
        <p:spPr>
          <a:xfrm flipV="1">
            <a:off x="6248140" y="2404128"/>
            <a:ext cx="2438660" cy="193917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324101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 smtClean="0"/>
              <a:t>Dirichlet</a:t>
            </a:r>
            <a:r>
              <a:rPr lang="en-US" dirty="0" smtClean="0"/>
              <a:t> Distribution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distribution over vectors with entries that are all positive and sum to 1</a:t>
            </a:r>
          </a:p>
          <a:p>
            <a:r>
              <a:rPr lang="en-US" dirty="0" smtClean="0"/>
              <a:t>so it’s kind of like a “distribution over (multinomial) distributions”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23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5200" y="3422650"/>
            <a:ext cx="4660900" cy="901700"/>
          </a:xfrm>
          <a:prstGeom prst="rect">
            <a:avLst/>
          </a:prstGeom>
        </p:spPr>
      </p:pic>
      <p:cxnSp>
        <p:nvCxnSpPr>
          <p:cNvPr id="6" name="Straight Arrow Connector 5"/>
          <p:cNvCxnSpPr/>
          <p:nvPr/>
        </p:nvCxnSpPr>
        <p:spPr>
          <a:xfrm flipV="1">
            <a:off x="4195666" y="4324351"/>
            <a:ext cx="590299" cy="63132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658444" y="5058110"/>
            <a:ext cx="47155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normalization term that depends on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1171" y="5245257"/>
            <a:ext cx="203200" cy="17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382241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 smtClean="0"/>
              <a:t>Dirichlet</a:t>
            </a:r>
            <a:r>
              <a:rPr lang="en-US" dirty="0" smtClean="0"/>
              <a:t> Distribution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parameterized by a positive vector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24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3600" y="2005122"/>
            <a:ext cx="4660900" cy="9017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1230" y="4009635"/>
            <a:ext cx="2489200" cy="3683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0480" y="1354201"/>
            <a:ext cx="241300" cy="19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153014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[see </a:t>
            </a:r>
            <a:r>
              <a:rPr lang="en-US" dirty="0" err="1" smtClean="0"/>
              <a:t>Jupyter</a:t>
            </a:r>
            <a:r>
              <a:rPr lang="en-US" dirty="0" smtClean="0"/>
              <a:t> Notebook]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85702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Generative Story for Simple LDA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73740"/>
            <a:ext cx="8229600" cy="1330387"/>
          </a:xfrm>
        </p:spPr>
        <p:txBody>
          <a:bodyPr>
            <a:normAutofit/>
          </a:bodyPr>
          <a:lstStyle/>
          <a:p>
            <a:r>
              <a:rPr lang="en-US" sz="2400" dirty="0" smtClean="0"/>
              <a:t>simplified LDA model, and only showing generative story for a single document:</a:t>
            </a: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26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766" y="2075513"/>
            <a:ext cx="8585200" cy="1887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724333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Generative Story for LDA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27</a:t>
            </a:fld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4048460"/>
            <a:ext cx="8229600" cy="2077704"/>
          </a:xfrm>
        </p:spPr>
        <p:txBody>
          <a:bodyPr>
            <a:normAutofit/>
          </a:bodyPr>
          <a:lstStyle/>
          <a:p>
            <a:r>
              <a:rPr lang="en-US" sz="2800" dirty="0" smtClean="0"/>
              <a:t>now we show explicitly the generation of the word </a:t>
            </a:r>
            <a:r>
              <a:rPr lang="en-US" sz="2800" dirty="0" err="1" smtClean="0"/>
              <a:t>multinomials</a:t>
            </a:r>
            <a:r>
              <a:rPr lang="en-US" sz="2800" dirty="0" smtClean="0"/>
              <a:t> (once for the document collection)</a:t>
            </a:r>
          </a:p>
          <a:p>
            <a:r>
              <a:rPr lang="en-US" sz="2800" dirty="0" smtClean="0"/>
              <a:t>where should the </a:t>
            </a:r>
            <a:r>
              <a:rPr lang="en-US" sz="2800" dirty="0" err="1" smtClean="0"/>
              <a:t>hyperparameters</a:t>
            </a:r>
            <a:r>
              <a:rPr lang="en-US" sz="2800" dirty="0" smtClean="0"/>
              <a:t> (alpha and psi) come from?</a:t>
            </a:r>
            <a:endParaRPr lang="en-US" sz="28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05" y="1109638"/>
            <a:ext cx="8973908" cy="2370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569741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Graphical Model for LDA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28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9582" y="1451549"/>
            <a:ext cx="5649733" cy="2983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16696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64319</TotalTime>
  <Words>622</Words>
  <Application>Microsoft Macintosh PowerPoint</Application>
  <PresentationFormat>On-screen Show (4:3)</PresentationFormat>
  <Paragraphs>113</Paragraphs>
  <Slides>28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29" baseType="lpstr">
      <vt:lpstr>Office Theme</vt:lpstr>
      <vt:lpstr>TTIC 31210: Advanced Natural Language Processing</vt:lpstr>
      <vt:lpstr>PowerPoint Presentation</vt:lpstr>
      <vt:lpstr>Additional Reading</vt:lpstr>
      <vt:lpstr>Motivation</vt:lpstr>
      <vt:lpstr>Motivation</vt:lpstr>
      <vt:lpstr>Motivation</vt:lpstr>
      <vt:lpstr>Motivation</vt:lpstr>
      <vt:lpstr>Motivation</vt:lpstr>
      <vt:lpstr>Going Further…</vt:lpstr>
      <vt:lpstr>Going Further…</vt:lpstr>
      <vt:lpstr>Why “Bayesian”?</vt:lpstr>
      <vt:lpstr>Bayesian NLP</vt:lpstr>
      <vt:lpstr>Generative Story Template</vt:lpstr>
      <vt:lpstr>Multinomial Distribution</vt:lpstr>
      <vt:lpstr>Multinomial Distribution</vt:lpstr>
      <vt:lpstr>PowerPoint Presentation</vt:lpstr>
      <vt:lpstr>PowerPoint Presentation</vt:lpstr>
      <vt:lpstr>Latent Dirichlet Allocation (Blei et al., 2003)</vt:lpstr>
      <vt:lpstr>PowerPoint Presentation</vt:lpstr>
      <vt:lpstr>Generative Story for Simple LDA</vt:lpstr>
      <vt:lpstr>Generative Story for Simple LDA</vt:lpstr>
      <vt:lpstr>Generative Story for Simple LDA</vt:lpstr>
      <vt:lpstr>Dirichlet Distribution</vt:lpstr>
      <vt:lpstr>Dirichlet Distribution</vt:lpstr>
      <vt:lpstr>[see Jupyter Notebook]</vt:lpstr>
      <vt:lpstr>Generative Story for Simple LDA</vt:lpstr>
      <vt:lpstr>Generative Story for LDA</vt:lpstr>
      <vt:lpstr>Graphical Model for LDA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TTIC 31190: Natural Language Processing</dc:title>
  <dc:creator>Kevin Gimpel</dc:creator>
  <cp:lastModifiedBy>Kevin Gimpel</cp:lastModifiedBy>
  <cp:revision>869</cp:revision>
  <dcterms:created xsi:type="dcterms:W3CDTF">2015-08-31T18:15:35Z</dcterms:created>
  <dcterms:modified xsi:type="dcterms:W3CDTF">2017-05-06T14:06:10Z</dcterms:modified>
</cp:coreProperties>
</file>