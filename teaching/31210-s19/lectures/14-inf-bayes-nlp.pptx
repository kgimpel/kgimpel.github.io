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handoutMasterIdLst>
    <p:handoutMasterId r:id="rId51"/>
  </p:handoutMasterIdLst>
  <p:sldIdLst>
    <p:sldId id="256" r:id="rId2"/>
    <p:sldId id="3180" r:id="rId3"/>
    <p:sldId id="3181" r:id="rId4"/>
    <p:sldId id="3772" r:id="rId5"/>
    <p:sldId id="3773" r:id="rId6"/>
    <p:sldId id="3684" r:id="rId7"/>
    <p:sldId id="3687" r:id="rId8"/>
    <p:sldId id="3691" r:id="rId9"/>
    <p:sldId id="3792" r:id="rId10"/>
    <p:sldId id="3699" r:id="rId11"/>
    <p:sldId id="3787" r:id="rId12"/>
    <p:sldId id="3698" r:id="rId13"/>
    <p:sldId id="3812" r:id="rId14"/>
    <p:sldId id="3814" r:id="rId15"/>
    <p:sldId id="3813" r:id="rId16"/>
    <p:sldId id="3815" r:id="rId17"/>
    <p:sldId id="3816" r:id="rId18"/>
    <p:sldId id="3746" r:id="rId19"/>
    <p:sldId id="3843" r:id="rId20"/>
    <p:sldId id="3780" r:id="rId21"/>
    <p:sldId id="3781" r:id="rId22"/>
    <p:sldId id="3785" r:id="rId23"/>
    <p:sldId id="3784" r:id="rId24"/>
    <p:sldId id="3828" r:id="rId25"/>
    <p:sldId id="3827" r:id="rId26"/>
    <p:sldId id="3715" r:id="rId27"/>
    <p:sldId id="3716" r:id="rId28"/>
    <p:sldId id="3719" r:id="rId29"/>
    <p:sldId id="3720" r:id="rId30"/>
    <p:sldId id="3721" r:id="rId31"/>
    <p:sldId id="3722" r:id="rId32"/>
    <p:sldId id="3723" r:id="rId33"/>
    <p:sldId id="3795" r:id="rId34"/>
    <p:sldId id="3830" r:id="rId35"/>
    <p:sldId id="3831" r:id="rId36"/>
    <p:sldId id="3805" r:id="rId37"/>
    <p:sldId id="3796" r:id="rId38"/>
    <p:sldId id="3801" r:id="rId39"/>
    <p:sldId id="3802" r:id="rId40"/>
    <p:sldId id="3803" r:id="rId41"/>
    <p:sldId id="3809" r:id="rId42"/>
    <p:sldId id="3806" r:id="rId43"/>
    <p:sldId id="3807" r:id="rId44"/>
    <p:sldId id="3729" r:id="rId45"/>
    <p:sldId id="3842" r:id="rId46"/>
    <p:sldId id="3730" r:id="rId47"/>
    <p:sldId id="3731" r:id="rId48"/>
    <p:sldId id="3732"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A3CE"/>
    <a:srgbClr val="288CD2"/>
    <a:srgbClr val="BC0000"/>
    <a:srgbClr val="EB5151"/>
    <a:srgbClr val="FFE6E6"/>
    <a:srgbClr val="FFC2C2"/>
    <a:srgbClr val="FF8C8C"/>
    <a:srgbClr val="F76A6A"/>
    <a:srgbClr val="EB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63" autoAdjust="0"/>
    <p:restoredTop sz="86160" autoAdjust="0"/>
  </p:normalViewPr>
  <p:slideViewPr>
    <p:cSldViewPr snapToGrid="0" snapToObjects="1">
      <p:cViewPr varScale="1">
        <p:scale>
          <a:sx n="60" d="100"/>
          <a:sy n="60" d="100"/>
        </p:scale>
        <p:origin x="-208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interSettings" Target="printerSettings/printerSettings1.bin"/><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664593-8E4E-8747-9BDB-DA84BDED518C}" type="datetime1">
              <a:rPr lang="en-US" smtClean="0"/>
              <a:t>5/20/19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02E5790-10E5-C04B-864A-21F4E57B9FCF}" type="slidenum">
              <a:rPr lang="en-US" smtClean="0"/>
              <a:t>‹#›</a:t>
            </a:fld>
            <a:endParaRPr lang="en-US"/>
          </a:p>
        </p:txBody>
      </p:sp>
    </p:spTree>
    <p:extLst>
      <p:ext uri="{BB962C8B-B14F-4D97-AF65-F5344CB8AC3E}">
        <p14:creationId xmlns:p14="http://schemas.microsoft.com/office/powerpoint/2010/main" val="1321040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A541DB-7577-ED4C-AF0A-388D8C680A39}" type="datetime1">
              <a:rPr lang="en-US" smtClean="0"/>
              <a:t>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1B48C7-8E5C-9640-8445-8A9544EEA549}" type="slidenum">
              <a:rPr lang="en-US" smtClean="0"/>
              <a:t>‹#›</a:t>
            </a:fld>
            <a:endParaRPr lang="en-US"/>
          </a:p>
        </p:txBody>
      </p:sp>
    </p:spTree>
    <p:extLst>
      <p:ext uri="{BB962C8B-B14F-4D97-AF65-F5344CB8AC3E}">
        <p14:creationId xmlns:p14="http://schemas.microsoft.com/office/powerpoint/2010/main" val="3819633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 notice for the slide containing the LDA figure:</a:t>
            </a:r>
          </a:p>
          <a:p>
            <a:endParaRPr lang="en-US" dirty="0"/>
          </a:p>
          <a:p>
            <a:r>
              <a:rPr lang="en-US" dirty="0"/>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dirty="0" err="1"/>
              <a:t>permissions@acm.org</a:t>
            </a:r>
            <a:r>
              <a:rPr lang="en-US" dirty="0"/>
              <a:t> or fax (212) 869-0481.</a:t>
            </a:r>
          </a:p>
          <a:p>
            <a:endParaRPr lang="en-US" dirty="0"/>
          </a:p>
          <a:p>
            <a:r>
              <a:rPr lang="en-US" dirty="0"/>
              <a:t>The Digital Library is published by the Association for Computing Machinery. Copyright © 2012 ACM, Inc.</a:t>
            </a:r>
          </a:p>
          <a:p>
            <a:endParaRPr lang="en-US" dirty="0"/>
          </a:p>
        </p:txBody>
      </p:sp>
      <p:sp>
        <p:nvSpPr>
          <p:cNvPr id="4" name="Slide Number Placeholder 3"/>
          <p:cNvSpPr>
            <a:spLocks noGrp="1"/>
          </p:cNvSpPr>
          <p:nvPr>
            <p:ph type="sldNum" sz="quarter" idx="5"/>
          </p:nvPr>
        </p:nvSpPr>
        <p:spPr/>
        <p:txBody>
          <a:bodyPr/>
          <a:lstStyle/>
          <a:p>
            <a:fld id="{491B48C7-8E5C-9640-8445-8A9544EEA549}" type="slidenum">
              <a:rPr lang="en-US" smtClean="0"/>
              <a:t>1</a:t>
            </a:fld>
            <a:endParaRPr lang="en-US"/>
          </a:p>
        </p:txBody>
      </p:sp>
    </p:spTree>
    <p:extLst>
      <p:ext uri="{BB962C8B-B14F-4D97-AF65-F5344CB8AC3E}">
        <p14:creationId xmlns:p14="http://schemas.microsoft.com/office/powerpoint/2010/main" val="3785176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4</a:t>
            </a:fld>
            <a:endParaRPr lang="en-US"/>
          </a:p>
        </p:txBody>
      </p:sp>
    </p:spTree>
    <p:extLst>
      <p:ext uri="{BB962C8B-B14F-4D97-AF65-F5344CB8AC3E}">
        <p14:creationId xmlns:p14="http://schemas.microsoft.com/office/powerpoint/2010/main" val="165485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6</a:t>
            </a:fld>
            <a:endParaRPr lang="en-US"/>
          </a:p>
        </p:txBody>
      </p:sp>
    </p:spTree>
    <p:extLst>
      <p:ext uri="{BB962C8B-B14F-4D97-AF65-F5344CB8AC3E}">
        <p14:creationId xmlns:p14="http://schemas.microsoft.com/office/powerpoint/2010/main" val="85311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genstory</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set of parameters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latent structure } z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p(z\mid\theta)\\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{3: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the observed data } x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p(x\mid z, \theta)</a:t>
            </a:r>
          </a:p>
          <a:p>
            <a:r>
              <a:rPr lang="en-US" sz="1200" kern="1200" dirty="0">
                <a:solidFill>
                  <a:schemeClr val="tx1"/>
                </a:solidFill>
                <a:latin typeface="+mn-lt"/>
                <a:ea typeface="+mn-ea"/>
                <a:cs typeface="+mn-cs"/>
              </a:rPr>
              <a:t>p(</a:t>
            </a:r>
            <a:r>
              <a:rPr lang="en-US" sz="1200" kern="1200" dirty="0" err="1">
                <a:solidFill>
                  <a:schemeClr val="tx1"/>
                </a:solidFill>
                <a:latin typeface="+mn-lt"/>
                <a:ea typeface="+mn-ea"/>
                <a:cs typeface="+mn-cs"/>
              </a:rPr>
              <a:t>x,z</a:t>
            </a:r>
            <a:r>
              <a:rPr lang="en-US" sz="1200" kern="1200" dirty="0">
                <a:solidFill>
                  <a:schemeClr val="tx1"/>
                </a:solidFill>
                <a:latin typeface="+mn-lt"/>
                <a:ea typeface="+mn-ea"/>
                <a:cs typeface="+mn-cs"/>
              </a:rPr>
              <a:t>,\theta) = p(\theta)p(z\mid\theta)p(x\mid z, \theta)</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7</a:t>
            </a:fld>
            <a:endParaRPr lang="en-US"/>
          </a:p>
        </p:txBody>
      </p:sp>
    </p:spTree>
    <p:extLst>
      <p:ext uri="{BB962C8B-B14F-4D97-AF65-F5344CB8AC3E}">
        <p14:creationId xmlns:p14="http://schemas.microsoft.com/office/powerpoint/2010/main" val="1700799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dirty="0" err="1"/>
              <a:t>permissions@acm.org</a:t>
            </a:r>
            <a:r>
              <a:rPr lang="en-US" dirty="0"/>
              <a:t> or fax (212) 869-0481.</a:t>
            </a:r>
          </a:p>
          <a:p>
            <a:endParaRPr lang="en-US" dirty="0"/>
          </a:p>
          <a:p>
            <a:r>
              <a:rPr lang="en-US" dirty="0"/>
              <a:t>The Digital Library is published by the Association for Computing Machinery. Copyright © 2012 ACM, Inc.</a:t>
            </a:r>
          </a:p>
        </p:txBody>
      </p:sp>
      <p:sp>
        <p:nvSpPr>
          <p:cNvPr id="4" name="Slide Number Placeholder 3"/>
          <p:cNvSpPr>
            <a:spLocks noGrp="1"/>
          </p:cNvSpPr>
          <p:nvPr>
            <p:ph type="sldNum" sz="quarter" idx="10"/>
          </p:nvPr>
        </p:nvSpPr>
        <p:spPr/>
        <p:txBody>
          <a:bodyPr/>
          <a:lstStyle/>
          <a:p>
            <a:fld id="{491B48C7-8E5C-9640-8445-8A9544EEA549}" type="slidenum">
              <a:rPr lang="en-US" smtClean="0"/>
              <a:t>9</a:t>
            </a:fld>
            <a:endParaRPr lang="en-US"/>
          </a:p>
        </p:txBody>
      </p:sp>
    </p:spTree>
    <p:extLst>
      <p:ext uri="{BB962C8B-B14F-4D97-AF65-F5344CB8AC3E}">
        <p14:creationId xmlns:p14="http://schemas.microsoft.com/office/powerpoint/2010/main" val="2045847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dirichlet</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&amp;p(\Theta = \theta \mid \alpha)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{1}{B(\alpha)}\</a:t>
            </a:r>
            <a:r>
              <a:rPr lang="en-US" sz="1200" kern="1200" dirty="0" err="1">
                <a:solidFill>
                  <a:schemeClr val="tx1"/>
                </a:solidFill>
                <a:latin typeface="+mn-lt"/>
                <a:ea typeface="+mn-ea"/>
                <a:cs typeface="+mn-cs"/>
              </a:rPr>
              <a:t>prod_i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theta_i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alpha_i</a:t>
            </a:r>
            <a:r>
              <a:rPr lang="en-US" sz="1200" kern="1200" dirty="0">
                <a:solidFill>
                  <a:schemeClr val="tx1"/>
                </a:solidFill>
                <a:latin typeface="+mn-lt"/>
                <a:ea typeface="+mn-ea"/>
                <a:cs typeface="+mn-cs"/>
              </a:rPr>
              <a:t> - 1}\\</a:t>
            </a:r>
          </a:p>
          <a:p>
            <a:r>
              <a:rPr lang="en-US" sz="1200" kern="1200" dirty="0">
                <a:solidFill>
                  <a:schemeClr val="tx1"/>
                </a:solidFill>
                <a:latin typeface="+mn-lt"/>
                <a:ea typeface="+mn-ea"/>
                <a:cs typeface="+mn-cs"/>
              </a:rPr>
              <a:t>%&amp;\theta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10</a:t>
            </a:fld>
            <a:endParaRPr lang="en-US"/>
          </a:p>
        </p:txBody>
      </p:sp>
    </p:spTree>
    <p:extLst>
      <p:ext uri="{BB962C8B-B14F-4D97-AF65-F5344CB8AC3E}">
        <p14:creationId xmlns:p14="http://schemas.microsoft.com/office/powerpoint/2010/main" val="3511142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12</a:t>
            </a:fld>
            <a:endParaRPr lang="en-US"/>
          </a:p>
        </p:txBody>
      </p:sp>
    </p:spTree>
    <p:extLst>
      <p:ext uri="{BB962C8B-B14F-4D97-AF65-F5344CB8AC3E}">
        <p14:creationId xmlns:p14="http://schemas.microsoft.com/office/powerpoint/2010/main" val="131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p(\theta\mid \alpha)p(y\mid \theta) &amp;\</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- 1}\right)\times\left(\prod_{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}\right)\\</a:t>
            </a:r>
          </a:p>
          <a:p>
            <a:r>
              <a:rPr lang="en-US" sz="1200" kern="1200" dirty="0" smtClean="0">
                <a:solidFill>
                  <a:schemeClr val="tx1"/>
                </a:solidFill>
                <a:latin typeface="+mn-lt"/>
                <a:ea typeface="+mn-ea"/>
                <a:cs typeface="+mn-cs"/>
              </a:rPr>
              <a:t>&amp;=\prod_{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13</a:t>
            </a:fld>
            <a:endParaRPr lang="en-US"/>
          </a:p>
        </p:txBody>
      </p:sp>
    </p:spTree>
    <p:extLst>
      <p:ext uri="{BB962C8B-B14F-4D97-AF65-F5344CB8AC3E}">
        <p14:creationId xmlns:p14="http://schemas.microsoft.com/office/powerpoint/2010/main" val="202365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p(\theta\mid \alpha)p(y\mid \theta) &amp;\</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- 1}\right)\times\left(\prod_{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}\right)\\</a:t>
            </a:r>
          </a:p>
          <a:p>
            <a:r>
              <a:rPr lang="en-US" sz="1200" kern="1200" dirty="0" smtClean="0">
                <a:solidFill>
                  <a:schemeClr val="tx1"/>
                </a:solidFill>
                <a:latin typeface="+mn-lt"/>
                <a:ea typeface="+mn-ea"/>
                <a:cs typeface="+mn-cs"/>
              </a:rPr>
              <a:t>&amp;=\prod_{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14</a:t>
            </a:fld>
            <a:endParaRPr lang="en-US"/>
          </a:p>
        </p:txBody>
      </p:sp>
    </p:spTree>
    <p:extLst>
      <p:ext uri="{BB962C8B-B14F-4D97-AF65-F5344CB8AC3E}">
        <p14:creationId xmlns:p14="http://schemas.microsoft.com/office/powerpoint/2010/main" val="202365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p(\theta\mid \alpha)p(y\mid \theta) &amp;\</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- 1}\right)\times\left(\prod_{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}\right)\\</a:t>
            </a:r>
          </a:p>
          <a:p>
            <a:r>
              <a:rPr lang="en-US" sz="1200" kern="1200" dirty="0" smtClean="0">
                <a:solidFill>
                  <a:schemeClr val="tx1"/>
                </a:solidFill>
                <a:latin typeface="+mn-lt"/>
                <a:ea typeface="+mn-ea"/>
                <a:cs typeface="+mn-cs"/>
              </a:rPr>
              <a:t>&amp;=\prod_{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15</a:t>
            </a:fld>
            <a:endParaRPr lang="en-US"/>
          </a:p>
        </p:txBody>
      </p:sp>
    </p:spTree>
    <p:extLst>
      <p:ext uri="{BB962C8B-B14F-4D97-AF65-F5344CB8AC3E}">
        <p14:creationId xmlns:p14="http://schemas.microsoft.com/office/powerpoint/2010/main" val="202365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p(\theta\mid \alpha)p(y\mid \theta) &amp;\</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- 1}\right)\times\left(\prod_{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}\right)\\</a:t>
            </a:r>
          </a:p>
          <a:p>
            <a:r>
              <a:rPr lang="en-US" sz="1200" kern="1200" dirty="0" smtClean="0">
                <a:solidFill>
                  <a:schemeClr val="tx1"/>
                </a:solidFill>
                <a:latin typeface="+mn-lt"/>
                <a:ea typeface="+mn-ea"/>
                <a:cs typeface="+mn-cs"/>
              </a:rPr>
              <a:t>&amp;=\prod_{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16</a:t>
            </a:fld>
            <a:endParaRPr lang="en-US"/>
          </a:p>
        </p:txBody>
      </p:sp>
    </p:spTree>
    <p:extLst>
      <p:ext uri="{BB962C8B-B14F-4D97-AF65-F5344CB8AC3E}">
        <p14:creationId xmlns:p14="http://schemas.microsoft.com/office/powerpoint/2010/main" val="202365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 = \theta \mid \alpha) = \</a:t>
            </a:r>
            <a:r>
              <a:rPr lang="en-US" sz="1200" kern="1200" dirty="0" err="1" smtClean="0">
                <a:solidFill>
                  <a:schemeClr val="tx1"/>
                </a:solidFill>
                <a:latin typeface="+mn-lt"/>
                <a:ea typeface="+mn-ea"/>
                <a:cs typeface="+mn-cs"/>
              </a:rPr>
              <a:t>frac</a:t>
            </a:r>
            <a:r>
              <a:rPr lang="en-US" sz="1200" kern="1200" dirty="0" smtClean="0">
                <a:solidFill>
                  <a:schemeClr val="tx1"/>
                </a:solidFill>
                <a:latin typeface="+mn-lt"/>
                <a:ea typeface="+mn-ea"/>
                <a:cs typeface="+mn-cs"/>
              </a:rPr>
              <a:t>{1}{B(\alpha)}\prod_{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\alpha' = \alpha + 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p(\theta\mid y, \alpha)\</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p(\theta\mid \alpha)p(y\mid \theta) &amp;\</a:t>
            </a:r>
            <a:r>
              <a:rPr lang="en-US" sz="1200" kern="1200" dirty="0" err="1" smtClean="0">
                <a:solidFill>
                  <a:schemeClr val="tx1"/>
                </a:solidFill>
                <a:latin typeface="+mn-lt"/>
                <a:ea typeface="+mn-ea"/>
                <a:cs typeface="+mn-cs"/>
              </a:rPr>
              <a:t>propto</a:t>
            </a:r>
            <a:r>
              <a:rPr lang="en-US" sz="1200" kern="1200" dirty="0" smtClean="0">
                <a:solidFill>
                  <a:schemeClr val="tx1"/>
                </a:solidFill>
                <a:latin typeface="+mn-lt"/>
                <a:ea typeface="+mn-ea"/>
                <a:cs typeface="+mn-cs"/>
              </a:rPr>
              <a:t> \left(\prod_{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- 1}\right)\times\left(\prod_{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}\right)\\</a:t>
            </a:r>
          </a:p>
          <a:p>
            <a:r>
              <a:rPr lang="en-US" sz="1200" kern="1200" dirty="0" smtClean="0">
                <a:solidFill>
                  <a:schemeClr val="tx1"/>
                </a:solidFill>
                <a:latin typeface="+mn-lt"/>
                <a:ea typeface="+mn-ea"/>
                <a:cs typeface="+mn-cs"/>
              </a:rPr>
              <a:t>&amp;=\prod_{</a:t>
            </a:r>
            <a:r>
              <a:rPr lang="en-US" sz="1200" kern="1200" dirty="0" err="1" smtClean="0">
                <a:solidFill>
                  <a:schemeClr val="tx1"/>
                </a:solidFill>
                <a:latin typeface="+mn-lt"/>
                <a:ea typeface="+mn-ea"/>
                <a:cs typeface="+mn-cs"/>
              </a:rPr>
              <a:t>i</a:t>
            </a:r>
            <a:r>
              <a:rPr lang="en-US" sz="1200" kern="1200" dirty="0" smtClean="0">
                <a:solidFill>
                  <a:schemeClr val="tx1"/>
                </a:solidFill>
                <a:latin typeface="+mn-lt"/>
                <a:ea typeface="+mn-ea"/>
                <a:cs typeface="+mn-cs"/>
              </a:rPr>
              <a:t>=1}^K \</a:t>
            </a:r>
            <a:r>
              <a:rPr lang="en-US" sz="1200" kern="1200" dirty="0" err="1" smtClean="0">
                <a:solidFill>
                  <a:schemeClr val="tx1"/>
                </a:solidFill>
                <a:latin typeface="+mn-lt"/>
                <a:ea typeface="+mn-ea"/>
                <a:cs typeface="+mn-cs"/>
              </a:rPr>
              <a:t>theta_i</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alpha_i</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y_i</a:t>
            </a:r>
            <a:r>
              <a:rPr lang="en-US" sz="1200" kern="1200" dirty="0" smtClean="0">
                <a:solidFill>
                  <a:schemeClr val="tx1"/>
                </a:solidFill>
                <a:latin typeface="+mn-lt"/>
                <a:ea typeface="+mn-ea"/>
                <a:cs typeface="+mn-cs"/>
              </a:rPr>
              <a:t> - 1}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17</a:t>
            </a:fld>
            <a:endParaRPr lang="en-US"/>
          </a:p>
        </p:txBody>
      </p:sp>
    </p:spTree>
    <p:extLst>
      <p:ext uri="{BB962C8B-B14F-4D97-AF65-F5344CB8AC3E}">
        <p14:creationId xmlns:p14="http://schemas.microsoft.com/office/powerpoint/2010/main" val="202365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genstory</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set of parameters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latent structure } z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p(z\mid\theta)\\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{3: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the observed data } x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p(x\mid z, \theta)</a:t>
            </a:r>
          </a:p>
          <a:p>
            <a:r>
              <a:rPr lang="en-US" sz="1200" kern="1200" dirty="0">
                <a:solidFill>
                  <a:schemeClr val="tx1"/>
                </a:solidFill>
                <a:latin typeface="+mn-lt"/>
                <a:ea typeface="+mn-ea"/>
                <a:cs typeface="+mn-cs"/>
              </a:rPr>
              <a:t>p(</a:t>
            </a:r>
            <a:r>
              <a:rPr lang="en-US" sz="1200" kern="1200" dirty="0" err="1">
                <a:solidFill>
                  <a:schemeClr val="tx1"/>
                </a:solidFill>
                <a:latin typeface="+mn-lt"/>
                <a:ea typeface="+mn-ea"/>
                <a:cs typeface="+mn-cs"/>
              </a:rPr>
              <a:t>x,z</a:t>
            </a:r>
            <a:r>
              <a:rPr lang="en-US" sz="1200" kern="1200" dirty="0">
                <a:solidFill>
                  <a:schemeClr val="tx1"/>
                </a:solidFill>
                <a:latin typeface="+mn-lt"/>
                <a:ea typeface="+mn-ea"/>
                <a:cs typeface="+mn-cs"/>
              </a:rPr>
              <a:t>,\theta) = p(\theta)p(z\mid\theta)p(x\mid z, \theta)</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19</a:t>
            </a:fld>
            <a:endParaRPr lang="en-US"/>
          </a:p>
        </p:txBody>
      </p:sp>
    </p:spTree>
    <p:extLst>
      <p:ext uri="{BB962C8B-B14F-4D97-AF65-F5344CB8AC3E}">
        <p14:creationId xmlns:p14="http://schemas.microsoft.com/office/powerpoint/2010/main" val="1700799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p(z^{(1)},..., z^{(n)} \mid x^{(1)},..., x^{(n)}, \hat{\theta}, \alpha) </a:t>
            </a:r>
          </a:p>
          <a:p>
            <a:endParaRPr lang="en-US" dirty="0"/>
          </a:p>
        </p:txBody>
      </p:sp>
      <p:sp>
        <p:nvSpPr>
          <p:cNvPr id="4" name="Slide Number Placeholder 3"/>
          <p:cNvSpPr>
            <a:spLocks noGrp="1"/>
          </p:cNvSpPr>
          <p:nvPr>
            <p:ph type="sldNum" sz="quarter" idx="5"/>
          </p:nvPr>
        </p:nvSpPr>
        <p:spPr/>
        <p:txBody>
          <a:bodyPr/>
          <a:lstStyle/>
          <a:p>
            <a:fld id="{491B48C7-8E5C-9640-8445-8A9544EEA549}" type="slidenum">
              <a:rPr lang="en-US" smtClean="0"/>
              <a:t>21</a:t>
            </a:fld>
            <a:endParaRPr lang="en-US"/>
          </a:p>
        </p:txBody>
      </p:sp>
    </p:spTree>
    <p:extLst>
      <p:ext uri="{BB962C8B-B14F-4D97-AF65-F5344CB8AC3E}">
        <p14:creationId xmlns:p14="http://schemas.microsoft.com/office/powerpoint/2010/main" val="406791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&amp;\</a:t>
            </a:r>
            <a:r>
              <a:rPr lang="en-US" sz="1200" kern="1200" dirty="0" err="1">
                <a:solidFill>
                  <a:schemeClr val="tx1"/>
                </a:solidFill>
                <a:effectLst/>
                <a:latin typeface="+mn-lt"/>
                <a:ea typeface="+mn-ea"/>
                <a:cs typeface="+mn-cs"/>
              </a:rPr>
              <a:t>mbox</a:t>
            </a:r>
            <a:r>
              <a:rPr lang="en-US" sz="1200" kern="1200" dirty="0">
                <a:solidFill>
                  <a:schemeClr val="tx1"/>
                </a:solidFill>
                <a:effectLst/>
                <a:latin typeface="+mn-lt"/>
                <a:ea typeface="+mn-ea"/>
                <a:cs typeface="+mn-cs"/>
              </a:rPr>
              <a:t>{posterior with}\\</a:t>
            </a:r>
          </a:p>
          <a:p>
            <a:r>
              <a:rPr lang="en-US" sz="1200" kern="1200" dirty="0">
                <a:solidFill>
                  <a:schemeClr val="tx1"/>
                </a:solidFill>
                <a:effectLst/>
                <a:latin typeface="+mn-lt"/>
                <a:ea typeface="+mn-ea"/>
                <a:cs typeface="+mn-cs"/>
              </a:rPr>
              <a:t>&amp;\</a:t>
            </a:r>
            <a:r>
              <a:rPr lang="en-US" sz="1200" kern="1200" dirty="0" err="1">
                <a:solidFill>
                  <a:schemeClr val="tx1"/>
                </a:solidFill>
                <a:effectLst/>
                <a:latin typeface="+mn-lt"/>
                <a:ea typeface="+mn-ea"/>
                <a:cs typeface="+mn-cs"/>
              </a:rPr>
              <a:t>mbox</a:t>
            </a:r>
            <a:r>
              <a:rPr lang="en-US" sz="1200" kern="1200" dirty="0">
                <a:solidFill>
                  <a:schemeClr val="tx1"/>
                </a:solidFill>
                <a:effectLst/>
                <a:latin typeface="+mn-lt"/>
                <a:ea typeface="+mn-ea"/>
                <a:cs typeface="+mn-cs"/>
              </a:rPr>
              <a:t>{point estimate:}</a:t>
            </a:r>
          </a:p>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mbox</a:t>
            </a:r>
            <a:r>
              <a:rPr lang="en-US" sz="1200" kern="1200" dirty="0" smtClean="0">
                <a:solidFill>
                  <a:schemeClr val="tx1"/>
                </a:solidFill>
                <a:latin typeface="+mn-lt"/>
                <a:ea typeface="+mn-ea"/>
                <a:cs typeface="+mn-cs"/>
              </a:rPr>
              <a:t>{posterior with}</a:t>
            </a:r>
          </a:p>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mbox</a:t>
            </a:r>
            <a:r>
              <a:rPr lang="en-US" sz="1200" kern="1200" dirty="0" smtClean="0">
                <a:solidFill>
                  <a:schemeClr val="tx1"/>
                </a:solidFill>
                <a:latin typeface="+mn-lt"/>
                <a:ea typeface="+mn-ea"/>
                <a:cs typeface="+mn-cs"/>
              </a:rPr>
              <a:t>{point estimate:}</a:t>
            </a:r>
          </a:p>
          <a:p>
            <a:endParaRPr lang="en-US"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p(z^{(1)},..., z^{(n)} \mid x^{(1)},..., x^{(n)}, \hat{\theta}, \alpha) </a:t>
            </a:r>
          </a:p>
          <a:p>
            <a:endParaRPr lang="en-US" dirty="0"/>
          </a:p>
        </p:txBody>
      </p:sp>
      <p:sp>
        <p:nvSpPr>
          <p:cNvPr id="4" name="Slide Number Placeholder 3"/>
          <p:cNvSpPr>
            <a:spLocks noGrp="1"/>
          </p:cNvSpPr>
          <p:nvPr>
            <p:ph type="sldNum" sz="quarter" idx="5"/>
          </p:nvPr>
        </p:nvSpPr>
        <p:spPr/>
        <p:txBody>
          <a:bodyPr/>
          <a:lstStyle/>
          <a:p>
            <a:fld id="{491B48C7-8E5C-9640-8445-8A9544EEA549}" type="slidenum">
              <a:rPr lang="en-US" smtClean="0"/>
              <a:t>22</a:t>
            </a:fld>
            <a:endParaRPr lang="en-US"/>
          </a:p>
        </p:txBody>
      </p:sp>
    </p:spTree>
    <p:extLst>
      <p:ext uri="{BB962C8B-B14F-4D97-AF65-F5344CB8AC3E}">
        <p14:creationId xmlns:p14="http://schemas.microsoft.com/office/powerpoint/2010/main" val="3741081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gibbs1</a:t>
            </a:r>
          </a:p>
          <a:p>
            <a:r>
              <a:rPr lang="en-US" sz="1200" kern="1200" dirty="0">
                <a:solidFill>
                  <a:schemeClr val="tx1"/>
                </a:solidFill>
                <a:latin typeface="+mn-lt"/>
                <a:ea typeface="+mn-ea"/>
                <a:cs typeface="+mn-cs"/>
              </a:rPr>
              <a:t>%&amp;U_1,...,</a:t>
            </a:r>
            <a:r>
              <a:rPr lang="en-US" sz="1200" kern="1200" dirty="0" err="1">
                <a:solidFill>
                  <a:schemeClr val="tx1"/>
                </a:solidFill>
                <a:latin typeface="+mn-lt"/>
                <a:ea typeface="+mn-ea"/>
                <a:cs typeface="+mn-cs"/>
              </a:rPr>
              <a:t>U_p</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{latent variables}\\</a:t>
            </a:r>
          </a:p>
          <a:p>
            <a:r>
              <a:rPr lang="en-US" sz="1200" kern="1200" dirty="0">
                <a:solidFill>
                  <a:schemeClr val="tx1"/>
                </a:solidFill>
                <a:latin typeface="+mn-lt"/>
                <a:ea typeface="+mn-ea"/>
                <a:cs typeface="+mn-cs"/>
              </a:rPr>
              <a:t>%&amp;U_{-</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latent variables other than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observed data and </a:t>
            </a:r>
            <a:r>
              <a:rPr lang="en-US" sz="1200" kern="1200" dirty="0" err="1">
                <a:solidFill>
                  <a:schemeClr val="tx1"/>
                </a:solidFill>
                <a:latin typeface="+mn-lt"/>
                <a:ea typeface="+mn-ea"/>
                <a:cs typeface="+mn-cs"/>
              </a:rPr>
              <a:t>hyperparameters</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{Gibbs sampling: }\\</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{\;\;\;\;initialize all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 to values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{\;\;\;\;repeat until convergence:}\\</a:t>
            </a:r>
          </a:p>
          <a:p>
            <a:r>
              <a:rPr lang="mr-IN" sz="1200" kern="1200" dirty="0">
                <a:solidFill>
                  <a:schemeClr val="tx1"/>
                </a:solidFill>
                <a:latin typeface="+mn-lt"/>
                <a:ea typeface="+mn-ea"/>
                <a:cs typeface="+mn-cs"/>
              </a:rPr>
              <a:t>&amp;\mbox{\;\;\;\;\;\;\;\;sample } u \mbox{ from } p(U_i \mid u_{-i}, \boldsymbol{X})\\</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{\;\;\;\;\;\;\;\;set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leftarrow</a:t>
            </a:r>
            <a:r>
              <a:rPr lang="en-US" sz="1200" kern="1200" dirty="0">
                <a:solidFill>
                  <a:schemeClr val="tx1"/>
                </a:solidFill>
                <a:latin typeface="+mn-lt"/>
                <a:ea typeface="+mn-ea"/>
                <a:cs typeface="+mn-cs"/>
              </a:rPr>
              <a:t> u$}</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30</a:t>
            </a:fld>
            <a:endParaRPr lang="en-US"/>
          </a:p>
        </p:txBody>
      </p:sp>
    </p:spTree>
    <p:extLst>
      <p:ext uri="{BB962C8B-B14F-4D97-AF65-F5344CB8AC3E}">
        <p14:creationId xmlns:p14="http://schemas.microsoft.com/office/powerpoint/2010/main" val="1752708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E98518-76BE-F146-A40D-1D23006648F9}" type="slidenum">
              <a:rPr lang="en-US"/>
              <a:pPr/>
              <a:t>37</a:t>
            </a:fld>
            <a:endParaRPr lang="en-US"/>
          </a:p>
        </p:txBody>
      </p:sp>
      <p:sp>
        <p:nvSpPr>
          <p:cNvPr id="17602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760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7FA861-C6CE-A14E-921E-B1CB7CA9B4F4}" type="slidenum">
              <a:rPr lang="en-US"/>
              <a:pPr/>
              <a:t>38</a:t>
            </a:fld>
            <a:endParaRPr lang="en-US"/>
          </a:p>
        </p:txBody>
      </p:sp>
      <p:sp>
        <p:nvSpPr>
          <p:cNvPr id="17704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770499" name="Rectangle 3"/>
          <p:cNvSpPr>
            <a:spLocks noGrp="1" noChangeArrowheads="1"/>
          </p:cNvSpPr>
          <p:nvPr>
            <p:ph type="body" idx="1"/>
          </p:nvPr>
        </p:nvSpPr>
        <p:spPr/>
        <p:txBody>
          <a:bodyPr/>
          <a:lstStyle/>
          <a:p>
            <a:r>
              <a:rPr lang="en-US"/>
              <a:t>There actually aren</a:t>
            </a:r>
            <a:r>
              <a:rPr lang="ja-JP" altLang="en-US">
                <a:latin typeface="Arial"/>
              </a:rPr>
              <a:t>’</a:t>
            </a:r>
            <a:r>
              <a:rPr lang="en-US"/>
              <a:t>t enough edges here to account for all of the hard constraints present in the original lattice.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7CBBBD-B119-A841-8DB2-72F558D59478}" type="slidenum">
              <a:rPr lang="en-US"/>
              <a:pPr/>
              <a:t>39</a:t>
            </a:fld>
            <a:endParaRPr lang="en-US"/>
          </a:p>
        </p:txBody>
      </p:sp>
      <p:sp>
        <p:nvSpPr>
          <p:cNvPr id="17725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772547" name="Rectangle 3"/>
          <p:cNvSpPr>
            <a:spLocks noGrp="1" noChangeArrowheads="1"/>
          </p:cNvSpPr>
          <p:nvPr>
            <p:ph type="body" idx="1"/>
          </p:nvPr>
        </p:nvSpPr>
        <p:spPr/>
        <p:txBody>
          <a:bodyPr/>
          <a:lstStyle/>
          <a:p>
            <a:r>
              <a:rPr lang="en-US"/>
              <a:t>For example, if this edge here is </a:t>
            </a:r>
            <a:r>
              <a:rPr lang="ja-JP" altLang="en-US">
                <a:latin typeface="Arial"/>
              </a:rPr>
              <a:t>“</a:t>
            </a:r>
            <a:r>
              <a:rPr lang="en-US"/>
              <a:t>ON</a:t>
            </a:r>
            <a:r>
              <a:rPr lang="ja-JP" altLang="en-US">
                <a:latin typeface="Arial"/>
              </a:rPr>
              <a:t>”</a:t>
            </a:r>
            <a:r>
              <a:rPr lang="en-US"/>
              <a:t>, that is, its value is 1, then this implies that the values of many other random variables must be zero.</a:t>
            </a:r>
          </a:p>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921EBC-CBBB-DB43-9205-62B19CF03402}" type="slidenum">
              <a:rPr lang="en-US"/>
              <a:pPr/>
              <a:t>40</a:t>
            </a:fld>
            <a:endParaRPr lang="en-US"/>
          </a:p>
        </p:txBody>
      </p:sp>
      <p:sp>
        <p:nvSpPr>
          <p:cNvPr id="17745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774595" name="Rectangle 3"/>
          <p:cNvSpPr>
            <a:spLocks noGrp="1" noChangeArrowheads="1"/>
          </p:cNvSpPr>
          <p:nvPr>
            <p:ph type="body" idx="1"/>
          </p:nvPr>
        </p:nvSpPr>
        <p:spPr/>
        <p:txBody>
          <a:bodyPr/>
          <a:lstStyle/>
          <a:p>
            <a:r>
              <a:rPr lang="en-US" dirty="0"/>
              <a:t>Just by setting that one variable to green, all of these other variables are set to 0 or 1 to obey the path legality constraints. </a:t>
            </a:r>
          </a:p>
          <a:p>
            <a:r>
              <a:rPr lang="en-US" dirty="0"/>
              <a:t>So we have lots of long-distance, structural constraints.  These are known to cause problems for Gibbs samplers and for belief propagation, often making them take a very long time to do inference or making the results worse.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921EBC-CBBB-DB43-9205-62B19CF03402}" type="slidenum">
              <a:rPr lang="en-US"/>
              <a:pPr/>
              <a:t>41</a:t>
            </a:fld>
            <a:endParaRPr lang="en-US"/>
          </a:p>
        </p:txBody>
      </p:sp>
      <p:sp>
        <p:nvSpPr>
          <p:cNvPr id="17745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774595" name="Rectangle 3"/>
          <p:cNvSpPr>
            <a:spLocks noGrp="1" noChangeArrowheads="1"/>
          </p:cNvSpPr>
          <p:nvPr>
            <p:ph type="body" idx="1"/>
          </p:nvPr>
        </p:nvSpPr>
        <p:spPr/>
        <p:txBody>
          <a:bodyPr/>
          <a:lstStyle/>
          <a:p>
            <a:r>
              <a:rPr lang="en-US"/>
              <a:t>Just by setting that one variable to green, all of these other variables are set to 0 or 1 to obey the path legality constraints. </a:t>
            </a:r>
          </a:p>
          <a:p>
            <a:r>
              <a:rPr lang="en-US"/>
              <a:t>So we have lots of long-distance, structural constraints.  These are known to cause problems for Gibbs samplers and for belief propagation, often making them take a very long time to do inference or making the results worse.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LDA3</a:t>
            </a:r>
          </a:p>
          <a:p>
            <a:r>
              <a:rPr lang="mr-IN"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For each topic $k=1...K$, draw multinomial word distribution } \</a:t>
            </a:r>
            <a:r>
              <a:rPr lang="en-US" sz="1200" kern="1200" dirty="0" err="1">
                <a:solidFill>
                  <a:schemeClr val="tx1"/>
                </a:solidFill>
                <a:latin typeface="+mn-lt"/>
                <a:ea typeface="+mn-ea"/>
                <a:cs typeface="+mn-cs"/>
              </a:rPr>
              <a:t>beta_k</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For each document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multinomial topic distribution } \theta^{(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b: For each position $j$ in document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topic } 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ii: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word } w^{(</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{Multinomial}(\beta_{z^{(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44</a:t>
            </a:fld>
            <a:endParaRPr lang="en-US"/>
          </a:p>
        </p:txBody>
      </p:sp>
    </p:spTree>
    <p:extLst>
      <p:ext uri="{BB962C8B-B14F-4D97-AF65-F5344CB8AC3E}">
        <p14:creationId xmlns:p14="http://schemas.microsoft.com/office/powerpoint/2010/main" val="1340476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gibbs</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lda</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%&amp;U_1,...,</a:t>
            </a:r>
            <a:r>
              <a:rPr lang="en-US" sz="1200" kern="1200" dirty="0" err="1">
                <a:solidFill>
                  <a:schemeClr val="tx1"/>
                </a:solidFill>
                <a:latin typeface="+mn-lt"/>
                <a:ea typeface="+mn-ea"/>
                <a:cs typeface="+mn-cs"/>
              </a:rPr>
              <a:t>U_p</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{latent variables}\\</a:t>
            </a:r>
          </a:p>
          <a:p>
            <a:r>
              <a:rPr lang="en-US" sz="1200" kern="1200" dirty="0">
                <a:solidFill>
                  <a:schemeClr val="tx1"/>
                </a:solidFill>
                <a:latin typeface="+mn-lt"/>
                <a:ea typeface="+mn-ea"/>
                <a:cs typeface="+mn-cs"/>
              </a:rPr>
              <a:t>%&amp;U_{-</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latent variables other than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observed data and </a:t>
            </a:r>
            <a:r>
              <a:rPr lang="en-US" sz="1200" kern="1200" dirty="0" err="1">
                <a:solidFill>
                  <a:schemeClr val="tx1"/>
                </a:solidFill>
                <a:latin typeface="+mn-lt"/>
                <a:ea typeface="+mn-ea"/>
                <a:cs typeface="+mn-cs"/>
              </a:rPr>
              <a:t>hyperparameters</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set of parameters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p(\theta\mid \alpha)\\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latent structure } z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p(z\mid\theta)\\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{3: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the observed data } x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p(x\mid z, \theta)</a:t>
            </a:r>
          </a:p>
          <a:p>
            <a:r>
              <a:rPr lang="mr-IN" sz="1200" kern="1200" dirty="0">
                <a:solidFill>
                  <a:schemeClr val="tx1"/>
                </a:solidFill>
                <a:latin typeface="+mn-lt"/>
                <a:ea typeface="+mn-ea"/>
                <a:cs typeface="+mn-cs"/>
              </a:rPr>
              <a:t>%\mbox{joint: } \;\;p(x^{(1)},..., x^{(n)}, z^{(1)},..., z^{(n)},\theta\mid \alpha) </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a:t>
            </a:r>
          </a:p>
          <a:p>
            <a:r>
              <a:rPr lang="en-US" sz="1200" kern="1200" dirty="0">
                <a:solidFill>
                  <a:schemeClr val="tx1"/>
                </a:solidFill>
                <a:latin typeface="+mn-lt"/>
                <a:ea typeface="+mn-ea"/>
                <a:cs typeface="+mn-cs"/>
              </a:rPr>
              <a:t>%&amp;\beta \in \</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{R}^{K\times V}</a:t>
            </a:r>
          </a:p>
          <a:p>
            <a:r>
              <a:rPr lang="en-US" sz="1200" kern="1200" dirty="0">
                <a:solidFill>
                  <a:schemeClr val="tx1"/>
                </a:solidFill>
                <a:latin typeface="+mn-lt"/>
                <a:ea typeface="+mn-ea"/>
                <a:cs typeface="+mn-cs"/>
              </a:rPr>
              <a:t>%Z^{(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\mid 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\Theta, \beta,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odot</a:t>
            </a:r>
            <a:r>
              <a:rPr lang="en-US" sz="1200" kern="1200" dirty="0">
                <a:solidFill>
                  <a:schemeClr val="tx1"/>
                </a:solidFill>
                <a:latin typeface="+mn-lt"/>
                <a:ea typeface="+mn-ea"/>
                <a:cs typeface="+mn-cs"/>
              </a:rPr>
              <a:t> \beta_{\</a:t>
            </a:r>
            <a:r>
              <a:rPr lang="en-US" sz="1200" kern="1200" dirty="0" err="1">
                <a:solidFill>
                  <a:schemeClr val="tx1"/>
                </a:solidFill>
                <a:latin typeface="+mn-lt"/>
                <a:ea typeface="+mn-ea"/>
                <a:cs typeface="+mn-cs"/>
              </a:rPr>
              <a:t>cdot,w</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odot</a:t>
            </a:r>
            <a:r>
              <a:rPr lang="en-US" sz="1200" kern="1200" dirty="0">
                <a:solidFill>
                  <a:schemeClr val="tx1"/>
                </a:solidFill>
                <a:latin typeface="+mn-lt"/>
                <a:ea typeface="+mn-ea"/>
                <a:cs typeface="+mn-cs"/>
              </a:rPr>
              <a:t> \beta_{\</a:t>
            </a:r>
            <a:r>
              <a:rPr lang="en-US" sz="1200" kern="1200" dirty="0" err="1">
                <a:solidFill>
                  <a:schemeClr val="tx1"/>
                </a:solidFill>
                <a:latin typeface="+mn-lt"/>
                <a:ea typeface="+mn-ea"/>
                <a:cs typeface="+mn-cs"/>
              </a:rPr>
              <a:t>cdot,w</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a:t>
            </a:r>
          </a:p>
          <a:p>
            <a:r>
              <a:rPr lang="mr-IN" sz="1200" kern="1200" dirty="0">
                <a:solidFill>
                  <a:schemeClr val="tx1"/>
                </a:solidFill>
                <a:latin typeface="+mn-lt"/>
                <a:ea typeface="+mn-ea"/>
                <a:cs typeface="+mn-cs"/>
              </a:rPr>
              <a:t>%</a:t>
            </a:r>
          </a:p>
          <a:p>
            <a:r>
              <a:rPr lang="mr-IN" sz="1200" kern="1200" dirty="0">
                <a:solidFill>
                  <a:schemeClr val="tx1"/>
                </a:solidFill>
                <a:latin typeface="+mn-lt"/>
                <a:ea typeface="+mn-ea"/>
                <a:cs typeface="+mn-cs"/>
              </a:rPr>
              <a:t>%&amp;\theta^{(i)} \mid \theta^{-(i)}, \beta, Z, \boldsymbol{w}, \alpha, \psi \sim \mbox{Dirichlet}([\alpha_1 + m^{(i)}_{1}, \alpha_2 + m^{(i)}_{2},...,\alpha_k + m^{(i)}_{K}])\\</a:t>
            </a:r>
          </a:p>
          <a:p>
            <a:r>
              <a:rPr lang="en-US" sz="1200" kern="1200" dirty="0">
                <a:solidFill>
                  <a:schemeClr val="tx1"/>
                </a:solidFill>
                <a:latin typeface="+mn-lt"/>
                <a:ea typeface="+mn-ea"/>
                <a:cs typeface="+mn-cs"/>
              </a:rPr>
              <a:t>%&amp;m^{(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)}_{k}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words in doc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from topic $k$}</a:t>
            </a:r>
          </a:p>
          <a:p>
            <a:r>
              <a:rPr lang="mr-IN"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\mid \theta^{-(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\beta, Z,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 + 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 + 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mr-IN"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beta_k</a:t>
            </a:r>
            <a:r>
              <a:rPr lang="en-US" sz="1200" kern="1200" dirty="0">
                <a:solidFill>
                  <a:schemeClr val="tx1"/>
                </a:solidFill>
                <a:latin typeface="+mn-lt"/>
                <a:ea typeface="+mn-ea"/>
                <a:cs typeface="+mn-cs"/>
              </a:rPr>
              <a:t> \mid \beta_{-k}, \theta, Z,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 + </a:t>
            </a:r>
            <a:r>
              <a:rPr lang="en-US" sz="1200" kern="1200" dirty="0" err="1">
                <a:solidFill>
                  <a:schemeClr val="tx1"/>
                </a:solidFill>
                <a:latin typeface="+mn-lt"/>
                <a:ea typeface="+mn-ea"/>
                <a:cs typeface="+mn-cs"/>
              </a:rPr>
              <a:t>n_k</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beta_k</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 + </a:t>
            </a:r>
            <a:r>
              <a:rPr lang="en-US" sz="1200" kern="1200" dirty="0" err="1">
                <a:solidFill>
                  <a:schemeClr val="tx1"/>
                </a:solidFill>
                <a:latin typeface="+mn-lt"/>
                <a:ea typeface="+mn-ea"/>
                <a:cs typeface="+mn-cs"/>
              </a:rPr>
              <a:t>n_k</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a:t>
            </a:r>
          </a:p>
          <a:p>
            <a:r>
              <a:rPr lang="en-US" sz="1200" kern="1200" dirty="0">
                <a:solidFill>
                  <a:schemeClr val="tx1"/>
                </a:solidFill>
                <a:latin typeface="+mn-lt"/>
                <a:ea typeface="+mn-ea"/>
                <a:cs typeface="+mn-cs"/>
              </a:rPr>
              <a:t>&amp;\beta \in \</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{R}^{K\times V}\\</a:t>
            </a:r>
          </a:p>
          <a:p>
            <a:r>
              <a:rPr lang="en-US" sz="1200" kern="1200" dirty="0">
                <a:solidFill>
                  <a:schemeClr val="tx1"/>
                </a:solidFill>
                <a:latin typeface="+mn-lt"/>
                <a:ea typeface="+mn-ea"/>
                <a:cs typeface="+mn-cs"/>
              </a:rPr>
              <a:t>&amp;m^{(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)}_{k}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words in doc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from topic $k$}\\</a:t>
            </a:r>
          </a:p>
          <a:p>
            <a:r>
              <a:rPr lang="en-US" sz="1200" kern="1200" dirty="0">
                <a:solidFill>
                  <a:schemeClr val="tx1"/>
                </a:solidFill>
                <a:latin typeface="+mn-lt"/>
                <a:ea typeface="+mn-ea"/>
                <a:cs typeface="+mn-cs"/>
              </a:rPr>
              <a:t>&amp;n_{</a:t>
            </a:r>
            <a:r>
              <a:rPr lang="en-US" sz="1200" kern="1200" dirty="0" err="1">
                <a:solidFill>
                  <a:schemeClr val="tx1"/>
                </a:solidFill>
                <a:latin typeface="+mn-lt"/>
                <a:ea typeface="+mn-ea"/>
                <a:cs typeface="+mn-cs"/>
              </a:rPr>
              <a:t>k,v</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of times word $v$ appears with topic $k$ in any document}</a:t>
            </a:r>
          </a:p>
          <a:p>
            <a:r>
              <a:rPr lang="mr-IN"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46</a:t>
            </a:fld>
            <a:endParaRPr lang="en-US"/>
          </a:p>
        </p:txBody>
      </p:sp>
    </p:spTree>
    <p:extLst>
      <p:ext uri="{BB962C8B-B14F-4D97-AF65-F5344CB8AC3E}">
        <p14:creationId xmlns:p14="http://schemas.microsoft.com/office/powerpoint/2010/main" val="17334686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gibbs</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lda</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%&amp;U_1,...,</a:t>
            </a:r>
            <a:r>
              <a:rPr lang="en-US" sz="1200" kern="1200" dirty="0" err="1">
                <a:solidFill>
                  <a:schemeClr val="tx1"/>
                </a:solidFill>
                <a:latin typeface="+mn-lt"/>
                <a:ea typeface="+mn-ea"/>
                <a:cs typeface="+mn-cs"/>
              </a:rPr>
              <a:t>U_p</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{latent variables}\\</a:t>
            </a:r>
          </a:p>
          <a:p>
            <a:r>
              <a:rPr lang="en-US" sz="1200" kern="1200" dirty="0">
                <a:solidFill>
                  <a:schemeClr val="tx1"/>
                </a:solidFill>
                <a:latin typeface="+mn-lt"/>
                <a:ea typeface="+mn-ea"/>
                <a:cs typeface="+mn-cs"/>
              </a:rPr>
              <a:t>%&amp;U_{-</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latent variables other than $</a:t>
            </a:r>
            <a:r>
              <a:rPr lang="en-US" sz="1200" kern="1200" dirty="0" err="1">
                <a:solidFill>
                  <a:schemeClr val="tx1"/>
                </a:solidFill>
                <a:latin typeface="+mn-lt"/>
                <a:ea typeface="+mn-ea"/>
                <a:cs typeface="+mn-cs"/>
              </a:rPr>
              <a:t>U_i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{all observed data and </a:t>
            </a:r>
            <a:r>
              <a:rPr lang="en-US" sz="1200" kern="1200" dirty="0" err="1">
                <a:solidFill>
                  <a:schemeClr val="tx1"/>
                </a:solidFill>
                <a:latin typeface="+mn-lt"/>
                <a:ea typeface="+mn-ea"/>
                <a:cs typeface="+mn-cs"/>
              </a:rPr>
              <a:t>hyperparameters</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set of parameters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p(\theta\mid \alpha)\\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latent structure } z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p(z\mid\theta)\\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{3: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the observed data } x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p(x\mid z, \theta)</a:t>
            </a:r>
          </a:p>
          <a:p>
            <a:r>
              <a:rPr lang="mr-IN" sz="1200" kern="1200" dirty="0">
                <a:solidFill>
                  <a:schemeClr val="tx1"/>
                </a:solidFill>
                <a:latin typeface="+mn-lt"/>
                <a:ea typeface="+mn-ea"/>
                <a:cs typeface="+mn-cs"/>
              </a:rPr>
              <a:t>%\mbox{joint: } \;\;p(x^{(1)},..., x^{(n)}, z^{(1)},..., z^{(n)},\theta\mid \alpha) </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a:t>
            </a:r>
          </a:p>
          <a:p>
            <a:r>
              <a:rPr lang="en-US" sz="1200" kern="1200" dirty="0">
                <a:solidFill>
                  <a:schemeClr val="tx1"/>
                </a:solidFill>
                <a:latin typeface="+mn-lt"/>
                <a:ea typeface="+mn-ea"/>
                <a:cs typeface="+mn-cs"/>
              </a:rPr>
              <a:t>%&amp;\beta \in \</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{R}^{K\times V}</a:t>
            </a:r>
          </a:p>
          <a:p>
            <a:r>
              <a:rPr lang="en-US" sz="1200" kern="1200" dirty="0">
                <a:solidFill>
                  <a:schemeClr val="tx1"/>
                </a:solidFill>
                <a:latin typeface="+mn-lt"/>
                <a:ea typeface="+mn-ea"/>
                <a:cs typeface="+mn-cs"/>
              </a:rPr>
              <a:t>%Z^{(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\mid 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\Theta, \beta,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odot</a:t>
            </a:r>
            <a:r>
              <a:rPr lang="en-US" sz="1200" kern="1200" dirty="0">
                <a:solidFill>
                  <a:schemeClr val="tx1"/>
                </a:solidFill>
                <a:latin typeface="+mn-lt"/>
                <a:ea typeface="+mn-ea"/>
                <a:cs typeface="+mn-cs"/>
              </a:rPr>
              <a:t> \beta_{\</a:t>
            </a:r>
            <a:r>
              <a:rPr lang="en-US" sz="1200" kern="1200" dirty="0" err="1">
                <a:solidFill>
                  <a:schemeClr val="tx1"/>
                </a:solidFill>
                <a:latin typeface="+mn-lt"/>
                <a:ea typeface="+mn-ea"/>
                <a:cs typeface="+mn-cs"/>
              </a:rPr>
              <a:t>cdot,w</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Z^{(</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odot</a:t>
            </a:r>
            <a:r>
              <a:rPr lang="en-US" sz="1200" kern="1200" dirty="0">
                <a:solidFill>
                  <a:schemeClr val="tx1"/>
                </a:solidFill>
                <a:latin typeface="+mn-lt"/>
                <a:ea typeface="+mn-ea"/>
                <a:cs typeface="+mn-cs"/>
              </a:rPr>
              <a:t> \beta_{\</a:t>
            </a:r>
            <a:r>
              <a:rPr lang="en-US" sz="1200" kern="1200" dirty="0" err="1">
                <a:solidFill>
                  <a:schemeClr val="tx1"/>
                </a:solidFill>
                <a:latin typeface="+mn-lt"/>
                <a:ea typeface="+mn-ea"/>
                <a:cs typeface="+mn-cs"/>
              </a:rPr>
              <a:t>cdot,w</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i,j</a:t>
            </a:r>
            <a:r>
              <a:rPr lang="en-US" sz="1200" kern="1200" dirty="0">
                <a:solidFill>
                  <a:schemeClr val="tx1"/>
                </a:solidFill>
                <a:latin typeface="+mn-lt"/>
                <a:ea typeface="+mn-ea"/>
                <a:cs typeface="+mn-cs"/>
              </a:rPr>
              <a:t>)}})\\</a:t>
            </a:r>
          </a:p>
          <a:p>
            <a:r>
              <a:rPr lang="mr-IN" sz="1200" kern="1200" dirty="0">
                <a:solidFill>
                  <a:schemeClr val="tx1"/>
                </a:solidFill>
                <a:latin typeface="+mn-lt"/>
                <a:ea typeface="+mn-ea"/>
                <a:cs typeface="+mn-cs"/>
              </a:rPr>
              <a:t>%</a:t>
            </a:r>
          </a:p>
          <a:p>
            <a:r>
              <a:rPr lang="mr-IN" sz="1200" kern="1200" dirty="0">
                <a:solidFill>
                  <a:schemeClr val="tx1"/>
                </a:solidFill>
                <a:latin typeface="+mn-lt"/>
                <a:ea typeface="+mn-ea"/>
                <a:cs typeface="+mn-cs"/>
              </a:rPr>
              <a:t>%&amp;\theta^{(i)} \mid \theta^{-(i)}, \beta, Z, \boldsymbol{w}, \alpha, \psi \sim \mbox{Dirichlet}([\alpha_1 + m^{(i)}_{1}, \alpha_2 + m^{(i)}_{2},...,\alpha_k + m^{(i)}_{K}])\\</a:t>
            </a:r>
          </a:p>
          <a:p>
            <a:r>
              <a:rPr lang="en-US" sz="1200" kern="1200" dirty="0">
                <a:solidFill>
                  <a:schemeClr val="tx1"/>
                </a:solidFill>
                <a:latin typeface="+mn-lt"/>
                <a:ea typeface="+mn-ea"/>
                <a:cs typeface="+mn-cs"/>
              </a:rPr>
              <a:t>%&amp;m^{(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)}_{k}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words in doc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from topic $k$}</a:t>
            </a:r>
          </a:p>
          <a:p>
            <a:r>
              <a:rPr lang="mr-IN"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\mid \theta^{-(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\beta, Z,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 + 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 + 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p>
          <a:p>
            <a:r>
              <a:rPr lang="mr-IN"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beta_k</a:t>
            </a:r>
            <a:r>
              <a:rPr lang="en-US" sz="1200" kern="1200" dirty="0">
                <a:solidFill>
                  <a:schemeClr val="tx1"/>
                </a:solidFill>
                <a:latin typeface="+mn-lt"/>
                <a:ea typeface="+mn-ea"/>
                <a:cs typeface="+mn-cs"/>
              </a:rPr>
              <a:t> \mid \beta_{-k}, \theta, Z,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{w}, \alpha, \psi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 + </a:t>
            </a:r>
            <a:r>
              <a:rPr lang="en-US" sz="1200" kern="1200" dirty="0" err="1">
                <a:solidFill>
                  <a:schemeClr val="tx1"/>
                </a:solidFill>
                <a:latin typeface="+mn-lt"/>
                <a:ea typeface="+mn-ea"/>
                <a:cs typeface="+mn-cs"/>
              </a:rPr>
              <a:t>n_k</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beta_k</a:t>
            </a:r>
            <a:r>
              <a:rPr lang="en-US" sz="1200" kern="1200" dirty="0">
                <a:solidFill>
                  <a:schemeClr val="tx1"/>
                </a:solidFill>
                <a:latin typeface="+mn-lt"/>
                <a:ea typeface="+mn-ea"/>
                <a:cs typeface="+mn-cs"/>
              </a:rPr>
              <a:t> \mid &amp;\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everything else}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 + </a:t>
            </a:r>
            <a:r>
              <a:rPr lang="en-US" sz="1200" kern="1200" dirty="0" err="1">
                <a:solidFill>
                  <a:schemeClr val="tx1"/>
                </a:solidFill>
                <a:latin typeface="+mn-lt"/>
                <a:ea typeface="+mn-ea"/>
                <a:cs typeface="+mn-cs"/>
              </a:rPr>
              <a:t>n_k</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&amp;\theta^{(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a:t>
            </a:r>
          </a:p>
          <a:p>
            <a:r>
              <a:rPr lang="en-US" sz="1200" kern="1200" dirty="0">
                <a:solidFill>
                  <a:schemeClr val="tx1"/>
                </a:solidFill>
                <a:latin typeface="+mn-lt"/>
                <a:ea typeface="+mn-ea"/>
                <a:cs typeface="+mn-cs"/>
              </a:rPr>
              <a:t>&amp;\beta \in \</a:t>
            </a:r>
            <a:r>
              <a:rPr lang="en-US" sz="1200" kern="1200" dirty="0" err="1">
                <a:solidFill>
                  <a:schemeClr val="tx1"/>
                </a:solidFill>
                <a:latin typeface="+mn-lt"/>
                <a:ea typeface="+mn-ea"/>
                <a:cs typeface="+mn-cs"/>
              </a:rPr>
              <a:t>mathbb</a:t>
            </a:r>
            <a:r>
              <a:rPr lang="en-US" sz="1200" kern="1200" dirty="0">
                <a:solidFill>
                  <a:schemeClr val="tx1"/>
                </a:solidFill>
                <a:latin typeface="+mn-lt"/>
                <a:ea typeface="+mn-ea"/>
                <a:cs typeface="+mn-cs"/>
              </a:rPr>
              <a:t>{R}^{K\times V}\\</a:t>
            </a:r>
          </a:p>
          <a:p>
            <a:r>
              <a:rPr lang="en-US" sz="1200" kern="1200" dirty="0">
                <a:solidFill>
                  <a:schemeClr val="tx1"/>
                </a:solidFill>
                <a:latin typeface="+mn-lt"/>
                <a:ea typeface="+mn-ea"/>
                <a:cs typeface="+mn-cs"/>
              </a:rPr>
              <a:t>&amp;m^{(</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)}_{k}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words in doc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from topic $k$}\\</a:t>
            </a:r>
          </a:p>
          <a:p>
            <a:r>
              <a:rPr lang="en-US" sz="1200" kern="1200" dirty="0">
                <a:solidFill>
                  <a:schemeClr val="tx1"/>
                </a:solidFill>
                <a:latin typeface="+mn-lt"/>
                <a:ea typeface="+mn-ea"/>
                <a:cs typeface="+mn-cs"/>
              </a:rPr>
              <a:t>&amp;n_{</a:t>
            </a:r>
            <a:r>
              <a:rPr lang="en-US" sz="1200" kern="1200" dirty="0" err="1">
                <a:solidFill>
                  <a:schemeClr val="tx1"/>
                </a:solidFill>
                <a:latin typeface="+mn-lt"/>
                <a:ea typeface="+mn-ea"/>
                <a:cs typeface="+mn-cs"/>
              </a:rPr>
              <a:t>k,v</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of times word $v$ appears with topic $k$ in any document}</a:t>
            </a:r>
          </a:p>
          <a:p>
            <a:r>
              <a:rPr lang="mr-IN"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47</a:t>
            </a:fld>
            <a:endParaRPr lang="en-US"/>
          </a:p>
        </p:txBody>
      </p:sp>
    </p:spTree>
    <p:extLst>
      <p:ext uri="{BB962C8B-B14F-4D97-AF65-F5344CB8AC3E}">
        <p14:creationId xmlns:p14="http://schemas.microsoft.com/office/powerpoint/2010/main" val="510996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ACD7B2-AEA0-D043-916D-6794629D2DCA}" type="datetime1">
              <a:rPr lang="en-US" smtClean="0"/>
              <a:t>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198139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8728-3264-AF4F-9CE5-FA0C8D0912D9}" type="datetime1">
              <a:rPr lang="en-US" smtClean="0"/>
              <a:t>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26294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B400C-B81F-7045-98E0-E0086ED4BE98}" type="datetime1">
              <a:rPr lang="en-US" smtClean="0"/>
              <a:t>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72745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F1F27A-F732-8B4A-9B27-686442D49E4C}" type="datetime1">
              <a:rPr lang="en-US" smtClean="0"/>
              <a:t>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72530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171ED0-786B-FC43-99CE-2369D6469C8C}" type="datetime1">
              <a:rPr lang="en-US" smtClean="0"/>
              <a:t>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01431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F05BA2-5204-E043-BD0E-95E8A7C0A256}" type="datetime1">
              <a:rPr lang="en-US" smtClean="0"/>
              <a:t>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67937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B0B10-84AC-A845-8EBB-B973F6A52188}" type="datetime1">
              <a:rPr lang="en-US" smtClean="0"/>
              <a:t>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35168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13713-D95F-9C47-88D3-6BB1CDB9F1E4}" type="datetime1">
              <a:rPr lang="en-US" smtClean="0"/>
              <a:t>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270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66023A-8A28-1649-91E1-905AF24D9B1C}" type="datetime1">
              <a:rPr lang="en-US" smtClean="0"/>
              <a:t>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86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1BA977-597A-F949-8426-B66CA967B053}" type="datetime1">
              <a:rPr lang="en-US" smtClean="0"/>
              <a:t>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47859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614735-0AB7-1A46-9AC6-2D030CB4F2E1}" type="datetime1">
              <a:rPr lang="en-US" smtClean="0"/>
              <a:t>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45985559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1398"/>
            <a:ext cx="8229600" cy="72683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073740"/>
            <a:ext cx="8229600" cy="5052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B2050-0557-6041-8605-A9AD7CC206C9}" type="datetime1">
              <a:rPr lang="en-US" smtClean="0"/>
              <a:t>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F3AF9-2D61-8E40-AE3D-8390D801ED2C}" type="slidenum">
              <a:rPr lang="en-US" smtClean="0"/>
              <a:t>‹#›</a:t>
            </a:fld>
            <a:endParaRPr lang="en-US" dirty="0"/>
          </a:p>
        </p:txBody>
      </p:sp>
    </p:spTree>
    <p:extLst>
      <p:ext uri="{BB962C8B-B14F-4D97-AF65-F5344CB8AC3E}">
        <p14:creationId xmlns:p14="http://schemas.microsoft.com/office/powerpoint/2010/main" val="1996157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4" Type="http://schemas.openxmlformats.org/officeDocument/2006/relationships/image" Target="../media/image4.emf"/><Relationship Id="rId1" Type="http://schemas.openxmlformats.org/officeDocument/2006/relationships/slideLayout" Target="../slideLayouts/slideLayout2.xml"/><Relationship Id="rId2"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4" Type="http://schemas.openxmlformats.org/officeDocument/2006/relationships/image" Target="../media/image7.em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4" Type="http://schemas.openxmlformats.org/officeDocument/2006/relationships/image" Target="../media/image11.emf"/><Relationship Id="rId5" Type="http://schemas.openxmlformats.org/officeDocument/2006/relationships/image" Target="../media/image12.emf"/><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4" Type="http://schemas.openxmlformats.org/officeDocument/2006/relationships/image" Target="../media/image13.emf"/><Relationship Id="rId5" Type="http://schemas.openxmlformats.org/officeDocument/2006/relationships/image" Target="../media/image14.emf"/><Relationship Id="rId6" Type="http://schemas.openxmlformats.org/officeDocument/2006/relationships/image" Target="../media/image15.emf"/><Relationship Id="rId7" Type="http://schemas.openxmlformats.org/officeDocument/2006/relationships/image" Target="../media/image16.emf"/><Relationship Id="rId8" Type="http://schemas.openxmlformats.org/officeDocument/2006/relationships/image" Target="../media/image17.emf"/><Relationship Id="rId9" Type="http://schemas.openxmlformats.org/officeDocument/2006/relationships/image" Target="../media/image18.emf"/><Relationship Id="rId10"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4" Type="http://schemas.openxmlformats.org/officeDocument/2006/relationships/image" Target="../media/image20.emf"/><Relationship Id="rId5"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4" Type="http://schemas.openxmlformats.org/officeDocument/2006/relationships/image" Target="../media/image20.emf"/><Relationship Id="rId5"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4" Type="http://schemas.openxmlformats.org/officeDocument/2006/relationships/image" Target="../media/image20.emf"/><Relationship Id="rId5"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4" Type="http://schemas.openxmlformats.org/officeDocument/2006/relationships/image" Target="../media/image20.emf"/><Relationship Id="rId5"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19.emf"/><Relationship Id="rId4" Type="http://schemas.openxmlformats.org/officeDocument/2006/relationships/image" Target="../media/image21.emf"/><Relationship Id="rId5" Type="http://schemas.openxmlformats.org/officeDocument/2006/relationships/image" Target="../media/image22.emf"/><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4" Type="http://schemas.openxmlformats.org/officeDocument/2006/relationships/image" Target="../media/image7.emf"/><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4" Type="http://schemas.openxmlformats.org/officeDocument/2006/relationships/image" Target="../media/image23.emf"/><Relationship Id="rId5" Type="http://schemas.openxmlformats.org/officeDocument/2006/relationships/image" Target="../media/image26.emf"/><Relationship Id="rId6" Type="http://schemas.openxmlformats.org/officeDocument/2006/relationships/image" Target="../media/image27.emf"/><Relationship Id="rId7" Type="http://schemas.openxmlformats.org/officeDocument/2006/relationships/image" Target="../media/image28.emf"/><Relationship Id="rId8" Type="http://schemas.openxmlformats.org/officeDocument/2006/relationships/image" Target="../media/image29.emf"/><Relationship Id="rId9" Type="http://schemas.openxmlformats.org/officeDocument/2006/relationships/image" Target="../media/image30.emf"/><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emf"/><Relationship Id="rId4" Type="http://schemas.openxmlformats.org/officeDocument/2006/relationships/image" Target="../media/image26.emf"/><Relationship Id="rId5" Type="http://schemas.openxmlformats.org/officeDocument/2006/relationships/image" Target="../media/image27.emf"/><Relationship Id="rId6" Type="http://schemas.openxmlformats.org/officeDocument/2006/relationships/image" Target="../media/image31.emf"/><Relationship Id="rId1" Type="http://schemas.openxmlformats.org/officeDocument/2006/relationships/slideLayout" Target="../slideLayouts/slideLayout2.xml"/><Relationship Id="rId2" Type="http://schemas.openxmlformats.org/officeDocument/2006/relationships/image" Target="../media/image2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emf"/><Relationship Id="rId4" Type="http://schemas.openxmlformats.org/officeDocument/2006/relationships/image" Target="../media/image33.emf"/><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emf"/><Relationship Id="rId3" Type="http://schemas.openxmlformats.org/officeDocument/2006/relationships/image" Target="../media/image3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emf"/><Relationship Id="rId4" Type="http://schemas.openxmlformats.org/officeDocument/2006/relationships/image" Target="../media/image38.emf"/><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9.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1.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emf"/><Relationship Id="rId4" Type="http://schemas.openxmlformats.org/officeDocument/2006/relationships/image" Target="../media/image44.emf"/><Relationship Id="rId5" Type="http://schemas.openxmlformats.org/officeDocument/2006/relationships/image" Target="../media/image45.emf"/><Relationship Id="rId6" Type="http://schemas.openxmlformats.org/officeDocument/2006/relationships/image" Target="../media/image46.emf"/><Relationship Id="rId7" Type="http://schemas.openxmlformats.org/officeDocument/2006/relationships/image" Target="../media/image47.emf"/><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9.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9.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90525"/>
            <a:ext cx="7772400" cy="1470025"/>
          </a:xfrm>
        </p:spPr>
        <p:txBody>
          <a:bodyPr>
            <a:normAutofit fontScale="90000"/>
          </a:bodyPr>
          <a:lstStyle/>
          <a:p>
            <a:r>
              <a:rPr lang="en-US" dirty="0"/>
              <a:t>TTIC 31210:</a:t>
            </a:r>
            <a:br>
              <a:rPr lang="en-US" dirty="0"/>
            </a:br>
            <a:r>
              <a:rPr lang="en-US" sz="4000" dirty="0"/>
              <a:t>Advanced Natural Language Processing</a:t>
            </a:r>
          </a:p>
        </p:txBody>
      </p:sp>
      <p:sp>
        <p:nvSpPr>
          <p:cNvPr id="3" name="Subtitle 2"/>
          <p:cNvSpPr>
            <a:spLocks noGrp="1"/>
          </p:cNvSpPr>
          <p:nvPr>
            <p:ph type="subTitle" idx="1"/>
          </p:nvPr>
        </p:nvSpPr>
        <p:spPr>
          <a:xfrm>
            <a:off x="317515" y="1993899"/>
            <a:ext cx="8555274" cy="4181067"/>
          </a:xfrm>
        </p:spPr>
        <p:txBody>
          <a:bodyPr>
            <a:normAutofit/>
          </a:bodyPr>
          <a:lstStyle/>
          <a:p>
            <a:r>
              <a:rPr lang="en-US" dirty="0">
                <a:solidFill>
                  <a:schemeClr val="tx1"/>
                </a:solidFill>
              </a:rPr>
              <a:t>Kevin Gimpel</a:t>
            </a:r>
          </a:p>
          <a:p>
            <a:r>
              <a:rPr lang="en-US" dirty="0">
                <a:solidFill>
                  <a:schemeClr val="tx1"/>
                </a:solidFill>
              </a:rPr>
              <a:t>Spring 2019</a:t>
            </a:r>
          </a:p>
          <a:p>
            <a:endParaRPr lang="en-US" dirty="0">
              <a:solidFill>
                <a:schemeClr val="tx1"/>
              </a:solidFill>
            </a:endParaRPr>
          </a:p>
          <a:p>
            <a:r>
              <a:rPr lang="en-US" sz="4000" dirty="0">
                <a:solidFill>
                  <a:schemeClr val="tx1"/>
                </a:solidFill>
              </a:rPr>
              <a:t>Lecture </a:t>
            </a:r>
            <a:r>
              <a:rPr lang="en-US" sz="4000" dirty="0" smtClean="0">
                <a:solidFill>
                  <a:schemeClr val="tx1"/>
                </a:solidFill>
              </a:rPr>
              <a:t>14:</a:t>
            </a:r>
            <a:endParaRPr lang="en-US" sz="4000" dirty="0">
              <a:solidFill>
                <a:schemeClr val="tx1"/>
              </a:solidFill>
            </a:endParaRPr>
          </a:p>
          <a:p>
            <a:r>
              <a:rPr lang="en-US" sz="4000" dirty="0" smtClean="0">
                <a:solidFill>
                  <a:schemeClr val="tx1"/>
                </a:solidFill>
              </a:rPr>
              <a:t>Inference in Bayesian </a:t>
            </a:r>
            <a:r>
              <a:rPr lang="en-US" sz="4000" dirty="0">
                <a:solidFill>
                  <a:schemeClr val="tx1"/>
                </a:solidFill>
              </a:rPr>
              <a:t>NLP</a:t>
            </a:r>
          </a:p>
        </p:txBody>
      </p:sp>
      <p:sp>
        <p:nvSpPr>
          <p:cNvPr id="4" name="Slide Number Placeholder 3"/>
          <p:cNvSpPr>
            <a:spLocks noGrp="1"/>
          </p:cNvSpPr>
          <p:nvPr>
            <p:ph type="sldNum" sz="quarter" idx="12"/>
          </p:nvPr>
        </p:nvSpPr>
        <p:spPr/>
        <p:txBody>
          <a:bodyPr/>
          <a:lstStyle/>
          <a:p>
            <a:fld id="{3CFF3AF9-2D61-8E40-AE3D-8390D801ED2C}" type="slidenum">
              <a:rPr lang="en-US" smtClean="0"/>
              <a:t>1</a:t>
            </a:fld>
            <a:endParaRPr lang="en-US"/>
          </a:p>
        </p:txBody>
      </p:sp>
    </p:spTree>
    <p:extLst>
      <p:ext uri="{BB962C8B-B14F-4D97-AF65-F5344CB8AC3E}">
        <p14:creationId xmlns:p14="http://schemas.microsoft.com/office/powerpoint/2010/main" val="337682031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0"/>
            <a:ext cx="8567390" cy="5334029"/>
          </a:xfrm>
        </p:spPr>
        <p:txBody>
          <a:bodyPr>
            <a:noAutofit/>
          </a:bodyPr>
          <a:lstStyle/>
          <a:p>
            <a:r>
              <a:rPr lang="en-US" sz="2400" dirty="0">
                <a:solidFill>
                  <a:schemeClr val="bg1">
                    <a:lumMod val="65000"/>
                  </a:schemeClr>
                </a:solidFill>
              </a:rPr>
              <a:t>intro (1 lecture)</a:t>
            </a:r>
          </a:p>
          <a:p>
            <a:r>
              <a:rPr lang="en-US" sz="2400" dirty="0">
                <a:solidFill>
                  <a:schemeClr val="bg1">
                    <a:lumMod val="65000"/>
                  </a:schemeClr>
                </a:solidFill>
              </a:rPr>
              <a:t>deep learning for NLP (5 lectures)</a:t>
            </a:r>
          </a:p>
          <a:p>
            <a:r>
              <a:rPr lang="en-US" sz="2400" dirty="0">
                <a:solidFill>
                  <a:schemeClr val="bg1">
                    <a:lumMod val="65000"/>
                  </a:schemeClr>
                </a:solidFill>
              </a:rPr>
              <a:t>structured prediction (4.5 lectures)</a:t>
            </a:r>
          </a:p>
          <a:p>
            <a:r>
              <a:rPr lang="en-US" sz="2400" dirty="0">
                <a:solidFill>
                  <a:srgbClr val="A6A6A6"/>
                </a:solidFill>
              </a:rPr>
              <a:t>generative models, latent variables, unsupervised learning, variational </a:t>
            </a:r>
            <a:r>
              <a:rPr lang="en-US" sz="2400" dirty="0" err="1">
                <a:solidFill>
                  <a:srgbClr val="A6A6A6"/>
                </a:solidFill>
              </a:rPr>
              <a:t>autoencoders</a:t>
            </a:r>
            <a:r>
              <a:rPr lang="en-US" sz="2400" dirty="0">
                <a:solidFill>
                  <a:srgbClr val="A6A6A6"/>
                </a:solidFill>
              </a:rPr>
              <a:t> (1.5 lectures)</a:t>
            </a:r>
          </a:p>
          <a:p>
            <a:r>
              <a:rPr lang="en-US" sz="2400" b="1" dirty="0"/>
              <a:t>Bayesian methods in NLP (2 lectures)</a:t>
            </a:r>
          </a:p>
          <a:p>
            <a:r>
              <a:rPr lang="en-US" sz="2400" dirty="0"/>
              <a:t>Bayesian </a:t>
            </a:r>
            <a:r>
              <a:rPr lang="en-US" sz="2400" dirty="0" err="1"/>
              <a:t>nonparametrics</a:t>
            </a:r>
            <a:r>
              <a:rPr lang="en-US" sz="2400" dirty="0"/>
              <a:t> in NLP </a:t>
            </a:r>
            <a:r>
              <a:rPr lang="en-US" sz="2400" dirty="0" smtClean="0"/>
              <a:t>(1.5 </a:t>
            </a:r>
            <a:r>
              <a:rPr lang="en-US" sz="2400" dirty="0"/>
              <a:t>lectures)</a:t>
            </a:r>
          </a:p>
          <a:p>
            <a:r>
              <a:rPr lang="en-US" sz="2400" dirty="0" smtClean="0"/>
              <a:t>research tips &amp; </a:t>
            </a:r>
            <a:r>
              <a:rPr lang="en-US" sz="2400" dirty="0"/>
              <a:t>other topics </a:t>
            </a:r>
            <a:r>
              <a:rPr lang="en-US" sz="2400" dirty="0" smtClean="0"/>
              <a:t>(0.5 lectures)</a:t>
            </a:r>
            <a:endParaRPr lang="en-US" sz="2400" dirty="0"/>
          </a:p>
        </p:txBody>
      </p:sp>
      <p:sp>
        <p:nvSpPr>
          <p:cNvPr id="4" name="Slide Number Placeholder 3"/>
          <p:cNvSpPr>
            <a:spLocks noGrp="1"/>
          </p:cNvSpPr>
          <p:nvPr>
            <p:ph type="sldNum" sz="quarter" idx="12"/>
          </p:nvPr>
        </p:nvSpPr>
        <p:spPr/>
        <p:txBody>
          <a:bodyPr/>
          <a:lstStyle/>
          <a:p>
            <a:fld id="{3CFF3AF9-2D61-8E40-AE3D-8390D801ED2C}" type="slidenum">
              <a:rPr lang="en-US" smtClean="0"/>
              <a:t>2</a:t>
            </a:fld>
            <a:endParaRPr lang="en-US"/>
          </a:p>
        </p:txBody>
      </p:sp>
    </p:spTree>
    <p:extLst>
      <p:ext uri="{BB962C8B-B14F-4D97-AF65-F5344CB8AC3E}">
        <p14:creationId xmlns:p14="http://schemas.microsoft.com/office/powerpoint/2010/main" val="323455354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Assignments</a:t>
            </a:r>
          </a:p>
        </p:txBody>
      </p:sp>
      <p:sp>
        <p:nvSpPr>
          <p:cNvPr id="3" name="Content Placeholder 2"/>
          <p:cNvSpPr>
            <a:spLocks noGrp="1"/>
          </p:cNvSpPr>
          <p:nvPr>
            <p:ph idx="1"/>
          </p:nvPr>
        </p:nvSpPr>
        <p:spPr>
          <a:xfrm>
            <a:off x="157340" y="1073740"/>
            <a:ext cx="8765747" cy="5052424"/>
          </a:xfrm>
        </p:spPr>
        <p:txBody>
          <a:bodyPr/>
          <a:lstStyle/>
          <a:p>
            <a:r>
              <a:rPr lang="en-US" dirty="0" smtClean="0"/>
              <a:t>we’ll go over Assignment 3 today</a:t>
            </a:r>
          </a:p>
          <a:p>
            <a:endParaRPr lang="en-US" dirty="0" smtClean="0"/>
          </a:p>
          <a:p>
            <a:r>
              <a:rPr lang="en-US" dirty="0" smtClean="0"/>
              <a:t>Assignment 4 has been posted; due in 2 weeks</a:t>
            </a:r>
            <a:endParaRPr lang="en-US" dirty="0"/>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3</a:t>
            </a:fld>
            <a:endParaRPr lang="en-US"/>
          </a:p>
        </p:txBody>
      </p:sp>
    </p:spTree>
    <p:extLst>
      <p:ext uri="{BB962C8B-B14F-4D97-AF65-F5344CB8AC3E}">
        <p14:creationId xmlns:p14="http://schemas.microsoft.com/office/powerpoint/2010/main" val="278008703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898229"/>
            <a:ext cx="8229600" cy="4220953"/>
          </a:xfrm>
        </p:spPr>
        <p:txBody>
          <a:bodyPr>
            <a:noAutofit/>
          </a:bodyPr>
          <a:lstStyle/>
          <a:p>
            <a:r>
              <a:rPr lang="en-US" dirty="0"/>
              <a:t>in </a:t>
            </a:r>
            <a:r>
              <a:rPr lang="en-US" dirty="0" smtClean="0"/>
              <a:t>neural </a:t>
            </a:r>
            <a:r>
              <a:rPr lang="en-US" dirty="0"/>
              <a:t>NLP, we </a:t>
            </a:r>
            <a:r>
              <a:rPr lang="en-US" dirty="0" smtClean="0"/>
              <a:t>typically assume </a:t>
            </a:r>
            <a:r>
              <a:rPr lang="en-US" dirty="0"/>
              <a:t>parameters and architectures are fixed</a:t>
            </a:r>
          </a:p>
          <a:p>
            <a:r>
              <a:rPr lang="en-US" dirty="0" smtClean="0"/>
              <a:t>1-layer MLP</a:t>
            </a:r>
            <a:r>
              <a:rPr lang="en-US" dirty="0"/>
              <a:t>:</a:t>
            </a:r>
          </a:p>
          <a:p>
            <a:endParaRPr lang="en-US" dirty="0"/>
          </a:p>
          <a:p>
            <a:pPr marL="0" indent="0">
              <a:buNone/>
            </a:pPr>
            <a:endParaRPr lang="en-US" dirty="0"/>
          </a:p>
          <a:p>
            <a:r>
              <a:rPr lang="en-US" dirty="0" smtClean="0"/>
              <a:t>now, include parameters as random variables and condition on them:</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4</a:t>
            </a:fld>
            <a:endParaRPr lang="en-US"/>
          </a:p>
        </p:txBody>
      </p:sp>
      <p:pic>
        <p:nvPicPr>
          <p:cNvPr id="6" name="Picture 5"/>
          <p:cNvPicPr>
            <a:picLocks noChangeAspect="1"/>
          </p:cNvPicPr>
          <p:nvPr/>
        </p:nvPicPr>
        <p:blipFill>
          <a:blip r:embed="rId3"/>
          <a:stretch>
            <a:fillRect/>
          </a:stretch>
        </p:blipFill>
        <p:spPr>
          <a:xfrm>
            <a:off x="1511300" y="2726394"/>
            <a:ext cx="6121400" cy="825500"/>
          </a:xfrm>
          <a:prstGeom prst="rect">
            <a:avLst/>
          </a:prstGeom>
        </p:spPr>
      </p:pic>
      <p:pic>
        <p:nvPicPr>
          <p:cNvPr id="7" name="Picture 6"/>
          <p:cNvPicPr>
            <a:picLocks noChangeAspect="1"/>
          </p:cNvPicPr>
          <p:nvPr/>
        </p:nvPicPr>
        <p:blipFill>
          <a:blip r:embed="rId4"/>
          <a:stretch>
            <a:fillRect/>
          </a:stretch>
        </p:blipFill>
        <p:spPr>
          <a:xfrm>
            <a:off x="444500" y="4926399"/>
            <a:ext cx="8255000" cy="825500"/>
          </a:xfrm>
          <a:prstGeom prst="rect">
            <a:avLst/>
          </a:prstGeom>
        </p:spPr>
      </p:pic>
    </p:spTree>
    <p:extLst>
      <p:ext uri="{BB962C8B-B14F-4D97-AF65-F5344CB8AC3E}">
        <p14:creationId xmlns:p14="http://schemas.microsoft.com/office/powerpoint/2010/main" val="77439723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2491533"/>
            <a:ext cx="8229600" cy="4220953"/>
          </a:xfrm>
        </p:spPr>
        <p:txBody>
          <a:bodyPr>
            <a:noAutofit/>
          </a:bodyPr>
          <a:lstStyle/>
          <a:p>
            <a:r>
              <a:rPr lang="en-US" dirty="0"/>
              <a:t>how do we get back to                        ?</a:t>
            </a:r>
          </a:p>
          <a:p>
            <a:r>
              <a:rPr lang="en-US" dirty="0"/>
              <a:t>marginalize over new random variables:</a:t>
            </a:r>
          </a:p>
          <a:p>
            <a:endParaRPr lang="en-US" dirty="0"/>
          </a:p>
          <a:p>
            <a:endParaRPr lang="en-US" dirty="0"/>
          </a:p>
          <a:p>
            <a:r>
              <a:rPr lang="en-US" dirty="0"/>
              <a:t>intuitively: don’t commit to a single set of parameter values; use them all (with a suitable prior distribution)</a:t>
            </a:r>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5</a:t>
            </a:fld>
            <a:endParaRPr lang="en-US"/>
          </a:p>
        </p:txBody>
      </p:sp>
      <p:pic>
        <p:nvPicPr>
          <p:cNvPr id="7" name="Picture 6"/>
          <p:cNvPicPr>
            <a:picLocks noChangeAspect="1"/>
          </p:cNvPicPr>
          <p:nvPr/>
        </p:nvPicPr>
        <p:blipFill>
          <a:blip r:embed="rId2"/>
          <a:stretch>
            <a:fillRect/>
          </a:stretch>
        </p:blipFill>
        <p:spPr>
          <a:xfrm>
            <a:off x="444500" y="1127424"/>
            <a:ext cx="8255000" cy="825500"/>
          </a:xfrm>
          <a:prstGeom prst="rect">
            <a:avLst/>
          </a:prstGeom>
        </p:spPr>
      </p:pic>
      <p:pic>
        <p:nvPicPr>
          <p:cNvPr id="5" name="Picture 4"/>
          <p:cNvPicPr>
            <a:picLocks noChangeAspect="1"/>
          </p:cNvPicPr>
          <p:nvPr/>
        </p:nvPicPr>
        <p:blipFill>
          <a:blip r:embed="rId3"/>
          <a:stretch>
            <a:fillRect/>
          </a:stretch>
        </p:blipFill>
        <p:spPr>
          <a:xfrm>
            <a:off x="4797462" y="2654481"/>
            <a:ext cx="1917700" cy="368300"/>
          </a:xfrm>
          <a:prstGeom prst="rect">
            <a:avLst/>
          </a:prstGeom>
        </p:spPr>
      </p:pic>
      <p:pic>
        <p:nvPicPr>
          <p:cNvPr id="8" name="Picture 7"/>
          <p:cNvPicPr>
            <a:picLocks noChangeAspect="1"/>
          </p:cNvPicPr>
          <p:nvPr/>
        </p:nvPicPr>
        <p:blipFill>
          <a:blip r:embed="rId4"/>
          <a:stretch>
            <a:fillRect/>
          </a:stretch>
        </p:blipFill>
        <p:spPr>
          <a:xfrm>
            <a:off x="850900" y="3918478"/>
            <a:ext cx="7429500" cy="812800"/>
          </a:xfrm>
          <a:prstGeom prst="rect">
            <a:avLst/>
          </a:prstGeom>
        </p:spPr>
      </p:pic>
    </p:spTree>
    <p:extLst>
      <p:ext uri="{BB962C8B-B14F-4D97-AF65-F5344CB8AC3E}">
        <p14:creationId xmlns:p14="http://schemas.microsoft.com/office/powerpoint/2010/main" val="161741552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Going Further…</a:t>
            </a:r>
          </a:p>
        </p:txBody>
      </p:sp>
      <p:sp>
        <p:nvSpPr>
          <p:cNvPr id="3" name="Content Placeholder 2"/>
          <p:cNvSpPr>
            <a:spLocks noGrp="1"/>
          </p:cNvSpPr>
          <p:nvPr>
            <p:ph idx="1"/>
          </p:nvPr>
        </p:nvSpPr>
        <p:spPr>
          <a:xfrm>
            <a:off x="457200" y="1073740"/>
            <a:ext cx="8229600" cy="4814442"/>
          </a:xfrm>
        </p:spPr>
        <p:txBody>
          <a:bodyPr>
            <a:noAutofit/>
          </a:bodyPr>
          <a:lstStyle/>
          <a:p>
            <a:r>
              <a:rPr lang="en-US" dirty="0"/>
              <a:t>marginalize over architectures &amp; </a:t>
            </a:r>
            <a:r>
              <a:rPr lang="en-US" dirty="0" smtClean="0"/>
              <a:t>parameters?</a:t>
            </a:r>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6</a:t>
            </a:fld>
            <a:endParaRPr lang="en-US"/>
          </a:p>
        </p:txBody>
      </p:sp>
      <p:pic>
        <p:nvPicPr>
          <p:cNvPr id="6" name="Picture 5"/>
          <p:cNvPicPr>
            <a:picLocks noChangeAspect="1"/>
          </p:cNvPicPr>
          <p:nvPr/>
        </p:nvPicPr>
        <p:blipFill>
          <a:blip r:embed="rId3"/>
          <a:stretch>
            <a:fillRect/>
          </a:stretch>
        </p:blipFill>
        <p:spPr>
          <a:xfrm>
            <a:off x="101600" y="1963746"/>
            <a:ext cx="8940800" cy="1765300"/>
          </a:xfrm>
          <a:prstGeom prst="rect">
            <a:avLst/>
          </a:prstGeom>
        </p:spPr>
      </p:pic>
    </p:spTree>
    <p:extLst>
      <p:ext uri="{BB962C8B-B14F-4D97-AF65-F5344CB8AC3E}">
        <p14:creationId xmlns:p14="http://schemas.microsoft.com/office/powerpoint/2010/main" val="3866671658"/>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Template</a:t>
            </a:r>
          </a:p>
        </p:txBody>
      </p:sp>
      <p:sp>
        <p:nvSpPr>
          <p:cNvPr id="4" name="Slide Number Placeholder 3"/>
          <p:cNvSpPr>
            <a:spLocks noGrp="1"/>
          </p:cNvSpPr>
          <p:nvPr>
            <p:ph type="sldNum" sz="quarter" idx="12"/>
          </p:nvPr>
        </p:nvSpPr>
        <p:spPr/>
        <p:txBody>
          <a:bodyPr/>
          <a:lstStyle/>
          <a:p>
            <a:fld id="{3CFF3AF9-2D61-8E40-AE3D-8390D801ED2C}" type="slidenum">
              <a:rPr lang="en-US" smtClean="0"/>
              <a:t>7</a:t>
            </a:fld>
            <a:endParaRPr lang="en-US"/>
          </a:p>
        </p:txBody>
      </p:sp>
      <p:pic>
        <p:nvPicPr>
          <p:cNvPr id="6" name="Picture 5"/>
          <p:cNvPicPr>
            <a:picLocks noChangeAspect="1"/>
          </p:cNvPicPr>
          <p:nvPr/>
        </p:nvPicPr>
        <p:blipFill>
          <a:blip r:embed="rId3"/>
          <a:stretch>
            <a:fillRect/>
          </a:stretch>
        </p:blipFill>
        <p:spPr>
          <a:xfrm>
            <a:off x="1591971" y="4785989"/>
            <a:ext cx="5934896" cy="437944"/>
          </a:xfrm>
          <a:prstGeom prst="rect">
            <a:avLst/>
          </a:prstGeom>
        </p:spPr>
      </p:pic>
      <p:pic>
        <p:nvPicPr>
          <p:cNvPr id="7" name="Picture 6"/>
          <p:cNvPicPr>
            <a:picLocks noChangeAspect="1"/>
          </p:cNvPicPr>
          <p:nvPr/>
        </p:nvPicPr>
        <p:blipFill>
          <a:blip r:embed="rId4"/>
          <a:stretch>
            <a:fillRect/>
          </a:stretch>
        </p:blipFill>
        <p:spPr>
          <a:xfrm>
            <a:off x="1104900" y="1270000"/>
            <a:ext cx="6921500" cy="1435100"/>
          </a:xfrm>
          <a:prstGeom prst="rect">
            <a:avLst/>
          </a:prstGeom>
        </p:spPr>
      </p:pic>
      <p:sp>
        <p:nvSpPr>
          <p:cNvPr id="8" name="TextBox 7"/>
          <p:cNvSpPr txBox="1"/>
          <p:nvPr/>
        </p:nvSpPr>
        <p:spPr>
          <a:xfrm>
            <a:off x="611249" y="3239972"/>
            <a:ext cx="8041688" cy="1077218"/>
          </a:xfrm>
          <a:prstGeom prst="rect">
            <a:avLst/>
          </a:prstGeom>
          <a:noFill/>
        </p:spPr>
        <p:txBody>
          <a:bodyPr wrap="square" rtlCol="0">
            <a:spAutoFit/>
          </a:bodyPr>
          <a:lstStyle/>
          <a:p>
            <a:r>
              <a:rPr lang="en-US" sz="3200" dirty="0">
                <a:solidFill>
                  <a:srgbClr val="288CD2"/>
                </a:solidFill>
              </a:rPr>
              <a:t>the above generative story implies the following factorization of the joint distribution:</a:t>
            </a:r>
          </a:p>
        </p:txBody>
      </p:sp>
    </p:spTree>
    <p:extLst>
      <p:ext uri="{BB962C8B-B14F-4D97-AF65-F5344CB8AC3E}">
        <p14:creationId xmlns:p14="http://schemas.microsoft.com/office/powerpoint/2010/main" val="94141179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606190"/>
            <a:ext cx="8229600" cy="2519973"/>
          </a:xfrm>
        </p:spPr>
        <p:txBody>
          <a:bodyPr>
            <a:normAutofit lnSpcReduction="10000"/>
          </a:bodyPr>
          <a:lstStyle/>
          <a:p>
            <a:r>
              <a:rPr lang="en-US" dirty="0"/>
              <a:t>generative model for document collections using latent variables that can be interpreted as “topics”</a:t>
            </a:r>
          </a:p>
          <a:p>
            <a:r>
              <a:rPr lang="en-US" dirty="0"/>
              <a:t>learns a multinomial distribution over words for each topic</a:t>
            </a:r>
          </a:p>
        </p:txBody>
      </p:sp>
      <p:sp>
        <p:nvSpPr>
          <p:cNvPr id="4" name="Slide Number Placeholder 3"/>
          <p:cNvSpPr>
            <a:spLocks noGrp="1"/>
          </p:cNvSpPr>
          <p:nvPr>
            <p:ph type="sldNum" sz="quarter" idx="12"/>
          </p:nvPr>
        </p:nvSpPr>
        <p:spPr/>
        <p:txBody>
          <a:bodyPr/>
          <a:lstStyle/>
          <a:p>
            <a:fld id="{3CFF3AF9-2D61-8E40-AE3D-8390D801ED2C}" type="slidenum">
              <a:rPr lang="en-US" smtClean="0"/>
              <a:t>8</a:t>
            </a:fld>
            <a:endParaRPr lang="en-US"/>
          </a:p>
        </p:txBody>
      </p:sp>
      <p:pic>
        <p:nvPicPr>
          <p:cNvPr id="5" name="Picture 4"/>
          <p:cNvPicPr>
            <a:picLocks noChangeAspect="1"/>
          </p:cNvPicPr>
          <p:nvPr/>
        </p:nvPicPr>
        <p:blipFill>
          <a:blip r:embed="rId2"/>
          <a:stretch>
            <a:fillRect/>
          </a:stretch>
        </p:blipFill>
        <p:spPr>
          <a:xfrm>
            <a:off x="959924" y="113401"/>
            <a:ext cx="7351531" cy="3334027"/>
          </a:xfrm>
          <a:prstGeom prst="rect">
            <a:avLst/>
          </a:prstGeom>
        </p:spPr>
      </p:pic>
    </p:spTree>
    <p:extLst>
      <p:ext uri="{BB962C8B-B14F-4D97-AF65-F5344CB8AC3E}">
        <p14:creationId xmlns:p14="http://schemas.microsoft.com/office/powerpoint/2010/main" val="3385125018"/>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230886" y="5369014"/>
            <a:ext cx="8831330" cy="1541125"/>
          </a:xfrm>
        </p:spPr>
        <p:txBody>
          <a:bodyPr>
            <a:normAutofit fontScale="47500" lnSpcReduction="20000"/>
          </a:bodyPr>
          <a:lstStyle/>
          <a:p>
            <a:pPr marL="0" indent="0">
              <a:buNone/>
            </a:pPr>
            <a:r>
              <a:rPr lang="en-US" sz="5100" dirty="0" err="1">
                <a:solidFill>
                  <a:srgbClr val="288CD2"/>
                </a:solidFill>
              </a:rPr>
              <a:t>Blei</a:t>
            </a:r>
            <a:r>
              <a:rPr lang="en-US" sz="5100" dirty="0">
                <a:solidFill>
                  <a:srgbClr val="288CD2"/>
                </a:solidFill>
              </a:rPr>
              <a:t> (2012): </a:t>
            </a:r>
            <a:r>
              <a:rPr lang="en-US" sz="5100" i="1" dirty="0">
                <a:solidFill>
                  <a:srgbClr val="288CD2"/>
                </a:solidFill>
              </a:rPr>
              <a:t>Probabilistic Topic Models</a:t>
            </a:r>
          </a:p>
          <a:p>
            <a:pPr marL="0" indent="0">
              <a:buNone/>
            </a:pPr>
            <a:r>
              <a:rPr lang="en-US" sz="2800" dirty="0">
                <a:solidFill>
                  <a:srgbClr val="288CD2"/>
                </a:solidFill>
              </a:rPr>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sz="2800" dirty="0" err="1">
                <a:solidFill>
                  <a:srgbClr val="288CD2"/>
                </a:solidFill>
              </a:rPr>
              <a:t>permissions@acm.org</a:t>
            </a:r>
            <a:r>
              <a:rPr lang="en-US" sz="2800" dirty="0">
                <a:solidFill>
                  <a:srgbClr val="288CD2"/>
                </a:solidFill>
              </a:rPr>
              <a:t> or fax (212) 869-0481.</a:t>
            </a:r>
          </a:p>
          <a:p>
            <a:pPr marL="0" indent="0">
              <a:buNone/>
            </a:pPr>
            <a:r>
              <a:rPr lang="en-US" sz="2800" dirty="0">
                <a:solidFill>
                  <a:srgbClr val="288CD2"/>
                </a:solidFill>
              </a:rPr>
              <a:t>The Digital Library is published by the Association for Computing Machinery. Copyright © 2012 ACM, Inc.</a:t>
            </a:r>
          </a:p>
        </p:txBody>
      </p:sp>
      <p:pic>
        <p:nvPicPr>
          <p:cNvPr id="3" name="Picture 2" descr="lda-blei.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678" y="-19244"/>
            <a:ext cx="9542078" cy="5292038"/>
          </a:xfrm>
          <a:prstGeom prst="rect">
            <a:avLst/>
          </a:prstGeom>
        </p:spPr>
      </p:pic>
    </p:spTree>
    <p:extLst>
      <p:ext uri="{BB962C8B-B14F-4D97-AF65-F5344CB8AC3E}">
        <p14:creationId xmlns:p14="http://schemas.microsoft.com/office/powerpoint/2010/main" val="89082348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Dirichlet</a:t>
            </a:r>
            <a:r>
              <a:rPr lang="en-US" dirty="0"/>
              <a:t> Distribution</a:t>
            </a:r>
          </a:p>
        </p:txBody>
      </p:sp>
      <p:sp>
        <p:nvSpPr>
          <p:cNvPr id="3" name="Content Placeholder 2"/>
          <p:cNvSpPr>
            <a:spLocks noGrp="1"/>
          </p:cNvSpPr>
          <p:nvPr>
            <p:ph idx="1"/>
          </p:nvPr>
        </p:nvSpPr>
        <p:spPr/>
        <p:txBody>
          <a:bodyPr/>
          <a:lstStyle/>
          <a:p>
            <a:r>
              <a:rPr lang="en-US" dirty="0"/>
              <a:t>parameterized by a positive vector</a:t>
            </a:r>
          </a:p>
        </p:txBody>
      </p:sp>
      <p:sp>
        <p:nvSpPr>
          <p:cNvPr id="4" name="Slide Number Placeholder 3"/>
          <p:cNvSpPr>
            <a:spLocks noGrp="1"/>
          </p:cNvSpPr>
          <p:nvPr>
            <p:ph type="sldNum" sz="quarter" idx="12"/>
          </p:nvPr>
        </p:nvSpPr>
        <p:spPr/>
        <p:txBody>
          <a:bodyPr/>
          <a:lstStyle/>
          <a:p>
            <a:fld id="{3CFF3AF9-2D61-8E40-AE3D-8390D801ED2C}" type="slidenum">
              <a:rPr lang="en-US" smtClean="0"/>
              <a:t>10</a:t>
            </a:fld>
            <a:endParaRPr lang="en-US"/>
          </a:p>
        </p:txBody>
      </p:sp>
      <p:pic>
        <p:nvPicPr>
          <p:cNvPr id="7" name="Picture 6"/>
          <p:cNvPicPr>
            <a:picLocks noChangeAspect="1"/>
          </p:cNvPicPr>
          <p:nvPr/>
        </p:nvPicPr>
        <p:blipFill>
          <a:blip r:embed="rId3"/>
          <a:stretch>
            <a:fillRect/>
          </a:stretch>
        </p:blipFill>
        <p:spPr>
          <a:xfrm>
            <a:off x="2354696" y="2531817"/>
            <a:ext cx="2489200" cy="368300"/>
          </a:xfrm>
          <a:prstGeom prst="rect">
            <a:avLst/>
          </a:prstGeom>
        </p:spPr>
      </p:pic>
      <p:pic>
        <p:nvPicPr>
          <p:cNvPr id="8" name="Picture 7"/>
          <p:cNvPicPr>
            <a:picLocks noChangeAspect="1"/>
          </p:cNvPicPr>
          <p:nvPr/>
        </p:nvPicPr>
        <p:blipFill>
          <a:blip r:embed="rId4"/>
          <a:stretch>
            <a:fillRect/>
          </a:stretch>
        </p:blipFill>
        <p:spPr>
          <a:xfrm>
            <a:off x="6743701" y="1324350"/>
            <a:ext cx="271895" cy="237908"/>
          </a:xfrm>
          <a:prstGeom prst="rect">
            <a:avLst/>
          </a:prstGeom>
        </p:spPr>
      </p:pic>
      <p:pic>
        <p:nvPicPr>
          <p:cNvPr id="9" name="Picture 8"/>
          <p:cNvPicPr>
            <a:picLocks noChangeAspect="1"/>
          </p:cNvPicPr>
          <p:nvPr/>
        </p:nvPicPr>
        <p:blipFill>
          <a:blip r:embed="rId5"/>
          <a:stretch>
            <a:fillRect/>
          </a:stretch>
        </p:blipFill>
        <p:spPr>
          <a:xfrm>
            <a:off x="2354696" y="3069835"/>
            <a:ext cx="4660900" cy="1054100"/>
          </a:xfrm>
          <a:prstGeom prst="rect">
            <a:avLst/>
          </a:prstGeom>
        </p:spPr>
      </p:pic>
    </p:spTree>
    <p:extLst>
      <p:ext uri="{BB962C8B-B14F-4D97-AF65-F5344CB8AC3E}">
        <p14:creationId xmlns:p14="http://schemas.microsoft.com/office/powerpoint/2010/main" val="371047426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86267"/>
            <a:ext cx="8991600" cy="5939897"/>
          </a:xfrm>
        </p:spPr>
        <p:txBody>
          <a:bodyPr/>
          <a:lstStyle/>
          <a:p>
            <a:r>
              <a:rPr lang="en-US" dirty="0"/>
              <a:t>categorical = point on the simplex </a:t>
            </a:r>
          </a:p>
          <a:p>
            <a:endParaRPr lang="en-US" dirty="0"/>
          </a:p>
          <a:p>
            <a:endParaRPr lang="en-US" dirty="0"/>
          </a:p>
          <a:p>
            <a:endParaRPr lang="en-US" dirty="0"/>
          </a:p>
          <a:p>
            <a:endParaRPr lang="en-US" dirty="0"/>
          </a:p>
          <a:p>
            <a:pPr marL="0" indent="0">
              <a:buNone/>
            </a:pPr>
            <a:endParaRPr lang="en-US" sz="2400" dirty="0"/>
          </a:p>
          <a:p>
            <a:r>
              <a:rPr lang="en-US" dirty="0" err="1"/>
              <a:t>Dirichlet</a:t>
            </a:r>
            <a:r>
              <a:rPr lang="en-US" dirty="0"/>
              <a:t> = distribution over the simplex</a:t>
            </a:r>
          </a:p>
        </p:txBody>
      </p:sp>
      <p:sp>
        <p:nvSpPr>
          <p:cNvPr id="4" name="Slide Number Placeholder 3"/>
          <p:cNvSpPr>
            <a:spLocks noGrp="1"/>
          </p:cNvSpPr>
          <p:nvPr>
            <p:ph type="sldNum" sz="quarter" idx="12"/>
          </p:nvPr>
        </p:nvSpPr>
        <p:spPr/>
        <p:txBody>
          <a:bodyPr/>
          <a:lstStyle/>
          <a:p>
            <a:fld id="{3CFF3AF9-2D61-8E40-AE3D-8390D801ED2C}" type="slidenum">
              <a:rPr lang="en-US" smtClean="0"/>
              <a:t>11</a:t>
            </a:fld>
            <a:endParaRPr lang="en-US"/>
          </a:p>
        </p:txBody>
      </p:sp>
      <p:sp>
        <p:nvSpPr>
          <p:cNvPr id="5" name="Isosceles Triangle 4"/>
          <p:cNvSpPr/>
          <p:nvPr/>
        </p:nvSpPr>
        <p:spPr>
          <a:xfrm>
            <a:off x="3347828" y="4701314"/>
            <a:ext cx="2184144" cy="1882883"/>
          </a:xfrm>
          <a:prstGeom prst="triangle">
            <a:avLst/>
          </a:prstGeom>
          <a:gradFill flip="none" rotWithShape="1">
            <a:gsLst>
              <a:gs pos="12000">
                <a:schemeClr val="accent1"/>
              </a:gs>
              <a:gs pos="85000">
                <a:prstClr val="white"/>
              </a:gs>
            </a:gsLst>
            <a:path path="circle">
              <a:fillToRect l="100000" t="100000"/>
            </a:path>
            <a:tileRect r="-100000" b="-100000"/>
          </a:grad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118401" y="409434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515364" y="6168635"/>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5617176" y="6168635"/>
            <a:ext cx="833381" cy="523220"/>
          </a:xfrm>
          <a:prstGeom prst="rect">
            <a:avLst/>
          </a:prstGeom>
          <a:noFill/>
        </p:spPr>
        <p:txBody>
          <a:bodyPr wrap="none" rtlCol="0">
            <a:spAutoFit/>
          </a:bodyPr>
          <a:lstStyle/>
          <a:p>
            <a:r>
              <a:rPr lang="en-US" sz="2800" dirty="0"/>
              <a:t>UNK</a:t>
            </a:r>
          </a:p>
        </p:txBody>
      </p:sp>
      <p:sp>
        <p:nvSpPr>
          <p:cNvPr id="9" name="Isosceles Triangle 8"/>
          <p:cNvSpPr/>
          <p:nvPr/>
        </p:nvSpPr>
        <p:spPr>
          <a:xfrm>
            <a:off x="3370262" y="1280976"/>
            <a:ext cx="2197331" cy="1894251"/>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865236" y="2760785"/>
            <a:ext cx="169804" cy="169804"/>
          </a:xfrm>
          <a:prstGeom prst="ellipse">
            <a:avLst/>
          </a:prstGeom>
          <a:solidFill>
            <a:srgbClr val="288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4137641" y="735300"/>
            <a:ext cx="628773" cy="523220"/>
          </a:xfrm>
          <a:prstGeom prst="rect">
            <a:avLst/>
          </a:prstGeom>
          <a:noFill/>
        </p:spPr>
        <p:txBody>
          <a:bodyPr wrap="none" rtlCol="0">
            <a:spAutoFit/>
          </a:bodyPr>
          <a:lstStyle/>
          <a:p>
            <a:r>
              <a:rPr lang="en-US" sz="2800" dirty="0"/>
              <a:t>cat</a:t>
            </a:r>
          </a:p>
        </p:txBody>
      </p:sp>
      <p:sp>
        <p:nvSpPr>
          <p:cNvPr id="12" name="TextBox 11"/>
          <p:cNvSpPr txBox="1"/>
          <p:nvPr/>
        </p:nvSpPr>
        <p:spPr>
          <a:xfrm>
            <a:off x="2534604" y="2848079"/>
            <a:ext cx="731691" cy="523220"/>
          </a:xfrm>
          <a:prstGeom prst="rect">
            <a:avLst/>
          </a:prstGeom>
          <a:noFill/>
        </p:spPr>
        <p:txBody>
          <a:bodyPr wrap="none" rtlCol="0">
            <a:spAutoFit/>
          </a:bodyPr>
          <a:lstStyle/>
          <a:p>
            <a:r>
              <a:rPr lang="en-US" sz="2800" dirty="0"/>
              <a:t>dog</a:t>
            </a:r>
          </a:p>
        </p:txBody>
      </p:sp>
      <p:sp>
        <p:nvSpPr>
          <p:cNvPr id="13" name="TextBox 12"/>
          <p:cNvSpPr txBox="1"/>
          <p:nvPr/>
        </p:nvSpPr>
        <p:spPr>
          <a:xfrm>
            <a:off x="5694136" y="2848079"/>
            <a:ext cx="833381" cy="523220"/>
          </a:xfrm>
          <a:prstGeom prst="rect">
            <a:avLst/>
          </a:prstGeom>
          <a:noFill/>
        </p:spPr>
        <p:txBody>
          <a:bodyPr wrap="none" rtlCol="0">
            <a:spAutoFit/>
          </a:bodyPr>
          <a:lstStyle/>
          <a:p>
            <a:r>
              <a:rPr lang="en-US" sz="2800" dirty="0"/>
              <a:t>UNK</a:t>
            </a:r>
          </a:p>
        </p:txBody>
      </p:sp>
    </p:spTree>
    <p:extLst>
      <p:ext uri="{BB962C8B-B14F-4D97-AF65-F5344CB8AC3E}">
        <p14:creationId xmlns:p14="http://schemas.microsoft.com/office/powerpoint/2010/main" val="404146868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fontScale="90000"/>
          </a:bodyPr>
          <a:lstStyle/>
          <a:p>
            <a:r>
              <a:rPr lang="en-US" dirty="0"/>
              <a:t>Compare Categorical and Dirichlet</a:t>
            </a:r>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12</a:t>
            </a:fld>
            <a:endParaRPr lang="en-US"/>
          </a:p>
        </p:txBody>
      </p:sp>
      <p:pic>
        <p:nvPicPr>
          <p:cNvPr id="7" name="Picture 6"/>
          <p:cNvPicPr>
            <a:picLocks noChangeAspect="1"/>
          </p:cNvPicPr>
          <p:nvPr/>
        </p:nvPicPr>
        <p:blipFill>
          <a:blip r:embed="rId3"/>
          <a:stretch>
            <a:fillRect/>
          </a:stretch>
        </p:blipFill>
        <p:spPr>
          <a:xfrm>
            <a:off x="2961128" y="5038760"/>
            <a:ext cx="2489200" cy="368300"/>
          </a:xfrm>
          <a:prstGeom prst="rect">
            <a:avLst/>
          </a:prstGeom>
        </p:spPr>
      </p:pic>
      <p:pic>
        <p:nvPicPr>
          <p:cNvPr id="12" name="Picture 11"/>
          <p:cNvPicPr>
            <a:picLocks noChangeAspect="1"/>
          </p:cNvPicPr>
          <p:nvPr/>
        </p:nvPicPr>
        <p:blipFill>
          <a:blip r:embed="rId4"/>
          <a:stretch>
            <a:fillRect/>
          </a:stretch>
        </p:blipFill>
        <p:spPr>
          <a:xfrm>
            <a:off x="2961128" y="2911767"/>
            <a:ext cx="2006600" cy="368300"/>
          </a:xfrm>
          <a:prstGeom prst="rect">
            <a:avLst/>
          </a:prstGeom>
        </p:spPr>
      </p:pic>
      <p:pic>
        <p:nvPicPr>
          <p:cNvPr id="13" name="Picture 12"/>
          <p:cNvPicPr>
            <a:picLocks noChangeAspect="1"/>
          </p:cNvPicPr>
          <p:nvPr/>
        </p:nvPicPr>
        <p:blipFill>
          <a:blip r:embed="rId5"/>
          <a:stretch>
            <a:fillRect/>
          </a:stretch>
        </p:blipFill>
        <p:spPr>
          <a:xfrm>
            <a:off x="6453248" y="2873279"/>
            <a:ext cx="1828800" cy="419100"/>
          </a:xfrm>
          <a:prstGeom prst="rect">
            <a:avLst/>
          </a:prstGeom>
        </p:spPr>
      </p:pic>
      <p:pic>
        <p:nvPicPr>
          <p:cNvPr id="14" name="Picture 13"/>
          <p:cNvPicPr>
            <a:picLocks noChangeAspect="1"/>
          </p:cNvPicPr>
          <p:nvPr/>
        </p:nvPicPr>
        <p:blipFill>
          <a:blip r:embed="rId6"/>
          <a:stretch>
            <a:fillRect/>
          </a:stretch>
        </p:blipFill>
        <p:spPr>
          <a:xfrm>
            <a:off x="2961128" y="3294403"/>
            <a:ext cx="3276600" cy="1054100"/>
          </a:xfrm>
          <a:prstGeom prst="rect">
            <a:avLst/>
          </a:prstGeom>
        </p:spPr>
      </p:pic>
      <p:pic>
        <p:nvPicPr>
          <p:cNvPr id="15" name="Picture 14"/>
          <p:cNvPicPr>
            <a:picLocks noChangeAspect="1"/>
          </p:cNvPicPr>
          <p:nvPr/>
        </p:nvPicPr>
        <p:blipFill>
          <a:blip r:embed="rId7"/>
          <a:stretch>
            <a:fillRect/>
          </a:stretch>
        </p:blipFill>
        <p:spPr>
          <a:xfrm>
            <a:off x="2957283" y="1760068"/>
            <a:ext cx="2794000" cy="368300"/>
          </a:xfrm>
          <a:prstGeom prst="rect">
            <a:avLst/>
          </a:prstGeom>
        </p:spPr>
      </p:pic>
      <p:pic>
        <p:nvPicPr>
          <p:cNvPr id="16" name="Picture 15"/>
          <p:cNvPicPr>
            <a:picLocks noChangeAspect="1"/>
          </p:cNvPicPr>
          <p:nvPr/>
        </p:nvPicPr>
        <p:blipFill>
          <a:blip r:embed="rId8"/>
          <a:stretch>
            <a:fillRect/>
          </a:stretch>
        </p:blipFill>
        <p:spPr>
          <a:xfrm>
            <a:off x="6487883" y="1760068"/>
            <a:ext cx="2184400" cy="368300"/>
          </a:xfrm>
          <a:prstGeom prst="rect">
            <a:avLst/>
          </a:prstGeom>
        </p:spPr>
      </p:pic>
      <p:pic>
        <p:nvPicPr>
          <p:cNvPr id="17" name="Picture 16"/>
          <p:cNvPicPr>
            <a:picLocks noChangeAspect="1"/>
          </p:cNvPicPr>
          <p:nvPr/>
        </p:nvPicPr>
        <p:blipFill>
          <a:blip r:embed="rId9"/>
          <a:stretch>
            <a:fillRect/>
          </a:stretch>
        </p:blipFill>
        <p:spPr>
          <a:xfrm>
            <a:off x="2961128" y="1158576"/>
            <a:ext cx="3091451" cy="397166"/>
          </a:xfrm>
          <a:prstGeom prst="rect">
            <a:avLst/>
          </a:prstGeom>
        </p:spPr>
      </p:pic>
      <p:sp>
        <p:nvSpPr>
          <p:cNvPr id="19"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193197" y="1073740"/>
            <a:ext cx="2346802" cy="5183896"/>
          </a:xfrm>
        </p:spPr>
        <p:txBody>
          <a:bodyPr>
            <a:normAutofit/>
          </a:bodyPr>
          <a:lstStyle/>
          <a:p>
            <a:pPr marL="0" indent="0">
              <a:buNone/>
            </a:pPr>
            <a:r>
              <a:rPr lang="en-US" sz="2800" dirty="0">
                <a:solidFill>
                  <a:srgbClr val="288CD2"/>
                </a:solidFill>
              </a:rPr>
              <a:t>c</a:t>
            </a:r>
            <a:r>
              <a:rPr lang="en-US" sz="2800" dirty="0" smtClean="0">
                <a:solidFill>
                  <a:srgbClr val="288CD2"/>
                </a:solidFill>
              </a:rPr>
              <a:t>ategorical:</a:t>
            </a:r>
          </a:p>
          <a:p>
            <a:pPr marL="0" indent="0">
              <a:buNone/>
            </a:pPr>
            <a:endParaRPr lang="en-US" sz="2800" dirty="0">
              <a:solidFill>
                <a:srgbClr val="288CD2"/>
              </a:solidFill>
            </a:endParaRPr>
          </a:p>
          <a:p>
            <a:pPr marL="0" indent="0">
              <a:buNone/>
            </a:pPr>
            <a:endParaRPr lang="en-US" sz="2800" dirty="0" smtClean="0">
              <a:solidFill>
                <a:srgbClr val="288CD2"/>
              </a:solidFill>
            </a:endParaRPr>
          </a:p>
          <a:p>
            <a:pPr marL="0" indent="0">
              <a:buNone/>
            </a:pPr>
            <a:endParaRPr lang="en-US" sz="800" dirty="0">
              <a:solidFill>
                <a:srgbClr val="288CD2"/>
              </a:solidFill>
            </a:endParaRPr>
          </a:p>
          <a:p>
            <a:pPr marL="0" indent="0">
              <a:buNone/>
            </a:pPr>
            <a:r>
              <a:rPr lang="en-US" sz="2800" dirty="0">
                <a:solidFill>
                  <a:srgbClr val="288CD2"/>
                </a:solidFill>
              </a:rPr>
              <a:t>v</a:t>
            </a:r>
            <a:r>
              <a:rPr lang="en-US" sz="2800" dirty="0" smtClean="0">
                <a:solidFill>
                  <a:srgbClr val="288CD2"/>
                </a:solidFill>
              </a:rPr>
              <a:t>ector form of categorical:</a:t>
            </a:r>
          </a:p>
          <a:p>
            <a:pPr marL="0" indent="0">
              <a:buNone/>
            </a:pPr>
            <a:endParaRPr lang="en-US" sz="2800" dirty="0">
              <a:solidFill>
                <a:srgbClr val="288CD2"/>
              </a:solidFill>
            </a:endParaRPr>
          </a:p>
          <a:p>
            <a:pPr marL="0" indent="0">
              <a:buNone/>
            </a:pPr>
            <a:endParaRPr lang="en-US" sz="2800" dirty="0" smtClean="0">
              <a:solidFill>
                <a:srgbClr val="288CD2"/>
              </a:solidFill>
            </a:endParaRPr>
          </a:p>
          <a:p>
            <a:pPr marL="0" indent="0">
              <a:buNone/>
            </a:pPr>
            <a:endParaRPr lang="en-US" sz="1100" dirty="0">
              <a:solidFill>
                <a:srgbClr val="288CD2"/>
              </a:solidFill>
            </a:endParaRPr>
          </a:p>
          <a:p>
            <a:pPr marL="0" indent="0">
              <a:buNone/>
            </a:pPr>
            <a:r>
              <a:rPr lang="en-US" sz="2800" dirty="0" err="1" smtClean="0">
                <a:solidFill>
                  <a:srgbClr val="288CD2"/>
                </a:solidFill>
              </a:rPr>
              <a:t>Dirichlet</a:t>
            </a:r>
            <a:r>
              <a:rPr lang="en-US" sz="2800" dirty="0" smtClean="0">
                <a:solidFill>
                  <a:srgbClr val="288CD2"/>
                </a:solidFill>
              </a:rPr>
              <a:t>:</a:t>
            </a:r>
            <a:endParaRPr lang="en-US" sz="2800" dirty="0">
              <a:solidFill>
                <a:srgbClr val="288CD2"/>
              </a:solidFill>
            </a:endParaRPr>
          </a:p>
        </p:txBody>
      </p:sp>
      <p:pic>
        <p:nvPicPr>
          <p:cNvPr id="3" name="Picture 2"/>
          <p:cNvPicPr>
            <a:picLocks noChangeAspect="1"/>
          </p:cNvPicPr>
          <p:nvPr/>
        </p:nvPicPr>
        <p:blipFill>
          <a:blip r:embed="rId10"/>
          <a:stretch>
            <a:fillRect/>
          </a:stretch>
        </p:blipFill>
        <p:spPr>
          <a:xfrm>
            <a:off x="2961128" y="5467931"/>
            <a:ext cx="4660900" cy="1054100"/>
          </a:xfrm>
          <a:prstGeom prst="rect">
            <a:avLst/>
          </a:prstGeom>
        </p:spPr>
      </p:pic>
    </p:spTree>
    <p:extLst>
      <p:ext uri="{BB962C8B-B14F-4D97-AF65-F5344CB8AC3E}">
        <p14:creationId xmlns:p14="http://schemas.microsoft.com/office/powerpoint/2010/main" val="36388348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a:bodyPr>
          <a:lstStyle/>
          <a:p>
            <a:r>
              <a:rPr lang="en-US" sz="3600" dirty="0" smtClean="0"/>
              <a:t>Posterior over Categorical Parameters?</a:t>
            </a:r>
            <a:endParaRPr lang="en-US" sz="3600" dirty="0"/>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13</a:t>
            </a:fld>
            <a:endParaRPr lang="en-US"/>
          </a:p>
        </p:txBody>
      </p:sp>
      <p:pic>
        <p:nvPicPr>
          <p:cNvPr id="14" name="Picture 13"/>
          <p:cNvPicPr>
            <a:picLocks noChangeAspect="1"/>
          </p:cNvPicPr>
          <p:nvPr/>
        </p:nvPicPr>
        <p:blipFill>
          <a:blip r:embed="rId3"/>
          <a:stretch>
            <a:fillRect/>
          </a:stretch>
        </p:blipFill>
        <p:spPr>
          <a:xfrm>
            <a:off x="4345643" y="1028692"/>
            <a:ext cx="3276600" cy="1054100"/>
          </a:xfrm>
          <a:prstGeom prst="rect">
            <a:avLst/>
          </a:prstGeom>
        </p:spPr>
      </p:pic>
      <p:pic>
        <p:nvPicPr>
          <p:cNvPr id="9" name="Picture 8"/>
          <p:cNvPicPr>
            <a:picLocks noChangeAspect="1"/>
          </p:cNvPicPr>
          <p:nvPr/>
        </p:nvPicPr>
        <p:blipFill rotWithShape="1">
          <a:blip r:embed="rId4"/>
          <a:srcRect r="77327"/>
          <a:stretch/>
        </p:blipFill>
        <p:spPr>
          <a:xfrm>
            <a:off x="304800" y="3763818"/>
            <a:ext cx="1935018" cy="2286000"/>
          </a:xfrm>
          <a:prstGeom prst="rect">
            <a:avLst/>
          </a:prstGeom>
        </p:spPr>
      </p:pic>
      <p:pic>
        <p:nvPicPr>
          <p:cNvPr id="10" name="Picture 9"/>
          <p:cNvPicPr>
            <a:picLocks noChangeAspect="1"/>
          </p:cNvPicPr>
          <p:nvPr/>
        </p:nvPicPr>
        <p:blipFill>
          <a:blip r:embed="rId5"/>
          <a:stretch>
            <a:fillRect/>
          </a:stretch>
        </p:blipFill>
        <p:spPr>
          <a:xfrm>
            <a:off x="4345643" y="2168236"/>
            <a:ext cx="4660900" cy="1054100"/>
          </a:xfrm>
          <a:prstGeom prst="rect">
            <a:avLst/>
          </a:prstGeom>
        </p:spPr>
      </p:pic>
      <p:sp>
        <p:nvSpPr>
          <p:cNvPr id="18"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227831" y="3429007"/>
            <a:ext cx="6988078" cy="623442"/>
          </a:xfrm>
        </p:spPr>
        <p:txBody>
          <a:bodyPr>
            <a:noAutofit/>
          </a:bodyPr>
          <a:lstStyle/>
          <a:p>
            <a:pPr marL="0" indent="0">
              <a:buNone/>
            </a:pPr>
            <a:r>
              <a:rPr lang="en-US" sz="2800" dirty="0" smtClean="0">
                <a:solidFill>
                  <a:srgbClr val="288CD2"/>
                </a:solidFill>
              </a:rPr>
              <a:t>posterior </a:t>
            </a:r>
            <a:r>
              <a:rPr lang="en-US" sz="2800" dirty="0" smtClean="0">
                <a:solidFill>
                  <a:srgbClr val="000000"/>
                </a:solidFill>
              </a:rPr>
              <a:t>(given a single observation </a:t>
            </a:r>
            <a:r>
              <a:rPr lang="en-US" sz="2800" i="1" dirty="0" smtClean="0">
                <a:solidFill>
                  <a:srgbClr val="000000"/>
                </a:solidFill>
              </a:rPr>
              <a:t>y</a:t>
            </a:r>
            <a:r>
              <a:rPr lang="en-US" sz="2800" dirty="0" smtClean="0">
                <a:solidFill>
                  <a:srgbClr val="000000"/>
                </a:solidFill>
              </a:rPr>
              <a:t>)</a:t>
            </a:r>
            <a:r>
              <a:rPr lang="en-US" sz="2800" dirty="0" smtClean="0">
                <a:solidFill>
                  <a:srgbClr val="288CD2"/>
                </a:solidFill>
              </a:rPr>
              <a:t>:</a:t>
            </a:r>
            <a:endParaRPr lang="en-US" sz="2800" dirty="0">
              <a:solidFill>
                <a:srgbClr val="288CD2"/>
              </a:solidFill>
            </a:endParaRPr>
          </a:p>
        </p:txBody>
      </p:sp>
    </p:spTree>
    <p:extLst>
      <p:ext uri="{BB962C8B-B14F-4D97-AF65-F5344CB8AC3E}">
        <p14:creationId xmlns:p14="http://schemas.microsoft.com/office/powerpoint/2010/main" val="3053526288"/>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a:bodyPr>
          <a:lstStyle/>
          <a:p>
            <a:r>
              <a:rPr lang="en-US" sz="3600" dirty="0" smtClean="0"/>
              <a:t>Posterior over Categorical Parameters?</a:t>
            </a:r>
            <a:endParaRPr lang="en-US" sz="3600" dirty="0"/>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14</a:t>
            </a:fld>
            <a:endParaRPr lang="en-US"/>
          </a:p>
        </p:txBody>
      </p:sp>
      <p:pic>
        <p:nvPicPr>
          <p:cNvPr id="14" name="Picture 13"/>
          <p:cNvPicPr>
            <a:picLocks noChangeAspect="1"/>
          </p:cNvPicPr>
          <p:nvPr/>
        </p:nvPicPr>
        <p:blipFill>
          <a:blip r:embed="rId3"/>
          <a:stretch>
            <a:fillRect/>
          </a:stretch>
        </p:blipFill>
        <p:spPr>
          <a:xfrm>
            <a:off x="4345643" y="1028692"/>
            <a:ext cx="3276600" cy="1054100"/>
          </a:xfrm>
          <a:prstGeom prst="rect">
            <a:avLst/>
          </a:prstGeom>
        </p:spPr>
      </p:pic>
      <p:pic>
        <p:nvPicPr>
          <p:cNvPr id="9" name="Picture 8"/>
          <p:cNvPicPr>
            <a:picLocks noChangeAspect="1"/>
          </p:cNvPicPr>
          <p:nvPr/>
        </p:nvPicPr>
        <p:blipFill rotWithShape="1">
          <a:blip r:embed="rId4"/>
          <a:srcRect l="1" r="44859" b="61616"/>
          <a:stretch/>
        </p:blipFill>
        <p:spPr>
          <a:xfrm>
            <a:off x="304799" y="3763818"/>
            <a:ext cx="4705927" cy="877455"/>
          </a:xfrm>
          <a:prstGeom prst="rect">
            <a:avLst/>
          </a:prstGeom>
        </p:spPr>
      </p:pic>
      <p:pic>
        <p:nvPicPr>
          <p:cNvPr id="10" name="Picture 9"/>
          <p:cNvPicPr>
            <a:picLocks noChangeAspect="1"/>
          </p:cNvPicPr>
          <p:nvPr/>
        </p:nvPicPr>
        <p:blipFill>
          <a:blip r:embed="rId5"/>
          <a:stretch>
            <a:fillRect/>
          </a:stretch>
        </p:blipFill>
        <p:spPr>
          <a:xfrm>
            <a:off x="4345643" y="2168236"/>
            <a:ext cx="4660900" cy="1054100"/>
          </a:xfrm>
          <a:prstGeom prst="rect">
            <a:avLst/>
          </a:prstGeom>
        </p:spPr>
      </p:pic>
      <p:sp>
        <p:nvSpPr>
          <p:cNvPr id="18"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227832" y="3429007"/>
            <a:ext cx="1861894" cy="623442"/>
          </a:xfrm>
        </p:spPr>
        <p:txBody>
          <a:bodyPr>
            <a:normAutofit/>
          </a:bodyPr>
          <a:lstStyle/>
          <a:p>
            <a:pPr marL="0" indent="0">
              <a:buNone/>
            </a:pPr>
            <a:r>
              <a:rPr lang="en-US" sz="2800" dirty="0" smtClean="0">
                <a:solidFill>
                  <a:srgbClr val="288CD2"/>
                </a:solidFill>
              </a:rPr>
              <a:t>posterior:</a:t>
            </a:r>
            <a:endParaRPr lang="en-US" sz="2800" dirty="0">
              <a:solidFill>
                <a:srgbClr val="288CD2"/>
              </a:solidFill>
            </a:endParaRPr>
          </a:p>
        </p:txBody>
      </p:sp>
    </p:spTree>
    <p:extLst>
      <p:ext uri="{BB962C8B-B14F-4D97-AF65-F5344CB8AC3E}">
        <p14:creationId xmlns:p14="http://schemas.microsoft.com/office/powerpoint/2010/main" val="1929488806"/>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a:bodyPr>
          <a:lstStyle/>
          <a:p>
            <a:r>
              <a:rPr lang="en-US" sz="3600" dirty="0" smtClean="0"/>
              <a:t>Posterior over Categorical Parameters?</a:t>
            </a:r>
            <a:endParaRPr lang="en-US" sz="3600" dirty="0"/>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15</a:t>
            </a:fld>
            <a:endParaRPr lang="en-US"/>
          </a:p>
        </p:txBody>
      </p:sp>
      <p:pic>
        <p:nvPicPr>
          <p:cNvPr id="14" name="Picture 13"/>
          <p:cNvPicPr>
            <a:picLocks noChangeAspect="1"/>
          </p:cNvPicPr>
          <p:nvPr/>
        </p:nvPicPr>
        <p:blipFill>
          <a:blip r:embed="rId3"/>
          <a:stretch>
            <a:fillRect/>
          </a:stretch>
        </p:blipFill>
        <p:spPr>
          <a:xfrm>
            <a:off x="4345643" y="1028692"/>
            <a:ext cx="3276600" cy="1054100"/>
          </a:xfrm>
          <a:prstGeom prst="rect">
            <a:avLst/>
          </a:prstGeom>
        </p:spPr>
      </p:pic>
      <p:pic>
        <p:nvPicPr>
          <p:cNvPr id="9" name="Picture 8"/>
          <p:cNvPicPr>
            <a:picLocks noChangeAspect="1"/>
          </p:cNvPicPr>
          <p:nvPr/>
        </p:nvPicPr>
        <p:blipFill rotWithShape="1">
          <a:blip r:embed="rId4"/>
          <a:srcRect b="48485"/>
          <a:stretch/>
        </p:blipFill>
        <p:spPr>
          <a:xfrm>
            <a:off x="304800" y="3763818"/>
            <a:ext cx="8534400" cy="1177637"/>
          </a:xfrm>
          <a:prstGeom prst="rect">
            <a:avLst/>
          </a:prstGeom>
        </p:spPr>
      </p:pic>
      <p:pic>
        <p:nvPicPr>
          <p:cNvPr id="10" name="Picture 9"/>
          <p:cNvPicPr>
            <a:picLocks noChangeAspect="1"/>
          </p:cNvPicPr>
          <p:nvPr/>
        </p:nvPicPr>
        <p:blipFill>
          <a:blip r:embed="rId5"/>
          <a:stretch>
            <a:fillRect/>
          </a:stretch>
        </p:blipFill>
        <p:spPr>
          <a:xfrm>
            <a:off x="4345643" y="2168236"/>
            <a:ext cx="4660900" cy="1054100"/>
          </a:xfrm>
          <a:prstGeom prst="rect">
            <a:avLst/>
          </a:prstGeom>
        </p:spPr>
      </p:pic>
      <p:sp>
        <p:nvSpPr>
          <p:cNvPr id="7"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227832" y="3429007"/>
            <a:ext cx="1861894" cy="623442"/>
          </a:xfrm>
        </p:spPr>
        <p:txBody>
          <a:bodyPr>
            <a:normAutofit/>
          </a:bodyPr>
          <a:lstStyle/>
          <a:p>
            <a:pPr marL="0" indent="0">
              <a:buNone/>
            </a:pPr>
            <a:r>
              <a:rPr lang="en-US" sz="2800" dirty="0" smtClean="0">
                <a:solidFill>
                  <a:srgbClr val="288CD2"/>
                </a:solidFill>
              </a:rPr>
              <a:t>posterior:</a:t>
            </a:r>
            <a:endParaRPr lang="en-US" sz="2800" dirty="0">
              <a:solidFill>
                <a:srgbClr val="288CD2"/>
              </a:solidFill>
            </a:endParaRPr>
          </a:p>
        </p:txBody>
      </p:sp>
    </p:spTree>
    <p:extLst>
      <p:ext uri="{BB962C8B-B14F-4D97-AF65-F5344CB8AC3E}">
        <p14:creationId xmlns:p14="http://schemas.microsoft.com/office/powerpoint/2010/main" val="131110583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a:bodyPr>
          <a:lstStyle/>
          <a:p>
            <a:r>
              <a:rPr lang="en-US" sz="3600" dirty="0" smtClean="0"/>
              <a:t>Posterior over Categorical Parameters?</a:t>
            </a:r>
            <a:endParaRPr lang="en-US" sz="3600" dirty="0"/>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16</a:t>
            </a:fld>
            <a:endParaRPr lang="en-US"/>
          </a:p>
        </p:txBody>
      </p:sp>
      <p:pic>
        <p:nvPicPr>
          <p:cNvPr id="14" name="Picture 13"/>
          <p:cNvPicPr>
            <a:picLocks noChangeAspect="1"/>
          </p:cNvPicPr>
          <p:nvPr/>
        </p:nvPicPr>
        <p:blipFill>
          <a:blip r:embed="rId3"/>
          <a:stretch>
            <a:fillRect/>
          </a:stretch>
        </p:blipFill>
        <p:spPr>
          <a:xfrm>
            <a:off x="4345643" y="1028692"/>
            <a:ext cx="3276600" cy="1054100"/>
          </a:xfrm>
          <a:prstGeom prst="rect">
            <a:avLst/>
          </a:prstGeom>
        </p:spPr>
      </p:pic>
      <p:pic>
        <p:nvPicPr>
          <p:cNvPr id="9" name="Picture 8"/>
          <p:cNvPicPr>
            <a:picLocks noChangeAspect="1"/>
          </p:cNvPicPr>
          <p:nvPr/>
        </p:nvPicPr>
        <p:blipFill>
          <a:blip r:embed="rId4"/>
          <a:stretch>
            <a:fillRect/>
          </a:stretch>
        </p:blipFill>
        <p:spPr>
          <a:xfrm>
            <a:off x="304800" y="3763818"/>
            <a:ext cx="8534400" cy="2286000"/>
          </a:xfrm>
          <a:prstGeom prst="rect">
            <a:avLst/>
          </a:prstGeom>
        </p:spPr>
      </p:pic>
      <p:pic>
        <p:nvPicPr>
          <p:cNvPr id="10" name="Picture 9"/>
          <p:cNvPicPr>
            <a:picLocks noChangeAspect="1"/>
          </p:cNvPicPr>
          <p:nvPr/>
        </p:nvPicPr>
        <p:blipFill>
          <a:blip r:embed="rId5"/>
          <a:stretch>
            <a:fillRect/>
          </a:stretch>
        </p:blipFill>
        <p:spPr>
          <a:xfrm>
            <a:off x="4345643" y="2168236"/>
            <a:ext cx="4660900" cy="1054100"/>
          </a:xfrm>
          <a:prstGeom prst="rect">
            <a:avLst/>
          </a:prstGeom>
        </p:spPr>
      </p:pic>
      <p:sp>
        <p:nvSpPr>
          <p:cNvPr id="7"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227832" y="3429007"/>
            <a:ext cx="1861894" cy="623442"/>
          </a:xfrm>
        </p:spPr>
        <p:txBody>
          <a:bodyPr>
            <a:normAutofit/>
          </a:bodyPr>
          <a:lstStyle/>
          <a:p>
            <a:pPr marL="0" indent="0">
              <a:buNone/>
            </a:pPr>
            <a:r>
              <a:rPr lang="en-US" sz="2800" dirty="0" smtClean="0">
                <a:solidFill>
                  <a:srgbClr val="288CD2"/>
                </a:solidFill>
              </a:rPr>
              <a:t>posterior:</a:t>
            </a:r>
            <a:endParaRPr lang="en-US" sz="2800" dirty="0">
              <a:solidFill>
                <a:srgbClr val="288CD2"/>
              </a:solidFill>
            </a:endParaRPr>
          </a:p>
        </p:txBody>
      </p:sp>
    </p:spTree>
    <p:extLst>
      <p:ext uri="{BB962C8B-B14F-4D97-AF65-F5344CB8AC3E}">
        <p14:creationId xmlns:p14="http://schemas.microsoft.com/office/powerpoint/2010/main" val="2056011281"/>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F899EB-93DB-2440-8D77-C6E8FC8128E5}"/>
              </a:ext>
            </a:extLst>
          </p:cNvPr>
          <p:cNvSpPr>
            <a:spLocks noGrp="1"/>
          </p:cNvSpPr>
          <p:nvPr>
            <p:ph type="title"/>
          </p:nvPr>
        </p:nvSpPr>
        <p:spPr/>
        <p:txBody>
          <a:bodyPr>
            <a:normAutofit/>
          </a:bodyPr>
          <a:lstStyle/>
          <a:p>
            <a:r>
              <a:rPr lang="en-US" sz="3600" dirty="0" smtClean="0"/>
              <a:t>Posterior over Categorical Parameters?</a:t>
            </a:r>
            <a:endParaRPr lang="en-US" sz="3600" dirty="0"/>
          </a:p>
        </p:txBody>
      </p:sp>
      <p:sp>
        <p:nvSpPr>
          <p:cNvPr id="4" name="Slide Number Placeholder 3">
            <a:extLst>
              <a:ext uri="{FF2B5EF4-FFF2-40B4-BE49-F238E27FC236}">
                <a16:creationId xmlns="" xmlns:a16="http://schemas.microsoft.com/office/drawing/2014/main" id="{7D0FA2F2-8FE0-4640-8351-44D64B81D7D0}"/>
              </a:ext>
            </a:extLst>
          </p:cNvPr>
          <p:cNvSpPr>
            <a:spLocks noGrp="1"/>
          </p:cNvSpPr>
          <p:nvPr>
            <p:ph type="sldNum" sz="quarter" idx="12"/>
          </p:nvPr>
        </p:nvSpPr>
        <p:spPr/>
        <p:txBody>
          <a:bodyPr/>
          <a:lstStyle/>
          <a:p>
            <a:fld id="{3CFF3AF9-2D61-8E40-AE3D-8390D801ED2C}" type="slidenum">
              <a:rPr lang="en-US" smtClean="0"/>
              <a:t>17</a:t>
            </a:fld>
            <a:endParaRPr lang="en-US"/>
          </a:p>
        </p:txBody>
      </p:sp>
      <p:pic>
        <p:nvPicPr>
          <p:cNvPr id="10" name="Picture 9"/>
          <p:cNvPicPr>
            <a:picLocks noChangeAspect="1"/>
          </p:cNvPicPr>
          <p:nvPr/>
        </p:nvPicPr>
        <p:blipFill>
          <a:blip r:embed="rId3"/>
          <a:stretch>
            <a:fillRect/>
          </a:stretch>
        </p:blipFill>
        <p:spPr>
          <a:xfrm>
            <a:off x="1547091" y="1256138"/>
            <a:ext cx="4660900" cy="1054100"/>
          </a:xfrm>
          <a:prstGeom prst="rect">
            <a:avLst/>
          </a:prstGeom>
        </p:spPr>
      </p:pic>
      <p:sp>
        <p:nvSpPr>
          <p:cNvPr id="7"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377917" y="3140371"/>
            <a:ext cx="1861894" cy="623442"/>
          </a:xfrm>
        </p:spPr>
        <p:txBody>
          <a:bodyPr>
            <a:normAutofit/>
          </a:bodyPr>
          <a:lstStyle/>
          <a:p>
            <a:pPr marL="0" indent="0">
              <a:buNone/>
            </a:pPr>
            <a:r>
              <a:rPr lang="en-US" sz="2800" dirty="0" smtClean="0">
                <a:solidFill>
                  <a:srgbClr val="288CD2"/>
                </a:solidFill>
              </a:rPr>
              <a:t>posterior:</a:t>
            </a:r>
            <a:endParaRPr lang="en-US" sz="2800" dirty="0">
              <a:solidFill>
                <a:srgbClr val="288CD2"/>
              </a:solidFill>
            </a:endParaRPr>
          </a:p>
        </p:txBody>
      </p:sp>
      <p:sp>
        <p:nvSpPr>
          <p:cNvPr id="8" name="Content Placeholder 2">
            <a:extLst>
              <a:ext uri="{FF2B5EF4-FFF2-40B4-BE49-F238E27FC236}">
                <a16:creationId xmlns="" xmlns:a16="http://schemas.microsoft.com/office/drawing/2014/main" id="{3EA7D92D-95C8-C945-9B7D-BD28B3C0C495}"/>
              </a:ext>
            </a:extLst>
          </p:cNvPr>
          <p:cNvSpPr txBox="1">
            <a:spLocks/>
          </p:cNvSpPr>
          <p:nvPr/>
        </p:nvSpPr>
        <p:spPr>
          <a:xfrm>
            <a:off x="377917" y="4530437"/>
            <a:ext cx="8534400" cy="16394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800" dirty="0" smtClean="0"/>
              <a:t>posterior</a:t>
            </a:r>
            <a:r>
              <a:rPr lang="en-US" sz="2800" dirty="0"/>
              <a:t> </a:t>
            </a:r>
            <a:r>
              <a:rPr lang="en-US" sz="2800" dirty="0" smtClean="0"/>
              <a:t>has form of another </a:t>
            </a:r>
            <a:r>
              <a:rPr lang="en-US" sz="2800" dirty="0" err="1" smtClean="0"/>
              <a:t>Dirichlet</a:t>
            </a:r>
            <a:r>
              <a:rPr lang="en-US" sz="2800" dirty="0" smtClean="0"/>
              <a:t> distribution!</a:t>
            </a:r>
          </a:p>
          <a:p>
            <a:pPr marL="0" indent="0">
              <a:buFont typeface="Arial"/>
              <a:buNone/>
            </a:pPr>
            <a:endParaRPr lang="en-US" sz="2800" dirty="0" smtClean="0">
              <a:solidFill>
                <a:srgbClr val="288CD2"/>
              </a:solidFill>
            </a:endParaRPr>
          </a:p>
          <a:p>
            <a:pPr marL="0" indent="0">
              <a:buFont typeface="Arial"/>
              <a:buNone/>
            </a:pPr>
            <a:r>
              <a:rPr lang="en-US" sz="2800" dirty="0" smtClean="0">
                <a:solidFill>
                  <a:srgbClr val="288CD2"/>
                </a:solidFill>
              </a:rPr>
              <a:t>posterior parameters: </a:t>
            </a:r>
            <a:endParaRPr lang="en-US" sz="2800" dirty="0">
              <a:solidFill>
                <a:srgbClr val="288CD2"/>
              </a:solidFill>
            </a:endParaRPr>
          </a:p>
        </p:txBody>
      </p:sp>
      <p:pic>
        <p:nvPicPr>
          <p:cNvPr id="3" name="Picture 2"/>
          <p:cNvPicPr>
            <a:picLocks noChangeAspect="1"/>
          </p:cNvPicPr>
          <p:nvPr/>
        </p:nvPicPr>
        <p:blipFill>
          <a:blip r:embed="rId4"/>
          <a:stretch>
            <a:fillRect/>
          </a:stretch>
        </p:blipFill>
        <p:spPr>
          <a:xfrm>
            <a:off x="3918523" y="5639954"/>
            <a:ext cx="1625600" cy="368300"/>
          </a:xfrm>
          <a:prstGeom prst="rect">
            <a:avLst/>
          </a:prstGeom>
        </p:spPr>
      </p:pic>
      <p:pic>
        <p:nvPicPr>
          <p:cNvPr id="5" name="Picture 4"/>
          <p:cNvPicPr>
            <a:picLocks noChangeAspect="1"/>
          </p:cNvPicPr>
          <p:nvPr/>
        </p:nvPicPr>
        <p:blipFill>
          <a:blip r:embed="rId5"/>
          <a:stretch>
            <a:fillRect/>
          </a:stretch>
        </p:blipFill>
        <p:spPr>
          <a:xfrm>
            <a:off x="2135903" y="2895600"/>
            <a:ext cx="3797300" cy="1054100"/>
          </a:xfrm>
          <a:prstGeom prst="rect">
            <a:avLst/>
          </a:prstGeom>
        </p:spPr>
      </p:pic>
      <p:sp>
        <p:nvSpPr>
          <p:cNvPr id="11" name="Content Placeholder 2">
            <a:extLst>
              <a:ext uri="{FF2B5EF4-FFF2-40B4-BE49-F238E27FC236}">
                <a16:creationId xmlns="" xmlns:a16="http://schemas.microsoft.com/office/drawing/2014/main" id="{3EA7D92D-95C8-C945-9B7D-BD28B3C0C495}"/>
              </a:ext>
            </a:extLst>
          </p:cNvPr>
          <p:cNvSpPr txBox="1">
            <a:spLocks/>
          </p:cNvSpPr>
          <p:nvPr/>
        </p:nvSpPr>
        <p:spPr>
          <a:xfrm>
            <a:off x="377917" y="1481281"/>
            <a:ext cx="1861894" cy="62344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800" dirty="0" smtClean="0">
                <a:solidFill>
                  <a:srgbClr val="288CD2"/>
                </a:solidFill>
              </a:rPr>
              <a:t>prior:</a:t>
            </a:r>
            <a:endParaRPr lang="en-US" sz="2800" dirty="0">
              <a:solidFill>
                <a:srgbClr val="288CD2"/>
              </a:solidFill>
            </a:endParaRPr>
          </a:p>
        </p:txBody>
      </p:sp>
      <p:sp>
        <p:nvSpPr>
          <p:cNvPr id="12" name="Isosceles Triangle 11"/>
          <p:cNvSpPr/>
          <p:nvPr/>
        </p:nvSpPr>
        <p:spPr>
          <a:xfrm>
            <a:off x="6717719" y="898229"/>
            <a:ext cx="1684806" cy="1452419"/>
          </a:xfrm>
          <a:prstGeom prst="triangle">
            <a:avLst/>
          </a:prstGeom>
          <a:gradFill flip="none" rotWithShape="1">
            <a:gsLst>
              <a:gs pos="0">
                <a:srgbClr val="7EA3CE"/>
              </a:gs>
              <a:gs pos="100000">
                <a:prstClr val="white"/>
              </a:gs>
            </a:gsLst>
            <a:path path="circle">
              <a:fillToRect l="50000" t="50000" r="50000" b="50000"/>
            </a:path>
            <a:tileRect/>
          </a:grad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Isosceles Triangle 12"/>
          <p:cNvSpPr/>
          <p:nvPr/>
        </p:nvSpPr>
        <p:spPr>
          <a:xfrm>
            <a:off x="6717719" y="2690083"/>
            <a:ext cx="1684806" cy="1452419"/>
          </a:xfrm>
          <a:prstGeom prst="triangle">
            <a:avLst/>
          </a:prstGeom>
          <a:gradFill flip="none" rotWithShape="1">
            <a:gsLst>
              <a:gs pos="12000">
                <a:schemeClr val="accent1"/>
              </a:gs>
              <a:gs pos="85000">
                <a:prstClr val="white"/>
              </a:gs>
            </a:gsLst>
            <a:path path="circle">
              <a:fillToRect l="50000" t="50000" r="50000" b="50000"/>
            </a:path>
            <a:tileRect/>
          </a:grad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470420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762"/>
            <a:ext cx="8229600" cy="726831"/>
          </a:xfrm>
        </p:spPr>
        <p:txBody>
          <a:bodyPr>
            <a:normAutofit fontScale="90000"/>
          </a:bodyPr>
          <a:lstStyle/>
          <a:p>
            <a:r>
              <a:rPr lang="en-US" dirty="0"/>
              <a:t>Conjugate Priors</a:t>
            </a:r>
          </a:p>
        </p:txBody>
      </p:sp>
      <p:sp>
        <p:nvSpPr>
          <p:cNvPr id="3" name="Content Placeholder 2"/>
          <p:cNvSpPr>
            <a:spLocks noGrp="1"/>
          </p:cNvSpPr>
          <p:nvPr>
            <p:ph idx="1"/>
          </p:nvPr>
        </p:nvSpPr>
        <p:spPr>
          <a:xfrm>
            <a:off x="0" y="898229"/>
            <a:ext cx="9143999" cy="5959771"/>
          </a:xfrm>
        </p:spPr>
        <p:txBody>
          <a:bodyPr>
            <a:normAutofit fontScale="92500" lnSpcReduction="10000"/>
          </a:bodyPr>
          <a:lstStyle/>
          <a:p>
            <a:r>
              <a:rPr lang="en-US" dirty="0" err="1"/>
              <a:t>Dirichlet</a:t>
            </a:r>
            <a:r>
              <a:rPr lang="en-US" dirty="0"/>
              <a:t> is (simplest) conjugate prior to multinomial</a:t>
            </a:r>
          </a:p>
          <a:p>
            <a:pPr lvl="1"/>
            <a:r>
              <a:rPr lang="en-US" dirty="0" err="1"/>
              <a:t>Dirichlet</a:t>
            </a:r>
            <a:r>
              <a:rPr lang="en-US" dirty="0"/>
              <a:t> parameters are like “pseudo-observations”</a:t>
            </a:r>
          </a:p>
          <a:p>
            <a:endParaRPr lang="en-US" dirty="0" smtClean="0"/>
          </a:p>
          <a:p>
            <a:r>
              <a:rPr lang="en-US" dirty="0" smtClean="0"/>
              <a:t>definition</a:t>
            </a:r>
            <a:r>
              <a:rPr lang="en-US" dirty="0"/>
              <a:t>: “posterior obtained from a given prior in the prior family and a given likelihood function belongs to the same prior family</a:t>
            </a:r>
            <a:r>
              <a:rPr lang="en-US" dirty="0" smtClean="0"/>
              <a:t>”</a:t>
            </a:r>
          </a:p>
          <a:p>
            <a:endParaRPr lang="en-US" dirty="0"/>
          </a:p>
          <a:p>
            <a:r>
              <a:rPr lang="en-US" dirty="0" smtClean="0"/>
              <a:t>result </a:t>
            </a:r>
            <a:r>
              <a:rPr lang="en-US" dirty="0"/>
              <a:t>of “algebraic similarity” between prior family and </a:t>
            </a:r>
            <a:r>
              <a:rPr lang="en-US" dirty="0" smtClean="0"/>
              <a:t>likelihood</a:t>
            </a:r>
          </a:p>
          <a:p>
            <a:endParaRPr lang="en-US" dirty="0"/>
          </a:p>
          <a:p>
            <a:r>
              <a:rPr lang="en-US" dirty="0"/>
              <a:t>often leads to tractability &amp; closed-form analytic solutions for </a:t>
            </a:r>
            <a:r>
              <a:rPr lang="en-US" dirty="0" smtClean="0"/>
              <a:t>posterior</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18</a:t>
            </a:fld>
            <a:endParaRPr lang="en-US"/>
          </a:p>
        </p:txBody>
      </p:sp>
    </p:spTree>
    <p:extLst>
      <p:ext uri="{BB962C8B-B14F-4D97-AF65-F5344CB8AC3E}">
        <p14:creationId xmlns:p14="http://schemas.microsoft.com/office/powerpoint/2010/main" val="148408031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Template</a:t>
            </a:r>
          </a:p>
        </p:txBody>
      </p:sp>
      <p:sp>
        <p:nvSpPr>
          <p:cNvPr id="4" name="Slide Number Placeholder 3"/>
          <p:cNvSpPr>
            <a:spLocks noGrp="1"/>
          </p:cNvSpPr>
          <p:nvPr>
            <p:ph type="sldNum" sz="quarter" idx="12"/>
          </p:nvPr>
        </p:nvSpPr>
        <p:spPr/>
        <p:txBody>
          <a:bodyPr/>
          <a:lstStyle/>
          <a:p>
            <a:fld id="{3CFF3AF9-2D61-8E40-AE3D-8390D801ED2C}" type="slidenum">
              <a:rPr lang="en-US" smtClean="0"/>
              <a:t>19</a:t>
            </a:fld>
            <a:endParaRPr lang="en-US"/>
          </a:p>
        </p:txBody>
      </p:sp>
      <p:pic>
        <p:nvPicPr>
          <p:cNvPr id="6" name="Picture 5"/>
          <p:cNvPicPr>
            <a:picLocks noChangeAspect="1"/>
          </p:cNvPicPr>
          <p:nvPr/>
        </p:nvPicPr>
        <p:blipFill>
          <a:blip r:embed="rId3"/>
          <a:stretch>
            <a:fillRect/>
          </a:stretch>
        </p:blipFill>
        <p:spPr>
          <a:xfrm>
            <a:off x="1591971" y="4785989"/>
            <a:ext cx="5934896" cy="437944"/>
          </a:xfrm>
          <a:prstGeom prst="rect">
            <a:avLst/>
          </a:prstGeom>
        </p:spPr>
      </p:pic>
      <p:pic>
        <p:nvPicPr>
          <p:cNvPr id="7" name="Picture 6"/>
          <p:cNvPicPr>
            <a:picLocks noChangeAspect="1"/>
          </p:cNvPicPr>
          <p:nvPr/>
        </p:nvPicPr>
        <p:blipFill>
          <a:blip r:embed="rId4"/>
          <a:stretch>
            <a:fillRect/>
          </a:stretch>
        </p:blipFill>
        <p:spPr>
          <a:xfrm>
            <a:off x="1104900" y="1270000"/>
            <a:ext cx="6921500" cy="1435100"/>
          </a:xfrm>
          <a:prstGeom prst="rect">
            <a:avLst/>
          </a:prstGeom>
        </p:spPr>
      </p:pic>
      <p:sp>
        <p:nvSpPr>
          <p:cNvPr id="8" name="TextBox 7"/>
          <p:cNvSpPr txBox="1"/>
          <p:nvPr/>
        </p:nvSpPr>
        <p:spPr>
          <a:xfrm>
            <a:off x="611249" y="3239972"/>
            <a:ext cx="8041688" cy="1077218"/>
          </a:xfrm>
          <a:prstGeom prst="rect">
            <a:avLst/>
          </a:prstGeom>
          <a:noFill/>
        </p:spPr>
        <p:txBody>
          <a:bodyPr wrap="square" rtlCol="0">
            <a:spAutoFit/>
          </a:bodyPr>
          <a:lstStyle/>
          <a:p>
            <a:r>
              <a:rPr lang="en-US" sz="3200" dirty="0">
                <a:solidFill>
                  <a:srgbClr val="288CD2"/>
                </a:solidFill>
              </a:rPr>
              <a:t>the above generative story implies the following factorization of the joint distribution:</a:t>
            </a:r>
          </a:p>
        </p:txBody>
      </p:sp>
    </p:spTree>
    <p:extLst>
      <p:ext uri="{BB962C8B-B14F-4D97-AF65-F5344CB8AC3E}">
        <p14:creationId xmlns:p14="http://schemas.microsoft.com/office/powerpoint/2010/main" val="2184467697"/>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1943304" y="189779"/>
            <a:ext cx="7304214" cy="6462683"/>
          </a:xfrm>
        </p:spPr>
        <p:txBody>
          <a:bodyPr>
            <a:normAutofit/>
          </a:bodyPr>
          <a:lstStyle/>
          <a:p>
            <a:r>
              <a:rPr lang="en-US" dirty="0"/>
              <a:t>using a prior distribution over parameters (not even really Bayesian)</a:t>
            </a:r>
          </a:p>
        </p:txBody>
      </p:sp>
      <p:sp>
        <p:nvSpPr>
          <p:cNvPr id="5" name="TextBox 4">
            <a:extLst>
              <a:ext uri="{FF2B5EF4-FFF2-40B4-BE49-F238E27FC236}">
                <a16:creationId xmlns="" xmlns:a16="http://schemas.microsoft.com/office/drawing/2014/main" id="{097E6543-DE84-5242-837D-8A7E864C5030}"/>
              </a:ext>
            </a:extLst>
          </p:cNvPr>
          <p:cNvSpPr txBox="1"/>
          <p:nvPr/>
        </p:nvSpPr>
        <p:spPr>
          <a:xfrm>
            <a:off x="51759" y="3641776"/>
            <a:ext cx="1650003" cy="1077218"/>
          </a:xfrm>
          <a:prstGeom prst="rect">
            <a:avLst/>
          </a:prstGeom>
          <a:noFill/>
        </p:spPr>
        <p:txBody>
          <a:bodyPr wrap="none" rtlCol="0">
            <a:spAutoFit/>
          </a:bodyPr>
          <a:lstStyle/>
          <a:p>
            <a:pPr algn="ctr"/>
            <a:r>
              <a:rPr lang="en-US" sz="3200" dirty="0"/>
              <a:t>more</a:t>
            </a:r>
          </a:p>
          <a:p>
            <a:pPr algn="ctr"/>
            <a:r>
              <a:rPr lang="en-US" sz="3200" dirty="0"/>
              <a:t>Bayesian</a:t>
            </a:r>
          </a:p>
        </p:txBody>
      </p:sp>
      <p:cxnSp>
        <p:nvCxnSpPr>
          <p:cNvPr id="6" name="Straight Arrow Connector 5">
            <a:extLst>
              <a:ext uri="{FF2B5EF4-FFF2-40B4-BE49-F238E27FC236}">
                <a16:creationId xmlns="" xmlns:a16="http://schemas.microsoft.com/office/drawing/2014/main" id="{C410B830-9BF9-9D44-B299-3C87664A27B1}"/>
              </a:ext>
            </a:extLst>
          </p:cNvPr>
          <p:cNvCxnSpPr>
            <a:cxnSpLocks/>
          </p:cNvCxnSpPr>
          <p:nvPr/>
        </p:nvCxnSpPr>
        <p:spPr>
          <a:xfrm flipV="1">
            <a:off x="874739" y="258791"/>
            <a:ext cx="0" cy="1220440"/>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 xmlns:a16="http://schemas.microsoft.com/office/drawing/2014/main" id="{CC6381F7-1277-AB40-8803-1FA26134BA99}"/>
              </a:ext>
            </a:extLst>
          </p:cNvPr>
          <p:cNvSpPr txBox="1"/>
          <p:nvPr/>
        </p:nvSpPr>
        <p:spPr>
          <a:xfrm>
            <a:off x="51757" y="1600398"/>
            <a:ext cx="1650003" cy="1077218"/>
          </a:xfrm>
          <a:prstGeom prst="rect">
            <a:avLst/>
          </a:prstGeom>
          <a:noFill/>
        </p:spPr>
        <p:txBody>
          <a:bodyPr wrap="none" rtlCol="0">
            <a:spAutoFit/>
          </a:bodyPr>
          <a:lstStyle/>
          <a:p>
            <a:pPr algn="ctr"/>
            <a:r>
              <a:rPr lang="en-US" sz="3200" dirty="0"/>
              <a:t>less</a:t>
            </a:r>
          </a:p>
          <a:p>
            <a:pPr algn="ctr"/>
            <a:r>
              <a:rPr lang="en-US" sz="3200" dirty="0"/>
              <a:t>Bayesian</a:t>
            </a:r>
          </a:p>
        </p:txBody>
      </p:sp>
      <p:cxnSp>
        <p:nvCxnSpPr>
          <p:cNvPr id="9" name="Straight Arrow Connector 8">
            <a:extLst>
              <a:ext uri="{FF2B5EF4-FFF2-40B4-BE49-F238E27FC236}">
                <a16:creationId xmlns="" xmlns:a16="http://schemas.microsoft.com/office/drawing/2014/main" id="{AB98229D-BE77-184D-B5B8-6F049D843DE0}"/>
              </a:ext>
            </a:extLst>
          </p:cNvPr>
          <p:cNvCxnSpPr>
            <a:cxnSpLocks/>
          </p:cNvCxnSpPr>
          <p:nvPr/>
        </p:nvCxnSpPr>
        <p:spPr>
          <a:xfrm>
            <a:off x="849455" y="4912545"/>
            <a:ext cx="0" cy="1648883"/>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3A529639-451C-DC48-BB36-5C8615CEE0D4}"/>
              </a:ext>
            </a:extLst>
          </p:cNvPr>
          <p:cNvPicPr>
            <a:picLocks noChangeAspect="1"/>
          </p:cNvPicPr>
          <p:nvPr/>
        </p:nvPicPr>
        <p:blipFill>
          <a:blip r:embed="rId2"/>
          <a:stretch>
            <a:fillRect/>
          </a:stretch>
        </p:blipFill>
        <p:spPr>
          <a:xfrm>
            <a:off x="2507615" y="3179576"/>
            <a:ext cx="6184900" cy="368300"/>
          </a:xfrm>
          <a:prstGeom prst="rect">
            <a:avLst/>
          </a:prstGeom>
        </p:spPr>
      </p:pic>
      <p:pic>
        <p:nvPicPr>
          <p:cNvPr id="14" name="Picture 13">
            <a:extLst>
              <a:ext uri="{FF2B5EF4-FFF2-40B4-BE49-F238E27FC236}">
                <a16:creationId xmlns="" xmlns:a16="http://schemas.microsoft.com/office/drawing/2014/main" id="{D1894D5C-FB83-074E-9838-C1D72AA5DABE}"/>
              </a:ext>
            </a:extLst>
          </p:cNvPr>
          <p:cNvPicPr>
            <a:picLocks noChangeAspect="1"/>
          </p:cNvPicPr>
          <p:nvPr/>
        </p:nvPicPr>
        <p:blipFill>
          <a:blip r:embed="rId3"/>
          <a:stretch>
            <a:fillRect/>
          </a:stretch>
        </p:blipFill>
        <p:spPr>
          <a:xfrm>
            <a:off x="2196465" y="1419584"/>
            <a:ext cx="6807200" cy="1435100"/>
          </a:xfrm>
          <a:prstGeom prst="rect">
            <a:avLst/>
          </a:prstGeom>
        </p:spPr>
      </p:pic>
      <p:sp>
        <p:nvSpPr>
          <p:cNvPr id="15" name="Rectangle 14">
            <a:extLst>
              <a:ext uri="{FF2B5EF4-FFF2-40B4-BE49-F238E27FC236}">
                <a16:creationId xmlns="" xmlns:a16="http://schemas.microsoft.com/office/drawing/2014/main" id="{9C23DD43-830F-0542-88C2-E102E7FE2C4B}"/>
              </a:ext>
            </a:extLst>
          </p:cNvPr>
          <p:cNvSpPr/>
          <p:nvPr/>
        </p:nvSpPr>
        <p:spPr>
          <a:xfrm>
            <a:off x="2507615" y="1259457"/>
            <a:ext cx="6496050" cy="638354"/>
          </a:xfrm>
          <a:prstGeom prst="rect">
            <a:avLst/>
          </a:prstGeom>
          <a:noFill/>
          <a:ln w="28575"/>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181415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1943304" y="189779"/>
            <a:ext cx="7304214" cy="2487837"/>
          </a:xfrm>
        </p:spPr>
        <p:txBody>
          <a:bodyPr>
            <a:normAutofit/>
          </a:bodyPr>
          <a:lstStyle/>
          <a:p>
            <a:r>
              <a:rPr lang="en-US" dirty="0"/>
              <a:t>using a prior distribution over parameters (not even really Bayesian)</a:t>
            </a:r>
          </a:p>
          <a:p>
            <a:r>
              <a:rPr lang="en-US" dirty="0"/>
              <a:t>computing posterior over parameters instead of using a point estimate</a:t>
            </a:r>
          </a:p>
        </p:txBody>
      </p:sp>
      <p:sp>
        <p:nvSpPr>
          <p:cNvPr id="5" name="TextBox 4">
            <a:extLst>
              <a:ext uri="{FF2B5EF4-FFF2-40B4-BE49-F238E27FC236}">
                <a16:creationId xmlns="" xmlns:a16="http://schemas.microsoft.com/office/drawing/2014/main" id="{097E6543-DE84-5242-837D-8A7E864C5030}"/>
              </a:ext>
            </a:extLst>
          </p:cNvPr>
          <p:cNvSpPr txBox="1"/>
          <p:nvPr/>
        </p:nvSpPr>
        <p:spPr>
          <a:xfrm>
            <a:off x="51759" y="3641776"/>
            <a:ext cx="1650003" cy="1077218"/>
          </a:xfrm>
          <a:prstGeom prst="rect">
            <a:avLst/>
          </a:prstGeom>
          <a:noFill/>
        </p:spPr>
        <p:txBody>
          <a:bodyPr wrap="none" rtlCol="0">
            <a:spAutoFit/>
          </a:bodyPr>
          <a:lstStyle/>
          <a:p>
            <a:pPr algn="ctr"/>
            <a:r>
              <a:rPr lang="en-US" sz="3200" dirty="0"/>
              <a:t>more</a:t>
            </a:r>
          </a:p>
          <a:p>
            <a:pPr algn="ctr"/>
            <a:r>
              <a:rPr lang="en-US" sz="3200" dirty="0"/>
              <a:t>Bayesian</a:t>
            </a:r>
          </a:p>
        </p:txBody>
      </p:sp>
      <p:cxnSp>
        <p:nvCxnSpPr>
          <p:cNvPr id="6" name="Straight Arrow Connector 5">
            <a:extLst>
              <a:ext uri="{FF2B5EF4-FFF2-40B4-BE49-F238E27FC236}">
                <a16:creationId xmlns="" xmlns:a16="http://schemas.microsoft.com/office/drawing/2014/main" id="{C410B830-9BF9-9D44-B299-3C87664A27B1}"/>
              </a:ext>
            </a:extLst>
          </p:cNvPr>
          <p:cNvCxnSpPr>
            <a:cxnSpLocks/>
          </p:cNvCxnSpPr>
          <p:nvPr/>
        </p:nvCxnSpPr>
        <p:spPr>
          <a:xfrm flipV="1">
            <a:off x="874739" y="258791"/>
            <a:ext cx="0" cy="1220440"/>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 xmlns:a16="http://schemas.microsoft.com/office/drawing/2014/main" id="{CC6381F7-1277-AB40-8803-1FA26134BA99}"/>
              </a:ext>
            </a:extLst>
          </p:cNvPr>
          <p:cNvSpPr txBox="1"/>
          <p:nvPr/>
        </p:nvSpPr>
        <p:spPr>
          <a:xfrm>
            <a:off x="51757" y="1600398"/>
            <a:ext cx="1650003" cy="1077218"/>
          </a:xfrm>
          <a:prstGeom prst="rect">
            <a:avLst/>
          </a:prstGeom>
          <a:noFill/>
        </p:spPr>
        <p:txBody>
          <a:bodyPr wrap="none" rtlCol="0">
            <a:spAutoFit/>
          </a:bodyPr>
          <a:lstStyle/>
          <a:p>
            <a:pPr algn="ctr"/>
            <a:r>
              <a:rPr lang="en-US" sz="3200" dirty="0"/>
              <a:t>less</a:t>
            </a:r>
          </a:p>
          <a:p>
            <a:pPr algn="ctr"/>
            <a:r>
              <a:rPr lang="en-US" sz="3200" dirty="0"/>
              <a:t>Bayesian</a:t>
            </a:r>
          </a:p>
        </p:txBody>
      </p:sp>
      <p:cxnSp>
        <p:nvCxnSpPr>
          <p:cNvPr id="9" name="Straight Arrow Connector 8">
            <a:extLst>
              <a:ext uri="{FF2B5EF4-FFF2-40B4-BE49-F238E27FC236}">
                <a16:creationId xmlns="" xmlns:a16="http://schemas.microsoft.com/office/drawing/2014/main" id="{AB98229D-BE77-184D-B5B8-6F049D843DE0}"/>
              </a:ext>
            </a:extLst>
          </p:cNvPr>
          <p:cNvCxnSpPr>
            <a:cxnSpLocks/>
          </p:cNvCxnSpPr>
          <p:nvPr/>
        </p:nvCxnSpPr>
        <p:spPr>
          <a:xfrm>
            <a:off x="849455" y="4912545"/>
            <a:ext cx="0" cy="1648883"/>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8753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346364" y="189779"/>
            <a:ext cx="8901154" cy="2487837"/>
          </a:xfrm>
        </p:spPr>
        <p:txBody>
          <a:bodyPr>
            <a:normAutofit/>
          </a:bodyPr>
          <a:lstStyle/>
          <a:p>
            <a:r>
              <a:rPr lang="en-US" dirty="0"/>
              <a:t>computing posterior over parameters instead of using a point estimate</a:t>
            </a:r>
          </a:p>
        </p:txBody>
      </p:sp>
      <p:pic>
        <p:nvPicPr>
          <p:cNvPr id="8" name="Picture 7">
            <a:extLst>
              <a:ext uri="{FF2B5EF4-FFF2-40B4-BE49-F238E27FC236}">
                <a16:creationId xmlns="" xmlns:a16="http://schemas.microsoft.com/office/drawing/2014/main" id="{4535AC59-08B3-894E-B909-C5CC74144087}"/>
              </a:ext>
            </a:extLst>
          </p:cNvPr>
          <p:cNvPicPr>
            <a:picLocks noChangeAspect="1"/>
          </p:cNvPicPr>
          <p:nvPr/>
        </p:nvPicPr>
        <p:blipFill rotWithShape="1">
          <a:blip r:embed="rId3"/>
          <a:srcRect r="76087"/>
          <a:stretch/>
        </p:blipFill>
        <p:spPr>
          <a:xfrm>
            <a:off x="1454713" y="5102935"/>
            <a:ext cx="1633872" cy="444500"/>
          </a:xfrm>
          <a:prstGeom prst="rect">
            <a:avLst/>
          </a:prstGeom>
        </p:spPr>
      </p:pic>
      <p:pic>
        <p:nvPicPr>
          <p:cNvPr id="10" name="Picture 9">
            <a:extLst>
              <a:ext uri="{FF2B5EF4-FFF2-40B4-BE49-F238E27FC236}">
                <a16:creationId xmlns="" xmlns:a16="http://schemas.microsoft.com/office/drawing/2014/main" id="{B395D867-1D93-E34F-9986-0F108CBE36CB}"/>
              </a:ext>
            </a:extLst>
          </p:cNvPr>
          <p:cNvPicPr>
            <a:picLocks noChangeAspect="1"/>
          </p:cNvPicPr>
          <p:nvPr/>
        </p:nvPicPr>
        <p:blipFill rotWithShape="1">
          <a:blip r:embed="rId3"/>
          <a:srcRect l="23913"/>
          <a:stretch/>
        </p:blipFill>
        <p:spPr>
          <a:xfrm>
            <a:off x="3088585" y="5069733"/>
            <a:ext cx="5198728" cy="444500"/>
          </a:xfrm>
          <a:prstGeom prst="rect">
            <a:avLst/>
          </a:prstGeom>
        </p:spPr>
      </p:pic>
      <p:sp>
        <p:nvSpPr>
          <p:cNvPr id="11" name="TextBox 10">
            <a:extLst>
              <a:ext uri="{FF2B5EF4-FFF2-40B4-BE49-F238E27FC236}">
                <a16:creationId xmlns="" xmlns:a16="http://schemas.microsoft.com/office/drawing/2014/main" id="{B8669009-1AC0-1E45-BEC9-04C46C6857C9}"/>
              </a:ext>
            </a:extLst>
          </p:cNvPr>
          <p:cNvSpPr txBox="1"/>
          <p:nvPr/>
        </p:nvSpPr>
        <p:spPr>
          <a:xfrm>
            <a:off x="1477567" y="2338538"/>
            <a:ext cx="3222036" cy="461665"/>
          </a:xfrm>
          <a:prstGeom prst="rect">
            <a:avLst/>
          </a:prstGeom>
          <a:noFill/>
        </p:spPr>
        <p:txBody>
          <a:bodyPr wrap="none" rtlCol="0">
            <a:spAutoFit/>
          </a:bodyPr>
          <a:lstStyle/>
          <a:p>
            <a:r>
              <a:rPr lang="en-US" sz="2400" dirty="0"/>
              <a:t>data is a set of samples: </a:t>
            </a:r>
          </a:p>
        </p:txBody>
      </p:sp>
      <p:pic>
        <p:nvPicPr>
          <p:cNvPr id="12" name="Picture 11">
            <a:extLst>
              <a:ext uri="{FF2B5EF4-FFF2-40B4-BE49-F238E27FC236}">
                <a16:creationId xmlns="" xmlns:a16="http://schemas.microsoft.com/office/drawing/2014/main" id="{68E7AB09-DBA7-D54E-8EA5-19BEF9CAC6FB}"/>
              </a:ext>
            </a:extLst>
          </p:cNvPr>
          <p:cNvPicPr>
            <a:picLocks noChangeAspect="1"/>
          </p:cNvPicPr>
          <p:nvPr/>
        </p:nvPicPr>
        <p:blipFill>
          <a:blip r:embed="rId4"/>
          <a:stretch>
            <a:fillRect/>
          </a:stretch>
        </p:blipFill>
        <p:spPr>
          <a:xfrm>
            <a:off x="1479550" y="1625828"/>
            <a:ext cx="6184900" cy="368300"/>
          </a:xfrm>
          <a:prstGeom prst="rect">
            <a:avLst/>
          </a:prstGeom>
        </p:spPr>
      </p:pic>
      <p:pic>
        <p:nvPicPr>
          <p:cNvPr id="13" name="Picture 12">
            <a:extLst>
              <a:ext uri="{FF2B5EF4-FFF2-40B4-BE49-F238E27FC236}">
                <a16:creationId xmlns="" xmlns:a16="http://schemas.microsoft.com/office/drawing/2014/main" id="{027F3206-370A-1345-9D4A-87CEE077A822}"/>
              </a:ext>
            </a:extLst>
          </p:cNvPr>
          <p:cNvPicPr>
            <a:picLocks noChangeAspect="1"/>
          </p:cNvPicPr>
          <p:nvPr/>
        </p:nvPicPr>
        <p:blipFill>
          <a:blip r:embed="rId5"/>
          <a:stretch>
            <a:fillRect/>
          </a:stretch>
        </p:blipFill>
        <p:spPr>
          <a:xfrm>
            <a:off x="4696027" y="2358423"/>
            <a:ext cx="2501900" cy="419100"/>
          </a:xfrm>
          <a:prstGeom prst="rect">
            <a:avLst/>
          </a:prstGeom>
        </p:spPr>
      </p:pic>
      <p:pic>
        <p:nvPicPr>
          <p:cNvPr id="14" name="Picture 13">
            <a:extLst>
              <a:ext uri="{FF2B5EF4-FFF2-40B4-BE49-F238E27FC236}">
                <a16:creationId xmlns="" xmlns:a16="http://schemas.microsoft.com/office/drawing/2014/main" id="{335555BF-69F5-AF48-A857-CD4B25C591B4}"/>
              </a:ext>
            </a:extLst>
          </p:cNvPr>
          <p:cNvPicPr>
            <a:picLocks noChangeAspect="1"/>
          </p:cNvPicPr>
          <p:nvPr/>
        </p:nvPicPr>
        <p:blipFill>
          <a:blip r:embed="rId6"/>
          <a:stretch>
            <a:fillRect/>
          </a:stretch>
        </p:blipFill>
        <p:spPr>
          <a:xfrm>
            <a:off x="1477567" y="3163655"/>
            <a:ext cx="6134100" cy="444500"/>
          </a:xfrm>
          <a:prstGeom prst="rect">
            <a:avLst/>
          </a:prstGeom>
        </p:spPr>
      </p:pic>
      <p:pic>
        <p:nvPicPr>
          <p:cNvPr id="2" name="Picture 1">
            <a:extLst>
              <a:ext uri="{FF2B5EF4-FFF2-40B4-BE49-F238E27FC236}">
                <a16:creationId xmlns="" xmlns:a16="http://schemas.microsoft.com/office/drawing/2014/main" id="{6A1FEA84-EA08-DF44-930A-4EB0E6A36779}"/>
              </a:ext>
            </a:extLst>
          </p:cNvPr>
          <p:cNvPicPr>
            <a:picLocks noChangeAspect="1"/>
          </p:cNvPicPr>
          <p:nvPr/>
        </p:nvPicPr>
        <p:blipFill>
          <a:blip r:embed="rId7"/>
          <a:stretch>
            <a:fillRect/>
          </a:stretch>
        </p:blipFill>
        <p:spPr>
          <a:xfrm>
            <a:off x="3381239" y="4276992"/>
            <a:ext cx="5198729" cy="449399"/>
          </a:xfrm>
          <a:prstGeom prst="rect">
            <a:avLst/>
          </a:prstGeom>
        </p:spPr>
      </p:pic>
      <p:pic>
        <p:nvPicPr>
          <p:cNvPr id="5" name="Picture 4"/>
          <p:cNvPicPr>
            <a:picLocks noChangeAspect="1"/>
          </p:cNvPicPr>
          <p:nvPr/>
        </p:nvPicPr>
        <p:blipFill>
          <a:blip r:embed="rId8"/>
          <a:stretch>
            <a:fillRect/>
          </a:stretch>
        </p:blipFill>
        <p:spPr>
          <a:xfrm>
            <a:off x="715994" y="4000499"/>
            <a:ext cx="2222500" cy="368300"/>
          </a:xfrm>
          <a:prstGeom prst="rect">
            <a:avLst/>
          </a:prstGeom>
        </p:spPr>
      </p:pic>
      <p:pic>
        <p:nvPicPr>
          <p:cNvPr id="6" name="Picture 5"/>
          <p:cNvPicPr>
            <a:picLocks noChangeAspect="1"/>
          </p:cNvPicPr>
          <p:nvPr/>
        </p:nvPicPr>
        <p:blipFill>
          <a:blip r:embed="rId9"/>
          <a:stretch>
            <a:fillRect/>
          </a:stretch>
        </p:blipFill>
        <p:spPr>
          <a:xfrm>
            <a:off x="715994" y="4464627"/>
            <a:ext cx="2298700" cy="355600"/>
          </a:xfrm>
          <a:prstGeom prst="rect">
            <a:avLst/>
          </a:prstGeom>
        </p:spPr>
      </p:pic>
    </p:spTree>
    <p:extLst>
      <p:ext uri="{BB962C8B-B14F-4D97-AF65-F5344CB8AC3E}">
        <p14:creationId xmlns:p14="http://schemas.microsoft.com/office/powerpoint/2010/main" val="154875484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1943304" y="189779"/>
            <a:ext cx="7304214" cy="6462683"/>
          </a:xfrm>
        </p:spPr>
        <p:txBody>
          <a:bodyPr>
            <a:normAutofit/>
          </a:bodyPr>
          <a:lstStyle/>
          <a:p>
            <a:r>
              <a:rPr lang="en-US" dirty="0"/>
              <a:t>using a prior distribution over parameters (not even really Bayesian)</a:t>
            </a:r>
          </a:p>
          <a:p>
            <a:r>
              <a:rPr lang="en-US" dirty="0"/>
              <a:t>computing posterior over parameters instead of using a point estimate</a:t>
            </a:r>
          </a:p>
          <a:p>
            <a:r>
              <a:rPr lang="en-US" dirty="0"/>
              <a:t>integrating out parameters (with fixed parameters for prior</a:t>
            </a:r>
            <a:r>
              <a:rPr lang="en-US" dirty="0" smtClean="0"/>
              <a:t>)</a:t>
            </a:r>
            <a:endParaRPr lang="en-US" dirty="0"/>
          </a:p>
        </p:txBody>
      </p:sp>
      <p:sp>
        <p:nvSpPr>
          <p:cNvPr id="5" name="TextBox 4">
            <a:extLst>
              <a:ext uri="{FF2B5EF4-FFF2-40B4-BE49-F238E27FC236}">
                <a16:creationId xmlns="" xmlns:a16="http://schemas.microsoft.com/office/drawing/2014/main" id="{097E6543-DE84-5242-837D-8A7E864C5030}"/>
              </a:ext>
            </a:extLst>
          </p:cNvPr>
          <p:cNvSpPr txBox="1"/>
          <p:nvPr/>
        </p:nvSpPr>
        <p:spPr>
          <a:xfrm>
            <a:off x="51759" y="3641776"/>
            <a:ext cx="1650003" cy="1077218"/>
          </a:xfrm>
          <a:prstGeom prst="rect">
            <a:avLst/>
          </a:prstGeom>
          <a:noFill/>
        </p:spPr>
        <p:txBody>
          <a:bodyPr wrap="none" rtlCol="0">
            <a:spAutoFit/>
          </a:bodyPr>
          <a:lstStyle/>
          <a:p>
            <a:pPr algn="ctr"/>
            <a:r>
              <a:rPr lang="en-US" sz="3200" dirty="0"/>
              <a:t>more</a:t>
            </a:r>
          </a:p>
          <a:p>
            <a:pPr algn="ctr"/>
            <a:r>
              <a:rPr lang="en-US" sz="3200" dirty="0"/>
              <a:t>Bayesian</a:t>
            </a:r>
          </a:p>
        </p:txBody>
      </p:sp>
      <p:cxnSp>
        <p:nvCxnSpPr>
          <p:cNvPr id="6" name="Straight Arrow Connector 5">
            <a:extLst>
              <a:ext uri="{FF2B5EF4-FFF2-40B4-BE49-F238E27FC236}">
                <a16:creationId xmlns="" xmlns:a16="http://schemas.microsoft.com/office/drawing/2014/main" id="{C410B830-9BF9-9D44-B299-3C87664A27B1}"/>
              </a:ext>
            </a:extLst>
          </p:cNvPr>
          <p:cNvCxnSpPr>
            <a:cxnSpLocks/>
          </p:cNvCxnSpPr>
          <p:nvPr/>
        </p:nvCxnSpPr>
        <p:spPr>
          <a:xfrm flipV="1">
            <a:off x="874739" y="258791"/>
            <a:ext cx="0" cy="1220440"/>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 xmlns:a16="http://schemas.microsoft.com/office/drawing/2014/main" id="{CC6381F7-1277-AB40-8803-1FA26134BA99}"/>
              </a:ext>
            </a:extLst>
          </p:cNvPr>
          <p:cNvSpPr txBox="1"/>
          <p:nvPr/>
        </p:nvSpPr>
        <p:spPr>
          <a:xfrm>
            <a:off x="51757" y="1600398"/>
            <a:ext cx="1650003" cy="1077218"/>
          </a:xfrm>
          <a:prstGeom prst="rect">
            <a:avLst/>
          </a:prstGeom>
          <a:noFill/>
        </p:spPr>
        <p:txBody>
          <a:bodyPr wrap="none" rtlCol="0">
            <a:spAutoFit/>
          </a:bodyPr>
          <a:lstStyle/>
          <a:p>
            <a:pPr algn="ctr"/>
            <a:r>
              <a:rPr lang="en-US" sz="3200" dirty="0"/>
              <a:t>less</a:t>
            </a:r>
          </a:p>
          <a:p>
            <a:pPr algn="ctr"/>
            <a:r>
              <a:rPr lang="en-US" sz="3200" dirty="0"/>
              <a:t>Bayesian</a:t>
            </a:r>
          </a:p>
        </p:txBody>
      </p:sp>
      <p:cxnSp>
        <p:nvCxnSpPr>
          <p:cNvPr id="9" name="Straight Arrow Connector 8">
            <a:extLst>
              <a:ext uri="{FF2B5EF4-FFF2-40B4-BE49-F238E27FC236}">
                <a16:creationId xmlns="" xmlns:a16="http://schemas.microsoft.com/office/drawing/2014/main" id="{AB98229D-BE77-184D-B5B8-6F049D843DE0}"/>
              </a:ext>
            </a:extLst>
          </p:cNvPr>
          <p:cNvCxnSpPr>
            <a:cxnSpLocks/>
          </p:cNvCxnSpPr>
          <p:nvPr/>
        </p:nvCxnSpPr>
        <p:spPr>
          <a:xfrm>
            <a:off x="849455" y="4912545"/>
            <a:ext cx="0" cy="1648883"/>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37872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103908" y="189779"/>
            <a:ext cx="9143609" cy="6462683"/>
          </a:xfrm>
        </p:spPr>
        <p:txBody>
          <a:bodyPr>
            <a:normAutofit/>
          </a:bodyPr>
          <a:lstStyle/>
          <a:p>
            <a:r>
              <a:rPr lang="en-US" dirty="0" smtClean="0"/>
              <a:t>integrating </a:t>
            </a:r>
            <a:r>
              <a:rPr lang="en-US" dirty="0"/>
              <a:t>out parameters (with fixed parameters for prior</a:t>
            </a:r>
            <a:r>
              <a:rPr lang="en-US" dirty="0" smtClean="0"/>
              <a:t>)</a:t>
            </a:r>
            <a:endParaRPr lang="en-US" dirty="0"/>
          </a:p>
        </p:txBody>
      </p:sp>
      <p:pic>
        <p:nvPicPr>
          <p:cNvPr id="8" name="Picture 7">
            <a:extLst>
              <a:ext uri="{FF2B5EF4-FFF2-40B4-BE49-F238E27FC236}">
                <a16:creationId xmlns="" xmlns:a16="http://schemas.microsoft.com/office/drawing/2014/main" id="{4535AC59-08B3-894E-B909-C5CC74144087}"/>
              </a:ext>
            </a:extLst>
          </p:cNvPr>
          <p:cNvPicPr>
            <a:picLocks noChangeAspect="1"/>
          </p:cNvPicPr>
          <p:nvPr/>
        </p:nvPicPr>
        <p:blipFill rotWithShape="1">
          <a:blip r:embed="rId2"/>
          <a:srcRect r="76087"/>
          <a:stretch/>
        </p:blipFill>
        <p:spPr>
          <a:xfrm>
            <a:off x="1454713" y="3902208"/>
            <a:ext cx="1633872" cy="444500"/>
          </a:xfrm>
          <a:prstGeom prst="rect">
            <a:avLst/>
          </a:prstGeom>
        </p:spPr>
      </p:pic>
      <p:pic>
        <p:nvPicPr>
          <p:cNvPr id="10" name="Picture 9">
            <a:extLst>
              <a:ext uri="{FF2B5EF4-FFF2-40B4-BE49-F238E27FC236}">
                <a16:creationId xmlns="" xmlns:a16="http://schemas.microsoft.com/office/drawing/2014/main" id="{B395D867-1D93-E34F-9986-0F108CBE36CB}"/>
              </a:ext>
            </a:extLst>
          </p:cNvPr>
          <p:cNvPicPr>
            <a:picLocks noChangeAspect="1"/>
          </p:cNvPicPr>
          <p:nvPr/>
        </p:nvPicPr>
        <p:blipFill rotWithShape="1">
          <a:blip r:embed="rId2"/>
          <a:srcRect l="23913"/>
          <a:stretch/>
        </p:blipFill>
        <p:spPr>
          <a:xfrm>
            <a:off x="3088585" y="3869006"/>
            <a:ext cx="5198728" cy="444500"/>
          </a:xfrm>
          <a:prstGeom prst="rect">
            <a:avLst/>
          </a:prstGeom>
        </p:spPr>
      </p:pic>
      <p:sp>
        <p:nvSpPr>
          <p:cNvPr id="11" name="TextBox 10">
            <a:extLst>
              <a:ext uri="{FF2B5EF4-FFF2-40B4-BE49-F238E27FC236}">
                <a16:creationId xmlns="" xmlns:a16="http://schemas.microsoft.com/office/drawing/2014/main" id="{B8669009-1AC0-1E45-BEC9-04C46C6857C9}"/>
              </a:ext>
            </a:extLst>
          </p:cNvPr>
          <p:cNvSpPr txBox="1"/>
          <p:nvPr/>
        </p:nvSpPr>
        <p:spPr>
          <a:xfrm>
            <a:off x="1477567" y="2338538"/>
            <a:ext cx="3222036" cy="461665"/>
          </a:xfrm>
          <a:prstGeom prst="rect">
            <a:avLst/>
          </a:prstGeom>
          <a:noFill/>
        </p:spPr>
        <p:txBody>
          <a:bodyPr wrap="none" rtlCol="0">
            <a:spAutoFit/>
          </a:bodyPr>
          <a:lstStyle/>
          <a:p>
            <a:r>
              <a:rPr lang="en-US" sz="2400" dirty="0"/>
              <a:t>data is a set of samples: </a:t>
            </a:r>
          </a:p>
        </p:txBody>
      </p:sp>
      <p:pic>
        <p:nvPicPr>
          <p:cNvPr id="12" name="Picture 11">
            <a:extLst>
              <a:ext uri="{FF2B5EF4-FFF2-40B4-BE49-F238E27FC236}">
                <a16:creationId xmlns="" xmlns:a16="http://schemas.microsoft.com/office/drawing/2014/main" id="{68E7AB09-DBA7-D54E-8EA5-19BEF9CAC6FB}"/>
              </a:ext>
            </a:extLst>
          </p:cNvPr>
          <p:cNvPicPr>
            <a:picLocks noChangeAspect="1"/>
          </p:cNvPicPr>
          <p:nvPr/>
        </p:nvPicPr>
        <p:blipFill>
          <a:blip r:embed="rId3"/>
          <a:stretch>
            <a:fillRect/>
          </a:stretch>
        </p:blipFill>
        <p:spPr>
          <a:xfrm>
            <a:off x="1479550" y="1625828"/>
            <a:ext cx="6184900" cy="368300"/>
          </a:xfrm>
          <a:prstGeom prst="rect">
            <a:avLst/>
          </a:prstGeom>
        </p:spPr>
      </p:pic>
      <p:pic>
        <p:nvPicPr>
          <p:cNvPr id="13" name="Picture 12">
            <a:extLst>
              <a:ext uri="{FF2B5EF4-FFF2-40B4-BE49-F238E27FC236}">
                <a16:creationId xmlns="" xmlns:a16="http://schemas.microsoft.com/office/drawing/2014/main" id="{027F3206-370A-1345-9D4A-87CEE077A822}"/>
              </a:ext>
            </a:extLst>
          </p:cNvPr>
          <p:cNvPicPr>
            <a:picLocks noChangeAspect="1"/>
          </p:cNvPicPr>
          <p:nvPr/>
        </p:nvPicPr>
        <p:blipFill>
          <a:blip r:embed="rId4"/>
          <a:stretch>
            <a:fillRect/>
          </a:stretch>
        </p:blipFill>
        <p:spPr>
          <a:xfrm>
            <a:off x="4696027" y="2358423"/>
            <a:ext cx="2501900" cy="419100"/>
          </a:xfrm>
          <a:prstGeom prst="rect">
            <a:avLst/>
          </a:prstGeom>
        </p:spPr>
      </p:pic>
      <p:pic>
        <p:nvPicPr>
          <p:cNvPr id="14" name="Picture 13">
            <a:extLst>
              <a:ext uri="{FF2B5EF4-FFF2-40B4-BE49-F238E27FC236}">
                <a16:creationId xmlns="" xmlns:a16="http://schemas.microsoft.com/office/drawing/2014/main" id="{335555BF-69F5-AF48-A857-CD4B25C591B4}"/>
              </a:ext>
            </a:extLst>
          </p:cNvPr>
          <p:cNvPicPr>
            <a:picLocks noChangeAspect="1"/>
          </p:cNvPicPr>
          <p:nvPr/>
        </p:nvPicPr>
        <p:blipFill>
          <a:blip r:embed="rId5"/>
          <a:stretch>
            <a:fillRect/>
          </a:stretch>
        </p:blipFill>
        <p:spPr>
          <a:xfrm>
            <a:off x="1477567" y="3163655"/>
            <a:ext cx="6134100" cy="444500"/>
          </a:xfrm>
          <a:prstGeom prst="rect">
            <a:avLst/>
          </a:prstGeom>
        </p:spPr>
      </p:pic>
      <p:pic>
        <p:nvPicPr>
          <p:cNvPr id="15" name="Picture 14"/>
          <p:cNvPicPr>
            <a:picLocks noChangeAspect="1"/>
          </p:cNvPicPr>
          <p:nvPr/>
        </p:nvPicPr>
        <p:blipFill>
          <a:blip r:embed="rId6"/>
          <a:stretch>
            <a:fillRect/>
          </a:stretch>
        </p:blipFill>
        <p:spPr>
          <a:xfrm>
            <a:off x="673703" y="4763761"/>
            <a:ext cx="8051800" cy="444500"/>
          </a:xfrm>
          <a:prstGeom prst="rect">
            <a:avLst/>
          </a:prstGeom>
        </p:spPr>
      </p:pic>
    </p:spTree>
    <p:extLst>
      <p:ext uri="{BB962C8B-B14F-4D97-AF65-F5344CB8AC3E}">
        <p14:creationId xmlns:p14="http://schemas.microsoft.com/office/powerpoint/2010/main" val="40066251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817BB4-2776-F445-A8FC-C214F3B9C36A}"/>
              </a:ext>
            </a:extLst>
          </p:cNvPr>
          <p:cNvSpPr>
            <a:spLocks noGrp="1"/>
          </p:cNvSpPr>
          <p:nvPr>
            <p:ph idx="1"/>
          </p:nvPr>
        </p:nvSpPr>
        <p:spPr>
          <a:xfrm>
            <a:off x="1943304" y="189779"/>
            <a:ext cx="7304214" cy="6462683"/>
          </a:xfrm>
        </p:spPr>
        <p:txBody>
          <a:bodyPr>
            <a:normAutofit/>
          </a:bodyPr>
          <a:lstStyle/>
          <a:p>
            <a:r>
              <a:rPr lang="en-US" dirty="0"/>
              <a:t>using a prior distribution over parameters (not even really Bayesian)</a:t>
            </a:r>
          </a:p>
          <a:p>
            <a:r>
              <a:rPr lang="en-US" dirty="0"/>
              <a:t>computing posterior over parameters instead of using a point estimate</a:t>
            </a:r>
          </a:p>
          <a:p>
            <a:r>
              <a:rPr lang="en-US" dirty="0"/>
              <a:t>integrating out parameters (with fixed parameters for prior)</a:t>
            </a:r>
          </a:p>
          <a:p>
            <a:r>
              <a:rPr lang="en-US" dirty="0"/>
              <a:t>integrating out parameters while estimating parameters of prior (“Empirical Bayes”)</a:t>
            </a:r>
          </a:p>
          <a:p>
            <a:r>
              <a:rPr lang="en-US" dirty="0"/>
              <a:t>integrating out parameters </a:t>
            </a:r>
            <a:r>
              <a:rPr lang="en-US" i="1" dirty="0"/>
              <a:t>and</a:t>
            </a:r>
            <a:r>
              <a:rPr lang="en-US" dirty="0"/>
              <a:t> prior parameters (using a “hyperprior”)</a:t>
            </a:r>
          </a:p>
          <a:p>
            <a:r>
              <a:rPr lang="en-US" dirty="0"/>
              <a:t>…</a:t>
            </a:r>
          </a:p>
        </p:txBody>
      </p:sp>
      <p:sp>
        <p:nvSpPr>
          <p:cNvPr id="5" name="TextBox 4">
            <a:extLst>
              <a:ext uri="{FF2B5EF4-FFF2-40B4-BE49-F238E27FC236}">
                <a16:creationId xmlns="" xmlns:a16="http://schemas.microsoft.com/office/drawing/2014/main" id="{097E6543-DE84-5242-837D-8A7E864C5030}"/>
              </a:ext>
            </a:extLst>
          </p:cNvPr>
          <p:cNvSpPr txBox="1"/>
          <p:nvPr/>
        </p:nvSpPr>
        <p:spPr>
          <a:xfrm>
            <a:off x="51759" y="3641776"/>
            <a:ext cx="1650003" cy="1077218"/>
          </a:xfrm>
          <a:prstGeom prst="rect">
            <a:avLst/>
          </a:prstGeom>
          <a:noFill/>
        </p:spPr>
        <p:txBody>
          <a:bodyPr wrap="none" rtlCol="0">
            <a:spAutoFit/>
          </a:bodyPr>
          <a:lstStyle/>
          <a:p>
            <a:pPr algn="ctr"/>
            <a:r>
              <a:rPr lang="en-US" sz="3200" dirty="0"/>
              <a:t>more</a:t>
            </a:r>
          </a:p>
          <a:p>
            <a:pPr algn="ctr"/>
            <a:r>
              <a:rPr lang="en-US" sz="3200" dirty="0"/>
              <a:t>Bayesian</a:t>
            </a:r>
          </a:p>
        </p:txBody>
      </p:sp>
      <p:cxnSp>
        <p:nvCxnSpPr>
          <p:cNvPr id="6" name="Straight Arrow Connector 5">
            <a:extLst>
              <a:ext uri="{FF2B5EF4-FFF2-40B4-BE49-F238E27FC236}">
                <a16:creationId xmlns="" xmlns:a16="http://schemas.microsoft.com/office/drawing/2014/main" id="{C410B830-9BF9-9D44-B299-3C87664A27B1}"/>
              </a:ext>
            </a:extLst>
          </p:cNvPr>
          <p:cNvCxnSpPr>
            <a:cxnSpLocks/>
          </p:cNvCxnSpPr>
          <p:nvPr/>
        </p:nvCxnSpPr>
        <p:spPr>
          <a:xfrm flipV="1">
            <a:off x="874739" y="258791"/>
            <a:ext cx="0" cy="1220440"/>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 xmlns:a16="http://schemas.microsoft.com/office/drawing/2014/main" id="{CC6381F7-1277-AB40-8803-1FA26134BA99}"/>
              </a:ext>
            </a:extLst>
          </p:cNvPr>
          <p:cNvSpPr txBox="1"/>
          <p:nvPr/>
        </p:nvSpPr>
        <p:spPr>
          <a:xfrm>
            <a:off x="51757" y="1600398"/>
            <a:ext cx="1650003" cy="1077218"/>
          </a:xfrm>
          <a:prstGeom prst="rect">
            <a:avLst/>
          </a:prstGeom>
          <a:noFill/>
        </p:spPr>
        <p:txBody>
          <a:bodyPr wrap="none" rtlCol="0">
            <a:spAutoFit/>
          </a:bodyPr>
          <a:lstStyle/>
          <a:p>
            <a:pPr algn="ctr"/>
            <a:r>
              <a:rPr lang="en-US" sz="3200" dirty="0"/>
              <a:t>less</a:t>
            </a:r>
          </a:p>
          <a:p>
            <a:pPr algn="ctr"/>
            <a:r>
              <a:rPr lang="en-US" sz="3200" dirty="0"/>
              <a:t>Bayesian</a:t>
            </a:r>
          </a:p>
        </p:txBody>
      </p:sp>
      <p:cxnSp>
        <p:nvCxnSpPr>
          <p:cNvPr id="9" name="Straight Arrow Connector 8">
            <a:extLst>
              <a:ext uri="{FF2B5EF4-FFF2-40B4-BE49-F238E27FC236}">
                <a16:creationId xmlns="" xmlns:a16="http://schemas.microsoft.com/office/drawing/2014/main" id="{AB98229D-BE77-184D-B5B8-6F049D843DE0}"/>
              </a:ext>
            </a:extLst>
          </p:cNvPr>
          <p:cNvCxnSpPr>
            <a:cxnSpLocks/>
          </p:cNvCxnSpPr>
          <p:nvPr/>
        </p:nvCxnSpPr>
        <p:spPr>
          <a:xfrm>
            <a:off x="849455" y="4912545"/>
            <a:ext cx="0" cy="1648883"/>
          </a:xfrm>
          <a:prstGeom prst="straightConnector1">
            <a:avLst/>
          </a:prstGeom>
          <a:ln w="7620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10253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Inference</a:t>
            </a:r>
          </a:p>
        </p:txBody>
      </p:sp>
      <p:sp>
        <p:nvSpPr>
          <p:cNvPr id="3" name="Content Placeholder 2"/>
          <p:cNvSpPr>
            <a:spLocks noGrp="1"/>
          </p:cNvSpPr>
          <p:nvPr>
            <p:ph idx="1"/>
          </p:nvPr>
        </p:nvSpPr>
        <p:spPr/>
        <p:txBody>
          <a:bodyPr>
            <a:normAutofit lnSpcReduction="10000"/>
          </a:bodyPr>
          <a:lstStyle/>
          <a:p>
            <a:r>
              <a:rPr lang="en-US" dirty="0"/>
              <a:t>inference roughly means “calculate statistical quantities of interest”</a:t>
            </a:r>
          </a:p>
          <a:p>
            <a:r>
              <a:rPr lang="en-US" dirty="0"/>
              <a:t>examples:</a:t>
            </a:r>
          </a:p>
          <a:p>
            <a:pPr lvl="1"/>
            <a:r>
              <a:rPr lang="en-US" dirty="0"/>
              <a:t>compute the mode of some random variables when conditioning on some and marginalizing out others</a:t>
            </a:r>
          </a:p>
          <a:p>
            <a:pPr lvl="1"/>
            <a:r>
              <a:rPr lang="en-US" dirty="0"/>
              <a:t>compute </a:t>
            </a:r>
            <a:r>
              <a:rPr lang="en-US" dirty="0" err="1"/>
              <a:t>marginals</a:t>
            </a:r>
            <a:r>
              <a:rPr lang="en-US" dirty="0"/>
              <a:t> of some random variables (variable posteriors when marginalizing out everything else)</a:t>
            </a:r>
          </a:p>
          <a:p>
            <a:pPr lvl="1"/>
            <a:r>
              <a:rPr lang="en-US" dirty="0"/>
              <a:t>compute posterior distribution over some subset of random variables</a:t>
            </a:r>
          </a:p>
        </p:txBody>
      </p:sp>
      <p:sp>
        <p:nvSpPr>
          <p:cNvPr id="4" name="Slide Number Placeholder 3"/>
          <p:cNvSpPr>
            <a:spLocks noGrp="1"/>
          </p:cNvSpPr>
          <p:nvPr>
            <p:ph type="sldNum" sz="quarter" idx="12"/>
          </p:nvPr>
        </p:nvSpPr>
        <p:spPr/>
        <p:txBody>
          <a:bodyPr/>
          <a:lstStyle/>
          <a:p>
            <a:fld id="{3CFF3AF9-2D61-8E40-AE3D-8390D801ED2C}" type="slidenum">
              <a:rPr lang="en-US" smtClean="0"/>
              <a:t>26</a:t>
            </a:fld>
            <a:endParaRPr lang="en-US"/>
          </a:p>
        </p:txBody>
      </p:sp>
    </p:spTree>
    <p:extLst>
      <p:ext uri="{BB962C8B-B14F-4D97-AF65-F5344CB8AC3E}">
        <p14:creationId xmlns:p14="http://schemas.microsoft.com/office/powerpoint/2010/main" val="32422592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Learning?</a:t>
            </a:r>
          </a:p>
        </p:txBody>
      </p:sp>
      <p:sp>
        <p:nvSpPr>
          <p:cNvPr id="3" name="Content Placeholder 2"/>
          <p:cNvSpPr>
            <a:spLocks noGrp="1"/>
          </p:cNvSpPr>
          <p:nvPr>
            <p:ph idx="1"/>
          </p:nvPr>
        </p:nvSpPr>
        <p:spPr/>
        <p:txBody>
          <a:bodyPr>
            <a:normAutofit fontScale="92500"/>
          </a:bodyPr>
          <a:lstStyle/>
          <a:p>
            <a:r>
              <a:rPr lang="en-US" dirty="0"/>
              <a:t>in Bayesian NLP, there’s often no “learning”</a:t>
            </a:r>
          </a:p>
          <a:p>
            <a:r>
              <a:rPr lang="en-US" dirty="0"/>
              <a:t>there is only “inference”</a:t>
            </a:r>
          </a:p>
          <a:p>
            <a:r>
              <a:rPr lang="en-US" dirty="0"/>
              <a:t>just define model and do inference to calculate what we want to calculate</a:t>
            </a:r>
          </a:p>
          <a:p>
            <a:pPr lvl="1"/>
            <a:r>
              <a:rPr lang="en-US" dirty="0"/>
              <a:t>no parameters are being estimated from data*</a:t>
            </a:r>
          </a:p>
          <a:p>
            <a:pPr lvl="1"/>
            <a:r>
              <a:rPr lang="en-US" dirty="0"/>
              <a:t>we are not optimizing any loss function*</a:t>
            </a:r>
          </a:p>
          <a:p>
            <a:pPr lvl="1"/>
            <a:r>
              <a:rPr lang="en-US" dirty="0"/>
              <a:t>there is no gradient descent*</a:t>
            </a:r>
          </a:p>
          <a:p>
            <a:r>
              <a:rPr lang="en-US" dirty="0"/>
              <a:t>but sometimes we do learn some latent variables (certain parameters or hyperparameters), and infer or marginalize over others</a:t>
            </a:r>
          </a:p>
        </p:txBody>
      </p:sp>
      <p:sp>
        <p:nvSpPr>
          <p:cNvPr id="4" name="Slide Number Placeholder 3"/>
          <p:cNvSpPr>
            <a:spLocks noGrp="1"/>
          </p:cNvSpPr>
          <p:nvPr>
            <p:ph type="sldNum" sz="quarter" idx="12"/>
          </p:nvPr>
        </p:nvSpPr>
        <p:spPr/>
        <p:txBody>
          <a:bodyPr/>
          <a:lstStyle/>
          <a:p>
            <a:fld id="{3CFF3AF9-2D61-8E40-AE3D-8390D801ED2C}" type="slidenum">
              <a:rPr lang="en-US" smtClean="0"/>
              <a:t>27</a:t>
            </a:fld>
            <a:endParaRPr lang="en-US"/>
          </a:p>
        </p:txBody>
      </p:sp>
      <p:sp>
        <p:nvSpPr>
          <p:cNvPr id="5" name="TextBox 4"/>
          <p:cNvSpPr txBox="1"/>
          <p:nvPr/>
        </p:nvSpPr>
        <p:spPr>
          <a:xfrm>
            <a:off x="7471711" y="5715448"/>
            <a:ext cx="1441420" cy="461665"/>
          </a:xfrm>
          <a:prstGeom prst="rect">
            <a:avLst/>
          </a:prstGeom>
          <a:noFill/>
        </p:spPr>
        <p:txBody>
          <a:bodyPr wrap="none" rtlCol="0">
            <a:spAutoFit/>
          </a:bodyPr>
          <a:lstStyle/>
          <a:p>
            <a:r>
              <a:rPr lang="en-US" sz="2400" dirty="0"/>
              <a:t>* typically</a:t>
            </a:r>
          </a:p>
        </p:txBody>
      </p:sp>
    </p:spTree>
    <p:extLst>
      <p:ext uri="{BB962C8B-B14F-4D97-AF65-F5344CB8AC3E}">
        <p14:creationId xmlns:p14="http://schemas.microsoft.com/office/powerpoint/2010/main" val="315802017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Markov Chain Monte Carlo (MCMC)</a:t>
            </a:r>
          </a:p>
        </p:txBody>
      </p:sp>
      <p:sp>
        <p:nvSpPr>
          <p:cNvPr id="3" name="Content Placeholder 2"/>
          <p:cNvSpPr>
            <a:spLocks noGrp="1"/>
          </p:cNvSpPr>
          <p:nvPr>
            <p:ph idx="1"/>
          </p:nvPr>
        </p:nvSpPr>
        <p:spPr/>
        <p:txBody>
          <a:bodyPr/>
          <a:lstStyle/>
          <a:p>
            <a:r>
              <a:rPr lang="en-US" dirty="0"/>
              <a:t>MCMC algorithms are widely used in Bayesian modeling but also useful more generally</a:t>
            </a:r>
          </a:p>
          <a:p>
            <a:r>
              <a:rPr lang="en-US" dirty="0"/>
              <a:t>can be used to generate samples from distributions that are hard to sample from</a:t>
            </a:r>
          </a:p>
          <a:p>
            <a:r>
              <a:rPr lang="en-US" dirty="0"/>
              <a:t>samples can be used to estimate quantities of interest</a:t>
            </a:r>
          </a:p>
          <a:p>
            <a:r>
              <a:rPr lang="en-US" dirty="0"/>
              <a:t>these estimates are unbiased</a:t>
            </a:r>
          </a:p>
        </p:txBody>
      </p:sp>
      <p:sp>
        <p:nvSpPr>
          <p:cNvPr id="4" name="Slide Number Placeholder 3"/>
          <p:cNvSpPr>
            <a:spLocks noGrp="1"/>
          </p:cNvSpPr>
          <p:nvPr>
            <p:ph type="sldNum" sz="quarter" idx="12"/>
          </p:nvPr>
        </p:nvSpPr>
        <p:spPr/>
        <p:txBody>
          <a:bodyPr/>
          <a:lstStyle/>
          <a:p>
            <a:fld id="{3CFF3AF9-2D61-8E40-AE3D-8390D801ED2C}" type="slidenum">
              <a:rPr lang="en-US" smtClean="0"/>
              <a:t>28</a:t>
            </a:fld>
            <a:endParaRPr lang="en-US"/>
          </a:p>
        </p:txBody>
      </p:sp>
    </p:spTree>
    <p:extLst>
      <p:ext uri="{BB962C8B-B14F-4D97-AF65-F5344CB8AC3E}">
        <p14:creationId xmlns:p14="http://schemas.microsoft.com/office/powerpoint/2010/main" val="118524879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Gibbs Sampling</a:t>
            </a:r>
          </a:p>
        </p:txBody>
      </p:sp>
      <p:sp>
        <p:nvSpPr>
          <p:cNvPr id="3" name="Content Placeholder 2"/>
          <p:cNvSpPr>
            <a:spLocks noGrp="1"/>
          </p:cNvSpPr>
          <p:nvPr>
            <p:ph idx="1"/>
          </p:nvPr>
        </p:nvSpPr>
        <p:spPr/>
        <p:txBody>
          <a:bodyPr/>
          <a:lstStyle/>
          <a:p>
            <a:r>
              <a:rPr lang="en-US" dirty="0"/>
              <a:t>Gibbs sampling is the simplest and most widely-used MCMC algorithm (at least in NLP)</a:t>
            </a:r>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29</a:t>
            </a:fld>
            <a:endParaRPr lang="en-US"/>
          </a:p>
        </p:txBody>
      </p:sp>
    </p:spTree>
    <p:extLst>
      <p:ext uri="{BB962C8B-B14F-4D97-AF65-F5344CB8AC3E}">
        <p14:creationId xmlns:p14="http://schemas.microsoft.com/office/powerpoint/2010/main" val="2028532921"/>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Gibbs Sampling Template</a:t>
            </a:r>
          </a:p>
        </p:txBody>
      </p:sp>
      <p:sp>
        <p:nvSpPr>
          <p:cNvPr id="4" name="Slide Number Placeholder 3"/>
          <p:cNvSpPr>
            <a:spLocks noGrp="1"/>
          </p:cNvSpPr>
          <p:nvPr>
            <p:ph type="sldNum" sz="quarter" idx="12"/>
          </p:nvPr>
        </p:nvSpPr>
        <p:spPr/>
        <p:txBody>
          <a:bodyPr/>
          <a:lstStyle/>
          <a:p>
            <a:fld id="{3CFF3AF9-2D61-8E40-AE3D-8390D801ED2C}" type="slidenum">
              <a:rPr lang="en-US" smtClean="0"/>
              <a:t>30</a:t>
            </a:fld>
            <a:endParaRPr lang="en-US"/>
          </a:p>
        </p:txBody>
      </p:sp>
      <p:pic>
        <p:nvPicPr>
          <p:cNvPr id="7" name="Picture 6"/>
          <p:cNvPicPr>
            <a:picLocks noChangeAspect="1"/>
          </p:cNvPicPr>
          <p:nvPr/>
        </p:nvPicPr>
        <p:blipFill>
          <a:blip r:embed="rId3"/>
          <a:stretch>
            <a:fillRect/>
          </a:stretch>
        </p:blipFill>
        <p:spPr>
          <a:xfrm>
            <a:off x="1079500" y="1225156"/>
            <a:ext cx="6972300" cy="1435100"/>
          </a:xfrm>
          <a:prstGeom prst="rect">
            <a:avLst/>
          </a:prstGeom>
        </p:spPr>
      </p:pic>
      <p:pic>
        <p:nvPicPr>
          <p:cNvPr id="8" name="Picture 7"/>
          <p:cNvPicPr>
            <a:picLocks noChangeAspect="1"/>
          </p:cNvPicPr>
          <p:nvPr/>
        </p:nvPicPr>
        <p:blipFill>
          <a:blip r:embed="rId4"/>
          <a:stretch>
            <a:fillRect/>
          </a:stretch>
        </p:blipFill>
        <p:spPr>
          <a:xfrm>
            <a:off x="1079500" y="3206381"/>
            <a:ext cx="5283200" cy="2451100"/>
          </a:xfrm>
          <a:prstGeom prst="rect">
            <a:avLst/>
          </a:prstGeom>
        </p:spPr>
      </p:pic>
    </p:spTree>
    <p:extLst>
      <p:ext uri="{BB962C8B-B14F-4D97-AF65-F5344CB8AC3E}">
        <p14:creationId xmlns:p14="http://schemas.microsoft.com/office/powerpoint/2010/main" val="7858768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84774" y="4023968"/>
            <a:ext cx="8651536" cy="1938992"/>
          </a:xfrm>
          <a:prstGeom prst="rect">
            <a:avLst/>
          </a:prstGeom>
          <a:noFill/>
        </p:spPr>
        <p:txBody>
          <a:bodyPr wrap="none" rtlCol="0">
            <a:spAutoFit/>
          </a:bodyPr>
          <a:lstStyle/>
          <a:p>
            <a:r>
              <a:rPr lang="en-US" sz="2400" dirty="0"/>
              <a:t>At convergence, each time we update any value of any random </a:t>
            </a:r>
          </a:p>
          <a:p>
            <a:r>
              <a:rPr lang="en-US" sz="2400" dirty="0"/>
              <a:t>variable in                       , we have another sample from the posterior</a:t>
            </a:r>
          </a:p>
          <a:p>
            <a:endParaRPr lang="en-US" sz="2400" dirty="0"/>
          </a:p>
          <a:p>
            <a:r>
              <a:rPr lang="en-US" sz="2400" dirty="0"/>
              <a:t>these samples can be used to estimate any quantity of interest </a:t>
            </a:r>
          </a:p>
          <a:p>
            <a:r>
              <a:rPr lang="en-US" sz="2400" dirty="0"/>
              <a:t>while offering some nice theoretical properties</a:t>
            </a:r>
          </a:p>
        </p:txBody>
      </p:sp>
      <p:sp>
        <p:nvSpPr>
          <p:cNvPr id="2" name="Title 1"/>
          <p:cNvSpPr>
            <a:spLocks noGrp="1"/>
          </p:cNvSpPr>
          <p:nvPr>
            <p:ph type="title"/>
          </p:nvPr>
        </p:nvSpPr>
        <p:spPr/>
        <p:txBody>
          <a:bodyPr>
            <a:normAutofit fontScale="90000"/>
          </a:bodyPr>
          <a:lstStyle/>
          <a:p>
            <a:r>
              <a:rPr lang="en-US" dirty="0"/>
              <a:t>Gibbs Sampling Template</a:t>
            </a:r>
          </a:p>
        </p:txBody>
      </p:sp>
      <p:sp>
        <p:nvSpPr>
          <p:cNvPr id="4" name="Slide Number Placeholder 3"/>
          <p:cNvSpPr>
            <a:spLocks noGrp="1"/>
          </p:cNvSpPr>
          <p:nvPr>
            <p:ph type="sldNum" sz="quarter" idx="12"/>
          </p:nvPr>
        </p:nvSpPr>
        <p:spPr/>
        <p:txBody>
          <a:bodyPr/>
          <a:lstStyle/>
          <a:p>
            <a:fld id="{3CFF3AF9-2D61-8E40-AE3D-8390D801ED2C}" type="slidenum">
              <a:rPr lang="en-US" smtClean="0"/>
              <a:t>31</a:t>
            </a:fld>
            <a:endParaRPr lang="en-US"/>
          </a:p>
        </p:txBody>
      </p:sp>
      <p:pic>
        <p:nvPicPr>
          <p:cNvPr id="7" name="Picture 6"/>
          <p:cNvPicPr>
            <a:picLocks noChangeAspect="1"/>
          </p:cNvPicPr>
          <p:nvPr/>
        </p:nvPicPr>
        <p:blipFill rotWithShape="1">
          <a:blip r:embed="rId2"/>
          <a:srcRect r="78965" b="74336"/>
          <a:stretch/>
        </p:blipFill>
        <p:spPr>
          <a:xfrm>
            <a:off x="1896890" y="4463016"/>
            <a:ext cx="1466631" cy="368300"/>
          </a:xfrm>
          <a:prstGeom prst="rect">
            <a:avLst/>
          </a:prstGeom>
        </p:spPr>
      </p:pic>
      <p:pic>
        <p:nvPicPr>
          <p:cNvPr id="8" name="Picture 7"/>
          <p:cNvPicPr>
            <a:picLocks noChangeAspect="1"/>
          </p:cNvPicPr>
          <p:nvPr/>
        </p:nvPicPr>
        <p:blipFill>
          <a:blip r:embed="rId3"/>
          <a:stretch>
            <a:fillRect/>
          </a:stretch>
        </p:blipFill>
        <p:spPr>
          <a:xfrm>
            <a:off x="2332640" y="1337277"/>
            <a:ext cx="4478720" cy="2077868"/>
          </a:xfrm>
          <a:prstGeom prst="rect">
            <a:avLst/>
          </a:prstGeom>
        </p:spPr>
      </p:pic>
    </p:spTree>
    <p:extLst>
      <p:ext uri="{BB962C8B-B14F-4D97-AF65-F5344CB8AC3E}">
        <p14:creationId xmlns:p14="http://schemas.microsoft.com/office/powerpoint/2010/main" val="3582363329"/>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41540" y="3763837"/>
            <a:ext cx="8743331" cy="3046988"/>
          </a:xfrm>
          <a:prstGeom prst="rect">
            <a:avLst/>
          </a:prstGeom>
          <a:noFill/>
        </p:spPr>
        <p:txBody>
          <a:bodyPr wrap="square" rtlCol="0">
            <a:spAutoFit/>
          </a:bodyPr>
          <a:lstStyle/>
          <a:p>
            <a:r>
              <a:rPr lang="en-US" sz="2400" dirty="0"/>
              <a:t>nearby samples are not necessarily uncorrelated, so it can take many samples for good estimates, especially of rare events</a:t>
            </a:r>
          </a:p>
          <a:p>
            <a:endParaRPr lang="en-US" sz="2400" dirty="0"/>
          </a:p>
          <a:p>
            <a:r>
              <a:rPr lang="en-US" sz="2400" dirty="0"/>
              <a:t>guarantees are at convergence</a:t>
            </a:r>
          </a:p>
          <a:p>
            <a:endParaRPr lang="en-US" sz="2400" dirty="0"/>
          </a:p>
          <a:p>
            <a:r>
              <a:rPr lang="en-US" sz="2400" dirty="0"/>
              <a:t>“burn-in” time can be hard to estimate &amp; depends on initialization</a:t>
            </a:r>
          </a:p>
          <a:p>
            <a:endParaRPr lang="en-US" sz="2400" dirty="0"/>
          </a:p>
          <a:p>
            <a:endParaRPr lang="en-US" sz="2400" dirty="0"/>
          </a:p>
        </p:txBody>
      </p:sp>
      <p:sp>
        <p:nvSpPr>
          <p:cNvPr id="2" name="Title 1"/>
          <p:cNvSpPr>
            <a:spLocks noGrp="1"/>
          </p:cNvSpPr>
          <p:nvPr>
            <p:ph type="title"/>
          </p:nvPr>
        </p:nvSpPr>
        <p:spPr/>
        <p:txBody>
          <a:bodyPr>
            <a:normAutofit fontScale="90000"/>
          </a:bodyPr>
          <a:lstStyle/>
          <a:p>
            <a:r>
              <a:rPr lang="en-US" dirty="0"/>
              <a:t>Disadvantages of Gibbs Sampling?</a:t>
            </a:r>
          </a:p>
        </p:txBody>
      </p:sp>
      <p:sp>
        <p:nvSpPr>
          <p:cNvPr id="4" name="Slide Number Placeholder 3"/>
          <p:cNvSpPr>
            <a:spLocks noGrp="1"/>
          </p:cNvSpPr>
          <p:nvPr>
            <p:ph type="sldNum" sz="quarter" idx="12"/>
          </p:nvPr>
        </p:nvSpPr>
        <p:spPr/>
        <p:txBody>
          <a:bodyPr/>
          <a:lstStyle/>
          <a:p>
            <a:fld id="{3CFF3AF9-2D61-8E40-AE3D-8390D801ED2C}" type="slidenum">
              <a:rPr lang="en-US" smtClean="0"/>
              <a:t>32</a:t>
            </a:fld>
            <a:endParaRPr lang="en-US"/>
          </a:p>
        </p:txBody>
      </p:sp>
      <p:pic>
        <p:nvPicPr>
          <p:cNvPr id="6" name="Picture 5">
            <a:extLst>
              <a:ext uri="{FF2B5EF4-FFF2-40B4-BE49-F238E27FC236}">
                <a16:creationId xmlns="" xmlns:a16="http://schemas.microsoft.com/office/drawing/2014/main" id="{9A528801-089E-8A47-997E-5BD2DE6CD7D9}"/>
              </a:ext>
            </a:extLst>
          </p:cNvPr>
          <p:cNvPicPr>
            <a:picLocks noChangeAspect="1"/>
          </p:cNvPicPr>
          <p:nvPr/>
        </p:nvPicPr>
        <p:blipFill>
          <a:blip r:embed="rId2"/>
          <a:stretch>
            <a:fillRect/>
          </a:stretch>
        </p:blipFill>
        <p:spPr>
          <a:xfrm>
            <a:off x="2332640" y="1337277"/>
            <a:ext cx="4478720" cy="2077868"/>
          </a:xfrm>
          <a:prstGeom prst="rect">
            <a:avLst/>
          </a:prstGeom>
        </p:spPr>
      </p:pic>
    </p:spTree>
    <p:extLst>
      <p:ext uri="{BB962C8B-B14F-4D97-AF65-F5344CB8AC3E}">
        <p14:creationId xmlns:p14="http://schemas.microsoft.com/office/powerpoint/2010/main" val="414533224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636" y="230909"/>
            <a:ext cx="8809182" cy="5895255"/>
          </a:xfrm>
        </p:spPr>
        <p:txBody>
          <a:bodyPr>
            <a:normAutofit lnSpcReduction="10000"/>
          </a:bodyPr>
          <a:lstStyle/>
          <a:p>
            <a:r>
              <a:rPr lang="en-US" dirty="0" smtClean="0"/>
              <a:t>Gibbs sampling is simple and has nice guarantees, but it can be tricky to derive for NLP models</a:t>
            </a:r>
          </a:p>
          <a:p>
            <a:endParaRPr lang="en-US" dirty="0" smtClean="0"/>
          </a:p>
          <a:p>
            <a:r>
              <a:rPr lang="en-US" dirty="0" smtClean="0"/>
              <a:t>why? we just need to sample each random variable conditioned on all the others</a:t>
            </a:r>
          </a:p>
          <a:p>
            <a:endParaRPr lang="en-US" dirty="0" smtClean="0"/>
          </a:p>
          <a:p>
            <a:r>
              <a:rPr lang="en-US" dirty="0" smtClean="0"/>
              <a:t>in certain kinds of NLP models, hard to define the random variables!</a:t>
            </a:r>
          </a:p>
          <a:p>
            <a:endParaRPr lang="en-US" dirty="0" smtClean="0"/>
          </a:p>
          <a:p>
            <a:r>
              <a:rPr lang="en-US" dirty="0" smtClean="0"/>
              <a:t>even when we can do this, the sampler might be very slow to converge (“mix slowly”)</a:t>
            </a:r>
          </a:p>
        </p:txBody>
      </p:sp>
      <p:sp>
        <p:nvSpPr>
          <p:cNvPr id="4" name="Slide Number Placeholder 3"/>
          <p:cNvSpPr>
            <a:spLocks noGrp="1"/>
          </p:cNvSpPr>
          <p:nvPr>
            <p:ph type="sldNum" sz="quarter" idx="12"/>
          </p:nvPr>
        </p:nvSpPr>
        <p:spPr/>
        <p:txBody>
          <a:bodyPr/>
          <a:lstStyle/>
          <a:p>
            <a:fld id="{3CFF3AF9-2D61-8E40-AE3D-8390D801ED2C}" type="slidenum">
              <a:rPr lang="en-US" smtClean="0"/>
              <a:t>33</a:t>
            </a:fld>
            <a:endParaRPr lang="en-US"/>
          </a:p>
        </p:txBody>
      </p:sp>
    </p:spTree>
    <p:extLst>
      <p:ext uri="{BB962C8B-B14F-4D97-AF65-F5344CB8AC3E}">
        <p14:creationId xmlns:p14="http://schemas.microsoft.com/office/powerpoint/2010/main" val="341967968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398"/>
            <a:ext cx="8229600" cy="726831"/>
          </a:xfrm>
        </p:spPr>
        <p:txBody>
          <a:bodyPr>
            <a:noAutofit/>
          </a:bodyPr>
          <a:lstStyle/>
          <a:p>
            <a:r>
              <a:rPr lang="en-US" sz="2800" dirty="0" smtClean="0"/>
              <a:t>Example: Phrase Alignments in Machine Translation</a:t>
            </a:r>
            <a:endParaRPr lang="en-US" sz="2800" dirty="0"/>
          </a:p>
        </p:txBody>
      </p:sp>
      <p:sp>
        <p:nvSpPr>
          <p:cNvPr id="4" name="Slide Number Placeholder 3"/>
          <p:cNvSpPr>
            <a:spLocks noGrp="1"/>
          </p:cNvSpPr>
          <p:nvPr>
            <p:ph type="sldNum" sz="quarter" idx="12"/>
          </p:nvPr>
        </p:nvSpPr>
        <p:spPr/>
        <p:txBody>
          <a:bodyPr/>
          <a:lstStyle/>
          <a:p>
            <a:fld id="{3CFF3AF9-2D61-8E40-AE3D-8390D801ED2C}" type="slidenum">
              <a:rPr lang="en-US" smtClean="0"/>
              <a:t>34</a:t>
            </a:fld>
            <a:endParaRPr lang="en-US"/>
          </a:p>
        </p:txBody>
      </p:sp>
      <p:pic>
        <p:nvPicPr>
          <p:cNvPr id="7" name="Picture 6" descr="Screen Shot 2019-05-20 at 11.55.08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1545" y="1100959"/>
            <a:ext cx="3596408" cy="4169541"/>
          </a:xfrm>
          <a:prstGeom prst="rect">
            <a:avLst/>
          </a:prstGeom>
        </p:spPr>
      </p:pic>
      <p:sp>
        <p:nvSpPr>
          <p:cNvPr id="8" name="TextBox 7"/>
          <p:cNvSpPr txBox="1"/>
          <p:nvPr/>
        </p:nvSpPr>
        <p:spPr>
          <a:xfrm>
            <a:off x="1420092" y="5890478"/>
            <a:ext cx="6823363" cy="830997"/>
          </a:xfrm>
          <a:prstGeom prst="rect">
            <a:avLst/>
          </a:prstGeom>
          <a:noFill/>
        </p:spPr>
        <p:txBody>
          <a:bodyPr wrap="square" rtlCol="0">
            <a:spAutoFit/>
          </a:bodyPr>
          <a:lstStyle/>
          <a:p>
            <a:r>
              <a:rPr lang="en-US" sz="2400" dirty="0" err="1" smtClean="0">
                <a:solidFill>
                  <a:srgbClr val="288CD2"/>
                </a:solidFill>
              </a:rPr>
              <a:t>DeNero</a:t>
            </a:r>
            <a:r>
              <a:rPr lang="en-US" sz="2400" dirty="0" smtClean="0">
                <a:solidFill>
                  <a:srgbClr val="288CD2"/>
                </a:solidFill>
              </a:rPr>
              <a:t> et al. </a:t>
            </a:r>
            <a:r>
              <a:rPr lang="en-US" sz="2400" dirty="0">
                <a:solidFill>
                  <a:srgbClr val="288CD2"/>
                </a:solidFill>
              </a:rPr>
              <a:t>(2008): </a:t>
            </a:r>
            <a:r>
              <a:rPr lang="en-US" sz="2400" i="1" dirty="0">
                <a:solidFill>
                  <a:srgbClr val="288CD2"/>
                </a:solidFill>
              </a:rPr>
              <a:t>Sampling Alignment Structure under a Bayesian Translation </a:t>
            </a:r>
            <a:r>
              <a:rPr lang="en-US" sz="2400" i="1" dirty="0" smtClean="0">
                <a:solidFill>
                  <a:srgbClr val="288CD2"/>
                </a:solidFill>
              </a:rPr>
              <a:t>Model</a:t>
            </a:r>
            <a:endParaRPr lang="en-US" sz="2400" i="1" dirty="0">
              <a:solidFill>
                <a:srgbClr val="288CD2"/>
              </a:solidFill>
            </a:endParaRPr>
          </a:p>
        </p:txBody>
      </p:sp>
    </p:spTree>
    <p:extLst>
      <p:ext uri="{BB962C8B-B14F-4D97-AF65-F5344CB8AC3E}">
        <p14:creationId xmlns:p14="http://schemas.microsoft.com/office/powerpoint/2010/main" val="2148940223"/>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398"/>
            <a:ext cx="8229600" cy="726831"/>
          </a:xfrm>
        </p:spPr>
        <p:txBody>
          <a:bodyPr>
            <a:noAutofit/>
          </a:bodyPr>
          <a:lstStyle/>
          <a:p>
            <a:r>
              <a:rPr lang="en-US" sz="2800" dirty="0" smtClean="0"/>
              <a:t>Example: Phrase Alignments in Machine Translation</a:t>
            </a:r>
            <a:endParaRPr lang="en-US" sz="2800" dirty="0"/>
          </a:p>
        </p:txBody>
      </p:sp>
      <p:sp>
        <p:nvSpPr>
          <p:cNvPr id="4" name="Slide Number Placeholder 3"/>
          <p:cNvSpPr>
            <a:spLocks noGrp="1"/>
          </p:cNvSpPr>
          <p:nvPr>
            <p:ph type="sldNum" sz="quarter" idx="12"/>
          </p:nvPr>
        </p:nvSpPr>
        <p:spPr/>
        <p:txBody>
          <a:bodyPr/>
          <a:lstStyle/>
          <a:p>
            <a:fld id="{3CFF3AF9-2D61-8E40-AE3D-8390D801ED2C}" type="slidenum">
              <a:rPr lang="en-US" smtClean="0"/>
              <a:t>35</a:t>
            </a:fld>
            <a:endParaRPr lang="en-US"/>
          </a:p>
        </p:txBody>
      </p:sp>
      <p:pic>
        <p:nvPicPr>
          <p:cNvPr id="5" name="Picture 4" descr="Screen Shot 2019-05-20 at 11.51.38 AM.png"/>
          <p:cNvPicPr>
            <a:picLocks noChangeAspect="1"/>
          </p:cNvPicPr>
          <p:nvPr/>
        </p:nvPicPr>
        <p:blipFill rotWithShape="1">
          <a:blip r:embed="rId2">
            <a:extLst>
              <a:ext uri="{28A0092B-C50C-407E-A947-70E740481C1C}">
                <a14:useLocalDpi xmlns:a14="http://schemas.microsoft.com/office/drawing/2010/main" val="0"/>
              </a:ext>
            </a:extLst>
          </a:blip>
          <a:srcRect b="10101"/>
          <a:stretch/>
        </p:blipFill>
        <p:spPr>
          <a:xfrm>
            <a:off x="-20802" y="658092"/>
            <a:ext cx="4349199" cy="6165273"/>
          </a:xfrm>
          <a:prstGeom prst="rect">
            <a:avLst/>
          </a:prstGeom>
        </p:spPr>
      </p:pic>
      <p:pic>
        <p:nvPicPr>
          <p:cNvPr id="6" name="Picture 5" descr="Screen Shot 2019-05-20 at 11.51.54 AM.png"/>
          <p:cNvPicPr>
            <a:picLocks noChangeAspect="1"/>
          </p:cNvPicPr>
          <p:nvPr/>
        </p:nvPicPr>
        <p:blipFill rotWithShape="1">
          <a:blip r:embed="rId3">
            <a:extLst>
              <a:ext uri="{28A0092B-C50C-407E-A947-70E740481C1C}">
                <a14:useLocalDpi xmlns:a14="http://schemas.microsoft.com/office/drawing/2010/main" val="0"/>
              </a:ext>
            </a:extLst>
          </a:blip>
          <a:srcRect b="15152"/>
          <a:stretch/>
        </p:blipFill>
        <p:spPr>
          <a:xfrm>
            <a:off x="4547752" y="912096"/>
            <a:ext cx="4575266" cy="5818909"/>
          </a:xfrm>
          <a:prstGeom prst="rect">
            <a:avLst/>
          </a:prstGeom>
        </p:spPr>
      </p:pic>
      <p:cxnSp>
        <p:nvCxnSpPr>
          <p:cNvPr id="7" name="Straight Connector 6"/>
          <p:cNvCxnSpPr/>
          <p:nvPr/>
        </p:nvCxnSpPr>
        <p:spPr>
          <a:xfrm>
            <a:off x="4410364" y="771229"/>
            <a:ext cx="0" cy="608677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2024858"/>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Graphical Models in NLP?</a:t>
            </a:r>
            <a:endParaRPr lang="en-US" dirty="0"/>
          </a:p>
        </p:txBody>
      </p:sp>
      <p:sp>
        <p:nvSpPr>
          <p:cNvPr id="3" name="Content Placeholder 2"/>
          <p:cNvSpPr>
            <a:spLocks noGrp="1"/>
          </p:cNvSpPr>
          <p:nvPr>
            <p:ph idx="1"/>
          </p:nvPr>
        </p:nvSpPr>
        <p:spPr/>
        <p:txBody>
          <a:bodyPr>
            <a:normAutofit/>
          </a:bodyPr>
          <a:lstStyle/>
          <a:p>
            <a:r>
              <a:rPr lang="en-US" dirty="0" smtClean="0"/>
              <a:t>Gibbs sampling is easy to apply to graphical models, but graphical models are not a good fit for certain tasks/models in NLP:</a:t>
            </a:r>
          </a:p>
          <a:p>
            <a:pPr lvl="1"/>
            <a:r>
              <a:rPr lang="en-US" dirty="0" smtClean="0"/>
              <a:t>segmentation</a:t>
            </a:r>
          </a:p>
          <a:p>
            <a:pPr lvl="1"/>
            <a:r>
              <a:rPr lang="en-US" dirty="0" smtClean="0"/>
              <a:t>context</a:t>
            </a:r>
            <a:r>
              <a:rPr lang="en-US" dirty="0"/>
              <a:t>-free </a:t>
            </a:r>
            <a:r>
              <a:rPr lang="en-US" dirty="0" smtClean="0"/>
              <a:t>grammars (see case-factor diagrams; </a:t>
            </a:r>
            <a:r>
              <a:rPr lang="en-US" dirty="0" err="1" smtClean="0"/>
              <a:t>McAllester</a:t>
            </a:r>
            <a:r>
              <a:rPr lang="en-US" dirty="0" smtClean="0"/>
              <a:t> et al., 2007)</a:t>
            </a:r>
          </a:p>
          <a:p>
            <a:pPr lvl="1"/>
            <a:r>
              <a:rPr lang="en-US" dirty="0" smtClean="0"/>
              <a:t>finite</a:t>
            </a:r>
            <a:r>
              <a:rPr lang="en-US" dirty="0"/>
              <a:t>-state </a:t>
            </a:r>
            <a:r>
              <a:rPr lang="en-US" dirty="0" smtClean="0"/>
              <a:t>automata</a:t>
            </a:r>
          </a:p>
          <a:p>
            <a:pPr lvl="1"/>
            <a:r>
              <a:rPr lang="en-US" dirty="0" smtClean="0"/>
              <a:t>models </a:t>
            </a:r>
            <a:r>
              <a:rPr lang="en-US" dirty="0"/>
              <a:t>over paths in </a:t>
            </a:r>
            <a:r>
              <a:rPr lang="en-US" dirty="0" smtClean="0"/>
              <a:t>graphs</a:t>
            </a:r>
          </a:p>
          <a:p>
            <a:pPr lvl="1"/>
            <a:r>
              <a:rPr lang="en-US" dirty="0" smtClean="0"/>
              <a:t>models over </a:t>
            </a:r>
            <a:r>
              <a:rPr lang="en-US" dirty="0" err="1" smtClean="0"/>
              <a:t>hyperpaths</a:t>
            </a:r>
            <a:r>
              <a:rPr lang="en-US" dirty="0" smtClean="0"/>
              <a:t> in </a:t>
            </a:r>
            <a:r>
              <a:rPr lang="en-US" dirty="0" err="1" smtClean="0"/>
              <a:t>hypergraphs</a:t>
            </a:r>
            <a:endParaRPr lang="en-US" dirty="0"/>
          </a:p>
          <a:p>
            <a:endParaRPr lang="en-US" dirty="0" smtClean="0"/>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36</a:t>
            </a:fld>
            <a:endParaRPr lang="en-US"/>
          </a:p>
        </p:txBody>
      </p:sp>
    </p:spTree>
    <p:extLst>
      <p:ext uri="{BB962C8B-B14F-4D97-AF65-F5344CB8AC3E}">
        <p14:creationId xmlns:p14="http://schemas.microsoft.com/office/powerpoint/2010/main" val="2514389162"/>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9234" name="Rectangle 2"/>
          <p:cNvSpPr>
            <a:spLocks noGrp="1" noChangeArrowheads="1"/>
          </p:cNvSpPr>
          <p:nvPr>
            <p:ph type="title"/>
          </p:nvPr>
        </p:nvSpPr>
        <p:spPr>
          <a:xfrm>
            <a:off x="-1" y="0"/>
            <a:ext cx="9144001" cy="726831"/>
          </a:xfrm>
        </p:spPr>
        <p:txBody>
          <a:bodyPr>
            <a:noAutofit/>
          </a:bodyPr>
          <a:lstStyle/>
          <a:p>
            <a:r>
              <a:rPr lang="en-US" sz="2800" dirty="0" smtClean="0"/>
              <a:t>Example: Lattice for Phrase-Based Machine Translation</a:t>
            </a:r>
            <a:endParaRPr lang="en-US" sz="2800" dirty="0"/>
          </a:p>
        </p:txBody>
      </p:sp>
      <p:pic>
        <p:nvPicPr>
          <p:cNvPr id="175923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5970" b="14567"/>
          <a:stretch/>
        </p:blipFill>
        <p:spPr bwMode="auto">
          <a:xfrm>
            <a:off x="184150" y="726831"/>
            <a:ext cx="8775700" cy="3071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759236"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6481"/>
          <a:stretch/>
        </p:blipFill>
        <p:spPr bwMode="auto">
          <a:xfrm>
            <a:off x="4318005" y="3974068"/>
            <a:ext cx="2500167" cy="608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extBox 4"/>
          <p:cNvSpPr txBox="1"/>
          <p:nvPr/>
        </p:nvSpPr>
        <p:spPr>
          <a:xfrm>
            <a:off x="241540" y="4871788"/>
            <a:ext cx="8743331" cy="2117503"/>
          </a:xfrm>
          <a:prstGeom prst="rect">
            <a:avLst/>
          </a:prstGeom>
          <a:noFill/>
        </p:spPr>
        <p:txBody>
          <a:bodyPr wrap="square" rtlCol="0">
            <a:spAutoFit/>
          </a:bodyPr>
          <a:lstStyle/>
          <a:p>
            <a:pPr marL="342900" indent="-342900">
              <a:lnSpc>
                <a:spcPct val="110000"/>
              </a:lnSpc>
              <a:buFont typeface="Arial"/>
              <a:buChar char="•"/>
            </a:pPr>
            <a:r>
              <a:rPr lang="en-US" sz="2400" dirty="0" smtClean="0"/>
              <a:t>this is a finite-state transducer: a directed graph where each edge consumes part of the input and outputs a string</a:t>
            </a:r>
          </a:p>
          <a:p>
            <a:pPr marL="342900" indent="-342900">
              <a:lnSpc>
                <a:spcPct val="110000"/>
              </a:lnSpc>
              <a:buFont typeface="Arial"/>
              <a:buChar char="•"/>
            </a:pPr>
            <a:r>
              <a:rPr lang="en-US" sz="2400" dirty="0" smtClean="0"/>
              <a:t>each edge has a score (not shown)</a:t>
            </a:r>
          </a:p>
          <a:p>
            <a:pPr marL="342900" indent="-342900">
              <a:lnSpc>
                <a:spcPct val="110000"/>
              </a:lnSpc>
              <a:buFont typeface="Arial"/>
              <a:buChar char="•"/>
            </a:pPr>
            <a:r>
              <a:rPr lang="en-US" sz="2400" dirty="0" smtClean="0"/>
              <a:t>a translation is a path from the start state to a final state</a:t>
            </a:r>
            <a:endParaRPr lang="en-US" sz="2400" dirty="0"/>
          </a:p>
          <a:p>
            <a:pPr marL="342900" indent="-342900">
              <a:lnSpc>
                <a:spcPct val="110000"/>
              </a:lnSpc>
              <a:buFont typeface="Arial"/>
              <a:buChar char="•"/>
            </a:pPr>
            <a:endParaRPr lang="en-US" sz="2400" dirty="0"/>
          </a:p>
        </p:txBody>
      </p:sp>
      <p:sp>
        <p:nvSpPr>
          <p:cNvPr id="6" name="TextBox 5"/>
          <p:cNvSpPr txBox="1"/>
          <p:nvPr/>
        </p:nvSpPr>
        <p:spPr>
          <a:xfrm>
            <a:off x="0" y="3636290"/>
            <a:ext cx="832187" cy="763286"/>
          </a:xfrm>
          <a:prstGeom prst="rect">
            <a:avLst/>
          </a:prstGeom>
          <a:noFill/>
        </p:spPr>
        <p:txBody>
          <a:bodyPr wrap="square" rtlCol="0">
            <a:spAutoFit/>
          </a:bodyPr>
          <a:lstStyle/>
          <a:p>
            <a:pPr algn="ctr">
              <a:lnSpc>
                <a:spcPct val="90000"/>
              </a:lnSpc>
            </a:pPr>
            <a:r>
              <a:rPr lang="en-US" sz="2400" dirty="0" smtClean="0">
                <a:solidFill>
                  <a:srgbClr val="288CD2"/>
                </a:solidFill>
              </a:rPr>
              <a:t>start</a:t>
            </a:r>
          </a:p>
          <a:p>
            <a:pPr algn="ctr">
              <a:lnSpc>
                <a:spcPct val="90000"/>
              </a:lnSpc>
            </a:pPr>
            <a:r>
              <a:rPr lang="en-US" sz="2400" dirty="0" smtClean="0">
                <a:solidFill>
                  <a:srgbClr val="288CD2"/>
                </a:solidFill>
              </a:rPr>
              <a:t>state</a:t>
            </a:r>
            <a:endParaRPr lang="en-US" sz="2400" dirty="0">
              <a:solidFill>
                <a:srgbClr val="288CD2"/>
              </a:solidFill>
            </a:endParaRPr>
          </a:p>
        </p:txBody>
      </p:sp>
      <p:sp>
        <p:nvSpPr>
          <p:cNvPr id="7" name="TextBox 6"/>
          <p:cNvSpPr txBox="1"/>
          <p:nvPr/>
        </p:nvSpPr>
        <p:spPr>
          <a:xfrm>
            <a:off x="8311813" y="3636290"/>
            <a:ext cx="832187" cy="763286"/>
          </a:xfrm>
          <a:prstGeom prst="rect">
            <a:avLst/>
          </a:prstGeom>
          <a:noFill/>
        </p:spPr>
        <p:txBody>
          <a:bodyPr wrap="square" rtlCol="0">
            <a:spAutoFit/>
          </a:bodyPr>
          <a:lstStyle/>
          <a:p>
            <a:pPr algn="ctr">
              <a:lnSpc>
                <a:spcPct val="90000"/>
              </a:lnSpc>
            </a:pPr>
            <a:r>
              <a:rPr lang="en-US" sz="2400" dirty="0" smtClean="0">
                <a:solidFill>
                  <a:srgbClr val="288CD2"/>
                </a:solidFill>
              </a:rPr>
              <a:t>final</a:t>
            </a:r>
          </a:p>
          <a:p>
            <a:pPr algn="ctr">
              <a:lnSpc>
                <a:spcPct val="90000"/>
              </a:lnSpc>
            </a:pPr>
            <a:r>
              <a:rPr lang="en-US" sz="2400" dirty="0" smtClean="0">
                <a:solidFill>
                  <a:srgbClr val="288CD2"/>
                </a:solidFill>
              </a:rPr>
              <a:t>state</a:t>
            </a:r>
            <a:endParaRPr lang="en-US" sz="2400" dirty="0">
              <a:solidFill>
                <a:srgbClr val="288CD2"/>
              </a:solidFill>
            </a:endParaRPr>
          </a:p>
        </p:txBody>
      </p:sp>
      <p:cxnSp>
        <p:nvCxnSpPr>
          <p:cNvPr id="8" name="Straight Arrow Connector 7">
            <a:extLst>
              <a:ext uri="{FF2B5EF4-FFF2-40B4-BE49-F238E27FC236}">
                <a16:creationId xmlns="" xmlns:a16="http://schemas.microsoft.com/office/drawing/2014/main" id="{C410B830-9BF9-9D44-B299-3C87664A27B1}"/>
              </a:ext>
            </a:extLst>
          </p:cNvPr>
          <p:cNvCxnSpPr>
            <a:cxnSpLocks/>
          </p:cNvCxnSpPr>
          <p:nvPr/>
        </p:nvCxnSpPr>
        <p:spPr>
          <a:xfrm flipV="1">
            <a:off x="415636" y="2832895"/>
            <a:ext cx="228194" cy="803395"/>
          </a:xfrm>
          <a:prstGeom prst="straightConnector1">
            <a:avLst/>
          </a:prstGeom>
          <a:ln w="3810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 xmlns:a16="http://schemas.microsoft.com/office/drawing/2014/main" id="{C410B830-9BF9-9D44-B299-3C87664A27B1}"/>
              </a:ext>
            </a:extLst>
          </p:cNvPr>
          <p:cNvCxnSpPr>
            <a:cxnSpLocks/>
            <a:stCxn id="7" idx="0"/>
          </p:cNvCxnSpPr>
          <p:nvPr/>
        </p:nvCxnSpPr>
        <p:spPr>
          <a:xfrm flipV="1">
            <a:off x="8727907" y="2832896"/>
            <a:ext cx="104366" cy="803394"/>
          </a:xfrm>
          <a:prstGeom prst="straightConnector1">
            <a:avLst/>
          </a:prstGeom>
          <a:ln w="3810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95769" y="3809610"/>
            <a:ext cx="2422236" cy="820738"/>
          </a:xfrm>
          <a:prstGeom prst="rect">
            <a:avLst/>
          </a:prstGeom>
          <a:noFill/>
        </p:spPr>
        <p:txBody>
          <a:bodyPr wrap="square" rtlCol="0">
            <a:spAutoFit/>
          </a:bodyPr>
          <a:lstStyle/>
          <a:p>
            <a:pPr algn="r">
              <a:lnSpc>
                <a:spcPct val="120000"/>
              </a:lnSpc>
            </a:pPr>
            <a:r>
              <a:rPr lang="en-US" sz="2000" dirty="0" smtClean="0">
                <a:solidFill>
                  <a:srgbClr val="288CD2"/>
                </a:solidFill>
              </a:rPr>
              <a:t>German input:</a:t>
            </a:r>
          </a:p>
          <a:p>
            <a:pPr algn="r">
              <a:lnSpc>
                <a:spcPct val="120000"/>
              </a:lnSpc>
            </a:pPr>
            <a:r>
              <a:rPr lang="en-US" sz="2000" dirty="0" smtClean="0">
                <a:solidFill>
                  <a:srgbClr val="288CD2"/>
                </a:solidFill>
              </a:rPr>
              <a:t>English reference:</a:t>
            </a:r>
          </a:p>
        </p:txBody>
      </p:sp>
    </p:spTree>
    <p:extLst>
      <p:ext uri="{BB962C8B-B14F-4D97-AF65-F5344CB8AC3E}">
        <p14:creationId xmlns:p14="http://schemas.microsoft.com/office/powerpoint/2010/main" val="8598182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9474" name="Rectangle 2"/>
          <p:cNvSpPr>
            <a:spLocks noGrp="1" noChangeArrowheads="1"/>
          </p:cNvSpPr>
          <p:nvPr>
            <p:ph type="title"/>
          </p:nvPr>
        </p:nvSpPr>
        <p:spPr/>
        <p:txBody>
          <a:bodyPr>
            <a:normAutofit/>
          </a:bodyPr>
          <a:lstStyle/>
          <a:p>
            <a:r>
              <a:rPr lang="en-US" sz="3600" dirty="0"/>
              <a:t>Phrase Lattice </a:t>
            </a:r>
            <a:r>
              <a:rPr lang="en-US" sz="3600" dirty="0">
                <a:cs typeface="Arial" charset="0"/>
              </a:rPr>
              <a:t>→ </a:t>
            </a:r>
            <a:r>
              <a:rPr lang="en-US" sz="3600" dirty="0"/>
              <a:t>Graphical Model</a:t>
            </a:r>
          </a:p>
        </p:txBody>
      </p:sp>
      <p:pic>
        <p:nvPicPr>
          <p:cNvPr id="17694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1912938"/>
            <a:ext cx="8021637"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769476" name="Rectangle 4"/>
          <p:cNvSpPr>
            <a:spLocks noGrp="1" noChangeArrowheads="1"/>
          </p:cNvSpPr>
          <p:nvPr>
            <p:ph type="body" idx="1"/>
          </p:nvPr>
        </p:nvSpPr>
        <p:spPr>
          <a:xfrm>
            <a:off x="457200" y="866924"/>
            <a:ext cx="8229600" cy="942109"/>
          </a:xfrm>
          <a:noFill/>
          <a:ln/>
        </p:spPr>
        <p:txBody>
          <a:bodyPr>
            <a:noAutofit/>
          </a:bodyPr>
          <a:lstStyle/>
          <a:p>
            <a:r>
              <a:rPr lang="en-US" sz="2800" dirty="0" smtClean="0"/>
              <a:t>each </a:t>
            </a:r>
            <a:r>
              <a:rPr lang="en-US" sz="2800" dirty="0"/>
              <a:t>edge in the phrase lattice is a binary random variable in the graphical model</a:t>
            </a:r>
          </a:p>
        </p:txBody>
      </p:sp>
    </p:spTree>
    <p:extLst>
      <p:ext uri="{BB962C8B-B14F-4D97-AF65-F5344CB8AC3E}">
        <p14:creationId xmlns:p14="http://schemas.microsoft.com/office/powerpoint/2010/main" val="640047499"/>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1912938"/>
            <a:ext cx="8021637"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 name="Rectangle 3"/>
          <p:cNvSpPr txBox="1">
            <a:spLocks noChangeArrowheads="1"/>
          </p:cNvSpPr>
          <p:nvPr/>
        </p:nvSpPr>
        <p:spPr>
          <a:xfrm>
            <a:off x="0" y="127003"/>
            <a:ext cx="9144000" cy="1579418"/>
          </a:xfrm>
          <a:prstGeom prst="rect">
            <a:avLst/>
          </a:prstGeom>
          <a:noFill/>
          <a:ln/>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smtClean="0"/>
              <a:t>consider what happens when we set a variable to 1 (green)</a:t>
            </a:r>
            <a:endParaRPr lang="en-US" sz="2800" dirty="0"/>
          </a:p>
        </p:txBody>
      </p:sp>
    </p:spTree>
    <p:extLst>
      <p:ext uri="{BB962C8B-B14F-4D97-AF65-F5344CB8AC3E}">
        <p14:creationId xmlns:p14="http://schemas.microsoft.com/office/powerpoint/2010/main" val="819270135"/>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35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1906588"/>
            <a:ext cx="8021637" cy="304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773571" name="Rectangle 3"/>
          <p:cNvSpPr>
            <a:spLocks noGrp="1" noChangeArrowheads="1"/>
          </p:cNvSpPr>
          <p:nvPr>
            <p:ph type="body" idx="1"/>
          </p:nvPr>
        </p:nvSpPr>
        <p:spPr>
          <a:xfrm>
            <a:off x="0" y="5338625"/>
            <a:ext cx="9144000" cy="1129142"/>
          </a:xfrm>
          <a:noFill/>
          <a:ln/>
        </p:spPr>
        <p:txBody>
          <a:bodyPr>
            <a:noAutofit/>
          </a:bodyPr>
          <a:lstStyle/>
          <a:p>
            <a:r>
              <a:rPr lang="en-US" sz="2800" dirty="0" smtClean="0"/>
              <a:t>just </a:t>
            </a:r>
            <a:r>
              <a:rPr lang="en-US" sz="2800" dirty="0"/>
              <a:t>by setting </a:t>
            </a:r>
            <a:r>
              <a:rPr lang="en-US" sz="2800" dirty="0" smtClean="0"/>
              <a:t>one </a:t>
            </a:r>
            <a:r>
              <a:rPr lang="en-US" sz="2800" dirty="0"/>
              <a:t>variable to </a:t>
            </a:r>
            <a:r>
              <a:rPr lang="en-US" sz="2800" dirty="0" smtClean="0"/>
              <a:t>1, many other </a:t>
            </a:r>
            <a:r>
              <a:rPr lang="en-US" sz="2800" dirty="0"/>
              <a:t>variables are </a:t>
            </a:r>
            <a:r>
              <a:rPr lang="en-US" sz="2800" dirty="0" smtClean="0"/>
              <a:t>forced to be 0 </a:t>
            </a:r>
            <a:r>
              <a:rPr lang="en-US" sz="2800" dirty="0"/>
              <a:t>or 1 to obey </a:t>
            </a:r>
            <a:r>
              <a:rPr lang="en-US" sz="2800" dirty="0" smtClean="0"/>
              <a:t>path </a:t>
            </a:r>
            <a:r>
              <a:rPr lang="en-US" sz="2800" dirty="0"/>
              <a:t>legality </a:t>
            </a:r>
            <a:r>
              <a:rPr lang="en-US" sz="2800" dirty="0" smtClean="0"/>
              <a:t>constraints</a:t>
            </a:r>
            <a:endParaRPr lang="en-US" sz="2800" dirty="0"/>
          </a:p>
        </p:txBody>
      </p:sp>
    </p:spTree>
    <p:extLst>
      <p:ext uri="{BB962C8B-B14F-4D97-AF65-F5344CB8AC3E}">
        <p14:creationId xmlns:p14="http://schemas.microsoft.com/office/powerpoint/2010/main" val="243098195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35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1906588"/>
            <a:ext cx="8021637" cy="304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773571" name="Rectangle 3"/>
          <p:cNvSpPr>
            <a:spLocks noGrp="1" noChangeArrowheads="1"/>
          </p:cNvSpPr>
          <p:nvPr>
            <p:ph type="body" idx="1"/>
          </p:nvPr>
        </p:nvSpPr>
        <p:spPr>
          <a:xfrm>
            <a:off x="0" y="127003"/>
            <a:ext cx="9144000" cy="1579418"/>
          </a:xfrm>
          <a:noFill/>
          <a:ln/>
        </p:spPr>
        <p:txBody>
          <a:bodyPr>
            <a:noAutofit/>
          </a:bodyPr>
          <a:lstStyle/>
          <a:p>
            <a:r>
              <a:rPr lang="en-US" sz="2800" dirty="0" smtClean="0"/>
              <a:t>long</a:t>
            </a:r>
            <a:r>
              <a:rPr lang="en-US" sz="2800" dirty="0"/>
              <a:t>-distance, deterministic dependencies among variables</a:t>
            </a:r>
          </a:p>
          <a:p>
            <a:r>
              <a:rPr lang="en-US" sz="2800" dirty="0" smtClean="0"/>
              <a:t>known </a:t>
            </a:r>
            <a:r>
              <a:rPr lang="en-US" sz="2800" dirty="0"/>
              <a:t>to be problematic for </a:t>
            </a:r>
            <a:r>
              <a:rPr lang="en-US" sz="2800" dirty="0" smtClean="0"/>
              <a:t>certain inference algorithms (Gibbs </a:t>
            </a:r>
            <a:r>
              <a:rPr lang="en-US" sz="2800" dirty="0"/>
              <a:t>sampling and belief </a:t>
            </a:r>
            <a:r>
              <a:rPr lang="en-US" sz="2800" dirty="0" smtClean="0"/>
              <a:t>propagation)</a:t>
            </a:r>
            <a:endParaRPr lang="en-US" sz="2800" dirty="0"/>
          </a:p>
        </p:txBody>
      </p:sp>
    </p:spTree>
    <p:extLst>
      <p:ext uri="{BB962C8B-B14F-4D97-AF65-F5344CB8AC3E}">
        <p14:creationId xmlns:p14="http://schemas.microsoft.com/office/powerpoint/2010/main" val="3373998326"/>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Graphical Models for Dependency Parsing</a:t>
            </a:r>
            <a:endParaRPr lang="en-US" sz="3600" dirty="0"/>
          </a:p>
        </p:txBody>
      </p:sp>
      <p:sp>
        <p:nvSpPr>
          <p:cNvPr id="3" name="Content Placeholder 2"/>
          <p:cNvSpPr>
            <a:spLocks noGrp="1"/>
          </p:cNvSpPr>
          <p:nvPr>
            <p:ph idx="1"/>
          </p:nvPr>
        </p:nvSpPr>
        <p:spPr>
          <a:xfrm>
            <a:off x="457200" y="3435862"/>
            <a:ext cx="8229600" cy="2383047"/>
          </a:xfrm>
        </p:spPr>
        <p:txBody>
          <a:bodyPr/>
          <a:lstStyle/>
          <a:p>
            <a:r>
              <a:rPr lang="en-US" dirty="0" smtClean="0"/>
              <a:t>define a binary random variable for each pair of words in the sentence</a:t>
            </a:r>
          </a:p>
          <a:p>
            <a:r>
              <a:rPr lang="en-US" dirty="0" smtClean="0"/>
              <a:t>global tree constraint among all random variables (special handling for this constraint)</a:t>
            </a:r>
            <a:endParaRPr lang="en-US" dirty="0"/>
          </a:p>
        </p:txBody>
      </p:sp>
      <p:sp>
        <p:nvSpPr>
          <p:cNvPr id="5" name="TextBox 4"/>
          <p:cNvSpPr txBox="1"/>
          <p:nvPr/>
        </p:nvSpPr>
        <p:spPr>
          <a:xfrm>
            <a:off x="457200" y="6144571"/>
            <a:ext cx="8344352" cy="461665"/>
          </a:xfrm>
          <a:prstGeom prst="rect">
            <a:avLst/>
          </a:prstGeom>
          <a:noFill/>
        </p:spPr>
        <p:txBody>
          <a:bodyPr wrap="none" rtlCol="0">
            <a:spAutoFit/>
          </a:bodyPr>
          <a:lstStyle/>
          <a:p>
            <a:r>
              <a:rPr lang="en-US" sz="2400" dirty="0">
                <a:solidFill>
                  <a:srgbClr val="288CD2"/>
                </a:solidFill>
              </a:rPr>
              <a:t>Smith &amp; Eisner (2008): </a:t>
            </a:r>
            <a:r>
              <a:rPr lang="en-US" sz="2400" i="1" dirty="0">
                <a:solidFill>
                  <a:srgbClr val="288CD2"/>
                </a:solidFill>
              </a:rPr>
              <a:t>Dependency Parsing by Belief </a:t>
            </a:r>
            <a:r>
              <a:rPr lang="en-US" sz="2400" i="1" dirty="0" smtClean="0">
                <a:solidFill>
                  <a:srgbClr val="288CD2"/>
                </a:solidFill>
              </a:rPr>
              <a:t>Propagation</a:t>
            </a:r>
            <a:endParaRPr lang="en-US" sz="2400" i="1" dirty="0">
              <a:solidFill>
                <a:srgbClr val="288CD2"/>
              </a:solidFill>
            </a:endParaRPr>
          </a:p>
        </p:txBody>
      </p:sp>
      <p:pic>
        <p:nvPicPr>
          <p:cNvPr id="6" name="Picture 5" descr="A picture containing object&#10;&#10;Description automatically generated">
            <a:extLst>
              <a:ext uri="{FF2B5EF4-FFF2-40B4-BE49-F238E27FC236}">
                <a16:creationId xmlns="" xmlns:a16="http://schemas.microsoft.com/office/drawing/2014/main" id="{5DF85DF2-7F4D-B248-AD87-57A17FFCB29C}"/>
              </a:ext>
            </a:extLst>
          </p:cNvPr>
          <p:cNvPicPr>
            <a:picLocks noChangeAspect="1"/>
          </p:cNvPicPr>
          <p:nvPr/>
        </p:nvPicPr>
        <p:blipFill>
          <a:blip r:embed="rId2"/>
          <a:stretch>
            <a:fillRect/>
          </a:stretch>
        </p:blipFill>
        <p:spPr>
          <a:xfrm>
            <a:off x="769975" y="898229"/>
            <a:ext cx="7702079" cy="2219044"/>
          </a:xfrm>
          <a:prstGeom prst="rect">
            <a:avLst/>
          </a:prstGeom>
        </p:spPr>
      </p:pic>
    </p:spTree>
    <p:extLst>
      <p:ext uri="{BB962C8B-B14F-4D97-AF65-F5344CB8AC3E}">
        <p14:creationId xmlns:p14="http://schemas.microsoft.com/office/powerpoint/2010/main" val="2740419550"/>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Graphical Models in NLP</a:t>
            </a:r>
            <a:endParaRPr lang="en-US" dirty="0"/>
          </a:p>
        </p:txBody>
      </p:sp>
      <p:sp>
        <p:nvSpPr>
          <p:cNvPr id="3" name="Content Placeholder 2"/>
          <p:cNvSpPr>
            <a:spLocks noGrp="1"/>
          </p:cNvSpPr>
          <p:nvPr>
            <p:ph idx="1"/>
          </p:nvPr>
        </p:nvSpPr>
        <p:spPr/>
        <p:txBody>
          <a:bodyPr>
            <a:normAutofit/>
          </a:bodyPr>
          <a:lstStyle/>
          <a:p>
            <a:r>
              <a:rPr lang="en-US" dirty="0" smtClean="0"/>
              <a:t>we can often come up with a way to define random variables for structured NLP tasks</a:t>
            </a:r>
          </a:p>
          <a:p>
            <a:r>
              <a:rPr lang="en-US" dirty="0" smtClean="0"/>
              <a:t>downside: every variable may have an edge to all others! (global constraints)</a:t>
            </a:r>
          </a:p>
          <a:p>
            <a:r>
              <a:rPr lang="en-US" dirty="0" smtClean="0"/>
              <a:t>global, deterministic potentials can cause issues with certain general-purpose inference algorithms in graphical models</a:t>
            </a:r>
          </a:p>
          <a:p>
            <a:r>
              <a:rPr lang="en-US" dirty="0" smtClean="0"/>
              <a:t>it’s better to use specialized algorithms designed for the global constraints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43</a:t>
            </a:fld>
            <a:endParaRPr lang="en-US"/>
          </a:p>
        </p:txBody>
      </p:sp>
    </p:spTree>
    <p:extLst>
      <p:ext uri="{BB962C8B-B14F-4D97-AF65-F5344CB8AC3E}">
        <p14:creationId xmlns:p14="http://schemas.microsoft.com/office/powerpoint/2010/main" val="16655664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LDA Generative Story</a:t>
            </a:r>
          </a:p>
        </p:txBody>
      </p:sp>
      <p:sp>
        <p:nvSpPr>
          <p:cNvPr id="4" name="Slide Number Placeholder 3"/>
          <p:cNvSpPr>
            <a:spLocks noGrp="1"/>
          </p:cNvSpPr>
          <p:nvPr>
            <p:ph type="sldNum" sz="quarter" idx="12"/>
          </p:nvPr>
        </p:nvSpPr>
        <p:spPr/>
        <p:txBody>
          <a:bodyPr/>
          <a:lstStyle/>
          <a:p>
            <a:fld id="{3CFF3AF9-2D61-8E40-AE3D-8390D801ED2C}" type="slidenum">
              <a:rPr lang="en-US" smtClean="0"/>
              <a:t>44</a:t>
            </a:fld>
            <a:endParaRPr lang="en-US"/>
          </a:p>
        </p:txBody>
      </p:sp>
      <p:pic>
        <p:nvPicPr>
          <p:cNvPr id="6" name="Picture 5"/>
          <p:cNvPicPr>
            <a:picLocks noChangeAspect="1"/>
          </p:cNvPicPr>
          <p:nvPr/>
        </p:nvPicPr>
        <p:blipFill>
          <a:blip r:embed="rId3"/>
          <a:stretch>
            <a:fillRect/>
          </a:stretch>
        </p:blipFill>
        <p:spPr>
          <a:xfrm>
            <a:off x="122552" y="1514227"/>
            <a:ext cx="8910038" cy="2253231"/>
          </a:xfrm>
          <a:prstGeom prst="rect">
            <a:avLst/>
          </a:prstGeom>
        </p:spPr>
      </p:pic>
      <p:sp>
        <p:nvSpPr>
          <p:cNvPr id="7" name="Rectangle 6"/>
          <p:cNvSpPr/>
          <p:nvPr/>
        </p:nvSpPr>
        <p:spPr>
          <a:xfrm>
            <a:off x="15764" y="1220628"/>
            <a:ext cx="9096704" cy="2766639"/>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4"/>
          <a:stretch>
            <a:fillRect/>
          </a:stretch>
        </p:blipFill>
        <p:spPr>
          <a:xfrm>
            <a:off x="5416467" y="4807293"/>
            <a:ext cx="1422400" cy="254000"/>
          </a:xfrm>
          <a:prstGeom prst="rect">
            <a:avLst/>
          </a:prstGeom>
        </p:spPr>
      </p:pic>
      <p:pic>
        <p:nvPicPr>
          <p:cNvPr id="9" name="Picture 8"/>
          <p:cNvPicPr>
            <a:picLocks noChangeAspect="1"/>
          </p:cNvPicPr>
          <p:nvPr/>
        </p:nvPicPr>
        <p:blipFill>
          <a:blip r:embed="rId5"/>
          <a:stretch>
            <a:fillRect/>
          </a:stretch>
        </p:blipFill>
        <p:spPr>
          <a:xfrm>
            <a:off x="5416467" y="5109809"/>
            <a:ext cx="1993900" cy="203200"/>
          </a:xfrm>
          <a:prstGeom prst="rect">
            <a:avLst/>
          </a:prstGeom>
        </p:spPr>
      </p:pic>
      <p:pic>
        <p:nvPicPr>
          <p:cNvPr id="10" name="Picture 9"/>
          <p:cNvPicPr>
            <a:picLocks noChangeAspect="1"/>
          </p:cNvPicPr>
          <p:nvPr/>
        </p:nvPicPr>
        <p:blipFill>
          <a:blip r:embed="rId6"/>
          <a:stretch>
            <a:fillRect/>
          </a:stretch>
        </p:blipFill>
        <p:spPr>
          <a:xfrm>
            <a:off x="5416467" y="5428077"/>
            <a:ext cx="3556000" cy="203200"/>
          </a:xfrm>
          <a:prstGeom prst="rect">
            <a:avLst/>
          </a:prstGeom>
        </p:spPr>
      </p:pic>
      <p:pic>
        <p:nvPicPr>
          <p:cNvPr id="11" name="Picture 10"/>
          <p:cNvPicPr>
            <a:picLocks noChangeAspect="1"/>
          </p:cNvPicPr>
          <p:nvPr/>
        </p:nvPicPr>
        <p:blipFill>
          <a:blip r:embed="rId7"/>
          <a:stretch>
            <a:fillRect/>
          </a:stretch>
        </p:blipFill>
        <p:spPr>
          <a:xfrm>
            <a:off x="5416467" y="5765733"/>
            <a:ext cx="3035300" cy="279400"/>
          </a:xfrm>
          <a:prstGeom prst="rect">
            <a:avLst/>
          </a:prstGeom>
        </p:spPr>
      </p:pic>
      <p:sp>
        <p:nvSpPr>
          <p:cNvPr id="12" name="Rectangle 11"/>
          <p:cNvSpPr/>
          <p:nvPr/>
        </p:nvSpPr>
        <p:spPr>
          <a:xfrm>
            <a:off x="5301142" y="4737759"/>
            <a:ext cx="3731448" cy="1359322"/>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2916751"/>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Graphical Model for LDA</a:t>
            </a:r>
          </a:p>
        </p:txBody>
      </p:sp>
      <p:sp>
        <p:nvSpPr>
          <p:cNvPr id="4" name="Slide Number Placeholder 3"/>
          <p:cNvSpPr>
            <a:spLocks noGrp="1"/>
          </p:cNvSpPr>
          <p:nvPr>
            <p:ph type="sldNum" sz="quarter" idx="12"/>
          </p:nvPr>
        </p:nvSpPr>
        <p:spPr/>
        <p:txBody>
          <a:bodyPr/>
          <a:lstStyle/>
          <a:p>
            <a:fld id="{3CFF3AF9-2D61-8E40-AE3D-8390D801ED2C}" type="slidenum">
              <a:rPr lang="en-US" smtClean="0"/>
              <a:t>45</a:t>
            </a:fld>
            <a:endParaRPr lang="en-US"/>
          </a:p>
        </p:txBody>
      </p:sp>
      <p:pic>
        <p:nvPicPr>
          <p:cNvPr id="5" name="Picture 4"/>
          <p:cNvPicPr>
            <a:picLocks noChangeAspect="1"/>
          </p:cNvPicPr>
          <p:nvPr/>
        </p:nvPicPr>
        <p:blipFill>
          <a:blip r:embed="rId2"/>
          <a:stretch>
            <a:fillRect/>
          </a:stretch>
        </p:blipFill>
        <p:spPr>
          <a:xfrm>
            <a:off x="2089582" y="1451549"/>
            <a:ext cx="5649733" cy="2983907"/>
          </a:xfrm>
          <a:prstGeom prst="rect">
            <a:avLst/>
          </a:prstGeom>
        </p:spPr>
      </p:pic>
    </p:spTree>
    <p:extLst>
      <p:ext uri="{BB962C8B-B14F-4D97-AF65-F5344CB8AC3E}">
        <p14:creationId xmlns:p14="http://schemas.microsoft.com/office/powerpoint/2010/main" val="2652443504"/>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Gibbs Sampling for LDA</a:t>
            </a:r>
          </a:p>
        </p:txBody>
      </p:sp>
      <p:sp>
        <p:nvSpPr>
          <p:cNvPr id="4" name="Slide Number Placeholder 3"/>
          <p:cNvSpPr>
            <a:spLocks noGrp="1"/>
          </p:cNvSpPr>
          <p:nvPr>
            <p:ph type="sldNum" sz="quarter" idx="12"/>
          </p:nvPr>
        </p:nvSpPr>
        <p:spPr/>
        <p:txBody>
          <a:bodyPr/>
          <a:lstStyle/>
          <a:p>
            <a:fld id="{3CFF3AF9-2D61-8E40-AE3D-8390D801ED2C}" type="slidenum">
              <a:rPr lang="en-US" smtClean="0"/>
              <a:t>46</a:t>
            </a:fld>
            <a:endParaRPr lang="en-US"/>
          </a:p>
        </p:txBody>
      </p:sp>
      <p:pic>
        <p:nvPicPr>
          <p:cNvPr id="12" name="Picture 11"/>
          <p:cNvPicPr>
            <a:picLocks noChangeAspect="1"/>
          </p:cNvPicPr>
          <p:nvPr/>
        </p:nvPicPr>
        <p:blipFill>
          <a:blip r:embed="rId3"/>
          <a:stretch>
            <a:fillRect/>
          </a:stretch>
        </p:blipFill>
        <p:spPr>
          <a:xfrm>
            <a:off x="211680" y="1614908"/>
            <a:ext cx="8776345" cy="3620842"/>
          </a:xfrm>
          <a:prstGeom prst="rect">
            <a:avLst/>
          </a:prstGeom>
        </p:spPr>
      </p:pic>
      <p:sp>
        <p:nvSpPr>
          <p:cNvPr id="14" name="Rectangle 13"/>
          <p:cNvSpPr/>
          <p:nvPr/>
        </p:nvSpPr>
        <p:spPr>
          <a:xfrm>
            <a:off x="345372" y="2050289"/>
            <a:ext cx="5470245" cy="4020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457200" y="2476122"/>
            <a:ext cx="5470245" cy="4020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943413" y="4352690"/>
            <a:ext cx="5470245" cy="5043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943413" y="4868136"/>
            <a:ext cx="8200587" cy="4020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44941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Gibbs Sampling for LDA</a:t>
            </a:r>
          </a:p>
        </p:txBody>
      </p:sp>
      <p:sp>
        <p:nvSpPr>
          <p:cNvPr id="4" name="Slide Number Placeholder 3"/>
          <p:cNvSpPr>
            <a:spLocks noGrp="1"/>
          </p:cNvSpPr>
          <p:nvPr>
            <p:ph type="sldNum" sz="quarter" idx="12"/>
          </p:nvPr>
        </p:nvSpPr>
        <p:spPr/>
        <p:txBody>
          <a:bodyPr/>
          <a:lstStyle/>
          <a:p>
            <a:fld id="{3CFF3AF9-2D61-8E40-AE3D-8390D801ED2C}" type="slidenum">
              <a:rPr lang="en-US" smtClean="0"/>
              <a:t>47</a:t>
            </a:fld>
            <a:endParaRPr lang="en-US"/>
          </a:p>
        </p:txBody>
      </p:sp>
      <p:pic>
        <p:nvPicPr>
          <p:cNvPr id="12" name="Picture 11"/>
          <p:cNvPicPr>
            <a:picLocks noChangeAspect="1"/>
          </p:cNvPicPr>
          <p:nvPr/>
        </p:nvPicPr>
        <p:blipFill>
          <a:blip r:embed="rId3"/>
          <a:stretch>
            <a:fillRect/>
          </a:stretch>
        </p:blipFill>
        <p:spPr>
          <a:xfrm>
            <a:off x="211680" y="1614908"/>
            <a:ext cx="8776345" cy="3620842"/>
          </a:xfrm>
          <a:prstGeom prst="rect">
            <a:avLst/>
          </a:prstGeom>
        </p:spPr>
      </p:pic>
    </p:spTree>
    <p:extLst>
      <p:ext uri="{BB962C8B-B14F-4D97-AF65-F5344CB8AC3E}">
        <p14:creationId xmlns:p14="http://schemas.microsoft.com/office/powerpoint/2010/main" val="1437129139"/>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r>
              <a:rPr lang="en-US" dirty="0"/>
              <a:t>we now have a way to generate samples from the posterior for the LDA model</a:t>
            </a:r>
          </a:p>
          <a:p>
            <a:r>
              <a:rPr lang="en-US" dirty="0"/>
              <a:t>how should we do the following?</a:t>
            </a:r>
          </a:p>
          <a:p>
            <a:pPr lvl="1"/>
            <a:r>
              <a:rPr lang="en-US" dirty="0"/>
              <a:t>get topic assignments for each word in the document collection?</a:t>
            </a:r>
          </a:p>
          <a:p>
            <a:pPr lvl="1"/>
            <a:r>
              <a:rPr lang="en-US" dirty="0"/>
              <a:t>get topic distribution for a document?</a:t>
            </a:r>
          </a:p>
          <a:p>
            <a:pPr lvl="1"/>
            <a:r>
              <a:rPr lang="en-US" dirty="0"/>
              <a:t>get estimates of topic-word distributions for each topic?</a:t>
            </a:r>
          </a:p>
        </p:txBody>
      </p:sp>
      <p:sp>
        <p:nvSpPr>
          <p:cNvPr id="4" name="Slide Number Placeholder 3"/>
          <p:cNvSpPr>
            <a:spLocks noGrp="1"/>
          </p:cNvSpPr>
          <p:nvPr>
            <p:ph type="sldNum" sz="quarter" idx="12"/>
          </p:nvPr>
        </p:nvSpPr>
        <p:spPr/>
        <p:txBody>
          <a:bodyPr/>
          <a:lstStyle/>
          <a:p>
            <a:fld id="{3CFF3AF9-2D61-8E40-AE3D-8390D801ED2C}" type="slidenum">
              <a:rPr lang="en-US" smtClean="0"/>
              <a:t>48</a:t>
            </a:fld>
            <a:endParaRPr lang="en-US"/>
          </a:p>
        </p:txBody>
      </p:sp>
    </p:spTree>
    <p:extLst>
      <p:ext uri="{BB962C8B-B14F-4D97-AF65-F5344CB8AC3E}">
        <p14:creationId xmlns:p14="http://schemas.microsoft.com/office/powerpoint/2010/main" val="71920740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79455</TotalTime>
  <Words>5971</Words>
  <Application>Microsoft Macintosh PowerPoint</Application>
  <PresentationFormat>On-screen Show (4:3)</PresentationFormat>
  <Paragraphs>411</Paragraphs>
  <Slides>48</Slides>
  <Notes>24</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TTIC 31210: Advanced Natural Language Processing</vt:lpstr>
      <vt:lpstr>Roadmap</vt:lpstr>
      <vt:lpstr>Assignments</vt:lpstr>
      <vt:lpstr>Motivation</vt:lpstr>
      <vt:lpstr>Motivation</vt:lpstr>
      <vt:lpstr>Going Further…</vt:lpstr>
      <vt:lpstr>Generative Story Template</vt:lpstr>
      <vt:lpstr>PowerPoint Presentation</vt:lpstr>
      <vt:lpstr>PowerPoint Presentation</vt:lpstr>
      <vt:lpstr>Dirichlet Distribution</vt:lpstr>
      <vt:lpstr>PowerPoint Presentation</vt:lpstr>
      <vt:lpstr>Compare Categorical and Dirichlet</vt:lpstr>
      <vt:lpstr>Posterior over Categorical Parameters?</vt:lpstr>
      <vt:lpstr>Posterior over Categorical Parameters?</vt:lpstr>
      <vt:lpstr>Posterior over Categorical Parameters?</vt:lpstr>
      <vt:lpstr>Posterior over Categorical Parameters?</vt:lpstr>
      <vt:lpstr>Posterior over Categorical Parameters?</vt:lpstr>
      <vt:lpstr>Conjugate Priors</vt:lpstr>
      <vt:lpstr>Generative Story Template</vt:lpstr>
      <vt:lpstr>PowerPoint Presentation</vt:lpstr>
      <vt:lpstr>PowerPoint Presentation</vt:lpstr>
      <vt:lpstr>PowerPoint Presentation</vt:lpstr>
      <vt:lpstr>PowerPoint Presentation</vt:lpstr>
      <vt:lpstr>PowerPoint Presentation</vt:lpstr>
      <vt:lpstr>PowerPoint Presentation</vt:lpstr>
      <vt:lpstr>Inference</vt:lpstr>
      <vt:lpstr>Learning?</vt:lpstr>
      <vt:lpstr>Markov Chain Monte Carlo (MCMC)</vt:lpstr>
      <vt:lpstr>Gibbs Sampling</vt:lpstr>
      <vt:lpstr>Gibbs Sampling Template</vt:lpstr>
      <vt:lpstr>Gibbs Sampling Template</vt:lpstr>
      <vt:lpstr>Disadvantages of Gibbs Sampling?</vt:lpstr>
      <vt:lpstr>PowerPoint Presentation</vt:lpstr>
      <vt:lpstr>Example: Phrase Alignments in Machine Translation</vt:lpstr>
      <vt:lpstr>Example: Phrase Alignments in Machine Translation</vt:lpstr>
      <vt:lpstr>Graphical Models in NLP?</vt:lpstr>
      <vt:lpstr>Example: Lattice for Phrase-Based Machine Translation</vt:lpstr>
      <vt:lpstr>Phrase Lattice → Graphical Model</vt:lpstr>
      <vt:lpstr>PowerPoint Presentation</vt:lpstr>
      <vt:lpstr>PowerPoint Presentation</vt:lpstr>
      <vt:lpstr>PowerPoint Presentation</vt:lpstr>
      <vt:lpstr>Graphical Models for Dependency Parsing</vt:lpstr>
      <vt:lpstr>Summary: Graphical Models in NLP</vt:lpstr>
      <vt:lpstr>LDA Generative Story</vt:lpstr>
      <vt:lpstr>Graphical Model for LDA</vt:lpstr>
      <vt:lpstr>Gibbs Sampling for LDA</vt:lpstr>
      <vt:lpstr>Gibbs Sampling for LDA</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TTIC 31190: Natural Language Processing</dc:title>
  <dc:creator>Kevin Gimpel</dc:creator>
  <cp:lastModifiedBy>Kevin</cp:lastModifiedBy>
  <cp:revision>1497</cp:revision>
  <dcterms:created xsi:type="dcterms:W3CDTF">2015-08-31T18:15:35Z</dcterms:created>
  <dcterms:modified xsi:type="dcterms:W3CDTF">2019-05-20T23:29:39Z</dcterms:modified>
</cp:coreProperties>
</file>