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handoutMasterIdLst>
    <p:handoutMasterId r:id="rId82"/>
  </p:handoutMasterIdLst>
  <p:sldIdLst>
    <p:sldId id="256" r:id="rId2"/>
    <p:sldId id="3180" r:id="rId3"/>
    <p:sldId id="3181" r:id="rId4"/>
    <p:sldId id="3203" r:id="rId5"/>
    <p:sldId id="3393" r:id="rId6"/>
    <p:sldId id="3381" r:id="rId7"/>
    <p:sldId id="3382" r:id="rId8"/>
    <p:sldId id="3251" r:id="rId9"/>
    <p:sldId id="3260" r:id="rId10"/>
    <p:sldId id="3281" r:id="rId11"/>
    <p:sldId id="3399" r:id="rId12"/>
    <p:sldId id="3401" r:id="rId13"/>
    <p:sldId id="3400" r:id="rId14"/>
    <p:sldId id="3357" r:id="rId15"/>
    <p:sldId id="3356" r:id="rId16"/>
    <p:sldId id="3352" r:id="rId17"/>
    <p:sldId id="3404" r:id="rId18"/>
    <p:sldId id="3403" r:id="rId19"/>
    <p:sldId id="3405" r:id="rId20"/>
    <p:sldId id="3388" r:id="rId21"/>
    <p:sldId id="3385" r:id="rId22"/>
    <p:sldId id="3386" r:id="rId23"/>
    <p:sldId id="3387" r:id="rId24"/>
    <p:sldId id="3406" r:id="rId25"/>
    <p:sldId id="3389" r:id="rId26"/>
    <p:sldId id="3408" r:id="rId27"/>
    <p:sldId id="3411" r:id="rId28"/>
    <p:sldId id="3409" r:id="rId29"/>
    <p:sldId id="3410" r:id="rId30"/>
    <p:sldId id="3413" r:id="rId31"/>
    <p:sldId id="3414" r:id="rId32"/>
    <p:sldId id="3415" r:id="rId33"/>
    <p:sldId id="3460" r:id="rId34"/>
    <p:sldId id="3461" r:id="rId35"/>
    <p:sldId id="3384" r:id="rId36"/>
    <p:sldId id="3473" r:id="rId37"/>
    <p:sldId id="3355" r:id="rId38"/>
    <p:sldId id="3417" r:id="rId39"/>
    <p:sldId id="3338" r:id="rId40"/>
    <p:sldId id="3339" r:id="rId41"/>
    <p:sldId id="3341" r:id="rId42"/>
    <p:sldId id="3342" r:id="rId43"/>
    <p:sldId id="3340" r:id="rId44"/>
    <p:sldId id="3469" r:id="rId45"/>
    <p:sldId id="3343" r:id="rId46"/>
    <p:sldId id="3419" r:id="rId47"/>
    <p:sldId id="3422" r:id="rId48"/>
    <p:sldId id="3458" r:id="rId49"/>
    <p:sldId id="3470" r:id="rId50"/>
    <p:sldId id="3471" r:id="rId51"/>
    <p:sldId id="3472" r:id="rId52"/>
    <p:sldId id="3466" r:id="rId53"/>
    <p:sldId id="3423" r:id="rId54"/>
    <p:sldId id="3425" r:id="rId55"/>
    <p:sldId id="3426" r:id="rId56"/>
    <p:sldId id="3427" r:id="rId57"/>
    <p:sldId id="3428" r:id="rId58"/>
    <p:sldId id="3432" r:id="rId59"/>
    <p:sldId id="3433" r:id="rId60"/>
    <p:sldId id="3434" r:id="rId61"/>
    <p:sldId id="3435" r:id="rId62"/>
    <p:sldId id="3436" r:id="rId63"/>
    <p:sldId id="3437" r:id="rId64"/>
    <p:sldId id="3438" r:id="rId65"/>
    <p:sldId id="3439" r:id="rId66"/>
    <p:sldId id="3440" r:id="rId67"/>
    <p:sldId id="3441" r:id="rId68"/>
    <p:sldId id="3442" r:id="rId69"/>
    <p:sldId id="3443" r:id="rId70"/>
    <p:sldId id="3444" r:id="rId71"/>
    <p:sldId id="3445" r:id="rId72"/>
    <p:sldId id="3446" r:id="rId73"/>
    <p:sldId id="3447" r:id="rId74"/>
    <p:sldId id="3448" r:id="rId75"/>
    <p:sldId id="3449" r:id="rId76"/>
    <p:sldId id="3450" r:id="rId77"/>
    <p:sldId id="3451" r:id="rId78"/>
    <p:sldId id="3452" r:id="rId79"/>
    <p:sldId id="3453" r:id="rId8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EB5151"/>
    <a:srgbClr val="FFE6E6"/>
    <a:srgbClr val="FFC2C2"/>
    <a:srgbClr val="FF8C8C"/>
    <a:srgbClr val="F76A6A"/>
    <a:srgbClr val="EB0000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3" autoAdjust="0"/>
    <p:restoredTop sz="92869" autoAdjust="0"/>
  </p:normalViewPr>
  <p:slideViewPr>
    <p:cSldViewPr snapToGrid="0" snapToObjects="1">
      <p:cViewPr>
        <p:scale>
          <a:sx n="100" d="100"/>
          <a:sy n="100" d="100"/>
        </p:scale>
        <p:origin x="1808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4/30/19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4/30/19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{classify}(\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{y}}\;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02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{classify}(\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{y}}\;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89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}(\boldsymbol{y}) = \{y_1,...,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y_N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\in\{0,1\}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\!\!\!\sum_{\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{x}_r,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{y}_r\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{y})} \!\!\!\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{x}_r,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{y}_r,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{y}) = \{\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y_1\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ldots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8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 = \{y_1,\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_{T}\}\\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{where each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\in\{1,\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83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55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&lt; m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{x}|: \,\,\,\, L(m, y) &amp;=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\,\left(\,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y) \: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y')\: V(m-1, y')\right)\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\hat{y}_{|\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{x}|} &amp;=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\,\left(\,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 \mid y')\: V(|\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{x}|, y')  \right)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%1 &lt;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T: \,\,\,\, L(t, y) &amp;= \argmax_{y' \in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 \,\,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y) \: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{\tau}}(y \mid y')\: V(t-1, y')\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%\hat{y}_T &amp;= \argmax_{y' \in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 \,\,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{&lt;/s&gt;}} \mid y')\: V(T, y') 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&amp;\hat{y}_{T-1} = L(T, \hat{y}_T)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&amp;\hat{y}_{T-2} = L(T - 1, \hat{y}_{T-1})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&amp;...\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&amp;\hat{y}_{2} = L(3, \hat{y}_{3})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&amp;\hat{y}_{1} = L(2, \hat{y}_{2})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73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&lt; m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{x}|: \,\,\,\, L(m, y) &amp;=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\,\left(\,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y) \: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y')\: V(m-1, y')\right)\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\hat{y}_{|\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{x}|} &amp;=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\,\left(\,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 \mid y')\: V(|\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{x}|, y')  \right)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%1 &lt;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T: \,\,\,\, L(t, y) &amp;= \argmax_{y' \in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 \,\,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y) \: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{\tau}}(y \mid y')\: V(t-1, y')\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%\hat{y}_T &amp;= \argmax_{y' \in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 \,\,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{&lt;/s&gt;}} \mid y')\: V(T, y') 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&amp;\hat{y}_{T-1} = L(T, \hat{y}_T)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&amp;\hat{y}_{T-2} = L(T - 1, \hat{y}_{T-1})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&amp;...\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&amp;\hat{y}_{2} = L(3, \hat{y}_{3})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&amp;\hat{y}_{1} = L(2, \hat{y}_{2})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73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&lt; m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{x}|: \,\,\,\, L(m, y) &amp;=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\,\left(\,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y) \: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y')\: V(m-1, y')\right)\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\hat{y}_{|\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{x}|} &amp;=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\,\left(\,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 \mid y')\: V(|\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{x}|, y')  \right)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%1 &lt; 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T: \,\,\,\, L(t, y) &amp;= \argmax_{y' \in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 \,\,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\mid y) \: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{\tau}}(y \mid y')\: V(t-1, y')\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%\hat{y}_T &amp;= \argmax_{y' \in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 \,\, p_{\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{&lt;/s&gt;}} \mid y')\: V(T, y') 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{let } T = {|\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{x}|}: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&amp;\hat{y}_{T-1} = L(T, \hat{y}_T)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&amp;\hat{y}_{T-2} = L(T - 1, \hat{y}_{T-1})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&amp;...\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&amp;\hat{y}_{2} = L(3, \hat{y}_{3})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&amp;\hat{y}_{1} = L(2, \hat{y}_{2})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73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&amp;V(1,y)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\max_{y'\in\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+ V(m-1, y')\right)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%nlp18:vit-score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&amp;V(1, y)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{w})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&amp;V(m, y) = \max_{y'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{w})\: V(m-1, y') \right)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%&amp;V(1, y) =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{\eta}}(x_1 \mid y)\: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%&amp;V(m, y) = \max_{y' \in \mathcal{L}} \left(\;p_{\boldsymbol{\eta}}(x_m \mid y) \: p_{\boldsymbol{\tau}}(y \mid y')\: V(m-1, y') \right)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%f_{\boldsymbol{\eta}(y',x')}(\vect{x}, \vect{y}) = \sum_{i=1}^{|\boldsymbol{x}|} \mathbb{I}[(y_{i} = y') \wedge (x_i = x')]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{for}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{walk}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= \log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{\eta}}(x' \mid y')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y_{i-1}) \;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uk-U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%&amp;...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9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&amp;\times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y_{\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&amp;\times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y_{\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}})\,\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160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C0EA-AD99-034B-861B-80DAEBD7E6FD}" type="slidenum">
              <a:rPr lang="en-US"/>
              <a:pPr/>
              <a:t>54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on a treebank tree</a:t>
            </a:r>
          </a:p>
        </p:txBody>
      </p:sp>
    </p:spTree>
    <p:extLst>
      <p:ext uri="{BB962C8B-B14F-4D97-AF65-F5344CB8AC3E}">
        <p14:creationId xmlns:p14="http://schemas.microsoft.com/office/powerpoint/2010/main" val="10815194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55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  <p:extLst>
      <p:ext uri="{BB962C8B-B14F-4D97-AF65-F5344CB8AC3E}">
        <p14:creationId xmlns:p14="http://schemas.microsoft.com/office/powerpoint/2010/main" val="28822728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56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  <p:extLst>
      <p:ext uri="{BB962C8B-B14F-4D97-AF65-F5344CB8AC3E}">
        <p14:creationId xmlns:p14="http://schemas.microsoft.com/office/powerpoint/2010/main" val="37037004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8EA1C4-20B1-1D43-87DF-774810F790EC}" type="slidenum">
              <a:rPr lang="en-US"/>
              <a:pPr/>
              <a:t>58</a:t>
            </a:fld>
            <a:endParaRPr lang="en-US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this talk, the key ideas of cube pruning are those listed here:</a:t>
            </a:r>
          </a:p>
          <a:p>
            <a:r>
              <a:rPr lang="en-US"/>
              <a:t>We keep a k-best list of proofs or derivations for each theorem</a:t>
            </a:r>
          </a:p>
          <a:p>
            <a:r>
              <a:rPr lang="en-US"/>
              <a:t>We use these proofs to compute non-local feature functions</a:t>
            </a:r>
          </a:p>
          <a:p>
            <a:r>
              <a:rPr lang="en-US"/>
              <a:t>We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ll now go through an example of cube pruning.</a:t>
            </a:r>
          </a:p>
        </p:txBody>
      </p:sp>
    </p:spTree>
    <p:extLst>
      <p:ext uri="{BB962C8B-B14F-4D97-AF65-F5344CB8AC3E}">
        <p14:creationId xmlns:p14="http://schemas.microsoft.com/office/powerpoint/2010/main" val="2189384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C0EA-AD99-034B-861B-80DAEBD7E6FD}" type="slidenum">
              <a:rPr lang="en-US"/>
              <a:pPr/>
              <a:t>59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on a treebank tree</a:t>
            </a:r>
          </a:p>
        </p:txBody>
      </p:sp>
    </p:spTree>
    <p:extLst>
      <p:ext uri="{BB962C8B-B14F-4D97-AF65-F5344CB8AC3E}">
        <p14:creationId xmlns:p14="http://schemas.microsoft.com/office/powerpoint/2010/main" val="20809877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60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  <p:extLst>
      <p:ext uri="{BB962C8B-B14F-4D97-AF65-F5344CB8AC3E}">
        <p14:creationId xmlns:p14="http://schemas.microsoft.com/office/powerpoint/2010/main" val="27446134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409C8-950C-794B-B1D8-70CFF6ACABF6}" type="slidenum">
              <a:rPr lang="en-US"/>
              <a:pPr/>
              <a:t>61</a:t>
            </a:fld>
            <a:endParaRPr lang="en-US"/>
          </a:p>
        </p:txBody>
      </p:sp>
      <p:sp>
        <p:nvSpPr>
          <p:cNvPr id="58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315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4AD0C3-8E53-F446-9D5E-95778976CD33}" type="slidenum">
              <a:rPr lang="en-US"/>
              <a:pPr/>
              <a:t>62</a:t>
            </a:fld>
            <a:endParaRPr lang="en-US"/>
          </a:p>
        </p:txBody>
      </p:sp>
      <p:sp>
        <p:nvSpPr>
          <p:cNvPr id="57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661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56E3C0-DD76-1349-9186-72BDED2A4FCC}" type="slidenum">
              <a:rPr lang="en-US"/>
              <a:pPr/>
              <a:t>63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about NP going to NP PP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046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C6333A-38C1-9245-B440-D21B7D719F97}" type="slidenum">
              <a:rPr lang="en-US"/>
              <a:pPr/>
              <a:t>64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723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FE7EB3-30F2-984E-99CD-D0E9F97357D6}" type="slidenum">
              <a:rPr lang="en-US"/>
              <a:pPr/>
              <a:t>65</a:t>
            </a:fld>
            <a:endParaRPr lang="en-US"/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Right under the S, when the NP rewrites as NP PP, this feature must look at the proofs (or derivations) of the NP and the PP, so it is non-local.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014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5992F3-29A4-8B46-952A-309DD2C899E2}" type="slidenum">
              <a:rPr lang="en-US"/>
              <a:pPr/>
              <a:t>66</a:t>
            </a:fld>
            <a:endParaRPr lang="en-US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s another example, showing how the feature can look at arbitrarily long sequences of non-terminals depending on the grammar.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60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5992F3-29A4-8B46-952A-309DD2C899E2}" type="slidenum">
              <a:rPr lang="en-US"/>
              <a:pPr/>
              <a:t>67</a:t>
            </a:fld>
            <a:endParaRPr lang="en-US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s another example, showing how the feature can look at arbitrarily long sequences of non-terminals depending on the grammar.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244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F6DECD-5C67-E94C-AEB0-DB305DAE7DD8}" type="slidenum">
              <a:rPr lang="en-US"/>
              <a:pPr/>
              <a:t>68</a:t>
            </a:fld>
            <a:endParaRPr lang="en-US"/>
          </a:p>
        </p:txBody>
      </p:sp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But, non-local features break dynamic programming.  By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break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we mean that we lose our space and runtime guarantees and things become either exponential in general or must become approximate.</a:t>
            </a:r>
          </a:p>
          <a:p>
            <a:endParaRPr lang="en-US"/>
          </a:p>
          <a:p>
            <a:r>
              <a:rPr lang="en-US"/>
              <a:t>It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s sometimes possible to extend dynamic programming algorithms to accommodate extra information for computing these features, but it becomes exponential in general.</a:t>
            </a:r>
          </a:p>
        </p:txBody>
      </p:sp>
    </p:spTree>
    <p:extLst>
      <p:ext uri="{BB962C8B-B14F-4D97-AF65-F5344CB8AC3E}">
        <p14:creationId xmlns:p14="http://schemas.microsoft.com/office/powerpoint/2010/main" val="11996861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69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  <p:extLst>
      <p:ext uri="{BB962C8B-B14F-4D97-AF65-F5344CB8AC3E}">
        <p14:creationId xmlns:p14="http://schemas.microsoft.com/office/powerpoint/2010/main" val="24791230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C9A416-677C-534D-A691-344335199469}" type="slidenum">
              <a:rPr lang="en-US"/>
              <a:pPr/>
              <a:t>70</a:t>
            </a:fld>
            <a:endParaRPr lang="en-US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we see a k-best list for the NP and one for the PP, along with their values. And k equals 3 here.</a:t>
            </a:r>
          </a:p>
          <a:p>
            <a:r>
              <a:rPr lang="en-US"/>
              <a:t>The bold tags are those that differ among proofs, for clarity.</a:t>
            </a:r>
          </a:p>
          <a:p>
            <a:r>
              <a:rPr lang="en-US"/>
              <a:t>The word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has a few different tags in the Penn Treebank. The tag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EX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indicates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existential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while the tag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RB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, normally used for adverbs, here indicates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deictic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as in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here or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.  EX is the more common tag for there but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deictic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is the correct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for this sentence.  In this example, we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ll show how the ngramtree feature helps us get the correct parse.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647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E9B271-76CD-384E-A0E0-F442447CBDD6}" type="slidenum">
              <a:rPr lang="en-US"/>
              <a:pPr/>
              <a:t>71</a:t>
            </a:fld>
            <a:endParaRPr 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proofs of the NP are along the rows and the proofs for the PP are along the columns.</a:t>
            </a:r>
          </a:p>
          <a:p>
            <a:r>
              <a:rPr lang="en-US"/>
              <a:t>The grid will contain the values of the resulting proofs obtained through multiplication.</a:t>
            </a:r>
          </a:p>
          <a:p>
            <a:r>
              <a:rPr lang="en-US"/>
              <a:t>First, we simply multiply the values of the two proofs in each cell.</a:t>
            </a:r>
          </a:p>
        </p:txBody>
      </p:sp>
    </p:spTree>
    <p:extLst>
      <p:ext uri="{BB962C8B-B14F-4D97-AF65-F5344CB8AC3E}">
        <p14:creationId xmlns:p14="http://schemas.microsoft.com/office/powerpoint/2010/main" val="27697264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51E7B4-870C-A841-B2FA-F02B200BA1BF}" type="slidenum">
              <a:rPr lang="en-US"/>
              <a:pPr/>
              <a:t>72</a:t>
            </a:fld>
            <a:endParaRPr lang="en-US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Then, we need to multiply in weights for all local features.  Here, the only local feature is the rule NP goes to NP PP.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79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86CE37-91F3-744C-B663-DB87FF9864F5}" type="slidenum">
              <a:rPr lang="en-US"/>
              <a:pPr/>
              <a:t>73</a:t>
            </a:fld>
            <a:endParaRPr lang="en-US"/>
          </a:p>
        </p:txBody>
      </p:sp>
      <p:sp>
        <p:nvSpPr>
          <p:cNvPr id="51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Next, we need to apply non-local feature functions to each cell in the grid.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105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AA7E4-8439-2F45-9E94-6731A911401F}" type="slidenum">
              <a:rPr lang="en-US"/>
              <a:pPr/>
              <a:t>74</a:t>
            </a:fld>
            <a:endParaRPr lang="en-US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Shown in the upper-left is the NGramTree feature template for the first cell in the grid (which happens to be the same for the second cell).</a:t>
            </a:r>
          </a:p>
          <a:p>
            <a:r>
              <a:rPr lang="en-US"/>
              <a:t>I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ve given this feature a weight of 0.2 so this value now gets multiplied in.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190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10A5ED-6208-124A-AC97-23F85E0E923F}" type="slidenum">
              <a:rPr lang="en-US"/>
              <a:pPr/>
              <a:t>75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Unlike local features, there can now be a different weight multiplied in for each cell.  Here I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ve listed the weights for all the features used here.</a:t>
            </a:r>
          </a:p>
        </p:txBody>
      </p:sp>
    </p:spTree>
    <p:extLst>
      <p:ext uri="{BB962C8B-B14F-4D97-AF65-F5344CB8AC3E}">
        <p14:creationId xmlns:p14="http://schemas.microsoft.com/office/powerpoint/2010/main" val="16939854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7B66C3-5A21-6B4F-9FF4-3A273CD54F49}" type="slidenum">
              <a:rPr lang="en-US"/>
              <a:pPr/>
              <a:t>76</a:t>
            </a:fld>
            <a:endParaRPr lang="en-US"/>
          </a:p>
        </p:txBody>
      </p:sp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we need to select the top k proofs for the result.</a:t>
            </a:r>
          </a:p>
        </p:txBody>
      </p:sp>
    </p:spTree>
    <p:extLst>
      <p:ext uri="{BB962C8B-B14F-4D97-AF65-F5344CB8AC3E}">
        <p14:creationId xmlns:p14="http://schemas.microsoft.com/office/powerpoint/2010/main" val="15210281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EED5E9-8A3F-D145-AF4E-B7CDB27E8464}" type="slidenum">
              <a:rPr lang="en-US"/>
              <a:pPr/>
              <a:t>77</a:t>
            </a:fld>
            <a:endParaRPr lang="en-US"/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Those are shown here in white.</a:t>
            </a:r>
          </a:p>
        </p:txBody>
      </p:sp>
    </p:spTree>
    <p:extLst>
      <p:ext uri="{BB962C8B-B14F-4D97-AF65-F5344CB8AC3E}">
        <p14:creationId xmlns:p14="http://schemas.microsoft.com/office/powerpoint/2010/main" val="14142773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D3C02C-A44E-1943-98F0-2E8F28211691}" type="slidenum">
              <a:rPr lang="en-US"/>
              <a:pPr/>
              <a:t>78</a:t>
            </a:fld>
            <a:endParaRPr lang="en-US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And the resulting k-best proof list is shown at the bottom.  And we see that interpretations with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deictic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have risen to the top of the list.</a:t>
            </a:r>
          </a:p>
        </p:txBody>
      </p:sp>
    </p:spTree>
    <p:extLst>
      <p:ext uri="{BB962C8B-B14F-4D97-AF65-F5344CB8AC3E}">
        <p14:creationId xmlns:p14="http://schemas.microsoft.com/office/powerpoint/2010/main" val="26859473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7121E2-DEC5-9543-AB30-CBE8C0EA9FC3}" type="slidenum">
              <a:rPr lang="en-US"/>
              <a:pPr/>
              <a:t>79</a:t>
            </a:fld>
            <a:endParaRPr lang="en-US"/>
          </a:p>
        </p:txBody>
      </p:sp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00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4/30/19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4/30/19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4/30/19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TTIC 31210:</a:t>
            </a:r>
            <a:br>
              <a:rPr lang="en-US" dirty="0"/>
            </a:br>
            <a:r>
              <a:rPr lang="en-US" sz="4000" dirty="0"/>
              <a:t>Advanced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5" y="1993899"/>
            <a:ext cx="8555274" cy="41810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9:</a:t>
            </a:r>
          </a:p>
          <a:p>
            <a:r>
              <a:rPr lang="en-US" sz="4000" dirty="0">
                <a:solidFill>
                  <a:schemeClr val="tx1"/>
                </a:solidFill>
              </a:rPr>
              <a:t>Inference in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56739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deep learning for NLP (5 lectures)</a:t>
            </a:r>
          </a:p>
          <a:p>
            <a:r>
              <a:rPr lang="en-US" sz="2400" b="1" dirty="0"/>
              <a:t>structured prediction (4 lectures)</a:t>
            </a:r>
          </a:p>
          <a:p>
            <a:pPr lvl="1"/>
            <a:r>
              <a:rPr lang="en-US" sz="2000" dirty="0"/>
              <a:t>introducing/formalizing structured prediction, categories of structures</a:t>
            </a:r>
          </a:p>
          <a:p>
            <a:pPr lvl="1"/>
            <a:r>
              <a:rPr lang="en-US" sz="2000" b="1" dirty="0"/>
              <a:t>inference: dynamic programming, greedy algorithms, beam search</a:t>
            </a:r>
          </a:p>
          <a:p>
            <a:pPr lvl="1"/>
            <a:r>
              <a:rPr lang="en-US" sz="2000" b="1" dirty="0"/>
              <a:t>inference with non-local features</a:t>
            </a:r>
          </a:p>
          <a:p>
            <a:pPr lvl="1"/>
            <a:r>
              <a:rPr lang="en-US" sz="2000" dirty="0"/>
              <a:t>learning in structured prediction</a:t>
            </a:r>
          </a:p>
          <a:p>
            <a:r>
              <a:rPr lang="en-US" sz="2400" dirty="0"/>
              <a:t>generative models, latent variables, unsupervised learning, variational autoencoders (2 lectures)</a:t>
            </a:r>
          </a:p>
          <a:p>
            <a:r>
              <a:rPr lang="en-US" sz="2400" dirty="0"/>
              <a:t>Bayesian methods in NLP (2 lectures)</a:t>
            </a:r>
          </a:p>
          <a:p>
            <a:r>
              <a:rPr lang="en-US" sz="2400" dirty="0"/>
              <a:t>Bayesian </a:t>
            </a:r>
            <a:r>
              <a:rPr lang="en-US" sz="2400" dirty="0" err="1"/>
              <a:t>nonparametrics</a:t>
            </a:r>
            <a:r>
              <a:rPr lang="en-US" sz="2400" dirty="0"/>
              <a:t> in NLP (2 lectures)</a:t>
            </a:r>
          </a:p>
          <a:p>
            <a:r>
              <a:rPr lang="en-US" sz="2400" dirty="0"/>
              <a:t>review &amp; other topics (1 lecture)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40" y="1073740"/>
            <a:ext cx="8765747" cy="5052424"/>
          </a:xfrm>
        </p:spPr>
        <p:txBody>
          <a:bodyPr/>
          <a:lstStyle/>
          <a:p>
            <a:r>
              <a:rPr lang="en-US" dirty="0"/>
              <a:t>Assignment 2 due Wednesday</a:t>
            </a:r>
          </a:p>
          <a:p>
            <a:r>
              <a:rPr lang="en-US" dirty="0"/>
              <a:t>for the report, please use either pdf format or a </a:t>
            </a:r>
            <a:r>
              <a:rPr lang="en-US" dirty="0" err="1"/>
              <a:t>Jupyter</a:t>
            </a:r>
            <a:r>
              <a:rPr lang="en-US" dirty="0"/>
              <a:t> notebook (no plain text)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8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1668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590197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935881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897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270859-B3C3-664D-9748-3C7C4A1CFACE}"/>
              </a:ext>
            </a:extLst>
          </p:cNvPr>
          <p:cNvCxnSpPr/>
          <p:nvPr/>
        </p:nvCxnSpPr>
        <p:spPr bwMode="auto">
          <a:xfrm flipV="1">
            <a:off x="6243401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32883D-CC44-794C-BC83-08DFFAAB3019}"/>
              </a:ext>
            </a:extLst>
          </p:cNvPr>
          <p:cNvSpPr txBox="1"/>
          <p:nvPr/>
        </p:nvSpPr>
        <p:spPr>
          <a:xfrm>
            <a:off x="5702845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FB18455-30C2-4F4A-A6DC-24587ED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46" y="2210064"/>
            <a:ext cx="5753100" cy="63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9439" y="3155950"/>
            <a:ext cx="190500" cy="266700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22564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Working definition of structured prediction: </a:t>
            </a:r>
          </a:p>
          <a:p>
            <a:pPr marL="0" indent="0">
              <a:buNone/>
            </a:pPr>
            <a:r>
              <a:rPr lang="en-US" dirty="0"/>
              <a:t>size of output space is exponential in size of input</a:t>
            </a:r>
          </a:p>
          <a:p>
            <a:pPr marL="0" indent="0">
              <a:buNone/>
            </a:pPr>
            <a:r>
              <a:rPr lang="en-US" dirty="0"/>
              <a:t>or is unbounded (e.g., machine translation)</a:t>
            </a:r>
          </a:p>
          <a:p>
            <a:pPr marL="0" indent="0">
              <a:buNone/>
            </a:pPr>
            <a:r>
              <a:rPr lang="en-US" dirty="0"/>
              <a:t>(we can’t just enumerate all possible outputs)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9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/>
          <p:cNvCxnSpPr/>
          <p:nvPr/>
        </p:nvCxnSpPr>
        <p:spPr bwMode="auto">
          <a:xfrm>
            <a:off x="3590197" y="155901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935881" y="109735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97" y="1296551"/>
            <a:ext cx="990600" cy="2159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0FB18455-30C2-4F4A-A6DC-24587ED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Inference with Structured Predictors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6" y="2092484"/>
            <a:ext cx="5753100" cy="6350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60F536-8B0B-4545-A5A2-D526F9F0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2776"/>
            <a:ext cx="8408996" cy="339513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do we efficiently search over the space of all structured outputs?</a:t>
            </a:r>
          </a:p>
          <a:p>
            <a:endParaRPr lang="en-US" dirty="0"/>
          </a:p>
          <a:p>
            <a:r>
              <a:rPr lang="en-US" dirty="0"/>
              <a:t>this space may have size exponential in the size of the input, or be unbounded</a:t>
            </a:r>
          </a:p>
          <a:p>
            <a:endParaRPr lang="en-US" dirty="0"/>
          </a:p>
          <a:p>
            <a:r>
              <a:rPr lang="en-US" dirty="0"/>
              <a:t>complexity of inference depends on parts function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5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75E4-D0B0-354B-A69A-47936F12D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8229"/>
            <a:ext cx="8229600" cy="5687249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rgbClr val="000000"/>
                </a:solidFill>
              </a:rPr>
              <a:t>given a “parts” function</a:t>
            </a: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our score function is then defined:</a:t>
            </a: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/>
              <a:t>each part is a subcomponent of input/output pair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score function decomposes additively across parts</a:t>
            </a: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A08E8-8359-8444-A004-A78FFB6B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81493"/>
            <a:ext cx="7467600" cy="850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0" y="1721224"/>
            <a:ext cx="1651000" cy="3683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A135681-0FAE-9A40-8FF1-B3C9C79D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Parts and Score Functions</a:t>
            </a:r>
          </a:p>
        </p:txBody>
      </p:sp>
    </p:spTree>
    <p:extLst>
      <p:ext uri="{BB962C8B-B14F-4D97-AF65-F5344CB8AC3E}">
        <p14:creationId xmlns:p14="http://schemas.microsoft.com/office/powerpoint/2010/main" val="93862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Structured Prediction Tasks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965241"/>
              </p:ext>
            </p:extLst>
          </p:nvPr>
        </p:nvGraphicFramePr>
        <p:xfrm>
          <a:off x="-2" y="742013"/>
          <a:ext cx="9144002" cy="4879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199">
                  <a:extLst>
                    <a:ext uri="{9D8B030D-6E8A-4147-A177-3AD203B41FA5}">
                      <a16:colId xmlns:a16="http://schemas.microsoft.com/office/drawing/2014/main" val="2663079866"/>
                    </a:ext>
                  </a:extLst>
                </a:gridCol>
                <a:gridCol w="141118">
                  <a:extLst>
                    <a:ext uri="{9D8B030D-6E8A-4147-A177-3AD203B41FA5}">
                      <a16:colId xmlns:a16="http://schemas.microsoft.com/office/drawing/2014/main" val="1365048788"/>
                    </a:ext>
                  </a:extLst>
                </a:gridCol>
                <a:gridCol w="2760081">
                  <a:extLst>
                    <a:ext uri="{9D8B030D-6E8A-4147-A177-3AD203B41FA5}">
                      <a16:colId xmlns:a16="http://schemas.microsoft.com/office/drawing/2014/main" val="3171693186"/>
                    </a:ext>
                  </a:extLst>
                </a:gridCol>
              </a:tblGrid>
              <a:tr h="549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output structure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minimal parts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multi-label classification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labels, each of which can be 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set containing individual labels in label set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sequence labeling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label sequence with same length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as input sequence; each label is one of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labels at positions in output sequence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64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unlabeled dependency parsing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tree over the words in the input sentence; each word has exactly one parent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indices of parent words for each word in sentence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656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conditional generation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sentence (or a paragraph, document, etc.)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set containing each word in the output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9CAB0CF-7DCE-E142-8612-075D25BCE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93"/>
          <a:stretch/>
        </p:blipFill>
        <p:spPr>
          <a:xfrm>
            <a:off x="6476141" y="1541240"/>
            <a:ext cx="2536303" cy="354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5E3380-334D-804A-8C18-6EA494428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782"/>
          <a:stretch/>
        </p:blipFill>
        <p:spPr>
          <a:xfrm>
            <a:off x="6438200" y="2544811"/>
            <a:ext cx="2999451" cy="354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CB2C89-37ED-5D45-B515-4D68A9331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2"/>
          <a:stretch/>
        </p:blipFill>
        <p:spPr>
          <a:xfrm>
            <a:off x="6476141" y="1860611"/>
            <a:ext cx="2150370" cy="309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CDE75A-7B67-7940-9DB7-8F8B5588EF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157" b="49396"/>
          <a:stretch/>
        </p:blipFill>
        <p:spPr>
          <a:xfrm>
            <a:off x="6274491" y="3730924"/>
            <a:ext cx="2619416" cy="3555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BC793F-CA5E-6743-8BB0-F2216BF630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396"/>
          <a:stretch/>
        </p:blipFill>
        <p:spPr>
          <a:xfrm>
            <a:off x="6248400" y="4141593"/>
            <a:ext cx="2834617" cy="291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55349D-703A-3643-BA12-DFF4595F67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7150"/>
          <a:stretch/>
        </p:blipFill>
        <p:spPr>
          <a:xfrm>
            <a:off x="6438200" y="2887237"/>
            <a:ext cx="2635199" cy="3005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2B8406-F3A4-8649-9501-21B686F3D82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9871"/>
          <a:stretch/>
        </p:blipFill>
        <p:spPr>
          <a:xfrm>
            <a:off x="6463601" y="4783343"/>
            <a:ext cx="2619416" cy="3330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BE2ACE6-D6F8-1446-9FBD-817E9BECD80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9871" r="16151"/>
          <a:stretch/>
        </p:blipFill>
        <p:spPr>
          <a:xfrm>
            <a:off x="6463600" y="5152419"/>
            <a:ext cx="1938867" cy="2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1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092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/>
              <a:t>Hidden Markov Model (HMM)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2051211"/>
            <a:ext cx="763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ym typeface="Wingdings"/>
              </a:rPr>
              <a:t>transition parameters:</a:t>
            </a:r>
          </a:p>
          <a:p>
            <a:r>
              <a:rPr lang="en-US" sz="2000" b="1" dirty="0">
                <a:sym typeface="Wingdings"/>
              </a:rPr>
              <a:t> </a:t>
            </a:r>
          </a:p>
          <a:p>
            <a:r>
              <a:rPr lang="en-US" sz="2000" b="1" dirty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62" y="2088532"/>
            <a:ext cx="1892300" cy="36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66" y="2716562"/>
            <a:ext cx="15367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BF519E-C16A-0E42-BB2B-3FDD3E02C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36" y="864753"/>
            <a:ext cx="7174327" cy="956994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4562202"/>
            <a:ext cx="8229600" cy="19835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each word-label pair forms a part, and each label bigram forms a part</a:t>
            </a:r>
          </a:p>
          <a:p>
            <a:r>
              <a:rPr lang="en-US" dirty="0"/>
              <a:t>note: define score as log-probability to make score function decompose additively over parts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3598164"/>
            <a:ext cx="637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0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in HMMs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924435"/>
            <a:ext cx="8229600" cy="3291948"/>
          </a:xfrm>
        </p:spPr>
        <p:txBody>
          <a:bodyPr>
            <a:normAutofit fontScale="92500"/>
          </a:bodyPr>
          <a:lstStyle/>
          <a:p>
            <a:r>
              <a:rPr lang="en-US" dirty="0"/>
              <a:t>since the output is a sequence, this argmax requires iterating over an exponentially-large set</a:t>
            </a:r>
          </a:p>
          <a:p>
            <a:r>
              <a:rPr lang="en-US" dirty="0"/>
              <a:t>we can use </a:t>
            </a:r>
            <a:r>
              <a:rPr lang="en-US" b="1" dirty="0">
                <a:solidFill>
                  <a:srgbClr val="288CD2"/>
                </a:solidFill>
              </a:rPr>
              <a:t>dynamic programming (DP)</a:t>
            </a:r>
            <a:r>
              <a:rPr lang="en-US" dirty="0"/>
              <a:t> to solve these problems exactly</a:t>
            </a:r>
          </a:p>
          <a:p>
            <a:r>
              <a:rPr lang="en-US" dirty="0"/>
              <a:t>for HMMs (and other sequence models), the algorithm for solving this is the </a:t>
            </a:r>
            <a:r>
              <a:rPr lang="en-US" b="1" dirty="0">
                <a:solidFill>
                  <a:srgbClr val="288CD2"/>
                </a:solidFill>
              </a:rPr>
              <a:t>Viterbi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359F4-65C6-8042-9838-6DF6F15A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4" y="1080753"/>
            <a:ext cx="8936531" cy="166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1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009"/>
            <a:ext cx="8229600" cy="5052424"/>
          </a:xfrm>
        </p:spPr>
        <p:txBody>
          <a:bodyPr/>
          <a:lstStyle/>
          <a:p>
            <a:r>
              <a:rPr lang="en-US" dirty="0"/>
              <a:t>recursive equations + </a:t>
            </a:r>
            <a:r>
              <a:rPr lang="en-US" dirty="0" err="1"/>
              <a:t>memoization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58649"/>
          <a:stretch/>
        </p:blipFill>
        <p:spPr>
          <a:xfrm>
            <a:off x="1206500" y="2994660"/>
            <a:ext cx="6731000" cy="3886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1300480" y="2311400"/>
            <a:ext cx="203200" cy="6121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206500" y="395732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574542"/>
            <a:ext cx="6942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base case: </a:t>
            </a:r>
          </a:p>
          <a:p>
            <a:r>
              <a:rPr lang="en-US" sz="2000" dirty="0">
                <a:solidFill>
                  <a:srgbClr val="288CD2"/>
                </a:solidFill>
              </a:rPr>
              <a:t>returns probability of sequence starting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for first 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28" y="4446508"/>
            <a:ext cx="520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recursive case:</a:t>
            </a:r>
          </a:p>
          <a:p>
            <a:r>
              <a:rPr lang="en-US" sz="2000" dirty="0">
                <a:solidFill>
                  <a:srgbClr val="288CD2"/>
                </a:solidFill>
              </a:rPr>
              <a:t>computes probability of max-probability label sequence that ends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at position </a:t>
            </a:r>
            <a:r>
              <a:rPr lang="en-US" sz="2000" i="1" dirty="0">
                <a:solidFill>
                  <a:srgbClr val="288CD2"/>
                </a:solidFill>
              </a:rPr>
              <a:t>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t="43784"/>
          <a:stretch/>
        </p:blipFill>
        <p:spPr>
          <a:xfrm>
            <a:off x="1206500" y="3556000"/>
            <a:ext cx="6731000" cy="528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3680" y="5747378"/>
            <a:ext cx="2065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final value is in: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E0C3A-BCBD-344E-9A96-316D5BB85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606" y="5803114"/>
            <a:ext cx="5074936" cy="46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9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E5B0-5EB9-8345-8652-AC61B464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</a:t>
            </a:r>
            <a:r>
              <a:rPr lang="en-US" dirty="0" err="1"/>
              <a:t>Backpointers</a:t>
            </a:r>
            <a:r>
              <a:rPr lang="en-US" dirty="0"/>
              <a:t>” in Viterbi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73DB-63B8-184F-BBF5-50136C1B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2047204"/>
          </a:xfrm>
        </p:spPr>
        <p:txBody>
          <a:bodyPr/>
          <a:lstStyle/>
          <a:p>
            <a:r>
              <a:rPr lang="en-US" dirty="0"/>
              <a:t>Viterbi only gives us the probability of the max-probability label sequence</a:t>
            </a:r>
          </a:p>
          <a:p>
            <a:r>
              <a:rPr lang="en-US" dirty="0"/>
              <a:t>how do we get the actual label sequence?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E929-AF79-8444-A4F4-B48ED2A2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0961" b="46379"/>
          <a:stretch/>
        </p:blipFill>
        <p:spPr>
          <a:xfrm>
            <a:off x="1117094" y="3781694"/>
            <a:ext cx="7227302" cy="6746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43784"/>
          <a:stretch/>
        </p:blipFill>
        <p:spPr>
          <a:xfrm>
            <a:off x="1206500" y="3003362"/>
            <a:ext cx="6731000" cy="52832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 bwMode="auto">
          <a:xfrm flipV="1">
            <a:off x="1206500" y="414739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662927" y="4636578"/>
            <a:ext cx="8109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88CD2"/>
                </a:solidFill>
              </a:rPr>
              <a:t>contains label that achieved max probability in max-</a:t>
            </a:r>
            <a:r>
              <a:rPr lang="en-US" sz="2400" dirty="0" err="1">
                <a:solidFill>
                  <a:srgbClr val="288CD2"/>
                </a:solidFill>
              </a:rPr>
              <a:t>prob</a:t>
            </a:r>
            <a:r>
              <a:rPr lang="en-US" sz="2400" dirty="0">
                <a:solidFill>
                  <a:srgbClr val="288CD2"/>
                </a:solidFill>
              </a:rPr>
              <a:t> label sequence that ends with label </a:t>
            </a:r>
            <a:r>
              <a:rPr lang="en-US" sz="2400" i="1" dirty="0">
                <a:solidFill>
                  <a:srgbClr val="288CD2"/>
                </a:solidFill>
              </a:rPr>
              <a:t>y</a:t>
            </a:r>
            <a:r>
              <a:rPr lang="en-US" sz="2400" dirty="0">
                <a:solidFill>
                  <a:srgbClr val="288CD2"/>
                </a:solidFill>
              </a:rPr>
              <a:t> at position </a:t>
            </a:r>
            <a:r>
              <a:rPr lang="en-US" sz="2400" i="1" dirty="0">
                <a:solidFill>
                  <a:srgbClr val="288CD2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22276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E5B0-5EB9-8345-8652-AC61B464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</a:t>
            </a:r>
            <a:r>
              <a:rPr lang="en-US" dirty="0" err="1"/>
              <a:t>Backpointers</a:t>
            </a:r>
            <a:r>
              <a:rPr lang="en-US" dirty="0"/>
              <a:t>” in Viterbi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73DB-63B8-184F-BBF5-50136C1B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2047204"/>
          </a:xfrm>
        </p:spPr>
        <p:txBody>
          <a:bodyPr/>
          <a:lstStyle/>
          <a:p>
            <a:r>
              <a:rPr lang="en-US" dirty="0"/>
              <a:t>Viterbi only gives us the probability of the max-probability label sequence</a:t>
            </a:r>
          </a:p>
          <a:p>
            <a:r>
              <a:rPr lang="en-US" dirty="0"/>
              <a:t>how do we get the actual label sequence?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E929-AF79-8444-A4F4-B48ED2A2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0961" b="46379"/>
          <a:stretch/>
        </p:blipFill>
        <p:spPr>
          <a:xfrm>
            <a:off x="1117094" y="3781694"/>
            <a:ext cx="7227302" cy="6746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6497" t="50854" r="12548"/>
          <a:stretch/>
        </p:blipFill>
        <p:spPr>
          <a:xfrm>
            <a:off x="1563930" y="5741821"/>
            <a:ext cx="5573709" cy="618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5E0C3A-BCBD-344E-9A96-316D5BB85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797" y="5140166"/>
            <a:ext cx="5074936" cy="46135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t="43784"/>
          <a:stretch/>
        </p:blipFill>
        <p:spPr>
          <a:xfrm>
            <a:off x="1206500" y="3003362"/>
            <a:ext cx="6731000" cy="528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460206"/>
            <a:ext cx="810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288CD2"/>
                </a:solidFill>
              </a:rPr>
              <a:t>similar modification for final label:</a:t>
            </a:r>
            <a:endParaRPr lang="en-US" sz="2800" i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10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E5B0-5EB9-8345-8652-AC61B464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Following </a:t>
            </a:r>
            <a:r>
              <a:rPr lang="en-US" dirty="0" err="1"/>
              <a:t>Backpointers</a:t>
            </a:r>
            <a:r>
              <a:rPr lang="en-US" dirty="0"/>
              <a:t> in Viterbi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73DB-63B8-184F-BBF5-50136C1B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897366"/>
            <a:ext cx="9144000" cy="784064"/>
          </a:xfrm>
        </p:spPr>
        <p:txBody>
          <a:bodyPr/>
          <a:lstStyle/>
          <a:p>
            <a:r>
              <a:rPr lang="en-US" dirty="0"/>
              <a:t>full </a:t>
            </a:r>
            <a:r>
              <a:rPr lang="en-US" dirty="0" err="1"/>
              <a:t>backpointer</a:t>
            </a:r>
            <a:r>
              <a:rPr lang="en-US" dirty="0"/>
              <a:t>-following procedure (after Viterbi):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E929-AF79-8444-A4F4-B48ED2A2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DE13E6-F716-474C-9C9B-4F43762CE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623" y="3573885"/>
            <a:ext cx="3240108" cy="27824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3" y="1753794"/>
            <a:ext cx="8991135" cy="12372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765" y="3573885"/>
            <a:ext cx="1669762" cy="34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26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Sequence Models</a:t>
            </a:r>
            <a:br>
              <a:rPr lang="en-US" dirty="0"/>
            </a:br>
            <a:r>
              <a:rPr lang="en-US" sz="3100" dirty="0"/>
              <a:t>(with tag bigram features)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3373120" y="2670543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1510762" y="3203943"/>
            <a:ext cx="71760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score function for label bigram &lt;</a:t>
            </a:r>
            <a:r>
              <a:rPr lang="en-US" sz="3200" i="1" dirty="0"/>
              <a:t>y</a:t>
            </a:r>
            <a:r>
              <a:rPr lang="en-US" sz="3200" dirty="0"/>
              <a:t>’, </a:t>
            </a:r>
            <a:r>
              <a:rPr lang="en-US" sz="3200" i="1" dirty="0"/>
              <a:t>y</a:t>
            </a:r>
            <a:r>
              <a:rPr lang="en-US" sz="3200" dirty="0"/>
              <a:t>&gt; ending at position </a:t>
            </a:r>
            <a:r>
              <a:rPr lang="en-US" sz="3200" i="1" dirty="0"/>
              <a:t>m</a:t>
            </a:r>
            <a:r>
              <a:rPr lang="en-US" sz="3200" dirty="0"/>
              <a:t> in </a:t>
            </a:r>
            <a:r>
              <a:rPr lang="en-US" sz="3200" b="1" i="1" dirty="0"/>
              <a:t>x</a:t>
            </a:r>
          </a:p>
          <a:p>
            <a:endParaRPr lang="en-US" sz="3200" b="1" i="1" dirty="0"/>
          </a:p>
          <a:p>
            <a:r>
              <a:rPr lang="en-US" sz="3200" dirty="0"/>
              <a:t>could be anything!  linear model, feed-forward network, LSTM,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8EAA67-2FB0-5F4E-B23E-13425BEB5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1808853"/>
            <a:ext cx="73787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72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56937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Approximate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1869"/>
            <a:ext cx="8229600" cy="5839606"/>
          </a:xfrm>
        </p:spPr>
        <p:txBody>
          <a:bodyPr>
            <a:normAutofit fontScale="92500"/>
          </a:bodyPr>
          <a:lstStyle/>
          <a:p>
            <a:r>
              <a:rPr lang="en-US" dirty="0"/>
              <a:t>exact inference limits us to small parts functions</a:t>
            </a:r>
          </a:p>
          <a:p>
            <a:pPr lvl="1"/>
            <a:r>
              <a:rPr lang="en-US" dirty="0"/>
              <a:t>e.g., Viterbi requires parts with only two consecutive labels, and takes time O(|</a:t>
            </a:r>
            <a:r>
              <a:rPr lang="en-US" i="1" dirty="0"/>
              <a:t>x</a:t>
            </a:r>
            <a:r>
              <a:rPr lang="en-US" dirty="0"/>
              <a:t>| |</a:t>
            </a:r>
            <a:r>
              <a:rPr lang="en-US" i="1" dirty="0"/>
              <a:t>L</a:t>
            </a:r>
            <a:r>
              <a:rPr lang="en-US" dirty="0"/>
              <a:t>|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time complexity of exact DP algorithms is exponential in the size of the parts</a:t>
            </a:r>
          </a:p>
          <a:p>
            <a:r>
              <a:rPr lang="en-US" dirty="0"/>
              <a:t>we want to use bigger parts without exponential increase in runtime</a:t>
            </a:r>
          </a:p>
          <a:p>
            <a:r>
              <a:rPr lang="en-US" dirty="0"/>
              <a:t>so, we consider algorithms for </a:t>
            </a:r>
            <a:r>
              <a:rPr lang="en-US" b="1" dirty="0"/>
              <a:t>approximate inference </a:t>
            </a:r>
          </a:p>
          <a:p>
            <a:r>
              <a:rPr lang="en-US" dirty="0"/>
              <a:t>even when using small parts, approximate inference can help us to speed up inference with little loss in accuracy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2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F118-355C-ED4E-84B9-7163ECCE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HMM POS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F62D-9154-E241-B633-0CD74552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 set: </a:t>
            </a:r>
          </a:p>
          <a:p>
            <a:pPr marL="457200" lvl="1" indent="0">
              <a:buNone/>
            </a:pPr>
            <a:r>
              <a:rPr lang="en-US" altLang="ja-JP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  <a:r>
              <a:rPr lang="en-US" dirty="0"/>
              <a:t>: noun</a:t>
            </a:r>
          </a:p>
          <a:p>
            <a:pPr marL="457200" lvl="1" indent="0">
              <a:buNone/>
            </a:pPr>
            <a:r>
              <a:rPr lang="en-US" altLang="ja-JP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  <a:r>
              <a:rPr lang="en-US" dirty="0"/>
              <a:t>: verb</a:t>
            </a:r>
          </a:p>
          <a:p>
            <a:pPr marL="457200" lvl="1" indent="0">
              <a:buNone/>
            </a:pPr>
            <a:r>
              <a:rPr lang="en-US" altLang="ja-JP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  <a:r>
              <a:rPr lang="en-US" dirty="0"/>
              <a:t>: determiner</a:t>
            </a:r>
          </a:p>
          <a:p>
            <a:pPr marL="457200" lvl="1" indent="0">
              <a:buNone/>
            </a:pPr>
            <a:r>
              <a:rPr lang="en-US" altLang="ja-JP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  <a:r>
              <a:rPr lang="en-US" dirty="0"/>
              <a:t>: adjective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dirty="0"/>
              <a:t>example sentence: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4984C-6AD3-E048-9F13-9AE70559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046" y="5100166"/>
            <a:ext cx="4169161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288CD2"/>
                </a:solidFill>
                <a:cs typeface="Courier New"/>
              </a:rPr>
              <a:t>Lower   the   lights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46" y="4578929"/>
            <a:ext cx="2959146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288CD2"/>
                </a:solidFill>
                <a:latin typeface="Courier New"/>
                <a:cs typeface="Courier New"/>
              </a:rPr>
              <a:t>  V   D   N</a:t>
            </a:r>
          </a:p>
        </p:txBody>
      </p:sp>
    </p:spTree>
    <p:extLst>
      <p:ext uri="{BB962C8B-B14F-4D97-AF65-F5344CB8AC3E}">
        <p14:creationId xmlns:p14="http://schemas.microsoft.com/office/powerpoint/2010/main" val="611952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Left-to-Right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label sequence one word at a time from left to right</a:t>
            </a:r>
          </a:p>
          <a:p>
            <a:r>
              <a:rPr lang="en-US" dirty="0"/>
              <a:t>at each position, choose the tag for a word greedily to maximize a local scoring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5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655576" y="2600019"/>
            <a:ext cx="446616" cy="8226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00134"/>
            <a:ext cx="20239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starting tag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1686" y="1689413"/>
            <a:ext cx="910506" cy="91060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7806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869" y="3446614"/>
            <a:ext cx="6527800" cy="622300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endCxn id="7" idx="2"/>
          </p:cNvCxnSpPr>
          <p:nvPr/>
        </p:nvCxnSpPr>
        <p:spPr bwMode="auto">
          <a:xfrm flipH="1" flipV="1">
            <a:off x="2033313" y="2600019"/>
            <a:ext cx="446616" cy="8226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741" y="4296523"/>
            <a:ext cx="61699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takes O(|</a:t>
            </a:r>
            <a:r>
              <a:rPr lang="en-US" altLang="ja-JP" sz="2800" i="1" dirty="0">
                <a:solidFill>
                  <a:srgbClr val="288CD2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|) time (iterate through labels)</a:t>
            </a:r>
          </a:p>
        </p:txBody>
      </p:sp>
    </p:spTree>
    <p:extLst>
      <p:ext uri="{BB962C8B-B14F-4D97-AF65-F5344CB8AC3E}">
        <p14:creationId xmlns:p14="http://schemas.microsoft.com/office/powerpoint/2010/main" val="57747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0" y="6334780"/>
            <a:ext cx="41691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the   lights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13543"/>
            <a:ext cx="29591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  V   D   N</a:t>
            </a:r>
          </a:p>
        </p:txBody>
      </p:sp>
      <p:sp>
        <p:nvSpPr>
          <p:cNvPr id="7" name="Rectangle 6"/>
          <p:cNvSpPr/>
          <p:nvPr/>
        </p:nvSpPr>
        <p:spPr>
          <a:xfrm>
            <a:off x="157806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869" y="3446614"/>
            <a:ext cx="6527800" cy="622300"/>
          </a:xfrm>
          <a:prstGeom prst="rect">
            <a:avLst/>
          </a:prstGeom>
        </p:spPr>
      </p:pic>
      <p:sp>
        <p:nvSpPr>
          <p:cNvPr id="1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060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13" name="Straight Arrow Connector 12"/>
          <p:cNvCxnSpPr>
            <a:endCxn id="7" idx="2"/>
          </p:cNvCxnSpPr>
          <p:nvPr/>
        </p:nvCxnSpPr>
        <p:spPr bwMode="auto">
          <a:xfrm flipH="1" flipV="1">
            <a:off x="2033313" y="2600019"/>
            <a:ext cx="446616" cy="8226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741" y="4296523"/>
            <a:ext cx="616992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error here: model must choose a tag and stick with it; can’t change anything later</a:t>
            </a:r>
          </a:p>
        </p:txBody>
      </p:sp>
    </p:spTree>
    <p:extLst>
      <p:ext uri="{BB962C8B-B14F-4D97-AF65-F5344CB8AC3E}">
        <p14:creationId xmlns:p14="http://schemas.microsoft.com/office/powerpoint/2010/main" val="251210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0" y="6334780"/>
            <a:ext cx="41691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the   lights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13543"/>
            <a:ext cx="29591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  V   D   N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060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2779441" y="2600019"/>
            <a:ext cx="998685" cy="8226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8387" y="4689345"/>
            <a:ext cx="31284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uses best label for previous position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126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8126" y="1689413"/>
            <a:ext cx="910506" cy="91060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549" y="3466475"/>
            <a:ext cx="5549900" cy="62230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 bwMode="auto">
          <a:xfrm flipV="1">
            <a:off x="6801493" y="3866713"/>
            <a:ext cx="998685" cy="8226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8684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Inference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0" y="6334780"/>
            <a:ext cx="41691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the   lights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13543"/>
            <a:ext cx="29591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  V   D   N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060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1293877" y="2600019"/>
            <a:ext cx="4408717" cy="143406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126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259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594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92" y="4034088"/>
            <a:ext cx="7975600" cy="622300"/>
          </a:xfrm>
          <a:prstGeom prst="rect">
            <a:avLst/>
          </a:prstGeom>
        </p:spPr>
      </p:pic>
      <p:sp>
        <p:nvSpPr>
          <p:cNvPr id="2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127" y="5380673"/>
            <a:ext cx="536587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for final word in input, include transition to end-of-sentence label</a:t>
            </a:r>
          </a:p>
        </p:txBody>
      </p:sp>
      <p:cxnSp>
        <p:nvCxnSpPr>
          <p:cNvPr id="22" name="Straight Arrow Connector 21"/>
          <p:cNvCxnSpPr/>
          <p:nvPr/>
        </p:nvCxnSpPr>
        <p:spPr bwMode="auto">
          <a:xfrm flipV="1">
            <a:off x="5923101" y="4457176"/>
            <a:ext cx="1885307" cy="9234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559" y="1844999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</p:spTree>
    <p:extLst>
      <p:ext uri="{BB962C8B-B14F-4D97-AF65-F5344CB8AC3E}">
        <p14:creationId xmlns:p14="http://schemas.microsoft.com/office/powerpoint/2010/main" val="119160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060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126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726" y="2714945"/>
            <a:ext cx="671053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</a:t>
            </a:r>
            <a:r>
              <a:rPr lang="en-US" altLang="ja-JP" sz="2800" b="1" i="1" dirty="0">
                <a:solidFill>
                  <a:srgbClr val="000000"/>
                </a:solidFill>
                <a:cs typeface="Courier New"/>
              </a:rPr>
              <a:t>x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 positions, O(|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|) time for each position (iterate through labels)</a:t>
            </a:r>
          </a:p>
          <a:p>
            <a:endParaRPr lang="en-US" altLang="ja-JP" sz="2800" dirty="0">
              <a:solidFill>
                <a:srgbClr val="000000"/>
              </a:solidFill>
              <a:cs typeface="Courier New"/>
            </a:endParaRP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time for greedy: O(|</a:t>
            </a:r>
            <a:r>
              <a:rPr lang="en-US" altLang="ja-JP" sz="2800" b="1" i="1" dirty="0">
                <a:solidFill>
                  <a:srgbClr val="000000"/>
                </a:solidFill>
                <a:cs typeface="Courier New"/>
              </a:rPr>
              <a:t>x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 |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|)</a:t>
            </a:r>
          </a:p>
          <a:p>
            <a:endParaRPr lang="en-US" altLang="ja-JP" sz="2800" dirty="0">
              <a:solidFill>
                <a:srgbClr val="000000"/>
              </a:solidFill>
              <a:cs typeface="Courier New"/>
            </a:endParaRP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time for Viterbi: O(|</a:t>
            </a:r>
            <a:r>
              <a:rPr lang="en-US" altLang="ja-JP" sz="2800" b="1" i="1" dirty="0">
                <a:solidFill>
                  <a:srgbClr val="000000"/>
                </a:solidFill>
                <a:cs typeface="Courier New"/>
              </a:rPr>
              <a:t>x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 |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</a:t>
            </a:r>
            <a:r>
              <a:rPr lang="en-US" altLang="ja-JP" sz="2800" baseline="30000" dirty="0">
                <a:solidFill>
                  <a:srgbClr val="000000"/>
                </a:solidFill>
                <a:cs typeface="Courier New"/>
              </a:rPr>
              <a:t>2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)</a:t>
            </a:r>
          </a:p>
          <a:p>
            <a:endParaRPr lang="en-US" altLang="ja-JP" sz="2800" dirty="0">
              <a:solidFill>
                <a:srgbClr val="000000"/>
              </a:solidFill>
              <a:cs typeface="Courier New"/>
            </a:endParaRP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faster than Viterbi, but doesn’t work as well</a:t>
            </a: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can we improve it?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559" y="1844999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594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997528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41099"/>
            <a:ext cx="8983267" cy="5890883"/>
          </a:xfrm>
        </p:spPr>
        <p:txBody>
          <a:bodyPr>
            <a:noAutofit/>
          </a:bodyPr>
          <a:lstStyle/>
          <a:p>
            <a:r>
              <a:rPr lang="en-US" dirty="0"/>
              <a:t>we can convert this greedy algorithm to           </a:t>
            </a:r>
            <a:r>
              <a:rPr lang="en-US" b="1" dirty="0"/>
              <a:t>beam search</a:t>
            </a:r>
          </a:p>
          <a:p>
            <a:endParaRPr lang="en-US" b="1" dirty="0"/>
          </a:p>
          <a:p>
            <a:r>
              <a:rPr lang="en-US" dirty="0"/>
              <a:t>beam search maintains multiple hypotheses at each position</a:t>
            </a:r>
          </a:p>
          <a:p>
            <a:endParaRPr lang="en-US" dirty="0"/>
          </a:p>
          <a:p>
            <a:r>
              <a:rPr lang="en-US" dirty="0"/>
              <a:t>two types of steps:</a:t>
            </a:r>
          </a:p>
          <a:p>
            <a:pPr lvl="1"/>
            <a:r>
              <a:rPr lang="en-US" dirty="0"/>
              <a:t>extend hypotheses</a:t>
            </a:r>
          </a:p>
          <a:p>
            <a:pPr lvl="1"/>
            <a:r>
              <a:rPr lang="en-US" dirty="0"/>
              <a:t>prune set of hypotheses</a:t>
            </a:r>
          </a:p>
          <a:p>
            <a:pPr lvl="1"/>
            <a:endParaRPr lang="en-US" dirty="0"/>
          </a:p>
          <a:p>
            <a:r>
              <a:rPr lang="en-US" dirty="0"/>
              <a:t>size of pruned set = size of “beam”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 descr="flashl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52" b="15561"/>
          <a:stretch/>
        </p:blipFill>
        <p:spPr>
          <a:xfrm>
            <a:off x="4522934" y="2608210"/>
            <a:ext cx="4460333" cy="187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6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Search (beam size 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655576" y="2600019"/>
            <a:ext cx="446616" cy="8226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00134"/>
            <a:ext cx="202392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starting hypothesis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 rot="16200000">
            <a:off x="4202077" y="2735131"/>
            <a:ext cx="622978" cy="6547337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97" y="510927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967" y="511099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  <p:cxnSp>
        <p:nvCxnSpPr>
          <p:cNvPr id="24" name="Straight Arrow Connector 23"/>
          <p:cNvCxnSpPr>
            <a:endCxn id="17" idx="3"/>
          </p:cNvCxnSpPr>
          <p:nvPr/>
        </p:nvCxnSpPr>
        <p:spPr bwMode="auto">
          <a:xfrm flipH="1" flipV="1">
            <a:off x="1362180" y="2144716"/>
            <a:ext cx="1033023" cy="547974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124" y="2368219"/>
            <a:ext cx="202392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 of hypothesis</a:t>
            </a:r>
          </a:p>
        </p:txBody>
      </p:sp>
    </p:spTree>
    <p:extLst>
      <p:ext uri="{BB962C8B-B14F-4D97-AF65-F5344CB8AC3E}">
        <p14:creationId xmlns:p14="http://schemas.microsoft.com/office/powerpoint/2010/main" val="131763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3" grpId="0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 Hypotheses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8001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  <p:cxnSp>
        <p:nvCxnSpPr>
          <p:cNvPr id="24" name="Straight Arrow Connector 23"/>
          <p:cNvCxnSpPr>
            <a:stCxn id="17" idx="3"/>
          </p:cNvCxnSpPr>
          <p:nvPr/>
        </p:nvCxnSpPr>
        <p:spPr bwMode="auto">
          <a:xfrm flipV="1">
            <a:off x="1362180" y="1825057"/>
            <a:ext cx="811364" cy="31965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14"/>
          <p:cNvSpPr/>
          <p:nvPr/>
        </p:nvSpPr>
        <p:spPr>
          <a:xfrm>
            <a:off x="2173544" y="1578922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544" y="173450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3544" y="2489528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26417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1252" y="339814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889" y="355036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430176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445398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</p:cNvCxnSpPr>
          <p:nvPr/>
        </p:nvCxnSpPr>
        <p:spPr bwMode="auto">
          <a:xfrm>
            <a:off x="1362180" y="2144716"/>
            <a:ext cx="823123" cy="173438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endCxn id="29" idx="1"/>
          </p:cNvCxnSpPr>
          <p:nvPr/>
        </p:nvCxnSpPr>
        <p:spPr bwMode="auto">
          <a:xfrm>
            <a:off x="1362180" y="2123202"/>
            <a:ext cx="823123" cy="25923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2489672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087172" y="1579066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430180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91232" y="3402917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089" y="3818075"/>
            <a:ext cx="49182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scores of extended hypotheses:</a:t>
            </a: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530" y="1587035"/>
            <a:ext cx="54634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only one hypothesis here to extend</a:t>
            </a:r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530" y="2448810"/>
            <a:ext cx="546347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consider all possible ways of extending it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091" y="4434495"/>
            <a:ext cx="5619391" cy="346475"/>
          </a:xfrm>
          <a:prstGeom prst="rect">
            <a:avLst/>
          </a:prstGeom>
        </p:spPr>
      </p:pic>
      <p:sp>
        <p:nvSpPr>
          <p:cNvPr id="41" name="Left Brace 40"/>
          <p:cNvSpPr/>
          <p:nvPr/>
        </p:nvSpPr>
        <p:spPr>
          <a:xfrm rot="16200000">
            <a:off x="7997287" y="4095932"/>
            <a:ext cx="413286" cy="1833106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7377" y="5155539"/>
            <a:ext cx="185662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 of previous hypothesis</a:t>
            </a:r>
          </a:p>
        </p:txBody>
      </p:sp>
    </p:spTree>
    <p:extLst>
      <p:ext uri="{BB962C8B-B14F-4D97-AF65-F5344CB8AC3E}">
        <p14:creationId xmlns:p14="http://schemas.microsoft.com/office/powerpoint/2010/main" val="90889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/>
      <p:bldP spid="21" grpId="0" animBg="1"/>
      <p:bldP spid="22" grpId="0"/>
      <p:bldP spid="26" grpId="0" animBg="1"/>
      <p:bldP spid="27" grpId="0"/>
      <p:bldP spid="28" grpId="0" animBg="1"/>
      <p:bldP spid="29" grpId="0"/>
      <p:bldP spid="32" grpId="0" animBg="1"/>
      <p:bldP spid="33" grpId="0" animBg="1"/>
      <p:bldP spid="34" grpId="0" animBg="1"/>
      <p:bldP spid="35" grpId="0" animBg="1"/>
      <p:bldP spid="37" grpId="0"/>
      <p:bldP spid="39" grpId="0"/>
      <p:bldP spid="41" grpId="0" animBg="1"/>
      <p:bldP spid="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 Hypotheses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8001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  <p:cxnSp>
        <p:nvCxnSpPr>
          <p:cNvPr id="24" name="Straight Arrow Connector 23"/>
          <p:cNvCxnSpPr>
            <a:stCxn id="17" idx="3"/>
          </p:cNvCxnSpPr>
          <p:nvPr/>
        </p:nvCxnSpPr>
        <p:spPr bwMode="auto">
          <a:xfrm flipV="1">
            <a:off x="1362180" y="1825057"/>
            <a:ext cx="811364" cy="31965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14"/>
          <p:cNvSpPr/>
          <p:nvPr/>
        </p:nvSpPr>
        <p:spPr>
          <a:xfrm>
            <a:off x="2173544" y="1578922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544" y="173450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3544" y="2489528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26417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1252" y="339814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889" y="355036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430176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445398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</p:cNvCxnSpPr>
          <p:nvPr/>
        </p:nvCxnSpPr>
        <p:spPr bwMode="auto">
          <a:xfrm>
            <a:off x="1362180" y="2144716"/>
            <a:ext cx="823123" cy="173438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endCxn id="29" idx="1"/>
          </p:cNvCxnSpPr>
          <p:nvPr/>
        </p:nvCxnSpPr>
        <p:spPr bwMode="auto">
          <a:xfrm>
            <a:off x="1362180" y="2123202"/>
            <a:ext cx="823123" cy="25923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2489672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087172" y="1579066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430180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91232" y="3402917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089" y="3818075"/>
            <a:ext cx="49182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scores of extended hypotheses:</a:t>
            </a: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530" y="1587035"/>
            <a:ext cx="54634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only one hypothesis here to extend</a:t>
            </a:r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530" y="2448810"/>
            <a:ext cx="546347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consider all possible ways of extending it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089" y="4800839"/>
            <a:ext cx="564291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because score of starting hypothesis is fixed to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530" y="4419839"/>
            <a:ext cx="4118666" cy="36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42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8001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17" idx="3"/>
          </p:cNvCxnSpPr>
          <p:nvPr/>
        </p:nvCxnSpPr>
        <p:spPr bwMode="auto">
          <a:xfrm flipV="1">
            <a:off x="1362180" y="1825057"/>
            <a:ext cx="811364" cy="31965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14"/>
          <p:cNvSpPr/>
          <p:nvPr/>
        </p:nvSpPr>
        <p:spPr>
          <a:xfrm>
            <a:off x="2173544" y="1578922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544" y="173450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3544" y="2489528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26417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1252" y="339814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889" y="355036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430176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445398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</p:cNvCxnSpPr>
          <p:nvPr/>
        </p:nvCxnSpPr>
        <p:spPr bwMode="auto">
          <a:xfrm>
            <a:off x="1362180" y="2144716"/>
            <a:ext cx="823123" cy="173438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endCxn id="29" idx="1"/>
          </p:cNvCxnSpPr>
          <p:nvPr/>
        </p:nvCxnSpPr>
        <p:spPr bwMode="auto">
          <a:xfrm>
            <a:off x="1362180" y="2123202"/>
            <a:ext cx="823123" cy="25923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2489672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087172" y="1579066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430180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91232" y="3402917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530" y="1587035"/>
            <a:ext cx="54634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keep top </a:t>
            </a:r>
            <a:r>
              <a:rPr lang="en-US" altLang="ja-JP" sz="2800" i="1" dirty="0">
                <a:cs typeface="Courier New"/>
              </a:rPr>
              <a:t>b</a:t>
            </a:r>
            <a:r>
              <a:rPr lang="en-US" altLang="ja-JP" sz="2800" dirty="0">
                <a:cs typeface="Courier New"/>
              </a:rPr>
              <a:t> hypotheses</a:t>
            </a:r>
          </a:p>
        </p:txBody>
      </p:sp>
      <p:sp>
        <p:nvSpPr>
          <p:cNvPr id="40" name="Rectangle 39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</p:spTree>
    <p:extLst>
      <p:ext uri="{BB962C8B-B14F-4D97-AF65-F5344CB8AC3E}">
        <p14:creationId xmlns:p14="http://schemas.microsoft.com/office/powerpoint/2010/main" val="282205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animBg="1"/>
      <p:bldP spid="20" grpId="1"/>
      <p:bldP spid="26" grpId="1" animBg="1"/>
      <p:bldP spid="27" grpId="1"/>
      <p:bldP spid="33" grpId="1" animBg="1"/>
      <p:bldP spid="3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 rot="10800000">
            <a:off x="3340876" y="1584158"/>
            <a:ext cx="413286" cy="2046283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8901" y="2312897"/>
            <a:ext cx="516664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         = set containing the top </a:t>
            </a:r>
            <a:r>
              <a:rPr lang="en-US" altLang="ja-JP" sz="2800" i="1" dirty="0">
                <a:solidFill>
                  <a:srgbClr val="BC0000"/>
                </a:solidFill>
                <a:cs typeface="Courier New"/>
              </a:rPr>
              <a:t>b</a:t>
            </a:r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hypotheses ending at position 1, along with their scores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569" y="2452093"/>
            <a:ext cx="711200" cy="3683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8" y="3986526"/>
            <a:ext cx="8002296" cy="52322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note: this is a set; the items do </a:t>
            </a:r>
            <a:r>
              <a:rPr lang="en-US" altLang="ja-JP" sz="2800" b="1" dirty="0">
                <a:cs typeface="Courier New"/>
              </a:rPr>
              <a:t>not</a:t>
            </a:r>
            <a:r>
              <a:rPr lang="en-US" altLang="ja-JP" sz="2800" dirty="0">
                <a:cs typeface="Courier New"/>
              </a:rPr>
              <a:t> have to be sorted </a:t>
            </a:r>
          </a:p>
        </p:txBody>
      </p:sp>
    </p:spTree>
    <p:extLst>
      <p:ext uri="{BB962C8B-B14F-4D97-AF65-F5344CB8AC3E}">
        <p14:creationId xmlns:p14="http://schemas.microsoft.com/office/powerpoint/2010/main" val="8262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 rot="10800000">
            <a:off x="3340876" y="1584158"/>
            <a:ext cx="413286" cy="2046283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8901" y="2312897"/>
            <a:ext cx="516664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         = set containing the top </a:t>
            </a:r>
            <a:r>
              <a:rPr lang="en-US" altLang="ja-JP" sz="2800" i="1" dirty="0">
                <a:solidFill>
                  <a:srgbClr val="BC0000"/>
                </a:solidFill>
                <a:cs typeface="Courier New"/>
              </a:rPr>
              <a:t>b</a:t>
            </a:r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hypotheses ending at position 1, along with their scores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569" y="2452093"/>
            <a:ext cx="711200" cy="3683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8" y="3986526"/>
            <a:ext cx="8002296" cy="1692771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note: this is a set; the items do </a:t>
            </a:r>
            <a:r>
              <a:rPr lang="en-US" altLang="ja-JP" sz="2800" b="1" dirty="0">
                <a:cs typeface="Courier New"/>
              </a:rPr>
              <a:t>not</a:t>
            </a:r>
            <a:r>
              <a:rPr lang="en-US" altLang="ja-JP" sz="2800" dirty="0">
                <a:cs typeface="Courier New"/>
              </a:rPr>
              <a:t> have to be sorted </a:t>
            </a:r>
          </a:p>
          <a:p>
            <a:endParaRPr lang="en-US" altLang="ja-JP" dirty="0">
              <a:cs typeface="Courier New"/>
            </a:endParaRPr>
          </a:p>
          <a:p>
            <a:r>
              <a:rPr lang="en-US" altLang="ja-JP" sz="2800" dirty="0">
                <a:cs typeface="Courier New"/>
              </a:rPr>
              <a:t>so, this step only takes O(</a:t>
            </a:r>
            <a:r>
              <a:rPr lang="en-US" altLang="ja-JP" sz="2800" i="1" dirty="0">
                <a:cs typeface="Courier New"/>
              </a:rPr>
              <a:t>N</a:t>
            </a:r>
            <a:r>
              <a:rPr lang="en-US" altLang="ja-JP" sz="2800" dirty="0">
                <a:cs typeface="Courier New"/>
              </a:rPr>
              <a:t>) time if there are </a:t>
            </a:r>
            <a:r>
              <a:rPr lang="en-US" altLang="ja-JP" sz="2800" i="1" dirty="0">
                <a:cs typeface="Courier New"/>
              </a:rPr>
              <a:t>N</a:t>
            </a:r>
            <a:r>
              <a:rPr lang="en-US" altLang="ja-JP" sz="2800" dirty="0">
                <a:cs typeface="Courier New"/>
              </a:rPr>
              <a:t> hypotheses to sort; cf. “unordered partial sorting”</a:t>
            </a:r>
          </a:p>
        </p:txBody>
      </p:sp>
    </p:spTree>
    <p:extLst>
      <p:ext uri="{BB962C8B-B14F-4D97-AF65-F5344CB8AC3E}">
        <p14:creationId xmlns:p14="http://schemas.microsoft.com/office/powerpoint/2010/main" val="2054664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 Hypotheses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7" idx="1"/>
          </p:cNvCxnSpPr>
          <p:nvPr/>
        </p:nvCxnSpPr>
        <p:spPr bwMode="auto">
          <a:xfrm>
            <a:off x="3372969" y="2144716"/>
            <a:ext cx="811364" cy="8001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 flipV="1">
            <a:off x="3372969" y="1825057"/>
            <a:ext cx="811364" cy="31965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4"/>
          <p:cNvSpPr/>
          <p:nvPr/>
        </p:nvSpPr>
        <p:spPr>
          <a:xfrm>
            <a:off x="4184333" y="1578922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333" y="173450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4333" y="2489528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970" y="26417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2041" y="339814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355036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7455" y="430176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092" y="445398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45" name="Straight Arrow Connector 44"/>
          <p:cNvCxnSpPr>
            <a:stCxn id="32" idx="3"/>
          </p:cNvCxnSpPr>
          <p:nvPr/>
        </p:nvCxnSpPr>
        <p:spPr bwMode="auto">
          <a:xfrm>
            <a:off x="3336816" y="2144860"/>
            <a:ext cx="859276" cy="173423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/>
          <p:cNvCxnSpPr>
            <a:stCxn id="32" idx="3"/>
            <a:endCxn id="43" idx="1"/>
          </p:cNvCxnSpPr>
          <p:nvPr/>
        </p:nvCxnSpPr>
        <p:spPr bwMode="auto">
          <a:xfrm>
            <a:off x="3336816" y="2144860"/>
            <a:ext cx="859276" cy="257073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ctangle 46"/>
          <p:cNvSpPr/>
          <p:nvPr/>
        </p:nvSpPr>
        <p:spPr>
          <a:xfrm>
            <a:off x="5097961" y="2489672"/>
            <a:ext cx="249644" cy="910606"/>
          </a:xfrm>
          <a:prstGeom prst="rect">
            <a:avLst/>
          </a:prstGeom>
          <a:solidFill>
            <a:srgbClr val="FFE6E6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097961" y="1579066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102021" y="4301802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102021" y="3402917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46" y="3643566"/>
            <a:ext cx="228080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i="1" dirty="0">
                <a:cs typeface="Courier New"/>
              </a:rPr>
              <a:t>b</a:t>
            </a:r>
            <a:r>
              <a:rPr lang="en-US" altLang="ja-JP" sz="2800" dirty="0">
                <a:cs typeface="Courier New"/>
              </a:rPr>
              <a:t> hypotheses to extend</a:t>
            </a:r>
          </a:p>
        </p:txBody>
      </p:sp>
      <p:sp>
        <p:nvSpPr>
          <p:cNvPr id="5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53" y="4915612"/>
            <a:ext cx="291729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consider all possible ways of extending them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340876" y="3508498"/>
            <a:ext cx="855216" cy="203708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53"/>
          <p:cNvSpPr/>
          <p:nvPr/>
        </p:nvSpPr>
        <p:spPr>
          <a:xfrm>
            <a:off x="4184333" y="5390001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333" y="554558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97961" y="5390145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884" y="4897329"/>
            <a:ext cx="5305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mr-IN" altLang="ja-JP" sz="2800" i="1" dirty="0">
                <a:solidFill>
                  <a:srgbClr val="BC0000"/>
                </a:solidFill>
                <a:cs typeface="Courier New"/>
              </a:rPr>
              <a:t>…</a:t>
            </a:r>
            <a:endParaRPr lang="en-US" altLang="ja-JP" sz="2800" dirty="0">
              <a:solidFill>
                <a:srgbClr val="BC0000"/>
              </a:solidFill>
              <a:cs typeface="Courier New"/>
            </a:endParaRPr>
          </a:p>
        </p:txBody>
      </p:sp>
      <p:cxnSp>
        <p:nvCxnSpPr>
          <p:cNvPr id="58" name="Straight Arrow Connector 57"/>
          <p:cNvCxnSpPr/>
          <p:nvPr/>
        </p:nvCxnSpPr>
        <p:spPr bwMode="auto">
          <a:xfrm>
            <a:off x="3340876" y="3550368"/>
            <a:ext cx="680661" cy="317535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Rectangle 58"/>
          <p:cNvSpPr/>
          <p:nvPr/>
        </p:nvSpPr>
        <p:spPr>
          <a:xfrm>
            <a:off x="4184333" y="6303967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097961" y="6304111"/>
            <a:ext cx="249644" cy="910606"/>
          </a:xfrm>
          <a:prstGeom prst="rect">
            <a:avLst/>
          </a:prstGeom>
          <a:solidFill>
            <a:srgbClr val="FFE6E6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2041" y="64670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6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170" y="1563447"/>
            <a:ext cx="338961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scores of extended hypotheses:</a:t>
            </a:r>
          </a:p>
        </p:txBody>
      </p:sp>
      <p:sp>
        <p:nvSpPr>
          <p:cNvPr id="6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3611" y="5250434"/>
            <a:ext cx="296323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last label from previous hypothesis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473" y="2824474"/>
            <a:ext cx="2603500" cy="1473200"/>
          </a:xfrm>
          <a:prstGeom prst="rect">
            <a:avLst/>
          </a:prstGeom>
        </p:spPr>
      </p:pic>
      <p:cxnSp>
        <p:nvCxnSpPr>
          <p:cNvPr id="66" name="Straight Arrow Connector 65"/>
          <p:cNvCxnSpPr/>
          <p:nvPr/>
        </p:nvCxnSpPr>
        <p:spPr bwMode="auto">
          <a:xfrm flipV="1">
            <a:off x="7255230" y="3750883"/>
            <a:ext cx="164624" cy="146148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2962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 animBg="1"/>
      <p:bldP spid="31" grpId="0"/>
      <p:bldP spid="33" grpId="0" animBg="1"/>
      <p:bldP spid="35" grpId="0"/>
      <p:bldP spid="38" grpId="0" animBg="1"/>
      <p:bldP spid="43" grpId="0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4" grpId="0" animBg="1"/>
      <p:bldP spid="55" grpId="0"/>
      <p:bldP spid="56" grpId="0" animBg="1"/>
      <p:bldP spid="57" grpId="0"/>
      <p:bldP spid="59" grpId="0" animBg="1"/>
      <p:bldP spid="60" grpId="0" animBg="1"/>
      <p:bldP spid="61" grpId="0"/>
      <p:bldP spid="62" grpId="1"/>
      <p:bldP spid="6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 rot="10800000">
            <a:off x="5398701" y="1584158"/>
            <a:ext cx="413286" cy="2046283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555" y="2311740"/>
            <a:ext cx="338348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         = set containing the top </a:t>
            </a:r>
            <a:r>
              <a:rPr lang="en-US" altLang="ja-JP" sz="2800" i="1" dirty="0">
                <a:solidFill>
                  <a:srgbClr val="BC0000"/>
                </a:solidFill>
                <a:cs typeface="Courier New"/>
              </a:rPr>
              <a:t>b</a:t>
            </a:r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hypotheses ending at position 2, with their scores</a:t>
            </a:r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8" y="4455647"/>
            <a:ext cx="6809077" cy="954107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note: using </a:t>
            </a:r>
            <a:r>
              <a:rPr lang="en-US" altLang="ja-JP" sz="2800" dirty="0" err="1">
                <a:cs typeface="Courier New"/>
              </a:rPr>
              <a:t>backpointers</a:t>
            </a:r>
            <a:r>
              <a:rPr lang="en-US" altLang="ja-JP" sz="2800" dirty="0">
                <a:cs typeface="Courier New"/>
              </a:rPr>
              <a:t>, we can recover the entire hypothesis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72" y="2441994"/>
            <a:ext cx="711200" cy="3683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 bwMode="auto">
          <a:xfrm flipV="1">
            <a:off x="3346290" y="3060814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3808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 rot="10800000">
            <a:off x="5398701" y="1584158"/>
            <a:ext cx="413286" cy="2046283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555" y="2311740"/>
            <a:ext cx="338348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         = set containing the top </a:t>
            </a:r>
            <a:r>
              <a:rPr lang="en-US" altLang="ja-JP" sz="2800" i="1" dirty="0">
                <a:solidFill>
                  <a:srgbClr val="BC0000"/>
                </a:solidFill>
                <a:cs typeface="Courier New"/>
              </a:rPr>
              <a:t>b</a:t>
            </a:r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 hypotheses ending at position 2, with their scores</a:t>
            </a:r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9" y="4455647"/>
            <a:ext cx="6479828" cy="523220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computational complexity of beam search?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72" y="2441994"/>
            <a:ext cx="711200" cy="3683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 bwMode="auto">
          <a:xfrm flipV="1">
            <a:off x="3346290" y="3060814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030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Complexity of Beam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008" y="1049914"/>
            <a:ext cx="8560465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</a:t>
            </a:r>
            <a:r>
              <a:rPr lang="en-US" altLang="ja-JP" sz="2800" b="1" i="1" dirty="0">
                <a:solidFill>
                  <a:srgbClr val="000000"/>
                </a:solidFill>
                <a:cs typeface="Courier New"/>
              </a:rPr>
              <a:t>x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 positions</a:t>
            </a:r>
          </a:p>
          <a:p>
            <a:endParaRPr lang="en-US" altLang="ja-JP" sz="2800" dirty="0">
              <a:solidFill>
                <a:srgbClr val="000000"/>
              </a:solidFill>
              <a:cs typeface="Courier New"/>
            </a:endParaRP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extend hypotheses: </a:t>
            </a: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O(</a:t>
            </a:r>
            <a:r>
              <a:rPr lang="en-US" altLang="ja-JP" sz="2800" i="1" dirty="0" err="1">
                <a:solidFill>
                  <a:srgbClr val="000000"/>
                </a:solidFill>
                <a:cs typeface="Courier New"/>
              </a:rPr>
              <a:t>b</a:t>
            </a:r>
            <a:r>
              <a:rPr lang="en-US" altLang="ja-JP" sz="2800" dirty="0" err="1">
                <a:solidFill>
                  <a:srgbClr val="000000"/>
                </a:solidFill>
                <a:cs typeface="Courier New"/>
              </a:rPr>
              <a:t>|</a:t>
            </a:r>
            <a:r>
              <a:rPr lang="en-US" altLang="ja-JP" sz="2800" i="1" dirty="0" err="1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|) time for each position (O(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b)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 hypotheses, for each we have to iterate through labels)</a:t>
            </a:r>
          </a:p>
          <a:p>
            <a:endParaRPr lang="en-US" altLang="ja-JP" sz="2800" dirty="0">
              <a:solidFill>
                <a:srgbClr val="000000"/>
              </a:solidFill>
              <a:cs typeface="Courier New"/>
            </a:endParaRP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prune set of hypotheses:</a:t>
            </a: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O(</a:t>
            </a:r>
            <a:r>
              <a:rPr lang="en-US" altLang="ja-JP" sz="2800" i="1" dirty="0" err="1">
                <a:solidFill>
                  <a:srgbClr val="000000"/>
                </a:solidFill>
                <a:cs typeface="Courier New"/>
              </a:rPr>
              <a:t>b</a:t>
            </a:r>
            <a:r>
              <a:rPr lang="en-US" altLang="ja-JP" sz="2800" dirty="0" err="1">
                <a:solidFill>
                  <a:srgbClr val="000000"/>
                </a:solidFill>
                <a:cs typeface="Courier New"/>
              </a:rPr>
              <a:t>|</a:t>
            </a:r>
            <a:r>
              <a:rPr lang="en-US" altLang="ja-JP" sz="2800" i="1" dirty="0" err="1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|) time for each position (unordered partial sorting takes O(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N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) time for a set with 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N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 items)</a:t>
            </a:r>
          </a:p>
          <a:p>
            <a:endParaRPr lang="en-US" altLang="ja-JP" sz="2800" dirty="0">
              <a:solidFill>
                <a:srgbClr val="000000"/>
              </a:solidFill>
              <a:cs typeface="Courier New"/>
            </a:endParaRP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time for beam: O(|</a:t>
            </a:r>
            <a:r>
              <a:rPr lang="en-US" altLang="ja-JP" sz="2800" b="1" i="1" dirty="0">
                <a:solidFill>
                  <a:srgbClr val="000000"/>
                </a:solidFill>
                <a:cs typeface="Courier New"/>
              </a:rPr>
              <a:t>x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 </a:t>
            </a:r>
            <a:r>
              <a:rPr lang="en-US" altLang="ja-JP" sz="2800" i="1" dirty="0" err="1">
                <a:solidFill>
                  <a:srgbClr val="000000"/>
                </a:solidFill>
                <a:cs typeface="Courier New"/>
              </a:rPr>
              <a:t>b</a:t>
            </a:r>
            <a:r>
              <a:rPr lang="en-US" altLang="ja-JP" sz="2800" dirty="0" err="1">
                <a:solidFill>
                  <a:srgbClr val="000000"/>
                </a:solidFill>
                <a:cs typeface="Courier New"/>
              </a:rPr>
              <a:t>|</a:t>
            </a:r>
            <a:r>
              <a:rPr lang="en-US" altLang="ja-JP" sz="2800" i="1" dirty="0" err="1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|)</a:t>
            </a: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time for greedy: O(|</a:t>
            </a:r>
            <a:r>
              <a:rPr lang="en-US" altLang="ja-JP" sz="2800" b="1" i="1" dirty="0">
                <a:solidFill>
                  <a:srgbClr val="000000"/>
                </a:solidFill>
                <a:cs typeface="Courier New"/>
              </a:rPr>
              <a:t>x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 |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|)</a:t>
            </a:r>
          </a:p>
          <a:p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time for Viterbi: O(|</a:t>
            </a:r>
            <a:r>
              <a:rPr lang="en-US" altLang="ja-JP" sz="2800" b="1" i="1" dirty="0">
                <a:solidFill>
                  <a:srgbClr val="000000"/>
                </a:solidFill>
                <a:cs typeface="Courier New"/>
              </a:rPr>
              <a:t>x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 |</a:t>
            </a:r>
            <a:r>
              <a:rPr lang="en-US" altLang="ja-JP" sz="2800" i="1" dirty="0">
                <a:solidFill>
                  <a:srgbClr val="000000"/>
                </a:solidFill>
                <a:cs typeface="Courier New"/>
              </a:rPr>
              <a:t>L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|</a:t>
            </a:r>
            <a:r>
              <a:rPr lang="en-US" altLang="ja-JP" sz="2800" baseline="30000" dirty="0">
                <a:solidFill>
                  <a:srgbClr val="000000"/>
                </a:solidFill>
                <a:cs typeface="Courier New"/>
              </a:rPr>
              <a:t>2</a:t>
            </a:r>
            <a:r>
              <a:rPr lang="en-US" altLang="ja-JP" sz="2800" dirty="0">
                <a:solidFill>
                  <a:srgbClr val="000000"/>
                </a:solidFill>
                <a:cs typeface="Courier New"/>
              </a:rPr>
              <a:t>)</a:t>
            </a:r>
          </a:p>
          <a:p>
            <a:endParaRPr lang="en-US" altLang="ja-JP" sz="2800" dirty="0">
              <a:solidFill>
                <a:srgbClr val="000000"/>
              </a:solidFill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2093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6E4A-6EB2-7C44-B74E-0F266452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B265-2E5C-EF42-A0CD-14DE13407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beam search alternates between extending hypotheses and pruning hypothesis sets</a:t>
            </a:r>
          </a:p>
          <a:p>
            <a:r>
              <a:rPr lang="en-US" dirty="0"/>
              <a:t>the design of these steps depends on the structure being predicted</a:t>
            </a:r>
          </a:p>
          <a:p>
            <a:r>
              <a:rPr lang="en-US" dirty="0"/>
              <a:t>at the end, just return the highest-scoring hypothesis</a:t>
            </a:r>
          </a:p>
          <a:p>
            <a:r>
              <a:rPr lang="en-US" dirty="0"/>
              <a:t>the final set of hypotheses can also be used as an approximate </a:t>
            </a:r>
            <a:r>
              <a:rPr lang="en-US" i="1" dirty="0"/>
              <a:t>n</a:t>
            </a:r>
            <a:r>
              <a:rPr lang="en-US" dirty="0"/>
              <a:t>-best list (where </a:t>
            </a:r>
            <a:r>
              <a:rPr lang="en-US" i="1" dirty="0"/>
              <a:t>n </a:t>
            </a:r>
            <a:r>
              <a:rPr lang="en-US" dirty="0"/>
              <a:t>= </a:t>
            </a:r>
            <a:r>
              <a:rPr lang="en-US" i="1" dirty="0"/>
              <a:t>b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A407A-CD81-6E4A-9379-2B35B20D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1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82F1-E938-634F-9003-9D122EAD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D2C78-3356-C54A-B639-E35E32A86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set </a:t>
            </a:r>
            <a:r>
              <a:rPr lang="en-US" i="1" dirty="0"/>
              <a:t>b</a:t>
            </a:r>
            <a:r>
              <a:rPr lang="en-US" dirty="0"/>
              <a:t> = |</a:t>
            </a:r>
            <a:r>
              <a:rPr lang="en-US" i="1" dirty="0"/>
              <a:t>L</a:t>
            </a:r>
            <a:r>
              <a:rPr lang="en-US" dirty="0"/>
              <a:t>|, do we get Viterbi?</a:t>
            </a:r>
          </a:p>
          <a:p>
            <a:pPr lvl="1"/>
            <a:r>
              <a:rPr lang="en-US" dirty="0"/>
              <a:t>no</a:t>
            </a:r>
          </a:p>
          <a:p>
            <a:pPr lvl="1"/>
            <a:r>
              <a:rPr lang="en-US" dirty="0"/>
              <a:t>beam search still operates left-to-right greedily and can’t recover if the best path is pruned early</a:t>
            </a:r>
          </a:p>
          <a:p>
            <a:pPr lvl="1"/>
            <a:r>
              <a:rPr lang="en-US" dirty="0"/>
              <a:t>Viterbi doesn’t prune</a:t>
            </a:r>
            <a:endParaRPr lang="en-US" b="1" dirty="0"/>
          </a:p>
          <a:p>
            <a:r>
              <a:rPr lang="en-US" b="1" dirty="0"/>
              <a:t>recombination</a:t>
            </a:r>
            <a:r>
              <a:rPr lang="en-US" dirty="0"/>
              <a:t> can improve the diversity of hypotheses in the beam (and therefore improve the search), but is only applicable for certain parts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A2392-55E7-0B49-9BA8-9FCD95CE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22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Search for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26126" b="7315"/>
          <a:stretch/>
        </p:blipFill>
        <p:spPr>
          <a:xfrm>
            <a:off x="762000" y="1009280"/>
            <a:ext cx="7600130" cy="4564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1" y="1167574"/>
            <a:ext cx="3352918" cy="58477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88CD2"/>
                </a:solidFill>
              </a:rPr>
              <a:t>Let beam size = 2: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458" y="2023067"/>
            <a:ext cx="1238759" cy="221599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rgbClr val="BC0000"/>
                </a:solidFill>
              </a:rPr>
              <a:t>X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7780162" y="898229"/>
            <a:ext cx="1064755" cy="625773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7780162" y="1524002"/>
            <a:ext cx="1064755" cy="687342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7780162" y="4486716"/>
            <a:ext cx="1064755" cy="625773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7780162" y="5112489"/>
            <a:ext cx="1064755" cy="687342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1123590" y="6156295"/>
            <a:ext cx="7035025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288CD2"/>
                </a:solidFill>
              </a:rPr>
              <a:t>Pranav</a:t>
            </a:r>
            <a:r>
              <a:rPr lang="en-US" sz="2000" dirty="0">
                <a:solidFill>
                  <a:srgbClr val="288CD2"/>
                </a:solidFill>
              </a:rPr>
              <a:t> </a:t>
            </a:r>
            <a:r>
              <a:rPr lang="en-US" sz="2000" dirty="0" err="1">
                <a:solidFill>
                  <a:srgbClr val="288CD2"/>
                </a:solidFill>
              </a:rPr>
              <a:t>Khaitan</a:t>
            </a:r>
            <a:r>
              <a:rPr lang="en-US" sz="2000" dirty="0">
                <a:solidFill>
                  <a:srgbClr val="288CD2"/>
                </a:solidFill>
              </a:rPr>
              <a:t>, Google Research Blog: </a:t>
            </a:r>
            <a:r>
              <a:rPr lang="en-US" sz="2000" i="1" dirty="0">
                <a:solidFill>
                  <a:srgbClr val="288CD2"/>
                </a:solidFill>
              </a:rPr>
              <a:t>Chat Smarter with </a:t>
            </a:r>
            <a:r>
              <a:rPr lang="en-US" sz="2000" i="1" dirty="0" err="1">
                <a:solidFill>
                  <a:srgbClr val="288CD2"/>
                </a:solidFill>
              </a:rPr>
              <a:t>Allo</a:t>
            </a:r>
            <a:endParaRPr lang="en-US" sz="20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55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6E4A-6EB2-7C44-B74E-0F266452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Search in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B265-2E5C-EF42-A0CD-14DE13407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generation tasks, using too large of a beam  size may hurt performance</a:t>
            </a:r>
          </a:p>
          <a:p>
            <a:r>
              <a:rPr lang="en-US" dirty="0"/>
              <a:t>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A407A-CD81-6E4A-9379-2B35B20D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87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A695-1CD3-2A43-843E-F352537A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Approximate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6CDC0-D398-8047-A7ED-3EC043EB5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</a:t>
            </a:r>
          </a:p>
          <a:p>
            <a:r>
              <a:rPr lang="en-US" dirty="0"/>
              <a:t>beam search</a:t>
            </a:r>
          </a:p>
          <a:p>
            <a:r>
              <a:rPr lang="en-US" dirty="0"/>
              <a:t>coarse-to-fine</a:t>
            </a:r>
          </a:p>
          <a:p>
            <a:r>
              <a:rPr lang="en-US" dirty="0"/>
              <a:t>heuristic search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AFFA2-7A3A-AD44-A603-B610573B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68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B404-84C5-C244-B226-3EADC160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Coarse-to-Fine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D29C-9731-434E-8E8F-1E1AA33C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073740"/>
            <a:ext cx="8399929" cy="5052424"/>
          </a:xfrm>
        </p:spPr>
        <p:txBody>
          <a:bodyPr>
            <a:normAutofit/>
          </a:bodyPr>
          <a:lstStyle/>
          <a:p>
            <a:r>
              <a:rPr lang="en-US" dirty="0"/>
              <a:t>use a series of models of increasing complexity</a:t>
            </a:r>
          </a:p>
          <a:p>
            <a:pPr lvl="1"/>
            <a:r>
              <a:rPr lang="en-US" dirty="0"/>
              <a:t>earlier models are faster than later models</a:t>
            </a:r>
          </a:p>
          <a:p>
            <a:pPr lvl="1"/>
            <a:r>
              <a:rPr lang="en-US" dirty="0"/>
              <a:t>each model is used to prune away potential structures for subsequent models to consider</a:t>
            </a:r>
          </a:p>
          <a:p>
            <a:endParaRPr lang="en-US" dirty="0"/>
          </a:p>
          <a:p>
            <a:r>
              <a:rPr lang="en-US" dirty="0"/>
              <a:t>downside is that this requires training additional models</a:t>
            </a:r>
          </a:p>
          <a:p>
            <a:pPr lvl="1"/>
            <a:r>
              <a:rPr lang="en-US" dirty="0"/>
              <a:t>but these additional models are usually fairly simple and efficient to train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9CD22-5816-9C40-9DE3-45BAC0FE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3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B404-84C5-C244-B226-3EADC160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Coarse-to-Fine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D29C-9731-434E-8E8F-1E1AA33C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3411"/>
            <a:ext cx="8229600" cy="1024001"/>
          </a:xfrm>
        </p:spPr>
        <p:txBody>
          <a:bodyPr>
            <a:normAutofit/>
          </a:bodyPr>
          <a:lstStyle/>
          <a:p>
            <a:r>
              <a:rPr lang="en-US" dirty="0"/>
              <a:t>this is popular for tasks like parsing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9CD22-5816-9C40-9DE3-45BAC0FE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41ED3-DDF5-6F43-A904-710F498DB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8484"/>
            <a:ext cx="9144000" cy="465028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A35E27-2FCC-DF44-8CF4-38E106D048BD}"/>
              </a:ext>
            </a:extLst>
          </p:cNvPr>
          <p:cNvSpPr txBox="1">
            <a:spLocks/>
          </p:cNvSpPr>
          <p:nvPr/>
        </p:nvSpPr>
        <p:spPr>
          <a:xfrm>
            <a:off x="1637056" y="6385349"/>
            <a:ext cx="6484968" cy="54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Petrov (2009): </a:t>
            </a:r>
            <a:r>
              <a:rPr lang="en-US" sz="2000" i="1" dirty="0">
                <a:solidFill>
                  <a:srgbClr val="288CD2"/>
                </a:solidFill>
              </a:rPr>
              <a:t>Coarse-to-Fine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978437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B404-84C5-C244-B226-3EADC160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Coarse-to-Fine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D29C-9731-434E-8E8F-1E1AA33C5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also can be used for generation tasks (by clustering words and training coarse models to predict clusters)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9CD22-5816-9C40-9DE3-45BAC0FE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7A6A66-4B2E-B64D-BE7B-156DD240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980"/>
            <a:ext cx="9144000" cy="374737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A35E27-2FCC-DF44-8CF4-38E106D048BD}"/>
              </a:ext>
            </a:extLst>
          </p:cNvPr>
          <p:cNvSpPr txBox="1">
            <a:spLocks/>
          </p:cNvSpPr>
          <p:nvPr/>
        </p:nvSpPr>
        <p:spPr>
          <a:xfrm>
            <a:off x="1637056" y="6385349"/>
            <a:ext cx="6484968" cy="54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Petrov (2009): </a:t>
            </a:r>
            <a:r>
              <a:rPr lang="en-US" sz="2000" i="1" dirty="0">
                <a:solidFill>
                  <a:srgbClr val="288CD2"/>
                </a:solidFill>
              </a:rPr>
              <a:t>Coarse-to-Fine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2720470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B404-84C5-C244-B226-3EADC160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Coarse-to-Fine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D29C-9731-434E-8E8F-1E1AA33C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106" y="1073740"/>
            <a:ext cx="9144000" cy="50524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remember the local predictors we discussed for dependency parsing and machine translation?</a:t>
            </a:r>
          </a:p>
          <a:p>
            <a:endParaRPr lang="en-US" dirty="0"/>
          </a:p>
          <a:p>
            <a:r>
              <a:rPr lang="en-US" dirty="0"/>
              <a:t>while they don’t work very well by themselves, they can be useful as coarse models</a:t>
            </a:r>
          </a:p>
          <a:p>
            <a:endParaRPr lang="en-US" dirty="0"/>
          </a:p>
          <a:p>
            <a:r>
              <a:rPr lang="en-US" dirty="0"/>
              <a:t>e.g., for dependency parsing:</a:t>
            </a:r>
          </a:p>
          <a:p>
            <a:pPr lvl="1"/>
            <a:r>
              <a:rPr lang="en-US" dirty="0"/>
              <a:t>train a local predictor</a:t>
            </a:r>
          </a:p>
          <a:p>
            <a:pPr lvl="1"/>
            <a:r>
              <a:rPr lang="en-US" dirty="0"/>
              <a:t>use it to get top </a:t>
            </a:r>
            <a:r>
              <a:rPr lang="en-US" i="1" dirty="0"/>
              <a:t>k</a:t>
            </a:r>
            <a:r>
              <a:rPr lang="en-US" dirty="0"/>
              <a:t> head candidates for each word</a:t>
            </a:r>
          </a:p>
          <a:p>
            <a:pPr lvl="1"/>
            <a:r>
              <a:rPr lang="en-US" dirty="0"/>
              <a:t>restrict next model to trees that use those candidates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9CD22-5816-9C40-9DE3-45BAC0FE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5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5709-6595-D346-A701-EFCF0DD0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References for Coarse-to-Fine Procedures in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63409-1BF0-3443-9E66-45682F38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Petrov (2009): </a:t>
            </a:r>
            <a:r>
              <a:rPr lang="en-US" i="1" dirty="0"/>
              <a:t>Coarse-to-Fine Natural Language Processing</a:t>
            </a:r>
          </a:p>
          <a:p>
            <a:r>
              <a:rPr lang="en-US" dirty="0"/>
              <a:t>Weiss and </a:t>
            </a:r>
            <a:r>
              <a:rPr lang="en-US" dirty="0" err="1"/>
              <a:t>Taskar</a:t>
            </a:r>
            <a:r>
              <a:rPr lang="en-US" dirty="0"/>
              <a:t> (2010): </a:t>
            </a:r>
            <a:r>
              <a:rPr lang="en-US" i="1" dirty="0"/>
              <a:t>Structured Prediction Cascades</a:t>
            </a:r>
          </a:p>
          <a:p>
            <a:r>
              <a:rPr lang="en-US" dirty="0"/>
              <a:t>Rush and Petrov (2012): </a:t>
            </a:r>
            <a:r>
              <a:rPr lang="en-US" i="1" dirty="0"/>
              <a:t>Vine Pruning for Efficient Multi-Pass Dependency Parsing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DEDA0-2C6D-7344-BCF2-200F4FE4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03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C50D-C09D-4045-BD36-D921BAE5B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Heuristic Search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A94B-B081-1B43-9FDF-672EE65C7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547100" cy="50524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beam search can be improved by using heuristics to favor certain hypothesis extensions over others</a:t>
            </a:r>
          </a:p>
          <a:p>
            <a:pPr lvl="1"/>
            <a:r>
              <a:rPr lang="en-US" dirty="0"/>
              <a:t>e.g., in phrase-based machine translation this is called “future cost estimation” (see Koehn et al. (2003): </a:t>
            </a:r>
            <a:r>
              <a:rPr lang="en-US" i="1" dirty="0"/>
              <a:t>Statistical Phrase-Based Translation)</a:t>
            </a:r>
          </a:p>
          <a:p>
            <a:pPr lvl="1"/>
            <a:endParaRPr lang="en-US" i="1" dirty="0"/>
          </a:p>
          <a:p>
            <a:r>
              <a:rPr lang="en-US" dirty="0"/>
              <a:t>if using a particular form of beam search (cf. “agenda algorithms”) and the heuristics satisfy certain conditions, search can be exact</a:t>
            </a:r>
          </a:p>
          <a:p>
            <a:pPr lvl="1"/>
            <a:r>
              <a:rPr lang="en-US" dirty="0"/>
              <a:t>cf. A* search</a:t>
            </a:r>
          </a:p>
          <a:p>
            <a:pPr lvl="1"/>
            <a:r>
              <a:rPr lang="en-US" dirty="0"/>
              <a:t>for parsing, see Klein &amp; Manning (2003): </a:t>
            </a:r>
            <a:r>
              <a:rPr lang="en-US" i="1" dirty="0"/>
              <a:t>A* Parsing: Fast Exact Viterbi Parse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B3425-454C-5A4A-B987-A5BA0DDE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2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0866-ADCD-134A-B23B-509270A7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Non-Local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01DA0-2430-BE4C-8E59-BB4B4518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efficient exact or even approximate inference requires relatively small parts</a:t>
            </a:r>
          </a:p>
          <a:p>
            <a:r>
              <a:rPr lang="en-US" dirty="0"/>
              <a:t>but intuitively, this limits modeling power</a:t>
            </a:r>
          </a:p>
          <a:p>
            <a:r>
              <a:rPr lang="en-US" dirty="0"/>
              <a:t>how can we combine efficiency with some long-distance or “non-local” information in the scoring function?</a:t>
            </a:r>
          </a:p>
          <a:p>
            <a:r>
              <a:rPr lang="en-US" dirty="0"/>
              <a:t>lots of work on this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75843-7B89-D24D-94E1-BE330EEC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Non-Local Features in Named Entity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735"/>
            <a:ext cx="8229600" cy="39934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Chicago Bears needed a win in Sunday night’s game</a:t>
            </a:r>
            <a:r>
              <a:rPr lang="en-US" dirty="0">
                <a:solidFill>
                  <a:srgbClr val="FFFFFF"/>
                </a:solidFill>
              </a:rPr>
              <a:t>.</a:t>
            </a:r>
            <a:r>
              <a:rPr lang="mr-IN" dirty="0"/>
              <a:t>…</a:t>
            </a:r>
            <a:r>
              <a:rPr lang="en-US" dirty="0"/>
              <a:t> But in the end, </a:t>
            </a:r>
            <a:r>
              <a:rPr lang="en-US" dirty="0">
                <a:solidFill>
                  <a:srgbClr val="288CD2"/>
                </a:solidFill>
              </a:rPr>
              <a:t>Chicago</a:t>
            </a:r>
            <a:r>
              <a:rPr lang="en-US" dirty="0"/>
              <a:t> came up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  <p:sp>
        <p:nvSpPr>
          <p:cNvPr id="6" name="Left Brace 5"/>
          <p:cNvSpPr/>
          <p:nvPr/>
        </p:nvSpPr>
        <p:spPr>
          <a:xfrm rot="16200000">
            <a:off x="6545891" y="2636036"/>
            <a:ext cx="350171" cy="1365763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rgbClr val="288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058" y="3496134"/>
            <a:ext cx="29591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organization?</a:t>
            </a:r>
          </a:p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location?</a:t>
            </a:r>
          </a:p>
        </p:txBody>
      </p:sp>
    </p:spTree>
    <p:extLst>
      <p:ext uri="{BB962C8B-B14F-4D97-AF65-F5344CB8AC3E}">
        <p14:creationId xmlns:p14="http://schemas.microsoft.com/office/powerpoint/2010/main" val="27451345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Non-Local Features in Named Entity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735"/>
            <a:ext cx="8229600" cy="399342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288CD2"/>
                </a:solidFill>
              </a:rPr>
              <a:t>Chicago Bears </a:t>
            </a:r>
            <a:r>
              <a:rPr lang="en-US" dirty="0"/>
              <a:t>needed a win in Sunday night’s game.</a:t>
            </a:r>
            <a:r>
              <a:rPr lang="mr-IN" dirty="0"/>
              <a:t>…</a:t>
            </a:r>
            <a:r>
              <a:rPr lang="en-US" dirty="0"/>
              <a:t> But in the end, </a:t>
            </a:r>
            <a:r>
              <a:rPr lang="en-US" dirty="0">
                <a:solidFill>
                  <a:srgbClr val="288CD2"/>
                </a:solidFill>
              </a:rPr>
              <a:t>Chicago</a:t>
            </a:r>
            <a:r>
              <a:rPr lang="en-US" dirty="0"/>
              <a:t> came up short.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first mention of a named entity may have more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sp>
        <p:nvSpPr>
          <p:cNvPr id="5" name="Left Brace 4"/>
          <p:cNvSpPr/>
          <p:nvPr/>
        </p:nvSpPr>
        <p:spPr>
          <a:xfrm rot="5400000">
            <a:off x="2518886" y="901795"/>
            <a:ext cx="413286" cy="2336167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rgbClr val="288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 rot="16200000">
            <a:off x="6545891" y="2636036"/>
            <a:ext cx="350171" cy="1365763"/>
          </a:xfrm>
          <a:prstGeom prst="leftBrace">
            <a:avLst>
              <a:gd name="adj1" fmla="val 71701"/>
              <a:gd name="adj2" fmla="val 50000"/>
            </a:avLst>
          </a:prstGeom>
          <a:ln w="38100" cmpd="sng">
            <a:solidFill>
              <a:srgbClr val="288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759" y="1281040"/>
            <a:ext cx="28752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organization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058" y="3496134"/>
            <a:ext cx="29591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organization</a:t>
            </a:r>
          </a:p>
        </p:txBody>
      </p:sp>
    </p:spTree>
    <p:extLst>
      <p:ext uri="{BB962C8B-B14F-4D97-AF65-F5344CB8AC3E}">
        <p14:creationId xmlns:p14="http://schemas.microsoft.com/office/powerpoint/2010/main" val="225710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Non-Local Features in Named Entity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7849"/>
            <a:ext cx="8229600" cy="1947863"/>
          </a:xfrm>
        </p:spPr>
        <p:txBody>
          <a:bodyPr>
            <a:normAutofit/>
          </a:bodyPr>
          <a:lstStyle/>
          <a:p>
            <a:r>
              <a:rPr lang="en-US" dirty="0"/>
              <a:t>this type of non-local feature was used in several papers focused on approximate inference for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839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Skip-Chain CRFs with Inference via                Loopy Belief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5422900"/>
            <a:ext cx="8229600" cy="862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88CD2"/>
                </a:solidFill>
              </a:rPr>
              <a:t>Sutton and McCallum (2004): </a:t>
            </a:r>
            <a:r>
              <a:rPr lang="en-US" sz="2400" i="1" dirty="0">
                <a:solidFill>
                  <a:srgbClr val="288CD2"/>
                </a:solidFill>
              </a:rPr>
              <a:t>Collective Segmentation and Labeling of Distant Entities in Information Extraction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DFEDD4DF-F07F-4B4D-B410-196A605D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1164929"/>
            <a:ext cx="67945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625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Inference via Gibbs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5334000"/>
            <a:ext cx="8229600" cy="862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88CD2"/>
                </a:solidFill>
              </a:rPr>
              <a:t>Finkel et al. (2005): </a:t>
            </a:r>
            <a:r>
              <a:rPr lang="en-US" sz="2400" i="1" dirty="0">
                <a:solidFill>
                  <a:srgbClr val="288CD2"/>
                </a:solidFill>
              </a:rPr>
              <a:t>Incorporating non-local information into information extraction systems by Gibbs sampling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8F4DE-D946-D54F-8375-6F7A9990B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1325"/>
            <a:ext cx="9144000" cy="217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104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Non-Local Features in Beam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9" y="3938284"/>
            <a:ext cx="8002296" cy="267765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note: using </a:t>
            </a:r>
            <a:r>
              <a:rPr lang="en-US" altLang="ja-JP" sz="2800" dirty="0" err="1">
                <a:cs typeface="Courier New"/>
              </a:rPr>
              <a:t>backpointers</a:t>
            </a:r>
            <a:r>
              <a:rPr lang="en-US" altLang="ja-JP" sz="2800" dirty="0">
                <a:cs typeface="Courier New"/>
              </a:rPr>
              <a:t>, we can recover the entire hypothesis </a:t>
            </a:r>
            <a:r>
              <a:rPr lang="en-US" altLang="ja-JP" sz="2800" dirty="0">
                <a:cs typeface="Courier New"/>
                <a:sym typeface="Wingdings"/>
              </a:rPr>
              <a:t> we can compute any feature or scoring function using the entire hypothesis!</a:t>
            </a:r>
          </a:p>
          <a:p>
            <a:endParaRPr lang="en-US" altLang="ja-JP" sz="2800" dirty="0">
              <a:cs typeface="Courier New"/>
              <a:sym typeface="Wingdings"/>
            </a:endParaRPr>
          </a:p>
          <a:p>
            <a:r>
              <a:rPr lang="en-US" altLang="ja-JP" sz="2800" dirty="0">
                <a:cs typeface="Courier New"/>
                <a:sym typeface="Wingdings"/>
              </a:rPr>
              <a:t>same idea can be applied to Viterbi and other exact DP algorithms!</a:t>
            </a:r>
            <a:endParaRPr lang="en-US" altLang="ja-JP" sz="2800" dirty="0">
              <a:cs typeface="Courier New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 bwMode="auto">
          <a:xfrm flipV="1">
            <a:off x="3346290" y="3060814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394794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in PCFGs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496300" cy="5052424"/>
          </a:xfrm>
        </p:spPr>
        <p:txBody>
          <a:bodyPr/>
          <a:lstStyle/>
          <a:p>
            <a:r>
              <a:rPr lang="en-US" dirty="0"/>
              <a:t>to find max-probability tree for a sentence, use dynamic programming: </a:t>
            </a:r>
            <a:r>
              <a:rPr lang="en-US" b="1" dirty="0">
                <a:solidFill>
                  <a:srgbClr val="288CD2"/>
                </a:solidFill>
              </a:rPr>
              <a:t>CKY algorithm</a:t>
            </a:r>
          </a:p>
          <a:p>
            <a:r>
              <a:rPr lang="en-US" dirty="0"/>
              <a:t>to find the best way to build a tree covering words </a:t>
            </a:r>
            <a:r>
              <a:rPr lang="en-US" i="1" dirty="0" err="1"/>
              <a:t>i</a:t>
            </a:r>
            <a:r>
              <a:rPr lang="en-US" dirty="0"/>
              <a:t> to </a:t>
            </a:r>
            <a:r>
              <a:rPr lang="en-US" i="1" dirty="0"/>
              <a:t>j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consider all possible “split points” </a:t>
            </a:r>
            <a:r>
              <a:rPr lang="en-US" i="1" dirty="0"/>
              <a:t>k</a:t>
            </a:r>
            <a:r>
              <a:rPr lang="en-US" dirty="0"/>
              <a:t> between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</a:p>
          <a:p>
            <a:pPr lvl="1"/>
            <a:r>
              <a:rPr lang="en-US" dirty="0"/>
              <a:t>for each split point </a:t>
            </a:r>
            <a:r>
              <a:rPr lang="en-US" i="1" dirty="0"/>
              <a:t>k</a:t>
            </a:r>
            <a:r>
              <a:rPr lang="en-US" dirty="0"/>
              <a:t>, consider all possible </a:t>
            </a:r>
            <a:r>
              <a:rPr lang="en-US" dirty="0" err="1"/>
              <a:t>nonterminals</a:t>
            </a:r>
            <a:r>
              <a:rPr lang="en-US" dirty="0"/>
              <a:t> for the two smaller trees created by that split</a:t>
            </a:r>
            <a:endParaRPr lang="en-US" b="1" dirty="0">
              <a:solidFill>
                <a:srgbClr val="288CD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3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8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47867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00598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38273"/>
            <a:ext cx="8140700" cy="4826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CKY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79" y="2369206"/>
            <a:ext cx="2526353" cy="1938992"/>
          </a:xfrm>
          <a:prstGeom prst="rect">
            <a:avLst/>
          </a:prstGeom>
          <a:solidFill>
            <a:srgbClr val="FFFFFF"/>
          </a:solidFill>
          <a:ln w="28575" cmpd="sng">
            <a:solidFill>
              <a:srgbClr val="8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800000"/>
                </a:solidFill>
              </a:rPr>
              <a:t>max probability </a:t>
            </a:r>
          </a:p>
          <a:p>
            <a:pPr algn="ctr"/>
            <a:r>
              <a:rPr lang="en-US" sz="2400" dirty="0">
                <a:solidFill>
                  <a:srgbClr val="800000"/>
                </a:solidFill>
              </a:rPr>
              <a:t>of all ways to </a:t>
            </a:r>
          </a:p>
          <a:p>
            <a:pPr algn="ctr"/>
            <a:r>
              <a:rPr lang="en-US" sz="2400" dirty="0">
                <a:solidFill>
                  <a:srgbClr val="800000"/>
                </a:solidFill>
              </a:rPr>
              <a:t>build a constituent </a:t>
            </a:r>
          </a:p>
          <a:p>
            <a:pPr algn="ctr"/>
            <a:r>
              <a:rPr lang="en-US" sz="2400" dirty="0">
                <a:solidFill>
                  <a:srgbClr val="800000"/>
                </a:solidFill>
              </a:rPr>
              <a:t>with nonterminal</a:t>
            </a:r>
          </a:p>
          <a:p>
            <a:pPr algn="ctr"/>
            <a:r>
              <a:rPr lang="en-US" sz="2400" i="1" dirty="0">
                <a:solidFill>
                  <a:srgbClr val="800000"/>
                </a:solidFill>
              </a:rPr>
              <a:t>Z</a:t>
            </a:r>
            <a:r>
              <a:rPr lang="en-US" sz="2400" dirty="0">
                <a:solidFill>
                  <a:srgbClr val="800000"/>
                </a:solidFill>
              </a:rPr>
              <a:t> from </a:t>
            </a:r>
            <a:r>
              <a:rPr lang="en-US" sz="2400" i="1" dirty="0" err="1">
                <a:solidFill>
                  <a:srgbClr val="800000"/>
                </a:solidFill>
              </a:rPr>
              <a:t>i</a:t>
            </a:r>
            <a:r>
              <a:rPr lang="en-US" sz="2400" dirty="0">
                <a:solidFill>
                  <a:srgbClr val="800000"/>
                </a:solidFill>
              </a:rPr>
              <a:t> to </a:t>
            </a:r>
            <a:r>
              <a:rPr lang="en-US" sz="2400" i="1" dirty="0">
                <a:solidFill>
                  <a:srgbClr val="800000"/>
                </a:solidFill>
              </a:rPr>
              <a:t>j</a:t>
            </a:r>
          </a:p>
        </p:txBody>
      </p:sp>
      <p:cxnSp>
        <p:nvCxnSpPr>
          <p:cNvPr id="7" name="Straight Arrow Connector 6"/>
          <p:cNvCxnSpPr>
            <a:stCxn id="6" idx="0"/>
          </p:cNvCxnSpPr>
          <p:nvPr/>
        </p:nvCxnSpPr>
        <p:spPr bwMode="auto">
          <a:xfrm flipH="1" flipV="1">
            <a:off x="1143009" y="1508126"/>
            <a:ext cx="171447" cy="86108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80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6579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00598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38273"/>
            <a:ext cx="8140700" cy="4826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CKY Algorithm</a:t>
            </a:r>
          </a:p>
        </p:txBody>
      </p:sp>
      <p:cxnSp>
        <p:nvCxnSpPr>
          <p:cNvPr id="7" name="Straight Arrow Connector 6"/>
          <p:cNvCxnSpPr>
            <a:stCxn id="6" idx="0"/>
          </p:cNvCxnSpPr>
          <p:nvPr/>
        </p:nvCxnSpPr>
        <p:spPr bwMode="auto">
          <a:xfrm flipV="1">
            <a:off x="1704638" y="1620874"/>
            <a:ext cx="612592" cy="7483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80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3048000" y="1620874"/>
            <a:ext cx="873125" cy="7483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80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924391" y="2369206"/>
            <a:ext cx="1560493" cy="830997"/>
          </a:xfrm>
          <a:prstGeom prst="rect">
            <a:avLst/>
          </a:prstGeom>
          <a:solidFill>
            <a:srgbClr val="FFFFFF"/>
          </a:solidFill>
          <a:ln w="28575" cmpd="sng">
            <a:solidFill>
              <a:srgbClr val="8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800000"/>
                </a:solidFill>
              </a:rPr>
              <a:t>max over</a:t>
            </a:r>
          </a:p>
          <a:p>
            <a:pPr algn="ctr"/>
            <a:r>
              <a:rPr lang="en-US" sz="2400" dirty="0">
                <a:solidFill>
                  <a:srgbClr val="800000"/>
                </a:solidFill>
              </a:rPr>
              <a:t>split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3664" y="2363744"/>
            <a:ext cx="2239766" cy="1200328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8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800000"/>
                </a:solidFill>
              </a:rPr>
              <a:t>max over</a:t>
            </a:r>
          </a:p>
          <a:p>
            <a:pPr algn="ctr"/>
            <a:r>
              <a:rPr lang="en-US" sz="2400" dirty="0" err="1">
                <a:solidFill>
                  <a:srgbClr val="800000"/>
                </a:solidFill>
              </a:rPr>
              <a:t>nonterminals</a:t>
            </a:r>
            <a:endParaRPr lang="en-US" sz="2400" dirty="0">
              <a:solidFill>
                <a:srgbClr val="800000"/>
              </a:solidFill>
            </a:endParaRPr>
          </a:p>
          <a:p>
            <a:pPr algn="ctr"/>
            <a:r>
              <a:rPr lang="en-US" sz="2400" dirty="0">
                <a:solidFill>
                  <a:srgbClr val="800000"/>
                </a:solidFill>
              </a:rPr>
              <a:t>for smaller trees</a:t>
            </a:r>
          </a:p>
        </p:txBody>
      </p:sp>
    </p:spTree>
    <p:extLst>
      <p:ext uri="{BB962C8B-B14F-4D97-AF65-F5344CB8AC3E}">
        <p14:creationId xmlns:p14="http://schemas.microsoft.com/office/powerpoint/2010/main" val="423069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detail: CKY requires the PCFG to be in </a:t>
            </a:r>
            <a:r>
              <a:rPr lang="en-US" b="1" dirty="0">
                <a:solidFill>
                  <a:srgbClr val="288CD2"/>
                </a:solidFill>
              </a:rPr>
              <a:t>Chomsky Normal Form (CNF)</a:t>
            </a:r>
          </a:p>
          <a:p>
            <a:r>
              <a:rPr lang="en-US" dirty="0"/>
              <a:t>basically: every rule has either 2 </a:t>
            </a:r>
            <a:r>
              <a:rPr lang="en-US" dirty="0" err="1"/>
              <a:t>nonterminals</a:t>
            </a:r>
            <a:r>
              <a:rPr lang="en-US" dirty="0"/>
              <a:t> or 1 terminal on the right-hand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413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1398"/>
            <a:ext cx="8229600" cy="1118559"/>
          </a:xfrm>
        </p:spPr>
        <p:txBody>
          <a:bodyPr>
            <a:normAutofit/>
          </a:bodyPr>
          <a:lstStyle/>
          <a:p>
            <a:r>
              <a:rPr lang="en-US" sz="4000" dirty="0"/>
              <a:t>Cube Pruning</a:t>
            </a:r>
            <a:br>
              <a:rPr lang="en-US" sz="3200" dirty="0"/>
            </a:br>
            <a:r>
              <a:rPr lang="en-US" sz="2400" dirty="0"/>
              <a:t>(Chiang, 2007; Huang &amp; Chiang, 2007)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04256"/>
            <a:ext cx="8229600" cy="4615543"/>
          </a:xfrm>
        </p:spPr>
        <p:txBody>
          <a:bodyPr/>
          <a:lstStyle/>
          <a:p>
            <a:r>
              <a:rPr lang="en-US" sz="2400" dirty="0"/>
              <a:t>modification to dynamic programming algorithms for decoding to use non-local features approximately</a:t>
            </a:r>
          </a:p>
          <a:p>
            <a:endParaRPr lang="en-US" sz="2400" dirty="0"/>
          </a:p>
          <a:p>
            <a:r>
              <a:rPr lang="en-US" sz="2400" dirty="0"/>
              <a:t>keeps a </a:t>
            </a:r>
            <a:r>
              <a:rPr lang="en-US" sz="2400" i="1" dirty="0">
                <a:latin typeface="Times New Roman" charset="0"/>
              </a:rPr>
              <a:t>k</a:t>
            </a:r>
            <a:r>
              <a:rPr lang="en-US" sz="2400" dirty="0"/>
              <a:t>-best list of derivations for each item</a:t>
            </a:r>
          </a:p>
          <a:p>
            <a:endParaRPr lang="en-US" sz="2400" dirty="0"/>
          </a:p>
          <a:p>
            <a:r>
              <a:rPr lang="en-US" sz="2400" dirty="0"/>
              <a:t>applies non-local feature functions on these derivations when defining new items</a:t>
            </a:r>
          </a:p>
          <a:p>
            <a:endParaRPr lang="en-US" sz="2400" dirty="0"/>
          </a:p>
          <a:p>
            <a:r>
              <a:rPr lang="en-US" sz="2400" dirty="0"/>
              <a:t>lets modeler decide which scoring terms to incorporate exactly and which scoring terms to incorporate approximately</a:t>
            </a:r>
          </a:p>
        </p:txBody>
      </p:sp>
    </p:spTree>
    <p:extLst>
      <p:ext uri="{BB962C8B-B14F-4D97-AF65-F5344CB8AC3E}">
        <p14:creationId xmlns:p14="http://schemas.microsoft.com/office/powerpoint/2010/main" val="138713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8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8720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00598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38273"/>
            <a:ext cx="8140700" cy="4826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CKY Algorithm</a:t>
            </a:r>
          </a:p>
        </p:txBody>
      </p:sp>
    </p:spTree>
    <p:extLst>
      <p:ext uri="{BB962C8B-B14F-4D97-AF65-F5344CB8AC3E}">
        <p14:creationId xmlns:p14="http://schemas.microsoft.com/office/powerpoint/2010/main" val="40790555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95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Text Box 10">
            <a:extLst>
              <a:ext uri="{FF2B5EF4-FFF2-40B4-BE49-F238E27FC236}">
                <a16:creationId xmlns:a16="http://schemas.microsoft.com/office/drawing/2014/main" id="{58C06074-B85B-2D47-BA56-C81E07ADE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9071"/>
            <a:ext cx="36331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/>
              <a:t>Local scoring functions compatible with CKY:</a:t>
            </a:r>
          </a:p>
        </p:txBody>
      </p:sp>
    </p:spTree>
    <p:extLst>
      <p:ext uri="{BB962C8B-B14F-4D97-AF65-F5344CB8AC3E}">
        <p14:creationId xmlns:p14="http://schemas.microsoft.com/office/powerpoint/2010/main" val="38688265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9348" name="Freeform 4"/>
          <p:cNvSpPr>
            <a:spLocks/>
          </p:cNvSpPr>
          <p:nvPr/>
        </p:nvSpPr>
        <p:spPr bwMode="auto">
          <a:xfrm>
            <a:off x="685800" y="37338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693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id="{51EEBDAA-9821-CA40-9F66-E32C3A0FE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9071"/>
            <a:ext cx="36331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/>
              <a:t>Local scoring functions compatible with CKY:</a:t>
            </a:r>
          </a:p>
        </p:txBody>
      </p:sp>
    </p:spTree>
    <p:extLst>
      <p:ext uri="{BB962C8B-B14F-4D97-AF65-F5344CB8AC3E}">
        <p14:creationId xmlns:p14="http://schemas.microsoft.com/office/powerpoint/2010/main" val="41337606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1395" name="Freeform 3"/>
          <p:cNvSpPr>
            <a:spLocks/>
          </p:cNvSpPr>
          <p:nvPr/>
        </p:nvSpPr>
        <p:spPr bwMode="auto">
          <a:xfrm>
            <a:off x="685800" y="37338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1399" name="Freeform 7"/>
          <p:cNvSpPr>
            <a:spLocks/>
          </p:cNvSpPr>
          <p:nvPr/>
        </p:nvSpPr>
        <p:spPr bwMode="auto">
          <a:xfrm>
            <a:off x="660400" y="1041400"/>
            <a:ext cx="3060700" cy="3276600"/>
          </a:xfrm>
          <a:custGeom>
            <a:avLst/>
            <a:gdLst>
              <a:gd name="T0" fmla="*/ 304 w 1928"/>
              <a:gd name="T1" fmla="*/ 2032 h 2064"/>
              <a:gd name="T2" fmla="*/ 112 w 1928"/>
              <a:gd name="T3" fmla="*/ 1936 h 2064"/>
              <a:gd name="T4" fmla="*/ 112 w 1928"/>
              <a:gd name="T5" fmla="*/ 1600 h 2064"/>
              <a:gd name="T6" fmla="*/ 784 w 1928"/>
              <a:gd name="T7" fmla="*/ 544 h 2064"/>
              <a:gd name="T8" fmla="*/ 1120 w 1928"/>
              <a:gd name="T9" fmla="*/ 64 h 2064"/>
              <a:gd name="T10" fmla="*/ 1456 w 1928"/>
              <a:gd name="T11" fmla="*/ 160 h 2064"/>
              <a:gd name="T12" fmla="*/ 1888 w 1928"/>
              <a:gd name="T13" fmla="*/ 688 h 2064"/>
              <a:gd name="T14" fmla="*/ 1696 w 1928"/>
              <a:gd name="T15" fmla="*/ 880 h 2064"/>
              <a:gd name="T16" fmla="*/ 1408 w 1928"/>
              <a:gd name="T17" fmla="*/ 784 h 2064"/>
              <a:gd name="T18" fmla="*/ 1264 w 1928"/>
              <a:gd name="T19" fmla="*/ 544 h 2064"/>
              <a:gd name="T20" fmla="*/ 592 w 1928"/>
              <a:gd name="T21" fmla="*/ 1552 h 2064"/>
              <a:gd name="T22" fmla="*/ 448 w 1928"/>
              <a:gd name="T23" fmla="*/ 1984 h 2064"/>
              <a:gd name="T24" fmla="*/ 304 w 1928"/>
              <a:gd name="T25" fmla="*/ 2032 h 20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8" h="2064">
                <a:moveTo>
                  <a:pt x="304" y="2032"/>
                </a:moveTo>
                <a:cubicBezTo>
                  <a:pt x="248" y="2024"/>
                  <a:pt x="144" y="2008"/>
                  <a:pt x="112" y="1936"/>
                </a:cubicBezTo>
                <a:cubicBezTo>
                  <a:pt x="80" y="1864"/>
                  <a:pt x="0" y="1832"/>
                  <a:pt x="112" y="1600"/>
                </a:cubicBezTo>
                <a:cubicBezTo>
                  <a:pt x="224" y="1368"/>
                  <a:pt x="616" y="800"/>
                  <a:pt x="784" y="544"/>
                </a:cubicBezTo>
                <a:cubicBezTo>
                  <a:pt x="952" y="288"/>
                  <a:pt x="1008" y="128"/>
                  <a:pt x="1120" y="64"/>
                </a:cubicBezTo>
                <a:cubicBezTo>
                  <a:pt x="1232" y="0"/>
                  <a:pt x="1328" y="56"/>
                  <a:pt x="1456" y="160"/>
                </a:cubicBezTo>
                <a:cubicBezTo>
                  <a:pt x="1584" y="264"/>
                  <a:pt x="1848" y="568"/>
                  <a:pt x="1888" y="688"/>
                </a:cubicBezTo>
                <a:cubicBezTo>
                  <a:pt x="1928" y="808"/>
                  <a:pt x="1776" y="864"/>
                  <a:pt x="1696" y="880"/>
                </a:cubicBezTo>
                <a:cubicBezTo>
                  <a:pt x="1616" y="896"/>
                  <a:pt x="1480" y="840"/>
                  <a:pt x="1408" y="784"/>
                </a:cubicBezTo>
                <a:cubicBezTo>
                  <a:pt x="1336" y="728"/>
                  <a:pt x="1400" y="416"/>
                  <a:pt x="1264" y="544"/>
                </a:cubicBezTo>
                <a:cubicBezTo>
                  <a:pt x="1128" y="672"/>
                  <a:pt x="728" y="1312"/>
                  <a:pt x="592" y="1552"/>
                </a:cubicBezTo>
                <a:cubicBezTo>
                  <a:pt x="456" y="1792"/>
                  <a:pt x="496" y="1904"/>
                  <a:pt x="448" y="1984"/>
                </a:cubicBezTo>
                <a:cubicBezTo>
                  <a:pt x="400" y="2064"/>
                  <a:pt x="360" y="2040"/>
                  <a:pt x="304" y="2032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13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Text Box 10">
            <a:extLst>
              <a:ext uri="{FF2B5EF4-FFF2-40B4-BE49-F238E27FC236}">
                <a16:creationId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9071"/>
            <a:ext cx="36331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/>
              <a:t>Local scoring functions compatible with CKY:</a:t>
            </a:r>
          </a:p>
        </p:txBody>
      </p:sp>
    </p:spTree>
    <p:extLst>
      <p:ext uri="{BB962C8B-B14F-4D97-AF65-F5344CB8AC3E}">
        <p14:creationId xmlns:p14="http://schemas.microsoft.com/office/powerpoint/2010/main" val="33013875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43" name="Freeform 3"/>
          <p:cNvSpPr>
            <a:spLocks/>
          </p:cNvSpPr>
          <p:nvPr/>
        </p:nvSpPr>
        <p:spPr bwMode="auto">
          <a:xfrm>
            <a:off x="685800" y="37338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44" name="Freeform 4"/>
          <p:cNvSpPr>
            <a:spLocks/>
          </p:cNvSpPr>
          <p:nvPr/>
        </p:nvSpPr>
        <p:spPr bwMode="auto">
          <a:xfrm>
            <a:off x="660400" y="1041400"/>
            <a:ext cx="3060700" cy="3276600"/>
          </a:xfrm>
          <a:custGeom>
            <a:avLst/>
            <a:gdLst>
              <a:gd name="T0" fmla="*/ 304 w 1928"/>
              <a:gd name="T1" fmla="*/ 2032 h 2064"/>
              <a:gd name="T2" fmla="*/ 112 w 1928"/>
              <a:gd name="T3" fmla="*/ 1936 h 2064"/>
              <a:gd name="T4" fmla="*/ 112 w 1928"/>
              <a:gd name="T5" fmla="*/ 1600 h 2064"/>
              <a:gd name="T6" fmla="*/ 784 w 1928"/>
              <a:gd name="T7" fmla="*/ 544 h 2064"/>
              <a:gd name="T8" fmla="*/ 1120 w 1928"/>
              <a:gd name="T9" fmla="*/ 64 h 2064"/>
              <a:gd name="T10" fmla="*/ 1456 w 1928"/>
              <a:gd name="T11" fmla="*/ 160 h 2064"/>
              <a:gd name="T12" fmla="*/ 1888 w 1928"/>
              <a:gd name="T13" fmla="*/ 688 h 2064"/>
              <a:gd name="T14" fmla="*/ 1696 w 1928"/>
              <a:gd name="T15" fmla="*/ 880 h 2064"/>
              <a:gd name="T16" fmla="*/ 1408 w 1928"/>
              <a:gd name="T17" fmla="*/ 784 h 2064"/>
              <a:gd name="T18" fmla="*/ 1264 w 1928"/>
              <a:gd name="T19" fmla="*/ 544 h 2064"/>
              <a:gd name="T20" fmla="*/ 592 w 1928"/>
              <a:gd name="T21" fmla="*/ 1552 h 2064"/>
              <a:gd name="T22" fmla="*/ 448 w 1928"/>
              <a:gd name="T23" fmla="*/ 1984 h 2064"/>
              <a:gd name="T24" fmla="*/ 304 w 1928"/>
              <a:gd name="T25" fmla="*/ 2032 h 20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8" h="2064">
                <a:moveTo>
                  <a:pt x="304" y="2032"/>
                </a:moveTo>
                <a:cubicBezTo>
                  <a:pt x="248" y="2024"/>
                  <a:pt x="144" y="2008"/>
                  <a:pt x="112" y="1936"/>
                </a:cubicBezTo>
                <a:cubicBezTo>
                  <a:pt x="80" y="1864"/>
                  <a:pt x="0" y="1832"/>
                  <a:pt x="112" y="1600"/>
                </a:cubicBezTo>
                <a:cubicBezTo>
                  <a:pt x="224" y="1368"/>
                  <a:pt x="616" y="800"/>
                  <a:pt x="784" y="544"/>
                </a:cubicBezTo>
                <a:cubicBezTo>
                  <a:pt x="952" y="288"/>
                  <a:pt x="1008" y="128"/>
                  <a:pt x="1120" y="64"/>
                </a:cubicBezTo>
                <a:cubicBezTo>
                  <a:pt x="1232" y="0"/>
                  <a:pt x="1328" y="56"/>
                  <a:pt x="1456" y="160"/>
                </a:cubicBezTo>
                <a:cubicBezTo>
                  <a:pt x="1584" y="264"/>
                  <a:pt x="1848" y="568"/>
                  <a:pt x="1888" y="688"/>
                </a:cubicBezTo>
                <a:cubicBezTo>
                  <a:pt x="1928" y="808"/>
                  <a:pt x="1776" y="864"/>
                  <a:pt x="1696" y="880"/>
                </a:cubicBezTo>
                <a:cubicBezTo>
                  <a:pt x="1616" y="896"/>
                  <a:pt x="1480" y="840"/>
                  <a:pt x="1408" y="784"/>
                </a:cubicBezTo>
                <a:cubicBezTo>
                  <a:pt x="1336" y="728"/>
                  <a:pt x="1400" y="416"/>
                  <a:pt x="1264" y="544"/>
                </a:cubicBezTo>
                <a:cubicBezTo>
                  <a:pt x="1128" y="672"/>
                  <a:pt x="728" y="1312"/>
                  <a:pt x="592" y="1552"/>
                </a:cubicBezTo>
                <a:cubicBezTo>
                  <a:pt x="456" y="1792"/>
                  <a:pt x="496" y="1904"/>
                  <a:pt x="448" y="1984"/>
                </a:cubicBezTo>
                <a:cubicBezTo>
                  <a:pt x="400" y="2064"/>
                  <a:pt x="360" y="2040"/>
                  <a:pt x="304" y="2032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46" name="Freeform 6"/>
          <p:cNvSpPr>
            <a:spLocks/>
          </p:cNvSpPr>
          <p:nvPr/>
        </p:nvSpPr>
        <p:spPr bwMode="auto">
          <a:xfrm>
            <a:off x="2108200" y="431800"/>
            <a:ext cx="4432300" cy="2552700"/>
          </a:xfrm>
          <a:custGeom>
            <a:avLst/>
            <a:gdLst>
              <a:gd name="T0" fmla="*/ 112 w 2792"/>
              <a:gd name="T1" fmla="*/ 784 h 1608"/>
              <a:gd name="T2" fmla="*/ 160 w 2792"/>
              <a:gd name="T3" fmla="*/ 496 h 1608"/>
              <a:gd name="T4" fmla="*/ 1072 w 2792"/>
              <a:gd name="T5" fmla="*/ 16 h 1608"/>
              <a:gd name="T6" fmla="*/ 1888 w 2792"/>
              <a:gd name="T7" fmla="*/ 400 h 1608"/>
              <a:gd name="T8" fmla="*/ 2704 w 2792"/>
              <a:gd name="T9" fmla="*/ 1264 h 1608"/>
              <a:gd name="T10" fmla="*/ 2416 w 2792"/>
              <a:gd name="T11" fmla="*/ 1456 h 1608"/>
              <a:gd name="T12" fmla="*/ 1168 w 2792"/>
              <a:gd name="T13" fmla="*/ 352 h 1608"/>
              <a:gd name="T14" fmla="*/ 400 w 2792"/>
              <a:gd name="T15" fmla="*/ 832 h 1608"/>
              <a:gd name="T16" fmla="*/ 112 w 2792"/>
              <a:gd name="T17" fmla="*/ 784 h 1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92" h="1608">
                <a:moveTo>
                  <a:pt x="112" y="784"/>
                </a:moveTo>
                <a:cubicBezTo>
                  <a:pt x="72" y="728"/>
                  <a:pt x="0" y="624"/>
                  <a:pt x="160" y="496"/>
                </a:cubicBezTo>
                <a:cubicBezTo>
                  <a:pt x="320" y="368"/>
                  <a:pt x="784" y="32"/>
                  <a:pt x="1072" y="16"/>
                </a:cubicBezTo>
                <a:cubicBezTo>
                  <a:pt x="1360" y="0"/>
                  <a:pt x="1616" y="192"/>
                  <a:pt x="1888" y="400"/>
                </a:cubicBezTo>
                <a:cubicBezTo>
                  <a:pt x="2160" y="608"/>
                  <a:pt x="2616" y="1088"/>
                  <a:pt x="2704" y="1264"/>
                </a:cubicBezTo>
                <a:cubicBezTo>
                  <a:pt x="2792" y="1440"/>
                  <a:pt x="2672" y="1608"/>
                  <a:pt x="2416" y="1456"/>
                </a:cubicBezTo>
                <a:cubicBezTo>
                  <a:pt x="2160" y="1304"/>
                  <a:pt x="1504" y="456"/>
                  <a:pt x="1168" y="352"/>
                </a:cubicBezTo>
                <a:cubicBezTo>
                  <a:pt x="832" y="248"/>
                  <a:pt x="576" y="760"/>
                  <a:pt x="400" y="832"/>
                </a:cubicBezTo>
                <a:cubicBezTo>
                  <a:pt x="224" y="904"/>
                  <a:pt x="152" y="840"/>
                  <a:pt x="112" y="784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34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" name="Text Box 10">
            <a:extLst>
              <a:ext uri="{FF2B5EF4-FFF2-40B4-BE49-F238E27FC236}">
                <a16:creationId xmlns:a16="http://schemas.microsoft.com/office/drawing/2014/main" id="{70EC9E9A-6D37-5543-AF8C-C5E08190F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9071"/>
            <a:ext cx="36331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/>
              <a:t>Local scoring functions compatible with CKY:</a:t>
            </a:r>
          </a:p>
        </p:txBody>
      </p:sp>
    </p:spTree>
    <p:extLst>
      <p:ext uri="{BB962C8B-B14F-4D97-AF65-F5344CB8AC3E}">
        <p14:creationId xmlns:p14="http://schemas.microsoft.com/office/powerpoint/2010/main" val="14833427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6" name="Freeform 8"/>
          <p:cNvSpPr>
            <a:spLocks/>
          </p:cNvSpPr>
          <p:nvPr/>
        </p:nvSpPr>
        <p:spPr bwMode="auto">
          <a:xfrm>
            <a:off x="609600" y="977900"/>
            <a:ext cx="3086100" cy="4826000"/>
          </a:xfrm>
          <a:custGeom>
            <a:avLst/>
            <a:gdLst>
              <a:gd name="T0" fmla="*/ 336 w 1944"/>
              <a:gd name="T1" fmla="*/ 2984 h 3040"/>
              <a:gd name="T2" fmla="*/ 48 w 1944"/>
              <a:gd name="T3" fmla="*/ 2936 h 3040"/>
              <a:gd name="T4" fmla="*/ 48 w 1944"/>
              <a:gd name="T5" fmla="*/ 2504 h 3040"/>
              <a:gd name="T6" fmla="*/ 240 w 1944"/>
              <a:gd name="T7" fmla="*/ 1640 h 3040"/>
              <a:gd name="T8" fmla="*/ 1104 w 1944"/>
              <a:gd name="T9" fmla="*/ 200 h 3040"/>
              <a:gd name="T10" fmla="*/ 1632 w 1944"/>
              <a:gd name="T11" fmla="*/ 440 h 3040"/>
              <a:gd name="T12" fmla="*/ 1920 w 1944"/>
              <a:gd name="T13" fmla="*/ 776 h 3040"/>
              <a:gd name="T14" fmla="*/ 1488 w 1944"/>
              <a:gd name="T15" fmla="*/ 1256 h 3040"/>
              <a:gd name="T16" fmla="*/ 864 w 1944"/>
              <a:gd name="T17" fmla="*/ 2360 h 3040"/>
              <a:gd name="T18" fmla="*/ 912 w 1944"/>
              <a:gd name="T19" fmla="*/ 2792 h 3040"/>
              <a:gd name="T20" fmla="*/ 912 w 1944"/>
              <a:gd name="T21" fmla="*/ 2984 h 3040"/>
              <a:gd name="T22" fmla="*/ 576 w 1944"/>
              <a:gd name="T23" fmla="*/ 2984 h 3040"/>
              <a:gd name="T24" fmla="*/ 576 w 1944"/>
              <a:gd name="T25" fmla="*/ 2744 h 3040"/>
              <a:gd name="T26" fmla="*/ 672 w 1944"/>
              <a:gd name="T27" fmla="*/ 2168 h 3040"/>
              <a:gd name="T28" fmla="*/ 1488 w 1944"/>
              <a:gd name="T29" fmla="*/ 824 h 3040"/>
              <a:gd name="T30" fmla="*/ 1200 w 1944"/>
              <a:gd name="T31" fmla="*/ 680 h 3040"/>
              <a:gd name="T32" fmla="*/ 528 w 1944"/>
              <a:gd name="T33" fmla="*/ 1880 h 3040"/>
              <a:gd name="T34" fmla="*/ 528 w 1944"/>
              <a:gd name="T35" fmla="*/ 2648 h 3040"/>
              <a:gd name="T36" fmla="*/ 576 w 1944"/>
              <a:gd name="T37" fmla="*/ 2984 h 3040"/>
              <a:gd name="T38" fmla="*/ 336 w 1944"/>
              <a:gd name="T39" fmla="*/ 298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44" h="3040">
                <a:moveTo>
                  <a:pt x="336" y="2984"/>
                </a:moveTo>
                <a:cubicBezTo>
                  <a:pt x="248" y="2976"/>
                  <a:pt x="96" y="3016"/>
                  <a:pt x="48" y="2936"/>
                </a:cubicBezTo>
                <a:cubicBezTo>
                  <a:pt x="0" y="2856"/>
                  <a:pt x="16" y="2720"/>
                  <a:pt x="48" y="2504"/>
                </a:cubicBezTo>
                <a:cubicBezTo>
                  <a:pt x="80" y="2288"/>
                  <a:pt x="64" y="2024"/>
                  <a:pt x="240" y="1640"/>
                </a:cubicBezTo>
                <a:cubicBezTo>
                  <a:pt x="416" y="1256"/>
                  <a:pt x="872" y="400"/>
                  <a:pt x="1104" y="200"/>
                </a:cubicBezTo>
                <a:cubicBezTo>
                  <a:pt x="1336" y="0"/>
                  <a:pt x="1496" y="344"/>
                  <a:pt x="1632" y="440"/>
                </a:cubicBezTo>
                <a:cubicBezTo>
                  <a:pt x="1768" y="536"/>
                  <a:pt x="1944" y="640"/>
                  <a:pt x="1920" y="776"/>
                </a:cubicBezTo>
                <a:cubicBezTo>
                  <a:pt x="1896" y="912"/>
                  <a:pt x="1664" y="992"/>
                  <a:pt x="1488" y="1256"/>
                </a:cubicBezTo>
                <a:cubicBezTo>
                  <a:pt x="1312" y="1520"/>
                  <a:pt x="960" y="2104"/>
                  <a:pt x="864" y="2360"/>
                </a:cubicBezTo>
                <a:cubicBezTo>
                  <a:pt x="768" y="2616"/>
                  <a:pt x="904" y="2688"/>
                  <a:pt x="912" y="2792"/>
                </a:cubicBezTo>
                <a:cubicBezTo>
                  <a:pt x="920" y="2896"/>
                  <a:pt x="968" y="2952"/>
                  <a:pt x="912" y="2984"/>
                </a:cubicBezTo>
                <a:cubicBezTo>
                  <a:pt x="856" y="3016"/>
                  <a:pt x="632" y="3024"/>
                  <a:pt x="576" y="2984"/>
                </a:cubicBezTo>
                <a:cubicBezTo>
                  <a:pt x="520" y="2944"/>
                  <a:pt x="560" y="2880"/>
                  <a:pt x="576" y="2744"/>
                </a:cubicBezTo>
                <a:cubicBezTo>
                  <a:pt x="592" y="2608"/>
                  <a:pt x="520" y="2488"/>
                  <a:pt x="672" y="2168"/>
                </a:cubicBezTo>
                <a:cubicBezTo>
                  <a:pt x="824" y="1848"/>
                  <a:pt x="1400" y="1072"/>
                  <a:pt x="1488" y="824"/>
                </a:cubicBezTo>
                <a:cubicBezTo>
                  <a:pt x="1576" y="576"/>
                  <a:pt x="1360" y="504"/>
                  <a:pt x="1200" y="680"/>
                </a:cubicBezTo>
                <a:cubicBezTo>
                  <a:pt x="1040" y="856"/>
                  <a:pt x="640" y="1552"/>
                  <a:pt x="528" y="1880"/>
                </a:cubicBezTo>
                <a:cubicBezTo>
                  <a:pt x="416" y="2208"/>
                  <a:pt x="520" y="2464"/>
                  <a:pt x="528" y="2648"/>
                </a:cubicBezTo>
                <a:cubicBezTo>
                  <a:pt x="536" y="2832"/>
                  <a:pt x="608" y="2928"/>
                  <a:pt x="576" y="2984"/>
                </a:cubicBezTo>
                <a:cubicBezTo>
                  <a:pt x="544" y="3040"/>
                  <a:pt x="424" y="2992"/>
                  <a:pt x="336" y="2984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54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id="{19D56EBE-AFF4-7A49-8F2C-3C6FD6ADF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952907"/>
            <a:ext cx="327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ja-JP" dirty="0"/>
              <a:t>“</a:t>
            </a:r>
            <a:r>
              <a:rPr lang="en-US" dirty="0" err="1"/>
              <a:t>NGramTree</a:t>
            </a:r>
            <a:r>
              <a:rPr lang="en-US" dirty="0"/>
              <a:t>” feature</a:t>
            </a:r>
          </a:p>
          <a:p>
            <a:r>
              <a:rPr lang="en-US" dirty="0"/>
              <a:t>(</a:t>
            </a:r>
            <a:r>
              <a:rPr lang="en-US" dirty="0" err="1"/>
              <a:t>Charniak</a:t>
            </a:r>
            <a:r>
              <a:rPr lang="en-US" dirty="0"/>
              <a:t> &amp; Johnson, 2005)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2E05FD6F-5833-AB4D-9D04-7D293A92F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9071"/>
            <a:ext cx="36331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/>
              <a:t>Imagine a scoring term that uses this information:</a:t>
            </a:r>
          </a:p>
        </p:txBody>
      </p:sp>
    </p:spTree>
    <p:extLst>
      <p:ext uri="{BB962C8B-B14F-4D97-AF65-F5344CB8AC3E}">
        <p14:creationId xmlns:p14="http://schemas.microsoft.com/office/powerpoint/2010/main" val="10244595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30" name="Freeform 6"/>
          <p:cNvSpPr>
            <a:spLocks/>
          </p:cNvSpPr>
          <p:nvPr/>
        </p:nvSpPr>
        <p:spPr bwMode="auto">
          <a:xfrm>
            <a:off x="609600" y="977900"/>
            <a:ext cx="3086100" cy="4826000"/>
          </a:xfrm>
          <a:custGeom>
            <a:avLst/>
            <a:gdLst>
              <a:gd name="T0" fmla="*/ 336 w 1944"/>
              <a:gd name="T1" fmla="*/ 2984 h 3040"/>
              <a:gd name="T2" fmla="*/ 48 w 1944"/>
              <a:gd name="T3" fmla="*/ 2936 h 3040"/>
              <a:gd name="T4" fmla="*/ 48 w 1944"/>
              <a:gd name="T5" fmla="*/ 2504 h 3040"/>
              <a:gd name="T6" fmla="*/ 240 w 1944"/>
              <a:gd name="T7" fmla="*/ 1640 h 3040"/>
              <a:gd name="T8" fmla="*/ 1104 w 1944"/>
              <a:gd name="T9" fmla="*/ 200 h 3040"/>
              <a:gd name="T10" fmla="*/ 1632 w 1944"/>
              <a:gd name="T11" fmla="*/ 440 h 3040"/>
              <a:gd name="T12" fmla="*/ 1920 w 1944"/>
              <a:gd name="T13" fmla="*/ 776 h 3040"/>
              <a:gd name="T14" fmla="*/ 1488 w 1944"/>
              <a:gd name="T15" fmla="*/ 1256 h 3040"/>
              <a:gd name="T16" fmla="*/ 864 w 1944"/>
              <a:gd name="T17" fmla="*/ 2360 h 3040"/>
              <a:gd name="T18" fmla="*/ 912 w 1944"/>
              <a:gd name="T19" fmla="*/ 2792 h 3040"/>
              <a:gd name="T20" fmla="*/ 912 w 1944"/>
              <a:gd name="T21" fmla="*/ 2984 h 3040"/>
              <a:gd name="T22" fmla="*/ 576 w 1944"/>
              <a:gd name="T23" fmla="*/ 2984 h 3040"/>
              <a:gd name="T24" fmla="*/ 576 w 1944"/>
              <a:gd name="T25" fmla="*/ 2744 h 3040"/>
              <a:gd name="T26" fmla="*/ 672 w 1944"/>
              <a:gd name="T27" fmla="*/ 2168 h 3040"/>
              <a:gd name="T28" fmla="*/ 1488 w 1944"/>
              <a:gd name="T29" fmla="*/ 824 h 3040"/>
              <a:gd name="T30" fmla="*/ 1200 w 1944"/>
              <a:gd name="T31" fmla="*/ 680 h 3040"/>
              <a:gd name="T32" fmla="*/ 528 w 1944"/>
              <a:gd name="T33" fmla="*/ 1880 h 3040"/>
              <a:gd name="T34" fmla="*/ 528 w 1944"/>
              <a:gd name="T35" fmla="*/ 2648 h 3040"/>
              <a:gd name="T36" fmla="*/ 576 w 1944"/>
              <a:gd name="T37" fmla="*/ 2984 h 3040"/>
              <a:gd name="T38" fmla="*/ 336 w 1944"/>
              <a:gd name="T39" fmla="*/ 298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44" h="3040">
                <a:moveTo>
                  <a:pt x="336" y="2984"/>
                </a:moveTo>
                <a:cubicBezTo>
                  <a:pt x="248" y="2976"/>
                  <a:pt x="96" y="3016"/>
                  <a:pt x="48" y="2936"/>
                </a:cubicBezTo>
                <a:cubicBezTo>
                  <a:pt x="0" y="2856"/>
                  <a:pt x="16" y="2720"/>
                  <a:pt x="48" y="2504"/>
                </a:cubicBezTo>
                <a:cubicBezTo>
                  <a:pt x="80" y="2288"/>
                  <a:pt x="64" y="2024"/>
                  <a:pt x="240" y="1640"/>
                </a:cubicBezTo>
                <a:cubicBezTo>
                  <a:pt x="416" y="1256"/>
                  <a:pt x="872" y="400"/>
                  <a:pt x="1104" y="200"/>
                </a:cubicBezTo>
                <a:cubicBezTo>
                  <a:pt x="1336" y="0"/>
                  <a:pt x="1496" y="344"/>
                  <a:pt x="1632" y="440"/>
                </a:cubicBezTo>
                <a:cubicBezTo>
                  <a:pt x="1768" y="536"/>
                  <a:pt x="1944" y="640"/>
                  <a:pt x="1920" y="776"/>
                </a:cubicBezTo>
                <a:cubicBezTo>
                  <a:pt x="1896" y="912"/>
                  <a:pt x="1664" y="992"/>
                  <a:pt x="1488" y="1256"/>
                </a:cubicBezTo>
                <a:cubicBezTo>
                  <a:pt x="1312" y="1520"/>
                  <a:pt x="960" y="2104"/>
                  <a:pt x="864" y="2360"/>
                </a:cubicBezTo>
                <a:cubicBezTo>
                  <a:pt x="768" y="2616"/>
                  <a:pt x="904" y="2688"/>
                  <a:pt x="912" y="2792"/>
                </a:cubicBezTo>
                <a:cubicBezTo>
                  <a:pt x="920" y="2896"/>
                  <a:pt x="968" y="2952"/>
                  <a:pt x="912" y="2984"/>
                </a:cubicBezTo>
                <a:cubicBezTo>
                  <a:pt x="856" y="3016"/>
                  <a:pt x="632" y="3024"/>
                  <a:pt x="576" y="2984"/>
                </a:cubicBezTo>
                <a:cubicBezTo>
                  <a:pt x="520" y="2944"/>
                  <a:pt x="560" y="2880"/>
                  <a:pt x="576" y="2744"/>
                </a:cubicBezTo>
                <a:cubicBezTo>
                  <a:pt x="592" y="2608"/>
                  <a:pt x="520" y="2488"/>
                  <a:pt x="672" y="2168"/>
                </a:cubicBezTo>
                <a:cubicBezTo>
                  <a:pt x="824" y="1848"/>
                  <a:pt x="1400" y="1072"/>
                  <a:pt x="1488" y="824"/>
                </a:cubicBezTo>
                <a:cubicBezTo>
                  <a:pt x="1576" y="576"/>
                  <a:pt x="1360" y="504"/>
                  <a:pt x="1200" y="680"/>
                </a:cubicBezTo>
                <a:cubicBezTo>
                  <a:pt x="1040" y="856"/>
                  <a:pt x="640" y="1552"/>
                  <a:pt x="528" y="1880"/>
                </a:cubicBezTo>
                <a:cubicBezTo>
                  <a:pt x="416" y="2208"/>
                  <a:pt x="520" y="2464"/>
                  <a:pt x="528" y="2648"/>
                </a:cubicBezTo>
                <a:cubicBezTo>
                  <a:pt x="536" y="2832"/>
                  <a:pt x="608" y="2928"/>
                  <a:pt x="576" y="2984"/>
                </a:cubicBezTo>
                <a:cubicBezTo>
                  <a:pt x="544" y="3040"/>
                  <a:pt x="424" y="2992"/>
                  <a:pt x="336" y="2984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9832" name="Freeform 8"/>
          <p:cNvSpPr>
            <a:spLocks/>
          </p:cNvSpPr>
          <p:nvPr/>
        </p:nvSpPr>
        <p:spPr bwMode="auto">
          <a:xfrm>
            <a:off x="2235200" y="381000"/>
            <a:ext cx="4279900" cy="5473700"/>
          </a:xfrm>
          <a:custGeom>
            <a:avLst/>
            <a:gdLst>
              <a:gd name="T0" fmla="*/ 1568 w 2696"/>
              <a:gd name="T1" fmla="*/ 3368 h 3448"/>
              <a:gd name="T2" fmla="*/ 1424 w 2696"/>
              <a:gd name="T3" fmla="*/ 3272 h 3448"/>
              <a:gd name="T4" fmla="*/ 1376 w 2696"/>
              <a:gd name="T5" fmla="*/ 2600 h 3448"/>
              <a:gd name="T6" fmla="*/ 1184 w 2696"/>
              <a:gd name="T7" fmla="*/ 2264 h 3448"/>
              <a:gd name="T8" fmla="*/ 704 w 2696"/>
              <a:gd name="T9" fmla="*/ 1592 h 3448"/>
              <a:gd name="T10" fmla="*/ 80 w 2696"/>
              <a:gd name="T11" fmla="*/ 824 h 3448"/>
              <a:gd name="T12" fmla="*/ 224 w 2696"/>
              <a:gd name="T13" fmla="*/ 440 h 3448"/>
              <a:gd name="T14" fmla="*/ 1088 w 2696"/>
              <a:gd name="T15" fmla="*/ 8 h 3448"/>
              <a:gd name="T16" fmla="*/ 1808 w 2696"/>
              <a:gd name="T17" fmla="*/ 488 h 3448"/>
              <a:gd name="T18" fmla="*/ 2624 w 2696"/>
              <a:gd name="T19" fmla="*/ 1304 h 3448"/>
              <a:gd name="T20" fmla="*/ 2240 w 2696"/>
              <a:gd name="T21" fmla="*/ 2216 h 3448"/>
              <a:gd name="T22" fmla="*/ 2144 w 2696"/>
              <a:gd name="T23" fmla="*/ 2936 h 3448"/>
              <a:gd name="T24" fmla="*/ 2048 w 2696"/>
              <a:gd name="T25" fmla="*/ 3080 h 3448"/>
              <a:gd name="T26" fmla="*/ 2000 w 2696"/>
              <a:gd name="T27" fmla="*/ 3368 h 3448"/>
              <a:gd name="T28" fmla="*/ 1856 w 2696"/>
              <a:gd name="T29" fmla="*/ 3368 h 3448"/>
              <a:gd name="T30" fmla="*/ 1760 w 2696"/>
              <a:gd name="T31" fmla="*/ 2888 h 3448"/>
              <a:gd name="T32" fmla="*/ 1760 w 2696"/>
              <a:gd name="T33" fmla="*/ 2504 h 3448"/>
              <a:gd name="T34" fmla="*/ 2192 w 2696"/>
              <a:gd name="T35" fmla="*/ 1448 h 3448"/>
              <a:gd name="T36" fmla="*/ 1088 w 2696"/>
              <a:gd name="T37" fmla="*/ 440 h 3448"/>
              <a:gd name="T38" fmla="*/ 512 w 2696"/>
              <a:gd name="T39" fmla="*/ 728 h 3448"/>
              <a:gd name="T40" fmla="*/ 896 w 2696"/>
              <a:gd name="T41" fmla="*/ 1112 h 3448"/>
              <a:gd name="T42" fmla="*/ 1568 w 2696"/>
              <a:gd name="T43" fmla="*/ 2120 h 3448"/>
              <a:gd name="T44" fmla="*/ 1712 w 2696"/>
              <a:gd name="T45" fmla="*/ 2936 h 3448"/>
              <a:gd name="T46" fmla="*/ 1712 w 2696"/>
              <a:gd name="T47" fmla="*/ 3272 h 3448"/>
              <a:gd name="T48" fmla="*/ 1568 w 2696"/>
              <a:gd name="T49" fmla="*/ 3368 h 3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96" h="3448">
                <a:moveTo>
                  <a:pt x="1568" y="3368"/>
                </a:moveTo>
                <a:cubicBezTo>
                  <a:pt x="1520" y="3368"/>
                  <a:pt x="1456" y="3400"/>
                  <a:pt x="1424" y="3272"/>
                </a:cubicBezTo>
                <a:cubicBezTo>
                  <a:pt x="1392" y="3144"/>
                  <a:pt x="1416" y="2768"/>
                  <a:pt x="1376" y="2600"/>
                </a:cubicBezTo>
                <a:cubicBezTo>
                  <a:pt x="1336" y="2432"/>
                  <a:pt x="1296" y="2432"/>
                  <a:pt x="1184" y="2264"/>
                </a:cubicBezTo>
                <a:cubicBezTo>
                  <a:pt x="1072" y="2096"/>
                  <a:pt x="888" y="1832"/>
                  <a:pt x="704" y="1592"/>
                </a:cubicBezTo>
                <a:cubicBezTo>
                  <a:pt x="520" y="1352"/>
                  <a:pt x="160" y="1016"/>
                  <a:pt x="80" y="824"/>
                </a:cubicBezTo>
                <a:cubicBezTo>
                  <a:pt x="0" y="632"/>
                  <a:pt x="56" y="576"/>
                  <a:pt x="224" y="440"/>
                </a:cubicBezTo>
                <a:cubicBezTo>
                  <a:pt x="392" y="304"/>
                  <a:pt x="824" y="0"/>
                  <a:pt x="1088" y="8"/>
                </a:cubicBezTo>
                <a:cubicBezTo>
                  <a:pt x="1352" y="16"/>
                  <a:pt x="1552" y="272"/>
                  <a:pt x="1808" y="488"/>
                </a:cubicBezTo>
                <a:cubicBezTo>
                  <a:pt x="2064" y="704"/>
                  <a:pt x="2552" y="1016"/>
                  <a:pt x="2624" y="1304"/>
                </a:cubicBezTo>
                <a:cubicBezTo>
                  <a:pt x="2696" y="1592"/>
                  <a:pt x="2320" y="1944"/>
                  <a:pt x="2240" y="2216"/>
                </a:cubicBezTo>
                <a:cubicBezTo>
                  <a:pt x="2160" y="2488"/>
                  <a:pt x="2176" y="2792"/>
                  <a:pt x="2144" y="2936"/>
                </a:cubicBezTo>
                <a:cubicBezTo>
                  <a:pt x="2112" y="3080"/>
                  <a:pt x="2072" y="3008"/>
                  <a:pt x="2048" y="3080"/>
                </a:cubicBezTo>
                <a:cubicBezTo>
                  <a:pt x="2024" y="3152"/>
                  <a:pt x="2032" y="3320"/>
                  <a:pt x="2000" y="3368"/>
                </a:cubicBezTo>
                <a:cubicBezTo>
                  <a:pt x="1968" y="3416"/>
                  <a:pt x="1896" y="3448"/>
                  <a:pt x="1856" y="3368"/>
                </a:cubicBezTo>
                <a:cubicBezTo>
                  <a:pt x="1816" y="3288"/>
                  <a:pt x="1776" y="3032"/>
                  <a:pt x="1760" y="2888"/>
                </a:cubicBezTo>
                <a:cubicBezTo>
                  <a:pt x="1744" y="2744"/>
                  <a:pt x="1688" y="2744"/>
                  <a:pt x="1760" y="2504"/>
                </a:cubicBezTo>
                <a:cubicBezTo>
                  <a:pt x="1832" y="2264"/>
                  <a:pt x="2304" y="1792"/>
                  <a:pt x="2192" y="1448"/>
                </a:cubicBezTo>
                <a:cubicBezTo>
                  <a:pt x="2080" y="1104"/>
                  <a:pt x="1368" y="560"/>
                  <a:pt x="1088" y="440"/>
                </a:cubicBezTo>
                <a:cubicBezTo>
                  <a:pt x="808" y="320"/>
                  <a:pt x="544" y="616"/>
                  <a:pt x="512" y="728"/>
                </a:cubicBezTo>
                <a:cubicBezTo>
                  <a:pt x="480" y="840"/>
                  <a:pt x="720" y="880"/>
                  <a:pt x="896" y="1112"/>
                </a:cubicBezTo>
                <a:cubicBezTo>
                  <a:pt x="1072" y="1344"/>
                  <a:pt x="1432" y="1816"/>
                  <a:pt x="1568" y="2120"/>
                </a:cubicBezTo>
                <a:cubicBezTo>
                  <a:pt x="1704" y="2424"/>
                  <a:pt x="1688" y="2744"/>
                  <a:pt x="1712" y="2936"/>
                </a:cubicBezTo>
                <a:cubicBezTo>
                  <a:pt x="1736" y="3128"/>
                  <a:pt x="1736" y="3200"/>
                  <a:pt x="1712" y="3272"/>
                </a:cubicBezTo>
                <a:cubicBezTo>
                  <a:pt x="1688" y="3344"/>
                  <a:pt x="1616" y="3368"/>
                  <a:pt x="1568" y="3368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898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Text Box 10">
            <a:extLst>
              <a:ext uri="{FF2B5EF4-FFF2-40B4-BE49-F238E27FC236}">
                <a16:creationId xmlns:a16="http://schemas.microsoft.com/office/drawing/2014/main" id="{F3101D27-ED38-274A-871C-C8B2AABEC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952907"/>
            <a:ext cx="327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ja-JP" dirty="0"/>
              <a:t>“</a:t>
            </a:r>
            <a:r>
              <a:rPr lang="en-US" dirty="0" err="1"/>
              <a:t>NGramTree</a:t>
            </a:r>
            <a:r>
              <a:rPr lang="en-US" dirty="0"/>
              <a:t>” feature</a:t>
            </a:r>
          </a:p>
          <a:p>
            <a:r>
              <a:rPr lang="en-US" dirty="0"/>
              <a:t>(</a:t>
            </a:r>
            <a:r>
              <a:rPr lang="en-US" dirty="0" err="1"/>
              <a:t>Charniak</a:t>
            </a:r>
            <a:r>
              <a:rPr lang="en-US" dirty="0"/>
              <a:t> &amp; Johnson, 2005)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5CEF2481-ACC7-864A-9DA7-77BA15663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9071"/>
            <a:ext cx="36331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/>
              <a:t>Imagine a scoring term that uses this information:</a:t>
            </a:r>
          </a:p>
        </p:txBody>
      </p:sp>
    </p:spTree>
    <p:extLst>
      <p:ext uri="{BB962C8B-B14F-4D97-AF65-F5344CB8AC3E}">
        <p14:creationId xmlns:p14="http://schemas.microsoft.com/office/powerpoint/2010/main" val="14346311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30" name="Freeform 6"/>
          <p:cNvSpPr>
            <a:spLocks/>
          </p:cNvSpPr>
          <p:nvPr/>
        </p:nvSpPr>
        <p:spPr bwMode="auto">
          <a:xfrm>
            <a:off x="609600" y="977900"/>
            <a:ext cx="3086100" cy="4826000"/>
          </a:xfrm>
          <a:custGeom>
            <a:avLst/>
            <a:gdLst>
              <a:gd name="T0" fmla="*/ 336 w 1944"/>
              <a:gd name="T1" fmla="*/ 2984 h 3040"/>
              <a:gd name="T2" fmla="*/ 48 w 1944"/>
              <a:gd name="T3" fmla="*/ 2936 h 3040"/>
              <a:gd name="T4" fmla="*/ 48 w 1944"/>
              <a:gd name="T5" fmla="*/ 2504 h 3040"/>
              <a:gd name="T6" fmla="*/ 240 w 1944"/>
              <a:gd name="T7" fmla="*/ 1640 h 3040"/>
              <a:gd name="T8" fmla="*/ 1104 w 1944"/>
              <a:gd name="T9" fmla="*/ 200 h 3040"/>
              <a:gd name="T10" fmla="*/ 1632 w 1944"/>
              <a:gd name="T11" fmla="*/ 440 h 3040"/>
              <a:gd name="T12" fmla="*/ 1920 w 1944"/>
              <a:gd name="T13" fmla="*/ 776 h 3040"/>
              <a:gd name="T14" fmla="*/ 1488 w 1944"/>
              <a:gd name="T15" fmla="*/ 1256 h 3040"/>
              <a:gd name="T16" fmla="*/ 864 w 1944"/>
              <a:gd name="T17" fmla="*/ 2360 h 3040"/>
              <a:gd name="T18" fmla="*/ 912 w 1944"/>
              <a:gd name="T19" fmla="*/ 2792 h 3040"/>
              <a:gd name="T20" fmla="*/ 912 w 1944"/>
              <a:gd name="T21" fmla="*/ 2984 h 3040"/>
              <a:gd name="T22" fmla="*/ 576 w 1944"/>
              <a:gd name="T23" fmla="*/ 2984 h 3040"/>
              <a:gd name="T24" fmla="*/ 576 w 1944"/>
              <a:gd name="T25" fmla="*/ 2744 h 3040"/>
              <a:gd name="T26" fmla="*/ 672 w 1944"/>
              <a:gd name="T27" fmla="*/ 2168 h 3040"/>
              <a:gd name="T28" fmla="*/ 1488 w 1944"/>
              <a:gd name="T29" fmla="*/ 824 h 3040"/>
              <a:gd name="T30" fmla="*/ 1200 w 1944"/>
              <a:gd name="T31" fmla="*/ 680 h 3040"/>
              <a:gd name="T32" fmla="*/ 528 w 1944"/>
              <a:gd name="T33" fmla="*/ 1880 h 3040"/>
              <a:gd name="T34" fmla="*/ 528 w 1944"/>
              <a:gd name="T35" fmla="*/ 2648 h 3040"/>
              <a:gd name="T36" fmla="*/ 576 w 1944"/>
              <a:gd name="T37" fmla="*/ 2984 h 3040"/>
              <a:gd name="T38" fmla="*/ 336 w 1944"/>
              <a:gd name="T39" fmla="*/ 298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44" h="3040">
                <a:moveTo>
                  <a:pt x="336" y="2984"/>
                </a:moveTo>
                <a:cubicBezTo>
                  <a:pt x="248" y="2976"/>
                  <a:pt x="96" y="3016"/>
                  <a:pt x="48" y="2936"/>
                </a:cubicBezTo>
                <a:cubicBezTo>
                  <a:pt x="0" y="2856"/>
                  <a:pt x="16" y="2720"/>
                  <a:pt x="48" y="2504"/>
                </a:cubicBezTo>
                <a:cubicBezTo>
                  <a:pt x="80" y="2288"/>
                  <a:pt x="64" y="2024"/>
                  <a:pt x="240" y="1640"/>
                </a:cubicBezTo>
                <a:cubicBezTo>
                  <a:pt x="416" y="1256"/>
                  <a:pt x="872" y="400"/>
                  <a:pt x="1104" y="200"/>
                </a:cubicBezTo>
                <a:cubicBezTo>
                  <a:pt x="1336" y="0"/>
                  <a:pt x="1496" y="344"/>
                  <a:pt x="1632" y="440"/>
                </a:cubicBezTo>
                <a:cubicBezTo>
                  <a:pt x="1768" y="536"/>
                  <a:pt x="1944" y="640"/>
                  <a:pt x="1920" y="776"/>
                </a:cubicBezTo>
                <a:cubicBezTo>
                  <a:pt x="1896" y="912"/>
                  <a:pt x="1664" y="992"/>
                  <a:pt x="1488" y="1256"/>
                </a:cubicBezTo>
                <a:cubicBezTo>
                  <a:pt x="1312" y="1520"/>
                  <a:pt x="960" y="2104"/>
                  <a:pt x="864" y="2360"/>
                </a:cubicBezTo>
                <a:cubicBezTo>
                  <a:pt x="768" y="2616"/>
                  <a:pt x="904" y="2688"/>
                  <a:pt x="912" y="2792"/>
                </a:cubicBezTo>
                <a:cubicBezTo>
                  <a:pt x="920" y="2896"/>
                  <a:pt x="968" y="2952"/>
                  <a:pt x="912" y="2984"/>
                </a:cubicBezTo>
                <a:cubicBezTo>
                  <a:pt x="856" y="3016"/>
                  <a:pt x="632" y="3024"/>
                  <a:pt x="576" y="2984"/>
                </a:cubicBezTo>
                <a:cubicBezTo>
                  <a:pt x="520" y="2944"/>
                  <a:pt x="560" y="2880"/>
                  <a:pt x="576" y="2744"/>
                </a:cubicBezTo>
                <a:cubicBezTo>
                  <a:pt x="592" y="2608"/>
                  <a:pt x="520" y="2488"/>
                  <a:pt x="672" y="2168"/>
                </a:cubicBezTo>
                <a:cubicBezTo>
                  <a:pt x="824" y="1848"/>
                  <a:pt x="1400" y="1072"/>
                  <a:pt x="1488" y="824"/>
                </a:cubicBezTo>
                <a:cubicBezTo>
                  <a:pt x="1576" y="576"/>
                  <a:pt x="1360" y="504"/>
                  <a:pt x="1200" y="680"/>
                </a:cubicBezTo>
                <a:cubicBezTo>
                  <a:pt x="1040" y="856"/>
                  <a:pt x="640" y="1552"/>
                  <a:pt x="528" y="1880"/>
                </a:cubicBezTo>
                <a:cubicBezTo>
                  <a:pt x="416" y="2208"/>
                  <a:pt x="520" y="2464"/>
                  <a:pt x="528" y="2648"/>
                </a:cubicBezTo>
                <a:cubicBezTo>
                  <a:pt x="536" y="2832"/>
                  <a:pt x="608" y="2928"/>
                  <a:pt x="576" y="2984"/>
                </a:cubicBezTo>
                <a:cubicBezTo>
                  <a:pt x="544" y="3040"/>
                  <a:pt x="424" y="2992"/>
                  <a:pt x="336" y="2984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9832" name="Freeform 8"/>
          <p:cNvSpPr>
            <a:spLocks/>
          </p:cNvSpPr>
          <p:nvPr/>
        </p:nvSpPr>
        <p:spPr bwMode="auto">
          <a:xfrm>
            <a:off x="2235200" y="381000"/>
            <a:ext cx="4279900" cy="5473700"/>
          </a:xfrm>
          <a:custGeom>
            <a:avLst/>
            <a:gdLst>
              <a:gd name="T0" fmla="*/ 1568 w 2696"/>
              <a:gd name="T1" fmla="*/ 3368 h 3448"/>
              <a:gd name="T2" fmla="*/ 1424 w 2696"/>
              <a:gd name="T3" fmla="*/ 3272 h 3448"/>
              <a:gd name="T4" fmla="*/ 1376 w 2696"/>
              <a:gd name="T5" fmla="*/ 2600 h 3448"/>
              <a:gd name="T6" fmla="*/ 1184 w 2696"/>
              <a:gd name="T7" fmla="*/ 2264 h 3448"/>
              <a:gd name="T8" fmla="*/ 704 w 2696"/>
              <a:gd name="T9" fmla="*/ 1592 h 3448"/>
              <a:gd name="T10" fmla="*/ 80 w 2696"/>
              <a:gd name="T11" fmla="*/ 824 h 3448"/>
              <a:gd name="T12" fmla="*/ 224 w 2696"/>
              <a:gd name="T13" fmla="*/ 440 h 3448"/>
              <a:gd name="T14" fmla="*/ 1088 w 2696"/>
              <a:gd name="T15" fmla="*/ 8 h 3448"/>
              <a:gd name="T16" fmla="*/ 1808 w 2696"/>
              <a:gd name="T17" fmla="*/ 488 h 3448"/>
              <a:gd name="T18" fmla="*/ 2624 w 2696"/>
              <a:gd name="T19" fmla="*/ 1304 h 3448"/>
              <a:gd name="T20" fmla="*/ 2240 w 2696"/>
              <a:gd name="T21" fmla="*/ 2216 h 3448"/>
              <a:gd name="T22" fmla="*/ 2144 w 2696"/>
              <a:gd name="T23" fmla="*/ 2936 h 3448"/>
              <a:gd name="T24" fmla="*/ 2048 w 2696"/>
              <a:gd name="T25" fmla="*/ 3080 h 3448"/>
              <a:gd name="T26" fmla="*/ 2000 w 2696"/>
              <a:gd name="T27" fmla="*/ 3368 h 3448"/>
              <a:gd name="T28" fmla="*/ 1856 w 2696"/>
              <a:gd name="T29" fmla="*/ 3368 h 3448"/>
              <a:gd name="T30" fmla="*/ 1760 w 2696"/>
              <a:gd name="T31" fmla="*/ 2888 h 3448"/>
              <a:gd name="T32" fmla="*/ 1760 w 2696"/>
              <a:gd name="T33" fmla="*/ 2504 h 3448"/>
              <a:gd name="T34" fmla="*/ 2192 w 2696"/>
              <a:gd name="T35" fmla="*/ 1448 h 3448"/>
              <a:gd name="T36" fmla="*/ 1088 w 2696"/>
              <a:gd name="T37" fmla="*/ 440 h 3448"/>
              <a:gd name="T38" fmla="*/ 512 w 2696"/>
              <a:gd name="T39" fmla="*/ 728 h 3448"/>
              <a:gd name="T40" fmla="*/ 896 w 2696"/>
              <a:gd name="T41" fmla="*/ 1112 h 3448"/>
              <a:gd name="T42" fmla="*/ 1568 w 2696"/>
              <a:gd name="T43" fmla="*/ 2120 h 3448"/>
              <a:gd name="T44" fmla="*/ 1712 w 2696"/>
              <a:gd name="T45" fmla="*/ 2936 h 3448"/>
              <a:gd name="T46" fmla="*/ 1712 w 2696"/>
              <a:gd name="T47" fmla="*/ 3272 h 3448"/>
              <a:gd name="T48" fmla="*/ 1568 w 2696"/>
              <a:gd name="T49" fmla="*/ 3368 h 3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96" h="3448">
                <a:moveTo>
                  <a:pt x="1568" y="3368"/>
                </a:moveTo>
                <a:cubicBezTo>
                  <a:pt x="1520" y="3368"/>
                  <a:pt x="1456" y="3400"/>
                  <a:pt x="1424" y="3272"/>
                </a:cubicBezTo>
                <a:cubicBezTo>
                  <a:pt x="1392" y="3144"/>
                  <a:pt x="1416" y="2768"/>
                  <a:pt x="1376" y="2600"/>
                </a:cubicBezTo>
                <a:cubicBezTo>
                  <a:pt x="1336" y="2432"/>
                  <a:pt x="1296" y="2432"/>
                  <a:pt x="1184" y="2264"/>
                </a:cubicBezTo>
                <a:cubicBezTo>
                  <a:pt x="1072" y="2096"/>
                  <a:pt x="888" y="1832"/>
                  <a:pt x="704" y="1592"/>
                </a:cubicBezTo>
                <a:cubicBezTo>
                  <a:pt x="520" y="1352"/>
                  <a:pt x="160" y="1016"/>
                  <a:pt x="80" y="824"/>
                </a:cubicBezTo>
                <a:cubicBezTo>
                  <a:pt x="0" y="632"/>
                  <a:pt x="56" y="576"/>
                  <a:pt x="224" y="440"/>
                </a:cubicBezTo>
                <a:cubicBezTo>
                  <a:pt x="392" y="304"/>
                  <a:pt x="824" y="0"/>
                  <a:pt x="1088" y="8"/>
                </a:cubicBezTo>
                <a:cubicBezTo>
                  <a:pt x="1352" y="16"/>
                  <a:pt x="1552" y="272"/>
                  <a:pt x="1808" y="488"/>
                </a:cubicBezTo>
                <a:cubicBezTo>
                  <a:pt x="2064" y="704"/>
                  <a:pt x="2552" y="1016"/>
                  <a:pt x="2624" y="1304"/>
                </a:cubicBezTo>
                <a:cubicBezTo>
                  <a:pt x="2696" y="1592"/>
                  <a:pt x="2320" y="1944"/>
                  <a:pt x="2240" y="2216"/>
                </a:cubicBezTo>
                <a:cubicBezTo>
                  <a:pt x="2160" y="2488"/>
                  <a:pt x="2176" y="2792"/>
                  <a:pt x="2144" y="2936"/>
                </a:cubicBezTo>
                <a:cubicBezTo>
                  <a:pt x="2112" y="3080"/>
                  <a:pt x="2072" y="3008"/>
                  <a:pt x="2048" y="3080"/>
                </a:cubicBezTo>
                <a:cubicBezTo>
                  <a:pt x="2024" y="3152"/>
                  <a:pt x="2032" y="3320"/>
                  <a:pt x="2000" y="3368"/>
                </a:cubicBezTo>
                <a:cubicBezTo>
                  <a:pt x="1968" y="3416"/>
                  <a:pt x="1896" y="3448"/>
                  <a:pt x="1856" y="3368"/>
                </a:cubicBezTo>
                <a:cubicBezTo>
                  <a:pt x="1816" y="3288"/>
                  <a:pt x="1776" y="3032"/>
                  <a:pt x="1760" y="2888"/>
                </a:cubicBezTo>
                <a:cubicBezTo>
                  <a:pt x="1744" y="2744"/>
                  <a:pt x="1688" y="2744"/>
                  <a:pt x="1760" y="2504"/>
                </a:cubicBezTo>
                <a:cubicBezTo>
                  <a:pt x="1832" y="2264"/>
                  <a:pt x="2304" y="1792"/>
                  <a:pt x="2192" y="1448"/>
                </a:cubicBezTo>
                <a:cubicBezTo>
                  <a:pt x="2080" y="1104"/>
                  <a:pt x="1368" y="560"/>
                  <a:pt x="1088" y="440"/>
                </a:cubicBezTo>
                <a:cubicBezTo>
                  <a:pt x="808" y="320"/>
                  <a:pt x="544" y="616"/>
                  <a:pt x="512" y="728"/>
                </a:cubicBezTo>
                <a:cubicBezTo>
                  <a:pt x="480" y="840"/>
                  <a:pt x="720" y="880"/>
                  <a:pt x="896" y="1112"/>
                </a:cubicBezTo>
                <a:cubicBezTo>
                  <a:pt x="1072" y="1344"/>
                  <a:pt x="1432" y="1816"/>
                  <a:pt x="1568" y="2120"/>
                </a:cubicBezTo>
                <a:cubicBezTo>
                  <a:pt x="1704" y="2424"/>
                  <a:pt x="1688" y="2744"/>
                  <a:pt x="1712" y="2936"/>
                </a:cubicBezTo>
                <a:cubicBezTo>
                  <a:pt x="1736" y="3128"/>
                  <a:pt x="1736" y="3200"/>
                  <a:pt x="1712" y="3272"/>
                </a:cubicBezTo>
                <a:cubicBezTo>
                  <a:pt x="1688" y="3344"/>
                  <a:pt x="1616" y="3368"/>
                  <a:pt x="1568" y="3368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898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" name="Text Box 10">
            <a:extLst>
              <a:ext uri="{FF2B5EF4-FFF2-40B4-BE49-F238E27FC236}">
                <a16:creationId xmlns:a16="http://schemas.microsoft.com/office/drawing/2014/main" id="{5C085E32-4F62-9A4C-8A92-CB63AEFE3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991"/>
            <a:ext cx="30861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/>
              <a:t>We cannot use these scoring terms in the CKY 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BCDF6F-BC41-374B-8544-4646A5007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" y="6141131"/>
            <a:ext cx="81407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751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Freeform 2"/>
          <p:cNvSpPr>
            <a:spLocks/>
          </p:cNvSpPr>
          <p:nvPr/>
        </p:nvSpPr>
        <p:spPr bwMode="auto">
          <a:xfrm>
            <a:off x="609600" y="977900"/>
            <a:ext cx="3086100" cy="4826000"/>
          </a:xfrm>
          <a:custGeom>
            <a:avLst/>
            <a:gdLst>
              <a:gd name="T0" fmla="*/ 336 w 1944"/>
              <a:gd name="T1" fmla="*/ 2984 h 3040"/>
              <a:gd name="T2" fmla="*/ 48 w 1944"/>
              <a:gd name="T3" fmla="*/ 2936 h 3040"/>
              <a:gd name="T4" fmla="*/ 48 w 1944"/>
              <a:gd name="T5" fmla="*/ 2504 h 3040"/>
              <a:gd name="T6" fmla="*/ 240 w 1944"/>
              <a:gd name="T7" fmla="*/ 1640 h 3040"/>
              <a:gd name="T8" fmla="*/ 1104 w 1944"/>
              <a:gd name="T9" fmla="*/ 200 h 3040"/>
              <a:gd name="T10" fmla="*/ 1632 w 1944"/>
              <a:gd name="T11" fmla="*/ 440 h 3040"/>
              <a:gd name="T12" fmla="*/ 1920 w 1944"/>
              <a:gd name="T13" fmla="*/ 776 h 3040"/>
              <a:gd name="T14" fmla="*/ 1488 w 1944"/>
              <a:gd name="T15" fmla="*/ 1256 h 3040"/>
              <a:gd name="T16" fmla="*/ 864 w 1944"/>
              <a:gd name="T17" fmla="*/ 2360 h 3040"/>
              <a:gd name="T18" fmla="*/ 912 w 1944"/>
              <a:gd name="T19" fmla="*/ 2792 h 3040"/>
              <a:gd name="T20" fmla="*/ 912 w 1944"/>
              <a:gd name="T21" fmla="*/ 2984 h 3040"/>
              <a:gd name="T22" fmla="*/ 576 w 1944"/>
              <a:gd name="T23" fmla="*/ 2984 h 3040"/>
              <a:gd name="T24" fmla="*/ 576 w 1944"/>
              <a:gd name="T25" fmla="*/ 2744 h 3040"/>
              <a:gd name="T26" fmla="*/ 672 w 1944"/>
              <a:gd name="T27" fmla="*/ 2168 h 3040"/>
              <a:gd name="T28" fmla="*/ 1488 w 1944"/>
              <a:gd name="T29" fmla="*/ 824 h 3040"/>
              <a:gd name="T30" fmla="*/ 1200 w 1944"/>
              <a:gd name="T31" fmla="*/ 680 h 3040"/>
              <a:gd name="T32" fmla="*/ 528 w 1944"/>
              <a:gd name="T33" fmla="*/ 1880 h 3040"/>
              <a:gd name="T34" fmla="*/ 528 w 1944"/>
              <a:gd name="T35" fmla="*/ 2648 h 3040"/>
              <a:gd name="T36" fmla="*/ 576 w 1944"/>
              <a:gd name="T37" fmla="*/ 2984 h 3040"/>
              <a:gd name="T38" fmla="*/ 336 w 1944"/>
              <a:gd name="T39" fmla="*/ 298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44" h="3040">
                <a:moveTo>
                  <a:pt x="336" y="2984"/>
                </a:moveTo>
                <a:cubicBezTo>
                  <a:pt x="248" y="2976"/>
                  <a:pt x="96" y="3016"/>
                  <a:pt x="48" y="2936"/>
                </a:cubicBezTo>
                <a:cubicBezTo>
                  <a:pt x="0" y="2856"/>
                  <a:pt x="16" y="2720"/>
                  <a:pt x="48" y="2504"/>
                </a:cubicBezTo>
                <a:cubicBezTo>
                  <a:pt x="80" y="2288"/>
                  <a:pt x="64" y="2024"/>
                  <a:pt x="240" y="1640"/>
                </a:cubicBezTo>
                <a:cubicBezTo>
                  <a:pt x="416" y="1256"/>
                  <a:pt x="872" y="400"/>
                  <a:pt x="1104" y="200"/>
                </a:cubicBezTo>
                <a:cubicBezTo>
                  <a:pt x="1336" y="0"/>
                  <a:pt x="1496" y="344"/>
                  <a:pt x="1632" y="440"/>
                </a:cubicBezTo>
                <a:cubicBezTo>
                  <a:pt x="1768" y="536"/>
                  <a:pt x="1944" y="640"/>
                  <a:pt x="1920" y="776"/>
                </a:cubicBezTo>
                <a:cubicBezTo>
                  <a:pt x="1896" y="912"/>
                  <a:pt x="1664" y="992"/>
                  <a:pt x="1488" y="1256"/>
                </a:cubicBezTo>
                <a:cubicBezTo>
                  <a:pt x="1312" y="1520"/>
                  <a:pt x="960" y="2104"/>
                  <a:pt x="864" y="2360"/>
                </a:cubicBezTo>
                <a:cubicBezTo>
                  <a:pt x="768" y="2616"/>
                  <a:pt x="904" y="2688"/>
                  <a:pt x="912" y="2792"/>
                </a:cubicBezTo>
                <a:cubicBezTo>
                  <a:pt x="920" y="2896"/>
                  <a:pt x="968" y="2952"/>
                  <a:pt x="912" y="2984"/>
                </a:cubicBezTo>
                <a:cubicBezTo>
                  <a:pt x="856" y="3016"/>
                  <a:pt x="632" y="3024"/>
                  <a:pt x="576" y="2984"/>
                </a:cubicBezTo>
                <a:cubicBezTo>
                  <a:pt x="520" y="2944"/>
                  <a:pt x="560" y="2880"/>
                  <a:pt x="576" y="2744"/>
                </a:cubicBezTo>
                <a:cubicBezTo>
                  <a:pt x="592" y="2608"/>
                  <a:pt x="520" y="2488"/>
                  <a:pt x="672" y="2168"/>
                </a:cubicBezTo>
                <a:cubicBezTo>
                  <a:pt x="824" y="1848"/>
                  <a:pt x="1400" y="1072"/>
                  <a:pt x="1488" y="824"/>
                </a:cubicBezTo>
                <a:cubicBezTo>
                  <a:pt x="1576" y="576"/>
                  <a:pt x="1360" y="504"/>
                  <a:pt x="1200" y="680"/>
                </a:cubicBezTo>
                <a:cubicBezTo>
                  <a:pt x="1040" y="856"/>
                  <a:pt x="640" y="1552"/>
                  <a:pt x="528" y="1880"/>
                </a:cubicBezTo>
                <a:cubicBezTo>
                  <a:pt x="416" y="2208"/>
                  <a:pt x="520" y="2464"/>
                  <a:pt x="528" y="2648"/>
                </a:cubicBezTo>
                <a:cubicBezTo>
                  <a:pt x="536" y="2832"/>
                  <a:pt x="608" y="2928"/>
                  <a:pt x="576" y="2984"/>
                </a:cubicBezTo>
                <a:cubicBezTo>
                  <a:pt x="544" y="3040"/>
                  <a:pt x="424" y="2992"/>
                  <a:pt x="336" y="2984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547" name="Freeform 3"/>
          <p:cNvSpPr>
            <a:spLocks/>
          </p:cNvSpPr>
          <p:nvPr/>
        </p:nvSpPr>
        <p:spPr bwMode="auto">
          <a:xfrm>
            <a:off x="2235200" y="381000"/>
            <a:ext cx="4279900" cy="5473700"/>
          </a:xfrm>
          <a:custGeom>
            <a:avLst/>
            <a:gdLst>
              <a:gd name="T0" fmla="*/ 1568 w 2696"/>
              <a:gd name="T1" fmla="*/ 3368 h 3448"/>
              <a:gd name="T2" fmla="*/ 1424 w 2696"/>
              <a:gd name="T3" fmla="*/ 3272 h 3448"/>
              <a:gd name="T4" fmla="*/ 1376 w 2696"/>
              <a:gd name="T5" fmla="*/ 2600 h 3448"/>
              <a:gd name="T6" fmla="*/ 1184 w 2696"/>
              <a:gd name="T7" fmla="*/ 2264 h 3448"/>
              <a:gd name="T8" fmla="*/ 704 w 2696"/>
              <a:gd name="T9" fmla="*/ 1592 h 3448"/>
              <a:gd name="T10" fmla="*/ 80 w 2696"/>
              <a:gd name="T11" fmla="*/ 824 h 3448"/>
              <a:gd name="T12" fmla="*/ 224 w 2696"/>
              <a:gd name="T13" fmla="*/ 440 h 3448"/>
              <a:gd name="T14" fmla="*/ 1088 w 2696"/>
              <a:gd name="T15" fmla="*/ 8 h 3448"/>
              <a:gd name="T16" fmla="*/ 1808 w 2696"/>
              <a:gd name="T17" fmla="*/ 488 h 3448"/>
              <a:gd name="T18" fmla="*/ 2624 w 2696"/>
              <a:gd name="T19" fmla="*/ 1304 h 3448"/>
              <a:gd name="T20" fmla="*/ 2240 w 2696"/>
              <a:gd name="T21" fmla="*/ 2216 h 3448"/>
              <a:gd name="T22" fmla="*/ 2144 w 2696"/>
              <a:gd name="T23" fmla="*/ 2936 h 3448"/>
              <a:gd name="T24" fmla="*/ 2048 w 2696"/>
              <a:gd name="T25" fmla="*/ 3080 h 3448"/>
              <a:gd name="T26" fmla="*/ 2000 w 2696"/>
              <a:gd name="T27" fmla="*/ 3368 h 3448"/>
              <a:gd name="T28" fmla="*/ 1856 w 2696"/>
              <a:gd name="T29" fmla="*/ 3368 h 3448"/>
              <a:gd name="T30" fmla="*/ 1760 w 2696"/>
              <a:gd name="T31" fmla="*/ 2888 h 3448"/>
              <a:gd name="T32" fmla="*/ 1760 w 2696"/>
              <a:gd name="T33" fmla="*/ 2504 h 3448"/>
              <a:gd name="T34" fmla="*/ 2192 w 2696"/>
              <a:gd name="T35" fmla="*/ 1448 h 3448"/>
              <a:gd name="T36" fmla="*/ 1088 w 2696"/>
              <a:gd name="T37" fmla="*/ 440 h 3448"/>
              <a:gd name="T38" fmla="*/ 512 w 2696"/>
              <a:gd name="T39" fmla="*/ 728 h 3448"/>
              <a:gd name="T40" fmla="*/ 896 w 2696"/>
              <a:gd name="T41" fmla="*/ 1112 h 3448"/>
              <a:gd name="T42" fmla="*/ 1568 w 2696"/>
              <a:gd name="T43" fmla="*/ 2120 h 3448"/>
              <a:gd name="T44" fmla="*/ 1712 w 2696"/>
              <a:gd name="T45" fmla="*/ 2936 h 3448"/>
              <a:gd name="T46" fmla="*/ 1712 w 2696"/>
              <a:gd name="T47" fmla="*/ 3272 h 3448"/>
              <a:gd name="T48" fmla="*/ 1568 w 2696"/>
              <a:gd name="T49" fmla="*/ 3368 h 3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96" h="3448">
                <a:moveTo>
                  <a:pt x="1568" y="3368"/>
                </a:moveTo>
                <a:cubicBezTo>
                  <a:pt x="1520" y="3368"/>
                  <a:pt x="1456" y="3400"/>
                  <a:pt x="1424" y="3272"/>
                </a:cubicBezTo>
                <a:cubicBezTo>
                  <a:pt x="1392" y="3144"/>
                  <a:pt x="1416" y="2768"/>
                  <a:pt x="1376" y="2600"/>
                </a:cubicBezTo>
                <a:cubicBezTo>
                  <a:pt x="1336" y="2432"/>
                  <a:pt x="1296" y="2432"/>
                  <a:pt x="1184" y="2264"/>
                </a:cubicBezTo>
                <a:cubicBezTo>
                  <a:pt x="1072" y="2096"/>
                  <a:pt x="888" y="1832"/>
                  <a:pt x="704" y="1592"/>
                </a:cubicBezTo>
                <a:cubicBezTo>
                  <a:pt x="520" y="1352"/>
                  <a:pt x="160" y="1016"/>
                  <a:pt x="80" y="824"/>
                </a:cubicBezTo>
                <a:cubicBezTo>
                  <a:pt x="0" y="632"/>
                  <a:pt x="56" y="576"/>
                  <a:pt x="224" y="440"/>
                </a:cubicBezTo>
                <a:cubicBezTo>
                  <a:pt x="392" y="304"/>
                  <a:pt x="824" y="0"/>
                  <a:pt x="1088" y="8"/>
                </a:cubicBezTo>
                <a:cubicBezTo>
                  <a:pt x="1352" y="16"/>
                  <a:pt x="1552" y="272"/>
                  <a:pt x="1808" y="488"/>
                </a:cubicBezTo>
                <a:cubicBezTo>
                  <a:pt x="2064" y="704"/>
                  <a:pt x="2552" y="1016"/>
                  <a:pt x="2624" y="1304"/>
                </a:cubicBezTo>
                <a:cubicBezTo>
                  <a:pt x="2696" y="1592"/>
                  <a:pt x="2320" y="1944"/>
                  <a:pt x="2240" y="2216"/>
                </a:cubicBezTo>
                <a:cubicBezTo>
                  <a:pt x="2160" y="2488"/>
                  <a:pt x="2176" y="2792"/>
                  <a:pt x="2144" y="2936"/>
                </a:cubicBezTo>
                <a:cubicBezTo>
                  <a:pt x="2112" y="3080"/>
                  <a:pt x="2072" y="3008"/>
                  <a:pt x="2048" y="3080"/>
                </a:cubicBezTo>
                <a:cubicBezTo>
                  <a:pt x="2024" y="3152"/>
                  <a:pt x="2032" y="3320"/>
                  <a:pt x="2000" y="3368"/>
                </a:cubicBezTo>
                <a:cubicBezTo>
                  <a:pt x="1968" y="3416"/>
                  <a:pt x="1896" y="3448"/>
                  <a:pt x="1856" y="3368"/>
                </a:cubicBezTo>
                <a:cubicBezTo>
                  <a:pt x="1816" y="3288"/>
                  <a:pt x="1776" y="3032"/>
                  <a:pt x="1760" y="2888"/>
                </a:cubicBezTo>
                <a:cubicBezTo>
                  <a:pt x="1744" y="2744"/>
                  <a:pt x="1688" y="2744"/>
                  <a:pt x="1760" y="2504"/>
                </a:cubicBezTo>
                <a:cubicBezTo>
                  <a:pt x="1832" y="2264"/>
                  <a:pt x="2304" y="1792"/>
                  <a:pt x="2192" y="1448"/>
                </a:cubicBezTo>
                <a:cubicBezTo>
                  <a:pt x="2080" y="1104"/>
                  <a:pt x="1368" y="560"/>
                  <a:pt x="1088" y="440"/>
                </a:cubicBezTo>
                <a:cubicBezTo>
                  <a:pt x="808" y="320"/>
                  <a:pt x="544" y="616"/>
                  <a:pt x="512" y="728"/>
                </a:cubicBezTo>
                <a:cubicBezTo>
                  <a:pt x="480" y="840"/>
                  <a:pt x="720" y="880"/>
                  <a:pt x="896" y="1112"/>
                </a:cubicBezTo>
                <a:cubicBezTo>
                  <a:pt x="1072" y="1344"/>
                  <a:pt x="1432" y="1816"/>
                  <a:pt x="1568" y="2120"/>
                </a:cubicBezTo>
                <a:cubicBezTo>
                  <a:pt x="1704" y="2424"/>
                  <a:pt x="1688" y="2744"/>
                  <a:pt x="1712" y="2936"/>
                </a:cubicBezTo>
                <a:cubicBezTo>
                  <a:pt x="1736" y="3128"/>
                  <a:pt x="1736" y="3200"/>
                  <a:pt x="1712" y="3272"/>
                </a:cubicBezTo>
                <a:cubicBezTo>
                  <a:pt x="1688" y="3344"/>
                  <a:pt x="1616" y="3368"/>
                  <a:pt x="1568" y="3368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205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20550" name="Text Box 6"/>
          <p:cNvSpPr txBox="1">
            <a:spLocks noChangeArrowheads="1"/>
          </p:cNvSpPr>
          <p:nvPr/>
        </p:nvSpPr>
        <p:spPr bwMode="auto">
          <a:xfrm>
            <a:off x="1891619" y="186189"/>
            <a:ext cx="5503636" cy="13323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57200" tIns="320040" rIns="457200" bIns="320040"/>
          <a:lstStyle/>
          <a:p>
            <a:pPr algn="ctr"/>
            <a:r>
              <a:rPr lang="en-US" sz="2400" i="0" dirty="0"/>
              <a:t>“non-local features” like these break dynamic programming!</a:t>
            </a:r>
          </a:p>
        </p:txBody>
      </p:sp>
    </p:spTree>
    <p:extLst>
      <p:ext uri="{BB962C8B-B14F-4D97-AF65-F5344CB8AC3E}">
        <p14:creationId xmlns:p14="http://schemas.microsoft.com/office/powerpoint/2010/main" val="33048858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06475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0791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26372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4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2253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85177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2742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5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38166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6400"/>
            <a:ext cx="170973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7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7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2935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815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9512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94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76200"/>
            <a:ext cx="2598737" cy="281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94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8241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4756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8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152400"/>
            <a:ext cx="3014662" cy="277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67081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50163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7068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50163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7126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76200"/>
            <a:ext cx="7818437" cy="553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5790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Clarification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Cube pruning does not actually expand all </a:t>
            </a:r>
            <a:r>
              <a:rPr lang="en-US" sz="2400" i="1" dirty="0">
                <a:latin typeface="Times New Roman" charset="0"/>
              </a:rPr>
              <a:t>k</a:t>
            </a:r>
            <a:r>
              <a:rPr lang="en-US" sz="2400" i="1" baseline="30000" dirty="0">
                <a:latin typeface="Times New Roman" charset="0"/>
              </a:rPr>
              <a:t>2</a:t>
            </a:r>
            <a:r>
              <a:rPr lang="en-US" sz="2400" dirty="0"/>
              <a:t> proofs as this example showed</a:t>
            </a:r>
          </a:p>
          <a:p>
            <a:endParaRPr lang="en-US" sz="2400" dirty="0"/>
          </a:p>
          <a:p>
            <a:r>
              <a:rPr lang="en-US" sz="2400" dirty="0"/>
              <a:t>It uses a fast approximation that only looks at </a:t>
            </a:r>
            <a:r>
              <a:rPr lang="en-US" sz="2400" i="1" dirty="0">
                <a:latin typeface="Times New Roman" charset="0"/>
              </a:rPr>
              <a:t>O(k)</a:t>
            </a:r>
            <a:r>
              <a:rPr lang="en-US" sz="2400" dirty="0"/>
              <a:t> proofs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4169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73843</TotalTime>
  <Words>7319</Words>
  <Application>Microsoft Macintosh PowerPoint</Application>
  <PresentationFormat>On-screen Show (4:3)</PresentationFormat>
  <Paragraphs>693</Paragraphs>
  <Slides>79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Arial</vt:lpstr>
      <vt:lpstr>Calibri</vt:lpstr>
      <vt:lpstr>Courier New</vt:lpstr>
      <vt:lpstr>Times New Roman</vt:lpstr>
      <vt:lpstr>Office Theme</vt:lpstr>
      <vt:lpstr>TTIC 31210: Advanced Natural Language Processing</vt:lpstr>
      <vt:lpstr>Roadmap</vt:lpstr>
      <vt:lpstr>Assignments</vt:lpstr>
      <vt:lpstr>Modeling, Inference, Learning</vt:lpstr>
      <vt:lpstr>Inference with Structured Predictors</vt:lpstr>
      <vt:lpstr>Parts and Score Functions</vt:lpstr>
      <vt:lpstr>Structured Prediction Tasks</vt:lpstr>
      <vt:lpstr>Hidden Markov Model (HMM)</vt:lpstr>
      <vt:lpstr>Inference in HMMs</vt:lpstr>
      <vt:lpstr>Viterbi Algorithm for HMMs</vt:lpstr>
      <vt:lpstr>“Backpointers” in Viterbi</vt:lpstr>
      <vt:lpstr>“Backpointers” in Viterbi</vt:lpstr>
      <vt:lpstr>Following Backpointers in Viterbi</vt:lpstr>
      <vt:lpstr>Viterbi Algorithm for Sequence Models (with tag bigram features)</vt:lpstr>
      <vt:lpstr>Approximate Inference</vt:lpstr>
      <vt:lpstr>Example: HMM POS Tagging</vt:lpstr>
      <vt:lpstr>Greedy Left-to-Right Inference</vt:lpstr>
      <vt:lpstr>Greedy Inference</vt:lpstr>
      <vt:lpstr>Greedy Inference</vt:lpstr>
      <vt:lpstr>Greedy Inference</vt:lpstr>
      <vt:lpstr>Greedy Inference</vt:lpstr>
      <vt:lpstr>Greedy Inference</vt:lpstr>
      <vt:lpstr>Greedy Inference</vt:lpstr>
      <vt:lpstr>PowerPoint Presentation</vt:lpstr>
      <vt:lpstr>Beam Search (beam size b = 2)</vt:lpstr>
      <vt:lpstr>Extend Hypotheses</vt:lpstr>
      <vt:lpstr>Extend Hypotheses</vt:lpstr>
      <vt:lpstr>Prune Hypotheses (b = 2)</vt:lpstr>
      <vt:lpstr>Prune Hypotheses (b = 2)</vt:lpstr>
      <vt:lpstr>Prune Hypotheses (b = 2)</vt:lpstr>
      <vt:lpstr>Extend Hypotheses</vt:lpstr>
      <vt:lpstr>Prune Hypotheses (b = 2)</vt:lpstr>
      <vt:lpstr>Prune Hypotheses (b = 2)</vt:lpstr>
      <vt:lpstr>Complexity of Beam Search</vt:lpstr>
      <vt:lpstr>Beam Search</vt:lpstr>
      <vt:lpstr>Beam Search</vt:lpstr>
      <vt:lpstr>Beam Search for Generation</vt:lpstr>
      <vt:lpstr>Beam Search in Generation</vt:lpstr>
      <vt:lpstr>Approximate Inference</vt:lpstr>
      <vt:lpstr>Coarse-to-Fine</vt:lpstr>
      <vt:lpstr>Coarse-to-Fine</vt:lpstr>
      <vt:lpstr>Coarse-to-Fine</vt:lpstr>
      <vt:lpstr>Coarse-to-Fine</vt:lpstr>
      <vt:lpstr>References for Coarse-to-Fine Procedures in NLP</vt:lpstr>
      <vt:lpstr>Heuristic Search Algorithms</vt:lpstr>
      <vt:lpstr>Non-Local Features</vt:lpstr>
      <vt:lpstr>Non-Local Features in Named Entity Recognition</vt:lpstr>
      <vt:lpstr>Non-Local Features in Named Entity Recognition</vt:lpstr>
      <vt:lpstr>Non-Local Features in Named Entity Recognition</vt:lpstr>
      <vt:lpstr>Skip-Chain CRFs with Inference via                Loopy Belief Propagation</vt:lpstr>
      <vt:lpstr>Inference via Gibbs Sampling</vt:lpstr>
      <vt:lpstr>Non-Local Features in Beam Search</vt:lpstr>
      <vt:lpstr>Inference in PCFGs</vt:lpstr>
      <vt:lpstr>PowerPoint Presentation</vt:lpstr>
      <vt:lpstr>CKY Algorithm</vt:lpstr>
      <vt:lpstr>CKY Algorithm</vt:lpstr>
      <vt:lpstr>PowerPoint Presentation</vt:lpstr>
      <vt:lpstr>Cube Pruning (Chiang, 2007; Huang &amp; Chiang, 2007)</vt:lpstr>
      <vt:lpstr>PowerPoint Presentation</vt:lpstr>
      <vt:lpstr>CKY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Clarification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1293</cp:revision>
  <dcterms:created xsi:type="dcterms:W3CDTF">2015-08-31T18:15:35Z</dcterms:created>
  <dcterms:modified xsi:type="dcterms:W3CDTF">2019-04-30T12:59:27Z</dcterms:modified>
</cp:coreProperties>
</file>