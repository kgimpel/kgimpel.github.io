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6" r:id="rId2"/>
    <p:sldId id="3180" r:id="rId3"/>
    <p:sldId id="3181" r:id="rId4"/>
    <p:sldId id="3203" r:id="rId5"/>
    <p:sldId id="3179" r:id="rId6"/>
    <p:sldId id="3141" r:id="rId7"/>
    <p:sldId id="2864" r:id="rId8"/>
    <p:sldId id="3159" r:id="rId9"/>
    <p:sldId id="3202" r:id="rId10"/>
    <p:sldId id="3161" r:id="rId11"/>
    <p:sldId id="3229" r:id="rId12"/>
    <p:sldId id="3319" r:id="rId13"/>
    <p:sldId id="3213" r:id="rId14"/>
    <p:sldId id="3215" r:id="rId15"/>
    <p:sldId id="3205" r:id="rId16"/>
    <p:sldId id="3330" r:id="rId17"/>
    <p:sldId id="3331" r:id="rId18"/>
    <p:sldId id="3216" r:id="rId19"/>
    <p:sldId id="3221" r:id="rId20"/>
    <p:sldId id="3220" r:id="rId21"/>
    <p:sldId id="3217" r:id="rId22"/>
    <p:sldId id="3218" r:id="rId23"/>
    <p:sldId id="3320" r:id="rId24"/>
    <p:sldId id="3333" r:id="rId25"/>
    <p:sldId id="3183" r:id="rId26"/>
    <p:sldId id="3190" r:id="rId27"/>
    <p:sldId id="3334" r:id="rId28"/>
    <p:sldId id="3226" r:id="rId29"/>
    <p:sldId id="3223" r:id="rId30"/>
    <p:sldId id="3224" r:id="rId31"/>
    <p:sldId id="3225" r:id="rId32"/>
    <p:sldId id="3228" r:id="rId33"/>
    <p:sldId id="3302" r:id="rId34"/>
    <p:sldId id="3227" r:id="rId35"/>
    <p:sldId id="3231" r:id="rId36"/>
    <p:sldId id="3321" r:id="rId37"/>
    <p:sldId id="3322" r:id="rId38"/>
    <p:sldId id="3326" r:id="rId39"/>
    <p:sldId id="3327" r:id="rId40"/>
    <p:sldId id="3332" r:id="rId41"/>
    <p:sldId id="3325" r:id="rId42"/>
    <p:sldId id="3232" r:id="rId43"/>
    <p:sldId id="479" r:id="rId44"/>
    <p:sldId id="3328" r:id="rId45"/>
    <p:sldId id="3329" r:id="rId46"/>
    <p:sldId id="3315" r:id="rId47"/>
    <p:sldId id="3303" r:id="rId48"/>
    <p:sldId id="3318" r:id="rId49"/>
    <p:sldId id="3335" r:id="rId50"/>
    <p:sldId id="3336" r:id="rId51"/>
    <p:sldId id="3337" r:id="rId52"/>
    <p:sldId id="3240" r:id="rId53"/>
    <p:sldId id="3242" r:id="rId54"/>
    <p:sldId id="3246" r:id="rId55"/>
    <p:sldId id="3247" r:id="rId56"/>
    <p:sldId id="3251" r:id="rId57"/>
    <p:sldId id="3253" r:id="rId58"/>
    <p:sldId id="1278" r:id="rId59"/>
    <p:sldId id="3260" r:id="rId60"/>
    <p:sldId id="3261" r:id="rId61"/>
    <p:sldId id="1284" r:id="rId62"/>
    <p:sldId id="3281" r:id="rId63"/>
    <p:sldId id="3266" r:id="rId64"/>
    <p:sldId id="3267" r:id="rId65"/>
    <p:sldId id="3282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26"/>
    <p:restoredTop sz="87360" autoAdjust="0"/>
  </p:normalViewPr>
  <p:slideViewPr>
    <p:cSldViewPr snapToGrid="0" snapToObjects="1">
      <p:cViewPr varScale="1">
        <p:scale>
          <a:sx n="72" d="100"/>
          <a:sy n="72" d="100"/>
        </p:scale>
        <p:origin x="-26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printerSettings" Target="printerSettings/printerSettings1.bin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4/24/19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Relationship Id="rId3" Type="http://schemas.openxmlformats.org/officeDocument/2006/relationships/hyperlink" Target="https://en.wikipedia.org/wiki/Dependency_grammar" TargetMode="Externa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Relationship Id="rId3" Type="http://schemas.openxmlformats.org/officeDocument/2006/relationships/hyperlink" Target="https://en.wikipedia.org/wiki/Dependency_grammar" TargetMode="Externa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Relationship Id="rId3" Type="http://schemas.openxmlformats.org/officeDocument/2006/relationships/hyperlink" Target="https://en.wikipedia.org/wiki/Dependency_grammar" TargetMode="Externa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2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914311"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19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}(\boldsymbol{y}) = \{y_1,...,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y_N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\in\{0,1\}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\!\!\!\sum_{\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{y}_r\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{y})} \!\!\!\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y_1\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ldots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8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65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loss: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{loss}_{\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{log}} = -\log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{\theta}}(Y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x_{t-1},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x_{t+1})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output: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{\theta}}(Y \mid x_{t-1},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x_{t+1})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31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loss: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{loss}_{\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{log}} = -\log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{\theta}}(Y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x_{t-1},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x_{t+1})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output: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{\theta}}(Y \mid x_{t-1},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x_{t+1})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62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\log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98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\log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0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22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{y}_{1:{t-1}})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53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\log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{\theta}}(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{y}_{1:{t-1}})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06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{y}_{1:t}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75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{x}_{1:t},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{y}_{1:t}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44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4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62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914311"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86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1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26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4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https://en.wikipedia.org/wiki/Dependency_grammar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377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https://en.wikipedia.org/wiki/Dependency_grammar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69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https://en.wikipedia.org/wiki/Dependency_grammar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6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\in\{0,1,\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15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26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52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{W}^{(y)}\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}(y_{t-1})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{W}^{(s)}\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{s}_{t-1}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{W}^{(c)}\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{c}_t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{b}^{(s)} \right)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{O}} \,\,\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{c}_t)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s2s encoder: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{h}_u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{x}_u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{h}_{u-1}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{b}^{(h)} \right)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s2s decoder: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{W}^{(y)}\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}(y_{t-1})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{W}^{(s)}\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{s}_{t-1}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{b}^{(s)} \right)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{s}_0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{V}} \,\,\,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{h}_t^\top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{x}_{u-1}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\mathit{emb}(y_{t-1})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34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837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{W}^{(y)}\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}(y_{t-1})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{W}^{(s)}\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{s}_{t-1}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{W}^{(c)}\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{c}_t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{b}^{(s)} \right)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{O}} \,\,\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{c}_t)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s2s encoder: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{h}_u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{W}^{(x)}\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{x}_u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{W}^{(h)}\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{h}_{u-1}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{b}^{(h)} \right)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s2s decoder: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{s}_t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{W}^{(y)}\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}(y_{t-1})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{W}^{(s)}\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{s}_{t-1}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{b}^{(s)} \right)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{s}_0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{V}} \,\,\,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{h}_t^\top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{x}_{u-1}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\mathit{emb}(y_{t-1})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88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28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905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974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895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\prod_{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=1}^{|\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{x}|}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y_{i-1})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{&lt;/s&gt;}} \mid y_{|\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{x}|}) \prod_{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=1}^{|\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{x}|}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y_{i-1})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29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%nlp18:vit-score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&amp;V(1, y)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{w})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&amp;V(m, y) = \max_{y'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{w})\: V(m-1, y') \right)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%&amp;V(1, y) =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{\eta}}(x_1 \mid y)\: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%&amp;V(m, y) = \max_{y' \in \mathcal{L}} \left(\;p_{\boldsymbol{\eta}}(x_m \mid y) \: p_{\boldsymbol{\tau}}(y \mid y')\: V(m-1, y') \right)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%f_{\boldsymbol{\eta}(y',x')}(\vect{x}, \vect{y}) = \sum_{i=1}^{|\boldsymbol{x}|} \mathbb{I}[(y_{i} = y') \wedge (x_i = x')]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{for}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{walk}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= \log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{\eta}}(x' \mid y')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y_{i-1}) \;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uk-U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%&amp;...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4/24/19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4/24/19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6" Type="http://schemas.openxmlformats.org/officeDocument/2006/relationships/image" Target="../media/image13.emf"/><Relationship Id="rId7" Type="http://schemas.openxmlformats.org/officeDocument/2006/relationships/image" Target="../media/image14.emf"/><Relationship Id="rId8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6" Type="http://schemas.openxmlformats.org/officeDocument/2006/relationships/image" Target="../media/image13.emf"/><Relationship Id="rId7" Type="http://schemas.openxmlformats.org/officeDocument/2006/relationships/image" Target="../media/image14.emf"/><Relationship Id="rId8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Relationship Id="rId11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7" Type="http://schemas.openxmlformats.org/officeDocument/2006/relationships/image" Target="../media/image20.emf"/><Relationship Id="rId8" Type="http://schemas.openxmlformats.org/officeDocument/2006/relationships/image" Target="../media/image21.emf"/><Relationship Id="rId9" Type="http://schemas.openxmlformats.org/officeDocument/2006/relationships/image" Target="../media/image10.emf"/><Relationship Id="rId10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33.emf"/><Relationship Id="rId6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33.emf"/><Relationship Id="rId6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3.emf"/><Relationship Id="rId12" Type="http://schemas.openxmlformats.org/officeDocument/2006/relationships/image" Target="../media/image44.emf"/><Relationship Id="rId13" Type="http://schemas.openxmlformats.org/officeDocument/2006/relationships/image" Target="../media/image45.emf"/><Relationship Id="rId14" Type="http://schemas.openxmlformats.org/officeDocument/2006/relationships/image" Target="../media/image46.emf"/><Relationship Id="rId15" Type="http://schemas.openxmlformats.org/officeDocument/2006/relationships/image" Target="../media/image47.emf"/><Relationship Id="rId16" Type="http://schemas.openxmlformats.org/officeDocument/2006/relationships/image" Target="../media/image48.emf"/><Relationship Id="rId17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emf"/><Relationship Id="rId4" Type="http://schemas.openxmlformats.org/officeDocument/2006/relationships/image" Target="../media/image36.emf"/><Relationship Id="rId5" Type="http://schemas.openxmlformats.org/officeDocument/2006/relationships/image" Target="../media/image37.emf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33.emf"/><Relationship Id="rId6" Type="http://schemas.openxmlformats.org/officeDocument/2006/relationships/image" Target="../media/image9.emf"/><Relationship Id="rId7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3.emf"/><Relationship Id="rId12" Type="http://schemas.openxmlformats.org/officeDocument/2006/relationships/image" Target="../media/image44.emf"/><Relationship Id="rId13" Type="http://schemas.openxmlformats.org/officeDocument/2006/relationships/image" Target="../media/image45.emf"/><Relationship Id="rId14" Type="http://schemas.openxmlformats.org/officeDocument/2006/relationships/image" Target="../media/image46.emf"/><Relationship Id="rId15" Type="http://schemas.openxmlformats.org/officeDocument/2006/relationships/image" Target="../media/image47.emf"/><Relationship Id="rId16" Type="http://schemas.openxmlformats.org/officeDocument/2006/relationships/image" Target="../media/image48.emf"/><Relationship Id="rId17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emf"/><Relationship Id="rId4" Type="http://schemas.openxmlformats.org/officeDocument/2006/relationships/image" Target="../media/image36.emf"/><Relationship Id="rId5" Type="http://schemas.openxmlformats.org/officeDocument/2006/relationships/image" Target="../media/image37.emf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4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4" Type="http://schemas.openxmlformats.org/officeDocument/2006/relationships/image" Target="../media/image60.emf"/><Relationship Id="rId5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4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4" Type="http://schemas.openxmlformats.org/officeDocument/2006/relationships/image" Target="../media/image63.emf"/><Relationship Id="rId5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emf"/><Relationship Id="rId3" Type="http://schemas.openxmlformats.org/officeDocument/2006/relationships/image" Target="../media/image68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8:</a:t>
            </a:r>
          </a:p>
          <a:p>
            <a:r>
              <a:rPr lang="en-US" sz="4000" dirty="0">
                <a:solidFill>
                  <a:schemeClr val="tx1"/>
                </a:solidFill>
              </a:rPr>
              <a:t>Structured Prediction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b="1" dirty="0"/>
              <a:t>structured prediction (4 lectures)</a:t>
            </a:r>
          </a:p>
          <a:p>
            <a:pPr lvl="1"/>
            <a:r>
              <a:rPr lang="en-US" sz="2000" b="1" dirty="0"/>
              <a:t>introducing/formalizing structured prediction, categories of structures</a:t>
            </a:r>
          </a:p>
          <a:p>
            <a:pPr lvl="1"/>
            <a:r>
              <a:rPr lang="en-US" sz="2000" b="1" dirty="0"/>
              <a:t>inference: dynamic programming, greedy algorithms, beam search</a:t>
            </a:r>
          </a:p>
          <a:p>
            <a:pPr lvl="1"/>
            <a:r>
              <a:rPr lang="en-US" sz="2000" b="1" dirty="0"/>
              <a:t>inference with non-local features</a:t>
            </a:r>
          </a:p>
          <a:p>
            <a:pPr lvl="1"/>
            <a:r>
              <a:rPr lang="en-US" sz="2000" b="1" dirty="0"/>
              <a:t>learning in structured prediction</a:t>
            </a:r>
          </a:p>
          <a:p>
            <a:r>
              <a:rPr lang="en-US" sz="2400" dirty="0"/>
              <a:t>generative models, latent variables, unsupervised learning, variational autoencoders (2 lectures)</a:t>
            </a:r>
          </a:p>
          <a:p>
            <a:r>
              <a:rPr lang="en-US" sz="2400" dirty="0"/>
              <a:t>Bayesian methods in NLP (2 lectures)</a:t>
            </a:r>
          </a:p>
          <a:p>
            <a:r>
              <a:rPr lang="en-US" sz="2400" dirty="0"/>
              <a:t>Bayesian </a:t>
            </a:r>
            <a:r>
              <a:rPr lang="en-US" sz="2400" dirty="0" err="1"/>
              <a:t>nonparametrics</a:t>
            </a:r>
            <a:r>
              <a:rPr lang="en-US" sz="2400" dirty="0"/>
              <a:t> in NLP (2 lectures)</a:t>
            </a:r>
          </a:p>
          <a:p>
            <a:r>
              <a:rPr lang="en-US" sz="2400" dirty="0"/>
              <a:t>review &amp; other topics (1 lecture)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3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0" y="1073740"/>
            <a:ext cx="8765747" cy="5052424"/>
          </a:xfrm>
        </p:spPr>
        <p:txBody>
          <a:bodyPr/>
          <a:lstStyle/>
          <a:p>
            <a:r>
              <a:rPr lang="en-US" dirty="0"/>
              <a:t>Assignment 2 due in one week</a:t>
            </a:r>
          </a:p>
          <a:p>
            <a:r>
              <a:rPr lang="en-US" dirty="0"/>
              <a:t>for the report, please use either pdf format or a </a:t>
            </a:r>
            <a:r>
              <a:rPr lang="en-US" dirty="0" err="1"/>
              <a:t>Jupyter</a:t>
            </a:r>
            <a:r>
              <a:rPr lang="en-US" dirty="0"/>
              <a:t> notebook (no plain text)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87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1668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590197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97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8270859-B3C3-664D-9748-3C7C4A1CFACE}"/>
              </a:ext>
            </a:extLst>
          </p:cNvPr>
          <p:cNvCxnSpPr/>
          <p:nvPr/>
        </p:nvCxnSpPr>
        <p:spPr bwMode="auto">
          <a:xfrm flipV="1">
            <a:off x="6243401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532883D-CC44-794C-BC83-08DFFAAB3019}"/>
              </a:ext>
            </a:extLst>
          </p:cNvPr>
          <p:cNvSpPr txBox="1"/>
          <p:nvPr/>
        </p:nvSpPr>
        <p:spPr>
          <a:xfrm>
            <a:off x="5702845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6" y="2210064"/>
            <a:ext cx="5753100" cy="63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9439" y="3155950"/>
            <a:ext cx="190500" cy="266700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2256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Working definition of structured prediction: </a:t>
            </a:r>
          </a:p>
          <a:p>
            <a:pPr marL="0" indent="0">
              <a:buNone/>
            </a:pPr>
            <a:r>
              <a:rPr lang="en-US" dirty="0"/>
              <a:t>size of output space is exponential in size of input</a:t>
            </a:r>
          </a:p>
          <a:p>
            <a:pPr marL="0" indent="0">
              <a:buNone/>
            </a:pPr>
            <a:r>
              <a:rPr lang="en-US" dirty="0"/>
              <a:t>or is unbounded (e.g., machine translation)</a:t>
            </a:r>
          </a:p>
          <a:p>
            <a:pPr marL="0" indent="0">
              <a:buNone/>
            </a:pPr>
            <a:r>
              <a:rPr lang="en-US" dirty="0"/>
              <a:t>(we can’t just enumerate all possible outputs)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90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Structured Prediction?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we use a structured scoring function or structured loss function</a:t>
            </a:r>
          </a:p>
          <a:p>
            <a:endParaRPr lang="en-US" dirty="0"/>
          </a:p>
          <a:p>
            <a:r>
              <a:rPr lang="en-US" dirty="0"/>
              <a:t>we may be predicting a structure, but we might not necessarily be building a “structured predictor”</a:t>
            </a:r>
          </a:p>
          <a:p>
            <a:endParaRPr lang="en-US" dirty="0"/>
          </a:p>
          <a:p>
            <a:r>
              <a:rPr lang="en-US" dirty="0"/>
              <a:t>we will use the terms “unstructured predictor” or “local predictor” in such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88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6E6139-6275-0D45-90CC-C095163C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2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Structured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03693E-AEE0-F348-AF21-31867CEB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49" y="898229"/>
            <a:ext cx="8499958" cy="5458121"/>
          </a:xfrm>
        </p:spPr>
        <p:txBody>
          <a:bodyPr>
            <a:normAutofit/>
          </a:bodyPr>
          <a:lstStyle/>
          <a:p>
            <a:r>
              <a:rPr lang="en-US" dirty="0"/>
              <a:t>a structured score/loss function does not decompose across “minimal parts” of output</a:t>
            </a:r>
          </a:p>
          <a:p>
            <a:endParaRPr lang="en-US" dirty="0"/>
          </a:p>
          <a:p>
            <a:r>
              <a:rPr lang="en-US" dirty="0"/>
              <a:t>to apply this definition we defined “parts” and “minimal parts”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38610E6-5843-8B4C-9388-1A151628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943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2017874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58004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noun      </a:t>
            </a:r>
            <a:r>
              <a:rPr lang="en-US" sz="2000" i="0" dirty="0" err="1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3B643A0-D22F-8F42-9D06-862B700D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7"/>
            <a:ext cx="8229600" cy="1525543"/>
          </a:xfrm>
        </p:spPr>
        <p:txBody>
          <a:bodyPr>
            <a:normAutofit/>
          </a:bodyPr>
          <a:lstStyle/>
          <a:p>
            <a:r>
              <a:rPr lang="en-US" sz="4800" dirty="0"/>
              <a:t>Sequence Labeling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3200" dirty="0"/>
              <a:t>(e.g., Part-of-Speech Tagging)</a:t>
            </a:r>
          </a:p>
        </p:txBody>
      </p:sp>
    </p:spTree>
    <p:extLst>
      <p:ext uri="{BB962C8B-B14F-4D97-AF65-F5344CB8AC3E}">
        <p14:creationId xmlns:p14="http://schemas.microsoft.com/office/powerpoint/2010/main" val="787341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2285"/>
            <a:ext cx="9144000" cy="4200744"/>
          </a:xfrm>
        </p:spPr>
        <p:txBody>
          <a:bodyPr>
            <a:normAutofit/>
          </a:bodyPr>
          <a:lstStyle/>
          <a:p>
            <a:r>
              <a:rPr lang="en-US" dirty="0"/>
              <a:t>parts: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minimal parts: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731422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14145" y="971552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noun      </a:t>
            </a:r>
            <a:r>
              <a:rPr lang="en-US" sz="2000" i="0" dirty="0" err="1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185" y="1807353"/>
            <a:ext cx="1130649" cy="985595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4915" y="1678728"/>
            <a:ext cx="1988905" cy="124907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2585" y="1916383"/>
            <a:ext cx="1641327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C9354C3-86D4-9441-8DE4-707B0217F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15" y="4162899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2C78575-3B4E-BE49-9F3F-34A7B1E32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45" y="4403029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noun      </a:t>
            </a:r>
            <a:r>
              <a:rPr lang="en-US" sz="2000" i="0" dirty="0" err="1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2C58451-5E0B-EA41-BB9D-982570BADFAF}"/>
              </a:ext>
            </a:extLst>
          </p:cNvPr>
          <p:cNvSpPr/>
          <p:nvPr/>
        </p:nvSpPr>
        <p:spPr>
          <a:xfrm>
            <a:off x="618124" y="5347860"/>
            <a:ext cx="910326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7DDC2FF-8B4D-F647-8FC3-A3F657B92576}"/>
              </a:ext>
            </a:extLst>
          </p:cNvPr>
          <p:cNvSpPr/>
          <p:nvPr/>
        </p:nvSpPr>
        <p:spPr>
          <a:xfrm>
            <a:off x="1674551" y="5347860"/>
            <a:ext cx="651839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8010051-AB3D-1B43-8458-6F06C172E778}"/>
              </a:ext>
            </a:extLst>
          </p:cNvPr>
          <p:cNvSpPr/>
          <p:nvPr/>
        </p:nvSpPr>
        <p:spPr>
          <a:xfrm>
            <a:off x="2393820" y="5347860"/>
            <a:ext cx="606884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B9B844F-5C16-F547-B815-4998631FEA5C}"/>
              </a:ext>
            </a:extLst>
          </p:cNvPr>
          <p:cNvSpPr/>
          <p:nvPr/>
        </p:nvSpPr>
        <p:spPr>
          <a:xfrm>
            <a:off x="3308222" y="5347859"/>
            <a:ext cx="1102913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DEE7AB0-8877-B349-AD05-DA3698080E08}"/>
              </a:ext>
            </a:extLst>
          </p:cNvPr>
          <p:cNvSpPr/>
          <p:nvPr/>
        </p:nvSpPr>
        <p:spPr>
          <a:xfrm>
            <a:off x="1746104" y="1799141"/>
            <a:ext cx="4527696" cy="985595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ED7DC26-A8D1-3049-87A9-2FDE1E586E39}"/>
              </a:ext>
            </a:extLst>
          </p:cNvPr>
          <p:cNvSpPr/>
          <p:nvPr/>
        </p:nvSpPr>
        <p:spPr>
          <a:xfrm>
            <a:off x="3308222" y="1916382"/>
            <a:ext cx="1102913" cy="373367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65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2285"/>
            <a:ext cx="9144000" cy="6270813"/>
          </a:xfrm>
        </p:spPr>
        <p:txBody>
          <a:bodyPr>
            <a:normAutofit fontScale="92500"/>
          </a:bodyPr>
          <a:lstStyle/>
          <a:p>
            <a:r>
              <a:rPr lang="en-US" dirty="0"/>
              <a:t>parts:</a:t>
            </a:r>
          </a:p>
          <a:p>
            <a:pPr lvl="1"/>
            <a:r>
              <a:rPr lang="en-US" dirty="0"/>
              <a:t>each “part” is a subcomponent of entire input/output pair</a:t>
            </a:r>
          </a:p>
          <a:p>
            <a:pPr lvl="1"/>
            <a:r>
              <a:rPr lang="en-US" dirty="0"/>
              <a:t>“parts function” = decomposition of input/output pair into a set of parts</a:t>
            </a:r>
          </a:p>
          <a:p>
            <a:pPr lvl="1"/>
            <a:r>
              <a:rPr lang="en-US" dirty="0"/>
              <a:t>parts functions defined for score/loss function, rather than for task (many parts functions possible for a task)</a:t>
            </a:r>
          </a:p>
          <a:p>
            <a:pPr lvl="1"/>
            <a:r>
              <a:rPr lang="en-US" dirty="0"/>
              <a:t>parts may overlap</a:t>
            </a:r>
          </a:p>
          <a:p>
            <a:pPr lvl="1"/>
            <a:endParaRPr lang="en-US" dirty="0"/>
          </a:p>
          <a:p>
            <a:r>
              <a:rPr lang="en-US" dirty="0"/>
              <a:t>minimal parts:</a:t>
            </a:r>
          </a:p>
          <a:p>
            <a:pPr lvl="1"/>
            <a:r>
              <a:rPr lang="en-US" dirty="0"/>
              <a:t>smallest possible parts for the task</a:t>
            </a:r>
          </a:p>
          <a:p>
            <a:pPr lvl="1"/>
            <a:r>
              <a:rPr lang="en-US" dirty="0"/>
              <a:t>minimal parts function defined for task (structured output space), not for structured score/loss function</a:t>
            </a:r>
          </a:p>
          <a:p>
            <a:pPr lvl="1"/>
            <a:r>
              <a:rPr lang="en-US" dirty="0"/>
              <a:t>minimal parts are non-overlapping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50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7A75E4-D0B0-354B-A69A-47936F12D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8229"/>
            <a:ext cx="8229600" cy="5687249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</a:rPr>
              <a:t>given a “parts” function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our score function is then defined: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score function decomposes additively across parts</a:t>
            </a:r>
          </a:p>
          <a:p>
            <a:pPr lvl="1"/>
            <a:r>
              <a:rPr lang="en-US" dirty="0"/>
              <a:t>each part is a subcomponent of input/output pair</a:t>
            </a:r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15A08E8-8359-8444-A004-A78FFB6B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1493"/>
            <a:ext cx="7467600" cy="85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1721224"/>
            <a:ext cx="1651000" cy="3683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A135681-0FAE-9A40-8FF1-B3C9C79D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Parts and Score Functions</a:t>
            </a:r>
          </a:p>
        </p:txBody>
      </p:sp>
    </p:spTree>
    <p:extLst>
      <p:ext uri="{BB962C8B-B14F-4D97-AF65-F5344CB8AC3E}">
        <p14:creationId xmlns:p14="http://schemas.microsoft.com/office/powerpoint/2010/main" val="1857057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85696"/>
              </p:ext>
            </p:extLst>
          </p:nvPr>
        </p:nvGraphicFramePr>
        <p:xfrm>
          <a:off x="-2" y="742013"/>
          <a:ext cx="9144002" cy="1525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69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22443"/>
              </p:ext>
            </p:extLst>
          </p:nvPr>
        </p:nvGraphicFramePr>
        <p:xfrm>
          <a:off x="-2" y="742013"/>
          <a:ext cx="9144002" cy="2714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20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9" idx="2"/>
            <a:endCxn id="46" idx="6"/>
          </p:cNvCxnSpPr>
          <p:nvPr/>
        </p:nvCxnSpPr>
        <p:spPr bwMode="auto">
          <a:xfrm flipV="1">
            <a:off x="2156239" y="2889973"/>
            <a:ext cx="22903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9" idx="1"/>
            <a:endCxn id="64" idx="6"/>
          </p:cNvCxnSpPr>
          <p:nvPr/>
        </p:nvCxnSpPr>
        <p:spPr bwMode="auto">
          <a:xfrm flipV="1">
            <a:off x="2237061" y="2889973"/>
            <a:ext cx="881038" cy="11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2"/>
            <a:endCxn id="46" idx="6"/>
          </p:cNvCxnSpPr>
          <p:nvPr/>
        </p:nvCxnSpPr>
        <p:spPr bwMode="auto">
          <a:xfrm flipH="1" flipV="1">
            <a:off x="2385269" y="2889973"/>
            <a:ext cx="91397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2"/>
            <a:endCxn id="64" idx="6"/>
          </p:cNvCxnSpPr>
          <p:nvPr/>
        </p:nvCxnSpPr>
        <p:spPr bwMode="auto">
          <a:xfrm flipH="1" flipV="1">
            <a:off x="3118099" y="2889973"/>
            <a:ext cx="18114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 bwMode="auto">
          <a:xfrm flipH="1">
            <a:off x="1609233" y="4225916"/>
            <a:ext cx="1690006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6"/>
            <a:endCxn id="9" idx="2"/>
          </p:cNvCxnSpPr>
          <p:nvPr/>
        </p:nvCxnSpPr>
        <p:spPr bwMode="auto">
          <a:xfrm>
            <a:off x="3299239" y="4225916"/>
            <a:ext cx="0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 flipH="1" flipV="1">
            <a:off x="2141519" y="4235705"/>
            <a:ext cx="14720" cy="12809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34" idx="3"/>
            <a:endCxn id="29" idx="7"/>
          </p:cNvCxnSpPr>
          <p:nvPr/>
        </p:nvCxnSpPr>
        <p:spPr bwMode="auto">
          <a:xfrm flipH="1" flipV="1">
            <a:off x="2237061" y="4192438"/>
            <a:ext cx="1544764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7"/>
            <a:endCxn id="31" idx="3"/>
          </p:cNvCxnSpPr>
          <p:nvPr/>
        </p:nvCxnSpPr>
        <p:spPr bwMode="auto">
          <a:xfrm>
            <a:off x="3380061" y="4192438"/>
            <a:ext cx="1544764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54" idx="2"/>
            <a:endCxn id="29" idx="5"/>
          </p:cNvCxnSpPr>
          <p:nvPr/>
        </p:nvCxnSpPr>
        <p:spPr bwMode="auto">
          <a:xfrm flipV="1">
            <a:off x="466233" y="4192438"/>
            <a:ext cx="1609184" cy="13242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Feed-Forward POS Tagger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 rot="5400000">
            <a:off x="2537239" y="479277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 rot="5400000">
            <a:off x="3184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" name="Oval 9"/>
          <p:cNvSpPr/>
          <p:nvPr/>
        </p:nvSpPr>
        <p:spPr>
          <a:xfrm rot="5400000">
            <a:off x="2803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Oval 10"/>
          <p:cNvSpPr/>
          <p:nvPr/>
        </p:nvSpPr>
        <p:spPr>
          <a:xfrm rot="5400000">
            <a:off x="2422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Oval 11"/>
          <p:cNvSpPr/>
          <p:nvPr/>
        </p:nvSpPr>
        <p:spPr>
          <a:xfrm rot="5400000">
            <a:off x="2041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xmlns="" id="{AF74E93E-68A7-D54C-9C6A-AF358F78E008}"/>
              </a:ext>
            </a:extLst>
          </p:cNvPr>
          <p:cNvSpPr/>
          <p:nvPr/>
        </p:nvSpPr>
        <p:spPr>
          <a:xfrm rot="5400000">
            <a:off x="833116" y="5128761"/>
            <a:ext cx="406400" cy="1676400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xmlns="" id="{190B8EB6-3816-B94A-B441-40ED5A4D5C40}"/>
              </a:ext>
            </a:extLst>
          </p:cNvPr>
          <p:cNvSpPr/>
          <p:nvPr/>
        </p:nvSpPr>
        <p:spPr>
          <a:xfrm rot="5400000">
            <a:off x="847233" y="479277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xmlns="" id="{A0801311-3F09-AC4A-8400-AFF7389EFA23}"/>
              </a:ext>
            </a:extLst>
          </p:cNvPr>
          <p:cNvSpPr/>
          <p:nvPr/>
        </p:nvSpPr>
        <p:spPr>
          <a:xfrm rot="5400000">
            <a:off x="1494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C6BC56C5-E473-9D4B-A7DB-B52BE91D1132}"/>
              </a:ext>
            </a:extLst>
          </p:cNvPr>
          <p:cNvSpPr/>
          <p:nvPr/>
        </p:nvSpPr>
        <p:spPr>
          <a:xfrm rot="5400000">
            <a:off x="1113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9AAD2E7C-2046-B946-94C0-EC1019B6C684}"/>
              </a:ext>
            </a:extLst>
          </p:cNvPr>
          <p:cNvSpPr/>
          <p:nvPr/>
        </p:nvSpPr>
        <p:spPr>
          <a:xfrm rot="5400000">
            <a:off x="732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134C4E78-BF1B-A24B-AFBD-372755F0BD86}"/>
              </a:ext>
            </a:extLst>
          </p:cNvPr>
          <p:cNvSpPr/>
          <p:nvPr/>
        </p:nvSpPr>
        <p:spPr>
          <a:xfrm rot="5400000">
            <a:off x="351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xmlns="" id="{F588974D-8955-6648-8AD7-B52A675963C8}"/>
              </a:ext>
            </a:extLst>
          </p:cNvPr>
          <p:cNvSpPr/>
          <p:nvPr/>
        </p:nvSpPr>
        <p:spPr>
          <a:xfrm rot="5400000">
            <a:off x="2524539" y="5129847"/>
            <a:ext cx="406400" cy="1676399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 rot="5400000">
            <a:off x="2537239" y="3273416"/>
            <a:ext cx="381000" cy="16764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 rot="5400000">
            <a:off x="3184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7" name="Oval 26"/>
          <p:cNvSpPr/>
          <p:nvPr/>
        </p:nvSpPr>
        <p:spPr>
          <a:xfrm rot="5400000">
            <a:off x="2803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Oval 27"/>
          <p:cNvSpPr/>
          <p:nvPr/>
        </p:nvSpPr>
        <p:spPr>
          <a:xfrm rot="5400000">
            <a:off x="2422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 rot="5400000">
            <a:off x="2041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Rounded Rectangle 29"/>
          <p:cNvSpPr/>
          <p:nvPr/>
        </p:nvSpPr>
        <p:spPr>
          <a:xfrm rot="5400000">
            <a:off x="4243647" y="4784431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 rot="5400000">
            <a:off x="4891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/>
          <p:cNvSpPr/>
          <p:nvPr/>
        </p:nvSpPr>
        <p:spPr>
          <a:xfrm rot="5400000">
            <a:off x="4510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 rot="5400000">
            <a:off x="4129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 rot="5400000">
            <a:off x="3748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xmlns="" id="{F588974D-8955-6648-8AD7-B52A675963C8}"/>
              </a:ext>
            </a:extLst>
          </p:cNvPr>
          <p:cNvSpPr/>
          <p:nvPr/>
        </p:nvSpPr>
        <p:spPr>
          <a:xfrm rot="5400000">
            <a:off x="4230947" y="5147647"/>
            <a:ext cx="406400" cy="1676400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 rot="5400000">
            <a:off x="2558815" y="2144927"/>
            <a:ext cx="381000" cy="12614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 rot="5400000">
            <a:off x="265196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/>
          <p:cNvSpPr/>
          <p:nvPr/>
        </p:nvSpPr>
        <p:spPr>
          <a:xfrm rot="5400000">
            <a:off x="227096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/>
          <p:cNvSpPr/>
          <p:nvPr/>
        </p:nvSpPr>
        <p:spPr>
          <a:xfrm rot="5400000">
            <a:off x="300379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5A4C33E3-87F3-0E45-85FE-D6E1F2CB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98" y="6238933"/>
            <a:ext cx="1350023" cy="3235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613F130-4DCF-CD4F-941B-CFEC0345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553" y="6236483"/>
            <a:ext cx="1350023" cy="32355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2B074171-0603-3547-94A8-B8A98CF3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251" y="6250362"/>
            <a:ext cx="1037620" cy="323559"/>
          </a:xfrm>
          <a:prstGeom prst="rect">
            <a:avLst/>
          </a:prstGeom>
        </p:spPr>
      </p:pic>
      <p:sp>
        <p:nvSpPr>
          <p:cNvPr id="67" name="Right Brace 66">
            <a:extLst>
              <a:ext uri="{FF2B5EF4-FFF2-40B4-BE49-F238E27FC236}">
                <a16:creationId xmlns:a16="http://schemas.microsoft.com/office/drawing/2014/main" xmlns="" id="{E1E4873A-FB33-024D-B282-9B91B94388B9}"/>
              </a:ext>
            </a:extLst>
          </p:cNvPr>
          <p:cNvSpPr/>
          <p:nvPr/>
        </p:nvSpPr>
        <p:spPr>
          <a:xfrm rot="16200000">
            <a:off x="2541278" y="1691551"/>
            <a:ext cx="406400" cy="133812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xmlns="" id="{1B8BD20B-5B29-6E44-8218-B4BE52D37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41" y="1751617"/>
            <a:ext cx="2565920" cy="29295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xmlns="" id="{6046A56C-5C7B-DC43-89D9-ACF18C9AC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011" y="2670575"/>
            <a:ext cx="5496942" cy="335862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3E08FC0A-2D77-134C-B178-6057981877C6}"/>
              </a:ext>
            </a:extLst>
          </p:cNvPr>
          <p:cNvSpPr txBox="1"/>
          <p:nvPr/>
        </p:nvSpPr>
        <p:spPr>
          <a:xfrm>
            <a:off x="4429525" y="3323341"/>
            <a:ext cx="449416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what is the parts function for this model &amp; loss?</a:t>
            </a:r>
            <a:endParaRPr lang="en-US" sz="24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0BEF994-CAAD-5C4A-B23A-55F7EEF7B3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525" y="4334936"/>
            <a:ext cx="4653202" cy="27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65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9" idx="2"/>
            <a:endCxn id="46" idx="6"/>
          </p:cNvCxnSpPr>
          <p:nvPr/>
        </p:nvCxnSpPr>
        <p:spPr bwMode="auto">
          <a:xfrm flipV="1">
            <a:off x="2156239" y="2889973"/>
            <a:ext cx="22903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9" idx="1"/>
            <a:endCxn id="64" idx="6"/>
          </p:cNvCxnSpPr>
          <p:nvPr/>
        </p:nvCxnSpPr>
        <p:spPr bwMode="auto">
          <a:xfrm flipV="1">
            <a:off x="2237061" y="2889973"/>
            <a:ext cx="881038" cy="11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2"/>
            <a:endCxn id="46" idx="6"/>
          </p:cNvCxnSpPr>
          <p:nvPr/>
        </p:nvCxnSpPr>
        <p:spPr bwMode="auto">
          <a:xfrm flipH="1" flipV="1">
            <a:off x="2385269" y="2889973"/>
            <a:ext cx="91397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2"/>
            <a:endCxn id="64" idx="6"/>
          </p:cNvCxnSpPr>
          <p:nvPr/>
        </p:nvCxnSpPr>
        <p:spPr bwMode="auto">
          <a:xfrm flipH="1" flipV="1">
            <a:off x="3118099" y="2889973"/>
            <a:ext cx="181140" cy="110734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 bwMode="auto">
          <a:xfrm flipH="1">
            <a:off x="1609233" y="4225916"/>
            <a:ext cx="1690006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6"/>
            <a:endCxn id="9" idx="2"/>
          </p:cNvCxnSpPr>
          <p:nvPr/>
        </p:nvCxnSpPr>
        <p:spPr bwMode="auto">
          <a:xfrm>
            <a:off x="3299239" y="4225916"/>
            <a:ext cx="0" cy="12907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 flipH="1" flipV="1">
            <a:off x="2141519" y="4235705"/>
            <a:ext cx="14720" cy="12809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34" idx="3"/>
            <a:endCxn id="29" idx="7"/>
          </p:cNvCxnSpPr>
          <p:nvPr/>
        </p:nvCxnSpPr>
        <p:spPr bwMode="auto">
          <a:xfrm flipH="1" flipV="1">
            <a:off x="2237061" y="4192438"/>
            <a:ext cx="1544764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26" idx="7"/>
            <a:endCxn id="31" idx="3"/>
          </p:cNvCxnSpPr>
          <p:nvPr/>
        </p:nvCxnSpPr>
        <p:spPr bwMode="auto">
          <a:xfrm>
            <a:off x="3380061" y="4192438"/>
            <a:ext cx="1544764" cy="1349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BA844FED-DA7C-664C-BB36-FEEB35AFBD66}"/>
              </a:ext>
            </a:extLst>
          </p:cNvPr>
          <p:cNvCxnSpPr>
            <a:cxnSpLocks/>
            <a:stCxn id="54" idx="2"/>
            <a:endCxn id="29" idx="5"/>
          </p:cNvCxnSpPr>
          <p:nvPr/>
        </p:nvCxnSpPr>
        <p:spPr bwMode="auto">
          <a:xfrm flipV="1">
            <a:off x="466233" y="4192438"/>
            <a:ext cx="1609184" cy="13242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Feed-Forward POS Tagger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 rot="5400000">
            <a:off x="2537239" y="479277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 rot="5400000">
            <a:off x="3184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" name="Oval 9"/>
          <p:cNvSpPr/>
          <p:nvPr/>
        </p:nvSpPr>
        <p:spPr>
          <a:xfrm rot="5400000">
            <a:off x="2803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Oval 10"/>
          <p:cNvSpPr/>
          <p:nvPr/>
        </p:nvSpPr>
        <p:spPr>
          <a:xfrm rot="5400000">
            <a:off x="2422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Oval 11"/>
          <p:cNvSpPr/>
          <p:nvPr/>
        </p:nvSpPr>
        <p:spPr>
          <a:xfrm rot="5400000">
            <a:off x="2041939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xmlns="" id="{AF74E93E-68A7-D54C-9C6A-AF358F78E008}"/>
              </a:ext>
            </a:extLst>
          </p:cNvPr>
          <p:cNvSpPr/>
          <p:nvPr/>
        </p:nvSpPr>
        <p:spPr>
          <a:xfrm rot="5400000">
            <a:off x="833116" y="5128761"/>
            <a:ext cx="406400" cy="1676400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xmlns="" id="{190B8EB6-3816-B94A-B441-40ED5A4D5C40}"/>
              </a:ext>
            </a:extLst>
          </p:cNvPr>
          <p:cNvSpPr/>
          <p:nvPr/>
        </p:nvSpPr>
        <p:spPr>
          <a:xfrm rot="5400000">
            <a:off x="847233" y="4792772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xmlns="" id="{A0801311-3F09-AC4A-8400-AFF7389EFA23}"/>
              </a:ext>
            </a:extLst>
          </p:cNvPr>
          <p:cNvSpPr/>
          <p:nvPr/>
        </p:nvSpPr>
        <p:spPr>
          <a:xfrm rot="5400000">
            <a:off x="1494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C6BC56C5-E473-9D4B-A7DB-B52BE91D1132}"/>
              </a:ext>
            </a:extLst>
          </p:cNvPr>
          <p:cNvSpPr/>
          <p:nvPr/>
        </p:nvSpPr>
        <p:spPr>
          <a:xfrm rot="5400000">
            <a:off x="1113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9AAD2E7C-2046-B946-94C0-EC1019B6C684}"/>
              </a:ext>
            </a:extLst>
          </p:cNvPr>
          <p:cNvSpPr/>
          <p:nvPr/>
        </p:nvSpPr>
        <p:spPr>
          <a:xfrm rot="5400000">
            <a:off x="732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134C4E78-BF1B-A24B-AFBD-372755F0BD86}"/>
              </a:ext>
            </a:extLst>
          </p:cNvPr>
          <p:cNvSpPr/>
          <p:nvPr/>
        </p:nvSpPr>
        <p:spPr>
          <a:xfrm rot="5400000">
            <a:off x="351933" y="551667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xmlns="" id="{F588974D-8955-6648-8AD7-B52A675963C8}"/>
              </a:ext>
            </a:extLst>
          </p:cNvPr>
          <p:cNvSpPr/>
          <p:nvPr/>
        </p:nvSpPr>
        <p:spPr>
          <a:xfrm rot="5400000">
            <a:off x="2524539" y="5129847"/>
            <a:ext cx="406400" cy="1676399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 rot="5400000">
            <a:off x="2537239" y="3273416"/>
            <a:ext cx="381000" cy="16764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 rot="5400000">
            <a:off x="3184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7" name="Oval 26"/>
          <p:cNvSpPr/>
          <p:nvPr/>
        </p:nvSpPr>
        <p:spPr>
          <a:xfrm rot="5400000">
            <a:off x="2803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Oval 27"/>
          <p:cNvSpPr/>
          <p:nvPr/>
        </p:nvSpPr>
        <p:spPr>
          <a:xfrm rot="5400000">
            <a:off x="2422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 rot="5400000">
            <a:off x="2041939" y="399731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Rounded Rectangle 29"/>
          <p:cNvSpPr/>
          <p:nvPr/>
        </p:nvSpPr>
        <p:spPr>
          <a:xfrm rot="5400000">
            <a:off x="4243647" y="4784431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 rot="5400000">
            <a:off x="4891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/>
          <p:cNvSpPr/>
          <p:nvPr/>
        </p:nvSpPr>
        <p:spPr>
          <a:xfrm rot="5400000">
            <a:off x="4510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 rot="5400000">
            <a:off x="4129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 rot="5400000">
            <a:off x="3748347" y="550833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xmlns="" id="{F588974D-8955-6648-8AD7-B52A675963C8}"/>
              </a:ext>
            </a:extLst>
          </p:cNvPr>
          <p:cNvSpPr/>
          <p:nvPr/>
        </p:nvSpPr>
        <p:spPr>
          <a:xfrm rot="5400000">
            <a:off x="4230947" y="5147647"/>
            <a:ext cx="406400" cy="1676400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 rot="5400000">
            <a:off x="2558815" y="2144927"/>
            <a:ext cx="381000" cy="12614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 rot="5400000">
            <a:off x="265196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/>
          <p:cNvSpPr/>
          <p:nvPr/>
        </p:nvSpPr>
        <p:spPr>
          <a:xfrm rot="5400000">
            <a:off x="227096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/>
          <p:cNvSpPr/>
          <p:nvPr/>
        </p:nvSpPr>
        <p:spPr>
          <a:xfrm rot="5400000">
            <a:off x="3003799" y="266137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5A4C33E3-87F3-0E45-85FE-D6E1F2CB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98" y="6238933"/>
            <a:ext cx="1350023" cy="3235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613F130-4DCF-CD4F-941B-CFEC0345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553" y="6236483"/>
            <a:ext cx="1350023" cy="32355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2B074171-0603-3547-94A8-B8A98CF3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251" y="6250362"/>
            <a:ext cx="1037620" cy="323559"/>
          </a:xfrm>
          <a:prstGeom prst="rect">
            <a:avLst/>
          </a:prstGeom>
        </p:spPr>
      </p:pic>
      <p:sp>
        <p:nvSpPr>
          <p:cNvPr id="67" name="Right Brace 66">
            <a:extLst>
              <a:ext uri="{FF2B5EF4-FFF2-40B4-BE49-F238E27FC236}">
                <a16:creationId xmlns:a16="http://schemas.microsoft.com/office/drawing/2014/main" xmlns="" id="{E1E4873A-FB33-024D-B282-9B91B94388B9}"/>
              </a:ext>
            </a:extLst>
          </p:cNvPr>
          <p:cNvSpPr/>
          <p:nvPr/>
        </p:nvSpPr>
        <p:spPr>
          <a:xfrm rot="16200000">
            <a:off x="2541278" y="1691551"/>
            <a:ext cx="406400" cy="133812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xmlns="" id="{1B8BD20B-5B29-6E44-8218-B4BE52D37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41" y="1751617"/>
            <a:ext cx="2565920" cy="29295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xmlns="" id="{6046A56C-5C7B-DC43-89D9-ACF18C9AC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011" y="2670575"/>
            <a:ext cx="5496942" cy="335862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3E08FC0A-2D77-134C-B178-6057981877C6}"/>
              </a:ext>
            </a:extLst>
          </p:cNvPr>
          <p:cNvSpPr txBox="1"/>
          <p:nvPr/>
        </p:nvSpPr>
        <p:spPr>
          <a:xfrm>
            <a:off x="4429525" y="3323341"/>
            <a:ext cx="449416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what is the parts function for this model &amp; loss?</a:t>
            </a:r>
            <a:endParaRPr lang="en-US" sz="24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0BEF994-CAAD-5C4A-B23A-55F7EEF7B3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525" y="4334936"/>
            <a:ext cx="4653202" cy="27261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963557A6-C907-9448-8C97-580E048B790B}"/>
              </a:ext>
            </a:extLst>
          </p:cNvPr>
          <p:cNvSpPr txBox="1"/>
          <p:nvPr/>
        </p:nvSpPr>
        <p:spPr>
          <a:xfrm>
            <a:off x="4628117" y="4787012"/>
            <a:ext cx="431635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is this a structured predictor? no.</a:t>
            </a:r>
          </a:p>
          <a:p>
            <a:r>
              <a:rPr lang="en-US" sz="2400" dirty="0">
                <a:latin typeface="Calibri"/>
                <a:cs typeface="Calibri"/>
              </a:rPr>
              <a:t>parts functions decomposes like the minimal parts (in terms of </a:t>
            </a:r>
            <a:r>
              <a:rPr lang="en-US" sz="2400" b="1" i="1" dirty="0">
                <a:latin typeface="Calibri"/>
                <a:cs typeface="Calibri"/>
              </a:rPr>
              <a:t>y</a:t>
            </a:r>
            <a:r>
              <a:rPr lang="en-US" sz="2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7845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Forward RNN for Part-of-Speech Tagging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C04A888-BF2A-C346-89E5-3878CB3C6F72}"/>
              </a:ext>
            </a:extLst>
          </p:cNvPr>
          <p:cNvSpPr txBox="1"/>
          <p:nvPr/>
        </p:nvSpPr>
        <p:spPr>
          <a:xfrm>
            <a:off x="51207" y="5397325"/>
            <a:ext cx="4070412" cy="1213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hidden vector used to compute probability distribution over tags at each position:</a:t>
            </a:r>
            <a:endParaRPr lang="en-US" sz="24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7C1D0AE-02E5-5D46-9087-D848D86C52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6337" y="5797604"/>
            <a:ext cx="2349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56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Forward RNN for Part-of-Speech Tagging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C04A888-BF2A-C346-89E5-3878CB3C6F72}"/>
              </a:ext>
            </a:extLst>
          </p:cNvPr>
          <p:cNvSpPr txBox="1"/>
          <p:nvPr/>
        </p:nvSpPr>
        <p:spPr>
          <a:xfrm>
            <a:off x="1396735" y="5631959"/>
            <a:ext cx="908163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loss:</a:t>
            </a:r>
            <a:endParaRPr lang="en-US" sz="28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F4E4AAE-9FB9-104F-9058-8E80C1A40B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5106" y="5605686"/>
            <a:ext cx="4419440" cy="84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8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Forward RNN for Part-of-Speech Tagging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CF2ED46B-F8D6-9B48-9E2D-1BAFA22DD59B}"/>
              </a:ext>
            </a:extLst>
          </p:cNvPr>
          <p:cNvSpPr txBox="1"/>
          <p:nvPr/>
        </p:nvSpPr>
        <p:spPr>
          <a:xfrm>
            <a:off x="472190" y="4846712"/>
            <a:ext cx="723275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what is the parts function for this model &amp; loss?</a:t>
            </a:r>
            <a:endParaRPr lang="en-US" sz="28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xmlns="" id="{B88A47E6-EA40-8E4B-8AC6-8C6801AF25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1650" y="5501307"/>
            <a:ext cx="5600700" cy="3683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673A9AC4-4A79-1E47-A713-92F74FEC4648}"/>
              </a:ext>
            </a:extLst>
          </p:cNvPr>
          <p:cNvSpPr txBox="1"/>
          <p:nvPr/>
        </p:nvSpPr>
        <p:spPr>
          <a:xfrm>
            <a:off x="472190" y="6020796"/>
            <a:ext cx="507417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is this a structured predictor?  no</a:t>
            </a:r>
            <a:endParaRPr lang="en-US" sz="28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3944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Autofit/>
          </a:bodyPr>
          <a:lstStyle/>
          <a:p>
            <a:r>
              <a:rPr lang="en-US" sz="2400" dirty="0"/>
              <a:t>Forward RNN for Part-of-Speech Tagging with Previous Label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xmlns="" id="{7909C99F-5200-3E4B-BBF4-C23030D1903A}"/>
              </a:ext>
            </a:extLst>
          </p:cNvPr>
          <p:cNvSpPr/>
          <p:nvPr/>
        </p:nvSpPr>
        <p:spPr>
          <a:xfrm rot="298972">
            <a:off x="3083066" y="2177785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xmlns="" id="{01BCA836-577D-1F45-A4F4-4D868DFD37DE}"/>
              </a:ext>
            </a:extLst>
          </p:cNvPr>
          <p:cNvSpPr/>
          <p:nvPr/>
        </p:nvSpPr>
        <p:spPr>
          <a:xfrm rot="298972">
            <a:off x="4921779" y="2171286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xmlns="" id="{08FA4F54-06C9-E24D-826B-F7B7A5491621}"/>
              </a:ext>
            </a:extLst>
          </p:cNvPr>
          <p:cNvSpPr/>
          <p:nvPr/>
        </p:nvSpPr>
        <p:spPr>
          <a:xfrm rot="298972">
            <a:off x="1196100" y="2206481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4AE3D755-C579-CE40-9E53-9E671B3FC8F6}"/>
              </a:ext>
            </a:extLst>
          </p:cNvPr>
          <p:cNvSpPr txBox="1"/>
          <p:nvPr/>
        </p:nvSpPr>
        <p:spPr>
          <a:xfrm>
            <a:off x="586672" y="5568822"/>
            <a:ext cx="5300669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this model uses the previous </a:t>
            </a:r>
            <a:r>
              <a:rPr lang="en-US" sz="3200" i="1" dirty="0">
                <a:latin typeface="Calibri"/>
                <a:cs typeface="Calibri"/>
              </a:rPr>
              <a:t>y</a:t>
            </a:r>
            <a:r>
              <a:rPr lang="en-US" sz="3200" dirty="0">
                <a:latin typeface="Calibri"/>
                <a:cs typeface="Calibri"/>
              </a:rPr>
              <a:t> to compute a hidden vector</a:t>
            </a:r>
            <a:endParaRPr lang="en-US" sz="32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1693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Autofit/>
          </a:bodyPr>
          <a:lstStyle/>
          <a:p>
            <a:r>
              <a:rPr lang="en-US" sz="2400" dirty="0"/>
              <a:t>Forward RNN for Part-of-Speech Tagging with Previous Label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xmlns="" id="{7909C99F-5200-3E4B-BBF4-C23030D1903A}"/>
              </a:ext>
            </a:extLst>
          </p:cNvPr>
          <p:cNvSpPr/>
          <p:nvPr/>
        </p:nvSpPr>
        <p:spPr>
          <a:xfrm rot="298972">
            <a:off x="3083066" y="2177785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xmlns="" id="{01BCA836-577D-1F45-A4F4-4D868DFD37DE}"/>
              </a:ext>
            </a:extLst>
          </p:cNvPr>
          <p:cNvSpPr/>
          <p:nvPr/>
        </p:nvSpPr>
        <p:spPr>
          <a:xfrm rot="298972">
            <a:off x="4921779" y="2171286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xmlns="" id="{08FA4F54-06C9-E24D-826B-F7B7A5491621}"/>
              </a:ext>
            </a:extLst>
          </p:cNvPr>
          <p:cNvSpPr/>
          <p:nvPr/>
        </p:nvSpPr>
        <p:spPr>
          <a:xfrm rot="298972">
            <a:off x="1196100" y="2206481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4AE3D755-C579-CE40-9E53-9E671B3FC8F6}"/>
              </a:ext>
            </a:extLst>
          </p:cNvPr>
          <p:cNvSpPr txBox="1"/>
          <p:nvPr/>
        </p:nvSpPr>
        <p:spPr>
          <a:xfrm>
            <a:off x="51207" y="5397325"/>
            <a:ext cx="4788904" cy="1384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hidden vector used to compute probability distribution over tags at each position:</a:t>
            </a:r>
            <a:endParaRPr lang="en-US" sz="28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4D970F-EF9B-A449-92C0-98272D8692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4267" y="5559067"/>
            <a:ext cx="3661481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01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Autofit/>
          </a:bodyPr>
          <a:lstStyle/>
          <a:p>
            <a:r>
              <a:rPr lang="en-US" sz="2400" dirty="0"/>
              <a:t>Forward RNN for Part-of-Speech Tagging with Previous Label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xmlns="" id="{7909C99F-5200-3E4B-BBF4-C23030D1903A}"/>
              </a:ext>
            </a:extLst>
          </p:cNvPr>
          <p:cNvSpPr/>
          <p:nvPr/>
        </p:nvSpPr>
        <p:spPr>
          <a:xfrm rot="298972">
            <a:off x="3083066" y="2177785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xmlns="" id="{01BCA836-577D-1F45-A4F4-4D868DFD37DE}"/>
              </a:ext>
            </a:extLst>
          </p:cNvPr>
          <p:cNvSpPr/>
          <p:nvPr/>
        </p:nvSpPr>
        <p:spPr>
          <a:xfrm rot="298972">
            <a:off x="4921779" y="2171286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xmlns="" id="{08FA4F54-06C9-E24D-826B-F7B7A5491621}"/>
              </a:ext>
            </a:extLst>
          </p:cNvPr>
          <p:cNvSpPr/>
          <p:nvPr/>
        </p:nvSpPr>
        <p:spPr>
          <a:xfrm rot="298972">
            <a:off x="1196100" y="2206481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4AE3D755-C579-CE40-9E53-9E671B3FC8F6}"/>
              </a:ext>
            </a:extLst>
          </p:cNvPr>
          <p:cNvSpPr txBox="1"/>
          <p:nvPr/>
        </p:nvSpPr>
        <p:spPr>
          <a:xfrm>
            <a:off x="727020" y="5520287"/>
            <a:ext cx="1369051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loss:</a:t>
            </a:r>
            <a:endParaRPr lang="en-US" sz="32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B0A1B92-4833-7446-A064-F2F4C21794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1434" y="5550267"/>
            <a:ext cx="6254152" cy="9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79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Autofit/>
          </a:bodyPr>
          <a:lstStyle/>
          <a:p>
            <a:r>
              <a:rPr lang="en-US" sz="2400" dirty="0"/>
              <a:t>Forward RNN for Part-of-Speech Tagging with Previous Label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xmlns="" id="{7909C99F-5200-3E4B-BBF4-C23030D1903A}"/>
              </a:ext>
            </a:extLst>
          </p:cNvPr>
          <p:cNvSpPr/>
          <p:nvPr/>
        </p:nvSpPr>
        <p:spPr>
          <a:xfrm rot="298972">
            <a:off x="3083066" y="2177785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xmlns="" id="{01BCA836-577D-1F45-A4F4-4D868DFD37DE}"/>
              </a:ext>
            </a:extLst>
          </p:cNvPr>
          <p:cNvSpPr/>
          <p:nvPr/>
        </p:nvSpPr>
        <p:spPr>
          <a:xfrm rot="298972">
            <a:off x="4921779" y="2171286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xmlns="" id="{08FA4F54-06C9-E24D-826B-F7B7A5491621}"/>
              </a:ext>
            </a:extLst>
          </p:cNvPr>
          <p:cNvSpPr/>
          <p:nvPr/>
        </p:nvSpPr>
        <p:spPr>
          <a:xfrm rot="298972">
            <a:off x="1196100" y="2206481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35B7482-A9C0-E646-8C2E-692F2F51A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4850" y="5776622"/>
            <a:ext cx="6470978" cy="40706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8100773A-27FF-2546-BB45-2C58860CE2BB}"/>
              </a:ext>
            </a:extLst>
          </p:cNvPr>
          <p:cNvSpPr txBox="1"/>
          <p:nvPr/>
        </p:nvSpPr>
        <p:spPr>
          <a:xfrm>
            <a:off x="379683" y="4919036"/>
            <a:ext cx="822960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what is the parts function for this model &amp; loss?</a:t>
            </a:r>
            <a:endParaRPr lang="en-US" sz="3200" b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0747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Autofit/>
          </a:bodyPr>
          <a:lstStyle/>
          <a:p>
            <a:r>
              <a:rPr lang="en-US" sz="2400" dirty="0"/>
              <a:t>Forward RNN for Part-of-Speech Tagging with Previous Label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165969" y="1271437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cxnSpLocks/>
            <a:stCxn id="38" idx="4"/>
            <a:endCxn id="32" idx="0"/>
          </p:cNvCxnSpPr>
          <p:nvPr/>
        </p:nvCxnSpPr>
        <p:spPr bwMode="auto">
          <a:xfrm flipH="1">
            <a:off x="2735013" y="2174295"/>
            <a:ext cx="3381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cxnSpLocks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>
            <a:cxnSpLocks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C381EBB-E254-0943-95AD-1B52FE15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995" y="1609897"/>
            <a:ext cx="1015700" cy="2434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C371E842-189E-BF49-98A9-C3A2AFE66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341" y="1609897"/>
            <a:ext cx="1067667" cy="255887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037D391-C69A-AB4D-BB28-30F8939DC989}"/>
              </a:ext>
            </a:extLst>
          </p:cNvPr>
          <p:cNvSpPr/>
          <p:nvPr/>
        </p:nvSpPr>
        <p:spPr>
          <a:xfrm>
            <a:off x="5833181" y="1262201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BFDF3FC-71F4-2D40-9AAD-038890A40E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4389" y="1607245"/>
            <a:ext cx="804121" cy="250747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7B8C0A8-6470-014B-9CA2-C61428382B45}"/>
              </a:ext>
            </a:extLst>
          </p:cNvPr>
          <p:cNvSpPr/>
          <p:nvPr/>
        </p:nvSpPr>
        <p:spPr>
          <a:xfrm>
            <a:off x="3999575" y="1255204"/>
            <a:ext cx="1144850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xmlns="" id="{7909C99F-5200-3E4B-BBF4-C23030D1903A}"/>
              </a:ext>
            </a:extLst>
          </p:cNvPr>
          <p:cNvSpPr/>
          <p:nvPr/>
        </p:nvSpPr>
        <p:spPr>
          <a:xfrm rot="298972">
            <a:off x="3083066" y="2177785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xmlns="" id="{01BCA836-577D-1F45-A4F4-4D868DFD37DE}"/>
              </a:ext>
            </a:extLst>
          </p:cNvPr>
          <p:cNvSpPr/>
          <p:nvPr/>
        </p:nvSpPr>
        <p:spPr>
          <a:xfrm rot="298972">
            <a:off x="4921779" y="2171286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xmlns="" id="{08FA4F54-06C9-E24D-826B-F7B7A5491621}"/>
              </a:ext>
            </a:extLst>
          </p:cNvPr>
          <p:cNvSpPr/>
          <p:nvPr/>
        </p:nvSpPr>
        <p:spPr>
          <a:xfrm rot="298972">
            <a:off x="1196100" y="2206481"/>
            <a:ext cx="1205713" cy="1932969"/>
          </a:xfrm>
          <a:custGeom>
            <a:avLst/>
            <a:gdLst>
              <a:gd name="connsiteX0" fmla="*/ 0 w 1205713"/>
              <a:gd name="connsiteY0" fmla="*/ 1932969 h 1932969"/>
              <a:gd name="connsiteX1" fmla="*/ 590718 w 1205713"/>
              <a:gd name="connsiteY1" fmla="*/ 63709 h 1932969"/>
              <a:gd name="connsiteX2" fmla="*/ 1205713 w 1205713"/>
              <a:gd name="connsiteY2" fmla="*/ 452127 h 193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713" h="1932969">
                <a:moveTo>
                  <a:pt x="0" y="1932969"/>
                </a:moveTo>
                <a:cubicBezTo>
                  <a:pt x="194883" y="1121742"/>
                  <a:pt x="389766" y="310516"/>
                  <a:pt x="590718" y="63709"/>
                </a:cubicBezTo>
                <a:cubicBezTo>
                  <a:pt x="791670" y="-183098"/>
                  <a:pt x="1100517" y="360417"/>
                  <a:pt x="1205713" y="4521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FFEAA90-977C-E349-8EBD-94693C693D8C}"/>
              </a:ext>
            </a:extLst>
          </p:cNvPr>
          <p:cNvSpPr txBox="1"/>
          <p:nvPr/>
        </p:nvSpPr>
        <p:spPr>
          <a:xfrm>
            <a:off x="253198" y="1816620"/>
            <a:ext cx="629750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is this a structured predictor? yes.</a:t>
            </a:r>
          </a:p>
          <a:p>
            <a:r>
              <a:rPr lang="en-US" sz="3200" dirty="0">
                <a:latin typeface="Calibri"/>
                <a:cs typeface="Calibri"/>
              </a:rPr>
              <a:t>parts functions does not decompose like minimal parts (in terms of </a:t>
            </a:r>
            <a:r>
              <a:rPr lang="en-US" sz="3200" b="1" i="1" dirty="0">
                <a:latin typeface="Calibri"/>
                <a:cs typeface="Calibri"/>
              </a:rPr>
              <a:t>y</a:t>
            </a:r>
            <a:r>
              <a:rPr lang="en-US" sz="3200" dirty="0">
                <a:latin typeface="Calibri"/>
                <a:cs typeface="Calibri"/>
              </a:rPr>
              <a:t>)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EFE8AF70-4F69-1940-8BB0-91A7AD34C4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4850" y="5776622"/>
            <a:ext cx="6470978" cy="40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44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09820"/>
              </p:ext>
            </p:extLst>
          </p:nvPr>
        </p:nvGraphicFramePr>
        <p:xfrm>
          <a:off x="-2" y="742013"/>
          <a:ext cx="9144002" cy="2714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53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2" y="742013"/>
          <a:ext cx="9144002" cy="3691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52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2898" y="1778832"/>
            <a:ext cx="85656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latin typeface="Calibri"/>
                <a:cs typeface="Calibri"/>
              </a:rPr>
              <a:t>Some questioned if Tim Cook’s first product would be a breakaway hit for Apple.</a:t>
            </a:r>
          </a:p>
        </p:txBody>
      </p:sp>
      <p:sp>
        <p:nvSpPr>
          <p:cNvPr id="8" name="Left Brace 7"/>
          <p:cNvSpPr/>
          <p:nvPr/>
        </p:nvSpPr>
        <p:spPr bwMode="auto">
          <a:xfrm rot="16200000">
            <a:off x="2730498" y="1725730"/>
            <a:ext cx="236682" cy="1021772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Left Brace 8"/>
          <p:cNvSpPr/>
          <p:nvPr/>
        </p:nvSpPr>
        <p:spPr bwMode="auto">
          <a:xfrm rot="16200000">
            <a:off x="8128009" y="1933541"/>
            <a:ext cx="219361" cy="611909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347647" y="2270670"/>
            <a:ext cx="1054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>
                <a:solidFill>
                  <a:srgbClr val="C50C0C"/>
                </a:solidFill>
                <a:latin typeface="Calibri"/>
                <a:cs typeface="Calibri"/>
              </a:rPr>
              <a:t>PERSON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250797" y="2272983"/>
            <a:ext cx="18744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>
                <a:solidFill>
                  <a:srgbClr val="C50C0C"/>
                </a:solidFill>
                <a:latin typeface="Calibri"/>
                <a:cs typeface="Calibri"/>
              </a:rPr>
              <a:t>ORGANIZATION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B67E28DE-8FE4-944D-82F6-8FC861AB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199640"/>
          </a:xfrm>
        </p:spPr>
        <p:txBody>
          <a:bodyPr>
            <a:noAutofit/>
          </a:bodyPr>
          <a:lstStyle/>
          <a:p>
            <a:r>
              <a:rPr lang="en-US" sz="4000" dirty="0"/>
              <a:t>Named Entity Recognition</a:t>
            </a:r>
          </a:p>
        </p:txBody>
      </p:sp>
    </p:spTree>
    <p:extLst>
      <p:ext uri="{BB962C8B-B14F-4D97-AF65-F5344CB8AC3E}">
        <p14:creationId xmlns:p14="http://schemas.microsoft.com/office/powerpoint/2010/main" val="29338576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25855"/>
            <a:ext cx="85033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        O                    O              O     B-PERSON   I-PERSON      O          O                 O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questioned   if         Tim          Cook 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O              O         O                 O                 O        O     B-ORGANIZATION      O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hit    for            Apple              .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55374" y="4789138"/>
            <a:ext cx="190884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>
                <a:solidFill>
                  <a:srgbClr val="C50C0C"/>
                </a:solidFill>
                <a:latin typeface="Calibri"/>
                <a:cs typeface="Calibri"/>
              </a:rPr>
              <a:t>B = “begin”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 I = “inside”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O = “outside”</a:t>
            </a:r>
          </a:p>
          <a:p>
            <a:pPr eaLnBrk="1" hangingPunct="1"/>
            <a:endParaRPr lang="en-US" sz="2400" b="1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3533" y="18998"/>
            <a:ext cx="8703961" cy="1210362"/>
          </a:xfrm>
        </p:spPr>
        <p:txBody>
          <a:bodyPr>
            <a:noAutofit/>
          </a:bodyPr>
          <a:lstStyle/>
          <a:p>
            <a:r>
              <a:rPr lang="en-US" sz="3600" dirty="0"/>
              <a:t>Labeled Segmentation as Sequence Labeling</a:t>
            </a:r>
          </a:p>
        </p:txBody>
      </p:sp>
    </p:spTree>
    <p:extLst>
      <p:ext uri="{BB962C8B-B14F-4D97-AF65-F5344CB8AC3E}">
        <p14:creationId xmlns:p14="http://schemas.microsoft.com/office/powerpoint/2010/main" val="2973637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2" y="742013"/>
          <a:ext cx="9144002" cy="3691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684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9531"/>
              </p:ext>
            </p:extLst>
          </p:nvPr>
        </p:nvGraphicFramePr>
        <p:xfrm>
          <a:off x="-2" y="742013"/>
          <a:ext cx="9144002" cy="4777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199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141118">
                  <a:extLst>
                    <a:ext uri="{9D8B030D-6E8A-4147-A177-3AD203B41FA5}">
                      <a16:colId xmlns:a16="http://schemas.microsoft.com/office/drawing/2014/main" xmlns="" val="1365048788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864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unlabeled dependency parsing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201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BC492E-E648-184B-8C7B-EF739AAC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Dependency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97C2E-00A7-D74F-A0D1-E85FD7DA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073739"/>
            <a:ext cx="8864600" cy="277859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288CD2"/>
                </a:solidFill>
              </a:rPr>
              <a:t>dependency</a:t>
            </a:r>
            <a:r>
              <a:rPr lang="en-US" dirty="0"/>
              <a:t> is a relation between a word (a </a:t>
            </a:r>
            <a:r>
              <a:rPr lang="en-US" b="1" dirty="0">
                <a:solidFill>
                  <a:srgbClr val="288CD2"/>
                </a:solidFill>
              </a:rPr>
              <a:t>head </a:t>
            </a:r>
            <a:r>
              <a:rPr lang="en-US" dirty="0"/>
              <a:t>or</a:t>
            </a:r>
            <a:r>
              <a:rPr lang="en-US" b="1" dirty="0">
                <a:solidFill>
                  <a:srgbClr val="288CD2"/>
                </a:solidFill>
              </a:rPr>
              <a:t> parent</a:t>
            </a:r>
            <a:r>
              <a:rPr lang="en-US" dirty="0"/>
              <a:t>) and its dependent (its </a:t>
            </a:r>
            <a:r>
              <a:rPr lang="en-US" b="1" dirty="0">
                <a:solidFill>
                  <a:srgbClr val="288CD2"/>
                </a:solidFill>
              </a:rPr>
              <a:t>modifier </a:t>
            </a:r>
            <a:r>
              <a:rPr lang="en-US" dirty="0"/>
              <a:t>or</a:t>
            </a:r>
            <a:r>
              <a:rPr lang="en-US" b="1" dirty="0">
                <a:solidFill>
                  <a:srgbClr val="288CD2"/>
                </a:solidFill>
              </a:rPr>
              <a:t> child</a:t>
            </a:r>
            <a:r>
              <a:rPr lang="en-US" dirty="0"/>
              <a:t>)</a:t>
            </a:r>
          </a:p>
          <a:p>
            <a:r>
              <a:rPr lang="en-US" dirty="0"/>
              <a:t>a dependency tree for a sentence contains a dependency for each word in the sentence</a:t>
            </a:r>
          </a:p>
          <a:p>
            <a:r>
              <a:rPr lang="en-US" dirty="0"/>
              <a:t>drawn as a directed tree with parents pointing to children</a:t>
            </a:r>
          </a:p>
          <a:p>
            <a:r>
              <a:rPr lang="en-US" dirty="0"/>
              <a:t>one word is the root of the tree</a:t>
            </a:r>
          </a:p>
          <a:p>
            <a:endParaRPr lang="en-US" dirty="0"/>
          </a:p>
        </p:txBody>
      </p:sp>
      <p:pic>
        <p:nvPicPr>
          <p:cNvPr id="5" name="Picture 4" descr="A picture containing object&#10;&#10;Description automatically generated">
            <a:extLst>
              <a:ext uri="{FF2B5EF4-FFF2-40B4-BE49-F238E27FC236}">
                <a16:creationId xmlns:a16="http://schemas.microsoft.com/office/drawing/2014/main" xmlns="" id="{5DF85DF2-7F4D-B248-AD87-57A17FFCB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852333"/>
            <a:ext cx="83312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04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BC492E-E648-184B-8C7B-EF739AAC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Labeled Dependency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97C2E-00A7-D74F-A0D1-E85FD7DA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174785"/>
          </a:xfrm>
        </p:spPr>
        <p:txBody>
          <a:bodyPr>
            <a:normAutofit fontScale="92500"/>
          </a:bodyPr>
          <a:lstStyle/>
          <a:p>
            <a:r>
              <a:rPr lang="en-US" dirty="0"/>
              <a:t>more common to use labeled dependency trees where each dependency has an associated label: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04C934CD-50F8-4A48-B2A9-75AB5E7292A8}"/>
              </a:ext>
            </a:extLst>
          </p:cNvPr>
          <p:cNvSpPr txBox="1">
            <a:spLocks/>
          </p:cNvSpPr>
          <p:nvPr/>
        </p:nvSpPr>
        <p:spPr>
          <a:xfrm>
            <a:off x="2345267" y="4817533"/>
            <a:ext cx="5943600" cy="1943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DET = determiner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NSUBJPASS = nominal subject in passive construction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AUXPASS = auxiliary verb in passive construction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TMOD = temporal modifier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PUNCT = punctuation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C1DB795-FAA1-2146-A349-867201DC1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247900"/>
            <a:ext cx="83058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885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97C2E-00A7-D74F-A0D1-E85FD7DA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853"/>
            <a:ext cx="7517567" cy="43771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longer sentence: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rearranging the words a bit, we now have a </a:t>
            </a:r>
            <a:r>
              <a:rPr lang="en-US" b="1" dirty="0">
                <a:solidFill>
                  <a:srgbClr val="288CD2"/>
                </a:solidFill>
              </a:rPr>
              <a:t>non-projective</a:t>
            </a:r>
            <a:r>
              <a:rPr lang="en-US" dirty="0"/>
              <a:t> dependency tree (i.e., tree with crossing dependencies):</a:t>
            </a:r>
          </a:p>
        </p:txBody>
      </p:sp>
      <p:pic>
        <p:nvPicPr>
          <p:cNvPr id="5" name="Picture 4" descr="A close up of a mans face&#10;&#10;Description automatically generated">
            <a:extLst>
              <a:ext uri="{FF2B5EF4-FFF2-40B4-BE49-F238E27FC236}">
                <a16:creationId xmlns:a16="http://schemas.microsoft.com/office/drawing/2014/main" xmlns="" id="{15EBC962-1474-4D45-98FD-6D9D8749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40" y="926616"/>
            <a:ext cx="7749915" cy="2032934"/>
          </a:xfrm>
          <a:prstGeom prst="rect">
            <a:avLst/>
          </a:prstGeom>
        </p:spPr>
      </p:pic>
      <p:pic>
        <p:nvPicPr>
          <p:cNvPr id="10" name="Picture 9" descr="A picture containing object&#10;&#10;Description automatically generated">
            <a:extLst>
              <a:ext uri="{FF2B5EF4-FFF2-40B4-BE49-F238E27FC236}">
                <a16:creationId xmlns:a16="http://schemas.microsoft.com/office/drawing/2014/main" xmlns="" id="{AF7D6F1B-3A3C-2244-99B5-52C1F924A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40" y="4646950"/>
            <a:ext cx="7749915" cy="189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852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BF8C0-D240-D040-B649-E123D95E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Dependency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88B00F-A2EF-7741-9F84-EF2E2F01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 parsing is the task of predicting a dependency tree for a sentence</a:t>
            </a:r>
          </a:p>
          <a:p>
            <a:endParaRPr lang="en-US" dirty="0"/>
          </a:p>
          <a:p>
            <a:r>
              <a:rPr lang="en-US" dirty="0"/>
              <a:t>one of the most widely-studied structured prediction problems in NLP </a:t>
            </a:r>
          </a:p>
          <a:p>
            <a:endParaRPr lang="en-US" dirty="0"/>
          </a:p>
          <a:p>
            <a:r>
              <a:rPr lang="en-US" dirty="0"/>
              <a:t>used for several downstream NLP tasks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50D656-BA03-6C4B-956E-39FFB3B8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63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 of Dependency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widely used for NLP tasks because:</a:t>
            </a:r>
          </a:p>
          <a:p>
            <a:pPr lvl="1"/>
            <a:r>
              <a:rPr lang="en-US" dirty="0"/>
              <a:t>faster than constituent parsing</a:t>
            </a:r>
          </a:p>
          <a:p>
            <a:pPr lvl="1"/>
            <a:r>
              <a:rPr lang="en-US" dirty="0"/>
              <a:t>captures more semantic information</a:t>
            </a:r>
          </a:p>
          <a:p>
            <a:r>
              <a:rPr lang="en-US" dirty="0"/>
              <a:t>text classification (features on dependencies)</a:t>
            </a:r>
          </a:p>
          <a:p>
            <a:r>
              <a:rPr lang="en-US" dirty="0"/>
              <a:t>syntax-based machine translation</a:t>
            </a:r>
          </a:p>
          <a:p>
            <a:r>
              <a:rPr lang="en-US" dirty="0"/>
              <a:t>relation extraction</a:t>
            </a:r>
          </a:p>
          <a:p>
            <a:pPr lvl="1"/>
            <a:r>
              <a:rPr lang="en-US" dirty="0"/>
              <a:t>e.g., extract relation between Sam Smith and </a:t>
            </a:r>
            <a:r>
              <a:rPr lang="en-US" dirty="0" err="1"/>
              <a:t>AITech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i="1" dirty="0"/>
              <a:t>Sam Smith was named new CEO of </a:t>
            </a:r>
            <a:r>
              <a:rPr lang="en-US" i="1" dirty="0" err="1"/>
              <a:t>AITech</a:t>
            </a:r>
            <a:r>
              <a:rPr lang="en-US" i="1" dirty="0"/>
              <a:t>.</a:t>
            </a:r>
          </a:p>
          <a:p>
            <a:pPr lvl="1"/>
            <a:r>
              <a:rPr lang="en-US" dirty="0"/>
              <a:t>use dependency path between </a:t>
            </a:r>
            <a:r>
              <a:rPr lang="en-US" i="1" dirty="0"/>
              <a:t>Sam Smith </a:t>
            </a:r>
            <a:r>
              <a:rPr lang="en-US" dirty="0"/>
              <a:t>and </a:t>
            </a:r>
            <a:r>
              <a:rPr lang="en-US" i="1" dirty="0" err="1"/>
              <a:t>AITech</a:t>
            </a:r>
            <a:r>
              <a:rPr lang="en-US" i="1" dirty="0"/>
              <a:t>:</a:t>
            </a:r>
            <a:endParaRPr lang="en-US" dirty="0"/>
          </a:p>
          <a:p>
            <a:pPr lvl="2"/>
            <a:r>
              <a:rPr lang="en-US" dirty="0"/>
              <a:t>Smith </a:t>
            </a:r>
            <a:r>
              <a:rPr lang="en-US" dirty="0">
                <a:sym typeface="Wingdings"/>
              </a:rPr>
              <a:t> named, named  CEO, CEO  of, of  </a:t>
            </a:r>
            <a:r>
              <a:rPr lang="en-US" dirty="0" err="1">
                <a:sym typeface="Wingdings"/>
              </a:rPr>
              <a:t>AITech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93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8F3E5C-6AC6-134D-96DC-5A8EF7C1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504BEE-611B-4D4A-BCBB-5E53B7FE7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483600" cy="5052424"/>
          </a:xfrm>
        </p:spPr>
        <p:txBody>
          <a:bodyPr/>
          <a:lstStyle/>
          <a:p>
            <a:r>
              <a:rPr lang="en-US" dirty="0"/>
              <a:t>minimal parts for (unlabeled) dependency parsing: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 err="1"/>
              <a:t>y</a:t>
            </a:r>
            <a:r>
              <a:rPr lang="en-US" i="1" baseline="-25000" dirty="0" err="1"/>
              <a:t>t</a:t>
            </a:r>
            <a:r>
              <a:rPr lang="en-US" dirty="0"/>
              <a:t> holds the index in the sentence </a:t>
            </a:r>
            <a:r>
              <a:rPr lang="en-US" b="1" i="1" dirty="0"/>
              <a:t>x</a:t>
            </a:r>
            <a:r>
              <a:rPr lang="en-US" dirty="0"/>
              <a:t> of the parent of word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endParaRPr lang="en-US" i="1" baseline="-25000" dirty="0"/>
          </a:p>
          <a:p>
            <a:r>
              <a:rPr lang="en-US" dirty="0"/>
              <a:t>we use 0 for the ROOT attachment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CDC63D9-90B7-E340-9B5F-C8E1FE8F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F814F9-DA30-6C44-AF3D-6E138ACB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850" y="2545792"/>
            <a:ext cx="44323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88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ECDCA-DFA2-3643-8806-110EB1EE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952864"/>
          </a:xfrm>
        </p:spPr>
        <p:txBody>
          <a:bodyPr>
            <a:normAutofit/>
          </a:bodyPr>
          <a:lstStyle/>
          <a:p>
            <a:r>
              <a:rPr lang="en-US" sz="3200" dirty="0"/>
              <a:t>Unstructured Predictors for Dependency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7C7E88-82D7-4748-B02D-290C8EC8B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4144"/>
            <a:ext cx="8229600" cy="538245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might you design an unstructured predictor for dependency parsing?</a:t>
            </a:r>
          </a:p>
          <a:p>
            <a:endParaRPr lang="en-US" dirty="0"/>
          </a:p>
          <a:p>
            <a:r>
              <a:rPr lang="en-US" dirty="0"/>
              <a:t>build a predictor that predicts the index of the head for a word</a:t>
            </a:r>
          </a:p>
          <a:p>
            <a:endParaRPr lang="en-US" dirty="0"/>
          </a:p>
          <a:p>
            <a:r>
              <a:rPr lang="en-US" dirty="0"/>
              <a:t>can use full sentential context, just can’t score multiple dependencies in any single scoring term</a:t>
            </a:r>
          </a:p>
          <a:p>
            <a:endParaRPr lang="en-US" dirty="0"/>
          </a:p>
          <a:p>
            <a:r>
              <a:rPr lang="en-US" dirty="0"/>
              <a:t>fast, simple, works ok, but doesn’t guarantee a tree structure (may have cycles,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44BB39-E4CA-6541-BCD8-5346A50B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7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082187"/>
              </p:ext>
            </p:extLst>
          </p:nvPr>
        </p:nvGraphicFramePr>
        <p:xfrm>
          <a:off x="-2" y="742013"/>
          <a:ext cx="9144002" cy="4879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199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141118">
                  <a:extLst>
                    <a:ext uri="{9D8B030D-6E8A-4147-A177-3AD203B41FA5}">
                      <a16:colId xmlns:a16="http://schemas.microsoft.com/office/drawing/2014/main" xmlns="" val="1365048788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864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unlabeled dependency parsing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tree over the words in the input sentence; each word has exactly one parent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indices of parent words for each word in sentence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9CDE75A-7B67-7940-9DB7-8F8B5588EF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157" b="49396"/>
          <a:stretch/>
        </p:blipFill>
        <p:spPr>
          <a:xfrm>
            <a:off x="6274491" y="4742309"/>
            <a:ext cx="2619416" cy="3555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9CBC793F-CA5E-6743-8BB0-F2216BF63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396"/>
          <a:stretch/>
        </p:blipFill>
        <p:spPr>
          <a:xfrm>
            <a:off x="6248400" y="5152978"/>
            <a:ext cx="2834617" cy="291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771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543153"/>
              </p:ext>
            </p:extLst>
          </p:nvPr>
        </p:nvGraphicFramePr>
        <p:xfrm>
          <a:off x="-2" y="742013"/>
          <a:ext cx="9144002" cy="585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199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141118">
                  <a:extLst>
                    <a:ext uri="{9D8B030D-6E8A-4147-A177-3AD203B41FA5}">
                      <a16:colId xmlns:a16="http://schemas.microsoft.com/office/drawing/2014/main" xmlns="" val="1365048788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864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unlabeled dependency parsing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tree over the words in the input sentence; each word has exactly one parent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indices of parent words for each word in sentence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conditional generation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sentence (or a paragraph, document, etc.)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9CDE75A-7B67-7940-9DB7-8F8B5588EF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157" b="49396"/>
          <a:stretch/>
        </p:blipFill>
        <p:spPr>
          <a:xfrm>
            <a:off x="6274491" y="4742309"/>
            <a:ext cx="2619416" cy="3555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9CBC793F-CA5E-6743-8BB0-F2216BF63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396"/>
          <a:stretch/>
        </p:blipFill>
        <p:spPr>
          <a:xfrm>
            <a:off x="6248400" y="5152978"/>
            <a:ext cx="2834617" cy="291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14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60DEB7-A267-F247-9248-B7544688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Conditional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BDA269-0362-A446-91FA-827CDC32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machine translation and other “conditional generation” tasks, input is a sequence and output is a sequence</a:t>
            </a:r>
          </a:p>
          <a:p>
            <a:r>
              <a:rPr lang="en-US" dirty="0"/>
              <a:t>minimal parts for these tasks: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 err="1"/>
              <a:t>y</a:t>
            </a:r>
            <a:r>
              <a:rPr lang="en-US" i="1" baseline="-25000" dirty="0" err="1"/>
              <a:t>t</a:t>
            </a:r>
            <a:r>
              <a:rPr lang="en-US" dirty="0"/>
              <a:t> is a word from the output vocabulary</a:t>
            </a:r>
            <a:endParaRPr lang="en-US" i="1" baseline="-25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A43D2B-4237-684B-BA25-203B0490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8EA47B2-846F-9C4D-8D68-529A42210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871"/>
          <a:stretch/>
        </p:blipFill>
        <p:spPr>
          <a:xfrm>
            <a:off x="2342324" y="3366318"/>
            <a:ext cx="4481420" cy="569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4DF15E3-5F13-4B4B-A62E-7DE290C70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871" r="16151"/>
          <a:stretch/>
        </p:blipFill>
        <p:spPr>
          <a:xfrm>
            <a:off x="2342323" y="4065173"/>
            <a:ext cx="3757610" cy="56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96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8CD02F-BD29-8E42-840C-7B4B7A19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Unstructured Predictors for Machine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0238F7-1B7F-C446-9858-4DB134C4F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might you design an unstructured predictor for machine translation?</a:t>
            </a:r>
          </a:p>
          <a:p>
            <a:endParaRPr lang="en-US" dirty="0"/>
          </a:p>
          <a:p>
            <a:r>
              <a:rPr lang="en-US" dirty="0"/>
              <a:t>assume a max length of the translation, pad to that length, build predictors that predict the word in position </a:t>
            </a:r>
            <a:r>
              <a:rPr lang="en-US" i="1" dirty="0"/>
              <a:t>t</a:t>
            </a:r>
            <a:r>
              <a:rPr lang="en-US" dirty="0"/>
              <a:t> in the translation</a:t>
            </a:r>
          </a:p>
          <a:p>
            <a:endParaRPr lang="en-US" dirty="0"/>
          </a:p>
          <a:p>
            <a:r>
              <a:rPr lang="en-US" dirty="0"/>
              <a:t>this probably won’t work very well, but if we have this model we could maximally parallelize translation across machines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9C6ED90-9F5F-6B4F-BA43-051C4D9C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54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/>
          <p:cNvSpPr txBox="1"/>
          <p:nvPr/>
        </p:nvSpPr>
        <p:spPr>
          <a:xfrm>
            <a:off x="323748" y="965120"/>
            <a:ext cx="8700331" cy="2246769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common approach for conditional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previously-predicted output symbol used as input for making next prediction (“auto-regressive”)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this a structured predictor?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yes</a:t>
            </a:r>
          </a:p>
        </p:txBody>
      </p:sp>
      <p:sp>
        <p:nvSpPr>
          <p:cNvPr id="45" name="Oval 44"/>
          <p:cNvSpPr/>
          <p:nvPr/>
        </p:nvSpPr>
        <p:spPr>
          <a:xfrm>
            <a:off x="4058361" y="42892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896396" y="428681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7722885" y="428681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1" name="Straight Arrow Connector 50"/>
          <p:cNvCxnSpPr>
            <a:stCxn id="45" idx="6"/>
            <a:endCxn id="49" idx="2"/>
          </p:cNvCxnSpPr>
          <p:nvPr/>
        </p:nvCxnSpPr>
        <p:spPr bwMode="auto">
          <a:xfrm flipV="1">
            <a:off x="4961219" y="4738243"/>
            <a:ext cx="935177" cy="247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/>
          <p:cNvCxnSpPr>
            <a:stCxn id="49" idx="6"/>
            <a:endCxn id="50" idx="2"/>
          </p:cNvCxnSpPr>
          <p:nvPr/>
        </p:nvCxnSpPr>
        <p:spPr bwMode="auto">
          <a:xfrm>
            <a:off x="6799254" y="4738243"/>
            <a:ext cx="92363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52"/>
          <p:cNvSpPr/>
          <p:nvPr/>
        </p:nvSpPr>
        <p:spPr>
          <a:xfrm>
            <a:off x="4060670" y="29453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98706" y="29360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7722888" y="2947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4532" y="5640020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/>
          <p:cNvCxnSpPr>
            <a:stCxn id="57" idx="0"/>
            <a:endCxn id="45" idx="4"/>
          </p:cNvCxnSpPr>
          <p:nvPr/>
        </p:nvCxnSpPr>
        <p:spPr bwMode="auto">
          <a:xfrm flipH="1" flipV="1">
            <a:off x="4509790" y="5192147"/>
            <a:ext cx="2874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/>
          <p:nvPr/>
        </p:nvCxnSpPr>
        <p:spPr bwMode="auto">
          <a:xfrm flipV="1">
            <a:off x="6340457" y="518291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/>
          <p:cNvCxnSpPr/>
          <p:nvPr/>
        </p:nvCxnSpPr>
        <p:spPr bwMode="auto">
          <a:xfrm flipV="1">
            <a:off x="8166138" y="519676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4509790" y="3848178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/>
          <p:cNvCxnSpPr/>
          <p:nvPr/>
        </p:nvCxnSpPr>
        <p:spPr bwMode="auto">
          <a:xfrm flipV="1">
            <a:off x="6340457" y="383894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/>
          <p:cNvCxnSpPr/>
          <p:nvPr/>
        </p:nvCxnSpPr>
        <p:spPr bwMode="auto">
          <a:xfrm flipV="1">
            <a:off x="8166138" y="385279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74"/>
          <p:cNvSpPr/>
          <p:nvPr/>
        </p:nvSpPr>
        <p:spPr>
          <a:xfrm>
            <a:off x="558533" y="43099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965764" y="43006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7" name="Straight Arrow Connector 76"/>
          <p:cNvCxnSpPr>
            <a:endCxn id="76" idx="2"/>
          </p:cNvCxnSpPr>
          <p:nvPr/>
        </p:nvCxnSpPr>
        <p:spPr bwMode="auto">
          <a:xfrm>
            <a:off x="1461391" y="4752098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Oval 77"/>
          <p:cNvSpPr/>
          <p:nvPr/>
        </p:nvSpPr>
        <p:spPr>
          <a:xfrm>
            <a:off x="558533" y="56606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965764" y="565140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0" name="Straight Arrow Connector 79"/>
          <p:cNvCxnSpPr>
            <a:stCxn id="78" idx="0"/>
          </p:cNvCxnSpPr>
          <p:nvPr/>
        </p:nvCxnSpPr>
        <p:spPr bwMode="auto">
          <a:xfrm flipV="1">
            <a:off x="1009962" y="521276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Straight Arrow Connector 80"/>
          <p:cNvCxnSpPr/>
          <p:nvPr/>
        </p:nvCxnSpPr>
        <p:spPr bwMode="auto">
          <a:xfrm flipV="1">
            <a:off x="2409825" y="520352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Straight Arrow Connector 85"/>
          <p:cNvCxnSpPr>
            <a:stCxn id="87" idx="3"/>
            <a:endCxn id="45" idx="2"/>
          </p:cNvCxnSpPr>
          <p:nvPr/>
        </p:nvCxnSpPr>
        <p:spPr bwMode="auto">
          <a:xfrm>
            <a:off x="3504353" y="4731969"/>
            <a:ext cx="554008" cy="874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/>
          <p:cNvSpPr txBox="1"/>
          <p:nvPr/>
        </p:nvSpPr>
        <p:spPr>
          <a:xfrm>
            <a:off x="3096127" y="4470359"/>
            <a:ext cx="408226" cy="5232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36" y="6049153"/>
            <a:ext cx="622300" cy="19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474" y="6049153"/>
            <a:ext cx="317500" cy="19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474" y="4593348"/>
            <a:ext cx="3302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12" y="4587740"/>
            <a:ext cx="6223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780" y="4666868"/>
            <a:ext cx="2159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503" y="4656848"/>
            <a:ext cx="508000" cy="2159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7894" y="4656477"/>
            <a:ext cx="520700" cy="2159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6182" y="5937663"/>
            <a:ext cx="1239199" cy="3019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4561" y="5934975"/>
            <a:ext cx="1292719" cy="315032"/>
          </a:xfrm>
          <a:prstGeom prst="rect">
            <a:avLst/>
          </a:prstGeom>
        </p:spPr>
      </p:pic>
      <p:sp>
        <p:nvSpPr>
          <p:cNvPr id="91" name="Oval 90"/>
          <p:cNvSpPr/>
          <p:nvPr/>
        </p:nvSpPr>
        <p:spPr>
          <a:xfrm>
            <a:off x="7488006" y="5644638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7076" y="5929788"/>
            <a:ext cx="1009229" cy="321622"/>
          </a:xfrm>
          <a:prstGeom prst="rect">
            <a:avLst/>
          </a:prstGeom>
        </p:spPr>
      </p:pic>
      <p:sp>
        <p:nvSpPr>
          <p:cNvPr id="92" name="Oval 91"/>
          <p:cNvSpPr/>
          <p:nvPr/>
        </p:nvSpPr>
        <p:spPr>
          <a:xfrm>
            <a:off x="5662325" y="5630783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5680" y="3303898"/>
            <a:ext cx="241300" cy="203200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7528" y="3291198"/>
            <a:ext cx="533400" cy="21590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4208" y="3303898"/>
            <a:ext cx="533400" cy="215900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3157812" y="3567501"/>
            <a:ext cx="902858" cy="902858"/>
          </a:xfrm>
          <a:prstGeom prst="ellipse">
            <a:avLst/>
          </a:prstGeom>
          <a:ln w="190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4353" y="3932435"/>
            <a:ext cx="241300" cy="203200"/>
          </a:xfrm>
          <a:prstGeom prst="rect">
            <a:avLst/>
          </a:prstGeom>
        </p:spPr>
      </p:pic>
      <p:cxnSp>
        <p:nvCxnSpPr>
          <p:cNvPr id="48" name="Straight Arrow Connector 47"/>
          <p:cNvCxnSpPr>
            <a:stCxn id="75" idx="7"/>
            <a:endCxn id="47" idx="2"/>
          </p:cNvCxnSpPr>
          <p:nvPr/>
        </p:nvCxnSpPr>
        <p:spPr bwMode="auto">
          <a:xfrm flipV="1">
            <a:off x="1329171" y="4018930"/>
            <a:ext cx="1828641" cy="42319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stCxn id="76" idx="7"/>
            <a:endCxn id="47" idx="3"/>
          </p:cNvCxnSpPr>
          <p:nvPr/>
        </p:nvCxnSpPr>
        <p:spPr bwMode="auto">
          <a:xfrm flipV="1">
            <a:off x="2736402" y="4338139"/>
            <a:ext cx="553630" cy="9475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/>
          <p:cNvCxnSpPr>
            <a:endCxn id="47" idx="4"/>
          </p:cNvCxnSpPr>
          <p:nvPr/>
        </p:nvCxnSpPr>
        <p:spPr bwMode="auto">
          <a:xfrm flipV="1">
            <a:off x="3442432" y="4470359"/>
            <a:ext cx="166809" cy="2616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8925" y="3934219"/>
            <a:ext cx="533400" cy="215900"/>
          </a:xfrm>
          <a:prstGeom prst="rect">
            <a:avLst/>
          </a:prstGeom>
        </p:spPr>
      </p:pic>
      <p:sp>
        <p:nvSpPr>
          <p:cNvPr id="63" name="Oval 62"/>
          <p:cNvSpPr/>
          <p:nvPr/>
        </p:nvSpPr>
        <p:spPr>
          <a:xfrm>
            <a:off x="4963528" y="3586612"/>
            <a:ext cx="902858" cy="902858"/>
          </a:xfrm>
          <a:prstGeom prst="ellipse">
            <a:avLst/>
          </a:prstGeom>
          <a:ln w="19050" cmpd="sng">
            <a:solidFill>
              <a:srgbClr val="BC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9" name="Straight Arrow Connector 68"/>
          <p:cNvCxnSpPr>
            <a:stCxn id="75" idx="7"/>
            <a:endCxn id="63" idx="2"/>
          </p:cNvCxnSpPr>
          <p:nvPr/>
        </p:nvCxnSpPr>
        <p:spPr bwMode="auto">
          <a:xfrm flipV="1">
            <a:off x="1329171" y="4038041"/>
            <a:ext cx="3634357" cy="40408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Arrow Connector 70"/>
          <p:cNvCxnSpPr>
            <a:stCxn id="45" idx="7"/>
            <a:endCxn id="63" idx="3"/>
          </p:cNvCxnSpPr>
          <p:nvPr/>
        </p:nvCxnSpPr>
        <p:spPr bwMode="auto">
          <a:xfrm flipV="1">
            <a:off x="4828999" y="4357250"/>
            <a:ext cx="266749" cy="6425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47" idx="5"/>
            <a:endCxn id="45" idx="1"/>
          </p:cNvCxnSpPr>
          <p:nvPr/>
        </p:nvCxnSpPr>
        <p:spPr bwMode="auto">
          <a:xfrm>
            <a:off x="3928450" y="4338139"/>
            <a:ext cx="262131" cy="8337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/>
          <p:cNvCxnSpPr>
            <a:stCxn id="63" idx="5"/>
            <a:endCxn id="49" idx="1"/>
          </p:cNvCxnSpPr>
          <p:nvPr/>
        </p:nvCxnSpPr>
        <p:spPr bwMode="auto">
          <a:xfrm>
            <a:off x="5734166" y="4357250"/>
            <a:ext cx="294450" cy="6178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Arrow Connector 69"/>
          <p:cNvCxnSpPr>
            <a:stCxn id="76" idx="6"/>
          </p:cNvCxnSpPr>
          <p:nvPr/>
        </p:nvCxnSpPr>
        <p:spPr bwMode="auto">
          <a:xfrm flipV="1">
            <a:off x="2868622" y="4150119"/>
            <a:ext cx="2094906" cy="60197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/>
          <p:cNvCxnSpPr>
            <a:stCxn id="47" idx="6"/>
          </p:cNvCxnSpPr>
          <p:nvPr/>
        </p:nvCxnSpPr>
        <p:spPr bwMode="auto">
          <a:xfrm flipV="1">
            <a:off x="4060670" y="3791304"/>
            <a:ext cx="264440" cy="22762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Straight Arrow Connector 81"/>
          <p:cNvCxnSpPr>
            <a:stCxn id="63" idx="6"/>
            <a:endCxn id="55" idx="3"/>
          </p:cNvCxnSpPr>
          <p:nvPr/>
        </p:nvCxnSpPr>
        <p:spPr bwMode="auto">
          <a:xfrm flipV="1">
            <a:off x="5866386" y="3706721"/>
            <a:ext cx="164540" cy="33132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Title 1">
            <a:extLst>
              <a:ext uri="{FF2B5EF4-FFF2-40B4-BE49-F238E27FC236}">
                <a16:creationId xmlns:a16="http://schemas.microsoft.com/office/drawing/2014/main" xmlns="" id="{6E9A353D-5776-6245-9271-6A02528F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Sequence-to-Sequence Models with Attention</a:t>
            </a:r>
          </a:p>
        </p:txBody>
      </p:sp>
    </p:spTree>
    <p:extLst>
      <p:ext uri="{BB962C8B-B14F-4D97-AF65-F5344CB8AC3E}">
        <p14:creationId xmlns:p14="http://schemas.microsoft.com/office/powerpoint/2010/main" val="3841614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13184"/>
              </p:ext>
            </p:extLst>
          </p:nvPr>
        </p:nvGraphicFramePr>
        <p:xfrm>
          <a:off x="-2" y="742013"/>
          <a:ext cx="9144002" cy="585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199">
                  <a:extLst>
                    <a:ext uri="{9D8B030D-6E8A-4147-A177-3AD203B41FA5}">
                      <a16:colId xmlns:a16="http://schemas.microsoft.com/office/drawing/2014/main" xmlns="" val="2663079866"/>
                    </a:ext>
                  </a:extLst>
                </a:gridCol>
                <a:gridCol w="141118">
                  <a:extLst>
                    <a:ext uri="{9D8B030D-6E8A-4147-A177-3AD203B41FA5}">
                      <a16:colId xmlns:a16="http://schemas.microsoft.com/office/drawing/2014/main" xmlns="" val="1365048788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xmlns="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labeled segmentation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864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unlabeled dependency parsing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tree over the words in the input sentence; each word has exactly one parent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indices of parent words for each word in sentence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conditional generation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sentence (or a paragraph, document, etc.)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each word in the output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9CDE75A-7B67-7940-9DB7-8F8B5588EF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157" b="49396"/>
          <a:stretch/>
        </p:blipFill>
        <p:spPr>
          <a:xfrm>
            <a:off x="6274491" y="4742309"/>
            <a:ext cx="2619416" cy="3555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9CBC793F-CA5E-6743-8BB0-F2216BF63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396"/>
          <a:stretch/>
        </p:blipFill>
        <p:spPr>
          <a:xfrm>
            <a:off x="6248400" y="5152978"/>
            <a:ext cx="2834617" cy="291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762B8406-F3A4-8649-9501-21B686F3D82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9871"/>
          <a:stretch/>
        </p:blipFill>
        <p:spPr>
          <a:xfrm>
            <a:off x="6463601" y="5794728"/>
            <a:ext cx="2619416" cy="3330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EBE2ACE6-D6F8-1446-9FBD-817E9BECD80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9871" r="16151"/>
          <a:stretch/>
        </p:blipFill>
        <p:spPr>
          <a:xfrm>
            <a:off x="6463600" y="6163804"/>
            <a:ext cx="1938867" cy="2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19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372D2-1CAB-E242-AD1B-5F8416FA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ED0C59-8EEB-B54B-8D85-4BAC5926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tasks do not permit an easy definition of minimal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BC5F8C-3BC7-9749-B74C-EC296022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112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244592"/>
          </a:xfrm>
        </p:spPr>
        <p:txBody>
          <a:bodyPr>
            <a:normAutofit/>
          </a:bodyPr>
          <a:lstStyle/>
          <a:p>
            <a:r>
              <a:rPr lang="en-US" dirty="0"/>
              <a:t>Constituency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6686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814830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814830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4217506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4217506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5707116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3688014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3688014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4383974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4383974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5073476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229161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367337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4550256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3164794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860754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5073476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3173802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Key:</a:t>
            </a:r>
          </a:p>
          <a:p>
            <a:r>
              <a:rPr lang="en-US" sz="2000" dirty="0"/>
              <a:t>S = sentence</a:t>
            </a:r>
          </a:p>
          <a:p>
            <a:r>
              <a:rPr lang="en-US" sz="2000" dirty="0"/>
              <a:t>NP = noun phrase</a:t>
            </a:r>
          </a:p>
          <a:p>
            <a:r>
              <a:rPr lang="en-US" sz="2000" dirty="0"/>
              <a:t>VP = verb phrase</a:t>
            </a:r>
          </a:p>
          <a:p>
            <a:r>
              <a:rPr lang="en-US" sz="2000" dirty="0"/>
              <a:t>PP = prepositional phrase</a:t>
            </a:r>
          </a:p>
          <a:p>
            <a:r>
              <a:rPr lang="en-US" sz="2000" dirty="0"/>
              <a:t>DT = determiner</a:t>
            </a:r>
          </a:p>
          <a:p>
            <a:r>
              <a:rPr lang="en-US" sz="2000" dirty="0"/>
              <a:t>NN = noun</a:t>
            </a:r>
          </a:p>
          <a:p>
            <a:r>
              <a:rPr lang="en-US" sz="2000" dirty="0"/>
              <a:t>VBD = verb (past tense)</a:t>
            </a:r>
          </a:p>
          <a:p>
            <a:r>
              <a:rPr lang="en-US" sz="2000" dirty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5342715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841" y="5342715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5975" y="5360484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</p:spTree>
    <p:extLst>
      <p:ext uri="{BB962C8B-B14F-4D97-AF65-F5344CB8AC3E}">
        <p14:creationId xmlns:p14="http://schemas.microsoft.com/office/powerpoint/2010/main" val="3766047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952864"/>
          </a:xfrm>
        </p:spPr>
        <p:txBody>
          <a:bodyPr>
            <a:normAutofit/>
          </a:bodyPr>
          <a:lstStyle/>
          <a:p>
            <a:r>
              <a:rPr lang="en-US" dirty="0"/>
              <a:t>Semantic Role Labeling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8E1A0D1-A3EC-BA4A-9E55-1FFF5CE46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87"/>
          <a:stretch/>
        </p:blipFill>
        <p:spPr>
          <a:xfrm>
            <a:off x="-181861" y="1823948"/>
            <a:ext cx="9446773" cy="2559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C273C49-EBCF-CA46-BE91-9C48DCC1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571" y="6188075"/>
            <a:ext cx="1866900" cy="533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A35BD989-960E-7349-A1FB-9904D6DC4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953"/>
          <a:stretch/>
        </p:blipFill>
        <p:spPr>
          <a:xfrm>
            <a:off x="0" y="1301595"/>
            <a:ext cx="9144000" cy="5223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53D005B-A567-AF49-8D0A-C8EBDC1947C4}"/>
              </a:ext>
            </a:extLst>
          </p:cNvPr>
          <p:cNvSpPr txBox="1"/>
          <p:nvPr/>
        </p:nvSpPr>
        <p:spPr>
          <a:xfrm>
            <a:off x="231528" y="4823559"/>
            <a:ext cx="52587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ARG0 = usually </a:t>
            </a:r>
            <a:r>
              <a:rPr lang="en-US" sz="2800" i="1" dirty="0"/>
              <a:t>agent</a:t>
            </a:r>
          </a:p>
          <a:p>
            <a:r>
              <a:rPr lang="en-US" sz="2800" dirty="0"/>
              <a:t>ARG1 = typically </a:t>
            </a:r>
            <a:r>
              <a:rPr lang="en-US" sz="2800" i="1" dirty="0"/>
              <a:t>patient</a:t>
            </a:r>
            <a:r>
              <a:rPr lang="en-US" sz="2800" dirty="0"/>
              <a:t> or </a:t>
            </a:r>
            <a:r>
              <a:rPr lang="en-US" sz="2800" i="1" dirty="0"/>
              <a:t>theme</a:t>
            </a:r>
          </a:p>
          <a:p>
            <a:r>
              <a:rPr lang="en-US" sz="2800" dirty="0"/>
              <a:t>ARG2 = often </a:t>
            </a:r>
            <a:r>
              <a:rPr lang="en-US" sz="2800" i="1" dirty="0"/>
              <a:t>beneficiary</a:t>
            </a:r>
          </a:p>
        </p:txBody>
      </p:sp>
    </p:spTree>
    <p:extLst>
      <p:ext uri="{BB962C8B-B14F-4D97-AF65-F5344CB8AC3E}">
        <p14:creationId xmlns:p14="http://schemas.microsoft.com/office/powerpoint/2010/main" val="2253534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372D2-1CAB-E242-AD1B-5F8416FA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ED0C59-8EEB-B54B-8D85-4BAC5926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tasks do not permit an easy definition of minimal parts</a:t>
            </a:r>
          </a:p>
          <a:p>
            <a:pPr lvl="1"/>
            <a:r>
              <a:rPr lang="en-US" dirty="0"/>
              <a:t>constituency parsing, semantic role labeling, etc.</a:t>
            </a:r>
          </a:p>
          <a:p>
            <a:pPr lvl="1"/>
            <a:endParaRPr lang="en-US" dirty="0"/>
          </a:p>
          <a:p>
            <a:r>
              <a:rPr lang="en-US" dirty="0"/>
              <a:t>sometimes we can cast these as conditional generation tasks, then inherit the minimal parts definition from conditional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BC5F8C-3BC7-9749-B74C-EC296022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94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/>
          <p:cNvSpPr/>
          <p:nvPr/>
        </p:nvSpPr>
        <p:spPr>
          <a:xfrm>
            <a:off x="4058361" y="42892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896396" y="428681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7722885" y="428681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1" name="Straight Arrow Connector 50"/>
          <p:cNvCxnSpPr>
            <a:stCxn id="45" idx="6"/>
            <a:endCxn id="49" idx="2"/>
          </p:cNvCxnSpPr>
          <p:nvPr/>
        </p:nvCxnSpPr>
        <p:spPr bwMode="auto">
          <a:xfrm flipV="1">
            <a:off x="4961219" y="4738243"/>
            <a:ext cx="935177" cy="247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/>
          <p:cNvCxnSpPr>
            <a:stCxn id="49" idx="6"/>
            <a:endCxn id="50" idx="2"/>
          </p:cNvCxnSpPr>
          <p:nvPr/>
        </p:nvCxnSpPr>
        <p:spPr bwMode="auto">
          <a:xfrm>
            <a:off x="6799254" y="4738243"/>
            <a:ext cx="92363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52"/>
          <p:cNvSpPr/>
          <p:nvPr/>
        </p:nvSpPr>
        <p:spPr>
          <a:xfrm>
            <a:off x="4060670" y="29453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98706" y="29360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7722888" y="2947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4532" y="5640020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/>
          <p:cNvCxnSpPr>
            <a:stCxn id="57" idx="0"/>
            <a:endCxn id="45" idx="4"/>
          </p:cNvCxnSpPr>
          <p:nvPr/>
        </p:nvCxnSpPr>
        <p:spPr bwMode="auto">
          <a:xfrm flipH="1" flipV="1">
            <a:off x="4509790" y="5192147"/>
            <a:ext cx="2874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/>
          <p:nvPr/>
        </p:nvCxnSpPr>
        <p:spPr bwMode="auto">
          <a:xfrm flipV="1">
            <a:off x="6340457" y="518291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/>
          <p:cNvCxnSpPr/>
          <p:nvPr/>
        </p:nvCxnSpPr>
        <p:spPr bwMode="auto">
          <a:xfrm flipV="1">
            <a:off x="8166138" y="519676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4509790" y="3848178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/>
          <p:cNvCxnSpPr/>
          <p:nvPr/>
        </p:nvCxnSpPr>
        <p:spPr bwMode="auto">
          <a:xfrm flipV="1">
            <a:off x="6340457" y="383894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/>
          <p:cNvCxnSpPr/>
          <p:nvPr/>
        </p:nvCxnSpPr>
        <p:spPr bwMode="auto">
          <a:xfrm flipV="1">
            <a:off x="8166138" y="385279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74"/>
          <p:cNvSpPr/>
          <p:nvPr/>
        </p:nvSpPr>
        <p:spPr>
          <a:xfrm>
            <a:off x="558533" y="43099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965764" y="43006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7" name="Straight Arrow Connector 76"/>
          <p:cNvCxnSpPr>
            <a:endCxn id="76" idx="2"/>
          </p:cNvCxnSpPr>
          <p:nvPr/>
        </p:nvCxnSpPr>
        <p:spPr bwMode="auto">
          <a:xfrm>
            <a:off x="1461391" y="4752098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Oval 77"/>
          <p:cNvSpPr/>
          <p:nvPr/>
        </p:nvSpPr>
        <p:spPr>
          <a:xfrm>
            <a:off x="558533" y="56606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965764" y="565140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0" name="Straight Arrow Connector 79"/>
          <p:cNvCxnSpPr>
            <a:stCxn id="78" idx="0"/>
          </p:cNvCxnSpPr>
          <p:nvPr/>
        </p:nvCxnSpPr>
        <p:spPr bwMode="auto">
          <a:xfrm flipV="1">
            <a:off x="1009962" y="521276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Straight Arrow Connector 80"/>
          <p:cNvCxnSpPr/>
          <p:nvPr/>
        </p:nvCxnSpPr>
        <p:spPr bwMode="auto">
          <a:xfrm flipV="1">
            <a:off x="2409825" y="520352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Straight Arrow Connector 85"/>
          <p:cNvCxnSpPr>
            <a:stCxn id="87" idx="3"/>
            <a:endCxn id="45" idx="2"/>
          </p:cNvCxnSpPr>
          <p:nvPr/>
        </p:nvCxnSpPr>
        <p:spPr bwMode="auto">
          <a:xfrm>
            <a:off x="3504353" y="4731969"/>
            <a:ext cx="554008" cy="874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/>
          <p:cNvSpPr txBox="1"/>
          <p:nvPr/>
        </p:nvSpPr>
        <p:spPr>
          <a:xfrm>
            <a:off x="3096127" y="4470359"/>
            <a:ext cx="408226" cy="5232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36" y="6049153"/>
            <a:ext cx="622300" cy="19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474" y="6049153"/>
            <a:ext cx="317500" cy="19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474" y="4593348"/>
            <a:ext cx="3302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12" y="4587740"/>
            <a:ext cx="6223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780" y="4666868"/>
            <a:ext cx="2159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503" y="4656848"/>
            <a:ext cx="508000" cy="2159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7894" y="4656477"/>
            <a:ext cx="520700" cy="2159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6182" y="5937663"/>
            <a:ext cx="1239199" cy="3019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4561" y="5934975"/>
            <a:ext cx="1292719" cy="315032"/>
          </a:xfrm>
          <a:prstGeom prst="rect">
            <a:avLst/>
          </a:prstGeom>
        </p:spPr>
      </p:pic>
      <p:sp>
        <p:nvSpPr>
          <p:cNvPr id="91" name="Oval 90"/>
          <p:cNvSpPr/>
          <p:nvPr/>
        </p:nvSpPr>
        <p:spPr>
          <a:xfrm>
            <a:off x="7488006" y="5644638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7076" y="5929788"/>
            <a:ext cx="1009229" cy="321622"/>
          </a:xfrm>
          <a:prstGeom prst="rect">
            <a:avLst/>
          </a:prstGeom>
        </p:spPr>
      </p:pic>
      <p:sp>
        <p:nvSpPr>
          <p:cNvPr id="92" name="Oval 91"/>
          <p:cNvSpPr/>
          <p:nvPr/>
        </p:nvSpPr>
        <p:spPr>
          <a:xfrm>
            <a:off x="5662325" y="5630783"/>
            <a:ext cx="1356264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5680" y="3303898"/>
            <a:ext cx="241300" cy="203200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7528" y="3291198"/>
            <a:ext cx="533400" cy="21590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4208" y="3303898"/>
            <a:ext cx="533400" cy="215900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3157812" y="3567501"/>
            <a:ext cx="902858" cy="902858"/>
          </a:xfrm>
          <a:prstGeom prst="ellipse">
            <a:avLst/>
          </a:prstGeom>
          <a:ln w="190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4353" y="3932435"/>
            <a:ext cx="241300" cy="203200"/>
          </a:xfrm>
          <a:prstGeom prst="rect">
            <a:avLst/>
          </a:prstGeom>
        </p:spPr>
      </p:pic>
      <p:cxnSp>
        <p:nvCxnSpPr>
          <p:cNvPr id="48" name="Straight Arrow Connector 47"/>
          <p:cNvCxnSpPr>
            <a:stCxn id="75" idx="7"/>
            <a:endCxn id="47" idx="2"/>
          </p:cNvCxnSpPr>
          <p:nvPr/>
        </p:nvCxnSpPr>
        <p:spPr bwMode="auto">
          <a:xfrm flipV="1">
            <a:off x="1329171" y="4018930"/>
            <a:ext cx="1828641" cy="42319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stCxn id="76" idx="7"/>
            <a:endCxn id="47" idx="3"/>
          </p:cNvCxnSpPr>
          <p:nvPr/>
        </p:nvCxnSpPr>
        <p:spPr bwMode="auto">
          <a:xfrm flipV="1">
            <a:off x="2736402" y="4338139"/>
            <a:ext cx="553630" cy="9475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/>
          <p:cNvCxnSpPr>
            <a:endCxn id="47" idx="4"/>
          </p:cNvCxnSpPr>
          <p:nvPr/>
        </p:nvCxnSpPr>
        <p:spPr bwMode="auto">
          <a:xfrm flipV="1">
            <a:off x="3442432" y="4470359"/>
            <a:ext cx="166809" cy="2616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8925" y="3934219"/>
            <a:ext cx="533400" cy="215900"/>
          </a:xfrm>
          <a:prstGeom prst="rect">
            <a:avLst/>
          </a:prstGeom>
        </p:spPr>
      </p:pic>
      <p:sp>
        <p:nvSpPr>
          <p:cNvPr id="63" name="Oval 62"/>
          <p:cNvSpPr/>
          <p:nvPr/>
        </p:nvSpPr>
        <p:spPr>
          <a:xfrm>
            <a:off x="4963528" y="3586612"/>
            <a:ext cx="902858" cy="902858"/>
          </a:xfrm>
          <a:prstGeom prst="ellipse">
            <a:avLst/>
          </a:prstGeom>
          <a:ln w="19050" cmpd="sng">
            <a:solidFill>
              <a:srgbClr val="BC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9" name="Straight Arrow Connector 68"/>
          <p:cNvCxnSpPr>
            <a:stCxn id="75" idx="7"/>
            <a:endCxn id="63" idx="2"/>
          </p:cNvCxnSpPr>
          <p:nvPr/>
        </p:nvCxnSpPr>
        <p:spPr bwMode="auto">
          <a:xfrm flipV="1">
            <a:off x="1329171" y="4038041"/>
            <a:ext cx="3634357" cy="40408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Arrow Connector 70"/>
          <p:cNvCxnSpPr>
            <a:stCxn id="45" idx="7"/>
            <a:endCxn id="63" idx="3"/>
          </p:cNvCxnSpPr>
          <p:nvPr/>
        </p:nvCxnSpPr>
        <p:spPr bwMode="auto">
          <a:xfrm flipV="1">
            <a:off x="4828999" y="4357250"/>
            <a:ext cx="266749" cy="6425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47" idx="5"/>
            <a:endCxn id="45" idx="1"/>
          </p:cNvCxnSpPr>
          <p:nvPr/>
        </p:nvCxnSpPr>
        <p:spPr bwMode="auto">
          <a:xfrm>
            <a:off x="3928450" y="4338139"/>
            <a:ext cx="262131" cy="8337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/>
          <p:cNvCxnSpPr>
            <a:stCxn id="63" idx="5"/>
            <a:endCxn id="49" idx="1"/>
          </p:cNvCxnSpPr>
          <p:nvPr/>
        </p:nvCxnSpPr>
        <p:spPr bwMode="auto">
          <a:xfrm>
            <a:off x="5734166" y="4357250"/>
            <a:ext cx="294450" cy="6178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Arrow Connector 69"/>
          <p:cNvCxnSpPr>
            <a:stCxn id="76" idx="6"/>
          </p:cNvCxnSpPr>
          <p:nvPr/>
        </p:nvCxnSpPr>
        <p:spPr bwMode="auto">
          <a:xfrm flipV="1">
            <a:off x="2868622" y="4150119"/>
            <a:ext cx="2094906" cy="60197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323748" y="1227217"/>
            <a:ext cx="8700331" cy="95410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input and output sequences can have different lengths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frame many output structures as sequences</a:t>
            </a:r>
          </a:p>
        </p:txBody>
      </p:sp>
      <p:cxnSp>
        <p:nvCxnSpPr>
          <p:cNvPr id="74" name="Straight Arrow Connector 73"/>
          <p:cNvCxnSpPr>
            <a:stCxn id="47" idx="6"/>
          </p:cNvCxnSpPr>
          <p:nvPr/>
        </p:nvCxnSpPr>
        <p:spPr bwMode="auto">
          <a:xfrm flipV="1">
            <a:off x="4060670" y="3791304"/>
            <a:ext cx="264440" cy="22762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Straight Arrow Connector 81"/>
          <p:cNvCxnSpPr>
            <a:stCxn id="63" idx="6"/>
            <a:endCxn id="55" idx="3"/>
          </p:cNvCxnSpPr>
          <p:nvPr/>
        </p:nvCxnSpPr>
        <p:spPr bwMode="auto">
          <a:xfrm flipV="1">
            <a:off x="5866386" y="3706721"/>
            <a:ext cx="164540" cy="33132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Title 1">
            <a:extLst>
              <a:ext uri="{FF2B5EF4-FFF2-40B4-BE49-F238E27FC236}">
                <a16:creationId xmlns:a16="http://schemas.microsoft.com/office/drawing/2014/main" xmlns="" id="{6E9A353D-5776-6245-9271-6A02528F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Sequence-to-Sequence Models with Attention</a:t>
            </a:r>
          </a:p>
        </p:txBody>
      </p:sp>
    </p:spTree>
    <p:extLst>
      <p:ext uri="{BB962C8B-B14F-4D97-AF65-F5344CB8AC3E}">
        <p14:creationId xmlns:p14="http://schemas.microsoft.com/office/powerpoint/2010/main" val="543562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327618"/>
          </a:xfrm>
        </p:spPr>
        <p:txBody>
          <a:bodyPr>
            <a:normAutofit fontScale="90000"/>
          </a:bodyPr>
          <a:lstStyle/>
          <a:p>
            <a:r>
              <a:rPr lang="en-US" dirty="0"/>
              <a:t>Formulating Constituency Parsing as Conditional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4251" y="6291362"/>
            <a:ext cx="6890791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88CD2"/>
                </a:solidFill>
              </a:rPr>
              <a:t>{</a:t>
            </a:r>
            <a:r>
              <a:rPr lang="en-US" sz="2000" dirty="0" err="1">
                <a:solidFill>
                  <a:srgbClr val="288CD2"/>
                </a:solidFill>
              </a:rPr>
              <a:t>Vinyals</a:t>
            </a:r>
            <a:r>
              <a:rPr lang="en-US" sz="2000" dirty="0">
                <a:solidFill>
                  <a:srgbClr val="288CD2"/>
                </a:solidFill>
              </a:rPr>
              <a:t>, Kaiser} et al. (2015): </a:t>
            </a:r>
            <a:r>
              <a:rPr lang="en-US" sz="2000" i="1" dirty="0">
                <a:solidFill>
                  <a:srgbClr val="288CD2"/>
                </a:solidFill>
              </a:rPr>
              <a:t>Grammar as a Foreign Language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908"/>
          <a:stretch/>
        </p:blipFill>
        <p:spPr>
          <a:xfrm>
            <a:off x="0" y="1841499"/>
            <a:ext cx="9164400" cy="34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981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5760"/>
            <a:ext cx="9144000" cy="386956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123DD2B-BE2A-3D47-B0F5-737CC6CC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327618"/>
          </a:xfrm>
        </p:spPr>
        <p:txBody>
          <a:bodyPr>
            <a:normAutofit fontScale="90000"/>
          </a:bodyPr>
          <a:lstStyle/>
          <a:p>
            <a:r>
              <a:rPr lang="en-US" dirty="0"/>
              <a:t>Formulating Constituency Parsing as Conditional Generation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CD1B241-3F69-4841-B88D-7B523870F21D}"/>
              </a:ext>
            </a:extLst>
          </p:cNvPr>
          <p:cNvSpPr txBox="1"/>
          <p:nvPr/>
        </p:nvSpPr>
        <p:spPr>
          <a:xfrm>
            <a:off x="2104251" y="6291362"/>
            <a:ext cx="6890791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88CD2"/>
                </a:solidFill>
              </a:rPr>
              <a:t>{</a:t>
            </a:r>
            <a:r>
              <a:rPr lang="en-US" sz="2000" dirty="0" err="1">
                <a:solidFill>
                  <a:srgbClr val="288CD2"/>
                </a:solidFill>
              </a:rPr>
              <a:t>Vinyals</a:t>
            </a:r>
            <a:r>
              <a:rPr lang="en-US" sz="2000" dirty="0">
                <a:solidFill>
                  <a:srgbClr val="288CD2"/>
                </a:solidFill>
              </a:rPr>
              <a:t>, Kaiser} et al. (2015): </a:t>
            </a:r>
            <a:r>
              <a:rPr lang="en-US" sz="2000" i="1" dirty="0">
                <a:solidFill>
                  <a:srgbClr val="288CD2"/>
                </a:solidFill>
              </a:rPr>
              <a:t>Grammar as a Foreign Language</a:t>
            </a:r>
          </a:p>
        </p:txBody>
      </p:sp>
    </p:spTree>
    <p:extLst>
      <p:ext uri="{BB962C8B-B14F-4D97-AF65-F5344CB8AC3E}">
        <p14:creationId xmlns:p14="http://schemas.microsoft.com/office/powerpoint/2010/main" val="2592122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2FA3EA-668A-D448-B8ED-A93566F2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112FDC-A3DD-B246-AA00-D3ADC33C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others have done this for dependency parsing, semantic role labeling, abstract meaning representation parsing, and many other tasks</a:t>
            </a:r>
          </a:p>
          <a:p>
            <a:endParaRPr lang="en-US" dirty="0"/>
          </a:p>
          <a:p>
            <a:r>
              <a:rPr lang="en-US" dirty="0"/>
              <a:t>sequence-to-sequence models then become a general purpose modeling framework for many structured prediction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3B8E91-5BA0-7C49-82AE-038A443E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30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1668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590197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97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8270859-B3C3-664D-9748-3C7C4A1CFACE}"/>
              </a:ext>
            </a:extLst>
          </p:cNvPr>
          <p:cNvCxnSpPr/>
          <p:nvPr/>
        </p:nvCxnSpPr>
        <p:spPr bwMode="auto">
          <a:xfrm flipV="1">
            <a:off x="6243401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532883D-CC44-794C-BC83-08DFFAAB3019}"/>
              </a:ext>
            </a:extLst>
          </p:cNvPr>
          <p:cNvSpPr txBox="1"/>
          <p:nvPr/>
        </p:nvSpPr>
        <p:spPr>
          <a:xfrm>
            <a:off x="5702845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6" y="2210064"/>
            <a:ext cx="5753100" cy="63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9439" y="3155950"/>
            <a:ext cx="190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795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/>
          <p:cNvCxnSpPr/>
          <p:nvPr/>
        </p:nvCxnSpPr>
        <p:spPr bwMode="auto">
          <a:xfrm>
            <a:off x="3590197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7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Inference with Structured Predictors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6" y="2210064"/>
            <a:ext cx="5753100" cy="635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4D60F536-8B0B-4545-A5A2-D526F9F0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32667"/>
            <a:ext cx="8229600" cy="33951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do we efficiently search over the space of all structured outputs?</a:t>
            </a:r>
          </a:p>
          <a:p>
            <a:endParaRPr lang="en-US" dirty="0"/>
          </a:p>
          <a:p>
            <a:r>
              <a:rPr lang="en-US" dirty="0"/>
              <a:t>this space may have size exponential in the size of the input, or be unbounded</a:t>
            </a:r>
          </a:p>
          <a:p>
            <a:endParaRPr lang="en-US" dirty="0"/>
          </a:p>
          <a:p>
            <a:r>
              <a:rPr lang="en-US" dirty="0"/>
              <a:t>complexity of inference depends on parts function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82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8202F1-5A71-9248-A2C8-A0FE47E3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5DAA12-F53F-4B49-9073-D842CE6C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503920" cy="5052424"/>
          </a:xfrm>
        </p:spPr>
        <p:txBody>
          <a:bodyPr/>
          <a:lstStyle/>
          <a:p>
            <a:r>
              <a:rPr lang="en-US" dirty="0"/>
              <a:t>simple, useful, well-known model for sequence labeling: </a:t>
            </a:r>
            <a:r>
              <a:rPr lang="en-US" b="1" dirty="0">
                <a:solidFill>
                  <a:srgbClr val="288CD2"/>
                </a:solidFill>
              </a:rPr>
              <a:t>Hidden Markov Model (HMM)</a:t>
            </a:r>
          </a:p>
          <a:p>
            <a:r>
              <a:rPr lang="en-US" dirty="0"/>
              <a:t>HMMs are used in NLP, speech processing, computational biology, and other areas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C7EA2A3-44AD-F849-B2F9-55E50F00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33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513064" cy="5455076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n</a:t>
            </a:r>
            <a:r>
              <a:rPr lang="en-US" dirty="0"/>
              <a:t>-gram language models define a probability distribution over word sequences </a:t>
            </a:r>
            <a:r>
              <a:rPr lang="en-US" b="1" i="1" dirty="0"/>
              <a:t>x</a:t>
            </a:r>
            <a:endParaRPr lang="en-US" dirty="0"/>
          </a:p>
          <a:p>
            <a:endParaRPr lang="en-US" dirty="0"/>
          </a:p>
          <a:p>
            <a:r>
              <a:rPr lang="en-US" dirty="0"/>
              <a:t>HMMs define a joint probability distribution over input sequences </a:t>
            </a:r>
            <a:r>
              <a:rPr lang="en-US" b="1" i="1" dirty="0"/>
              <a:t>x</a:t>
            </a:r>
            <a:r>
              <a:rPr lang="en-US" dirty="0"/>
              <a:t> and output sequences </a:t>
            </a:r>
            <a:r>
              <a:rPr lang="en-US" b="1" i="1" dirty="0"/>
              <a:t>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conditional independence assumptions (“Markov assumption”) are used to factorize this joint distribution into small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CAA30D1-4C19-3546-A841-9252527B25C6}"/>
              </a:ext>
            </a:extLst>
          </p:cNvPr>
          <p:cNvSpPr txBox="1"/>
          <p:nvPr/>
        </p:nvSpPr>
        <p:spPr>
          <a:xfrm>
            <a:off x="2005534" y="6340364"/>
            <a:ext cx="6583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*for now, we are omitting stopping probabilities for clarity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69E0A7C-B565-874E-9AF4-B88C082C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2" y="3528457"/>
            <a:ext cx="8970264" cy="92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51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CA2D89-D63C-C941-A9D1-BFC5A676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Random Variables for Sequence Labeling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E8DA22-6632-8147-A1F9-46FBCFB0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define random variables for observations:</a:t>
            </a:r>
          </a:p>
          <a:p>
            <a:pPr lvl="1"/>
            <a:r>
              <a:rPr lang="en-US" dirty="0"/>
              <a:t>observation variable at time step </a:t>
            </a:r>
            <a:r>
              <a:rPr lang="en-US" i="1" dirty="0"/>
              <a:t>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its possible values: words in vocabulary </a:t>
            </a:r>
          </a:p>
          <a:p>
            <a:endParaRPr lang="en-US" dirty="0"/>
          </a:p>
          <a:p>
            <a:r>
              <a:rPr lang="en-US" dirty="0"/>
              <a:t>and we’ll define one “hidden” variable for each observation:</a:t>
            </a:r>
          </a:p>
          <a:p>
            <a:pPr lvl="1"/>
            <a:r>
              <a:rPr lang="en-US" dirty="0"/>
              <a:t>hidden variable at time </a:t>
            </a:r>
            <a:r>
              <a:rPr lang="en-US" i="1" dirty="0"/>
              <a:t>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its possible values: discrete symbols in some set</a:t>
            </a:r>
          </a:p>
          <a:p>
            <a:pPr lvl="1"/>
            <a:r>
              <a:rPr lang="en-US" dirty="0"/>
              <a:t>for now, think of the set of possible POS tags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77B6117-3EC5-D349-BF0D-2009E75B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8B95A26-C7C0-B94B-9B2C-4E73A7DE2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955" y="4490575"/>
            <a:ext cx="292100" cy="29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75CE083-6D86-BF45-85FE-CC8064A5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521" y="1794016"/>
            <a:ext cx="3810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53EA9E3-7A96-5B42-8424-046C1CF38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520" y="2316683"/>
            <a:ext cx="228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82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Conditional Independence Assumptions of HMMs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12" y="900005"/>
            <a:ext cx="8686800" cy="25432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</a:t>
            </a:r>
            <a:r>
              <a:rPr lang="en-US" i="1" dirty="0"/>
              <a:t>Y’</a:t>
            </a:r>
            <a:r>
              <a:rPr lang="en-US" dirty="0"/>
              <a:t>s are conditionally independent given the </a:t>
            </a:r>
            <a:r>
              <a:rPr lang="en-US" i="1" dirty="0"/>
              <a:t>Y’</a:t>
            </a:r>
            <a:r>
              <a:rPr lang="en-US" dirty="0"/>
              <a:t>s between them: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i="1" dirty="0"/>
              <a:t>X</a:t>
            </a:r>
            <a:r>
              <a:rPr lang="en-US" dirty="0"/>
              <a:t> at position </a:t>
            </a:r>
            <a:r>
              <a:rPr lang="en-US" i="1" dirty="0"/>
              <a:t>t</a:t>
            </a:r>
            <a:r>
              <a:rPr lang="en-US" dirty="0"/>
              <a:t> is conditionally independent of other </a:t>
            </a:r>
            <a:r>
              <a:rPr lang="en-US" i="1" dirty="0"/>
              <a:t>Y’</a:t>
            </a:r>
            <a:r>
              <a:rPr lang="en-US" dirty="0"/>
              <a:t>s given the </a:t>
            </a:r>
            <a:r>
              <a:rPr lang="en-US" i="1" dirty="0"/>
              <a:t>Y</a:t>
            </a:r>
            <a:r>
              <a:rPr lang="en-US" dirty="0"/>
              <a:t> at position </a:t>
            </a:r>
            <a:r>
              <a:rPr lang="en-US" i="1" dirty="0"/>
              <a:t>t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DD8635A-17F2-5445-A348-81D31091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075" y="1792224"/>
            <a:ext cx="2529273" cy="379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33B1155-30FC-5D4E-A315-BB9E6DB8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845" y="3345142"/>
            <a:ext cx="2211732" cy="376465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xmlns="" id="{C94F4085-2243-2C42-A5D9-F0D1EA8A89D5}"/>
              </a:ext>
            </a:extLst>
          </p:cNvPr>
          <p:cNvSpPr/>
          <p:nvPr/>
        </p:nvSpPr>
        <p:spPr>
          <a:xfrm>
            <a:off x="1771655" y="4871955"/>
            <a:ext cx="264615" cy="4626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337261E-284E-2647-9B2A-97415588C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57607"/>
            <a:ext cx="5130800" cy="965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A063C34-1F51-044B-A4DB-D1FADABB2E4E}"/>
              </a:ext>
            </a:extLst>
          </p:cNvPr>
          <p:cNvSpPr txBox="1"/>
          <p:nvPr/>
        </p:nvSpPr>
        <p:spPr>
          <a:xfrm>
            <a:off x="2205319" y="6401836"/>
            <a:ext cx="6583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*for now, we are omitting stopping probabilities for clarity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17E65A4-5583-F141-99AE-0C32CEC2E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6" y="3820595"/>
            <a:ext cx="8970264" cy="92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19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HMMs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3159903"/>
            <a:ext cx="7630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conditional independence assumptions </a:t>
            </a:r>
            <a:r>
              <a:rPr lang="en-US" dirty="0">
                <a:sym typeface="Wingdings"/>
              </a:rPr>
              <a:t></a:t>
            </a:r>
            <a:r>
              <a:rPr lang="en-US" sz="2400" dirty="0">
                <a:sym typeface="Wingdings"/>
              </a:rPr>
              <a:t> we only have to worry about </a:t>
            </a:r>
            <a:r>
              <a:rPr lang="en-US" sz="2400" b="1" dirty="0">
                <a:sym typeface="Wingdings"/>
              </a:rPr>
              <a:t>local distributions:</a:t>
            </a:r>
          </a:p>
          <a:p>
            <a:endParaRPr lang="en-US" sz="2000" b="1" dirty="0">
              <a:sym typeface="Wingdings"/>
            </a:endParaRPr>
          </a:p>
          <a:p>
            <a:r>
              <a:rPr lang="en-US" sz="2000" b="1" dirty="0">
                <a:solidFill>
                  <a:srgbClr val="288CD2"/>
                </a:solidFill>
                <a:sym typeface="Wingdings"/>
              </a:rPr>
              <a:t>transition </a:t>
            </a:r>
            <a:r>
              <a:rPr lang="en-US" sz="2000" b="1" dirty="0">
                <a:sym typeface="Wingdings"/>
              </a:rPr>
              <a:t>parameters:</a:t>
            </a:r>
          </a:p>
          <a:p>
            <a:r>
              <a:rPr lang="en-US" sz="2000" b="1" dirty="0">
                <a:sym typeface="Wingdings"/>
              </a:rPr>
              <a:t> </a:t>
            </a:r>
          </a:p>
          <a:p>
            <a:r>
              <a:rPr lang="en-US" sz="2000" b="1" dirty="0">
                <a:solidFill>
                  <a:srgbClr val="288CD2"/>
                </a:solidFill>
                <a:sym typeface="Wingdings"/>
              </a:rPr>
              <a:t>emission </a:t>
            </a:r>
            <a:r>
              <a:rPr lang="en-US" sz="2000" b="1" dirty="0">
                <a:sym typeface="Wingdings"/>
              </a:rPr>
              <a:t>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422902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4857052"/>
            <a:ext cx="1536700" cy="381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xmlns="" id="{F9AA4A96-410E-B849-AD5B-B7FB8508D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168" y="1346129"/>
            <a:ext cx="5130800" cy="965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DD24389-D90C-094D-AE5B-EE4AB18C777C}"/>
              </a:ext>
            </a:extLst>
          </p:cNvPr>
          <p:cNvSpPr txBox="1"/>
          <p:nvPr/>
        </p:nvSpPr>
        <p:spPr>
          <a:xfrm>
            <a:off x="2205319" y="6401836"/>
            <a:ext cx="6583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*for now, we are omitting stopping probabilities for clarity</a:t>
            </a:r>
          </a:p>
        </p:txBody>
      </p:sp>
    </p:spTree>
    <p:extLst>
      <p:ext uri="{BB962C8B-B14F-4D97-AF65-F5344CB8AC3E}">
        <p14:creationId xmlns:p14="http://schemas.microsoft.com/office/powerpoint/2010/main" val="1331602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Important: Stopping Probabilities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A291F3A0-B8DE-4546-A7E5-9DFE890C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90" y="1063548"/>
            <a:ext cx="5690228" cy="1070439"/>
          </a:xfrm>
          <a:prstGeom prst="rect">
            <a:avLst/>
          </a:prstGeom>
        </p:spPr>
      </p:pic>
      <p:sp>
        <p:nvSpPr>
          <p:cNvPr id="31" name="Down Arrow 30">
            <a:extLst>
              <a:ext uri="{FF2B5EF4-FFF2-40B4-BE49-F238E27FC236}">
                <a16:creationId xmlns:a16="http://schemas.microsoft.com/office/drawing/2014/main" xmlns="" id="{5AF2581D-F973-0B47-98B0-2133B327EE0B}"/>
              </a:ext>
            </a:extLst>
          </p:cNvPr>
          <p:cNvSpPr/>
          <p:nvPr/>
        </p:nvSpPr>
        <p:spPr>
          <a:xfrm>
            <a:off x="1582913" y="2335408"/>
            <a:ext cx="399336" cy="69815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FA2875B-7E5D-6A42-A70D-D0C3C7780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90" y="2872923"/>
            <a:ext cx="8775166" cy="117053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CC85747-77EB-4D48-A14E-8824965F93D2}"/>
              </a:ext>
            </a:extLst>
          </p:cNvPr>
          <p:cNvSpPr txBox="1"/>
          <p:nvPr/>
        </p:nvSpPr>
        <p:spPr>
          <a:xfrm>
            <a:off x="3889672" y="4349281"/>
            <a:ext cx="2000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We also assume: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E9E29D0-C421-7E4F-A02E-6E408FD69B3B}"/>
              </a:ext>
            </a:extLst>
          </p:cNvPr>
          <p:cNvSpPr txBox="1"/>
          <p:nvPr/>
        </p:nvSpPr>
        <p:spPr>
          <a:xfrm>
            <a:off x="1352392" y="4648543"/>
            <a:ext cx="2059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/>
                <a:cs typeface="Calibri"/>
              </a:rPr>
              <a:t>special</a:t>
            </a:r>
          </a:p>
          <a:p>
            <a:pPr algn="ctr"/>
            <a:r>
              <a:rPr lang="en-US" sz="2000" dirty="0">
                <a:latin typeface="Calibri"/>
                <a:cs typeface="Calibri"/>
              </a:rPr>
              <a:t>end-of-sequence</a:t>
            </a:r>
          </a:p>
          <a:p>
            <a:pPr algn="ctr"/>
            <a:r>
              <a:rPr lang="en-US" sz="2000" dirty="0">
                <a:latin typeface="Calibri"/>
                <a:cs typeface="Calibri"/>
              </a:rPr>
              <a:t>label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666D1D31-654B-4045-A00A-CDD2B10F96AF}"/>
              </a:ext>
            </a:extLst>
          </p:cNvPr>
          <p:cNvCxnSpPr>
            <a:cxnSpLocks/>
          </p:cNvCxnSpPr>
          <p:nvPr/>
        </p:nvCxnSpPr>
        <p:spPr bwMode="auto">
          <a:xfrm flipV="1">
            <a:off x="2451207" y="3735103"/>
            <a:ext cx="633388" cy="84586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70C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CA66207-E051-5740-B25A-1CF29C861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87" y="4443127"/>
            <a:ext cx="1317037" cy="24611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5355B95-FAD8-5044-AC25-E498D151D9C4}"/>
              </a:ext>
            </a:extLst>
          </p:cNvPr>
          <p:cNvSpPr txBox="1"/>
          <p:nvPr/>
        </p:nvSpPr>
        <p:spPr>
          <a:xfrm>
            <a:off x="6310646" y="5294299"/>
            <a:ext cx="23005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/>
                <a:cs typeface="Calibri"/>
              </a:rPr>
              <a:t>special</a:t>
            </a:r>
          </a:p>
          <a:p>
            <a:pPr algn="ctr"/>
            <a:r>
              <a:rPr lang="en-US" sz="2000" dirty="0">
                <a:latin typeface="Calibri"/>
                <a:cs typeface="Calibri"/>
              </a:rPr>
              <a:t>start-of-sequence</a:t>
            </a:r>
          </a:p>
          <a:p>
            <a:pPr algn="ctr"/>
            <a:r>
              <a:rPr lang="en-US" sz="2000" dirty="0">
                <a:latin typeface="Calibri"/>
                <a:cs typeface="Calibri"/>
              </a:rPr>
              <a:t>label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69235003-23CD-854C-8619-EDF68689AFE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958007" y="4707004"/>
            <a:ext cx="341825" cy="58729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70C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0C6E458-FC26-EC4D-AF55-7715F6637D30}"/>
              </a:ext>
            </a:extLst>
          </p:cNvPr>
          <p:cNvSpPr txBox="1"/>
          <p:nvPr/>
        </p:nvSpPr>
        <p:spPr>
          <a:xfrm>
            <a:off x="1446215" y="5853766"/>
            <a:ext cx="4886914" cy="83099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lIns="365760" tIns="137160" rIns="365760" bIns="137160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why does this matter?</a:t>
            </a:r>
          </a:p>
        </p:txBody>
      </p:sp>
    </p:spTree>
    <p:extLst>
      <p:ext uri="{BB962C8B-B14F-4D97-AF65-F5344CB8AC3E}">
        <p14:creationId xmlns:p14="http://schemas.microsoft.com/office/powerpoint/2010/main" val="4095858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  <p:bldP spid="34" grpId="0"/>
      <p:bldP spid="61" grpId="0"/>
      <p:bldP spid="6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0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Parts Function for an HMM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3744"/>
            <a:ext cx="8229600" cy="4496654"/>
          </a:xfrm>
        </p:spPr>
        <p:txBody>
          <a:bodyPr/>
          <a:lstStyle/>
          <a:p>
            <a:r>
              <a:rPr lang="en-US" dirty="0"/>
              <a:t>for a bigram HMM: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word-label pair forms a part, and each label bigram forms a part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708176"/>
            <a:ext cx="637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91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in HMMs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924435"/>
            <a:ext cx="8229600" cy="3291948"/>
          </a:xfrm>
        </p:spPr>
        <p:txBody>
          <a:bodyPr>
            <a:normAutofit fontScale="92500"/>
          </a:bodyPr>
          <a:lstStyle/>
          <a:p>
            <a:r>
              <a:rPr lang="en-US" dirty="0"/>
              <a:t>since the output is a sequence, this argmax requires iterating over an exponentially-large set</a:t>
            </a:r>
          </a:p>
          <a:p>
            <a:r>
              <a:rPr lang="en-US" dirty="0"/>
              <a:t>we can use </a:t>
            </a:r>
            <a:r>
              <a:rPr lang="en-US" b="1" dirty="0">
                <a:solidFill>
                  <a:srgbClr val="288CD2"/>
                </a:solidFill>
              </a:rPr>
              <a:t>dynamic programming (DP)</a:t>
            </a:r>
            <a:r>
              <a:rPr lang="en-US" dirty="0"/>
              <a:t> to solve these problems exactly</a:t>
            </a:r>
          </a:p>
          <a:p>
            <a:r>
              <a:rPr lang="en-US" dirty="0"/>
              <a:t>for HMMs (and other sequence models), the algorithm for solving this is the </a:t>
            </a:r>
            <a:r>
              <a:rPr lang="en-US" b="1" dirty="0">
                <a:solidFill>
                  <a:srgbClr val="288CD2"/>
                </a:solidFill>
              </a:rPr>
              <a:t>Viterbi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D8359F4-65C6-8042-9838-6DF6F15A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4" y="1080753"/>
            <a:ext cx="8936531" cy="166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14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Programming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2160" cy="5052424"/>
          </a:xfrm>
        </p:spPr>
        <p:txBody>
          <a:bodyPr>
            <a:normAutofit/>
          </a:bodyPr>
          <a:lstStyle/>
          <a:p>
            <a:r>
              <a:rPr lang="en-US" sz="2800" dirty="0"/>
              <a:t>what is dynamic programming?</a:t>
            </a:r>
          </a:p>
          <a:p>
            <a:pPr lvl="1"/>
            <a:r>
              <a:rPr lang="en-US" sz="2400" dirty="0"/>
              <a:t>a family of algorithms that break problems into smaller pieces and reuse solutions for those pieces</a:t>
            </a:r>
          </a:p>
          <a:p>
            <a:pPr lvl="1"/>
            <a:r>
              <a:rPr lang="en-US" sz="2400" dirty="0"/>
              <a:t>only applicable when the problem has certain properties (</a:t>
            </a:r>
            <a:r>
              <a:rPr lang="en-US" sz="2400" b="1" dirty="0">
                <a:solidFill>
                  <a:srgbClr val="288CD2"/>
                </a:solidFill>
              </a:rPr>
              <a:t>optimal substructure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288CD2"/>
                </a:solidFill>
              </a:rPr>
              <a:t>overlapping sub-problems</a:t>
            </a:r>
            <a:r>
              <a:rPr lang="en-US" sz="24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we can often use DP to iterate over exponentially-large output spaces in polynomial time</a:t>
            </a:r>
          </a:p>
          <a:p>
            <a:r>
              <a:rPr lang="en-US" sz="2800" dirty="0"/>
              <a:t>we focus on a particular type of DP algorithm: </a:t>
            </a:r>
            <a:r>
              <a:rPr lang="en-US" sz="2800" b="1" dirty="0" err="1">
                <a:solidFill>
                  <a:srgbClr val="288CD2"/>
                </a:solidFill>
              </a:rPr>
              <a:t>memoization</a:t>
            </a:r>
            <a:endParaRPr lang="en-US" sz="2800" b="1" dirty="0">
              <a:solidFill>
                <a:srgbClr val="288CD2"/>
              </a:solidFill>
            </a:endParaRP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53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Feature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feature locality</a:t>
            </a:r>
            <a:r>
              <a:rPr lang="en-US" dirty="0"/>
              <a:t>: how big are the parts?</a:t>
            </a:r>
          </a:p>
          <a:p>
            <a:r>
              <a:rPr lang="en-US" dirty="0"/>
              <a:t>for efficient exact inference with DP, we need to be mindful of this</a:t>
            </a:r>
            <a:endParaRPr lang="en-US" b="1" dirty="0">
              <a:solidFill>
                <a:srgbClr val="288CD2"/>
              </a:solidFill>
            </a:endParaRPr>
          </a:p>
          <a:p>
            <a:r>
              <a:rPr lang="en-US" dirty="0"/>
              <a:t>parts can be arbitrarily big in terms of input, but not in terms of </a:t>
            </a:r>
            <a:r>
              <a:rPr lang="en-US" i="1" dirty="0"/>
              <a:t>output</a:t>
            </a:r>
            <a:r>
              <a:rPr lang="en-US" dirty="0"/>
              <a:t>!</a:t>
            </a:r>
          </a:p>
          <a:p>
            <a:r>
              <a:rPr lang="en-US" dirty="0"/>
              <a:t>HMM parts are small in both the input and output (only two pieces at a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5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/>
              <a:t>recursive equations + </a:t>
            </a:r>
            <a:r>
              <a:rPr lang="en-US" dirty="0" err="1"/>
              <a:t>memoization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8649"/>
          <a:stretch/>
        </p:blipFill>
        <p:spPr>
          <a:xfrm>
            <a:off x="1206500" y="2994660"/>
            <a:ext cx="6731000" cy="3886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942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>
                <a:solidFill>
                  <a:srgbClr val="288CD2"/>
                </a:solidFill>
              </a:rPr>
              <a:t>returns probability of sequence starting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for first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computes probability of max-probability label sequence that ends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at position </a:t>
            </a:r>
            <a:r>
              <a:rPr lang="en-US" sz="2000" i="1" dirty="0">
                <a:solidFill>
                  <a:srgbClr val="288CD2"/>
                </a:solidFill>
              </a:rPr>
              <a:t>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3556000"/>
            <a:ext cx="6731000" cy="528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F5E0C3A-BCBD-344E-9A96-316D5BB85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606" y="5803114"/>
            <a:ext cx="5074936" cy="46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920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Viterbi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space and time complexity?</a:t>
            </a:r>
          </a:p>
          <a:p>
            <a:r>
              <a:rPr lang="en-US" dirty="0"/>
              <a:t>can be read off from the recursive equations: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space complexity: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size of </a:t>
            </a:r>
            <a:r>
              <a:rPr lang="en-US" sz="2000" dirty="0" err="1">
                <a:solidFill>
                  <a:srgbClr val="288CD2"/>
                </a:solidFill>
              </a:rPr>
              <a:t>memoization</a:t>
            </a:r>
            <a:r>
              <a:rPr lang="en-US" sz="2000" dirty="0">
                <a:solidFill>
                  <a:srgbClr val="288CD2"/>
                </a:solidFill>
              </a:rPr>
              <a:t> table, which is # of unique indices of recursive equations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520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88CD2"/>
                </a:solidFill>
              </a:rPr>
              <a:t>so, space complexity is O(|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422340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Viterbi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space and </a:t>
            </a:r>
            <a:r>
              <a:rPr lang="en-US" b="1" dirty="0"/>
              <a:t>time </a:t>
            </a:r>
            <a:r>
              <a:rPr lang="en-US" dirty="0"/>
              <a:t>complexity?</a:t>
            </a:r>
          </a:p>
          <a:p>
            <a:r>
              <a:rPr lang="en-US" dirty="0"/>
              <a:t>can be read off from the recursive equations: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time complexity: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size of </a:t>
            </a:r>
            <a:r>
              <a:rPr lang="en-US" sz="2000" dirty="0" err="1">
                <a:solidFill>
                  <a:srgbClr val="288CD2"/>
                </a:solidFill>
              </a:rPr>
              <a:t>memoization</a:t>
            </a:r>
            <a:r>
              <a:rPr lang="en-US" sz="2000" dirty="0">
                <a:solidFill>
                  <a:srgbClr val="288CD2"/>
                </a:solidFill>
              </a:rPr>
              <a:t> table * complexity of computing each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691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88CD2"/>
                </a:solidFill>
              </a:rPr>
              <a:t>so, time complexity is O(|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|) = O(|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baseline="30000" dirty="0">
                <a:solidFill>
                  <a:srgbClr val="288CD2"/>
                </a:solidFill>
              </a:rPr>
              <a:t>2</a:t>
            </a:r>
            <a:r>
              <a:rPr lang="en-US" sz="2400" b="1" dirty="0">
                <a:solidFill>
                  <a:srgbClr val="288CD2"/>
                </a:solidFill>
              </a:rPr>
              <a:t>)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88CD2"/>
                </a:solidFill>
              </a:rPr>
              <a:t>*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3074664" y="3708836"/>
            <a:ext cx="1324616" cy="63858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3796024" y="2972434"/>
            <a:ext cx="3061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88CD2"/>
                </a:solidFill>
              </a:rPr>
              <a:t>each entry requires iterating through the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707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79398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1" grpId="0"/>
      <p:bldP spid="19" grpId="0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Sequence Models</a:t>
            </a:r>
            <a:br>
              <a:rPr lang="en-US" dirty="0"/>
            </a:br>
            <a:r>
              <a:rPr lang="en-US" sz="3100" dirty="0"/>
              <a:t>(with tag bigram features)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3373120" y="2670543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1510762" y="3203943"/>
            <a:ext cx="71760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score function for label bigram &lt;</a:t>
            </a:r>
            <a:r>
              <a:rPr lang="en-US" sz="3200" i="1" dirty="0"/>
              <a:t>y</a:t>
            </a:r>
            <a:r>
              <a:rPr lang="en-US" sz="3200" dirty="0"/>
              <a:t>’, </a:t>
            </a:r>
            <a:r>
              <a:rPr lang="en-US" sz="3200" i="1" dirty="0"/>
              <a:t>y</a:t>
            </a:r>
            <a:r>
              <a:rPr lang="en-US" sz="3200" dirty="0"/>
              <a:t>&gt; ending at position </a:t>
            </a:r>
            <a:r>
              <a:rPr lang="en-US" sz="3200" i="1" dirty="0"/>
              <a:t>m</a:t>
            </a:r>
            <a:r>
              <a:rPr lang="en-US" sz="3200" dirty="0"/>
              <a:t> in </a:t>
            </a:r>
            <a:r>
              <a:rPr lang="en-US" sz="3200" b="1" i="1" dirty="0"/>
              <a:t>x</a:t>
            </a:r>
          </a:p>
          <a:p>
            <a:endParaRPr lang="en-US" sz="3200" b="1" i="1" dirty="0"/>
          </a:p>
          <a:p>
            <a:r>
              <a:rPr lang="en-US" sz="3200" dirty="0"/>
              <a:t>could be anything!</a:t>
            </a:r>
          </a:p>
          <a:p>
            <a:r>
              <a:rPr lang="en-US" sz="3200" dirty="0"/>
              <a:t>linear model, feed-forward network, LSTM,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88EAA67-2FB0-5F4E-B23E-13425BEB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1808853"/>
            <a:ext cx="73787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86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73151</TotalTime>
  <Words>6353</Words>
  <Application>Microsoft Macintosh PowerPoint</Application>
  <PresentationFormat>On-screen Show (4:3)</PresentationFormat>
  <Paragraphs>688</Paragraphs>
  <Slides>65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TTIC 31210: Advanced Natural Language Processing</vt:lpstr>
      <vt:lpstr>Roadmap</vt:lpstr>
      <vt:lpstr>Assignments</vt:lpstr>
      <vt:lpstr>Modeling, Inference, Learning</vt:lpstr>
      <vt:lpstr>What is Structured Prediction?</vt:lpstr>
      <vt:lpstr>Structured Prediction</vt:lpstr>
      <vt:lpstr>Sequence Labeling (e.g., Part-of-Speech Tagging)</vt:lpstr>
      <vt:lpstr>PowerPoint Presentation</vt:lpstr>
      <vt:lpstr>PowerPoint Presentation</vt:lpstr>
      <vt:lpstr>Parts and Score Functions</vt:lpstr>
      <vt:lpstr>Structured Prediction Tasks</vt:lpstr>
      <vt:lpstr>Structured Prediction Tasks</vt:lpstr>
      <vt:lpstr>Feed-Forward POS Tagger</vt:lpstr>
      <vt:lpstr>Feed-Forward POS Tagger</vt:lpstr>
      <vt:lpstr>Forward RNN for Part-of-Speech Tagging</vt:lpstr>
      <vt:lpstr>Forward RNN for Part-of-Speech Tagging</vt:lpstr>
      <vt:lpstr>Forward RNN for Part-of-Speech Tagging</vt:lpstr>
      <vt:lpstr>Forward RNN for Part-of-Speech Tagging with Previous Label</vt:lpstr>
      <vt:lpstr>Forward RNN for Part-of-Speech Tagging with Previous Label</vt:lpstr>
      <vt:lpstr>Forward RNN for Part-of-Speech Tagging with Previous Label</vt:lpstr>
      <vt:lpstr>Forward RNN for Part-of-Speech Tagging with Previous Label</vt:lpstr>
      <vt:lpstr>Forward RNN for Part-of-Speech Tagging with Previous Label</vt:lpstr>
      <vt:lpstr>Structured Prediction Tasks</vt:lpstr>
      <vt:lpstr>Structured Prediction Tasks</vt:lpstr>
      <vt:lpstr>Named Entity Recognition</vt:lpstr>
      <vt:lpstr>Labeled Segmentation as Sequence Labeling</vt:lpstr>
      <vt:lpstr>Structured Prediction Tasks</vt:lpstr>
      <vt:lpstr>Structured Prediction Tasks</vt:lpstr>
      <vt:lpstr>Dependency Trees</vt:lpstr>
      <vt:lpstr>Labeled Dependency Trees</vt:lpstr>
      <vt:lpstr>PowerPoint Presentation</vt:lpstr>
      <vt:lpstr>Dependency Parsing</vt:lpstr>
      <vt:lpstr>Applications of Dependency Parsing</vt:lpstr>
      <vt:lpstr>PowerPoint Presentation</vt:lpstr>
      <vt:lpstr>Unstructured Predictors for Dependency Parsing</vt:lpstr>
      <vt:lpstr>Structured Prediction Tasks</vt:lpstr>
      <vt:lpstr>Structured Prediction Tasks</vt:lpstr>
      <vt:lpstr>Conditional Generation</vt:lpstr>
      <vt:lpstr>Unstructured Predictors for Machine Translation</vt:lpstr>
      <vt:lpstr>Sequence-to-Sequence Models with Attention</vt:lpstr>
      <vt:lpstr>Structured Prediction Tasks</vt:lpstr>
      <vt:lpstr>Other Tasks?</vt:lpstr>
      <vt:lpstr>Constituency Parsing</vt:lpstr>
      <vt:lpstr>Semantic Role Labeling</vt:lpstr>
      <vt:lpstr>Other Tasks?</vt:lpstr>
      <vt:lpstr>Sequence-to-Sequence Models with Attention</vt:lpstr>
      <vt:lpstr>Formulating Constituency Parsing as Conditional Generation</vt:lpstr>
      <vt:lpstr>Formulating Constituency Parsing as Conditional Generation</vt:lpstr>
      <vt:lpstr>PowerPoint Presentation</vt:lpstr>
      <vt:lpstr>Modeling, Inference, Learning</vt:lpstr>
      <vt:lpstr>Inference with Structured Predictors</vt:lpstr>
      <vt:lpstr>Hidden Markov Models</vt:lpstr>
      <vt:lpstr>Hidden Markov Models</vt:lpstr>
      <vt:lpstr>Random Variables for Sequence Labeling</vt:lpstr>
      <vt:lpstr>Conditional Independence Assumptions of HMMs</vt:lpstr>
      <vt:lpstr>HMMs</vt:lpstr>
      <vt:lpstr>Important: Stopping Probabilities</vt:lpstr>
      <vt:lpstr>Parts Function for an HMM</vt:lpstr>
      <vt:lpstr>Inference in HMMs</vt:lpstr>
      <vt:lpstr>Dynamic Programming (DP)</vt:lpstr>
      <vt:lpstr>Feature Locality</vt:lpstr>
      <vt:lpstr>Viterbi Algorithm for HMMs</vt:lpstr>
      <vt:lpstr>Viterbi Algorithm</vt:lpstr>
      <vt:lpstr>Viterbi Algorithm</vt:lpstr>
      <vt:lpstr>Viterbi Algorithm for Sequence Models (with tag bigram features)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1187</cp:revision>
  <dcterms:created xsi:type="dcterms:W3CDTF">2015-08-31T18:15:35Z</dcterms:created>
  <dcterms:modified xsi:type="dcterms:W3CDTF">2019-04-24T20:03:37Z</dcterms:modified>
</cp:coreProperties>
</file>