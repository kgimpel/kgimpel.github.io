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handoutMasterIdLst>
    <p:handoutMasterId r:id="rId91"/>
  </p:handoutMasterIdLst>
  <p:sldIdLst>
    <p:sldId id="256" r:id="rId2"/>
    <p:sldId id="3979" r:id="rId3"/>
    <p:sldId id="3181" r:id="rId4"/>
    <p:sldId id="4063" r:id="rId5"/>
    <p:sldId id="3908" r:id="rId6"/>
    <p:sldId id="3945" r:id="rId7"/>
    <p:sldId id="3946" r:id="rId8"/>
    <p:sldId id="3947" r:id="rId9"/>
    <p:sldId id="3948" r:id="rId10"/>
    <p:sldId id="3949" r:id="rId11"/>
    <p:sldId id="3950" r:id="rId12"/>
    <p:sldId id="3951" r:id="rId13"/>
    <p:sldId id="3952" r:id="rId14"/>
    <p:sldId id="3953" r:id="rId15"/>
    <p:sldId id="3954" r:id="rId16"/>
    <p:sldId id="3955" r:id="rId17"/>
    <p:sldId id="3956" r:id="rId18"/>
    <p:sldId id="3957" r:id="rId19"/>
    <p:sldId id="3958" r:id="rId20"/>
    <p:sldId id="3959" r:id="rId21"/>
    <p:sldId id="3960" r:id="rId22"/>
    <p:sldId id="3961" r:id="rId23"/>
    <p:sldId id="4043" r:id="rId24"/>
    <p:sldId id="3962" r:id="rId25"/>
    <p:sldId id="3963" r:id="rId26"/>
    <p:sldId id="4041" r:id="rId27"/>
    <p:sldId id="4042" r:id="rId28"/>
    <p:sldId id="4044" r:id="rId29"/>
    <p:sldId id="3982" r:id="rId30"/>
    <p:sldId id="3985" r:id="rId31"/>
    <p:sldId id="3983" r:id="rId32"/>
    <p:sldId id="3989" r:id="rId33"/>
    <p:sldId id="3986" r:id="rId34"/>
    <p:sldId id="3988" r:id="rId35"/>
    <p:sldId id="3987" r:id="rId36"/>
    <p:sldId id="3984" r:id="rId37"/>
    <p:sldId id="3990" r:id="rId38"/>
    <p:sldId id="3991" r:id="rId39"/>
    <p:sldId id="3992" r:id="rId40"/>
    <p:sldId id="3993" r:id="rId41"/>
    <p:sldId id="3994" r:id="rId42"/>
    <p:sldId id="3995" r:id="rId43"/>
    <p:sldId id="3996" r:id="rId44"/>
    <p:sldId id="3997" r:id="rId45"/>
    <p:sldId id="3998" r:id="rId46"/>
    <p:sldId id="3999" r:id="rId47"/>
    <p:sldId id="4000" r:id="rId48"/>
    <p:sldId id="4001" r:id="rId49"/>
    <p:sldId id="4017" r:id="rId50"/>
    <p:sldId id="3964" r:id="rId51"/>
    <p:sldId id="4076" r:id="rId52"/>
    <p:sldId id="3980" r:id="rId53"/>
    <p:sldId id="4067" r:id="rId54"/>
    <p:sldId id="3968" r:id="rId55"/>
    <p:sldId id="4024" r:id="rId56"/>
    <p:sldId id="4025" r:id="rId57"/>
    <p:sldId id="4069" r:id="rId58"/>
    <p:sldId id="4026" r:id="rId59"/>
    <p:sldId id="4027" r:id="rId60"/>
    <p:sldId id="4066" r:id="rId61"/>
    <p:sldId id="4074" r:id="rId62"/>
    <p:sldId id="4075" r:id="rId63"/>
    <p:sldId id="4032" r:id="rId64"/>
    <p:sldId id="4070" r:id="rId65"/>
    <p:sldId id="4073" r:id="rId66"/>
    <p:sldId id="4077" r:id="rId67"/>
    <p:sldId id="4031" r:id="rId68"/>
    <p:sldId id="4055" r:id="rId69"/>
    <p:sldId id="4034" r:id="rId70"/>
    <p:sldId id="4080" r:id="rId71"/>
    <p:sldId id="4037" r:id="rId72"/>
    <p:sldId id="4064" r:id="rId73"/>
    <p:sldId id="4045" r:id="rId74"/>
    <p:sldId id="3965" r:id="rId75"/>
    <p:sldId id="4047" r:id="rId76"/>
    <p:sldId id="4048" r:id="rId77"/>
    <p:sldId id="4050" r:id="rId78"/>
    <p:sldId id="4056" r:id="rId79"/>
    <p:sldId id="4059" r:id="rId80"/>
    <p:sldId id="4061" r:id="rId81"/>
    <p:sldId id="4060" r:id="rId82"/>
    <p:sldId id="4058" r:id="rId83"/>
    <p:sldId id="4082" r:id="rId84"/>
    <p:sldId id="4062" r:id="rId85"/>
    <p:sldId id="4051" r:id="rId86"/>
    <p:sldId id="4052" r:id="rId87"/>
    <p:sldId id="4053" r:id="rId88"/>
    <p:sldId id="4081" r:id="rId8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7EA3CE"/>
    <a:srgbClr val="BC0000"/>
    <a:srgbClr val="EB5151"/>
    <a:srgbClr val="FFE6E6"/>
    <a:srgbClr val="FFC2C2"/>
    <a:srgbClr val="FF8C8C"/>
    <a:srgbClr val="F76A6A"/>
    <a:srgbClr val="EB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3" autoAdjust="0"/>
    <p:restoredTop sz="86203" autoAdjust="0"/>
  </p:normalViewPr>
  <p:slideViewPr>
    <p:cSldViewPr snapToGrid="0" snapToObjects="1">
      <p:cViewPr varScale="1">
        <p:scale>
          <a:sx n="69" d="100"/>
          <a:sy n="69" d="100"/>
        </p:scale>
        <p:origin x="-251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notesMaster" Target="notesMasters/notesMaster1.xml"/><Relationship Id="rId91" Type="http://schemas.openxmlformats.org/officeDocument/2006/relationships/handoutMaster" Target="handoutMasters/handoutMaster1.xml"/><Relationship Id="rId92" Type="http://schemas.openxmlformats.org/officeDocument/2006/relationships/printerSettings" Target="printerSettings/printerSettings1.bin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5/29/19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5/29/19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76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anlp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CRP priors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%p(Y^{(2)} = 1 \mid Y^{(1)}, s) = \frac{1}{1+s}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%p(Y^{(2)} = 2 \mid Y^{(1)}, s) = \frac{s}{1+s}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%p(Y^{(3)} = 1 \mid Y^{(1)}, Y^{(2)}, s) = \frac{2}{2+s}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%p(Y^{(3)} = 2 \mid Y^{(1)}, Y^{(2)}, s) = \frac{s}{2+s}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%\frac{2}{3+s}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%\frac{1}{3+s}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%\frac{s}{3+s}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%&amp;\mbox{1: } y^{(1)},...,y^{(n)}\sim\mbox{CRP}(s)\\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{2: } \phi_1,...,\phi_{y_{\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{max}}}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G_0\\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{3: set each $\theta^{(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)}$ to $\phi_{y^{(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)}}$ for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\in\{1,...,n\}$}\\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%the distribution $G$ is defined as:}\\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%G(\theta) = \sum_{k=1}^{\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infty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beta_k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{I}[\theta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%G(\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''}) = \sum_{k=1}^{\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infty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beta_k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{I}[\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''}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%y_{\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{max}}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\, y^{(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19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}, G_0, s)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G) \,p(G\mid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}, G_0, s) \,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dG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5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}, G_0, s)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G) \,p(G\mid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}, G_0, s) \,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dG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\theta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}, G_0, s)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{1}{i-1 + s}\sum_{j=1}^{i-1}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{I}[\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\theta]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{s}{i-1+s}G_0(\theta)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5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}, G_0, s)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G) \,p(G\mid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}, G_0, s) \,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dG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\theta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}, G_0, s)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{1}{i-1 + s}\sum_{j=1}^{i-1}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{I}[\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\theta] +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{s}{i-1+s}G_0(\theta)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\theta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}, G_0, s)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{n_{\theta}^{(\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})} + sG_0(\theta)}{i-1 + s}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5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7B2D0B-6932-438F-B028-C12CB6C35BD7}" type="slidenum">
              <a:rPr lang="en-US"/>
              <a:pPr/>
              <a:t>37</a:t>
            </a:fld>
            <a:endParaRPr lang="en-US"/>
          </a:p>
        </p:txBody>
      </p:sp>
      <p:sp>
        <p:nvSpPr>
          <p:cNvPr id="1250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0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034F13-18DC-4042-8216-4913E02EE2A1}" type="slidenum">
              <a:rPr lang="en-US"/>
              <a:pPr/>
              <a:t>38</a:t>
            </a:fld>
            <a:endParaRPr lang="en-US"/>
          </a:p>
        </p:txBody>
      </p:sp>
      <p:sp>
        <p:nvSpPr>
          <p:cNvPr id="1252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2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F821D9-E8E1-404C-90C6-94162B0DB22A}" type="slidenum">
              <a:rPr lang="en-US"/>
              <a:pPr/>
              <a:t>39</a:t>
            </a:fld>
            <a:endParaRPr lang="en-US"/>
          </a:p>
        </p:txBody>
      </p:sp>
      <p:sp>
        <p:nvSpPr>
          <p:cNvPr id="1254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4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B549BA-E189-4842-BBC7-B5DC91DD5FF5}" type="slidenum">
              <a:rPr lang="en-US"/>
              <a:pPr/>
              <a:t>40</a:t>
            </a:fld>
            <a:endParaRPr lang="en-US"/>
          </a:p>
        </p:txBody>
      </p:sp>
      <p:sp>
        <p:nvSpPr>
          <p:cNvPr id="1266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word position, we sample a color uniformly.</a:t>
            </a:r>
          </a:p>
          <a:p>
            <a:r>
              <a:rPr lang="en-US"/>
              <a:t>If we don’t use all m colors, we redo this step until we do.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55D6BF-F534-4C4E-A9E1-E4805EB36344}" type="slidenum">
              <a:rPr lang="en-US"/>
              <a:pPr/>
              <a:t>41</a:t>
            </a:fld>
            <a:endParaRPr lang="en-US"/>
          </a:p>
        </p:txBody>
      </p:sp>
      <p:sp>
        <p:nvSpPr>
          <p:cNvPr id="1278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8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through each color and generate a pattern.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CC2C40-8391-4B6F-8608-5B3E1DA77520}" type="slidenum">
              <a:rPr lang="en-US"/>
              <a:pPr/>
              <a:t>42</a:t>
            </a:fld>
            <a:endParaRPr lang="en-US"/>
          </a:p>
        </p:txBody>
      </p:sp>
      <p:sp>
        <p:nvSpPr>
          <p:cNvPr id="131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through each color and generate a pattern.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BEA860-0CC3-4E5F-9812-62B2636E5FA7}" type="slidenum">
              <a:rPr lang="en-US"/>
              <a:pPr/>
              <a:t>43</a:t>
            </a:fld>
            <a:endParaRPr lang="en-US"/>
          </a:p>
        </p:txBody>
      </p:sp>
      <p:sp>
        <p:nvSpPr>
          <p:cNvPr id="128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through each color and generate a pattern.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7BA5C8-DE04-4E3F-84D0-9C8A5EC1346B}" type="slidenum">
              <a:rPr lang="en-US"/>
              <a:pPr/>
              <a:t>44</a:t>
            </a:fld>
            <a:endParaRPr lang="en-US"/>
          </a:p>
        </p:txBody>
      </p:sp>
      <p:sp>
        <p:nvSpPr>
          <p:cNvPr id="1268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8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the pattern doesn’t fit the format of the color, throw it out and sample a new pattern for that color.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AA2EF4-2BF7-48BB-BD4D-1D9267EDA9AC}" type="slidenum">
              <a:rPr lang="en-US"/>
              <a:pPr/>
              <a:t>45</a:t>
            </a:fld>
            <a:endParaRPr lang="en-US"/>
          </a:p>
        </p:txBody>
      </p:sp>
      <p:sp>
        <p:nvSpPr>
          <p:cNvPr id="129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CD2C3E-5F62-4DE5-9C55-B881A18B8155}" type="slidenum">
              <a:rPr lang="en-US"/>
              <a:pPr/>
              <a:t>46</a:t>
            </a:fld>
            <a:endParaRPr lang="en-US"/>
          </a:p>
        </p:txBody>
      </p:sp>
      <p:sp>
        <p:nvSpPr>
          <p:cNvPr id="1272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2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EAF547-44C1-4123-8EE0-DE219BBA8E2A}" type="slidenum">
              <a:rPr lang="en-US"/>
              <a:pPr/>
              <a:t>47</a:t>
            </a:fld>
            <a:endParaRPr lang="en-US"/>
          </a:p>
        </p:txBody>
      </p:sp>
      <p:sp>
        <p:nvSpPr>
          <p:cNvPr id="127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F6493F-9477-4913-B8A6-868BE39C79BA}" type="slidenum">
              <a:rPr lang="en-US"/>
              <a:pPr/>
              <a:t>48</a:t>
            </a:fld>
            <a:endParaRPr lang="en-US"/>
          </a:p>
        </p:txBody>
      </p:sp>
      <p:sp>
        <p:nvSpPr>
          <p:cNvPr id="1270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841A5B-0571-4922-8B5E-0258857EB04A}" type="slidenum">
              <a:rPr lang="en-US"/>
              <a:pPr/>
              <a:t>49</a:t>
            </a:fld>
            <a:endParaRPr lang="en-US"/>
          </a:p>
        </p:txBody>
      </p:sp>
      <p:sp>
        <p:nvSpPr>
          <p:cNvPr id="1207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dirty="0"/>
              <a:t>Only </a:t>
            </a:r>
            <a:r>
              <a:rPr lang="en-US" dirty="0" err="1"/>
              <a:t>gappy</a:t>
            </a:r>
            <a:r>
              <a:rPr lang="en-US" dirty="0"/>
              <a:t> patterns are shown here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5/29/19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5/29/19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5/29/19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5/29/19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5/29/19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5/29/19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5/29/19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5/29/19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5/29/19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5/29/19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5/29/19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5/29/19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3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3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4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4" Type="http://schemas.openxmlformats.org/officeDocument/2006/relationships/image" Target="../media/image20.emf"/><Relationship Id="rId5" Type="http://schemas.openxmlformats.org/officeDocument/2006/relationships/image" Target="../media/image21.emf"/><Relationship Id="rId6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TTIC 31210:</a:t>
            </a:r>
            <a:br>
              <a:rPr lang="en-US" dirty="0"/>
            </a:br>
            <a:r>
              <a:rPr lang="en-US" sz="4000" dirty="0"/>
              <a:t>Advanced 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5" y="1993899"/>
            <a:ext cx="8555274" cy="41810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2019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16:</a:t>
            </a:r>
          </a:p>
          <a:p>
            <a:r>
              <a:rPr lang="en-US" sz="4000" dirty="0">
                <a:solidFill>
                  <a:schemeClr val="tx1"/>
                </a:solidFill>
              </a:rPr>
              <a:t>Finish Bayesian </a:t>
            </a:r>
            <a:r>
              <a:rPr lang="en-US" sz="4000" dirty="0" err="1">
                <a:solidFill>
                  <a:schemeClr val="tx1"/>
                </a:solidFill>
              </a:rPr>
              <a:t>Nonparametrics</a:t>
            </a:r>
            <a:r>
              <a:rPr lang="en-US" sz="4000" dirty="0">
                <a:solidFill>
                  <a:schemeClr val="tx1"/>
                </a:solidFill>
              </a:rPr>
              <a:t>;</a:t>
            </a:r>
          </a:p>
          <a:p>
            <a:r>
              <a:rPr lang="en-US" sz="4000" dirty="0">
                <a:solidFill>
                  <a:schemeClr val="tx1"/>
                </a:solidFill>
              </a:rPr>
              <a:t>Research Advice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0"/>
            <a:ext cx="8567390" cy="5334029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intro (1 lecture)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deep learning for NLP (5 lectures)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structured prediction (4.5 lectures)</a:t>
            </a:r>
          </a:p>
          <a:p>
            <a:r>
              <a:rPr lang="en-US" sz="2400" dirty="0">
                <a:solidFill>
                  <a:srgbClr val="A6A6A6"/>
                </a:solidFill>
              </a:rPr>
              <a:t>generative models, latent variables, unsupervised learning, variational </a:t>
            </a:r>
            <a:r>
              <a:rPr lang="en-US" sz="2400" dirty="0" err="1">
                <a:solidFill>
                  <a:srgbClr val="A6A6A6"/>
                </a:solidFill>
              </a:rPr>
              <a:t>autoencoders</a:t>
            </a:r>
            <a:r>
              <a:rPr lang="en-US" sz="2400" dirty="0">
                <a:solidFill>
                  <a:srgbClr val="A6A6A6"/>
                </a:solidFill>
              </a:rPr>
              <a:t> (1.5 lectures)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Bayesian methods in NLP (2 lectures)</a:t>
            </a:r>
          </a:p>
          <a:p>
            <a:r>
              <a:rPr lang="en-US" sz="2400" b="1" dirty="0"/>
              <a:t>Bayesian </a:t>
            </a:r>
            <a:r>
              <a:rPr lang="en-US" sz="2400" b="1" dirty="0" err="1"/>
              <a:t>nonparametrics</a:t>
            </a:r>
            <a:r>
              <a:rPr lang="en-US" sz="2400" b="1" dirty="0"/>
              <a:t> in NLP (1.5 lectures)</a:t>
            </a:r>
          </a:p>
          <a:p>
            <a:r>
              <a:rPr lang="en-US" sz="2400" dirty="0"/>
              <a:t>research advice (0.5 lectures)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794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40" y="1073740"/>
            <a:ext cx="8765747" cy="5052424"/>
          </a:xfrm>
        </p:spPr>
        <p:txBody>
          <a:bodyPr/>
          <a:lstStyle/>
          <a:p>
            <a:r>
              <a:rPr lang="en-US" dirty="0"/>
              <a:t>questions about Assignment 4?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870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 me know before your grading deadline if you want to take this class pass/fail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Dirichlet</a:t>
            </a:r>
            <a:r>
              <a:rPr lang="en-US" dirty="0"/>
              <a:t> Process (DP)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“distribution over distributions”</a:t>
            </a:r>
          </a:p>
          <a:p>
            <a:endParaRPr lang="en-US" dirty="0"/>
          </a:p>
          <a:p>
            <a:r>
              <a:rPr lang="en-US" dirty="0"/>
              <a:t>unlike Dirichlet distribution, DP does not require pre-specifying number of components   (“nonparametric”)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116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Views of the Dirichlet Process (DP)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06" y="1073740"/>
            <a:ext cx="8839200" cy="5052424"/>
          </a:xfrm>
        </p:spPr>
        <p:txBody>
          <a:bodyPr/>
          <a:lstStyle/>
          <a:p>
            <a:r>
              <a:rPr lang="en-US" dirty="0"/>
              <a:t>last week: the “stick-breaking” view</a:t>
            </a:r>
          </a:p>
          <a:p>
            <a:r>
              <a:rPr lang="en-US" dirty="0"/>
              <a:t>today we’ll discuss the “Chinese Restaurant Process” view</a:t>
            </a:r>
          </a:p>
          <a:p>
            <a:r>
              <a:rPr lang="en-US" dirty="0"/>
              <a:t>with both, we have the same DP hyperparameters</a:t>
            </a:r>
          </a:p>
          <a:p>
            <a:pPr marL="0" indent="0">
              <a:buNone/>
            </a:pPr>
            <a:r>
              <a:rPr lang="en-US" dirty="0"/>
              <a:t>    (base distribution &amp; concentration parameter </a:t>
            </a:r>
            <a:r>
              <a:rPr lang="en-US" i="1" dirty="0"/>
              <a:t>s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552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Base Distribution       for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unbounded distribution over items will choose them from base distribution</a:t>
            </a:r>
          </a:p>
          <a:p>
            <a:r>
              <a:rPr lang="en-US" dirty="0"/>
              <a:t>base distribution usually has infinite support</a:t>
            </a:r>
          </a:p>
          <a:p>
            <a:r>
              <a:rPr lang="en-US" dirty="0"/>
              <a:t>simple example base distribution for our morph lexicon: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973" y="396501"/>
            <a:ext cx="486183" cy="3961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4246564"/>
            <a:ext cx="40513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165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Concentration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stick-breaking process, concentration parameter determines how much of the stick we break off each time</a:t>
            </a:r>
          </a:p>
          <a:p>
            <a:r>
              <a:rPr lang="en-US" dirty="0"/>
              <a:t>high concentration == small parts of stick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467414" y="3857144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467414" y="3810869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full stick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7413" y="4388300"/>
            <a:ext cx="5829961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375362" y="4388300"/>
            <a:ext cx="20847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67414" y="4986296"/>
            <a:ext cx="5562576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107978" y="4983833"/>
            <a:ext cx="267384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67414" y="5595432"/>
            <a:ext cx="5261769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796027" y="5595432"/>
            <a:ext cx="311951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392" y="4408117"/>
            <a:ext cx="266700" cy="292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872" y="5006113"/>
            <a:ext cx="2794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578" y="5615249"/>
            <a:ext cx="2794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688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stick-breaking construction is useful for specifying models and defining inference algorithms</a:t>
            </a:r>
          </a:p>
          <a:p>
            <a:r>
              <a:rPr lang="en-US" dirty="0"/>
              <a:t>another useful way of representing a draw from a DP is with the Chinese Restaurant Process (CRP)</a:t>
            </a:r>
          </a:p>
          <a:p>
            <a:pPr lvl="1"/>
            <a:r>
              <a:rPr lang="en-US" dirty="0"/>
              <a:t>CRP provides a distribution over partitions with an unbounded number of parts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196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8987"/>
            <a:ext cx="8229600" cy="5052424"/>
          </a:xfrm>
        </p:spPr>
        <p:txBody>
          <a:bodyPr/>
          <a:lstStyle/>
          <a:p>
            <a:r>
              <a:rPr lang="en-US" dirty="0"/>
              <a:t>imagine a Chinese restaurant with an infinite number of tables…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46439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5024"/>
            <a:ext cx="8229600" cy="5052424"/>
          </a:xfrm>
        </p:spPr>
        <p:txBody>
          <a:bodyPr/>
          <a:lstStyle/>
          <a:p>
            <a:r>
              <a:rPr lang="en-US" dirty="0"/>
              <a:t>first customer sits at first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83105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/>
              <a:t>second customer       enters, chooses a table:</a:t>
            </a:r>
          </a:p>
          <a:p>
            <a:endParaRPr lang="en-US" sz="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68667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376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/>
              <a:t>second customer       enters, </a:t>
            </a:r>
          </a:p>
          <a:p>
            <a:endParaRPr lang="en-US" sz="500" dirty="0"/>
          </a:p>
          <a:p>
            <a:pPr marL="0" indent="0">
              <a:buNone/>
            </a:pPr>
            <a:r>
              <a:rPr lang="en-US" dirty="0"/>
              <a:t>chooses table 1: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68667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83" y="810303"/>
            <a:ext cx="37465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616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/>
              <a:t>second customer       enters, </a:t>
            </a:r>
          </a:p>
          <a:p>
            <a:endParaRPr lang="en-US" sz="500" dirty="0"/>
          </a:p>
          <a:p>
            <a:pPr marL="0" indent="0">
              <a:buNone/>
            </a:pPr>
            <a:r>
              <a:rPr lang="en-US" dirty="0"/>
              <a:t>chooses table 1: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dirty="0"/>
              <a:t>chooses new table: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68667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83" y="810303"/>
            <a:ext cx="3746500" cy="660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543" y="1650429"/>
            <a:ext cx="37465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179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/>
              <a:t>second customer       enters, </a:t>
            </a:r>
          </a:p>
          <a:p>
            <a:endParaRPr lang="en-US" sz="500" dirty="0"/>
          </a:p>
          <a:p>
            <a:pPr marL="0" indent="0">
              <a:buNone/>
            </a:pPr>
            <a:r>
              <a:rPr lang="en-US" dirty="0"/>
              <a:t>chooses table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68667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18043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250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/>
              <a:t>third customer       enters, </a:t>
            </a:r>
          </a:p>
          <a:p>
            <a:endParaRPr lang="en-US" sz="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29132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18043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388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/>
              <a:t>third customer       enters, </a:t>
            </a:r>
          </a:p>
          <a:p>
            <a:endParaRPr lang="en-US" sz="500" dirty="0"/>
          </a:p>
          <a:p>
            <a:pPr marL="0" indent="0">
              <a:buNone/>
            </a:pPr>
            <a:r>
              <a:rPr lang="en-US" dirty="0"/>
              <a:t>chooses table 1: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dirty="0"/>
              <a:t>chooses new table: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29132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18043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424" y="810303"/>
            <a:ext cx="4445000" cy="6604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333" y="1663156"/>
            <a:ext cx="4445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442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/>
              <a:t>third customer       enters, </a:t>
            </a:r>
          </a:p>
          <a:p>
            <a:endParaRPr lang="en-US" sz="500" dirty="0"/>
          </a:p>
          <a:p>
            <a:pPr marL="0" indent="0">
              <a:buNone/>
            </a:pPr>
            <a:r>
              <a:rPr lang="en-US" dirty="0"/>
              <a:t>chooses new table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29132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18043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569093" y="2600057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721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/>
              <a:t>fourth customer       enters, </a:t>
            </a:r>
          </a:p>
          <a:p>
            <a:endParaRPr lang="en-US" sz="500" dirty="0"/>
          </a:p>
          <a:p>
            <a:pPr marL="0" indent="0">
              <a:buNone/>
            </a:pPr>
            <a:r>
              <a:rPr lang="en-US" dirty="0"/>
              <a:t>p(choose table 1):                p(choose table 2): 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dirty="0"/>
              <a:t>p(choose new table):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55462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18043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569093" y="2600057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313" y="810304"/>
            <a:ext cx="685800" cy="660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801" y="798324"/>
            <a:ext cx="685800" cy="6604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43" y="1663157"/>
            <a:ext cx="6858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408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241560" y="3851104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18043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569093" y="2600057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76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/>
              <a:t>large value of concentration parameter </a:t>
            </a:r>
            <a:r>
              <a:rPr lang="en-US" i="1" dirty="0"/>
              <a:t>s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1453533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1453533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1453533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1453533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1772374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1154031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2984285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2984285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2984285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2984285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636043" y="110610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1686479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569093" y="110610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426678" y="1154031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467414" y="3857144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467414" y="3810869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full stick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7413" y="4388300"/>
            <a:ext cx="5829961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375362" y="4388300"/>
            <a:ext cx="20847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467414" y="4986296"/>
            <a:ext cx="5562576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107978" y="4983833"/>
            <a:ext cx="267384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467414" y="5595432"/>
            <a:ext cx="5261769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796027" y="5595432"/>
            <a:ext cx="311951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392" y="4408117"/>
            <a:ext cx="266700" cy="2921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872" y="5006113"/>
            <a:ext cx="279400" cy="2921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578" y="5615249"/>
            <a:ext cx="2794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429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8" grpId="0" animBg="1"/>
      <p:bldP spid="20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/>
              <a:t>small value of concentration parameter </a:t>
            </a:r>
            <a:r>
              <a:rPr lang="en-US" i="1" dirty="0"/>
              <a:t>s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1424315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1424315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1424315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1424315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1743156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112481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2955067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2955067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2955067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2955067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74689" y="945108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1657261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65520" y="2327932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70828" y="2775362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644314" y="105292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272851" y="1436316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136121" y="969091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662787" y="1088887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470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8" grpId="0" animBg="1"/>
      <p:bldP spid="20" grpId="0" animBg="1"/>
      <p:bldP spid="22" grpId="0" animBg="1"/>
      <p:bldP spid="19" grpId="0" animBg="1"/>
      <p:bldP spid="21" grpId="0" animBg="1"/>
      <p:bldP spid="23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19" y="127186"/>
            <a:ext cx="8520957" cy="5052424"/>
          </a:xfrm>
        </p:spPr>
        <p:txBody>
          <a:bodyPr/>
          <a:lstStyle/>
          <a:p>
            <a:r>
              <a:rPr lang="en-US" dirty="0"/>
              <a:t>CRP gives us an unbounded set of probabilities</a:t>
            </a:r>
          </a:p>
          <a:p>
            <a:r>
              <a:rPr lang="en-US" dirty="0"/>
              <a:t>atoms (drawn from base distribution) are the “dish” eaten by all customers at the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3515150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3515150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3515150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3515150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833991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515084" y="3215648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5045902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5045902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latin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5045902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5045902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74689" y="303594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748096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65520" y="4418767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908563" y="3047401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644314" y="3143758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917786" y="296405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136121" y="3059926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662787" y="3179722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378758" y="3143758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63053" y="3867625"/>
            <a:ext cx="955310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solidFill>
                  <a:schemeClr val="bg1"/>
                </a:solidFill>
                <a:latin typeface="Calibri"/>
                <a:cs typeface="Calibri"/>
              </a:rPr>
              <a:t>walk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911570" y="3867625"/>
            <a:ext cx="799418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>
                <a:solidFill>
                  <a:schemeClr val="bg1"/>
                </a:solidFill>
                <a:latin typeface="Calibri"/>
                <a:cs typeface="Calibri"/>
              </a:rPr>
              <a:t>talk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4962417" y="3867625"/>
            <a:ext cx="604452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err="1">
                <a:solidFill>
                  <a:schemeClr val="bg1"/>
                </a:solidFill>
                <a:latin typeface="Calibri"/>
                <a:cs typeface="Calibri"/>
              </a:rPr>
              <a:t>ed</a:t>
            </a:r>
            <a:endParaRPr lang="en-US" sz="3200" i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6900142" y="3867625"/>
            <a:ext cx="687608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err="1">
                <a:solidFill>
                  <a:schemeClr val="bg1"/>
                </a:solidFill>
                <a:latin typeface="Calibri"/>
                <a:cs typeface="Calibri"/>
              </a:rPr>
              <a:t>ing</a:t>
            </a:r>
            <a:endParaRPr lang="en-US" sz="3200" i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7122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Draw G from a DP</a:t>
            </a:r>
            <a:br>
              <a:rPr lang="en-US" dirty="0"/>
            </a:br>
            <a:r>
              <a:rPr lang="en-US" sz="3600" dirty="0"/>
              <a:t>(Stick-Breaking Representation)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76" y="1975892"/>
            <a:ext cx="4533900" cy="116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76" y="3431660"/>
            <a:ext cx="2946400" cy="850900"/>
          </a:xfrm>
          <a:prstGeom prst="rect">
            <a:avLst/>
          </a:prstGeom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088758" y="1305573"/>
            <a:ext cx="43335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draw infinite probabilities from </a:t>
            </a:r>
          </a:p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stick-breaking </a:t>
            </a:r>
            <a:r>
              <a:rPr lang="en-US" sz="2000" dirty="0">
                <a:solidFill>
                  <a:srgbClr val="0062AC"/>
                </a:solidFill>
                <a:latin typeface="Calibri"/>
                <a:cs typeface="Calibri"/>
              </a:rPr>
              <a:t>process with parameter s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cxnSp>
        <p:nvCxnSpPr>
          <p:cNvPr id="8" name="Straight Arrow Connector 7"/>
          <p:cNvCxnSpPr>
            <a:stCxn id="7" idx="1"/>
          </p:cNvCxnSpPr>
          <p:nvPr/>
        </p:nvCxnSpPr>
        <p:spPr>
          <a:xfrm flipH="1">
            <a:off x="3066058" y="1659516"/>
            <a:ext cx="1022700" cy="468211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218459" y="2419071"/>
            <a:ext cx="1204530" cy="216610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444975" y="2159300"/>
            <a:ext cx="38000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draw atoms from base distribution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016478" y="2559410"/>
            <a:ext cx="2670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atoms can be repeated!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5113780"/>
            <a:ext cx="41148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467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91" y="2379744"/>
            <a:ext cx="5054600" cy="1358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191" y="171398"/>
            <a:ext cx="8530569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A Representation of </a:t>
            </a:r>
            <a:r>
              <a:rPr lang="en-US" i="1" dirty="0"/>
              <a:t>G</a:t>
            </a:r>
            <a:r>
              <a:rPr lang="en-US" dirty="0"/>
              <a:t> Drawn from a DP</a:t>
            </a:r>
            <a:br>
              <a:rPr lang="en-US" dirty="0"/>
            </a:br>
            <a:r>
              <a:rPr lang="en-US" sz="3600" dirty="0"/>
              <a:t>(Chinese Restaurant Process Representation)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454914" y="1805357"/>
            <a:ext cx="435084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draw table assignments for </a:t>
            </a:r>
            <a:r>
              <a:rPr lang="en-US" sz="2000" i="1" dirty="0">
                <a:solidFill>
                  <a:srgbClr val="0062AC"/>
                </a:solidFill>
                <a:latin typeface="Calibri"/>
                <a:cs typeface="Calibri"/>
              </a:rPr>
              <a:t>n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 customers </a:t>
            </a:r>
          </a:p>
          <a:p>
            <a:pPr eaLnBrk="1" hangingPunct="1"/>
            <a:r>
              <a:rPr lang="en-US" sz="2000" dirty="0">
                <a:solidFill>
                  <a:srgbClr val="0062AC"/>
                </a:solidFill>
                <a:latin typeface="Calibri"/>
                <a:cs typeface="Calibri"/>
              </a:rPr>
              <a:t>with parameter </a:t>
            </a:r>
            <a:r>
              <a:rPr lang="en-US" sz="2000" i="1" dirty="0">
                <a:solidFill>
                  <a:srgbClr val="0062AC"/>
                </a:solidFill>
                <a:latin typeface="Calibri"/>
                <a:cs typeface="Calibri"/>
              </a:rPr>
              <a:t>s</a:t>
            </a:r>
          </a:p>
        </p:txBody>
      </p:sp>
      <p:cxnSp>
        <p:nvCxnSpPr>
          <p:cNvPr id="8" name="Straight Arrow Connector 7"/>
          <p:cNvCxnSpPr>
            <a:stCxn id="7" idx="1"/>
          </p:cNvCxnSpPr>
          <p:nvPr/>
        </p:nvCxnSpPr>
        <p:spPr>
          <a:xfrm flipH="1">
            <a:off x="3608034" y="2159300"/>
            <a:ext cx="846880" cy="454549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005769" y="2842584"/>
            <a:ext cx="815962" cy="216610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821731" y="2565921"/>
            <a:ext cx="401020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for each occupied table, draw atom </a:t>
            </a:r>
          </a:p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from base distribution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260" y="3490994"/>
            <a:ext cx="2095500" cy="495300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H="1" flipV="1">
            <a:off x="7058741" y="3986295"/>
            <a:ext cx="533248" cy="434085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1"/>
          <p:cNvSpPr txBox="1">
            <a:spLocks noChangeArrowheads="1"/>
          </p:cNvSpPr>
          <p:nvPr/>
        </p:nvSpPr>
        <p:spPr bwMode="auto">
          <a:xfrm>
            <a:off x="6936621" y="4361749"/>
            <a:ext cx="186462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number of</a:t>
            </a:r>
          </a:p>
          <a:p>
            <a:pPr algn="ctr"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tables occupied</a:t>
            </a:r>
            <a:endParaRPr lang="en-US" sz="2000" i="1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591309" y="3912548"/>
            <a:ext cx="432349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each draw from </a:t>
            </a:r>
            <a:r>
              <a:rPr lang="en-US" sz="2000" i="1" dirty="0">
                <a:solidFill>
                  <a:srgbClr val="0062AC"/>
                </a:solidFill>
                <a:latin typeface="Calibri"/>
                <a:cs typeface="Calibri"/>
              </a:rPr>
              <a:t>G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 is an atom, where its </a:t>
            </a:r>
          </a:p>
          <a:p>
            <a:pPr eaLnBrk="1" hangingPunct="1"/>
            <a:r>
              <a:rPr lang="en-US" sz="2000" dirty="0">
                <a:solidFill>
                  <a:srgbClr val="0062AC"/>
                </a:solidFill>
                <a:latin typeface="Calibri"/>
                <a:cs typeface="Calibri"/>
              </a:rPr>
              <a:t>probability comes from the number of </a:t>
            </a:r>
          </a:p>
          <a:p>
            <a:pPr eaLnBrk="1" hangingPunct="1"/>
            <a:r>
              <a:rPr lang="en-US" sz="2000" dirty="0">
                <a:solidFill>
                  <a:srgbClr val="0062AC"/>
                </a:solidFill>
                <a:latin typeface="Calibri"/>
                <a:cs typeface="Calibri"/>
              </a:rPr>
              <a:t>customers at its table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6A6797CF-3A03-0D44-B23A-A769885BC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09" y="5221405"/>
            <a:ext cx="38080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this avoids directly drawing </a:t>
            </a:r>
            <a:r>
              <a:rPr lang="en-US" sz="2000" i="1" dirty="0">
                <a:solidFill>
                  <a:srgbClr val="0062AC"/>
                </a:solidFill>
                <a:latin typeface="Calibri"/>
                <a:cs typeface="Calibri"/>
              </a:rPr>
              <a:t>G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 itself</a:t>
            </a:r>
          </a:p>
        </p:txBody>
      </p:sp>
    </p:spTree>
    <p:extLst>
      <p:ext uri="{BB962C8B-B14F-4D97-AF65-F5344CB8AC3E}">
        <p14:creationId xmlns:p14="http://schemas.microsoft.com/office/powerpoint/2010/main" val="2561616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21" grpId="0"/>
      <p:bldP spid="2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06" y="1073740"/>
            <a:ext cx="8725988" cy="505242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CRP can be used to define predictive distribution of values from a DP without representing </a:t>
            </a:r>
            <a:r>
              <a:rPr lang="en-US" i="1" dirty="0"/>
              <a:t>G</a:t>
            </a:r>
            <a:r>
              <a:rPr lang="en-US" dirty="0"/>
              <a:t> explicitly: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given that we saw values of some data points, what’s the probability of seeing some value next? </a:t>
            </a:r>
          </a:p>
          <a:p>
            <a:r>
              <a:rPr lang="en-US" dirty="0"/>
              <a:t>e.g., if using a DP prior for modeling words, this is the probability of the next word conditioned on all previous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66883"/>
          <a:stretch/>
        </p:blipFill>
        <p:spPr>
          <a:xfrm>
            <a:off x="3317783" y="2914152"/>
            <a:ext cx="2208088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058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4" y="304800"/>
            <a:ext cx="8469086" cy="5821364"/>
          </a:xfrm>
        </p:spPr>
        <p:txBody>
          <a:bodyPr/>
          <a:lstStyle/>
          <a:p>
            <a:r>
              <a:rPr lang="en-US" dirty="0"/>
              <a:t>predictive distribution of values:</a:t>
            </a:r>
          </a:p>
          <a:p>
            <a:endParaRPr lang="en-US" dirty="0"/>
          </a:p>
          <a:p>
            <a:endParaRPr lang="en-US" sz="2400" dirty="0"/>
          </a:p>
          <a:p>
            <a:r>
              <a:rPr lang="en-US" dirty="0"/>
              <a:t>integrate out </a:t>
            </a:r>
            <a:r>
              <a:rPr lang="en-US" i="1" dirty="0"/>
              <a:t>G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under certain conditions (models typically used in NLP),  this yields the CRP representation: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2743200"/>
            <a:ext cx="6667500" cy="685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66883"/>
          <a:stretch/>
        </p:blipFill>
        <p:spPr>
          <a:xfrm>
            <a:off x="3317783" y="1025216"/>
            <a:ext cx="2208088" cy="685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5068435"/>
            <a:ext cx="82931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441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39" y="840646"/>
            <a:ext cx="8293100" cy="927100"/>
          </a:xfrm>
          <a:prstGeom prst="rect">
            <a:avLst/>
          </a:prstGeom>
        </p:spPr>
      </p:pic>
      <p:sp>
        <p:nvSpPr>
          <p:cNvPr id="9" name="Right Brace 8"/>
          <p:cNvSpPr/>
          <p:nvPr/>
        </p:nvSpPr>
        <p:spPr>
          <a:xfrm rot="5400000">
            <a:off x="4519051" y="429139"/>
            <a:ext cx="400425" cy="2917456"/>
          </a:xfrm>
          <a:prstGeom prst="rightBrace">
            <a:avLst>
              <a:gd name="adj1" fmla="val 62618"/>
              <a:gd name="adj2" fmla="val 50000"/>
            </a:avLst>
          </a:prstGeom>
          <a:ln w="3810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/>
          <p:cNvSpPr/>
          <p:nvPr/>
        </p:nvSpPr>
        <p:spPr>
          <a:xfrm rot="5400000">
            <a:off x="7307804" y="878183"/>
            <a:ext cx="400425" cy="2019369"/>
          </a:xfrm>
          <a:prstGeom prst="rightBrace">
            <a:avLst>
              <a:gd name="adj1" fmla="val 62618"/>
              <a:gd name="adj2" fmla="val 50000"/>
            </a:avLst>
          </a:prstGeom>
          <a:ln w="3810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029984" y="2160537"/>
            <a:ext cx="319143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probability of choosing some</a:t>
            </a:r>
          </a:p>
          <a:p>
            <a:pPr algn="ctr" eaLnBrk="1" hangingPunct="1"/>
            <a:r>
              <a:rPr lang="en-US" sz="2000" dirty="0">
                <a:solidFill>
                  <a:srgbClr val="288CD2"/>
                </a:solidFill>
                <a:latin typeface="Calibri"/>
                <a:cs typeface="Calibri"/>
              </a:rPr>
              <a:t>existing </a:t>
            </a:r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table with dish   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155" y="2560248"/>
            <a:ext cx="139700" cy="241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39" y="3602228"/>
            <a:ext cx="5207000" cy="774700"/>
          </a:xfrm>
          <a:prstGeom prst="rect">
            <a:avLst/>
          </a:prstGeom>
        </p:spPr>
      </p:pic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221418" y="2160537"/>
            <a:ext cx="26337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probability of choosing</a:t>
            </a:r>
          </a:p>
          <a:p>
            <a:pPr algn="ctr" eaLnBrk="1" hangingPunct="1"/>
            <a:r>
              <a:rPr lang="en-US" sz="2000" dirty="0">
                <a:solidFill>
                  <a:srgbClr val="288CD2"/>
                </a:solidFill>
                <a:latin typeface="Calibri"/>
                <a:cs typeface="Calibri"/>
              </a:rPr>
              <a:t>a new </a:t>
            </a:r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table and </a:t>
            </a:r>
            <a:r>
              <a:rPr lang="en-US" sz="2000" dirty="0">
                <a:solidFill>
                  <a:srgbClr val="288CD2"/>
                </a:solidFill>
                <a:latin typeface="Calibri"/>
                <a:cs typeface="Calibri"/>
              </a:rPr>
              <a:t>drawing </a:t>
            </a:r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dish   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475" y="2856981"/>
            <a:ext cx="139700" cy="2413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9256" y="4923575"/>
            <a:ext cx="736600" cy="431800"/>
          </a:xfrm>
          <a:prstGeom prst="rect">
            <a:avLst/>
          </a:prstGeom>
        </p:spPr>
      </p:pic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2415856" y="4973811"/>
            <a:ext cx="347329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= number of times     was observed in cases other than </a:t>
            </a:r>
            <a:r>
              <a:rPr lang="en-US" sz="2000" i="1" dirty="0" err="1">
                <a:solidFill>
                  <a:srgbClr val="288CD2"/>
                </a:solidFill>
                <a:latin typeface="Calibri"/>
                <a:cs typeface="Calibri"/>
              </a:rPr>
              <a:t>i</a:t>
            </a:r>
            <a:endParaRPr lang="en-US" sz="2000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057" y="5077074"/>
            <a:ext cx="1397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096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4" grpId="0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CRP representation of DP very useful for MCMC algorithms</a:t>
            </a:r>
            <a:r>
              <a:rPr lang="en-US" dirty="0" smtClean="0"/>
              <a:t>!</a:t>
            </a:r>
          </a:p>
          <a:p>
            <a:endParaRPr lang="en-US" dirty="0"/>
          </a:p>
          <a:p>
            <a:r>
              <a:rPr lang="en-US" dirty="0" smtClean="0"/>
              <a:t>another important detail: DP models are </a:t>
            </a:r>
            <a:r>
              <a:rPr lang="en-US" b="1" dirty="0" smtClean="0"/>
              <a:t>exchangeable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probability of a sequence of words doesn’t depend on their ordering in the sequence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622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Important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hierarchical </a:t>
            </a:r>
            <a:r>
              <a:rPr lang="en-US" dirty="0" err="1"/>
              <a:t>Dirichlet</a:t>
            </a:r>
            <a:r>
              <a:rPr lang="en-US" dirty="0"/>
              <a:t> processes:</a:t>
            </a:r>
          </a:p>
          <a:p>
            <a:pPr lvl="1"/>
            <a:r>
              <a:rPr lang="en-US" dirty="0" err="1"/>
              <a:t>Dirichlet</a:t>
            </a:r>
            <a:r>
              <a:rPr lang="en-US" dirty="0"/>
              <a:t> process where base distribution is </a:t>
            </a:r>
            <a:r>
              <a:rPr lang="en-US" i="1" dirty="0"/>
              <a:t>another </a:t>
            </a:r>
            <a:r>
              <a:rPr lang="en-US" dirty="0" err="1"/>
              <a:t>Dirichlet</a:t>
            </a:r>
            <a:r>
              <a:rPr lang="en-US" dirty="0"/>
              <a:t> process!</a:t>
            </a:r>
          </a:p>
          <a:p>
            <a:endParaRPr lang="en-US" dirty="0"/>
          </a:p>
          <a:p>
            <a:r>
              <a:rPr lang="en-US" dirty="0"/>
              <a:t>Pitman-</a:t>
            </a:r>
            <a:r>
              <a:rPr lang="en-US" dirty="0" err="1"/>
              <a:t>Yor</a:t>
            </a:r>
            <a:r>
              <a:rPr lang="en-US" dirty="0"/>
              <a:t> processes</a:t>
            </a:r>
          </a:p>
          <a:p>
            <a:pPr lvl="1"/>
            <a:r>
              <a:rPr lang="en-US" dirty="0"/>
              <a:t>generalization of </a:t>
            </a:r>
            <a:r>
              <a:rPr lang="en-US" dirty="0" err="1"/>
              <a:t>Dirichlet</a:t>
            </a:r>
            <a:r>
              <a:rPr lang="en-US" dirty="0"/>
              <a:t> Process that supports power law effects</a:t>
            </a:r>
          </a:p>
          <a:p>
            <a:endParaRPr lang="en-US" dirty="0"/>
          </a:p>
          <a:p>
            <a:r>
              <a:rPr lang="en-US" dirty="0"/>
              <a:t>hierarchical Pitman-</a:t>
            </a:r>
            <a:r>
              <a:rPr lang="en-US" dirty="0" err="1"/>
              <a:t>Yor</a:t>
            </a:r>
            <a:r>
              <a:rPr lang="en-US" dirty="0"/>
              <a:t>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4707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Segmentation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 descr="Screen Shot 2019-05-23 at 2.11.5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2200"/>
            <a:ext cx="9144000" cy="4663924"/>
          </a:xfrm>
          <a:prstGeom prst="rect">
            <a:avLst/>
          </a:prstGeom>
        </p:spPr>
      </p:pic>
      <p:sp>
        <p:nvSpPr>
          <p:cNvPr id="6" name="TextBox 11"/>
          <p:cNvSpPr txBox="1">
            <a:spLocks noChangeArrowheads="1"/>
          </p:cNvSpPr>
          <p:nvPr/>
        </p:nvSpPr>
        <p:spPr bwMode="auto">
          <a:xfrm>
            <a:off x="1049117" y="5996509"/>
            <a:ext cx="731379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Goldwater et al. (2009</a:t>
            </a:r>
            <a:r>
              <a:rPr lang="en-US" sz="2000" dirty="0">
                <a:solidFill>
                  <a:srgbClr val="288CD2"/>
                </a:solidFill>
                <a:latin typeface="Calibri"/>
                <a:cs typeface="Calibri"/>
              </a:rPr>
              <a:t>): </a:t>
            </a:r>
            <a:r>
              <a:rPr lang="en-US" sz="2000" i="1" dirty="0">
                <a:solidFill>
                  <a:srgbClr val="288CD2"/>
                </a:solidFill>
                <a:latin typeface="Calibri"/>
                <a:cs typeface="Calibri"/>
              </a:rPr>
              <a:t>A Bayesian framework for word segmentation: Exploring the effects of context</a:t>
            </a:r>
          </a:p>
        </p:txBody>
      </p:sp>
    </p:spTree>
    <p:extLst>
      <p:ext uri="{BB962C8B-B14F-4D97-AF65-F5344CB8AC3E}">
        <p14:creationId xmlns:p14="http://schemas.microsoft.com/office/powerpoint/2010/main" val="40958938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Segmentation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  <p:sp>
        <p:nvSpPr>
          <p:cNvPr id="6" name="TextBox 11"/>
          <p:cNvSpPr txBox="1">
            <a:spLocks noChangeArrowheads="1"/>
          </p:cNvSpPr>
          <p:nvPr/>
        </p:nvSpPr>
        <p:spPr bwMode="auto">
          <a:xfrm>
            <a:off x="1049117" y="5996509"/>
            <a:ext cx="731379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Goldwater et al. (2009</a:t>
            </a:r>
            <a:r>
              <a:rPr lang="en-US" sz="2000" dirty="0">
                <a:solidFill>
                  <a:srgbClr val="288CD2"/>
                </a:solidFill>
                <a:latin typeface="Calibri"/>
                <a:cs typeface="Calibri"/>
              </a:rPr>
              <a:t>): </a:t>
            </a:r>
            <a:r>
              <a:rPr lang="en-US" sz="2000" i="1" dirty="0">
                <a:solidFill>
                  <a:srgbClr val="288CD2"/>
                </a:solidFill>
                <a:latin typeface="Calibri"/>
                <a:cs typeface="Calibri"/>
              </a:rPr>
              <a:t>A Bayesian framework for word segmentation: Exploring the effects of context</a:t>
            </a:r>
          </a:p>
        </p:txBody>
      </p:sp>
      <p:pic>
        <p:nvPicPr>
          <p:cNvPr id="3" name="Picture 2" descr="Screen Shot 2019-05-23 at 2.13.2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600"/>
            <a:ext cx="9144000" cy="462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115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3115"/>
            <a:ext cx="4542397" cy="726831"/>
          </a:xfrm>
        </p:spPr>
        <p:txBody>
          <a:bodyPr>
            <a:noAutofit/>
          </a:bodyPr>
          <a:lstStyle/>
          <a:p>
            <a:r>
              <a:rPr lang="en-US" sz="2800" dirty="0"/>
              <a:t>Grammar Rules for Parsing</a:t>
            </a:r>
          </a:p>
        </p:txBody>
      </p:sp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160168" y="6259675"/>
            <a:ext cx="893806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288CD2"/>
                </a:solidFill>
                <a:latin typeface="Calibri"/>
                <a:cs typeface="Calibri"/>
              </a:rPr>
              <a:t>Cohn et al. (2009</a:t>
            </a:r>
            <a:r>
              <a:rPr lang="en-US" sz="1600" dirty="0">
                <a:solidFill>
                  <a:srgbClr val="288CD2"/>
                </a:solidFill>
                <a:latin typeface="Calibri"/>
                <a:cs typeface="Calibri"/>
              </a:rPr>
              <a:t>): </a:t>
            </a:r>
            <a:r>
              <a:rPr lang="en-US" sz="1600" i="1" dirty="0">
                <a:solidFill>
                  <a:srgbClr val="288CD2"/>
                </a:solidFill>
                <a:latin typeface="Calibri"/>
                <a:cs typeface="Calibri"/>
              </a:rPr>
              <a:t>Inducing Compact but Accurate Tree-Substitution Grammars</a:t>
            </a:r>
          </a:p>
          <a:p>
            <a:pPr eaLnBrk="1" hangingPunct="1"/>
            <a:r>
              <a:rPr lang="en-US" sz="1600" dirty="0">
                <a:solidFill>
                  <a:srgbClr val="288CD2"/>
                </a:solidFill>
                <a:latin typeface="Calibri"/>
                <a:cs typeface="Calibri"/>
              </a:rPr>
              <a:t>Post &amp; </a:t>
            </a:r>
            <a:r>
              <a:rPr lang="en-US" sz="1600" dirty="0" err="1">
                <a:solidFill>
                  <a:srgbClr val="288CD2"/>
                </a:solidFill>
                <a:latin typeface="Calibri"/>
                <a:cs typeface="Calibri"/>
              </a:rPr>
              <a:t>Gildea</a:t>
            </a:r>
            <a:r>
              <a:rPr lang="en-US" sz="1600" dirty="0">
                <a:solidFill>
                  <a:srgbClr val="288CD2"/>
                </a:solidFill>
                <a:latin typeface="Calibri"/>
                <a:cs typeface="Calibri"/>
              </a:rPr>
              <a:t> (2009):</a:t>
            </a:r>
            <a:r>
              <a:rPr lang="en-US" sz="1600" i="1" dirty="0">
                <a:solidFill>
                  <a:srgbClr val="288CD2"/>
                </a:solidFill>
                <a:latin typeface="Calibri"/>
                <a:cs typeface="Calibri"/>
              </a:rPr>
              <a:t> Bayesian Learning of a Tree Substitution Grammar</a:t>
            </a:r>
          </a:p>
        </p:txBody>
      </p:sp>
      <p:pic>
        <p:nvPicPr>
          <p:cNvPr id="9" name="Picture 8" descr="Screen Shot 2019-05-23 at 1.58.1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52656"/>
            <a:ext cx="4332450" cy="469118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Picture 9" descr="Screen Shot 2019-05-23 at 2.01.1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566" y="76579"/>
            <a:ext cx="3777200" cy="62059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64231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3115"/>
            <a:ext cx="8229600" cy="726831"/>
          </a:xfrm>
        </p:spPr>
        <p:txBody>
          <a:bodyPr>
            <a:noAutofit/>
          </a:bodyPr>
          <a:lstStyle/>
          <a:p>
            <a:r>
              <a:rPr lang="en-US" sz="2800" dirty="0"/>
              <a:t>Synchronous Grammar Rules for Machine Translation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 descr="Screen Shot 2019-05-23 at 1.33.2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3716"/>
            <a:ext cx="9144000" cy="4928922"/>
          </a:xfrm>
          <a:prstGeom prst="rect">
            <a:avLst/>
          </a:prstGeom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1049117" y="5996509"/>
            <a:ext cx="731379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Cohn &amp; </a:t>
            </a:r>
            <a:r>
              <a:rPr lang="en-US" sz="2000" i="0" dirty="0" err="1">
                <a:solidFill>
                  <a:srgbClr val="288CD2"/>
                </a:solidFill>
                <a:latin typeface="Calibri"/>
                <a:cs typeface="Calibri"/>
              </a:rPr>
              <a:t>Blunsom</a:t>
            </a:r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 (2009</a:t>
            </a:r>
            <a:r>
              <a:rPr lang="en-US" sz="2000" dirty="0">
                <a:solidFill>
                  <a:srgbClr val="288CD2"/>
                </a:solidFill>
                <a:latin typeface="Calibri"/>
                <a:cs typeface="Calibri"/>
              </a:rPr>
              <a:t>): </a:t>
            </a:r>
            <a:r>
              <a:rPr lang="en-US" sz="2000" i="1" dirty="0">
                <a:solidFill>
                  <a:srgbClr val="288CD2"/>
                </a:solidFill>
                <a:latin typeface="Calibri"/>
                <a:cs typeface="Calibri"/>
              </a:rPr>
              <a:t>A Bayesian Model of Syntax-Directed Tree to String Grammar Induction</a:t>
            </a:r>
          </a:p>
        </p:txBody>
      </p:sp>
    </p:spTree>
    <p:extLst>
      <p:ext uri="{BB962C8B-B14F-4D97-AF65-F5344CB8AC3E}">
        <p14:creationId xmlns:p14="http://schemas.microsoft.com/office/powerpoint/2010/main" val="11276272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3115"/>
            <a:ext cx="8229600" cy="726831"/>
          </a:xfrm>
        </p:spPr>
        <p:txBody>
          <a:bodyPr>
            <a:noAutofit/>
          </a:bodyPr>
          <a:lstStyle/>
          <a:p>
            <a:r>
              <a:rPr lang="en-US" sz="2800" dirty="0"/>
              <a:t>Synchronous Grammar Rules for Machine Translation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 descr="Screen Shot 2019-05-23 at 1.33.2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3716"/>
            <a:ext cx="9144000" cy="4928922"/>
          </a:xfrm>
          <a:prstGeom prst="rect">
            <a:avLst/>
          </a:prstGeom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1049117" y="5996509"/>
            <a:ext cx="731379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Cohn &amp; </a:t>
            </a:r>
            <a:r>
              <a:rPr lang="en-US" sz="2000" i="0" dirty="0" err="1">
                <a:solidFill>
                  <a:srgbClr val="288CD2"/>
                </a:solidFill>
                <a:latin typeface="Calibri"/>
                <a:cs typeface="Calibri"/>
              </a:rPr>
              <a:t>Blunsom</a:t>
            </a:r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 (2009</a:t>
            </a:r>
            <a:r>
              <a:rPr lang="en-US" sz="2000" dirty="0">
                <a:solidFill>
                  <a:srgbClr val="288CD2"/>
                </a:solidFill>
                <a:latin typeface="Calibri"/>
                <a:cs typeface="Calibri"/>
              </a:rPr>
              <a:t>): </a:t>
            </a:r>
            <a:r>
              <a:rPr lang="en-US" sz="2000" i="1" dirty="0">
                <a:solidFill>
                  <a:srgbClr val="288CD2"/>
                </a:solidFill>
                <a:latin typeface="Calibri"/>
                <a:cs typeface="Calibri"/>
              </a:rPr>
              <a:t>A Bayesian Model of Syntax-Directed Tree to String Grammar Induction</a:t>
            </a:r>
          </a:p>
        </p:txBody>
      </p:sp>
      <p:pic>
        <p:nvPicPr>
          <p:cNvPr id="6" name="Picture 5" descr="Screen Shot 2019-05-23 at 1.33.2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339" y="892470"/>
            <a:ext cx="5820874" cy="587663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046338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536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Unsupervised </a:t>
            </a:r>
            <a:r>
              <a:rPr lang="en-US" dirty="0" err="1"/>
              <a:t>Coreference</a:t>
            </a:r>
            <a:r>
              <a:rPr lang="en-US" dirty="0"/>
              <a:t> Resolution</a:t>
            </a:r>
          </a:p>
        </p:txBody>
      </p:sp>
      <p:pic>
        <p:nvPicPr>
          <p:cNvPr id="5" name="Picture 4" descr="Screen Shot 2019-05-23 at 1.02.1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17" y="898229"/>
            <a:ext cx="6980550" cy="52117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11"/>
          <p:cNvSpPr txBox="1">
            <a:spLocks noChangeArrowheads="1"/>
          </p:cNvSpPr>
          <p:nvPr/>
        </p:nvSpPr>
        <p:spPr bwMode="auto">
          <a:xfrm>
            <a:off x="1049117" y="6127230"/>
            <a:ext cx="731379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err="1">
                <a:solidFill>
                  <a:srgbClr val="288CD2"/>
                </a:solidFill>
                <a:latin typeface="Calibri"/>
                <a:cs typeface="Calibri"/>
              </a:rPr>
              <a:t>Haghighi</a:t>
            </a:r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 &amp; Klein (2007</a:t>
            </a:r>
            <a:r>
              <a:rPr lang="en-US" sz="2000" dirty="0">
                <a:solidFill>
                  <a:srgbClr val="288CD2"/>
                </a:solidFill>
                <a:latin typeface="Calibri"/>
                <a:cs typeface="Calibri"/>
              </a:rPr>
              <a:t>): </a:t>
            </a:r>
            <a:r>
              <a:rPr lang="en-US" sz="2000" i="1" dirty="0">
                <a:solidFill>
                  <a:srgbClr val="288CD2"/>
                </a:solidFill>
                <a:latin typeface="Calibri"/>
                <a:cs typeface="Calibri"/>
              </a:rPr>
              <a:t>Unsupervised </a:t>
            </a:r>
            <a:r>
              <a:rPr lang="en-US" sz="2000" i="1" dirty="0" err="1">
                <a:solidFill>
                  <a:srgbClr val="288CD2"/>
                </a:solidFill>
                <a:latin typeface="Calibri"/>
                <a:cs typeface="Calibri"/>
              </a:rPr>
              <a:t>Coreference</a:t>
            </a:r>
            <a:r>
              <a:rPr lang="en-US" sz="2000" i="1" dirty="0">
                <a:solidFill>
                  <a:srgbClr val="288CD2"/>
                </a:solidFill>
                <a:latin typeface="Calibri"/>
                <a:cs typeface="Calibri"/>
              </a:rPr>
              <a:t> Resolution in a Nonparametric Bayesian Model</a:t>
            </a:r>
          </a:p>
        </p:txBody>
      </p:sp>
    </p:spTree>
    <p:extLst>
      <p:ext uri="{BB962C8B-B14F-4D97-AF65-F5344CB8AC3E}">
        <p14:creationId xmlns:p14="http://schemas.microsoft.com/office/powerpoint/2010/main" val="41515724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743200"/>
          </a:xfrm>
          <a:noFill/>
          <a:ln/>
        </p:spPr>
        <p:txBody>
          <a:bodyPr/>
          <a:lstStyle/>
          <a:p>
            <a:r>
              <a:rPr lang="en-US" dirty="0"/>
              <a:t>Generative story:</a:t>
            </a:r>
          </a:p>
          <a:p>
            <a:pPr lvl="1"/>
            <a:r>
              <a:rPr lang="en-US" dirty="0"/>
              <a:t>Generate number of word positions</a:t>
            </a:r>
          </a:p>
          <a:p>
            <a:pPr lvl="1"/>
            <a:r>
              <a:rPr lang="en-US" dirty="0"/>
              <a:t>Generate number of colors</a:t>
            </a:r>
          </a:p>
          <a:p>
            <a:pPr lvl="1"/>
            <a:r>
              <a:rPr lang="en-US" dirty="0"/>
              <a:t>Assign word positions to colors</a:t>
            </a:r>
          </a:p>
          <a:p>
            <a:pPr lvl="1"/>
            <a:r>
              <a:rPr lang="en-US" dirty="0"/>
              <a:t>Generate a lexical pattern for each color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21830" y="381000"/>
            <a:ext cx="7307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 err="1">
                <a:latin typeface="Gill Sans MT" pitchFamily="34" charset="0"/>
              </a:rPr>
              <a:t>nato</a:t>
            </a:r>
            <a:r>
              <a:rPr lang="en-US" sz="2400" i="0" dirty="0">
                <a:latin typeface="Gill Sans MT" pitchFamily="34" charset="0"/>
              </a:rPr>
              <a:t> must either say " yes " or " no " to the </a:t>
            </a:r>
            <a:r>
              <a:rPr lang="en-US" sz="2400" i="0" dirty="0" err="1">
                <a:latin typeface="Gill Sans MT" pitchFamily="34" charset="0"/>
              </a:rPr>
              <a:t>baltic</a:t>
            </a:r>
            <a:r>
              <a:rPr lang="en-US" sz="2400" i="0" dirty="0">
                <a:latin typeface="Gill Sans MT" pitchFamily="34" charset="0"/>
              </a:rPr>
              <a:t> states 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TextBox 11"/>
          <p:cNvSpPr txBox="1">
            <a:spLocks noChangeArrowheads="1"/>
          </p:cNvSpPr>
          <p:nvPr/>
        </p:nvSpPr>
        <p:spPr bwMode="auto">
          <a:xfrm>
            <a:off x="1197846" y="6013589"/>
            <a:ext cx="638735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Gimpel &amp; Smith (2011</a:t>
            </a:r>
            <a:r>
              <a:rPr lang="en-US" sz="2000" dirty="0">
                <a:solidFill>
                  <a:srgbClr val="288CD2"/>
                </a:solidFill>
                <a:latin typeface="Calibri"/>
                <a:cs typeface="Calibri"/>
              </a:rPr>
              <a:t>): </a:t>
            </a:r>
            <a:r>
              <a:rPr lang="en-US" sz="2000" i="1" dirty="0">
                <a:solidFill>
                  <a:srgbClr val="288CD2"/>
                </a:solidFill>
                <a:latin typeface="Calibri"/>
                <a:cs typeface="Calibri"/>
              </a:rPr>
              <a:t>Generative Models of Monolingual and Bilingual </a:t>
            </a:r>
            <a:r>
              <a:rPr lang="en-US" sz="2000" i="1" dirty="0" err="1">
                <a:solidFill>
                  <a:srgbClr val="288CD2"/>
                </a:solidFill>
                <a:latin typeface="Calibri"/>
                <a:cs typeface="Calibri"/>
              </a:rPr>
              <a:t>Gappy</a:t>
            </a:r>
            <a:r>
              <a:rPr lang="en-US" sz="2000" i="1" dirty="0">
                <a:solidFill>
                  <a:srgbClr val="288CD2"/>
                </a:solidFill>
                <a:latin typeface="Calibri"/>
                <a:cs typeface="Calibri"/>
              </a:rPr>
              <a:t> Patterns</a:t>
            </a:r>
          </a:p>
        </p:txBody>
      </p:sp>
    </p:spTree>
    <p:extLst>
      <p:ext uri="{BB962C8B-B14F-4D97-AF65-F5344CB8AC3E}">
        <p14:creationId xmlns:p14="http://schemas.microsoft.com/office/powerpoint/2010/main" val="17677533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743200"/>
          </a:xfrm>
          <a:noFill/>
          <a:ln/>
        </p:spPr>
        <p:txBody>
          <a:bodyPr/>
          <a:lstStyle/>
          <a:p>
            <a:r>
              <a:rPr lang="en-US" dirty="0"/>
              <a:t>Generative story:</a:t>
            </a:r>
          </a:p>
          <a:p>
            <a:pPr lvl="1"/>
            <a:r>
              <a:rPr lang="en-US" dirty="0"/>
              <a:t>Generate number of word positions (n = 16)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colors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Assign word positions to colors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a lexical pattern for each color</a:t>
            </a:r>
            <a:endParaRPr lang="en-US" dirty="0">
              <a:solidFill>
                <a:srgbClr val="DDDDDD"/>
              </a:solidFill>
            </a:endParaRPr>
          </a:p>
        </p:txBody>
      </p: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921830" y="381000"/>
            <a:ext cx="7307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 err="1">
                <a:latin typeface="Gill Sans MT" pitchFamily="34" charset="0"/>
              </a:rPr>
              <a:t>nato</a:t>
            </a:r>
            <a:r>
              <a:rPr lang="en-US" sz="2400" i="0" dirty="0">
                <a:latin typeface="Gill Sans MT" pitchFamily="34" charset="0"/>
              </a:rPr>
              <a:t> must either say " yes " or " no " to the </a:t>
            </a:r>
            <a:r>
              <a:rPr lang="en-US" sz="2400" i="0" dirty="0" err="1">
                <a:latin typeface="Gill Sans MT" pitchFamily="34" charset="0"/>
              </a:rPr>
              <a:t>baltic</a:t>
            </a:r>
            <a:r>
              <a:rPr lang="en-US" sz="2400" i="0" dirty="0">
                <a:latin typeface="Gill Sans MT" pitchFamily="34" charset="0"/>
              </a:rPr>
              <a:t> states .</a:t>
            </a:r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228600" y="5257800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5"/>
          <p:cNvSpPr>
            <a:spLocks noChangeShapeType="1"/>
          </p:cNvSpPr>
          <p:nvPr/>
        </p:nvSpPr>
        <p:spPr bwMode="auto">
          <a:xfrm>
            <a:off x="914400" y="5257800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6"/>
          <p:cNvSpPr>
            <a:spLocks noChangeShapeType="1"/>
          </p:cNvSpPr>
          <p:nvPr/>
        </p:nvSpPr>
        <p:spPr bwMode="auto">
          <a:xfrm>
            <a:off x="1600200" y="5257800"/>
            <a:ext cx="762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7"/>
          <p:cNvSpPr>
            <a:spLocks noChangeShapeType="1"/>
          </p:cNvSpPr>
          <p:nvPr/>
        </p:nvSpPr>
        <p:spPr bwMode="auto">
          <a:xfrm>
            <a:off x="2438400" y="5257800"/>
            <a:ext cx="457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8"/>
          <p:cNvSpPr>
            <a:spLocks noChangeShapeType="1"/>
          </p:cNvSpPr>
          <p:nvPr/>
        </p:nvSpPr>
        <p:spPr bwMode="auto">
          <a:xfrm>
            <a:off x="2971800" y="5257800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9"/>
          <p:cNvSpPr>
            <a:spLocks noChangeShapeType="1"/>
          </p:cNvSpPr>
          <p:nvPr/>
        </p:nvSpPr>
        <p:spPr bwMode="auto">
          <a:xfrm>
            <a:off x="3886200" y="5257800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>
            <a:off x="3352800" y="5257800"/>
            <a:ext cx="457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1"/>
          <p:cNvSpPr>
            <a:spLocks noChangeShapeType="1"/>
          </p:cNvSpPr>
          <p:nvPr/>
        </p:nvSpPr>
        <p:spPr bwMode="auto">
          <a:xfrm>
            <a:off x="5181600" y="5257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2"/>
          <p:cNvSpPr>
            <a:spLocks noChangeShapeType="1"/>
          </p:cNvSpPr>
          <p:nvPr/>
        </p:nvSpPr>
        <p:spPr bwMode="auto">
          <a:xfrm>
            <a:off x="5638800" y="5257800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3"/>
          <p:cNvSpPr>
            <a:spLocks noChangeShapeType="1"/>
          </p:cNvSpPr>
          <p:nvPr/>
        </p:nvSpPr>
        <p:spPr bwMode="auto">
          <a:xfrm>
            <a:off x="4800600" y="5257800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4"/>
          <p:cNvSpPr>
            <a:spLocks noChangeShapeType="1"/>
          </p:cNvSpPr>
          <p:nvPr/>
        </p:nvSpPr>
        <p:spPr bwMode="auto">
          <a:xfrm>
            <a:off x="4267200" y="5257800"/>
            <a:ext cx="49518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5"/>
          <p:cNvSpPr>
            <a:spLocks noChangeShapeType="1"/>
          </p:cNvSpPr>
          <p:nvPr/>
        </p:nvSpPr>
        <p:spPr bwMode="auto">
          <a:xfrm>
            <a:off x="6096000" y="5257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26"/>
          <p:cNvSpPr>
            <a:spLocks noChangeShapeType="1"/>
          </p:cNvSpPr>
          <p:nvPr/>
        </p:nvSpPr>
        <p:spPr bwMode="auto">
          <a:xfrm>
            <a:off x="7086600" y="5257800"/>
            <a:ext cx="685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7"/>
          <p:cNvSpPr>
            <a:spLocks noChangeShapeType="1"/>
          </p:cNvSpPr>
          <p:nvPr/>
        </p:nvSpPr>
        <p:spPr bwMode="auto">
          <a:xfrm>
            <a:off x="6553200" y="5257800"/>
            <a:ext cx="457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8"/>
          <p:cNvSpPr>
            <a:spLocks noChangeShapeType="1"/>
          </p:cNvSpPr>
          <p:nvPr/>
        </p:nvSpPr>
        <p:spPr bwMode="auto">
          <a:xfrm>
            <a:off x="7848600" y="5257800"/>
            <a:ext cx="762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29"/>
          <p:cNvSpPr>
            <a:spLocks noChangeShapeType="1"/>
          </p:cNvSpPr>
          <p:nvPr/>
        </p:nvSpPr>
        <p:spPr bwMode="auto">
          <a:xfrm>
            <a:off x="8686800" y="5257800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722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743200"/>
          </a:xfrm>
          <a:noFill/>
          <a:ln/>
        </p:spPr>
        <p:txBody>
          <a:bodyPr/>
          <a:lstStyle/>
          <a:p>
            <a:r>
              <a:rPr lang="en-US" dirty="0"/>
              <a:t>Generative story: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word positions (n = 16)</a:t>
            </a:r>
          </a:p>
          <a:p>
            <a:pPr lvl="1"/>
            <a:r>
              <a:rPr lang="en-US" dirty="0"/>
              <a:t>Generate number of colors (m = 10)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Assign word positions to colors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a lexical pattern for each color</a:t>
            </a:r>
            <a:endParaRPr lang="en-US" dirty="0">
              <a:solidFill>
                <a:srgbClr val="DDDDDD"/>
              </a:solidFill>
            </a:endParaRPr>
          </a:p>
        </p:txBody>
      </p:sp>
      <p:sp>
        <p:nvSpPr>
          <p:cNvPr id="1253381" name="Oval 5"/>
          <p:cNvSpPr>
            <a:spLocks noChangeArrowheads="1"/>
          </p:cNvSpPr>
          <p:nvPr/>
        </p:nvSpPr>
        <p:spPr bwMode="auto">
          <a:xfrm>
            <a:off x="1600200" y="38862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3382" name="Oval 6"/>
          <p:cNvSpPr>
            <a:spLocks noChangeArrowheads="1"/>
          </p:cNvSpPr>
          <p:nvPr/>
        </p:nvSpPr>
        <p:spPr bwMode="auto">
          <a:xfrm>
            <a:off x="4648200" y="3886200"/>
            <a:ext cx="381000" cy="381000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3383" name="Oval 7"/>
          <p:cNvSpPr>
            <a:spLocks noChangeArrowheads="1"/>
          </p:cNvSpPr>
          <p:nvPr/>
        </p:nvSpPr>
        <p:spPr bwMode="auto">
          <a:xfrm>
            <a:off x="2819400" y="38862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3384" name="Oval 8"/>
          <p:cNvSpPr>
            <a:spLocks noChangeArrowheads="1"/>
          </p:cNvSpPr>
          <p:nvPr/>
        </p:nvSpPr>
        <p:spPr bwMode="auto">
          <a:xfrm>
            <a:off x="3429000" y="3886200"/>
            <a:ext cx="381000" cy="381000"/>
          </a:xfrm>
          <a:prstGeom prst="ellipse">
            <a:avLst/>
          </a:prstGeom>
          <a:solidFill>
            <a:srgbClr val="00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3385" name="Oval 9"/>
          <p:cNvSpPr>
            <a:spLocks noChangeArrowheads="1"/>
          </p:cNvSpPr>
          <p:nvPr/>
        </p:nvSpPr>
        <p:spPr bwMode="auto">
          <a:xfrm>
            <a:off x="5257800" y="3886200"/>
            <a:ext cx="381000" cy="381000"/>
          </a:xfrm>
          <a:prstGeom prst="ellipse">
            <a:avLst/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3386" name="Oval 10"/>
          <p:cNvSpPr>
            <a:spLocks noChangeArrowheads="1"/>
          </p:cNvSpPr>
          <p:nvPr/>
        </p:nvSpPr>
        <p:spPr bwMode="auto">
          <a:xfrm>
            <a:off x="2209800" y="3886200"/>
            <a:ext cx="381000" cy="381000"/>
          </a:xfrm>
          <a:prstGeom prst="ellipse">
            <a:avLst/>
          </a:prstGeom>
          <a:solidFill>
            <a:srgbClr val="00FF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3387" name="Oval 11"/>
          <p:cNvSpPr>
            <a:spLocks noChangeArrowheads="1"/>
          </p:cNvSpPr>
          <p:nvPr/>
        </p:nvSpPr>
        <p:spPr bwMode="auto">
          <a:xfrm>
            <a:off x="4038600" y="3886200"/>
            <a:ext cx="381000" cy="381000"/>
          </a:xfrm>
          <a:prstGeom prst="ellipse">
            <a:avLst/>
          </a:prstGeom>
          <a:solidFill>
            <a:srgbClr val="FF66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3388" name="Oval 12"/>
          <p:cNvSpPr>
            <a:spLocks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solidFill>
            <a:srgbClr val="800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3389" name="Oval 13"/>
          <p:cNvSpPr>
            <a:spLocks noChangeArrowheads="1"/>
          </p:cNvSpPr>
          <p:nvPr/>
        </p:nvSpPr>
        <p:spPr bwMode="auto">
          <a:xfrm>
            <a:off x="6477000" y="3886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3390" name="Oval 14"/>
          <p:cNvSpPr>
            <a:spLocks noChangeArrowheads="1"/>
          </p:cNvSpPr>
          <p:nvPr/>
        </p:nvSpPr>
        <p:spPr bwMode="auto">
          <a:xfrm>
            <a:off x="7086600" y="3886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Text Box 2"/>
          <p:cNvSpPr txBox="1">
            <a:spLocks noChangeArrowheads="1"/>
          </p:cNvSpPr>
          <p:nvPr/>
        </p:nvSpPr>
        <p:spPr bwMode="auto">
          <a:xfrm>
            <a:off x="921830" y="381000"/>
            <a:ext cx="7307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 err="1">
                <a:latin typeface="Gill Sans MT" pitchFamily="34" charset="0"/>
              </a:rPr>
              <a:t>nato</a:t>
            </a:r>
            <a:r>
              <a:rPr lang="en-US" sz="2400" i="0" dirty="0">
                <a:latin typeface="Gill Sans MT" pitchFamily="34" charset="0"/>
              </a:rPr>
              <a:t> must either say " yes " or " no " to the </a:t>
            </a:r>
            <a:r>
              <a:rPr lang="en-US" sz="2400" i="0" dirty="0" err="1">
                <a:latin typeface="Gill Sans MT" pitchFamily="34" charset="0"/>
              </a:rPr>
              <a:t>baltic</a:t>
            </a:r>
            <a:r>
              <a:rPr lang="en-US" sz="2400" i="0" dirty="0">
                <a:latin typeface="Gill Sans MT" pitchFamily="34" charset="0"/>
              </a:rPr>
              <a:t> states .</a:t>
            </a:r>
          </a:p>
        </p:txBody>
      </p:sp>
      <p:sp>
        <p:nvSpPr>
          <p:cNvPr id="31" name="Line 14"/>
          <p:cNvSpPr>
            <a:spLocks noChangeShapeType="1"/>
          </p:cNvSpPr>
          <p:nvPr/>
        </p:nvSpPr>
        <p:spPr bwMode="auto">
          <a:xfrm>
            <a:off x="228600" y="5257800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15"/>
          <p:cNvSpPr>
            <a:spLocks noChangeShapeType="1"/>
          </p:cNvSpPr>
          <p:nvPr/>
        </p:nvSpPr>
        <p:spPr bwMode="auto">
          <a:xfrm>
            <a:off x="914400" y="5257800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6"/>
          <p:cNvSpPr>
            <a:spLocks noChangeShapeType="1"/>
          </p:cNvSpPr>
          <p:nvPr/>
        </p:nvSpPr>
        <p:spPr bwMode="auto">
          <a:xfrm>
            <a:off x="1600200" y="5257800"/>
            <a:ext cx="762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17"/>
          <p:cNvSpPr>
            <a:spLocks noChangeShapeType="1"/>
          </p:cNvSpPr>
          <p:nvPr/>
        </p:nvSpPr>
        <p:spPr bwMode="auto">
          <a:xfrm>
            <a:off x="2438400" y="5257800"/>
            <a:ext cx="457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8"/>
          <p:cNvSpPr>
            <a:spLocks noChangeShapeType="1"/>
          </p:cNvSpPr>
          <p:nvPr/>
        </p:nvSpPr>
        <p:spPr bwMode="auto">
          <a:xfrm>
            <a:off x="2971800" y="5257800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9"/>
          <p:cNvSpPr>
            <a:spLocks noChangeShapeType="1"/>
          </p:cNvSpPr>
          <p:nvPr/>
        </p:nvSpPr>
        <p:spPr bwMode="auto">
          <a:xfrm>
            <a:off x="3886200" y="5257800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>
            <a:off x="3352800" y="5257800"/>
            <a:ext cx="457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21"/>
          <p:cNvSpPr>
            <a:spLocks noChangeShapeType="1"/>
          </p:cNvSpPr>
          <p:nvPr/>
        </p:nvSpPr>
        <p:spPr bwMode="auto">
          <a:xfrm>
            <a:off x="5181600" y="5257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22"/>
          <p:cNvSpPr>
            <a:spLocks noChangeShapeType="1"/>
          </p:cNvSpPr>
          <p:nvPr/>
        </p:nvSpPr>
        <p:spPr bwMode="auto">
          <a:xfrm>
            <a:off x="5638800" y="5257800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3"/>
          <p:cNvSpPr>
            <a:spLocks noChangeShapeType="1"/>
          </p:cNvSpPr>
          <p:nvPr/>
        </p:nvSpPr>
        <p:spPr bwMode="auto">
          <a:xfrm>
            <a:off x="4800600" y="5257800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24"/>
          <p:cNvSpPr>
            <a:spLocks noChangeShapeType="1"/>
          </p:cNvSpPr>
          <p:nvPr/>
        </p:nvSpPr>
        <p:spPr bwMode="auto">
          <a:xfrm>
            <a:off x="4267200" y="5257800"/>
            <a:ext cx="49518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5"/>
          <p:cNvSpPr>
            <a:spLocks noChangeShapeType="1"/>
          </p:cNvSpPr>
          <p:nvPr/>
        </p:nvSpPr>
        <p:spPr bwMode="auto">
          <a:xfrm>
            <a:off x="6096000" y="5257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26"/>
          <p:cNvSpPr>
            <a:spLocks noChangeShapeType="1"/>
          </p:cNvSpPr>
          <p:nvPr/>
        </p:nvSpPr>
        <p:spPr bwMode="auto">
          <a:xfrm>
            <a:off x="7086600" y="5257800"/>
            <a:ext cx="685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7"/>
          <p:cNvSpPr>
            <a:spLocks noChangeShapeType="1"/>
          </p:cNvSpPr>
          <p:nvPr/>
        </p:nvSpPr>
        <p:spPr bwMode="auto">
          <a:xfrm>
            <a:off x="6553200" y="5257800"/>
            <a:ext cx="457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28"/>
          <p:cNvSpPr>
            <a:spLocks noChangeShapeType="1"/>
          </p:cNvSpPr>
          <p:nvPr/>
        </p:nvSpPr>
        <p:spPr bwMode="auto">
          <a:xfrm>
            <a:off x="7848600" y="5257800"/>
            <a:ext cx="762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9"/>
          <p:cNvSpPr>
            <a:spLocks noChangeShapeType="1"/>
          </p:cNvSpPr>
          <p:nvPr/>
        </p:nvSpPr>
        <p:spPr bwMode="auto">
          <a:xfrm>
            <a:off x="8686800" y="5257800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985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743200"/>
          </a:xfrm>
          <a:noFill/>
          <a:ln/>
        </p:spPr>
        <p:txBody>
          <a:bodyPr/>
          <a:lstStyle/>
          <a:p>
            <a:r>
              <a:rPr lang="en-US" dirty="0"/>
              <a:t>Generative story: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word positions (n = 16)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colors (m = 10)</a:t>
            </a:r>
          </a:p>
          <a:p>
            <a:pPr lvl="1"/>
            <a:r>
              <a:rPr lang="en-US" dirty="0"/>
              <a:t>Assign word positions to colors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a lexical pattern for each color</a:t>
            </a:r>
            <a:endParaRPr lang="en-US" dirty="0">
              <a:solidFill>
                <a:srgbClr val="DDDDDD"/>
              </a:solidFill>
            </a:endParaRPr>
          </a:p>
        </p:txBody>
      </p:sp>
      <p:sp>
        <p:nvSpPr>
          <p:cNvPr id="30" name="Text Box 2"/>
          <p:cNvSpPr txBox="1">
            <a:spLocks noChangeArrowheads="1"/>
          </p:cNvSpPr>
          <p:nvPr/>
        </p:nvSpPr>
        <p:spPr bwMode="auto">
          <a:xfrm>
            <a:off x="921830" y="381000"/>
            <a:ext cx="7307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 err="1">
                <a:latin typeface="Gill Sans MT" pitchFamily="34" charset="0"/>
              </a:rPr>
              <a:t>nato</a:t>
            </a:r>
            <a:r>
              <a:rPr lang="en-US" sz="2400" i="0" dirty="0">
                <a:latin typeface="Gill Sans MT" pitchFamily="34" charset="0"/>
              </a:rPr>
              <a:t> must either say " yes " or " no " to the </a:t>
            </a:r>
            <a:r>
              <a:rPr lang="en-US" sz="2400" i="0" dirty="0" err="1">
                <a:latin typeface="Gill Sans MT" pitchFamily="34" charset="0"/>
              </a:rPr>
              <a:t>baltic</a:t>
            </a:r>
            <a:r>
              <a:rPr lang="en-US" sz="2400" i="0" dirty="0">
                <a:latin typeface="Gill Sans MT" pitchFamily="34" charset="0"/>
              </a:rPr>
              <a:t> states .</a:t>
            </a:r>
          </a:p>
        </p:txBody>
      </p:sp>
      <p:sp>
        <p:nvSpPr>
          <p:cNvPr id="31" name="Line 14"/>
          <p:cNvSpPr>
            <a:spLocks noChangeShapeType="1"/>
          </p:cNvSpPr>
          <p:nvPr/>
        </p:nvSpPr>
        <p:spPr bwMode="auto">
          <a:xfrm>
            <a:off x="228600" y="5257800"/>
            <a:ext cx="609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15"/>
          <p:cNvSpPr>
            <a:spLocks noChangeShapeType="1"/>
          </p:cNvSpPr>
          <p:nvPr/>
        </p:nvSpPr>
        <p:spPr bwMode="auto">
          <a:xfrm>
            <a:off x="914400" y="5257800"/>
            <a:ext cx="609600" cy="0"/>
          </a:xfrm>
          <a:prstGeom prst="line">
            <a:avLst/>
          </a:prstGeom>
          <a:noFill/>
          <a:ln w="50800">
            <a:solidFill>
              <a:srgbClr val="00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6"/>
          <p:cNvSpPr>
            <a:spLocks noChangeShapeType="1"/>
          </p:cNvSpPr>
          <p:nvPr/>
        </p:nvSpPr>
        <p:spPr bwMode="auto">
          <a:xfrm>
            <a:off x="1600200" y="5257800"/>
            <a:ext cx="76200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17"/>
          <p:cNvSpPr>
            <a:spLocks noChangeShapeType="1"/>
          </p:cNvSpPr>
          <p:nvPr/>
        </p:nvSpPr>
        <p:spPr bwMode="auto">
          <a:xfrm>
            <a:off x="2438400" y="5257800"/>
            <a:ext cx="457200" cy="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8"/>
          <p:cNvSpPr>
            <a:spLocks noChangeShapeType="1"/>
          </p:cNvSpPr>
          <p:nvPr/>
        </p:nvSpPr>
        <p:spPr bwMode="auto">
          <a:xfrm>
            <a:off x="29718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9"/>
          <p:cNvSpPr>
            <a:spLocks noChangeShapeType="1"/>
          </p:cNvSpPr>
          <p:nvPr/>
        </p:nvSpPr>
        <p:spPr bwMode="auto">
          <a:xfrm>
            <a:off x="38862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>
            <a:off x="3352800" y="5257800"/>
            <a:ext cx="4572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21"/>
          <p:cNvSpPr>
            <a:spLocks noChangeShapeType="1"/>
          </p:cNvSpPr>
          <p:nvPr/>
        </p:nvSpPr>
        <p:spPr bwMode="auto">
          <a:xfrm>
            <a:off x="5181600" y="5257800"/>
            <a:ext cx="381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22"/>
          <p:cNvSpPr>
            <a:spLocks noChangeShapeType="1"/>
          </p:cNvSpPr>
          <p:nvPr/>
        </p:nvSpPr>
        <p:spPr bwMode="auto">
          <a:xfrm>
            <a:off x="56388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3"/>
          <p:cNvSpPr>
            <a:spLocks noChangeShapeType="1"/>
          </p:cNvSpPr>
          <p:nvPr/>
        </p:nvSpPr>
        <p:spPr bwMode="auto">
          <a:xfrm>
            <a:off x="48006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24"/>
          <p:cNvSpPr>
            <a:spLocks noChangeShapeType="1"/>
          </p:cNvSpPr>
          <p:nvPr/>
        </p:nvSpPr>
        <p:spPr bwMode="auto">
          <a:xfrm>
            <a:off x="4267200" y="5257800"/>
            <a:ext cx="49518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5"/>
          <p:cNvSpPr>
            <a:spLocks noChangeShapeType="1"/>
          </p:cNvSpPr>
          <p:nvPr/>
        </p:nvSpPr>
        <p:spPr bwMode="auto">
          <a:xfrm>
            <a:off x="6096000" y="5257800"/>
            <a:ext cx="3810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26"/>
          <p:cNvSpPr>
            <a:spLocks noChangeShapeType="1"/>
          </p:cNvSpPr>
          <p:nvPr/>
        </p:nvSpPr>
        <p:spPr bwMode="auto">
          <a:xfrm>
            <a:off x="7086600" y="5257800"/>
            <a:ext cx="6858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7"/>
          <p:cNvSpPr>
            <a:spLocks noChangeShapeType="1"/>
          </p:cNvSpPr>
          <p:nvPr/>
        </p:nvSpPr>
        <p:spPr bwMode="auto">
          <a:xfrm>
            <a:off x="6553200" y="5257800"/>
            <a:ext cx="4572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28"/>
          <p:cNvSpPr>
            <a:spLocks noChangeShapeType="1"/>
          </p:cNvSpPr>
          <p:nvPr/>
        </p:nvSpPr>
        <p:spPr bwMode="auto">
          <a:xfrm>
            <a:off x="7848600" y="5257800"/>
            <a:ext cx="7620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9"/>
          <p:cNvSpPr>
            <a:spLocks noChangeShapeType="1"/>
          </p:cNvSpPr>
          <p:nvPr/>
        </p:nvSpPr>
        <p:spPr bwMode="auto">
          <a:xfrm>
            <a:off x="8686800" y="5257800"/>
            <a:ext cx="304800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8" name="Oval 5"/>
          <p:cNvSpPr>
            <a:spLocks noChangeArrowheads="1"/>
          </p:cNvSpPr>
          <p:nvPr/>
        </p:nvSpPr>
        <p:spPr bwMode="auto">
          <a:xfrm>
            <a:off x="1600200" y="38862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Oval 6"/>
          <p:cNvSpPr>
            <a:spLocks noChangeArrowheads="1"/>
          </p:cNvSpPr>
          <p:nvPr/>
        </p:nvSpPr>
        <p:spPr bwMode="auto">
          <a:xfrm>
            <a:off x="4648200" y="3886200"/>
            <a:ext cx="381000" cy="381000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Oval 7"/>
          <p:cNvSpPr>
            <a:spLocks noChangeArrowheads="1"/>
          </p:cNvSpPr>
          <p:nvPr/>
        </p:nvSpPr>
        <p:spPr bwMode="auto">
          <a:xfrm>
            <a:off x="2819400" y="38862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Oval 8"/>
          <p:cNvSpPr>
            <a:spLocks noChangeArrowheads="1"/>
          </p:cNvSpPr>
          <p:nvPr/>
        </p:nvSpPr>
        <p:spPr bwMode="auto">
          <a:xfrm>
            <a:off x="3429000" y="3886200"/>
            <a:ext cx="381000" cy="381000"/>
          </a:xfrm>
          <a:prstGeom prst="ellipse">
            <a:avLst/>
          </a:prstGeom>
          <a:solidFill>
            <a:srgbClr val="00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Oval 9"/>
          <p:cNvSpPr>
            <a:spLocks noChangeArrowheads="1"/>
          </p:cNvSpPr>
          <p:nvPr/>
        </p:nvSpPr>
        <p:spPr bwMode="auto">
          <a:xfrm>
            <a:off x="5257800" y="3886200"/>
            <a:ext cx="381000" cy="381000"/>
          </a:xfrm>
          <a:prstGeom prst="ellipse">
            <a:avLst/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Oval 10"/>
          <p:cNvSpPr>
            <a:spLocks noChangeArrowheads="1"/>
          </p:cNvSpPr>
          <p:nvPr/>
        </p:nvSpPr>
        <p:spPr bwMode="auto">
          <a:xfrm>
            <a:off x="2209800" y="3886200"/>
            <a:ext cx="381000" cy="381000"/>
          </a:xfrm>
          <a:prstGeom prst="ellipse">
            <a:avLst/>
          </a:prstGeom>
          <a:solidFill>
            <a:srgbClr val="00FF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Oval 11"/>
          <p:cNvSpPr>
            <a:spLocks noChangeArrowheads="1"/>
          </p:cNvSpPr>
          <p:nvPr/>
        </p:nvSpPr>
        <p:spPr bwMode="auto">
          <a:xfrm>
            <a:off x="4038600" y="3886200"/>
            <a:ext cx="381000" cy="381000"/>
          </a:xfrm>
          <a:prstGeom prst="ellipse">
            <a:avLst/>
          </a:prstGeom>
          <a:solidFill>
            <a:srgbClr val="FF66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Oval 12"/>
          <p:cNvSpPr>
            <a:spLocks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solidFill>
            <a:srgbClr val="800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Oval 13"/>
          <p:cNvSpPr>
            <a:spLocks noChangeArrowheads="1"/>
          </p:cNvSpPr>
          <p:nvPr/>
        </p:nvSpPr>
        <p:spPr bwMode="auto">
          <a:xfrm>
            <a:off x="6477000" y="3886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Oval 14"/>
          <p:cNvSpPr>
            <a:spLocks noChangeArrowheads="1"/>
          </p:cNvSpPr>
          <p:nvPr/>
        </p:nvSpPr>
        <p:spPr bwMode="auto">
          <a:xfrm>
            <a:off x="7086600" y="3886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490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743200"/>
          </a:xfrm>
          <a:noFill/>
          <a:ln/>
        </p:spPr>
        <p:txBody>
          <a:bodyPr/>
          <a:lstStyle/>
          <a:p>
            <a:r>
              <a:rPr lang="en-US" dirty="0"/>
              <a:t>Generative story: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word positions (n = 16)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colors (m = 10)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Assign word positions to colors</a:t>
            </a:r>
          </a:p>
          <a:p>
            <a:pPr lvl="1"/>
            <a:r>
              <a:rPr lang="en-US" dirty="0"/>
              <a:t>Generate a lexical pattern for each color</a:t>
            </a:r>
          </a:p>
        </p:txBody>
      </p:sp>
      <p:sp>
        <p:nvSpPr>
          <p:cNvPr id="1277982" name="Text Box 30"/>
          <p:cNvSpPr txBox="1">
            <a:spLocks noChangeArrowheads="1"/>
          </p:cNvSpPr>
          <p:nvPr/>
        </p:nvSpPr>
        <p:spPr bwMode="auto">
          <a:xfrm>
            <a:off x="61913" y="4800600"/>
            <a:ext cx="8921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>
                <a:solidFill>
                  <a:schemeClr val="bg1"/>
                </a:solidFill>
                <a:latin typeface="Arial" pitchFamily="34" charset="0"/>
              </a:rPr>
              <a:t>nato must either</a:t>
            </a:r>
            <a:r>
              <a:rPr lang="en-US" sz="2400" i="0">
                <a:latin typeface="Arial" pitchFamily="34" charset="0"/>
              </a:rPr>
              <a:t> </a:t>
            </a:r>
            <a:r>
              <a:rPr lang="en-US" sz="2400" i="0">
                <a:solidFill>
                  <a:schemeClr val="bg1"/>
                </a:solidFill>
                <a:latin typeface="Arial" pitchFamily="34" charset="0"/>
              </a:rPr>
              <a:t>say  "   yes  "   or</a:t>
            </a:r>
            <a:r>
              <a:rPr lang="en-US" sz="2400" i="0">
                <a:latin typeface="Arial" pitchFamily="34" charset="0"/>
              </a:rPr>
              <a:t> </a:t>
            </a:r>
            <a:r>
              <a:rPr lang="en-US" sz="2400" i="0">
                <a:solidFill>
                  <a:schemeClr val="bg1"/>
                </a:solidFill>
                <a:latin typeface="Arial" pitchFamily="34" charset="0"/>
              </a:rPr>
              <a:t> "   no  "   to  the baltic states  .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921830" y="381000"/>
            <a:ext cx="7307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 err="1">
                <a:latin typeface="Gill Sans MT" pitchFamily="34" charset="0"/>
              </a:rPr>
              <a:t>nato</a:t>
            </a:r>
            <a:r>
              <a:rPr lang="en-US" sz="2400" i="0" dirty="0">
                <a:latin typeface="Gill Sans MT" pitchFamily="34" charset="0"/>
              </a:rPr>
              <a:t> must either say " yes " or " no " to the </a:t>
            </a:r>
            <a:r>
              <a:rPr lang="en-US" sz="2400" i="0" dirty="0" err="1">
                <a:latin typeface="Gill Sans MT" pitchFamily="34" charset="0"/>
              </a:rPr>
              <a:t>baltic</a:t>
            </a:r>
            <a:r>
              <a:rPr lang="en-US" sz="2400" i="0" dirty="0">
                <a:latin typeface="Gill Sans MT" pitchFamily="34" charset="0"/>
              </a:rPr>
              <a:t> states .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28600" y="5257800"/>
            <a:ext cx="609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5"/>
          <p:cNvSpPr>
            <a:spLocks noChangeShapeType="1"/>
          </p:cNvSpPr>
          <p:nvPr/>
        </p:nvSpPr>
        <p:spPr bwMode="auto">
          <a:xfrm>
            <a:off x="914400" y="5257800"/>
            <a:ext cx="609600" cy="0"/>
          </a:xfrm>
          <a:prstGeom prst="line">
            <a:avLst/>
          </a:prstGeom>
          <a:noFill/>
          <a:ln w="50800">
            <a:solidFill>
              <a:srgbClr val="00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>
            <a:off x="1600200" y="5257800"/>
            <a:ext cx="76200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438400" y="5257800"/>
            <a:ext cx="457200" cy="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8"/>
          <p:cNvSpPr>
            <a:spLocks noChangeShapeType="1"/>
          </p:cNvSpPr>
          <p:nvPr/>
        </p:nvSpPr>
        <p:spPr bwMode="auto">
          <a:xfrm>
            <a:off x="29718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19"/>
          <p:cNvSpPr>
            <a:spLocks noChangeShapeType="1"/>
          </p:cNvSpPr>
          <p:nvPr/>
        </p:nvSpPr>
        <p:spPr bwMode="auto">
          <a:xfrm>
            <a:off x="38862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>
            <a:off x="3352800" y="5257800"/>
            <a:ext cx="4572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21"/>
          <p:cNvSpPr>
            <a:spLocks noChangeShapeType="1"/>
          </p:cNvSpPr>
          <p:nvPr/>
        </p:nvSpPr>
        <p:spPr bwMode="auto">
          <a:xfrm>
            <a:off x="5181600" y="5257800"/>
            <a:ext cx="381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2"/>
          <p:cNvSpPr>
            <a:spLocks noChangeShapeType="1"/>
          </p:cNvSpPr>
          <p:nvPr/>
        </p:nvSpPr>
        <p:spPr bwMode="auto">
          <a:xfrm>
            <a:off x="56388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23"/>
          <p:cNvSpPr>
            <a:spLocks noChangeShapeType="1"/>
          </p:cNvSpPr>
          <p:nvPr/>
        </p:nvSpPr>
        <p:spPr bwMode="auto">
          <a:xfrm>
            <a:off x="48006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4"/>
          <p:cNvSpPr>
            <a:spLocks noChangeShapeType="1"/>
          </p:cNvSpPr>
          <p:nvPr/>
        </p:nvSpPr>
        <p:spPr bwMode="auto">
          <a:xfrm>
            <a:off x="4267200" y="5257800"/>
            <a:ext cx="49518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25"/>
          <p:cNvSpPr>
            <a:spLocks noChangeShapeType="1"/>
          </p:cNvSpPr>
          <p:nvPr/>
        </p:nvSpPr>
        <p:spPr bwMode="auto">
          <a:xfrm>
            <a:off x="6096000" y="5257800"/>
            <a:ext cx="3810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6"/>
          <p:cNvSpPr>
            <a:spLocks noChangeShapeType="1"/>
          </p:cNvSpPr>
          <p:nvPr/>
        </p:nvSpPr>
        <p:spPr bwMode="auto">
          <a:xfrm>
            <a:off x="7086600" y="5257800"/>
            <a:ext cx="6858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27"/>
          <p:cNvSpPr>
            <a:spLocks noChangeShapeType="1"/>
          </p:cNvSpPr>
          <p:nvPr/>
        </p:nvSpPr>
        <p:spPr bwMode="auto">
          <a:xfrm>
            <a:off x="6553200" y="5257800"/>
            <a:ext cx="4572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8"/>
          <p:cNvSpPr>
            <a:spLocks noChangeShapeType="1"/>
          </p:cNvSpPr>
          <p:nvPr/>
        </p:nvSpPr>
        <p:spPr bwMode="auto">
          <a:xfrm>
            <a:off x="7848600" y="5257800"/>
            <a:ext cx="7620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9"/>
          <p:cNvSpPr>
            <a:spLocks noChangeShapeType="1"/>
          </p:cNvSpPr>
          <p:nvPr/>
        </p:nvSpPr>
        <p:spPr bwMode="auto">
          <a:xfrm>
            <a:off x="8686800" y="5257800"/>
            <a:ext cx="304800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9" name="Oval 5"/>
          <p:cNvSpPr>
            <a:spLocks noChangeArrowheads="1"/>
          </p:cNvSpPr>
          <p:nvPr/>
        </p:nvSpPr>
        <p:spPr bwMode="auto">
          <a:xfrm>
            <a:off x="1600200" y="38862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Oval 6"/>
          <p:cNvSpPr>
            <a:spLocks noChangeArrowheads="1"/>
          </p:cNvSpPr>
          <p:nvPr/>
        </p:nvSpPr>
        <p:spPr bwMode="auto">
          <a:xfrm>
            <a:off x="4648200" y="3886200"/>
            <a:ext cx="381000" cy="381000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Oval 7"/>
          <p:cNvSpPr>
            <a:spLocks noChangeArrowheads="1"/>
          </p:cNvSpPr>
          <p:nvPr/>
        </p:nvSpPr>
        <p:spPr bwMode="auto">
          <a:xfrm>
            <a:off x="2819400" y="38862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Oval 8"/>
          <p:cNvSpPr>
            <a:spLocks noChangeArrowheads="1"/>
          </p:cNvSpPr>
          <p:nvPr/>
        </p:nvSpPr>
        <p:spPr bwMode="auto">
          <a:xfrm>
            <a:off x="3429000" y="3886200"/>
            <a:ext cx="381000" cy="381000"/>
          </a:xfrm>
          <a:prstGeom prst="ellipse">
            <a:avLst/>
          </a:prstGeom>
          <a:solidFill>
            <a:srgbClr val="00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Oval 9"/>
          <p:cNvSpPr>
            <a:spLocks noChangeArrowheads="1"/>
          </p:cNvSpPr>
          <p:nvPr/>
        </p:nvSpPr>
        <p:spPr bwMode="auto">
          <a:xfrm>
            <a:off x="5257800" y="3886200"/>
            <a:ext cx="381000" cy="381000"/>
          </a:xfrm>
          <a:prstGeom prst="ellipse">
            <a:avLst/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Oval 10"/>
          <p:cNvSpPr>
            <a:spLocks noChangeArrowheads="1"/>
          </p:cNvSpPr>
          <p:nvPr/>
        </p:nvSpPr>
        <p:spPr bwMode="auto">
          <a:xfrm>
            <a:off x="2209800" y="3886200"/>
            <a:ext cx="381000" cy="381000"/>
          </a:xfrm>
          <a:prstGeom prst="ellipse">
            <a:avLst/>
          </a:prstGeom>
          <a:solidFill>
            <a:srgbClr val="00FF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Oval 11"/>
          <p:cNvSpPr>
            <a:spLocks noChangeArrowheads="1"/>
          </p:cNvSpPr>
          <p:nvPr/>
        </p:nvSpPr>
        <p:spPr bwMode="auto">
          <a:xfrm>
            <a:off x="4038600" y="3886200"/>
            <a:ext cx="381000" cy="381000"/>
          </a:xfrm>
          <a:prstGeom prst="ellipse">
            <a:avLst/>
          </a:prstGeom>
          <a:solidFill>
            <a:srgbClr val="FF66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Oval 12"/>
          <p:cNvSpPr>
            <a:spLocks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solidFill>
            <a:srgbClr val="800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Oval 13"/>
          <p:cNvSpPr>
            <a:spLocks noChangeArrowheads="1"/>
          </p:cNvSpPr>
          <p:nvPr/>
        </p:nvSpPr>
        <p:spPr bwMode="auto">
          <a:xfrm>
            <a:off x="6477000" y="3886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Oval 14"/>
          <p:cNvSpPr>
            <a:spLocks noChangeArrowheads="1"/>
          </p:cNvSpPr>
          <p:nvPr/>
        </p:nvSpPr>
        <p:spPr bwMode="auto">
          <a:xfrm>
            <a:off x="7086600" y="3886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022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743200"/>
          </a:xfrm>
          <a:noFill/>
          <a:ln/>
        </p:spPr>
        <p:txBody>
          <a:bodyPr/>
          <a:lstStyle/>
          <a:p>
            <a:r>
              <a:rPr lang="en-US" dirty="0"/>
              <a:t>Generative story: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word positions (n = 16)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colors (m = 10)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Assign word positions to colors</a:t>
            </a:r>
          </a:p>
          <a:p>
            <a:pPr lvl="1"/>
            <a:r>
              <a:rPr lang="en-US" dirty="0"/>
              <a:t>Generate a lexical pattern for each color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921830" y="381000"/>
            <a:ext cx="7307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 err="1">
                <a:latin typeface="Gill Sans MT" pitchFamily="34" charset="0"/>
              </a:rPr>
              <a:t>nato</a:t>
            </a:r>
            <a:r>
              <a:rPr lang="en-US" sz="2400" i="0" dirty="0">
                <a:latin typeface="Gill Sans MT" pitchFamily="34" charset="0"/>
              </a:rPr>
              <a:t> must either say " yes " or " no " to the </a:t>
            </a:r>
            <a:r>
              <a:rPr lang="en-US" sz="2400" i="0" dirty="0" err="1">
                <a:latin typeface="Gill Sans MT" pitchFamily="34" charset="0"/>
              </a:rPr>
              <a:t>baltic</a:t>
            </a:r>
            <a:r>
              <a:rPr lang="en-US" sz="2400" i="0" dirty="0">
                <a:latin typeface="Gill Sans MT" pitchFamily="34" charset="0"/>
              </a:rPr>
              <a:t> states .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28600" y="5257800"/>
            <a:ext cx="609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5"/>
          <p:cNvSpPr>
            <a:spLocks noChangeShapeType="1"/>
          </p:cNvSpPr>
          <p:nvPr/>
        </p:nvSpPr>
        <p:spPr bwMode="auto">
          <a:xfrm>
            <a:off x="914400" y="5257800"/>
            <a:ext cx="609600" cy="0"/>
          </a:xfrm>
          <a:prstGeom prst="line">
            <a:avLst/>
          </a:prstGeom>
          <a:noFill/>
          <a:ln w="50800">
            <a:solidFill>
              <a:srgbClr val="00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>
            <a:off x="1600200" y="5257800"/>
            <a:ext cx="76200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438400" y="5257800"/>
            <a:ext cx="457200" cy="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8"/>
          <p:cNvSpPr>
            <a:spLocks noChangeShapeType="1"/>
          </p:cNvSpPr>
          <p:nvPr/>
        </p:nvSpPr>
        <p:spPr bwMode="auto">
          <a:xfrm>
            <a:off x="29718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19"/>
          <p:cNvSpPr>
            <a:spLocks noChangeShapeType="1"/>
          </p:cNvSpPr>
          <p:nvPr/>
        </p:nvSpPr>
        <p:spPr bwMode="auto">
          <a:xfrm>
            <a:off x="38862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>
            <a:off x="3352800" y="5257800"/>
            <a:ext cx="4572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21"/>
          <p:cNvSpPr>
            <a:spLocks noChangeShapeType="1"/>
          </p:cNvSpPr>
          <p:nvPr/>
        </p:nvSpPr>
        <p:spPr bwMode="auto">
          <a:xfrm>
            <a:off x="5181600" y="5257800"/>
            <a:ext cx="381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2"/>
          <p:cNvSpPr>
            <a:spLocks noChangeShapeType="1"/>
          </p:cNvSpPr>
          <p:nvPr/>
        </p:nvSpPr>
        <p:spPr bwMode="auto">
          <a:xfrm>
            <a:off x="56388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23"/>
          <p:cNvSpPr>
            <a:spLocks noChangeShapeType="1"/>
          </p:cNvSpPr>
          <p:nvPr/>
        </p:nvSpPr>
        <p:spPr bwMode="auto">
          <a:xfrm>
            <a:off x="48006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4"/>
          <p:cNvSpPr>
            <a:spLocks noChangeShapeType="1"/>
          </p:cNvSpPr>
          <p:nvPr/>
        </p:nvSpPr>
        <p:spPr bwMode="auto">
          <a:xfrm>
            <a:off x="4267200" y="5257800"/>
            <a:ext cx="49518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25"/>
          <p:cNvSpPr>
            <a:spLocks noChangeShapeType="1"/>
          </p:cNvSpPr>
          <p:nvPr/>
        </p:nvSpPr>
        <p:spPr bwMode="auto">
          <a:xfrm>
            <a:off x="6096000" y="5257800"/>
            <a:ext cx="3810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6"/>
          <p:cNvSpPr>
            <a:spLocks noChangeShapeType="1"/>
          </p:cNvSpPr>
          <p:nvPr/>
        </p:nvSpPr>
        <p:spPr bwMode="auto">
          <a:xfrm>
            <a:off x="7086600" y="5257800"/>
            <a:ext cx="6858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27"/>
          <p:cNvSpPr>
            <a:spLocks noChangeShapeType="1"/>
          </p:cNvSpPr>
          <p:nvPr/>
        </p:nvSpPr>
        <p:spPr bwMode="auto">
          <a:xfrm>
            <a:off x="6553200" y="5257800"/>
            <a:ext cx="4572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8"/>
          <p:cNvSpPr>
            <a:spLocks noChangeShapeType="1"/>
          </p:cNvSpPr>
          <p:nvPr/>
        </p:nvSpPr>
        <p:spPr bwMode="auto">
          <a:xfrm>
            <a:off x="7848600" y="5257800"/>
            <a:ext cx="7620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9"/>
          <p:cNvSpPr>
            <a:spLocks noChangeShapeType="1"/>
          </p:cNvSpPr>
          <p:nvPr/>
        </p:nvSpPr>
        <p:spPr bwMode="auto">
          <a:xfrm>
            <a:off x="8686800" y="5257800"/>
            <a:ext cx="304800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Text Box 30"/>
          <p:cNvSpPr txBox="1">
            <a:spLocks noChangeArrowheads="1"/>
          </p:cNvSpPr>
          <p:nvPr/>
        </p:nvSpPr>
        <p:spPr bwMode="auto">
          <a:xfrm>
            <a:off x="152400" y="4724400"/>
            <a:ext cx="921996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500" i="0" dirty="0" err="1">
                <a:latin typeface="Gill Sans MT" pitchFamily="34" charset="0"/>
              </a:rPr>
              <a:t>nato</a:t>
            </a:r>
            <a:r>
              <a:rPr lang="en-US" sz="2500" i="0" dirty="0">
                <a:latin typeface="Gill Sans MT" pitchFamily="34" charset="0"/>
              </a:rPr>
              <a:t>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must</a:t>
            </a:r>
            <a:r>
              <a:rPr lang="en-US" sz="2500" i="0" dirty="0">
                <a:latin typeface="Gill Sans MT" pitchFamily="34" charset="0"/>
              </a:rPr>
              <a:t>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either say  "   yes  "   or</a:t>
            </a:r>
            <a:r>
              <a:rPr lang="en-US" sz="2500" i="0" dirty="0">
                <a:latin typeface="Gill Sans MT" pitchFamily="34" charset="0"/>
              </a:rPr>
              <a:t> 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"   no  "   to  the </a:t>
            </a:r>
            <a:r>
              <a:rPr lang="en-US" sz="2500" i="0" dirty="0" err="1">
                <a:solidFill>
                  <a:schemeClr val="bg1"/>
                </a:solidFill>
                <a:latin typeface="Gill Sans MT" pitchFamily="34" charset="0"/>
              </a:rPr>
              <a:t>baltic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 states</a:t>
            </a:r>
            <a:r>
              <a:rPr lang="en-US" sz="2500" i="0" dirty="0">
                <a:latin typeface="Gill Sans MT" pitchFamily="34" charset="0"/>
              </a:rPr>
              <a:t>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 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0" name="Oval 5"/>
          <p:cNvSpPr>
            <a:spLocks noChangeArrowheads="1"/>
          </p:cNvSpPr>
          <p:nvPr/>
        </p:nvSpPr>
        <p:spPr bwMode="auto">
          <a:xfrm>
            <a:off x="1600200" y="38862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Oval 6"/>
          <p:cNvSpPr>
            <a:spLocks noChangeArrowheads="1"/>
          </p:cNvSpPr>
          <p:nvPr/>
        </p:nvSpPr>
        <p:spPr bwMode="auto">
          <a:xfrm>
            <a:off x="4648200" y="3886200"/>
            <a:ext cx="381000" cy="381000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Oval 7"/>
          <p:cNvSpPr>
            <a:spLocks noChangeArrowheads="1"/>
          </p:cNvSpPr>
          <p:nvPr/>
        </p:nvSpPr>
        <p:spPr bwMode="auto">
          <a:xfrm>
            <a:off x="2819400" y="38862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Oval 8"/>
          <p:cNvSpPr>
            <a:spLocks noChangeArrowheads="1"/>
          </p:cNvSpPr>
          <p:nvPr/>
        </p:nvSpPr>
        <p:spPr bwMode="auto">
          <a:xfrm>
            <a:off x="3429000" y="3886200"/>
            <a:ext cx="381000" cy="381000"/>
          </a:xfrm>
          <a:prstGeom prst="ellipse">
            <a:avLst/>
          </a:prstGeom>
          <a:solidFill>
            <a:srgbClr val="00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Oval 9"/>
          <p:cNvSpPr>
            <a:spLocks noChangeArrowheads="1"/>
          </p:cNvSpPr>
          <p:nvPr/>
        </p:nvSpPr>
        <p:spPr bwMode="auto">
          <a:xfrm>
            <a:off x="5257800" y="3886200"/>
            <a:ext cx="381000" cy="381000"/>
          </a:xfrm>
          <a:prstGeom prst="ellipse">
            <a:avLst/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Oval 10"/>
          <p:cNvSpPr>
            <a:spLocks noChangeArrowheads="1"/>
          </p:cNvSpPr>
          <p:nvPr/>
        </p:nvSpPr>
        <p:spPr bwMode="auto">
          <a:xfrm>
            <a:off x="2209800" y="3886200"/>
            <a:ext cx="381000" cy="381000"/>
          </a:xfrm>
          <a:prstGeom prst="ellipse">
            <a:avLst/>
          </a:prstGeom>
          <a:solidFill>
            <a:srgbClr val="00FF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Oval 11"/>
          <p:cNvSpPr>
            <a:spLocks noChangeArrowheads="1"/>
          </p:cNvSpPr>
          <p:nvPr/>
        </p:nvSpPr>
        <p:spPr bwMode="auto">
          <a:xfrm>
            <a:off x="4038600" y="3886200"/>
            <a:ext cx="381000" cy="381000"/>
          </a:xfrm>
          <a:prstGeom prst="ellipse">
            <a:avLst/>
          </a:prstGeom>
          <a:solidFill>
            <a:srgbClr val="FF66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Oval 12"/>
          <p:cNvSpPr>
            <a:spLocks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solidFill>
            <a:srgbClr val="800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Oval 13"/>
          <p:cNvSpPr>
            <a:spLocks noChangeArrowheads="1"/>
          </p:cNvSpPr>
          <p:nvPr/>
        </p:nvSpPr>
        <p:spPr bwMode="auto">
          <a:xfrm>
            <a:off x="6477000" y="3886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Oval 14"/>
          <p:cNvSpPr>
            <a:spLocks noChangeArrowheads="1"/>
          </p:cNvSpPr>
          <p:nvPr/>
        </p:nvSpPr>
        <p:spPr bwMode="auto">
          <a:xfrm>
            <a:off x="7086600" y="3886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912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743200"/>
          </a:xfrm>
          <a:noFill/>
          <a:ln/>
        </p:spPr>
        <p:txBody>
          <a:bodyPr/>
          <a:lstStyle/>
          <a:p>
            <a:r>
              <a:rPr lang="en-US" dirty="0"/>
              <a:t>Generative story: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word positions (n = 16)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colors (m = 10)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Assign word positions to colors</a:t>
            </a:r>
          </a:p>
          <a:p>
            <a:pPr lvl="1"/>
            <a:r>
              <a:rPr lang="en-US" dirty="0"/>
              <a:t>Generate a lexical pattern for each color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921830" y="381000"/>
            <a:ext cx="7307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 err="1">
                <a:latin typeface="Gill Sans MT" pitchFamily="34" charset="0"/>
              </a:rPr>
              <a:t>nato</a:t>
            </a:r>
            <a:r>
              <a:rPr lang="en-US" sz="2400" i="0" dirty="0">
                <a:latin typeface="Gill Sans MT" pitchFamily="34" charset="0"/>
              </a:rPr>
              <a:t> must either say " yes " or " no " to the </a:t>
            </a:r>
            <a:r>
              <a:rPr lang="en-US" sz="2400" i="0" dirty="0" err="1">
                <a:latin typeface="Gill Sans MT" pitchFamily="34" charset="0"/>
              </a:rPr>
              <a:t>baltic</a:t>
            </a:r>
            <a:r>
              <a:rPr lang="en-US" sz="2400" i="0" dirty="0">
                <a:latin typeface="Gill Sans MT" pitchFamily="34" charset="0"/>
              </a:rPr>
              <a:t> states .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28600" y="5257800"/>
            <a:ext cx="609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5"/>
          <p:cNvSpPr>
            <a:spLocks noChangeShapeType="1"/>
          </p:cNvSpPr>
          <p:nvPr/>
        </p:nvSpPr>
        <p:spPr bwMode="auto">
          <a:xfrm>
            <a:off x="914400" y="5257800"/>
            <a:ext cx="609600" cy="0"/>
          </a:xfrm>
          <a:prstGeom prst="line">
            <a:avLst/>
          </a:prstGeom>
          <a:noFill/>
          <a:ln w="50800">
            <a:solidFill>
              <a:srgbClr val="00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>
            <a:off x="1600200" y="5257800"/>
            <a:ext cx="76200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438400" y="5257800"/>
            <a:ext cx="457200" cy="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8"/>
          <p:cNvSpPr>
            <a:spLocks noChangeShapeType="1"/>
          </p:cNvSpPr>
          <p:nvPr/>
        </p:nvSpPr>
        <p:spPr bwMode="auto">
          <a:xfrm>
            <a:off x="29718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19"/>
          <p:cNvSpPr>
            <a:spLocks noChangeShapeType="1"/>
          </p:cNvSpPr>
          <p:nvPr/>
        </p:nvSpPr>
        <p:spPr bwMode="auto">
          <a:xfrm>
            <a:off x="38862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>
            <a:off x="3352800" y="5257800"/>
            <a:ext cx="4572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21"/>
          <p:cNvSpPr>
            <a:spLocks noChangeShapeType="1"/>
          </p:cNvSpPr>
          <p:nvPr/>
        </p:nvSpPr>
        <p:spPr bwMode="auto">
          <a:xfrm>
            <a:off x="5181600" y="5257800"/>
            <a:ext cx="381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2"/>
          <p:cNvSpPr>
            <a:spLocks noChangeShapeType="1"/>
          </p:cNvSpPr>
          <p:nvPr/>
        </p:nvSpPr>
        <p:spPr bwMode="auto">
          <a:xfrm>
            <a:off x="56388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23"/>
          <p:cNvSpPr>
            <a:spLocks noChangeShapeType="1"/>
          </p:cNvSpPr>
          <p:nvPr/>
        </p:nvSpPr>
        <p:spPr bwMode="auto">
          <a:xfrm>
            <a:off x="48006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4"/>
          <p:cNvSpPr>
            <a:spLocks noChangeShapeType="1"/>
          </p:cNvSpPr>
          <p:nvPr/>
        </p:nvSpPr>
        <p:spPr bwMode="auto">
          <a:xfrm>
            <a:off x="4267200" y="5257800"/>
            <a:ext cx="49518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25"/>
          <p:cNvSpPr>
            <a:spLocks noChangeShapeType="1"/>
          </p:cNvSpPr>
          <p:nvPr/>
        </p:nvSpPr>
        <p:spPr bwMode="auto">
          <a:xfrm>
            <a:off x="6096000" y="5257800"/>
            <a:ext cx="3810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6"/>
          <p:cNvSpPr>
            <a:spLocks noChangeShapeType="1"/>
          </p:cNvSpPr>
          <p:nvPr/>
        </p:nvSpPr>
        <p:spPr bwMode="auto">
          <a:xfrm>
            <a:off x="7086600" y="5257800"/>
            <a:ext cx="6858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27"/>
          <p:cNvSpPr>
            <a:spLocks noChangeShapeType="1"/>
          </p:cNvSpPr>
          <p:nvPr/>
        </p:nvSpPr>
        <p:spPr bwMode="auto">
          <a:xfrm>
            <a:off x="6553200" y="5257800"/>
            <a:ext cx="4572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8"/>
          <p:cNvSpPr>
            <a:spLocks noChangeShapeType="1"/>
          </p:cNvSpPr>
          <p:nvPr/>
        </p:nvSpPr>
        <p:spPr bwMode="auto">
          <a:xfrm>
            <a:off x="7848600" y="5257800"/>
            <a:ext cx="7620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9"/>
          <p:cNvSpPr>
            <a:spLocks noChangeShapeType="1"/>
          </p:cNvSpPr>
          <p:nvPr/>
        </p:nvSpPr>
        <p:spPr bwMode="auto">
          <a:xfrm>
            <a:off x="8686800" y="5257800"/>
            <a:ext cx="304800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Text Box 30"/>
          <p:cNvSpPr txBox="1">
            <a:spLocks noChangeArrowheads="1"/>
          </p:cNvSpPr>
          <p:nvPr/>
        </p:nvSpPr>
        <p:spPr bwMode="auto">
          <a:xfrm>
            <a:off x="152400" y="4724400"/>
            <a:ext cx="921996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500" i="0" dirty="0" err="1">
                <a:latin typeface="Gill Sans MT" pitchFamily="34" charset="0"/>
              </a:rPr>
              <a:t>nato</a:t>
            </a:r>
            <a:r>
              <a:rPr lang="en-US" sz="2500" i="0" dirty="0">
                <a:latin typeface="Gill Sans MT" pitchFamily="34" charset="0"/>
              </a:rPr>
              <a:t> must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either say  "   yes  "   or</a:t>
            </a:r>
            <a:r>
              <a:rPr lang="en-US" sz="2500" i="0" dirty="0">
                <a:latin typeface="Gill Sans MT" pitchFamily="34" charset="0"/>
              </a:rPr>
              <a:t> 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"   no  "   to  the </a:t>
            </a:r>
            <a:r>
              <a:rPr lang="en-US" sz="2500" i="0" dirty="0" err="1">
                <a:solidFill>
                  <a:schemeClr val="bg1"/>
                </a:solidFill>
                <a:latin typeface="Gill Sans MT" pitchFamily="34" charset="0"/>
              </a:rPr>
              <a:t>baltic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 states</a:t>
            </a:r>
            <a:r>
              <a:rPr lang="en-US" sz="2500" i="0" dirty="0">
                <a:latin typeface="Gill Sans MT" pitchFamily="34" charset="0"/>
              </a:rPr>
              <a:t>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 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0" name="Oval 5"/>
          <p:cNvSpPr>
            <a:spLocks noChangeArrowheads="1"/>
          </p:cNvSpPr>
          <p:nvPr/>
        </p:nvSpPr>
        <p:spPr bwMode="auto">
          <a:xfrm>
            <a:off x="1600200" y="38862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Oval 6"/>
          <p:cNvSpPr>
            <a:spLocks noChangeArrowheads="1"/>
          </p:cNvSpPr>
          <p:nvPr/>
        </p:nvSpPr>
        <p:spPr bwMode="auto">
          <a:xfrm>
            <a:off x="4648200" y="3886200"/>
            <a:ext cx="381000" cy="381000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Oval 7"/>
          <p:cNvSpPr>
            <a:spLocks noChangeArrowheads="1"/>
          </p:cNvSpPr>
          <p:nvPr/>
        </p:nvSpPr>
        <p:spPr bwMode="auto">
          <a:xfrm>
            <a:off x="2819400" y="38862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Oval 8"/>
          <p:cNvSpPr>
            <a:spLocks noChangeArrowheads="1"/>
          </p:cNvSpPr>
          <p:nvPr/>
        </p:nvSpPr>
        <p:spPr bwMode="auto">
          <a:xfrm>
            <a:off x="3429000" y="3886200"/>
            <a:ext cx="381000" cy="381000"/>
          </a:xfrm>
          <a:prstGeom prst="ellipse">
            <a:avLst/>
          </a:prstGeom>
          <a:solidFill>
            <a:srgbClr val="00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Oval 9"/>
          <p:cNvSpPr>
            <a:spLocks noChangeArrowheads="1"/>
          </p:cNvSpPr>
          <p:nvPr/>
        </p:nvSpPr>
        <p:spPr bwMode="auto">
          <a:xfrm>
            <a:off x="5257800" y="3886200"/>
            <a:ext cx="381000" cy="381000"/>
          </a:xfrm>
          <a:prstGeom prst="ellipse">
            <a:avLst/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Oval 10"/>
          <p:cNvSpPr>
            <a:spLocks noChangeArrowheads="1"/>
          </p:cNvSpPr>
          <p:nvPr/>
        </p:nvSpPr>
        <p:spPr bwMode="auto">
          <a:xfrm>
            <a:off x="2209800" y="3886200"/>
            <a:ext cx="381000" cy="381000"/>
          </a:xfrm>
          <a:prstGeom prst="ellipse">
            <a:avLst/>
          </a:prstGeom>
          <a:solidFill>
            <a:srgbClr val="00FF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Oval 11"/>
          <p:cNvSpPr>
            <a:spLocks noChangeArrowheads="1"/>
          </p:cNvSpPr>
          <p:nvPr/>
        </p:nvSpPr>
        <p:spPr bwMode="auto">
          <a:xfrm>
            <a:off x="4038600" y="3886200"/>
            <a:ext cx="381000" cy="381000"/>
          </a:xfrm>
          <a:prstGeom prst="ellipse">
            <a:avLst/>
          </a:prstGeom>
          <a:solidFill>
            <a:srgbClr val="FF66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Oval 12"/>
          <p:cNvSpPr>
            <a:spLocks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solidFill>
            <a:srgbClr val="800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Oval 13"/>
          <p:cNvSpPr>
            <a:spLocks noChangeArrowheads="1"/>
          </p:cNvSpPr>
          <p:nvPr/>
        </p:nvSpPr>
        <p:spPr bwMode="auto">
          <a:xfrm>
            <a:off x="6477000" y="3886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Oval 14"/>
          <p:cNvSpPr>
            <a:spLocks noChangeArrowheads="1"/>
          </p:cNvSpPr>
          <p:nvPr/>
        </p:nvSpPr>
        <p:spPr bwMode="auto">
          <a:xfrm>
            <a:off x="7086600" y="3886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04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743200"/>
          </a:xfrm>
          <a:noFill/>
          <a:ln/>
        </p:spPr>
        <p:txBody>
          <a:bodyPr/>
          <a:lstStyle/>
          <a:p>
            <a:r>
              <a:rPr lang="en-US" dirty="0"/>
              <a:t>Generative story: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word positions (n = 16)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colors (m = 10)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Assign word positions to colors</a:t>
            </a:r>
          </a:p>
          <a:p>
            <a:pPr lvl="1"/>
            <a:r>
              <a:rPr lang="en-US" dirty="0"/>
              <a:t>Generate a lexical pattern for each color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921830" y="381000"/>
            <a:ext cx="7307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 err="1">
                <a:latin typeface="Gill Sans MT" pitchFamily="34" charset="0"/>
              </a:rPr>
              <a:t>nato</a:t>
            </a:r>
            <a:r>
              <a:rPr lang="en-US" sz="2400" i="0" dirty="0">
                <a:latin typeface="Gill Sans MT" pitchFamily="34" charset="0"/>
              </a:rPr>
              <a:t> must either say " yes " or " no " to the </a:t>
            </a:r>
            <a:r>
              <a:rPr lang="en-US" sz="2400" i="0" dirty="0" err="1">
                <a:latin typeface="Gill Sans MT" pitchFamily="34" charset="0"/>
              </a:rPr>
              <a:t>baltic</a:t>
            </a:r>
            <a:r>
              <a:rPr lang="en-US" sz="2400" i="0" dirty="0">
                <a:latin typeface="Gill Sans MT" pitchFamily="34" charset="0"/>
              </a:rPr>
              <a:t> states .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28600" y="5257800"/>
            <a:ext cx="609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5"/>
          <p:cNvSpPr>
            <a:spLocks noChangeShapeType="1"/>
          </p:cNvSpPr>
          <p:nvPr/>
        </p:nvSpPr>
        <p:spPr bwMode="auto">
          <a:xfrm>
            <a:off x="914400" y="5257800"/>
            <a:ext cx="609600" cy="0"/>
          </a:xfrm>
          <a:prstGeom prst="line">
            <a:avLst/>
          </a:prstGeom>
          <a:noFill/>
          <a:ln w="50800">
            <a:solidFill>
              <a:srgbClr val="00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>
            <a:off x="1600200" y="5257800"/>
            <a:ext cx="76200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438400" y="5257800"/>
            <a:ext cx="457200" cy="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8"/>
          <p:cNvSpPr>
            <a:spLocks noChangeShapeType="1"/>
          </p:cNvSpPr>
          <p:nvPr/>
        </p:nvSpPr>
        <p:spPr bwMode="auto">
          <a:xfrm>
            <a:off x="29718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19"/>
          <p:cNvSpPr>
            <a:spLocks noChangeShapeType="1"/>
          </p:cNvSpPr>
          <p:nvPr/>
        </p:nvSpPr>
        <p:spPr bwMode="auto">
          <a:xfrm>
            <a:off x="38862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>
            <a:off x="3352800" y="5257800"/>
            <a:ext cx="4572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21"/>
          <p:cNvSpPr>
            <a:spLocks noChangeShapeType="1"/>
          </p:cNvSpPr>
          <p:nvPr/>
        </p:nvSpPr>
        <p:spPr bwMode="auto">
          <a:xfrm>
            <a:off x="5181600" y="5257800"/>
            <a:ext cx="381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2"/>
          <p:cNvSpPr>
            <a:spLocks noChangeShapeType="1"/>
          </p:cNvSpPr>
          <p:nvPr/>
        </p:nvSpPr>
        <p:spPr bwMode="auto">
          <a:xfrm>
            <a:off x="56388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23"/>
          <p:cNvSpPr>
            <a:spLocks noChangeShapeType="1"/>
          </p:cNvSpPr>
          <p:nvPr/>
        </p:nvSpPr>
        <p:spPr bwMode="auto">
          <a:xfrm>
            <a:off x="48006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4"/>
          <p:cNvSpPr>
            <a:spLocks noChangeShapeType="1"/>
          </p:cNvSpPr>
          <p:nvPr/>
        </p:nvSpPr>
        <p:spPr bwMode="auto">
          <a:xfrm>
            <a:off x="4267200" y="5257800"/>
            <a:ext cx="49518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25"/>
          <p:cNvSpPr>
            <a:spLocks noChangeShapeType="1"/>
          </p:cNvSpPr>
          <p:nvPr/>
        </p:nvSpPr>
        <p:spPr bwMode="auto">
          <a:xfrm>
            <a:off x="6096000" y="5257800"/>
            <a:ext cx="3810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6"/>
          <p:cNvSpPr>
            <a:spLocks noChangeShapeType="1"/>
          </p:cNvSpPr>
          <p:nvPr/>
        </p:nvSpPr>
        <p:spPr bwMode="auto">
          <a:xfrm>
            <a:off x="7086600" y="5257800"/>
            <a:ext cx="6858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27"/>
          <p:cNvSpPr>
            <a:spLocks noChangeShapeType="1"/>
          </p:cNvSpPr>
          <p:nvPr/>
        </p:nvSpPr>
        <p:spPr bwMode="auto">
          <a:xfrm>
            <a:off x="6553200" y="5257800"/>
            <a:ext cx="4572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8"/>
          <p:cNvSpPr>
            <a:spLocks noChangeShapeType="1"/>
          </p:cNvSpPr>
          <p:nvPr/>
        </p:nvSpPr>
        <p:spPr bwMode="auto">
          <a:xfrm>
            <a:off x="7848600" y="5257800"/>
            <a:ext cx="7620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9"/>
          <p:cNvSpPr>
            <a:spLocks noChangeShapeType="1"/>
          </p:cNvSpPr>
          <p:nvPr/>
        </p:nvSpPr>
        <p:spPr bwMode="auto">
          <a:xfrm>
            <a:off x="8686800" y="5257800"/>
            <a:ext cx="304800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Text Box 30"/>
          <p:cNvSpPr txBox="1">
            <a:spLocks noChangeArrowheads="1"/>
          </p:cNvSpPr>
          <p:nvPr/>
        </p:nvSpPr>
        <p:spPr bwMode="auto">
          <a:xfrm>
            <a:off x="152400" y="4724400"/>
            <a:ext cx="921996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500" i="0" dirty="0" err="1">
                <a:latin typeface="Gill Sans MT" pitchFamily="34" charset="0"/>
              </a:rPr>
              <a:t>nato</a:t>
            </a:r>
            <a:r>
              <a:rPr lang="en-US" sz="2500" i="0" dirty="0">
                <a:latin typeface="Gill Sans MT" pitchFamily="34" charset="0"/>
              </a:rPr>
              <a:t> must either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say  "   yes  "   </a:t>
            </a:r>
            <a:r>
              <a:rPr lang="en-US" sz="2500" i="0" dirty="0">
                <a:latin typeface="Gill Sans MT" pitchFamily="34" charset="0"/>
              </a:rPr>
              <a:t>or 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"   no  "   to  the </a:t>
            </a:r>
            <a:r>
              <a:rPr lang="en-US" sz="2500" i="0" dirty="0" err="1">
                <a:solidFill>
                  <a:schemeClr val="bg1"/>
                </a:solidFill>
                <a:latin typeface="Gill Sans MT" pitchFamily="34" charset="0"/>
              </a:rPr>
              <a:t>baltic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 states</a:t>
            </a:r>
            <a:r>
              <a:rPr lang="en-US" sz="2500" i="0" dirty="0">
                <a:latin typeface="Gill Sans MT" pitchFamily="34" charset="0"/>
              </a:rPr>
              <a:t>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 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0" name="Oval 5"/>
          <p:cNvSpPr>
            <a:spLocks noChangeArrowheads="1"/>
          </p:cNvSpPr>
          <p:nvPr/>
        </p:nvSpPr>
        <p:spPr bwMode="auto">
          <a:xfrm>
            <a:off x="1600200" y="38862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Oval 6"/>
          <p:cNvSpPr>
            <a:spLocks noChangeArrowheads="1"/>
          </p:cNvSpPr>
          <p:nvPr/>
        </p:nvSpPr>
        <p:spPr bwMode="auto">
          <a:xfrm>
            <a:off x="4648200" y="3886200"/>
            <a:ext cx="381000" cy="381000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Oval 7"/>
          <p:cNvSpPr>
            <a:spLocks noChangeArrowheads="1"/>
          </p:cNvSpPr>
          <p:nvPr/>
        </p:nvSpPr>
        <p:spPr bwMode="auto">
          <a:xfrm>
            <a:off x="2819400" y="38862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Oval 8"/>
          <p:cNvSpPr>
            <a:spLocks noChangeArrowheads="1"/>
          </p:cNvSpPr>
          <p:nvPr/>
        </p:nvSpPr>
        <p:spPr bwMode="auto">
          <a:xfrm>
            <a:off x="3429000" y="3886200"/>
            <a:ext cx="381000" cy="381000"/>
          </a:xfrm>
          <a:prstGeom prst="ellipse">
            <a:avLst/>
          </a:prstGeom>
          <a:solidFill>
            <a:srgbClr val="00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Oval 9"/>
          <p:cNvSpPr>
            <a:spLocks noChangeArrowheads="1"/>
          </p:cNvSpPr>
          <p:nvPr/>
        </p:nvSpPr>
        <p:spPr bwMode="auto">
          <a:xfrm>
            <a:off x="5257800" y="3886200"/>
            <a:ext cx="381000" cy="381000"/>
          </a:xfrm>
          <a:prstGeom prst="ellipse">
            <a:avLst/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Oval 10"/>
          <p:cNvSpPr>
            <a:spLocks noChangeArrowheads="1"/>
          </p:cNvSpPr>
          <p:nvPr/>
        </p:nvSpPr>
        <p:spPr bwMode="auto">
          <a:xfrm>
            <a:off x="2209800" y="3886200"/>
            <a:ext cx="381000" cy="381000"/>
          </a:xfrm>
          <a:prstGeom prst="ellipse">
            <a:avLst/>
          </a:prstGeom>
          <a:solidFill>
            <a:srgbClr val="00FF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Oval 11"/>
          <p:cNvSpPr>
            <a:spLocks noChangeArrowheads="1"/>
          </p:cNvSpPr>
          <p:nvPr/>
        </p:nvSpPr>
        <p:spPr bwMode="auto">
          <a:xfrm>
            <a:off x="4038600" y="3886200"/>
            <a:ext cx="381000" cy="381000"/>
          </a:xfrm>
          <a:prstGeom prst="ellipse">
            <a:avLst/>
          </a:prstGeom>
          <a:solidFill>
            <a:srgbClr val="FF66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Oval 12"/>
          <p:cNvSpPr>
            <a:spLocks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solidFill>
            <a:srgbClr val="800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Oval 13"/>
          <p:cNvSpPr>
            <a:spLocks noChangeArrowheads="1"/>
          </p:cNvSpPr>
          <p:nvPr/>
        </p:nvSpPr>
        <p:spPr bwMode="auto">
          <a:xfrm>
            <a:off x="6477000" y="3886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Oval 14"/>
          <p:cNvSpPr>
            <a:spLocks noChangeArrowheads="1"/>
          </p:cNvSpPr>
          <p:nvPr/>
        </p:nvSpPr>
        <p:spPr bwMode="auto">
          <a:xfrm>
            <a:off x="7086600" y="3886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28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42" name="Text Box 2"/>
          <p:cNvSpPr txBox="1">
            <a:spLocks noChangeArrowheads="1"/>
          </p:cNvSpPr>
          <p:nvPr/>
        </p:nvSpPr>
        <p:spPr bwMode="auto">
          <a:xfrm>
            <a:off x="685800" y="228600"/>
            <a:ext cx="7743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>
                <a:latin typeface="Arial" pitchFamily="34" charset="0"/>
              </a:rPr>
              <a:t>nato must either say " yes " or " no " to the baltic states .</a:t>
            </a:r>
          </a:p>
        </p:txBody>
      </p:sp>
      <p:sp>
        <p:nvSpPr>
          <p:cNvPr id="129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743200"/>
          </a:xfrm>
          <a:noFill/>
          <a:ln/>
        </p:spPr>
        <p:txBody>
          <a:bodyPr/>
          <a:lstStyle/>
          <a:p>
            <a:r>
              <a:rPr lang="en-US"/>
              <a:t>Generative story:</a:t>
            </a:r>
          </a:p>
          <a:p>
            <a:pPr lvl="1"/>
            <a:r>
              <a:rPr lang="en-US">
                <a:solidFill>
                  <a:srgbClr val="B2B2B2"/>
                </a:solidFill>
              </a:rPr>
              <a:t>Generate n word positions (n = 16)</a:t>
            </a:r>
          </a:p>
          <a:p>
            <a:pPr lvl="1"/>
            <a:r>
              <a:rPr lang="en-US">
                <a:solidFill>
                  <a:srgbClr val="B2B2B2"/>
                </a:solidFill>
              </a:rPr>
              <a:t>Generate m colors (m = 10)</a:t>
            </a:r>
          </a:p>
          <a:p>
            <a:pPr lvl="1"/>
            <a:r>
              <a:rPr lang="en-US">
                <a:solidFill>
                  <a:srgbClr val="B2B2B2"/>
                </a:solidFill>
              </a:rPr>
              <a:t>Assign word positions to colors</a:t>
            </a:r>
          </a:p>
          <a:p>
            <a:pPr lvl="1"/>
            <a:r>
              <a:rPr lang="en-US"/>
              <a:t>Generate a lexical pattern for each color</a:t>
            </a:r>
          </a:p>
        </p:txBody>
      </p:sp>
      <p:sp>
        <p:nvSpPr>
          <p:cNvPr id="1290271" name="Rectangle 31"/>
          <p:cNvSpPr>
            <a:spLocks noChangeArrowheads="1"/>
          </p:cNvSpPr>
          <p:nvPr/>
        </p:nvSpPr>
        <p:spPr bwMode="auto">
          <a:xfrm>
            <a:off x="304800" y="228600"/>
            <a:ext cx="8534400" cy="33528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272" name="Rectangle 32"/>
          <p:cNvSpPr>
            <a:spLocks noChangeArrowheads="1"/>
          </p:cNvSpPr>
          <p:nvPr/>
        </p:nvSpPr>
        <p:spPr bwMode="auto">
          <a:xfrm>
            <a:off x="381000" y="228600"/>
            <a:ext cx="3733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990000"/>
              </a:buClr>
              <a:buSzPct val="80000"/>
              <a:buFont typeface="Wingdings" pitchFamily="2" charset="2"/>
              <a:buNone/>
            </a:pPr>
            <a:r>
              <a:rPr lang="en-US" sz="3200" i="0" dirty="0">
                <a:latin typeface="Gill Sans MT" pitchFamily="34" charset="0"/>
              </a:rPr>
              <a:t>What is a </a:t>
            </a:r>
            <a:r>
              <a:rPr lang="en-US" sz="3200" b="1" i="0" dirty="0">
                <a:latin typeface="Gill Sans MT" pitchFamily="34" charset="0"/>
              </a:rPr>
              <a:t>pattern</a:t>
            </a:r>
            <a:r>
              <a:rPr lang="en-US" sz="3200" i="0" dirty="0">
                <a:latin typeface="Gill Sans MT" pitchFamily="34" charset="0"/>
              </a:rPr>
              <a:t>?</a:t>
            </a:r>
          </a:p>
        </p:txBody>
      </p:sp>
      <p:sp>
        <p:nvSpPr>
          <p:cNvPr id="1290275" name="Text Box 35"/>
          <p:cNvSpPr txBox="1">
            <a:spLocks noChangeArrowheads="1"/>
          </p:cNvSpPr>
          <p:nvPr/>
        </p:nvSpPr>
        <p:spPr bwMode="auto">
          <a:xfrm>
            <a:off x="685800" y="2209800"/>
            <a:ext cx="172675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 err="1">
                <a:latin typeface="Gill Sans MT" pitchFamily="34" charset="0"/>
              </a:rPr>
              <a:t>nato</a:t>
            </a:r>
            <a:endParaRPr lang="en-US" sz="2400" i="0" dirty="0">
              <a:latin typeface="Gill Sans MT" pitchFamily="34" charset="0"/>
            </a:endParaRPr>
          </a:p>
          <a:p>
            <a:r>
              <a:rPr lang="en-US" sz="2400" i="0" dirty="0">
                <a:latin typeface="Gill Sans MT" pitchFamily="34" charset="0"/>
              </a:rPr>
              <a:t>must</a:t>
            </a:r>
          </a:p>
          <a:p>
            <a:r>
              <a:rPr lang="en-US" sz="2400" i="0" dirty="0">
                <a:latin typeface="Gill Sans MT" pitchFamily="34" charset="0"/>
              </a:rPr>
              <a:t>either __ or</a:t>
            </a:r>
          </a:p>
        </p:txBody>
      </p:sp>
      <p:sp>
        <p:nvSpPr>
          <p:cNvPr id="1290277" name="Text Box 37"/>
          <p:cNvSpPr txBox="1">
            <a:spLocks noChangeArrowheads="1"/>
          </p:cNvSpPr>
          <p:nvPr/>
        </p:nvSpPr>
        <p:spPr bwMode="auto">
          <a:xfrm>
            <a:off x="3429000" y="2209800"/>
            <a:ext cx="504497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>
                <a:latin typeface="Gill Sans MT" pitchFamily="34" charset="0"/>
              </a:rPr>
              <a:t>the united states</a:t>
            </a:r>
          </a:p>
          <a:p>
            <a:r>
              <a:rPr lang="en-US" sz="2400" i="0" dirty="0">
                <a:latin typeface="Gill Sans MT" pitchFamily="34" charset="0"/>
              </a:rPr>
              <a:t>according to the __ ,</a:t>
            </a:r>
          </a:p>
          <a:p>
            <a:r>
              <a:rPr lang="en-US" sz="2400" i="0" dirty="0">
                <a:latin typeface="Gill Sans MT" pitchFamily="34" charset="0"/>
              </a:rPr>
              <a:t>countries __ their __ the united states</a:t>
            </a:r>
          </a:p>
        </p:txBody>
      </p:sp>
      <p:sp>
        <p:nvSpPr>
          <p:cNvPr id="1290278" name="Rectangle 38"/>
          <p:cNvSpPr>
            <a:spLocks noChangeArrowheads="1"/>
          </p:cNvSpPr>
          <p:nvPr/>
        </p:nvSpPr>
        <p:spPr bwMode="auto">
          <a:xfrm>
            <a:off x="381000" y="762000"/>
            <a:ext cx="8077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990000"/>
              </a:buClr>
              <a:buSzPct val="80000"/>
              <a:buFont typeface="Wingdings" pitchFamily="2" charset="2"/>
              <a:buNone/>
            </a:pPr>
            <a:r>
              <a:rPr lang="en-US" sz="2400" i="0" dirty="0">
                <a:latin typeface="Gill Sans MT" pitchFamily="34" charset="0"/>
              </a:rPr>
              <a:t>	A sequence of symbols, possibly including the special symbol “__” which is used to indicate a gap of nonzero length</a:t>
            </a:r>
          </a:p>
          <a:p>
            <a:pPr marL="342900" indent="-342900" eaLnBrk="1" hangingPunct="1">
              <a:spcBef>
                <a:spcPct val="20000"/>
              </a:spcBef>
              <a:buClr>
                <a:srgbClr val="990000"/>
              </a:buClr>
              <a:buSzPct val="80000"/>
              <a:buFont typeface="Wingdings" pitchFamily="2" charset="2"/>
              <a:buNone/>
            </a:pPr>
            <a:endParaRPr lang="en-US" sz="900" i="0" dirty="0">
              <a:latin typeface="Gill Sans MT" pitchFamily="34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rgbClr val="990000"/>
              </a:buClr>
              <a:buSzPct val="80000"/>
              <a:buFont typeface="Wingdings" pitchFamily="2" charset="2"/>
              <a:buNone/>
            </a:pPr>
            <a:r>
              <a:rPr lang="en-US" sz="2800" i="0" dirty="0">
                <a:latin typeface="Gill Sans MT" pitchFamily="34" charset="0"/>
              </a:rPr>
              <a:t>Examples:</a:t>
            </a:r>
          </a:p>
        </p:txBody>
      </p:sp>
      <p:sp>
        <p:nvSpPr>
          <p:cNvPr id="36" name="Line 14"/>
          <p:cNvSpPr>
            <a:spLocks noChangeShapeType="1"/>
          </p:cNvSpPr>
          <p:nvPr/>
        </p:nvSpPr>
        <p:spPr bwMode="auto">
          <a:xfrm>
            <a:off x="228600" y="5257800"/>
            <a:ext cx="609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15"/>
          <p:cNvSpPr>
            <a:spLocks noChangeShapeType="1"/>
          </p:cNvSpPr>
          <p:nvPr/>
        </p:nvSpPr>
        <p:spPr bwMode="auto">
          <a:xfrm>
            <a:off x="914400" y="5257800"/>
            <a:ext cx="609600" cy="0"/>
          </a:xfrm>
          <a:prstGeom prst="line">
            <a:avLst/>
          </a:prstGeom>
          <a:noFill/>
          <a:ln w="50800">
            <a:solidFill>
              <a:srgbClr val="00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16"/>
          <p:cNvSpPr>
            <a:spLocks noChangeShapeType="1"/>
          </p:cNvSpPr>
          <p:nvPr/>
        </p:nvSpPr>
        <p:spPr bwMode="auto">
          <a:xfrm>
            <a:off x="1600200" y="5257800"/>
            <a:ext cx="76200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17"/>
          <p:cNvSpPr>
            <a:spLocks noChangeShapeType="1"/>
          </p:cNvSpPr>
          <p:nvPr/>
        </p:nvSpPr>
        <p:spPr bwMode="auto">
          <a:xfrm>
            <a:off x="2438400" y="5257800"/>
            <a:ext cx="457200" cy="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18"/>
          <p:cNvSpPr>
            <a:spLocks noChangeShapeType="1"/>
          </p:cNvSpPr>
          <p:nvPr/>
        </p:nvSpPr>
        <p:spPr bwMode="auto">
          <a:xfrm>
            <a:off x="29718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19"/>
          <p:cNvSpPr>
            <a:spLocks noChangeShapeType="1"/>
          </p:cNvSpPr>
          <p:nvPr/>
        </p:nvSpPr>
        <p:spPr bwMode="auto">
          <a:xfrm>
            <a:off x="38862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>
            <a:off x="3352800" y="5257800"/>
            <a:ext cx="4572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21"/>
          <p:cNvSpPr>
            <a:spLocks noChangeShapeType="1"/>
          </p:cNvSpPr>
          <p:nvPr/>
        </p:nvSpPr>
        <p:spPr bwMode="auto">
          <a:xfrm>
            <a:off x="5181600" y="5257800"/>
            <a:ext cx="381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2"/>
          <p:cNvSpPr>
            <a:spLocks noChangeShapeType="1"/>
          </p:cNvSpPr>
          <p:nvPr/>
        </p:nvSpPr>
        <p:spPr bwMode="auto">
          <a:xfrm>
            <a:off x="56388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23"/>
          <p:cNvSpPr>
            <a:spLocks noChangeShapeType="1"/>
          </p:cNvSpPr>
          <p:nvPr/>
        </p:nvSpPr>
        <p:spPr bwMode="auto">
          <a:xfrm>
            <a:off x="48006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4"/>
          <p:cNvSpPr>
            <a:spLocks noChangeShapeType="1"/>
          </p:cNvSpPr>
          <p:nvPr/>
        </p:nvSpPr>
        <p:spPr bwMode="auto">
          <a:xfrm>
            <a:off x="4267200" y="5257800"/>
            <a:ext cx="49518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5"/>
          <p:cNvSpPr>
            <a:spLocks noChangeShapeType="1"/>
          </p:cNvSpPr>
          <p:nvPr/>
        </p:nvSpPr>
        <p:spPr bwMode="auto">
          <a:xfrm>
            <a:off x="6096000" y="5257800"/>
            <a:ext cx="3810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26"/>
          <p:cNvSpPr>
            <a:spLocks noChangeShapeType="1"/>
          </p:cNvSpPr>
          <p:nvPr/>
        </p:nvSpPr>
        <p:spPr bwMode="auto">
          <a:xfrm>
            <a:off x="7086600" y="5257800"/>
            <a:ext cx="6858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27"/>
          <p:cNvSpPr>
            <a:spLocks noChangeShapeType="1"/>
          </p:cNvSpPr>
          <p:nvPr/>
        </p:nvSpPr>
        <p:spPr bwMode="auto">
          <a:xfrm>
            <a:off x="6553200" y="5257800"/>
            <a:ext cx="4572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28"/>
          <p:cNvSpPr>
            <a:spLocks noChangeShapeType="1"/>
          </p:cNvSpPr>
          <p:nvPr/>
        </p:nvSpPr>
        <p:spPr bwMode="auto">
          <a:xfrm>
            <a:off x="7848600" y="5257800"/>
            <a:ext cx="7620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29"/>
          <p:cNvSpPr>
            <a:spLocks noChangeShapeType="1"/>
          </p:cNvSpPr>
          <p:nvPr/>
        </p:nvSpPr>
        <p:spPr bwMode="auto">
          <a:xfrm>
            <a:off x="8686800" y="5257800"/>
            <a:ext cx="304800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Text Box 30"/>
          <p:cNvSpPr txBox="1">
            <a:spLocks noChangeArrowheads="1"/>
          </p:cNvSpPr>
          <p:nvPr/>
        </p:nvSpPr>
        <p:spPr bwMode="auto">
          <a:xfrm>
            <a:off x="152400" y="4724400"/>
            <a:ext cx="921996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500" i="0" dirty="0" err="1">
                <a:latin typeface="Gill Sans MT" pitchFamily="34" charset="0"/>
              </a:rPr>
              <a:t>nato</a:t>
            </a:r>
            <a:r>
              <a:rPr lang="en-US" sz="2500" i="0" dirty="0">
                <a:latin typeface="Gill Sans MT" pitchFamily="34" charset="0"/>
              </a:rPr>
              <a:t> must either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say  "   yes  "   </a:t>
            </a:r>
            <a:r>
              <a:rPr lang="en-US" sz="2500" i="0" dirty="0">
                <a:latin typeface="Gill Sans MT" pitchFamily="34" charset="0"/>
              </a:rPr>
              <a:t>or 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"   no  "   to  the </a:t>
            </a:r>
            <a:r>
              <a:rPr lang="en-US" sz="2500" i="0" dirty="0" err="1">
                <a:solidFill>
                  <a:schemeClr val="bg1"/>
                </a:solidFill>
                <a:latin typeface="Gill Sans MT" pitchFamily="34" charset="0"/>
              </a:rPr>
              <a:t>baltic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 states</a:t>
            </a:r>
            <a:r>
              <a:rPr lang="en-US" sz="2500" i="0" dirty="0">
                <a:latin typeface="Gill Sans MT" pitchFamily="34" charset="0"/>
              </a:rPr>
              <a:t>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 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4" name="Oval 5"/>
          <p:cNvSpPr>
            <a:spLocks noChangeArrowheads="1"/>
          </p:cNvSpPr>
          <p:nvPr/>
        </p:nvSpPr>
        <p:spPr bwMode="auto">
          <a:xfrm>
            <a:off x="1600200" y="38862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Oval 6"/>
          <p:cNvSpPr>
            <a:spLocks noChangeArrowheads="1"/>
          </p:cNvSpPr>
          <p:nvPr/>
        </p:nvSpPr>
        <p:spPr bwMode="auto">
          <a:xfrm>
            <a:off x="4648200" y="3886200"/>
            <a:ext cx="381000" cy="381000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Oval 7"/>
          <p:cNvSpPr>
            <a:spLocks noChangeArrowheads="1"/>
          </p:cNvSpPr>
          <p:nvPr/>
        </p:nvSpPr>
        <p:spPr bwMode="auto">
          <a:xfrm>
            <a:off x="2819400" y="38862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Oval 8"/>
          <p:cNvSpPr>
            <a:spLocks noChangeArrowheads="1"/>
          </p:cNvSpPr>
          <p:nvPr/>
        </p:nvSpPr>
        <p:spPr bwMode="auto">
          <a:xfrm>
            <a:off x="3429000" y="3886200"/>
            <a:ext cx="381000" cy="381000"/>
          </a:xfrm>
          <a:prstGeom prst="ellipse">
            <a:avLst/>
          </a:prstGeom>
          <a:solidFill>
            <a:srgbClr val="00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Oval 9"/>
          <p:cNvSpPr>
            <a:spLocks noChangeArrowheads="1"/>
          </p:cNvSpPr>
          <p:nvPr/>
        </p:nvSpPr>
        <p:spPr bwMode="auto">
          <a:xfrm>
            <a:off x="5257800" y="3886200"/>
            <a:ext cx="381000" cy="381000"/>
          </a:xfrm>
          <a:prstGeom prst="ellipse">
            <a:avLst/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Oval 10"/>
          <p:cNvSpPr>
            <a:spLocks noChangeArrowheads="1"/>
          </p:cNvSpPr>
          <p:nvPr/>
        </p:nvSpPr>
        <p:spPr bwMode="auto">
          <a:xfrm>
            <a:off x="2209800" y="3886200"/>
            <a:ext cx="381000" cy="381000"/>
          </a:xfrm>
          <a:prstGeom prst="ellipse">
            <a:avLst/>
          </a:prstGeom>
          <a:solidFill>
            <a:srgbClr val="00FF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Oval 11"/>
          <p:cNvSpPr>
            <a:spLocks noChangeArrowheads="1"/>
          </p:cNvSpPr>
          <p:nvPr/>
        </p:nvSpPr>
        <p:spPr bwMode="auto">
          <a:xfrm>
            <a:off x="4038600" y="3886200"/>
            <a:ext cx="381000" cy="381000"/>
          </a:xfrm>
          <a:prstGeom prst="ellipse">
            <a:avLst/>
          </a:prstGeom>
          <a:solidFill>
            <a:srgbClr val="FF66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Oval 12"/>
          <p:cNvSpPr>
            <a:spLocks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solidFill>
            <a:srgbClr val="800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Oval 13"/>
          <p:cNvSpPr>
            <a:spLocks noChangeArrowheads="1"/>
          </p:cNvSpPr>
          <p:nvPr/>
        </p:nvSpPr>
        <p:spPr bwMode="auto">
          <a:xfrm>
            <a:off x="6477000" y="3886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Oval 14"/>
          <p:cNvSpPr>
            <a:spLocks noChangeArrowheads="1"/>
          </p:cNvSpPr>
          <p:nvPr/>
        </p:nvSpPr>
        <p:spPr bwMode="auto">
          <a:xfrm>
            <a:off x="7086600" y="3886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271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743200"/>
          </a:xfrm>
          <a:noFill/>
          <a:ln/>
        </p:spPr>
        <p:txBody>
          <a:bodyPr/>
          <a:lstStyle/>
          <a:p>
            <a:r>
              <a:rPr lang="en-US" dirty="0"/>
              <a:t>Generative story: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word positions (n = 16)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colors (m = 10)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Assign word positions to colors</a:t>
            </a:r>
          </a:p>
          <a:p>
            <a:pPr lvl="1"/>
            <a:r>
              <a:rPr lang="en-US" dirty="0"/>
              <a:t>Generate a lexical pattern for each color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921830" y="381000"/>
            <a:ext cx="7307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 err="1">
                <a:latin typeface="Gill Sans MT" pitchFamily="34" charset="0"/>
              </a:rPr>
              <a:t>nato</a:t>
            </a:r>
            <a:r>
              <a:rPr lang="en-US" sz="2400" i="0" dirty="0">
                <a:latin typeface="Gill Sans MT" pitchFamily="34" charset="0"/>
              </a:rPr>
              <a:t> must either say " yes " or " no " to the </a:t>
            </a:r>
            <a:r>
              <a:rPr lang="en-US" sz="2400" i="0" dirty="0" err="1">
                <a:latin typeface="Gill Sans MT" pitchFamily="34" charset="0"/>
              </a:rPr>
              <a:t>baltic</a:t>
            </a:r>
            <a:r>
              <a:rPr lang="en-US" sz="2400" i="0" dirty="0">
                <a:latin typeface="Gill Sans MT" pitchFamily="34" charset="0"/>
              </a:rPr>
              <a:t> states .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28600" y="5257800"/>
            <a:ext cx="609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5"/>
          <p:cNvSpPr>
            <a:spLocks noChangeShapeType="1"/>
          </p:cNvSpPr>
          <p:nvPr/>
        </p:nvSpPr>
        <p:spPr bwMode="auto">
          <a:xfrm>
            <a:off x="914400" y="5257800"/>
            <a:ext cx="609600" cy="0"/>
          </a:xfrm>
          <a:prstGeom prst="line">
            <a:avLst/>
          </a:prstGeom>
          <a:noFill/>
          <a:ln w="50800">
            <a:solidFill>
              <a:srgbClr val="00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>
            <a:off x="1600200" y="5257800"/>
            <a:ext cx="76200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438400" y="5257800"/>
            <a:ext cx="457200" cy="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8"/>
          <p:cNvSpPr>
            <a:spLocks noChangeShapeType="1"/>
          </p:cNvSpPr>
          <p:nvPr/>
        </p:nvSpPr>
        <p:spPr bwMode="auto">
          <a:xfrm>
            <a:off x="29718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19"/>
          <p:cNvSpPr>
            <a:spLocks noChangeShapeType="1"/>
          </p:cNvSpPr>
          <p:nvPr/>
        </p:nvSpPr>
        <p:spPr bwMode="auto">
          <a:xfrm>
            <a:off x="38862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>
            <a:off x="3352800" y="5257800"/>
            <a:ext cx="4572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21"/>
          <p:cNvSpPr>
            <a:spLocks noChangeShapeType="1"/>
          </p:cNvSpPr>
          <p:nvPr/>
        </p:nvSpPr>
        <p:spPr bwMode="auto">
          <a:xfrm>
            <a:off x="5181600" y="5257800"/>
            <a:ext cx="381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2"/>
          <p:cNvSpPr>
            <a:spLocks noChangeShapeType="1"/>
          </p:cNvSpPr>
          <p:nvPr/>
        </p:nvSpPr>
        <p:spPr bwMode="auto">
          <a:xfrm>
            <a:off x="56388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23"/>
          <p:cNvSpPr>
            <a:spLocks noChangeShapeType="1"/>
          </p:cNvSpPr>
          <p:nvPr/>
        </p:nvSpPr>
        <p:spPr bwMode="auto">
          <a:xfrm>
            <a:off x="48006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4"/>
          <p:cNvSpPr>
            <a:spLocks noChangeShapeType="1"/>
          </p:cNvSpPr>
          <p:nvPr/>
        </p:nvSpPr>
        <p:spPr bwMode="auto">
          <a:xfrm>
            <a:off x="4267200" y="5257800"/>
            <a:ext cx="49518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25"/>
          <p:cNvSpPr>
            <a:spLocks noChangeShapeType="1"/>
          </p:cNvSpPr>
          <p:nvPr/>
        </p:nvSpPr>
        <p:spPr bwMode="auto">
          <a:xfrm>
            <a:off x="6096000" y="5257800"/>
            <a:ext cx="3810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6"/>
          <p:cNvSpPr>
            <a:spLocks noChangeShapeType="1"/>
          </p:cNvSpPr>
          <p:nvPr/>
        </p:nvSpPr>
        <p:spPr bwMode="auto">
          <a:xfrm>
            <a:off x="7086600" y="5257800"/>
            <a:ext cx="6858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27"/>
          <p:cNvSpPr>
            <a:spLocks noChangeShapeType="1"/>
          </p:cNvSpPr>
          <p:nvPr/>
        </p:nvSpPr>
        <p:spPr bwMode="auto">
          <a:xfrm>
            <a:off x="6553200" y="5257800"/>
            <a:ext cx="4572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8"/>
          <p:cNvSpPr>
            <a:spLocks noChangeShapeType="1"/>
          </p:cNvSpPr>
          <p:nvPr/>
        </p:nvSpPr>
        <p:spPr bwMode="auto">
          <a:xfrm>
            <a:off x="7848600" y="5257800"/>
            <a:ext cx="7620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9"/>
          <p:cNvSpPr>
            <a:spLocks noChangeShapeType="1"/>
          </p:cNvSpPr>
          <p:nvPr/>
        </p:nvSpPr>
        <p:spPr bwMode="auto">
          <a:xfrm>
            <a:off x="8686800" y="5257800"/>
            <a:ext cx="304800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Text Box 30"/>
          <p:cNvSpPr txBox="1">
            <a:spLocks noChangeArrowheads="1"/>
          </p:cNvSpPr>
          <p:nvPr/>
        </p:nvSpPr>
        <p:spPr bwMode="auto">
          <a:xfrm>
            <a:off x="152400" y="4724400"/>
            <a:ext cx="921996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500" i="0" dirty="0" err="1">
                <a:latin typeface="Gill Sans MT" pitchFamily="34" charset="0"/>
              </a:rPr>
              <a:t>nato</a:t>
            </a:r>
            <a:r>
              <a:rPr lang="en-US" sz="2500" i="0" dirty="0">
                <a:latin typeface="Gill Sans MT" pitchFamily="34" charset="0"/>
              </a:rPr>
              <a:t> must either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say  "   yes  "   </a:t>
            </a:r>
            <a:r>
              <a:rPr lang="en-US" sz="2500" i="0" dirty="0">
                <a:latin typeface="Gill Sans MT" pitchFamily="34" charset="0"/>
              </a:rPr>
              <a:t>or 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"   no  "</a:t>
            </a:r>
            <a:r>
              <a:rPr lang="en-US" sz="2500" i="0" dirty="0">
                <a:latin typeface="Gill Sans MT" pitchFamily="34" charset="0"/>
              </a:rPr>
              <a:t>  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to  the </a:t>
            </a:r>
            <a:r>
              <a:rPr lang="en-US" sz="2500" i="0" dirty="0" err="1">
                <a:latin typeface="Gill Sans MT" pitchFamily="34" charset="0"/>
              </a:rPr>
              <a:t>baltic</a:t>
            </a:r>
            <a:r>
              <a:rPr lang="en-US" sz="2500" i="0" dirty="0">
                <a:latin typeface="Gill Sans MT" pitchFamily="34" charset="0"/>
              </a:rPr>
              <a:t> states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 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0" name="Oval 5"/>
          <p:cNvSpPr>
            <a:spLocks noChangeArrowheads="1"/>
          </p:cNvSpPr>
          <p:nvPr/>
        </p:nvSpPr>
        <p:spPr bwMode="auto">
          <a:xfrm>
            <a:off x="1600200" y="38862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Oval 6"/>
          <p:cNvSpPr>
            <a:spLocks noChangeArrowheads="1"/>
          </p:cNvSpPr>
          <p:nvPr/>
        </p:nvSpPr>
        <p:spPr bwMode="auto">
          <a:xfrm>
            <a:off x="4648200" y="3886200"/>
            <a:ext cx="381000" cy="381000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Oval 7"/>
          <p:cNvSpPr>
            <a:spLocks noChangeArrowheads="1"/>
          </p:cNvSpPr>
          <p:nvPr/>
        </p:nvSpPr>
        <p:spPr bwMode="auto">
          <a:xfrm>
            <a:off x="2819400" y="38862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Oval 8"/>
          <p:cNvSpPr>
            <a:spLocks noChangeArrowheads="1"/>
          </p:cNvSpPr>
          <p:nvPr/>
        </p:nvSpPr>
        <p:spPr bwMode="auto">
          <a:xfrm>
            <a:off x="3429000" y="3886200"/>
            <a:ext cx="381000" cy="381000"/>
          </a:xfrm>
          <a:prstGeom prst="ellipse">
            <a:avLst/>
          </a:prstGeom>
          <a:solidFill>
            <a:srgbClr val="00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Oval 9"/>
          <p:cNvSpPr>
            <a:spLocks noChangeArrowheads="1"/>
          </p:cNvSpPr>
          <p:nvPr/>
        </p:nvSpPr>
        <p:spPr bwMode="auto">
          <a:xfrm>
            <a:off x="5257800" y="3886200"/>
            <a:ext cx="381000" cy="381000"/>
          </a:xfrm>
          <a:prstGeom prst="ellipse">
            <a:avLst/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Oval 10"/>
          <p:cNvSpPr>
            <a:spLocks noChangeArrowheads="1"/>
          </p:cNvSpPr>
          <p:nvPr/>
        </p:nvSpPr>
        <p:spPr bwMode="auto">
          <a:xfrm>
            <a:off x="2209800" y="3886200"/>
            <a:ext cx="381000" cy="381000"/>
          </a:xfrm>
          <a:prstGeom prst="ellipse">
            <a:avLst/>
          </a:prstGeom>
          <a:solidFill>
            <a:srgbClr val="00FF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Oval 11"/>
          <p:cNvSpPr>
            <a:spLocks noChangeArrowheads="1"/>
          </p:cNvSpPr>
          <p:nvPr/>
        </p:nvSpPr>
        <p:spPr bwMode="auto">
          <a:xfrm>
            <a:off x="4038600" y="3886200"/>
            <a:ext cx="381000" cy="381000"/>
          </a:xfrm>
          <a:prstGeom prst="ellipse">
            <a:avLst/>
          </a:prstGeom>
          <a:solidFill>
            <a:srgbClr val="FF66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Oval 12"/>
          <p:cNvSpPr>
            <a:spLocks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solidFill>
            <a:srgbClr val="800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Oval 13"/>
          <p:cNvSpPr>
            <a:spLocks noChangeArrowheads="1"/>
          </p:cNvSpPr>
          <p:nvPr/>
        </p:nvSpPr>
        <p:spPr bwMode="auto">
          <a:xfrm>
            <a:off x="6477000" y="3886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Oval 14"/>
          <p:cNvSpPr>
            <a:spLocks noChangeArrowheads="1"/>
          </p:cNvSpPr>
          <p:nvPr/>
        </p:nvSpPr>
        <p:spPr bwMode="auto">
          <a:xfrm>
            <a:off x="7086600" y="3886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361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743200"/>
          </a:xfrm>
          <a:noFill/>
          <a:ln/>
        </p:spPr>
        <p:txBody>
          <a:bodyPr/>
          <a:lstStyle/>
          <a:p>
            <a:r>
              <a:rPr lang="en-US" dirty="0"/>
              <a:t>Generative story: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word positions (n = 16)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colors (m = 10)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Assign word positions to colors</a:t>
            </a:r>
          </a:p>
          <a:p>
            <a:pPr lvl="1"/>
            <a:r>
              <a:rPr lang="en-US" dirty="0"/>
              <a:t>Generate a lexical pattern for each color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921830" y="381000"/>
            <a:ext cx="7307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 err="1">
                <a:latin typeface="Gill Sans MT" pitchFamily="34" charset="0"/>
              </a:rPr>
              <a:t>nato</a:t>
            </a:r>
            <a:r>
              <a:rPr lang="en-US" sz="2400" i="0" dirty="0">
                <a:latin typeface="Gill Sans MT" pitchFamily="34" charset="0"/>
              </a:rPr>
              <a:t> must either say " yes " or " no " to the </a:t>
            </a:r>
            <a:r>
              <a:rPr lang="en-US" sz="2400" i="0" dirty="0" err="1">
                <a:latin typeface="Gill Sans MT" pitchFamily="34" charset="0"/>
              </a:rPr>
              <a:t>baltic</a:t>
            </a:r>
            <a:r>
              <a:rPr lang="en-US" sz="2400" i="0" dirty="0">
                <a:latin typeface="Gill Sans MT" pitchFamily="34" charset="0"/>
              </a:rPr>
              <a:t> states .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28600" y="5257800"/>
            <a:ext cx="609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5"/>
          <p:cNvSpPr>
            <a:spLocks noChangeShapeType="1"/>
          </p:cNvSpPr>
          <p:nvPr/>
        </p:nvSpPr>
        <p:spPr bwMode="auto">
          <a:xfrm>
            <a:off x="914400" y="5257800"/>
            <a:ext cx="609600" cy="0"/>
          </a:xfrm>
          <a:prstGeom prst="line">
            <a:avLst/>
          </a:prstGeom>
          <a:noFill/>
          <a:ln w="50800">
            <a:solidFill>
              <a:srgbClr val="00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>
            <a:off x="1600200" y="5257800"/>
            <a:ext cx="76200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438400" y="5257800"/>
            <a:ext cx="457200" cy="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8"/>
          <p:cNvSpPr>
            <a:spLocks noChangeShapeType="1"/>
          </p:cNvSpPr>
          <p:nvPr/>
        </p:nvSpPr>
        <p:spPr bwMode="auto">
          <a:xfrm>
            <a:off x="29718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19"/>
          <p:cNvSpPr>
            <a:spLocks noChangeShapeType="1"/>
          </p:cNvSpPr>
          <p:nvPr/>
        </p:nvSpPr>
        <p:spPr bwMode="auto">
          <a:xfrm>
            <a:off x="38862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>
            <a:off x="3352800" y="5257800"/>
            <a:ext cx="4572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21"/>
          <p:cNvSpPr>
            <a:spLocks noChangeShapeType="1"/>
          </p:cNvSpPr>
          <p:nvPr/>
        </p:nvSpPr>
        <p:spPr bwMode="auto">
          <a:xfrm>
            <a:off x="5181600" y="5257800"/>
            <a:ext cx="381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2"/>
          <p:cNvSpPr>
            <a:spLocks noChangeShapeType="1"/>
          </p:cNvSpPr>
          <p:nvPr/>
        </p:nvSpPr>
        <p:spPr bwMode="auto">
          <a:xfrm>
            <a:off x="56388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23"/>
          <p:cNvSpPr>
            <a:spLocks noChangeShapeType="1"/>
          </p:cNvSpPr>
          <p:nvPr/>
        </p:nvSpPr>
        <p:spPr bwMode="auto">
          <a:xfrm>
            <a:off x="48006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4"/>
          <p:cNvSpPr>
            <a:spLocks noChangeShapeType="1"/>
          </p:cNvSpPr>
          <p:nvPr/>
        </p:nvSpPr>
        <p:spPr bwMode="auto">
          <a:xfrm>
            <a:off x="4267200" y="5257800"/>
            <a:ext cx="49518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25"/>
          <p:cNvSpPr>
            <a:spLocks noChangeShapeType="1"/>
          </p:cNvSpPr>
          <p:nvPr/>
        </p:nvSpPr>
        <p:spPr bwMode="auto">
          <a:xfrm>
            <a:off x="6096000" y="5257800"/>
            <a:ext cx="3810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6"/>
          <p:cNvSpPr>
            <a:spLocks noChangeShapeType="1"/>
          </p:cNvSpPr>
          <p:nvPr/>
        </p:nvSpPr>
        <p:spPr bwMode="auto">
          <a:xfrm>
            <a:off x="7086600" y="5257800"/>
            <a:ext cx="6858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27"/>
          <p:cNvSpPr>
            <a:spLocks noChangeShapeType="1"/>
          </p:cNvSpPr>
          <p:nvPr/>
        </p:nvSpPr>
        <p:spPr bwMode="auto">
          <a:xfrm>
            <a:off x="6553200" y="5257800"/>
            <a:ext cx="4572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8"/>
          <p:cNvSpPr>
            <a:spLocks noChangeShapeType="1"/>
          </p:cNvSpPr>
          <p:nvPr/>
        </p:nvSpPr>
        <p:spPr bwMode="auto">
          <a:xfrm>
            <a:off x="7848600" y="5257800"/>
            <a:ext cx="7620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9"/>
          <p:cNvSpPr>
            <a:spLocks noChangeShapeType="1"/>
          </p:cNvSpPr>
          <p:nvPr/>
        </p:nvSpPr>
        <p:spPr bwMode="auto">
          <a:xfrm>
            <a:off x="8686800" y="5257800"/>
            <a:ext cx="304800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Text Box 30"/>
          <p:cNvSpPr txBox="1">
            <a:spLocks noChangeArrowheads="1"/>
          </p:cNvSpPr>
          <p:nvPr/>
        </p:nvSpPr>
        <p:spPr bwMode="auto">
          <a:xfrm>
            <a:off x="152400" y="4724400"/>
            <a:ext cx="921996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500" i="0" dirty="0" err="1">
                <a:latin typeface="Gill Sans MT" pitchFamily="34" charset="0"/>
              </a:rPr>
              <a:t>nato</a:t>
            </a:r>
            <a:r>
              <a:rPr lang="en-US" sz="2500" i="0" dirty="0">
                <a:latin typeface="Gill Sans MT" pitchFamily="34" charset="0"/>
              </a:rPr>
              <a:t> must either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say  "   yes  "   </a:t>
            </a:r>
            <a:r>
              <a:rPr lang="en-US" sz="2500" i="0" dirty="0">
                <a:latin typeface="Gill Sans MT" pitchFamily="34" charset="0"/>
              </a:rPr>
              <a:t>or  "  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no</a:t>
            </a:r>
            <a:r>
              <a:rPr lang="en-US" sz="2500" i="0" dirty="0">
                <a:latin typeface="Gill Sans MT" pitchFamily="34" charset="0"/>
              </a:rPr>
              <a:t>  "  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to  the </a:t>
            </a:r>
            <a:r>
              <a:rPr lang="en-US" sz="2500" i="0" dirty="0" err="1">
                <a:latin typeface="Gill Sans MT" pitchFamily="34" charset="0"/>
              </a:rPr>
              <a:t>baltic</a:t>
            </a:r>
            <a:r>
              <a:rPr lang="en-US" sz="2500" i="0" dirty="0">
                <a:latin typeface="Gill Sans MT" pitchFamily="34" charset="0"/>
              </a:rPr>
              <a:t> states </a:t>
            </a:r>
            <a:r>
              <a:rPr lang="en-US" sz="2500" i="0" dirty="0">
                <a:solidFill>
                  <a:schemeClr val="bg1"/>
                </a:solidFill>
                <a:latin typeface="Gill Sans MT" pitchFamily="34" charset="0"/>
              </a:rPr>
              <a:t> 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0" name="Oval 5"/>
          <p:cNvSpPr>
            <a:spLocks noChangeArrowheads="1"/>
          </p:cNvSpPr>
          <p:nvPr/>
        </p:nvSpPr>
        <p:spPr bwMode="auto">
          <a:xfrm>
            <a:off x="1600200" y="38862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Oval 6"/>
          <p:cNvSpPr>
            <a:spLocks noChangeArrowheads="1"/>
          </p:cNvSpPr>
          <p:nvPr/>
        </p:nvSpPr>
        <p:spPr bwMode="auto">
          <a:xfrm>
            <a:off x="4648200" y="3886200"/>
            <a:ext cx="381000" cy="381000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Oval 7"/>
          <p:cNvSpPr>
            <a:spLocks noChangeArrowheads="1"/>
          </p:cNvSpPr>
          <p:nvPr/>
        </p:nvSpPr>
        <p:spPr bwMode="auto">
          <a:xfrm>
            <a:off x="2819400" y="38862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Oval 8"/>
          <p:cNvSpPr>
            <a:spLocks noChangeArrowheads="1"/>
          </p:cNvSpPr>
          <p:nvPr/>
        </p:nvSpPr>
        <p:spPr bwMode="auto">
          <a:xfrm>
            <a:off x="3429000" y="3886200"/>
            <a:ext cx="381000" cy="381000"/>
          </a:xfrm>
          <a:prstGeom prst="ellipse">
            <a:avLst/>
          </a:prstGeom>
          <a:solidFill>
            <a:srgbClr val="00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Oval 9"/>
          <p:cNvSpPr>
            <a:spLocks noChangeArrowheads="1"/>
          </p:cNvSpPr>
          <p:nvPr/>
        </p:nvSpPr>
        <p:spPr bwMode="auto">
          <a:xfrm>
            <a:off x="5257800" y="3886200"/>
            <a:ext cx="381000" cy="381000"/>
          </a:xfrm>
          <a:prstGeom prst="ellipse">
            <a:avLst/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Oval 10"/>
          <p:cNvSpPr>
            <a:spLocks noChangeArrowheads="1"/>
          </p:cNvSpPr>
          <p:nvPr/>
        </p:nvSpPr>
        <p:spPr bwMode="auto">
          <a:xfrm>
            <a:off x="2209800" y="3886200"/>
            <a:ext cx="381000" cy="381000"/>
          </a:xfrm>
          <a:prstGeom prst="ellipse">
            <a:avLst/>
          </a:prstGeom>
          <a:solidFill>
            <a:srgbClr val="00FF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Oval 11"/>
          <p:cNvSpPr>
            <a:spLocks noChangeArrowheads="1"/>
          </p:cNvSpPr>
          <p:nvPr/>
        </p:nvSpPr>
        <p:spPr bwMode="auto">
          <a:xfrm>
            <a:off x="4038600" y="3886200"/>
            <a:ext cx="381000" cy="381000"/>
          </a:xfrm>
          <a:prstGeom prst="ellipse">
            <a:avLst/>
          </a:prstGeom>
          <a:solidFill>
            <a:srgbClr val="FF66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Oval 12"/>
          <p:cNvSpPr>
            <a:spLocks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solidFill>
            <a:srgbClr val="800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Oval 13"/>
          <p:cNvSpPr>
            <a:spLocks noChangeArrowheads="1"/>
          </p:cNvSpPr>
          <p:nvPr/>
        </p:nvSpPr>
        <p:spPr bwMode="auto">
          <a:xfrm>
            <a:off x="6477000" y="3886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Oval 14"/>
          <p:cNvSpPr>
            <a:spLocks noChangeArrowheads="1"/>
          </p:cNvSpPr>
          <p:nvPr/>
        </p:nvSpPr>
        <p:spPr bwMode="auto">
          <a:xfrm>
            <a:off x="7086600" y="3886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905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743200"/>
          </a:xfrm>
          <a:noFill/>
          <a:ln/>
        </p:spPr>
        <p:txBody>
          <a:bodyPr/>
          <a:lstStyle/>
          <a:p>
            <a:r>
              <a:rPr lang="en-US" dirty="0"/>
              <a:t>Generative story: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word positions (n = 16)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Generate number of colors (m = 10)</a:t>
            </a:r>
          </a:p>
          <a:p>
            <a:pPr lvl="1"/>
            <a:r>
              <a:rPr lang="en-US" dirty="0">
                <a:solidFill>
                  <a:srgbClr val="B2B2B2"/>
                </a:solidFill>
              </a:rPr>
              <a:t>Assign word positions to colors</a:t>
            </a:r>
          </a:p>
          <a:p>
            <a:pPr lvl="1"/>
            <a:r>
              <a:rPr lang="en-US" dirty="0"/>
              <a:t>Generate a lexical pattern for each color</a:t>
            </a:r>
          </a:p>
        </p:txBody>
      </p:sp>
      <p:sp>
        <p:nvSpPr>
          <p:cNvPr id="1269774" name="Line 14"/>
          <p:cNvSpPr>
            <a:spLocks noChangeShapeType="1"/>
          </p:cNvSpPr>
          <p:nvPr/>
        </p:nvSpPr>
        <p:spPr bwMode="auto">
          <a:xfrm>
            <a:off x="228600" y="5257800"/>
            <a:ext cx="609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75" name="Line 15"/>
          <p:cNvSpPr>
            <a:spLocks noChangeShapeType="1"/>
          </p:cNvSpPr>
          <p:nvPr/>
        </p:nvSpPr>
        <p:spPr bwMode="auto">
          <a:xfrm>
            <a:off x="914400" y="5257800"/>
            <a:ext cx="609600" cy="0"/>
          </a:xfrm>
          <a:prstGeom prst="line">
            <a:avLst/>
          </a:prstGeom>
          <a:noFill/>
          <a:ln w="50800">
            <a:solidFill>
              <a:srgbClr val="00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76" name="Line 16"/>
          <p:cNvSpPr>
            <a:spLocks noChangeShapeType="1"/>
          </p:cNvSpPr>
          <p:nvPr/>
        </p:nvSpPr>
        <p:spPr bwMode="auto">
          <a:xfrm>
            <a:off x="1600200" y="5257800"/>
            <a:ext cx="76200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77" name="Line 17"/>
          <p:cNvSpPr>
            <a:spLocks noChangeShapeType="1"/>
          </p:cNvSpPr>
          <p:nvPr/>
        </p:nvSpPr>
        <p:spPr bwMode="auto">
          <a:xfrm>
            <a:off x="2438400" y="5257800"/>
            <a:ext cx="457200" cy="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78" name="Line 18"/>
          <p:cNvSpPr>
            <a:spLocks noChangeShapeType="1"/>
          </p:cNvSpPr>
          <p:nvPr/>
        </p:nvSpPr>
        <p:spPr bwMode="auto">
          <a:xfrm>
            <a:off x="29718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79" name="Line 19"/>
          <p:cNvSpPr>
            <a:spLocks noChangeShapeType="1"/>
          </p:cNvSpPr>
          <p:nvPr/>
        </p:nvSpPr>
        <p:spPr bwMode="auto">
          <a:xfrm>
            <a:off x="3886200" y="5257800"/>
            <a:ext cx="3048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80" name="Line 20"/>
          <p:cNvSpPr>
            <a:spLocks noChangeShapeType="1"/>
          </p:cNvSpPr>
          <p:nvPr/>
        </p:nvSpPr>
        <p:spPr bwMode="auto">
          <a:xfrm>
            <a:off x="3352800" y="5257800"/>
            <a:ext cx="4572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81" name="Line 21"/>
          <p:cNvSpPr>
            <a:spLocks noChangeShapeType="1"/>
          </p:cNvSpPr>
          <p:nvPr/>
        </p:nvSpPr>
        <p:spPr bwMode="auto">
          <a:xfrm>
            <a:off x="5181600" y="5257800"/>
            <a:ext cx="381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82" name="Line 22"/>
          <p:cNvSpPr>
            <a:spLocks noChangeShapeType="1"/>
          </p:cNvSpPr>
          <p:nvPr/>
        </p:nvSpPr>
        <p:spPr bwMode="auto">
          <a:xfrm>
            <a:off x="56388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83" name="Line 23"/>
          <p:cNvSpPr>
            <a:spLocks noChangeShapeType="1"/>
          </p:cNvSpPr>
          <p:nvPr/>
        </p:nvSpPr>
        <p:spPr bwMode="auto">
          <a:xfrm>
            <a:off x="4800600" y="5257800"/>
            <a:ext cx="304800" cy="0"/>
          </a:xfrm>
          <a:prstGeom prst="line">
            <a:avLst/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84" name="Line 24"/>
          <p:cNvSpPr>
            <a:spLocks noChangeShapeType="1"/>
          </p:cNvSpPr>
          <p:nvPr/>
        </p:nvSpPr>
        <p:spPr bwMode="auto">
          <a:xfrm>
            <a:off x="4267200" y="5257800"/>
            <a:ext cx="495180" cy="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85" name="Line 25"/>
          <p:cNvSpPr>
            <a:spLocks noChangeShapeType="1"/>
          </p:cNvSpPr>
          <p:nvPr/>
        </p:nvSpPr>
        <p:spPr bwMode="auto">
          <a:xfrm>
            <a:off x="6096000" y="5257800"/>
            <a:ext cx="3810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86" name="Line 26"/>
          <p:cNvSpPr>
            <a:spLocks noChangeShapeType="1"/>
          </p:cNvSpPr>
          <p:nvPr/>
        </p:nvSpPr>
        <p:spPr bwMode="auto">
          <a:xfrm>
            <a:off x="7086600" y="5257800"/>
            <a:ext cx="6858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87" name="Line 27"/>
          <p:cNvSpPr>
            <a:spLocks noChangeShapeType="1"/>
          </p:cNvSpPr>
          <p:nvPr/>
        </p:nvSpPr>
        <p:spPr bwMode="auto">
          <a:xfrm>
            <a:off x="6553200" y="5257800"/>
            <a:ext cx="457200" cy="0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88" name="Line 28"/>
          <p:cNvSpPr>
            <a:spLocks noChangeShapeType="1"/>
          </p:cNvSpPr>
          <p:nvPr/>
        </p:nvSpPr>
        <p:spPr bwMode="auto">
          <a:xfrm>
            <a:off x="7848600" y="5257800"/>
            <a:ext cx="762000" cy="0"/>
          </a:xfrm>
          <a:prstGeom prst="line">
            <a:avLst/>
          </a:prstGeom>
          <a:noFill/>
          <a:ln w="5080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89" name="Line 29"/>
          <p:cNvSpPr>
            <a:spLocks noChangeShapeType="1"/>
          </p:cNvSpPr>
          <p:nvPr/>
        </p:nvSpPr>
        <p:spPr bwMode="auto">
          <a:xfrm>
            <a:off x="8686800" y="5257800"/>
            <a:ext cx="304800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790" name="Text Box 30"/>
          <p:cNvSpPr txBox="1">
            <a:spLocks noChangeArrowheads="1"/>
          </p:cNvSpPr>
          <p:nvPr/>
        </p:nvSpPr>
        <p:spPr bwMode="auto">
          <a:xfrm>
            <a:off x="152400" y="4724400"/>
            <a:ext cx="921996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500" i="0" dirty="0" err="1">
                <a:latin typeface="Gill Sans MT" pitchFamily="34" charset="0"/>
              </a:rPr>
              <a:t>nato</a:t>
            </a:r>
            <a:r>
              <a:rPr lang="en-US" sz="2500" i="0" dirty="0">
                <a:latin typeface="Gill Sans MT" pitchFamily="34" charset="0"/>
              </a:rPr>
              <a:t> must either say  "   yes  "   or  "   no  "   to  the </a:t>
            </a:r>
            <a:r>
              <a:rPr lang="en-US" sz="2500" i="0" dirty="0" err="1">
                <a:latin typeface="Gill Sans MT" pitchFamily="34" charset="0"/>
              </a:rPr>
              <a:t>baltic</a:t>
            </a:r>
            <a:r>
              <a:rPr lang="en-US" sz="2500" i="0" dirty="0">
                <a:latin typeface="Gill Sans MT" pitchFamily="34" charset="0"/>
              </a:rPr>
              <a:t> states  .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921830" y="381000"/>
            <a:ext cx="7307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0" dirty="0" err="1">
                <a:latin typeface="Gill Sans MT" pitchFamily="34" charset="0"/>
              </a:rPr>
              <a:t>nato</a:t>
            </a:r>
            <a:r>
              <a:rPr lang="en-US" sz="2400" i="0" dirty="0">
                <a:latin typeface="Gill Sans MT" pitchFamily="34" charset="0"/>
              </a:rPr>
              <a:t> must either say " yes " or " no " to the </a:t>
            </a:r>
            <a:r>
              <a:rPr lang="en-US" sz="2400" i="0" dirty="0" err="1">
                <a:latin typeface="Gill Sans MT" pitchFamily="34" charset="0"/>
              </a:rPr>
              <a:t>baltic</a:t>
            </a:r>
            <a:r>
              <a:rPr lang="en-US" sz="2400" i="0" dirty="0">
                <a:latin typeface="Gill Sans MT" pitchFamily="34" charset="0"/>
              </a:rPr>
              <a:t> states 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33" name="Oval 5"/>
          <p:cNvSpPr>
            <a:spLocks noChangeArrowheads="1"/>
          </p:cNvSpPr>
          <p:nvPr/>
        </p:nvSpPr>
        <p:spPr bwMode="auto">
          <a:xfrm>
            <a:off x="1600200" y="38862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Oval 6"/>
          <p:cNvSpPr>
            <a:spLocks noChangeArrowheads="1"/>
          </p:cNvSpPr>
          <p:nvPr/>
        </p:nvSpPr>
        <p:spPr bwMode="auto">
          <a:xfrm>
            <a:off x="4648200" y="3886200"/>
            <a:ext cx="381000" cy="381000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Oval 7"/>
          <p:cNvSpPr>
            <a:spLocks noChangeArrowheads="1"/>
          </p:cNvSpPr>
          <p:nvPr/>
        </p:nvSpPr>
        <p:spPr bwMode="auto">
          <a:xfrm>
            <a:off x="2819400" y="38862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Oval 8"/>
          <p:cNvSpPr>
            <a:spLocks noChangeArrowheads="1"/>
          </p:cNvSpPr>
          <p:nvPr/>
        </p:nvSpPr>
        <p:spPr bwMode="auto">
          <a:xfrm>
            <a:off x="3429000" y="3886200"/>
            <a:ext cx="381000" cy="381000"/>
          </a:xfrm>
          <a:prstGeom prst="ellipse">
            <a:avLst/>
          </a:prstGeom>
          <a:solidFill>
            <a:srgbClr val="00FF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Oval 9"/>
          <p:cNvSpPr>
            <a:spLocks noChangeArrowheads="1"/>
          </p:cNvSpPr>
          <p:nvPr/>
        </p:nvSpPr>
        <p:spPr bwMode="auto">
          <a:xfrm>
            <a:off x="5257800" y="3886200"/>
            <a:ext cx="381000" cy="381000"/>
          </a:xfrm>
          <a:prstGeom prst="ellipse">
            <a:avLst/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Oval 10"/>
          <p:cNvSpPr>
            <a:spLocks noChangeArrowheads="1"/>
          </p:cNvSpPr>
          <p:nvPr/>
        </p:nvSpPr>
        <p:spPr bwMode="auto">
          <a:xfrm>
            <a:off x="2209800" y="3886200"/>
            <a:ext cx="381000" cy="381000"/>
          </a:xfrm>
          <a:prstGeom prst="ellipse">
            <a:avLst/>
          </a:prstGeom>
          <a:solidFill>
            <a:srgbClr val="00FF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Oval 11"/>
          <p:cNvSpPr>
            <a:spLocks noChangeArrowheads="1"/>
          </p:cNvSpPr>
          <p:nvPr/>
        </p:nvSpPr>
        <p:spPr bwMode="auto">
          <a:xfrm>
            <a:off x="4038600" y="3886200"/>
            <a:ext cx="381000" cy="381000"/>
          </a:xfrm>
          <a:prstGeom prst="ellipse">
            <a:avLst/>
          </a:prstGeom>
          <a:solidFill>
            <a:srgbClr val="FF660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Oval 12"/>
          <p:cNvSpPr>
            <a:spLocks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solidFill>
            <a:srgbClr val="800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Oval 13"/>
          <p:cNvSpPr>
            <a:spLocks noChangeArrowheads="1"/>
          </p:cNvSpPr>
          <p:nvPr/>
        </p:nvSpPr>
        <p:spPr bwMode="auto">
          <a:xfrm>
            <a:off x="6477000" y="3886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Oval 14"/>
          <p:cNvSpPr>
            <a:spLocks noChangeArrowheads="1"/>
          </p:cNvSpPr>
          <p:nvPr/>
        </p:nvSpPr>
        <p:spPr bwMode="auto">
          <a:xfrm>
            <a:off x="7086600" y="3886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276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2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Highest-Ranked Patterns</a:t>
            </a:r>
          </a:p>
        </p:txBody>
      </p:sp>
      <p:graphicFrame>
        <p:nvGraphicFramePr>
          <p:cNvPr id="1206379" name="Group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781923"/>
              </p:ext>
            </p:extLst>
          </p:nvPr>
        </p:nvGraphicFramePr>
        <p:xfrm>
          <a:off x="304800" y="955675"/>
          <a:ext cx="8534400" cy="4974337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512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207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6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-- __ --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 __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 __ -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both __ and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only __ but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" __ "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more __ than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either __ 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why __ 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neither __ nor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what __ 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rule __ law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whether __ 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around __ world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has __ been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how __ 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the __ ( __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on __ basis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less __ than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on __ other hand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 __ level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it is __ that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__ , but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play __ role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__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germany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he __ his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allow __ to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 __ first time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china __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india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what __ do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we __ our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over __ past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prevent __ from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 __ way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one __ another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political __ economic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 __ reasons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 __ time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more __ more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the rest __ world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more __ less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 __ region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rich __ poor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as __ whole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on __ scale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his __ his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some __ others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may __ be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as __ as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oil __ gas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 __ moment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such as __ and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question __ whether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if __ then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war __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iraq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; __ 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have __ been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 __ cases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war __ terror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 __ cost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TextBox 11"/>
          <p:cNvSpPr txBox="1">
            <a:spLocks noChangeArrowheads="1"/>
          </p:cNvSpPr>
          <p:nvPr/>
        </p:nvSpPr>
        <p:spPr bwMode="auto">
          <a:xfrm>
            <a:off x="1197846" y="6013589"/>
            <a:ext cx="638735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288CD2"/>
                </a:solidFill>
                <a:latin typeface="Calibri"/>
                <a:cs typeface="Calibri"/>
              </a:rPr>
              <a:t>Gimpel &amp; Smith (2011</a:t>
            </a:r>
            <a:r>
              <a:rPr lang="en-US" sz="2000" dirty="0">
                <a:solidFill>
                  <a:srgbClr val="288CD2"/>
                </a:solidFill>
                <a:latin typeface="Calibri"/>
                <a:cs typeface="Calibri"/>
              </a:rPr>
              <a:t>): </a:t>
            </a:r>
            <a:r>
              <a:rPr lang="en-US" sz="2000" i="1" dirty="0">
                <a:solidFill>
                  <a:srgbClr val="288CD2"/>
                </a:solidFill>
                <a:latin typeface="Calibri"/>
                <a:cs typeface="Calibri"/>
              </a:rPr>
              <a:t>Generative Models of Monolingual and Bilingual </a:t>
            </a:r>
            <a:r>
              <a:rPr lang="en-US" sz="2000" i="1" dirty="0" err="1">
                <a:solidFill>
                  <a:srgbClr val="288CD2"/>
                </a:solidFill>
                <a:latin typeface="Calibri"/>
                <a:cs typeface="Calibri"/>
              </a:rPr>
              <a:t>Gappy</a:t>
            </a:r>
            <a:r>
              <a:rPr lang="en-US" sz="2000" i="1" dirty="0">
                <a:solidFill>
                  <a:srgbClr val="288CD2"/>
                </a:solidFill>
                <a:latin typeface="Calibri"/>
                <a:cs typeface="Calibri"/>
              </a:rPr>
              <a:t> Patterns</a:t>
            </a:r>
          </a:p>
        </p:txBody>
      </p:sp>
    </p:spTree>
    <p:extLst>
      <p:ext uri="{BB962C8B-B14F-4D97-AF65-F5344CB8AC3E}">
        <p14:creationId xmlns:p14="http://schemas.microsoft.com/office/powerpoint/2010/main" val="33669911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to be Bayesian?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you’re doing unsupervised learning or learning with latent variables</a:t>
            </a:r>
          </a:p>
          <a:p>
            <a:r>
              <a:rPr lang="en-US" dirty="0"/>
              <a:t>if you want to marginalize out some model parameters</a:t>
            </a:r>
          </a:p>
          <a:p>
            <a:r>
              <a:rPr lang="en-US" dirty="0"/>
              <a:t>if you want to learn the structure/architecture of your model</a:t>
            </a:r>
          </a:p>
          <a:p>
            <a:r>
              <a:rPr lang="en-US" dirty="0"/>
              <a:t>if you want to learn a potentially-unbounded lexicon or set of latent items (Bayesian </a:t>
            </a:r>
            <a:r>
              <a:rPr lang="en-US" dirty="0" err="1"/>
              <a:t>nonparametrics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387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Being Bayesian in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you can forgo </a:t>
            </a:r>
            <a:r>
              <a:rPr lang="en-US" dirty="0"/>
              <a:t>theory to solve a problem, but you should know what you are doing!</a:t>
            </a:r>
          </a:p>
          <a:p>
            <a:endParaRPr lang="en-US" dirty="0" smtClean="0"/>
          </a:p>
          <a:p>
            <a:r>
              <a:rPr lang="en-US" dirty="0" smtClean="0"/>
              <a:t>e.g</a:t>
            </a:r>
            <a:r>
              <a:rPr lang="en-US" dirty="0"/>
              <a:t>., </a:t>
            </a:r>
            <a:r>
              <a:rPr lang="en-US" dirty="0" smtClean="0"/>
              <a:t>some researchers would start </a:t>
            </a:r>
            <a:r>
              <a:rPr lang="en-US" dirty="0"/>
              <a:t>by deriving a Gibbs sampler without thinking about </a:t>
            </a:r>
            <a:r>
              <a:rPr lang="en-US" dirty="0" smtClean="0"/>
              <a:t>the model</a:t>
            </a:r>
            <a:endParaRPr lang="en-US" dirty="0"/>
          </a:p>
          <a:p>
            <a:pPr lvl="1"/>
            <a:r>
              <a:rPr lang="en-US" dirty="0"/>
              <a:t>as a result, the Gibbs sampler was not a Gibbs sampler (just some code that did something)</a:t>
            </a:r>
          </a:p>
          <a:p>
            <a:pPr lvl="1"/>
            <a:r>
              <a:rPr lang="en-US" dirty="0"/>
              <a:t>if you only care about solving a problem, this may be fine, but you should make sure you understand </a:t>
            </a:r>
            <a:r>
              <a:rPr lang="en-US" dirty="0" smtClean="0"/>
              <a:t>and communicate to readers that </a:t>
            </a:r>
            <a:r>
              <a:rPr lang="en-US" dirty="0"/>
              <a:t>it’s not a Gibbs sampler!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657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0"/>
            <a:ext cx="8567390" cy="5334029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intro (1 lecture)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deep learning for NLP (5 lectures)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structured prediction (4.5 lectures)</a:t>
            </a:r>
          </a:p>
          <a:p>
            <a:r>
              <a:rPr lang="en-US" sz="2400" dirty="0">
                <a:solidFill>
                  <a:srgbClr val="A6A6A6"/>
                </a:solidFill>
              </a:rPr>
              <a:t>generative models, latent variables, unsupervised learning, variational </a:t>
            </a:r>
            <a:r>
              <a:rPr lang="en-US" sz="2400" dirty="0" err="1">
                <a:solidFill>
                  <a:srgbClr val="A6A6A6"/>
                </a:solidFill>
              </a:rPr>
              <a:t>autoencoders</a:t>
            </a:r>
            <a:r>
              <a:rPr lang="en-US" sz="2400" dirty="0">
                <a:solidFill>
                  <a:srgbClr val="A6A6A6"/>
                </a:solidFill>
              </a:rPr>
              <a:t> (1.5 lectures)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Bayesian methods in NLP (2 lectures)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Bayesian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nonparametrics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 in NLP (1.5 lectures)</a:t>
            </a:r>
          </a:p>
          <a:p>
            <a:r>
              <a:rPr lang="en-US" sz="2400" b="1" dirty="0"/>
              <a:t>research advice (0.5 lectures)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214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288CD2"/>
                </a:solidFill>
              </a:rPr>
              <a:t>getting started</a:t>
            </a:r>
          </a:p>
          <a:p>
            <a:r>
              <a:rPr lang="en-US" dirty="0" smtClean="0"/>
              <a:t>researching</a:t>
            </a:r>
          </a:p>
          <a:p>
            <a:r>
              <a:rPr lang="en-US" dirty="0" smtClean="0"/>
              <a:t>communication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829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Getting Started on a New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255" y="1073740"/>
            <a:ext cx="8694951" cy="50524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what </a:t>
            </a:r>
            <a:r>
              <a:rPr lang="en-US" dirty="0"/>
              <a:t>are the inputs and outputs?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when I talk to people who “want to use AI”:</a:t>
            </a:r>
          </a:p>
          <a:p>
            <a:pPr lvl="1"/>
            <a:r>
              <a:rPr lang="en-US" dirty="0" smtClean="0"/>
              <a:t>they want AI to tell them what to do with their data</a:t>
            </a:r>
          </a:p>
          <a:p>
            <a:pPr lvl="1"/>
            <a:r>
              <a:rPr lang="en-US" dirty="0"/>
              <a:t>they have never thought about </a:t>
            </a:r>
            <a:r>
              <a:rPr lang="en-US" dirty="0" smtClean="0"/>
              <a:t>inputs </a:t>
            </a:r>
            <a:r>
              <a:rPr lang="en-US" dirty="0"/>
              <a:t>and </a:t>
            </a:r>
            <a:r>
              <a:rPr lang="en-US" dirty="0" smtClean="0"/>
              <a:t>outputs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8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you are the AI consultant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ask for examples of inputs and outputs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they don’t have these, then tell them to study the data until they figure this out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most important thing they can </a:t>
            </a:r>
            <a:r>
              <a:rPr lang="en-US" dirty="0" smtClean="0"/>
              <a:t>do: think </a:t>
            </a:r>
            <a:r>
              <a:rPr lang="en-US" dirty="0"/>
              <a:t>long and hard about this </a:t>
            </a:r>
            <a:r>
              <a:rPr lang="en-US" dirty="0" smtClean="0"/>
              <a:t>part, keeping in mind privacy, fairness, and ethics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77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Once you have input/output pairs</a:t>
            </a:r>
            <a:r>
              <a:rPr lang="mr-IN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look </a:t>
            </a:r>
            <a:r>
              <a:rPr lang="en-US" dirty="0"/>
              <a:t>at the data</a:t>
            </a:r>
          </a:p>
          <a:p>
            <a:pPr lvl="1"/>
            <a:r>
              <a:rPr lang="en-US" dirty="0"/>
              <a:t>use UNIX command-line </a:t>
            </a:r>
            <a:r>
              <a:rPr lang="en-US" dirty="0" smtClean="0"/>
              <a:t>tools: </a:t>
            </a:r>
            <a:r>
              <a:rPr lang="en-US" dirty="0" err="1" smtClean="0"/>
              <a:t>awk</a:t>
            </a:r>
            <a:r>
              <a:rPr lang="en-US" dirty="0" smtClean="0"/>
              <a:t>, </a:t>
            </a:r>
            <a:r>
              <a:rPr lang="en-US" dirty="0" err="1" smtClean="0"/>
              <a:t>grep</a:t>
            </a:r>
            <a:r>
              <a:rPr lang="en-US" dirty="0"/>
              <a:t>, sort, </a:t>
            </a:r>
            <a:r>
              <a:rPr lang="en-US" dirty="0" err="1"/>
              <a:t>uniq</a:t>
            </a:r>
            <a:r>
              <a:rPr lang="en-US" dirty="0"/>
              <a:t>, cut, join, </a:t>
            </a:r>
            <a:r>
              <a:rPr lang="en-US" dirty="0" err="1"/>
              <a:t>comm</a:t>
            </a:r>
            <a:r>
              <a:rPr lang="en-US" dirty="0"/>
              <a:t>, </a:t>
            </a:r>
            <a:r>
              <a:rPr lang="en-US" dirty="0" smtClean="0"/>
              <a:t>etc.</a:t>
            </a:r>
          </a:p>
          <a:p>
            <a:pPr lvl="1"/>
            <a:r>
              <a:rPr lang="en-US" dirty="0" smtClean="0"/>
              <a:t>do what you can without writing code</a:t>
            </a:r>
          </a:p>
          <a:p>
            <a:pPr lvl="1"/>
            <a:r>
              <a:rPr lang="en-US" dirty="0" smtClean="0"/>
              <a:t>your </a:t>
            </a:r>
            <a:r>
              <a:rPr lang="en-US" dirty="0"/>
              <a:t>code is slow and </a:t>
            </a:r>
            <a:r>
              <a:rPr lang="en-US" dirty="0" smtClean="0"/>
              <a:t>buggy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508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Once you have input/output pairs</a:t>
            </a:r>
            <a:r>
              <a:rPr lang="mr-IN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“If you’re going to ask the computer to do the task, try to do it yourself first.” </a:t>
            </a:r>
            <a:r>
              <a:rPr lang="mr-IN" dirty="0" smtClean="0"/>
              <a:t>–</a:t>
            </a:r>
            <a:r>
              <a:rPr lang="en-US" dirty="0" smtClean="0"/>
              <a:t>Kevin Knight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sample some data, hide the outputs </a:t>
            </a:r>
            <a:r>
              <a:rPr lang="en-US" dirty="0" smtClean="0"/>
              <a:t>from yourself</a:t>
            </a:r>
            <a:r>
              <a:rPr lang="en-US" dirty="0"/>
              <a:t>, and try to predict </a:t>
            </a:r>
            <a:r>
              <a:rPr lang="en-US" dirty="0" smtClean="0"/>
              <a:t>them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if you find yourself using tricks and shallow heuristics, that’s what the computer will do too!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151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466566" cy="5052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 aware of </a:t>
            </a:r>
            <a:r>
              <a:rPr lang="en-US" dirty="0" smtClean="0"/>
              <a:t>the preprocessing </a:t>
            </a:r>
            <a:r>
              <a:rPr lang="en-US" dirty="0"/>
              <a:t>you’re doing!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 preprocessed the data for the assignments</a:t>
            </a:r>
          </a:p>
          <a:p>
            <a:pPr lvl="1"/>
            <a:r>
              <a:rPr lang="en-US" dirty="0"/>
              <a:t>some of you did extra preprocessing. why?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 single preprocessing pipeline is optimal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everything can be tuned, including preprocessing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41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Most Important Preprocessing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67" y="1693404"/>
            <a:ext cx="8686800" cy="4432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using </a:t>
            </a:r>
            <a:r>
              <a:rPr lang="en-US" dirty="0" err="1"/>
              <a:t>embeddings</a:t>
            </a:r>
            <a:r>
              <a:rPr lang="en-US" dirty="0"/>
              <a:t> or linguistic analyzers, match your preprocessing to what they expect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may be non-trivial </a:t>
            </a:r>
            <a:r>
              <a:rPr lang="mr-IN" dirty="0"/>
              <a:t>–</a:t>
            </a:r>
            <a:r>
              <a:rPr lang="en-US" dirty="0"/>
              <a:t> you might need to reverse-engineer their decisions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4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getting started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researching</a:t>
            </a:r>
          </a:p>
          <a:p>
            <a:r>
              <a:rPr lang="en-US" dirty="0" smtClean="0"/>
              <a:t>communication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858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231" y="1073740"/>
            <a:ext cx="8686800" cy="5052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higher </a:t>
            </a:r>
            <a:r>
              <a:rPr lang="en-US" dirty="0"/>
              <a:t>numbers </a:t>
            </a:r>
            <a:r>
              <a:rPr lang="en-US" dirty="0" smtClean="0"/>
              <a:t>are </a:t>
            </a:r>
            <a:r>
              <a:rPr lang="en-US" dirty="0"/>
              <a:t>neither necessary nor sufficient for making a contribution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junior researchers want to get higher numbers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senior researchers want to know </a:t>
            </a:r>
            <a:r>
              <a:rPr lang="en-US" i="1" dirty="0"/>
              <a:t>why</a:t>
            </a:r>
            <a:r>
              <a:rPr lang="en-US" dirty="0"/>
              <a:t> the numbers are higher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61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Keep Your Goals in 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0608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696" y="137304"/>
            <a:ext cx="8729274" cy="63159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 smtClean="0"/>
              <a:t>“I </a:t>
            </a:r>
            <a:r>
              <a:rPr lang="en-US" sz="2800" dirty="0"/>
              <a:t>always tell students not to get too pleased when they get state of the art performance on some standard task: someone else will beat them next </a:t>
            </a:r>
            <a:r>
              <a:rPr lang="en-US" sz="2800" dirty="0" smtClean="0"/>
              <a:t>year.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 smtClean="0"/>
              <a:t>If </a:t>
            </a:r>
            <a:r>
              <a:rPr lang="en-US" sz="2800" dirty="0"/>
              <a:t>the only thing that I learn from their papers is that they win on task X, then next year there's nothing to learn from that </a:t>
            </a:r>
            <a:r>
              <a:rPr lang="en-US" sz="2800" dirty="0" smtClean="0"/>
              <a:t>paper.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 smtClean="0"/>
              <a:t>The </a:t>
            </a:r>
            <a:r>
              <a:rPr lang="en-US" sz="2800" dirty="0"/>
              <a:t>paper has to teach me something else to have any sort of lasting effect: what is the generalizable knowledge</a:t>
            </a:r>
            <a:r>
              <a:rPr lang="en-US" sz="2800" dirty="0" smtClean="0"/>
              <a:t>.”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mr-IN" sz="2800" dirty="0" smtClean="0"/>
              <a:t>–</a:t>
            </a:r>
            <a:r>
              <a:rPr lang="en-US" sz="2800" dirty="0" smtClean="0"/>
              <a:t> Hal </a:t>
            </a:r>
            <a:r>
              <a:rPr lang="en-US" sz="2800" dirty="0" err="1" smtClean="0"/>
              <a:t>Daume</a:t>
            </a:r>
            <a:r>
              <a:rPr lang="en-US" sz="2800" dirty="0" smtClean="0"/>
              <a:t>, </a:t>
            </a:r>
            <a:r>
              <a:rPr lang="en-US" sz="2800" i="1" dirty="0" smtClean="0"/>
              <a:t>The myth of a strong baseline</a:t>
            </a:r>
            <a:r>
              <a:rPr lang="en-US" sz="2800" dirty="0" smtClean="0"/>
              <a:t>, Nov 15, 2014</a:t>
            </a:r>
            <a:endParaRPr lang="en-US" sz="2800" dirty="0"/>
          </a:p>
          <a:p>
            <a:pPr>
              <a:lnSpc>
                <a:spcPct val="12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559106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on a Research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throughout, be </a:t>
            </a:r>
            <a:r>
              <a:rPr lang="en-US" dirty="0"/>
              <a:t>both </a:t>
            </a:r>
            <a:r>
              <a:rPr lang="en-US" dirty="0">
                <a:solidFill>
                  <a:srgbClr val="BC0000"/>
                </a:solidFill>
              </a:rPr>
              <a:t>quantitative</a:t>
            </a:r>
            <a:r>
              <a:rPr lang="en-US" dirty="0"/>
              <a:t> </a:t>
            </a:r>
            <a:r>
              <a:rPr lang="en-US" i="1" dirty="0" smtClean="0"/>
              <a:t>and</a:t>
            </a:r>
            <a:r>
              <a:rPr lang="en-US" dirty="0" smtClean="0"/>
              <a:t> </a:t>
            </a:r>
            <a:r>
              <a:rPr lang="en-US" dirty="0">
                <a:solidFill>
                  <a:srgbClr val="288CD2"/>
                </a:solidFill>
              </a:rPr>
              <a:t>qualitative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smtClean="0">
                <a:solidFill>
                  <a:srgbClr val="BC0000"/>
                </a:solidFill>
              </a:rPr>
              <a:t>quantitative</a:t>
            </a:r>
            <a:r>
              <a:rPr lang="en-US" dirty="0" smtClean="0"/>
              <a:t> </a:t>
            </a:r>
            <a:r>
              <a:rPr lang="en-US" dirty="0" err="1" smtClean="0"/>
              <a:t>eval</a:t>
            </a:r>
            <a:r>
              <a:rPr lang="en-US" dirty="0" smtClean="0"/>
              <a:t> </a:t>
            </a:r>
            <a:r>
              <a:rPr lang="en-US" dirty="0"/>
              <a:t>is not working out, it can be hard to figure out </a:t>
            </a:r>
            <a:r>
              <a:rPr lang="en-US" dirty="0" smtClean="0"/>
              <a:t>why (it’s just numbers</a:t>
            </a:r>
            <a:r>
              <a:rPr lang="mr-IN" dirty="0" smtClean="0"/>
              <a:t>…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but whether or not you’re beating the baseline, </a:t>
            </a:r>
            <a:r>
              <a:rPr lang="en-US" dirty="0" smtClean="0">
                <a:solidFill>
                  <a:srgbClr val="288CD2"/>
                </a:solidFill>
              </a:rPr>
              <a:t>qualitative</a:t>
            </a:r>
            <a:r>
              <a:rPr lang="en-US" dirty="0" smtClean="0"/>
              <a:t> </a:t>
            </a:r>
            <a:r>
              <a:rPr lang="en-US" dirty="0" err="1" smtClean="0"/>
              <a:t>eval</a:t>
            </a:r>
            <a:r>
              <a:rPr lang="en-US" dirty="0" smtClean="0"/>
              <a:t> should look reasonable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smtClean="0">
                <a:solidFill>
                  <a:srgbClr val="288CD2"/>
                </a:solidFill>
              </a:rPr>
              <a:t>qualitative</a:t>
            </a:r>
            <a:r>
              <a:rPr lang="en-US" dirty="0" smtClean="0"/>
              <a:t> </a:t>
            </a:r>
            <a:r>
              <a:rPr lang="en-US" dirty="0" err="1"/>
              <a:t>eval</a:t>
            </a:r>
            <a:r>
              <a:rPr lang="en-US" dirty="0"/>
              <a:t> looks </a:t>
            </a:r>
            <a:r>
              <a:rPr lang="en-US" dirty="0" smtClean="0"/>
              <a:t>bad, </a:t>
            </a:r>
            <a:r>
              <a:rPr lang="en-US" dirty="0"/>
              <a:t>maybe there’s a bug</a:t>
            </a:r>
          </a:p>
        </p:txBody>
      </p:sp>
    </p:spTree>
    <p:extLst>
      <p:ext uri="{BB962C8B-B14F-4D97-AF65-F5344CB8AC3E}">
        <p14:creationId xmlns:p14="http://schemas.microsoft.com/office/powerpoint/2010/main" val="10144877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on a Research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even worse, </a:t>
            </a:r>
            <a:r>
              <a:rPr lang="en-US" dirty="0" smtClean="0">
                <a:solidFill>
                  <a:srgbClr val="BC0000"/>
                </a:solidFill>
              </a:rPr>
              <a:t>quantitative</a:t>
            </a:r>
            <a:r>
              <a:rPr lang="en-US" dirty="0" smtClean="0"/>
              <a:t> </a:t>
            </a:r>
            <a:r>
              <a:rPr lang="en-US" dirty="0" err="1" smtClean="0"/>
              <a:t>eval</a:t>
            </a:r>
            <a:r>
              <a:rPr lang="en-US" dirty="0" smtClean="0"/>
              <a:t> may look good but there could be a beneficial bug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e.g., bug in evaluation code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your brain is good at sanity checks in </a:t>
            </a:r>
            <a:r>
              <a:rPr lang="en-US" dirty="0" smtClean="0">
                <a:solidFill>
                  <a:srgbClr val="288CD2"/>
                </a:solidFill>
              </a:rPr>
              <a:t>qualitative</a:t>
            </a:r>
            <a:r>
              <a:rPr lang="en-US" dirty="0" smtClean="0"/>
              <a:t> evaluation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computers are not (yet) good at sanity checks</a:t>
            </a:r>
          </a:p>
        </p:txBody>
      </p:sp>
    </p:spTree>
    <p:extLst>
      <p:ext uri="{BB962C8B-B14F-4D97-AF65-F5344CB8AC3E}">
        <p14:creationId xmlns:p14="http://schemas.microsoft.com/office/powerpoint/2010/main" val="6609495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391940-A85A-A842-984E-4FFA2DD62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The Role of Your Brain in Your Research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55E8BB-BF6C-B64E-B2BD-885E73CA9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936" y="1073740"/>
            <a:ext cx="8786474" cy="505242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use your brain to help </a:t>
            </a:r>
            <a:r>
              <a:rPr lang="en-US" dirty="0" smtClean="0"/>
              <a:t>you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this is non-trivial; see “The Bitter Lesson” by Rich Sutton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for some things, your brain is better than a computer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for other things, a computer is better than your brain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figure out which is which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e.g</a:t>
            </a:r>
            <a:r>
              <a:rPr lang="en-US" dirty="0"/>
              <a:t>., look at data, form hypotheses, write code to check those hypotheses on more data that you can’t look at </a:t>
            </a:r>
            <a:r>
              <a:rPr lang="en-US" dirty="0" smtClean="0"/>
              <a:t>systematically, repeat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7C45032-4F24-4E49-B4FD-8410D1AE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481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can’t be systematic about everything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 a greedy search (or beam search) through the space of ideas, experiments, </a:t>
            </a:r>
            <a:r>
              <a:rPr lang="en-US" dirty="0" smtClean="0"/>
              <a:t>methods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brains are pretty good at this sort of open-ended, heuristic search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223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1" y="56979"/>
            <a:ext cx="439415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The Awkward Stage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67</a:t>
            </a:fld>
            <a:endParaRPr lang="en-US"/>
          </a:p>
        </p:txBody>
      </p:sp>
      <p:pic>
        <p:nvPicPr>
          <p:cNvPr id="5" name="Picture 4" descr="Screen Shot 2019-05-23 at 3.10.59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8" t="1" r="24430" b="10499"/>
          <a:stretch/>
        </p:blipFill>
        <p:spPr>
          <a:xfrm>
            <a:off x="68646" y="973688"/>
            <a:ext cx="4394150" cy="5006547"/>
          </a:xfrm>
          <a:prstGeom prst="rect">
            <a:avLst/>
          </a:prstGeom>
        </p:spPr>
      </p:pic>
      <p:pic>
        <p:nvPicPr>
          <p:cNvPr id="6" name="Picture 5" descr="Screen Shot 2019-05-23 at 3.11.14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57" t="6801" r="27012" b="21836"/>
          <a:stretch/>
        </p:blipFill>
        <p:spPr>
          <a:xfrm>
            <a:off x="4530526" y="997456"/>
            <a:ext cx="4484765" cy="4982779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484761" y="80094"/>
            <a:ext cx="4484765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Final Painting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2123E2A-DC18-1048-8B88-55FC64A506D7}"/>
              </a:ext>
            </a:extLst>
          </p:cNvPr>
          <p:cNvSpPr txBox="1"/>
          <p:nvPr/>
        </p:nvSpPr>
        <p:spPr>
          <a:xfrm>
            <a:off x="5430257" y="6261913"/>
            <a:ext cx="3516733" cy="553998"/>
          </a:xfrm>
          <a:prstGeom prst="rect">
            <a:avLst/>
          </a:prstGeom>
          <a:solidFill>
            <a:schemeClr val="bg1"/>
          </a:solidFill>
          <a:ln w="38100" cmpd="sng">
            <a:noFill/>
          </a:ln>
        </p:spPr>
        <p:txBody>
          <a:bodyPr wrap="square" lIns="182880" rIns="182880" bIns="137160" rtlCol="0" anchor="ctr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</a:rPr>
              <a:t>Credit: Lee Hammond</a:t>
            </a:r>
            <a:endParaRPr lang="en-US" sz="14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4363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1" y="56979"/>
            <a:ext cx="439415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The Awkward Stage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68</a:t>
            </a:fld>
            <a:endParaRPr lang="en-US"/>
          </a:p>
        </p:txBody>
      </p:sp>
      <p:pic>
        <p:nvPicPr>
          <p:cNvPr id="5" name="Picture 4" descr="Screen Shot 2019-05-23 at 3.10.59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8" t="1" r="24430" b="10499"/>
          <a:stretch/>
        </p:blipFill>
        <p:spPr>
          <a:xfrm>
            <a:off x="68646" y="973688"/>
            <a:ext cx="4394150" cy="50065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31764" y="1762056"/>
            <a:ext cx="39432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beginning painters often give up when they reach the awkward stage</a:t>
            </a:r>
          </a:p>
          <a:p>
            <a:endParaRPr lang="en-US" sz="2800" dirty="0"/>
          </a:p>
          <a:p>
            <a:r>
              <a:rPr lang="en-US" sz="2800" dirty="0"/>
              <a:t>experienced painters know how to finish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2123E2A-DC18-1048-8B88-55FC64A506D7}"/>
              </a:ext>
            </a:extLst>
          </p:cNvPr>
          <p:cNvSpPr txBox="1"/>
          <p:nvPr/>
        </p:nvSpPr>
        <p:spPr>
          <a:xfrm>
            <a:off x="5430257" y="6261913"/>
            <a:ext cx="3516733" cy="553998"/>
          </a:xfrm>
          <a:prstGeom prst="rect">
            <a:avLst/>
          </a:prstGeom>
          <a:solidFill>
            <a:schemeClr val="bg1"/>
          </a:solidFill>
          <a:ln w="38100" cmpd="sng">
            <a:noFill/>
          </a:ln>
        </p:spPr>
        <p:txBody>
          <a:bodyPr wrap="square" lIns="182880" rIns="182880" bIns="137160" rtlCol="0" anchor="ctr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</a:rPr>
              <a:t>Credit: Lee Hammond</a:t>
            </a:r>
            <a:endParaRPr lang="en-US" sz="14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8102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Research Projects have Awkward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021" y="1073740"/>
            <a:ext cx="8843681" cy="540238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 smtClean="0"/>
              <a:t>you are bogged </a:t>
            </a:r>
            <a:r>
              <a:rPr lang="en-US" dirty="0"/>
              <a:t>down in </a:t>
            </a:r>
            <a:r>
              <a:rPr lang="en-US" dirty="0" err="1"/>
              <a:t>hyperparameter</a:t>
            </a:r>
            <a:r>
              <a:rPr lang="en-US" dirty="0"/>
              <a:t> </a:t>
            </a:r>
            <a:r>
              <a:rPr lang="en-US" dirty="0" smtClean="0"/>
              <a:t>tuning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/>
              <a:t>you have tried so many random things that you don’t know how to distill them into a coherent story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/>
              <a:t>the results are inconsistent, helping on some tasks/datasets but not others (this is very common!)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you’ve been trying stuff forever and nothing </a:t>
            </a:r>
            <a:r>
              <a:rPr lang="en-US" dirty="0" smtClean="0"/>
              <a:t>seems to predictably affect the results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086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Escaping the Awkward Stage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smtClean="0"/>
              <a:t>embrace the </a:t>
            </a:r>
            <a:r>
              <a:rPr lang="en-US" dirty="0"/>
              <a:t>notion that </a:t>
            </a:r>
            <a:r>
              <a:rPr lang="en-US" dirty="0" smtClean="0"/>
              <a:t>a long </a:t>
            </a:r>
            <a:r>
              <a:rPr lang="en-US" dirty="0"/>
              <a:t>search over the space of ideas is </a:t>
            </a:r>
            <a:r>
              <a:rPr lang="en-US" dirty="0" smtClean="0"/>
              <a:t>necessary for understanding</a:t>
            </a:r>
            <a:r>
              <a:rPr lang="en-US" dirty="0"/>
              <a:t>!</a:t>
            </a:r>
          </a:p>
          <a:p>
            <a:pPr>
              <a:lnSpc>
                <a:spcPct val="110000"/>
              </a:lnSpc>
            </a:pPr>
            <a:endParaRPr lang="en-US" dirty="0" smtClean="0"/>
          </a:p>
          <a:p>
            <a:pPr marL="0" indent="0">
              <a:lnSpc>
                <a:spcPct val="110000"/>
              </a:lnSpc>
              <a:buNone/>
            </a:pPr>
            <a:r>
              <a:rPr lang="en-US" dirty="0" smtClean="0"/>
              <a:t>figure out what matters and what doesn’t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 smtClean="0"/>
              <a:t>talk to other researchers and see what parts of your work they are most excited about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 smtClean="0"/>
              <a:t>focus on those parts, streamlining the rest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188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When Things Don’t Work 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sometimes </a:t>
            </a:r>
            <a:r>
              <a:rPr lang="en-US" dirty="0"/>
              <a:t>you can keep working and </a:t>
            </a:r>
            <a:r>
              <a:rPr lang="en-US" dirty="0" smtClean="0"/>
              <a:t>publish a </a:t>
            </a:r>
            <a:r>
              <a:rPr lang="en-US" dirty="0"/>
              <a:t>paper about your experiences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but you might be better off just leaving things behind and starting something new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publishing has costs: time and attention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753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getting started</a:t>
            </a:r>
          </a:p>
          <a:p>
            <a:r>
              <a:rPr lang="en-US" dirty="0" smtClean="0"/>
              <a:t>researching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communication</a:t>
            </a:r>
            <a:endParaRPr lang="en-US" dirty="0">
              <a:solidFill>
                <a:srgbClr val="288CD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428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896" y="833461"/>
            <a:ext cx="8743575" cy="5052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“Your writing is not about you. It’s about the Reader</a:t>
            </a:r>
            <a:r>
              <a:rPr lang="mr-IN" sz="2800" dirty="0"/>
              <a:t>…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There is one thing all Readers want:</a:t>
            </a:r>
          </a:p>
          <a:p>
            <a:pPr marL="0" indent="0">
              <a:buNone/>
            </a:pPr>
            <a:r>
              <a:rPr lang="en-US" sz="2800" dirty="0"/>
              <a:t>	clear,</a:t>
            </a:r>
          </a:p>
          <a:p>
            <a:pPr marL="0" indent="0">
              <a:buNone/>
            </a:pPr>
            <a:r>
              <a:rPr lang="en-US" sz="2800" dirty="0"/>
              <a:t>	concise,</a:t>
            </a:r>
          </a:p>
          <a:p>
            <a:pPr marL="0" indent="0">
              <a:buNone/>
            </a:pPr>
            <a:r>
              <a:rPr lang="en-US" sz="2800" dirty="0"/>
              <a:t>	comprehensible sentences </a:t>
            </a:r>
          </a:p>
          <a:p>
            <a:pPr marL="0" indent="0">
              <a:buNone/>
            </a:pPr>
            <a:r>
              <a:rPr lang="en-US" sz="2800" dirty="0"/>
              <a:t>that mean something to </a:t>
            </a:r>
            <a:r>
              <a:rPr lang="en-US" sz="2800" i="1" dirty="0"/>
              <a:t>them</a:t>
            </a:r>
            <a:r>
              <a:rPr lang="en-US" sz="2800" dirty="0"/>
              <a:t>.”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400" dirty="0"/>
              <a:t>	June </a:t>
            </a:r>
            <a:r>
              <a:rPr lang="en-US" sz="2400" dirty="0" err="1"/>
              <a:t>Casagrande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/>
              <a:t>	It Was the Best of Sentences, It was the Worst of Sentences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10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Technical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432244" cy="5052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writing should be in service of the research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good writing does not draw attention to itself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mathematical notation?</a:t>
            </a:r>
          </a:p>
          <a:p>
            <a:pPr lvl="1"/>
            <a:r>
              <a:rPr lang="en-US" dirty="0"/>
              <a:t>goal is to make things clearer, not impress anyone!</a:t>
            </a:r>
          </a:p>
          <a:p>
            <a:pPr lvl="1"/>
            <a:r>
              <a:rPr lang="en-US" dirty="0"/>
              <a:t>with good notation, complex ideas can be clear &amp; concise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870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75</a:t>
            </a:fld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329684" y="2774841"/>
            <a:ext cx="1890176" cy="3057574"/>
            <a:chOff x="468641" y="2414329"/>
            <a:chExt cx="2185608" cy="3535469"/>
          </a:xfrm>
        </p:grpSpPr>
        <p:sp>
          <p:nvSpPr>
            <p:cNvPr id="5" name="Oval 4"/>
            <p:cNvSpPr/>
            <p:nvPr/>
          </p:nvSpPr>
          <p:spPr>
            <a:xfrm>
              <a:off x="1161219" y="24143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>
              <a:stCxn id="5" idx="4"/>
            </p:cNvCxnSpPr>
            <p:nvPr/>
          </p:nvCxnSpPr>
          <p:spPr>
            <a:xfrm flipH="1">
              <a:off x="1475839" y="3226621"/>
              <a:ext cx="91526" cy="15904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823718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475839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1544483" y="3249504"/>
              <a:ext cx="1109766" cy="644403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68641" y="3157969"/>
              <a:ext cx="1052962" cy="735938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4271489" y="3386807"/>
            <a:ext cx="1635176" cy="2540107"/>
            <a:chOff x="4804688" y="2566729"/>
            <a:chExt cx="2177827" cy="3383069"/>
          </a:xfrm>
        </p:grpSpPr>
        <p:sp>
          <p:nvSpPr>
            <p:cNvPr id="21" name="Oval 20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>
              <a:stCxn id="21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Cloud 30"/>
          <p:cNvSpPr/>
          <p:nvPr/>
        </p:nvSpPr>
        <p:spPr>
          <a:xfrm>
            <a:off x="2284368" y="1418798"/>
            <a:ext cx="2887483" cy="1582727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how does this relate to my research?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910935" y="3073026"/>
            <a:ext cx="1635176" cy="2540107"/>
            <a:chOff x="4804688" y="2566729"/>
            <a:chExt cx="2177827" cy="3383069"/>
          </a:xfrm>
        </p:grpSpPr>
        <p:sp>
          <p:nvSpPr>
            <p:cNvPr id="35" name="Oval 34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/>
            <p:cNvCxnSpPr>
              <a:stCxn id="35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7225523" y="3386807"/>
            <a:ext cx="1635176" cy="2540107"/>
            <a:chOff x="4804688" y="2566729"/>
            <a:chExt cx="2177827" cy="3383069"/>
          </a:xfrm>
        </p:grpSpPr>
        <p:sp>
          <p:nvSpPr>
            <p:cNvPr id="42" name="Oval 41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/>
            <p:cNvCxnSpPr>
              <a:stCxn id="42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Oval 48"/>
          <p:cNvSpPr/>
          <p:nvPr/>
        </p:nvSpPr>
        <p:spPr>
          <a:xfrm>
            <a:off x="4222859" y="2929132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4538727" y="3246332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loud 50"/>
          <p:cNvSpPr/>
          <p:nvPr/>
        </p:nvSpPr>
        <p:spPr>
          <a:xfrm>
            <a:off x="4449216" y="676126"/>
            <a:ext cx="3101657" cy="1700123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how does this fit into my grand unified theory?</a:t>
            </a:r>
          </a:p>
        </p:txBody>
      </p:sp>
      <p:sp>
        <p:nvSpPr>
          <p:cNvPr id="52" name="Oval 51"/>
          <p:cNvSpPr/>
          <p:nvPr/>
        </p:nvSpPr>
        <p:spPr>
          <a:xfrm>
            <a:off x="6240041" y="2458008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6430058" y="2798092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loud 53"/>
          <p:cNvSpPr/>
          <p:nvPr/>
        </p:nvSpPr>
        <p:spPr>
          <a:xfrm>
            <a:off x="6671025" y="839968"/>
            <a:ext cx="3101657" cy="1700123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I didn’t catch that technical part and now I’m lost</a:t>
            </a:r>
          </a:p>
        </p:txBody>
      </p:sp>
      <p:sp>
        <p:nvSpPr>
          <p:cNvPr id="55" name="Oval 54"/>
          <p:cNvSpPr/>
          <p:nvPr/>
        </p:nvSpPr>
        <p:spPr>
          <a:xfrm>
            <a:off x="8009754" y="2686847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987431" y="3065870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loud 56"/>
          <p:cNvSpPr/>
          <p:nvPr/>
        </p:nvSpPr>
        <p:spPr>
          <a:xfrm>
            <a:off x="-354670" y="423352"/>
            <a:ext cx="2738144" cy="1500870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I hope they think I’m smart</a:t>
            </a:r>
          </a:p>
        </p:txBody>
      </p:sp>
      <p:sp>
        <p:nvSpPr>
          <p:cNvPr id="58" name="Oval 57"/>
          <p:cNvSpPr/>
          <p:nvPr/>
        </p:nvSpPr>
        <p:spPr>
          <a:xfrm>
            <a:off x="933653" y="2123847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059854" y="2449860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36765" y="5926914"/>
            <a:ext cx="118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Speaker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28307" y="5934557"/>
            <a:ext cx="135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Audience</a:t>
            </a:r>
          </a:p>
        </p:txBody>
      </p:sp>
    </p:spTree>
    <p:extLst>
      <p:ext uri="{BB962C8B-B14F-4D97-AF65-F5344CB8AC3E}">
        <p14:creationId xmlns:p14="http://schemas.microsoft.com/office/powerpoint/2010/main" val="10871700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76</a:t>
            </a:fld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329684" y="2774841"/>
            <a:ext cx="1890176" cy="3057574"/>
            <a:chOff x="468641" y="2414329"/>
            <a:chExt cx="2185608" cy="3535469"/>
          </a:xfrm>
        </p:grpSpPr>
        <p:sp>
          <p:nvSpPr>
            <p:cNvPr id="5" name="Oval 4"/>
            <p:cNvSpPr/>
            <p:nvPr/>
          </p:nvSpPr>
          <p:spPr>
            <a:xfrm>
              <a:off x="1161219" y="24143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>
              <a:stCxn id="5" idx="4"/>
            </p:cNvCxnSpPr>
            <p:nvPr/>
          </p:nvCxnSpPr>
          <p:spPr>
            <a:xfrm flipH="1">
              <a:off x="1475839" y="3226621"/>
              <a:ext cx="91526" cy="15904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823718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475839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1544483" y="3249504"/>
              <a:ext cx="1109766" cy="644403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68641" y="3157969"/>
              <a:ext cx="1052962" cy="735938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4271489" y="3386807"/>
            <a:ext cx="1635176" cy="2540107"/>
            <a:chOff x="4804688" y="2566729"/>
            <a:chExt cx="2177827" cy="3383069"/>
          </a:xfrm>
        </p:grpSpPr>
        <p:sp>
          <p:nvSpPr>
            <p:cNvPr id="21" name="Oval 20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>
              <a:stCxn id="21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Cloud 30"/>
          <p:cNvSpPr/>
          <p:nvPr/>
        </p:nvSpPr>
        <p:spPr>
          <a:xfrm>
            <a:off x="2284368" y="1418798"/>
            <a:ext cx="2887483" cy="1582727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how does this relate to my research?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910935" y="3073026"/>
            <a:ext cx="1635176" cy="2540107"/>
            <a:chOff x="4804688" y="2566729"/>
            <a:chExt cx="2177827" cy="3383069"/>
          </a:xfrm>
        </p:grpSpPr>
        <p:sp>
          <p:nvSpPr>
            <p:cNvPr id="35" name="Oval 34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/>
            <p:cNvCxnSpPr>
              <a:stCxn id="35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7225523" y="3386807"/>
            <a:ext cx="1635176" cy="2540107"/>
            <a:chOff x="4804688" y="2566729"/>
            <a:chExt cx="2177827" cy="3383069"/>
          </a:xfrm>
        </p:grpSpPr>
        <p:sp>
          <p:nvSpPr>
            <p:cNvPr id="42" name="Oval 41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/>
            <p:cNvCxnSpPr>
              <a:stCxn id="42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Oval 48"/>
          <p:cNvSpPr/>
          <p:nvPr/>
        </p:nvSpPr>
        <p:spPr>
          <a:xfrm>
            <a:off x="4222859" y="2929132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4538727" y="3246332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loud 50"/>
          <p:cNvSpPr/>
          <p:nvPr/>
        </p:nvSpPr>
        <p:spPr>
          <a:xfrm>
            <a:off x="4449216" y="676126"/>
            <a:ext cx="3101657" cy="1700123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how does this fit into my grand unified theory?</a:t>
            </a:r>
          </a:p>
        </p:txBody>
      </p:sp>
      <p:sp>
        <p:nvSpPr>
          <p:cNvPr id="52" name="Oval 51"/>
          <p:cNvSpPr/>
          <p:nvPr/>
        </p:nvSpPr>
        <p:spPr>
          <a:xfrm>
            <a:off x="6240041" y="2458008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6430058" y="2798092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loud 53"/>
          <p:cNvSpPr/>
          <p:nvPr/>
        </p:nvSpPr>
        <p:spPr>
          <a:xfrm>
            <a:off x="6671025" y="839968"/>
            <a:ext cx="3101657" cy="1700123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I didn’t catch that technical part and now I’m lost</a:t>
            </a:r>
          </a:p>
        </p:txBody>
      </p:sp>
      <p:sp>
        <p:nvSpPr>
          <p:cNvPr id="55" name="Oval 54"/>
          <p:cNvSpPr/>
          <p:nvPr/>
        </p:nvSpPr>
        <p:spPr>
          <a:xfrm>
            <a:off x="8009754" y="2686847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987431" y="3065870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loud 56"/>
          <p:cNvSpPr/>
          <p:nvPr/>
        </p:nvSpPr>
        <p:spPr>
          <a:xfrm>
            <a:off x="-354670" y="423352"/>
            <a:ext cx="2738144" cy="1500870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I hope they think I’m smart</a:t>
            </a:r>
          </a:p>
        </p:txBody>
      </p:sp>
      <p:sp>
        <p:nvSpPr>
          <p:cNvPr id="58" name="Oval 57"/>
          <p:cNvSpPr/>
          <p:nvPr/>
        </p:nvSpPr>
        <p:spPr>
          <a:xfrm>
            <a:off x="933653" y="2123847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059854" y="2449860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36765" y="5926914"/>
            <a:ext cx="118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Speaker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28307" y="5934557"/>
            <a:ext cx="135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Audience</a:t>
            </a:r>
          </a:p>
        </p:txBody>
      </p:sp>
      <p:sp>
        <p:nvSpPr>
          <p:cNvPr id="62" name="Cloud 61"/>
          <p:cNvSpPr/>
          <p:nvPr/>
        </p:nvSpPr>
        <p:spPr>
          <a:xfrm>
            <a:off x="5556957" y="2785271"/>
            <a:ext cx="3101657" cy="1700123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I’m not following. Is everyone else smarter than me?</a:t>
            </a:r>
          </a:p>
        </p:txBody>
      </p:sp>
      <p:sp>
        <p:nvSpPr>
          <p:cNvPr id="63" name="Oval 62"/>
          <p:cNvSpPr/>
          <p:nvPr/>
        </p:nvSpPr>
        <p:spPr>
          <a:xfrm>
            <a:off x="8413910" y="4020708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8780160" y="4224642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loud 64"/>
          <p:cNvSpPr/>
          <p:nvPr/>
        </p:nvSpPr>
        <p:spPr>
          <a:xfrm>
            <a:off x="6489965" y="4852781"/>
            <a:ext cx="1955698" cy="1071984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I’m bored</a:t>
            </a:r>
          </a:p>
        </p:txBody>
      </p:sp>
      <p:sp>
        <p:nvSpPr>
          <p:cNvPr id="66" name="Oval 65"/>
          <p:cNvSpPr/>
          <p:nvPr/>
        </p:nvSpPr>
        <p:spPr>
          <a:xfrm>
            <a:off x="8502982" y="4950212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858684" y="4809621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092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77</a:t>
            </a:fld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329684" y="2774841"/>
            <a:ext cx="1890176" cy="3057574"/>
            <a:chOff x="468641" y="2414329"/>
            <a:chExt cx="2185608" cy="3535469"/>
          </a:xfrm>
        </p:grpSpPr>
        <p:sp>
          <p:nvSpPr>
            <p:cNvPr id="5" name="Oval 4"/>
            <p:cNvSpPr/>
            <p:nvPr/>
          </p:nvSpPr>
          <p:spPr>
            <a:xfrm>
              <a:off x="1161219" y="24143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>
              <a:stCxn id="5" idx="4"/>
            </p:cNvCxnSpPr>
            <p:nvPr/>
          </p:nvCxnSpPr>
          <p:spPr>
            <a:xfrm flipH="1">
              <a:off x="1475839" y="3226621"/>
              <a:ext cx="91526" cy="15904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823718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475839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1544483" y="3249504"/>
              <a:ext cx="1109766" cy="644403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68641" y="3157969"/>
              <a:ext cx="1052962" cy="735938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4271489" y="3386807"/>
            <a:ext cx="1635176" cy="2540107"/>
            <a:chOff x="4804688" y="2566729"/>
            <a:chExt cx="2177827" cy="3383069"/>
          </a:xfrm>
        </p:grpSpPr>
        <p:sp>
          <p:nvSpPr>
            <p:cNvPr id="21" name="Oval 20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>
              <a:stCxn id="21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Cloud 30"/>
          <p:cNvSpPr/>
          <p:nvPr/>
        </p:nvSpPr>
        <p:spPr>
          <a:xfrm>
            <a:off x="2284368" y="1418798"/>
            <a:ext cx="2887483" cy="1582727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how does this relate to my research?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910935" y="3073026"/>
            <a:ext cx="1635176" cy="2540107"/>
            <a:chOff x="4804688" y="2566729"/>
            <a:chExt cx="2177827" cy="3383069"/>
          </a:xfrm>
        </p:grpSpPr>
        <p:sp>
          <p:nvSpPr>
            <p:cNvPr id="35" name="Oval 34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/>
            <p:cNvCxnSpPr>
              <a:stCxn id="35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7225523" y="3386807"/>
            <a:ext cx="1635176" cy="2540107"/>
            <a:chOff x="4804688" y="2566729"/>
            <a:chExt cx="2177827" cy="3383069"/>
          </a:xfrm>
        </p:grpSpPr>
        <p:sp>
          <p:nvSpPr>
            <p:cNvPr id="42" name="Oval 41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/>
            <p:cNvCxnSpPr>
              <a:stCxn id="42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Oval 48"/>
          <p:cNvSpPr/>
          <p:nvPr/>
        </p:nvSpPr>
        <p:spPr>
          <a:xfrm>
            <a:off x="4222859" y="2929132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4538727" y="3246332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loud 50"/>
          <p:cNvSpPr/>
          <p:nvPr/>
        </p:nvSpPr>
        <p:spPr>
          <a:xfrm>
            <a:off x="4449216" y="676126"/>
            <a:ext cx="3101657" cy="1700123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how does this fit into my grand unified theory?</a:t>
            </a:r>
          </a:p>
        </p:txBody>
      </p:sp>
      <p:sp>
        <p:nvSpPr>
          <p:cNvPr id="52" name="Oval 51"/>
          <p:cNvSpPr/>
          <p:nvPr/>
        </p:nvSpPr>
        <p:spPr>
          <a:xfrm>
            <a:off x="6240041" y="2458008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6430058" y="2798092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loud 53"/>
          <p:cNvSpPr/>
          <p:nvPr/>
        </p:nvSpPr>
        <p:spPr>
          <a:xfrm>
            <a:off x="6671025" y="839968"/>
            <a:ext cx="3101657" cy="1700123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I didn’t catch that technical part and now I’m lost</a:t>
            </a:r>
          </a:p>
        </p:txBody>
      </p:sp>
      <p:sp>
        <p:nvSpPr>
          <p:cNvPr id="55" name="Oval 54"/>
          <p:cNvSpPr/>
          <p:nvPr/>
        </p:nvSpPr>
        <p:spPr>
          <a:xfrm>
            <a:off x="8009754" y="2686847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987431" y="3065870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loud 56"/>
          <p:cNvSpPr/>
          <p:nvPr/>
        </p:nvSpPr>
        <p:spPr>
          <a:xfrm>
            <a:off x="-354670" y="423352"/>
            <a:ext cx="2738144" cy="1500870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I hope they think I’m smart</a:t>
            </a:r>
          </a:p>
        </p:txBody>
      </p:sp>
      <p:sp>
        <p:nvSpPr>
          <p:cNvPr id="58" name="Oval 57"/>
          <p:cNvSpPr/>
          <p:nvPr/>
        </p:nvSpPr>
        <p:spPr>
          <a:xfrm>
            <a:off x="933653" y="2123847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059854" y="2449860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36765" y="5926914"/>
            <a:ext cx="118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Speaker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28307" y="5934557"/>
            <a:ext cx="135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Audience</a:t>
            </a:r>
          </a:p>
        </p:txBody>
      </p:sp>
      <p:sp>
        <p:nvSpPr>
          <p:cNvPr id="62" name="Cloud 61"/>
          <p:cNvSpPr/>
          <p:nvPr/>
        </p:nvSpPr>
        <p:spPr>
          <a:xfrm>
            <a:off x="5556957" y="2785271"/>
            <a:ext cx="3101657" cy="1700123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I’m not following. Is everyone else smarter than me?</a:t>
            </a:r>
          </a:p>
        </p:txBody>
      </p:sp>
      <p:sp>
        <p:nvSpPr>
          <p:cNvPr id="63" name="Oval 62"/>
          <p:cNvSpPr/>
          <p:nvPr/>
        </p:nvSpPr>
        <p:spPr>
          <a:xfrm>
            <a:off x="8413910" y="4020708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8780160" y="4224642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loud 64"/>
          <p:cNvSpPr/>
          <p:nvPr/>
        </p:nvSpPr>
        <p:spPr>
          <a:xfrm>
            <a:off x="6489965" y="4852781"/>
            <a:ext cx="1955698" cy="1071984"/>
          </a:xfrm>
          <a:prstGeom prst="cloud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88CD2"/>
                </a:solidFill>
              </a:rPr>
              <a:t>I’m bored</a:t>
            </a:r>
          </a:p>
        </p:txBody>
      </p:sp>
      <p:sp>
        <p:nvSpPr>
          <p:cNvPr id="66" name="Oval 65"/>
          <p:cNvSpPr/>
          <p:nvPr/>
        </p:nvSpPr>
        <p:spPr>
          <a:xfrm>
            <a:off x="8502982" y="4950212"/>
            <a:ext cx="252402" cy="252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858684" y="4809621"/>
            <a:ext cx="180462" cy="18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-594918" y="1"/>
            <a:ext cx="10822927" cy="6857999"/>
          </a:xfrm>
          <a:prstGeom prst="rect">
            <a:avLst/>
          </a:prstGeom>
          <a:solidFill>
            <a:schemeClr val="bg1">
              <a:alpha val="62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33653" y="2395916"/>
            <a:ext cx="7234240" cy="1538883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288CD2"/>
            </a:solidFill>
          </a:ln>
        </p:spPr>
        <p:txBody>
          <a:bodyPr wrap="square" lIns="182880" rIns="182880" bIns="137160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288CD2"/>
                </a:solidFill>
              </a:rPr>
              <a:t>most people think about themselves most of the time</a:t>
            </a:r>
          </a:p>
        </p:txBody>
      </p:sp>
    </p:spTree>
    <p:extLst>
      <p:ext uri="{BB962C8B-B14F-4D97-AF65-F5344CB8AC3E}">
        <p14:creationId xmlns:p14="http://schemas.microsoft.com/office/powerpoint/2010/main" val="30232107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decagon 4"/>
          <p:cNvSpPr/>
          <p:nvPr/>
        </p:nvSpPr>
        <p:spPr>
          <a:xfrm>
            <a:off x="4338255" y="314687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decagon 5"/>
          <p:cNvSpPr/>
          <p:nvPr/>
        </p:nvSpPr>
        <p:spPr>
          <a:xfrm>
            <a:off x="7287743" y="2543623"/>
            <a:ext cx="1441532" cy="1441532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decagon 6"/>
          <p:cNvSpPr/>
          <p:nvPr/>
        </p:nvSpPr>
        <p:spPr>
          <a:xfrm>
            <a:off x="4791531" y="4878329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08375" y="4267833"/>
            <a:ext cx="118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Speaker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213768" y="5069684"/>
            <a:ext cx="749837" cy="1164807"/>
            <a:chOff x="4804688" y="2566729"/>
            <a:chExt cx="2177827" cy="3383069"/>
          </a:xfrm>
        </p:grpSpPr>
        <p:sp>
          <p:nvSpPr>
            <p:cNvPr id="19" name="Oval 18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stCxn id="19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7713650" y="2773511"/>
            <a:ext cx="665349" cy="1033562"/>
            <a:chOff x="4804688" y="2566729"/>
            <a:chExt cx="2177827" cy="3383069"/>
          </a:xfrm>
        </p:grpSpPr>
        <p:sp>
          <p:nvSpPr>
            <p:cNvPr id="26" name="Oval 25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>
              <a:stCxn id="26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4802155" y="544574"/>
            <a:ext cx="749837" cy="1164807"/>
            <a:chOff x="4804688" y="2566729"/>
            <a:chExt cx="2177827" cy="3383069"/>
          </a:xfrm>
        </p:grpSpPr>
        <p:sp>
          <p:nvSpPr>
            <p:cNvPr id="33" name="Oval 32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>
              <a:stCxn id="33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548484" y="5789164"/>
            <a:ext cx="2356793" cy="770755"/>
            <a:chOff x="1249003" y="5384559"/>
            <a:chExt cx="2356793" cy="770755"/>
          </a:xfrm>
        </p:grpSpPr>
        <p:sp>
          <p:nvSpPr>
            <p:cNvPr id="50" name="Block Arc 4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Block Arc 5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Block Arc 5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08375" y="794982"/>
            <a:ext cx="2356793" cy="770755"/>
            <a:chOff x="1249003" y="5384559"/>
            <a:chExt cx="2356793" cy="770755"/>
          </a:xfrm>
        </p:grpSpPr>
        <p:sp>
          <p:nvSpPr>
            <p:cNvPr id="55" name="Block Arc 54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Block Arc 55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Block Arc 56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404726" y="2093524"/>
            <a:ext cx="2356793" cy="770755"/>
            <a:chOff x="1249003" y="5384559"/>
            <a:chExt cx="2356793" cy="770755"/>
          </a:xfrm>
        </p:grpSpPr>
        <p:sp>
          <p:nvSpPr>
            <p:cNvPr id="70" name="Block Arc 6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1" name="Block Arc 7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2" name="Block Arc 7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-106011" y="4919865"/>
            <a:ext cx="2356793" cy="770755"/>
            <a:chOff x="1249003" y="5384559"/>
            <a:chExt cx="2356793" cy="770755"/>
          </a:xfrm>
        </p:grpSpPr>
        <p:sp>
          <p:nvSpPr>
            <p:cNvPr id="74" name="Block Arc 7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Block Arc 7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6" name="Block Arc 7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642242" y="4743542"/>
            <a:ext cx="2356793" cy="770755"/>
            <a:chOff x="1249003" y="5384559"/>
            <a:chExt cx="2356793" cy="770755"/>
          </a:xfrm>
        </p:grpSpPr>
        <p:sp>
          <p:nvSpPr>
            <p:cNvPr id="78" name="Block Arc 7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9" name="Block Arc 7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0" name="Block Arc 7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266398" y="3727910"/>
            <a:ext cx="2356793" cy="770755"/>
            <a:chOff x="1249003" y="5384559"/>
            <a:chExt cx="2356793" cy="770755"/>
          </a:xfrm>
        </p:grpSpPr>
        <p:sp>
          <p:nvSpPr>
            <p:cNvPr id="82" name="Block Arc 8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3" name="Block Arc 8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4" name="Block Arc 8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273262" y="1303830"/>
            <a:ext cx="2356793" cy="770755"/>
            <a:chOff x="1249003" y="5384559"/>
            <a:chExt cx="2356793" cy="770755"/>
          </a:xfrm>
        </p:grpSpPr>
        <p:sp>
          <p:nvSpPr>
            <p:cNvPr id="86" name="Block Arc 8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7" name="Block Arc 8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8" name="Block Arc 8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1533296" y="5366964"/>
            <a:ext cx="2356793" cy="770755"/>
            <a:chOff x="1249003" y="5384559"/>
            <a:chExt cx="2356793" cy="770755"/>
          </a:xfrm>
        </p:grpSpPr>
        <p:sp>
          <p:nvSpPr>
            <p:cNvPr id="90" name="Block Arc 8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1" name="Block Arc 9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2" name="Block Arc 9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455407" y="824250"/>
            <a:ext cx="2356793" cy="770755"/>
            <a:chOff x="1249003" y="5384559"/>
            <a:chExt cx="2356793" cy="770755"/>
          </a:xfrm>
        </p:grpSpPr>
        <p:sp>
          <p:nvSpPr>
            <p:cNvPr id="94" name="Block Arc 9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5" name="Block Arc 9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6" name="Block Arc 9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3400586" y="3113491"/>
            <a:ext cx="2356793" cy="770755"/>
            <a:chOff x="1249003" y="5384559"/>
            <a:chExt cx="2356793" cy="770755"/>
          </a:xfrm>
        </p:grpSpPr>
        <p:sp>
          <p:nvSpPr>
            <p:cNvPr id="98" name="Block Arc 9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9" name="Block Arc 9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0" name="Block Arc 9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1403207" y="4479781"/>
            <a:ext cx="2356793" cy="770755"/>
            <a:chOff x="1249003" y="5384559"/>
            <a:chExt cx="2356793" cy="770755"/>
          </a:xfrm>
        </p:grpSpPr>
        <p:sp>
          <p:nvSpPr>
            <p:cNvPr id="102" name="Block Arc 10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Block Arc 10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Block Arc 10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7326047" y="4251149"/>
            <a:ext cx="2356793" cy="770755"/>
            <a:chOff x="1249003" y="5384559"/>
            <a:chExt cx="2356793" cy="770755"/>
          </a:xfrm>
        </p:grpSpPr>
        <p:sp>
          <p:nvSpPr>
            <p:cNvPr id="106" name="Block Arc 10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7" name="Block Arc 10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" name="Block Arc 10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4532736" y="1673180"/>
            <a:ext cx="2356793" cy="770755"/>
            <a:chOff x="1249003" y="5384559"/>
            <a:chExt cx="2356793" cy="770755"/>
          </a:xfrm>
        </p:grpSpPr>
        <p:sp>
          <p:nvSpPr>
            <p:cNvPr id="110" name="Block Arc 10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1" name="Block Arc 11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Block Arc 11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Dodecagon 7"/>
          <p:cNvSpPr/>
          <p:nvPr/>
        </p:nvSpPr>
        <p:spPr>
          <a:xfrm>
            <a:off x="587148" y="2457983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018895" y="2580326"/>
            <a:ext cx="791030" cy="1279581"/>
            <a:chOff x="468641" y="2414329"/>
            <a:chExt cx="2185608" cy="3535469"/>
          </a:xfrm>
        </p:grpSpPr>
        <p:sp>
          <p:nvSpPr>
            <p:cNvPr id="12" name="Oval 11"/>
            <p:cNvSpPr/>
            <p:nvPr/>
          </p:nvSpPr>
          <p:spPr>
            <a:xfrm>
              <a:off x="1161219" y="24143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>
              <a:stCxn id="12" idx="4"/>
            </p:cNvCxnSpPr>
            <p:nvPr/>
          </p:nvCxnSpPr>
          <p:spPr>
            <a:xfrm flipH="1">
              <a:off x="1475839" y="3226621"/>
              <a:ext cx="91526" cy="15904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823718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475839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1544483" y="3249504"/>
              <a:ext cx="1109766" cy="644403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68641" y="3157969"/>
              <a:ext cx="1052962" cy="735938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9145FE44-1AAF-F849-8C81-DDB545214B95}"/>
              </a:ext>
            </a:extLst>
          </p:cNvPr>
          <p:cNvSpPr txBox="1"/>
          <p:nvPr/>
        </p:nvSpPr>
        <p:spPr>
          <a:xfrm>
            <a:off x="7177639" y="5944135"/>
            <a:ext cx="135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Audience</a:t>
            </a:r>
          </a:p>
        </p:txBody>
      </p:sp>
    </p:spTree>
    <p:extLst>
      <p:ext uri="{BB962C8B-B14F-4D97-AF65-F5344CB8AC3E}">
        <p14:creationId xmlns:p14="http://schemas.microsoft.com/office/powerpoint/2010/main" val="388337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34DFBA87-4D6D-E744-88DB-A12945595802}"/>
              </a:ext>
            </a:extLst>
          </p:cNvPr>
          <p:cNvSpPr txBox="1"/>
          <p:nvPr/>
        </p:nvSpPr>
        <p:spPr>
          <a:xfrm>
            <a:off x="7177639" y="5944135"/>
            <a:ext cx="135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Audience</a:t>
            </a:r>
          </a:p>
        </p:txBody>
      </p:sp>
      <p:sp>
        <p:nvSpPr>
          <p:cNvPr id="5" name="Dodecagon 4"/>
          <p:cNvSpPr/>
          <p:nvPr/>
        </p:nvSpPr>
        <p:spPr>
          <a:xfrm>
            <a:off x="4338255" y="314687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decagon 5"/>
          <p:cNvSpPr/>
          <p:nvPr/>
        </p:nvSpPr>
        <p:spPr>
          <a:xfrm>
            <a:off x="7287743" y="2543623"/>
            <a:ext cx="1441532" cy="1441532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decagon 6"/>
          <p:cNvSpPr/>
          <p:nvPr/>
        </p:nvSpPr>
        <p:spPr>
          <a:xfrm>
            <a:off x="4791531" y="4878329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08375" y="4267833"/>
            <a:ext cx="118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Speaker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213768" y="5069684"/>
            <a:ext cx="749837" cy="1164807"/>
            <a:chOff x="4804688" y="2566729"/>
            <a:chExt cx="2177827" cy="3383069"/>
          </a:xfrm>
        </p:grpSpPr>
        <p:sp>
          <p:nvSpPr>
            <p:cNvPr id="19" name="Oval 18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stCxn id="19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7713650" y="2773511"/>
            <a:ext cx="665349" cy="1033562"/>
            <a:chOff x="4804688" y="2566729"/>
            <a:chExt cx="2177827" cy="3383069"/>
          </a:xfrm>
        </p:grpSpPr>
        <p:sp>
          <p:nvSpPr>
            <p:cNvPr id="26" name="Oval 25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>
              <a:stCxn id="26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4802155" y="544574"/>
            <a:ext cx="749837" cy="1164807"/>
            <a:chOff x="4804688" y="2566729"/>
            <a:chExt cx="2177827" cy="3383069"/>
          </a:xfrm>
        </p:grpSpPr>
        <p:sp>
          <p:nvSpPr>
            <p:cNvPr id="33" name="Oval 32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>
              <a:stCxn id="33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548484" y="5789164"/>
            <a:ext cx="2356793" cy="770755"/>
            <a:chOff x="1249003" y="5384559"/>
            <a:chExt cx="2356793" cy="770755"/>
          </a:xfrm>
        </p:grpSpPr>
        <p:sp>
          <p:nvSpPr>
            <p:cNvPr id="50" name="Block Arc 4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Block Arc 5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Block Arc 5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08375" y="794982"/>
            <a:ext cx="2356793" cy="770755"/>
            <a:chOff x="1249003" y="5384559"/>
            <a:chExt cx="2356793" cy="770755"/>
          </a:xfrm>
        </p:grpSpPr>
        <p:sp>
          <p:nvSpPr>
            <p:cNvPr id="55" name="Block Arc 54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Block Arc 55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Block Arc 56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404726" y="2093524"/>
            <a:ext cx="2356793" cy="770755"/>
            <a:chOff x="1249003" y="5384559"/>
            <a:chExt cx="2356793" cy="770755"/>
          </a:xfrm>
        </p:grpSpPr>
        <p:sp>
          <p:nvSpPr>
            <p:cNvPr id="70" name="Block Arc 6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1" name="Block Arc 7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2" name="Block Arc 7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-106011" y="4919865"/>
            <a:ext cx="2356793" cy="770755"/>
            <a:chOff x="1249003" y="5384559"/>
            <a:chExt cx="2356793" cy="770755"/>
          </a:xfrm>
        </p:grpSpPr>
        <p:sp>
          <p:nvSpPr>
            <p:cNvPr id="74" name="Block Arc 7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Block Arc 7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6" name="Block Arc 7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642242" y="4743542"/>
            <a:ext cx="2356793" cy="770755"/>
            <a:chOff x="1249003" y="5384559"/>
            <a:chExt cx="2356793" cy="770755"/>
          </a:xfrm>
        </p:grpSpPr>
        <p:sp>
          <p:nvSpPr>
            <p:cNvPr id="78" name="Block Arc 7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9" name="Block Arc 7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0" name="Block Arc 7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266398" y="3727910"/>
            <a:ext cx="2356793" cy="770755"/>
            <a:chOff x="1249003" y="5384559"/>
            <a:chExt cx="2356793" cy="770755"/>
          </a:xfrm>
        </p:grpSpPr>
        <p:sp>
          <p:nvSpPr>
            <p:cNvPr id="82" name="Block Arc 8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3" name="Block Arc 8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4" name="Block Arc 8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273262" y="1303830"/>
            <a:ext cx="2356793" cy="770755"/>
            <a:chOff x="1249003" y="5384559"/>
            <a:chExt cx="2356793" cy="770755"/>
          </a:xfrm>
        </p:grpSpPr>
        <p:sp>
          <p:nvSpPr>
            <p:cNvPr id="86" name="Block Arc 8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7" name="Block Arc 8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8" name="Block Arc 8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1533296" y="5366964"/>
            <a:ext cx="2356793" cy="770755"/>
            <a:chOff x="1249003" y="5384559"/>
            <a:chExt cx="2356793" cy="770755"/>
          </a:xfrm>
        </p:grpSpPr>
        <p:sp>
          <p:nvSpPr>
            <p:cNvPr id="90" name="Block Arc 8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1" name="Block Arc 9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2" name="Block Arc 9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455407" y="824250"/>
            <a:ext cx="2356793" cy="770755"/>
            <a:chOff x="1249003" y="5384559"/>
            <a:chExt cx="2356793" cy="770755"/>
          </a:xfrm>
        </p:grpSpPr>
        <p:sp>
          <p:nvSpPr>
            <p:cNvPr id="94" name="Block Arc 9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5" name="Block Arc 9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6" name="Block Arc 9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3400586" y="3113491"/>
            <a:ext cx="2356793" cy="770755"/>
            <a:chOff x="1249003" y="5384559"/>
            <a:chExt cx="2356793" cy="770755"/>
          </a:xfrm>
        </p:grpSpPr>
        <p:sp>
          <p:nvSpPr>
            <p:cNvPr id="98" name="Block Arc 9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9" name="Block Arc 9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0" name="Block Arc 9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1403207" y="4479781"/>
            <a:ext cx="2356793" cy="770755"/>
            <a:chOff x="1249003" y="5384559"/>
            <a:chExt cx="2356793" cy="770755"/>
          </a:xfrm>
        </p:grpSpPr>
        <p:sp>
          <p:nvSpPr>
            <p:cNvPr id="102" name="Block Arc 10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Block Arc 10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Block Arc 10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7326047" y="4251149"/>
            <a:ext cx="2356793" cy="770755"/>
            <a:chOff x="1249003" y="5384559"/>
            <a:chExt cx="2356793" cy="770755"/>
          </a:xfrm>
        </p:grpSpPr>
        <p:sp>
          <p:nvSpPr>
            <p:cNvPr id="106" name="Block Arc 10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7" name="Block Arc 10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" name="Block Arc 10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4532736" y="1673180"/>
            <a:ext cx="2356793" cy="770755"/>
            <a:chOff x="1249003" y="5384559"/>
            <a:chExt cx="2356793" cy="770755"/>
          </a:xfrm>
        </p:grpSpPr>
        <p:sp>
          <p:nvSpPr>
            <p:cNvPr id="110" name="Block Arc 10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1" name="Block Arc 11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Block Arc 11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Dodecagon 7"/>
          <p:cNvSpPr/>
          <p:nvPr/>
        </p:nvSpPr>
        <p:spPr>
          <a:xfrm>
            <a:off x="587148" y="2457983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018895" y="2580326"/>
            <a:ext cx="791030" cy="1279581"/>
            <a:chOff x="468641" y="2414329"/>
            <a:chExt cx="2185608" cy="3535469"/>
          </a:xfrm>
        </p:grpSpPr>
        <p:sp>
          <p:nvSpPr>
            <p:cNvPr id="12" name="Oval 11"/>
            <p:cNvSpPr/>
            <p:nvPr/>
          </p:nvSpPr>
          <p:spPr>
            <a:xfrm>
              <a:off x="1161219" y="24143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>
              <a:stCxn id="12" idx="4"/>
            </p:cNvCxnSpPr>
            <p:nvPr/>
          </p:nvCxnSpPr>
          <p:spPr>
            <a:xfrm flipH="1">
              <a:off x="1475839" y="3226621"/>
              <a:ext cx="91526" cy="15904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823718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475839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1544483" y="3249504"/>
              <a:ext cx="1109766" cy="644403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68641" y="3157969"/>
              <a:ext cx="1052962" cy="735938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xmlns="" id="{9A993090-D0F4-B54F-8F4A-F0C53134A7D3}"/>
              </a:ext>
            </a:extLst>
          </p:cNvPr>
          <p:cNvSpPr/>
          <p:nvPr/>
        </p:nvSpPr>
        <p:spPr>
          <a:xfrm>
            <a:off x="-679269" y="1"/>
            <a:ext cx="10907278" cy="6857999"/>
          </a:xfrm>
          <a:prstGeom prst="rect">
            <a:avLst/>
          </a:prstGeom>
          <a:solidFill>
            <a:schemeClr val="bg1">
              <a:alpha val="61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126FCB7C-8DE3-0744-BB25-95C9E1D22139}"/>
              </a:ext>
            </a:extLst>
          </p:cNvPr>
          <p:cNvSpPr txBox="1"/>
          <p:nvPr/>
        </p:nvSpPr>
        <p:spPr>
          <a:xfrm>
            <a:off x="468638" y="2803672"/>
            <a:ext cx="8260637" cy="861774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288CD2"/>
            </a:solidFill>
          </a:ln>
        </p:spPr>
        <p:txBody>
          <a:bodyPr wrap="square" lIns="182880" rIns="182880" bIns="137160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288CD2"/>
                </a:solidFill>
              </a:rPr>
              <a:t>every talk is about bridging a gap</a:t>
            </a:r>
          </a:p>
        </p:txBody>
      </p:sp>
    </p:spTree>
    <p:extLst>
      <p:ext uri="{BB962C8B-B14F-4D97-AF65-F5344CB8AC3E}">
        <p14:creationId xmlns:p14="http://schemas.microsoft.com/office/powerpoint/2010/main" val="15383955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34DFBA87-4D6D-E744-88DB-A12945595802}"/>
              </a:ext>
            </a:extLst>
          </p:cNvPr>
          <p:cNvSpPr txBox="1"/>
          <p:nvPr/>
        </p:nvSpPr>
        <p:spPr>
          <a:xfrm>
            <a:off x="7177639" y="5944135"/>
            <a:ext cx="135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Audience</a:t>
            </a:r>
          </a:p>
        </p:txBody>
      </p:sp>
      <p:sp>
        <p:nvSpPr>
          <p:cNvPr id="5" name="Dodecagon 4"/>
          <p:cNvSpPr/>
          <p:nvPr/>
        </p:nvSpPr>
        <p:spPr>
          <a:xfrm>
            <a:off x="4338255" y="314687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decagon 5"/>
          <p:cNvSpPr/>
          <p:nvPr/>
        </p:nvSpPr>
        <p:spPr>
          <a:xfrm>
            <a:off x="7287743" y="2543623"/>
            <a:ext cx="1441532" cy="1441532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decagon 6"/>
          <p:cNvSpPr/>
          <p:nvPr/>
        </p:nvSpPr>
        <p:spPr>
          <a:xfrm>
            <a:off x="4791531" y="4878329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08375" y="4267833"/>
            <a:ext cx="118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Speaker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213768" y="5069684"/>
            <a:ext cx="749837" cy="1164807"/>
            <a:chOff x="4804688" y="2566729"/>
            <a:chExt cx="2177827" cy="3383069"/>
          </a:xfrm>
        </p:grpSpPr>
        <p:sp>
          <p:nvSpPr>
            <p:cNvPr id="19" name="Oval 18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stCxn id="19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7713650" y="2773511"/>
            <a:ext cx="665349" cy="1033562"/>
            <a:chOff x="4804688" y="2566729"/>
            <a:chExt cx="2177827" cy="3383069"/>
          </a:xfrm>
        </p:grpSpPr>
        <p:sp>
          <p:nvSpPr>
            <p:cNvPr id="26" name="Oval 25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>
              <a:stCxn id="26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4802155" y="544574"/>
            <a:ext cx="749837" cy="1164807"/>
            <a:chOff x="4804688" y="2566729"/>
            <a:chExt cx="2177827" cy="3383069"/>
          </a:xfrm>
        </p:grpSpPr>
        <p:sp>
          <p:nvSpPr>
            <p:cNvPr id="33" name="Oval 32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>
              <a:stCxn id="33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548484" y="5789164"/>
            <a:ext cx="2356793" cy="770755"/>
            <a:chOff x="1249003" y="5384559"/>
            <a:chExt cx="2356793" cy="770755"/>
          </a:xfrm>
        </p:grpSpPr>
        <p:sp>
          <p:nvSpPr>
            <p:cNvPr id="50" name="Block Arc 4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Block Arc 5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Block Arc 5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08375" y="794982"/>
            <a:ext cx="2356793" cy="770755"/>
            <a:chOff x="1249003" y="5384559"/>
            <a:chExt cx="2356793" cy="770755"/>
          </a:xfrm>
        </p:grpSpPr>
        <p:sp>
          <p:nvSpPr>
            <p:cNvPr id="55" name="Block Arc 54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Block Arc 55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Block Arc 56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404726" y="2093524"/>
            <a:ext cx="2356793" cy="770755"/>
            <a:chOff x="1249003" y="5384559"/>
            <a:chExt cx="2356793" cy="770755"/>
          </a:xfrm>
        </p:grpSpPr>
        <p:sp>
          <p:nvSpPr>
            <p:cNvPr id="70" name="Block Arc 6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1" name="Block Arc 7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2" name="Block Arc 7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-106011" y="4919865"/>
            <a:ext cx="2356793" cy="770755"/>
            <a:chOff x="1249003" y="5384559"/>
            <a:chExt cx="2356793" cy="770755"/>
          </a:xfrm>
        </p:grpSpPr>
        <p:sp>
          <p:nvSpPr>
            <p:cNvPr id="74" name="Block Arc 7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Block Arc 7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6" name="Block Arc 7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642242" y="4743542"/>
            <a:ext cx="2356793" cy="770755"/>
            <a:chOff x="1249003" y="5384559"/>
            <a:chExt cx="2356793" cy="770755"/>
          </a:xfrm>
        </p:grpSpPr>
        <p:sp>
          <p:nvSpPr>
            <p:cNvPr id="78" name="Block Arc 7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9" name="Block Arc 7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0" name="Block Arc 7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266398" y="3727910"/>
            <a:ext cx="2356793" cy="770755"/>
            <a:chOff x="1249003" y="5384559"/>
            <a:chExt cx="2356793" cy="770755"/>
          </a:xfrm>
        </p:grpSpPr>
        <p:sp>
          <p:nvSpPr>
            <p:cNvPr id="82" name="Block Arc 8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3" name="Block Arc 8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4" name="Block Arc 8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273262" y="1303830"/>
            <a:ext cx="2356793" cy="770755"/>
            <a:chOff x="1249003" y="5384559"/>
            <a:chExt cx="2356793" cy="770755"/>
          </a:xfrm>
        </p:grpSpPr>
        <p:sp>
          <p:nvSpPr>
            <p:cNvPr id="86" name="Block Arc 8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7" name="Block Arc 8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8" name="Block Arc 8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1533296" y="5366964"/>
            <a:ext cx="2356793" cy="770755"/>
            <a:chOff x="1249003" y="5384559"/>
            <a:chExt cx="2356793" cy="770755"/>
          </a:xfrm>
        </p:grpSpPr>
        <p:sp>
          <p:nvSpPr>
            <p:cNvPr id="90" name="Block Arc 8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1" name="Block Arc 9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2" name="Block Arc 9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455407" y="824250"/>
            <a:ext cx="2356793" cy="770755"/>
            <a:chOff x="1249003" y="5384559"/>
            <a:chExt cx="2356793" cy="770755"/>
          </a:xfrm>
        </p:grpSpPr>
        <p:sp>
          <p:nvSpPr>
            <p:cNvPr id="94" name="Block Arc 9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5" name="Block Arc 9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6" name="Block Arc 9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3400586" y="3113491"/>
            <a:ext cx="2356793" cy="770755"/>
            <a:chOff x="1249003" y="5384559"/>
            <a:chExt cx="2356793" cy="770755"/>
          </a:xfrm>
        </p:grpSpPr>
        <p:sp>
          <p:nvSpPr>
            <p:cNvPr id="98" name="Block Arc 9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9" name="Block Arc 9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0" name="Block Arc 9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1403207" y="4479781"/>
            <a:ext cx="2356793" cy="770755"/>
            <a:chOff x="1249003" y="5384559"/>
            <a:chExt cx="2356793" cy="770755"/>
          </a:xfrm>
        </p:grpSpPr>
        <p:sp>
          <p:nvSpPr>
            <p:cNvPr id="102" name="Block Arc 10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Block Arc 10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Block Arc 10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7326047" y="4251149"/>
            <a:ext cx="2356793" cy="770755"/>
            <a:chOff x="1249003" y="5384559"/>
            <a:chExt cx="2356793" cy="770755"/>
          </a:xfrm>
        </p:grpSpPr>
        <p:sp>
          <p:nvSpPr>
            <p:cNvPr id="106" name="Block Arc 10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7" name="Block Arc 10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" name="Block Arc 10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4532736" y="1673180"/>
            <a:ext cx="2356793" cy="770755"/>
            <a:chOff x="1249003" y="5384559"/>
            <a:chExt cx="2356793" cy="770755"/>
          </a:xfrm>
        </p:grpSpPr>
        <p:sp>
          <p:nvSpPr>
            <p:cNvPr id="110" name="Block Arc 10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1" name="Block Arc 11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Block Arc 11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Dodecagon 7"/>
          <p:cNvSpPr/>
          <p:nvPr/>
        </p:nvSpPr>
        <p:spPr>
          <a:xfrm>
            <a:off x="587148" y="2457983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018895" y="2580326"/>
            <a:ext cx="791030" cy="1279581"/>
            <a:chOff x="468641" y="2414329"/>
            <a:chExt cx="2185608" cy="3535469"/>
          </a:xfrm>
        </p:grpSpPr>
        <p:sp>
          <p:nvSpPr>
            <p:cNvPr id="12" name="Oval 11"/>
            <p:cNvSpPr/>
            <p:nvPr/>
          </p:nvSpPr>
          <p:spPr>
            <a:xfrm>
              <a:off x="1161219" y="24143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>
              <a:stCxn id="12" idx="4"/>
            </p:cNvCxnSpPr>
            <p:nvPr/>
          </p:nvCxnSpPr>
          <p:spPr>
            <a:xfrm flipH="1">
              <a:off x="1475839" y="3226621"/>
              <a:ext cx="91526" cy="15904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823718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475839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1544483" y="3249504"/>
              <a:ext cx="1109766" cy="644403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68641" y="3157969"/>
              <a:ext cx="1052962" cy="735938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xmlns="" id="{9A993090-D0F4-B54F-8F4A-F0C53134A7D3}"/>
              </a:ext>
            </a:extLst>
          </p:cNvPr>
          <p:cNvSpPr/>
          <p:nvPr/>
        </p:nvSpPr>
        <p:spPr>
          <a:xfrm>
            <a:off x="-679269" y="1"/>
            <a:ext cx="10907278" cy="6857999"/>
          </a:xfrm>
          <a:prstGeom prst="rect">
            <a:avLst/>
          </a:prstGeom>
          <a:solidFill>
            <a:schemeClr val="bg1">
              <a:alpha val="61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126FCB7C-8DE3-0744-BB25-95C9E1D22139}"/>
              </a:ext>
            </a:extLst>
          </p:cNvPr>
          <p:cNvSpPr txBox="1"/>
          <p:nvPr/>
        </p:nvSpPr>
        <p:spPr>
          <a:xfrm>
            <a:off x="468638" y="2803672"/>
            <a:ext cx="8260637" cy="861774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288CD2"/>
            </a:solidFill>
          </a:ln>
        </p:spPr>
        <p:txBody>
          <a:bodyPr wrap="square" lIns="182880" rIns="182880" bIns="137160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288CD2"/>
                </a:solidFill>
              </a:rPr>
              <a:t>every talk is about bridging a gap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801F7939-0EB7-4741-ABB2-AB53F5C30FDE}"/>
              </a:ext>
            </a:extLst>
          </p:cNvPr>
          <p:cNvSpPr txBox="1"/>
          <p:nvPr/>
        </p:nvSpPr>
        <p:spPr>
          <a:xfrm>
            <a:off x="1117151" y="3930822"/>
            <a:ext cx="6908822" cy="1369606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288CD2"/>
            </a:solidFill>
          </a:ln>
        </p:spPr>
        <p:txBody>
          <a:bodyPr wrap="square" lIns="182880" rIns="182880" bIns="137160" rtlCol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solidFill>
                  <a:srgbClr val="288CD2"/>
                </a:solidFill>
              </a:rPr>
              <a:t>you have something in your head,</a:t>
            </a:r>
          </a:p>
          <a:p>
            <a:pPr algn="ctr">
              <a:spcAft>
                <a:spcPts val="600"/>
              </a:spcAft>
            </a:pPr>
            <a:r>
              <a:rPr lang="en-US" sz="3600" b="1" dirty="0">
                <a:solidFill>
                  <a:srgbClr val="288CD2"/>
                </a:solidFill>
              </a:rPr>
              <a:t>you want to get it into their heads</a:t>
            </a:r>
          </a:p>
        </p:txBody>
      </p:sp>
    </p:spTree>
    <p:extLst>
      <p:ext uri="{BB962C8B-B14F-4D97-AF65-F5344CB8AC3E}">
        <p14:creationId xmlns:p14="http://schemas.microsoft.com/office/powerpoint/2010/main" val="1093375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decagon 4"/>
          <p:cNvSpPr/>
          <p:nvPr/>
        </p:nvSpPr>
        <p:spPr>
          <a:xfrm>
            <a:off x="4338255" y="314687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decagon 5"/>
          <p:cNvSpPr/>
          <p:nvPr/>
        </p:nvSpPr>
        <p:spPr>
          <a:xfrm>
            <a:off x="7287743" y="2543623"/>
            <a:ext cx="1441532" cy="1441532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decagon 6"/>
          <p:cNvSpPr/>
          <p:nvPr/>
        </p:nvSpPr>
        <p:spPr>
          <a:xfrm>
            <a:off x="4791531" y="4878329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08375" y="4267833"/>
            <a:ext cx="118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Speaker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7639" y="5944135"/>
            <a:ext cx="135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Audience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213768" y="5069684"/>
            <a:ext cx="749837" cy="1164807"/>
            <a:chOff x="4804688" y="2566729"/>
            <a:chExt cx="2177827" cy="3383069"/>
          </a:xfrm>
        </p:grpSpPr>
        <p:sp>
          <p:nvSpPr>
            <p:cNvPr id="19" name="Oval 18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stCxn id="19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7713650" y="2773511"/>
            <a:ext cx="665349" cy="1033562"/>
            <a:chOff x="4804688" y="2566729"/>
            <a:chExt cx="2177827" cy="3383069"/>
          </a:xfrm>
        </p:grpSpPr>
        <p:sp>
          <p:nvSpPr>
            <p:cNvPr id="26" name="Oval 25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>
              <a:stCxn id="26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4802155" y="544574"/>
            <a:ext cx="749837" cy="1164807"/>
            <a:chOff x="4804688" y="2566729"/>
            <a:chExt cx="2177827" cy="3383069"/>
          </a:xfrm>
        </p:grpSpPr>
        <p:sp>
          <p:nvSpPr>
            <p:cNvPr id="33" name="Oval 32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>
              <a:stCxn id="33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548484" y="5789164"/>
            <a:ext cx="2356793" cy="770755"/>
            <a:chOff x="1249003" y="5384559"/>
            <a:chExt cx="2356793" cy="770755"/>
          </a:xfrm>
        </p:grpSpPr>
        <p:sp>
          <p:nvSpPr>
            <p:cNvPr id="50" name="Block Arc 4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Block Arc 5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Block Arc 5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08375" y="794982"/>
            <a:ext cx="2356793" cy="770755"/>
            <a:chOff x="1249003" y="5384559"/>
            <a:chExt cx="2356793" cy="770755"/>
          </a:xfrm>
        </p:grpSpPr>
        <p:sp>
          <p:nvSpPr>
            <p:cNvPr id="55" name="Block Arc 54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Block Arc 55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Block Arc 56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2" name="Rectangle 61"/>
          <p:cNvSpPr/>
          <p:nvPr/>
        </p:nvSpPr>
        <p:spPr>
          <a:xfrm rot="19800000">
            <a:off x="1915712" y="2047918"/>
            <a:ext cx="2705066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2211730" y="3115314"/>
            <a:ext cx="5064571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800000">
            <a:off x="1880017" y="4305168"/>
            <a:ext cx="3237935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/>
          <p:cNvGrpSpPr/>
          <p:nvPr/>
        </p:nvGrpSpPr>
        <p:grpSpPr>
          <a:xfrm>
            <a:off x="3404726" y="2093524"/>
            <a:ext cx="2356793" cy="770755"/>
            <a:chOff x="1249003" y="5384559"/>
            <a:chExt cx="2356793" cy="770755"/>
          </a:xfrm>
        </p:grpSpPr>
        <p:sp>
          <p:nvSpPr>
            <p:cNvPr id="70" name="Block Arc 6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1" name="Block Arc 7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2" name="Block Arc 7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-106011" y="4919865"/>
            <a:ext cx="2356793" cy="770755"/>
            <a:chOff x="1249003" y="5384559"/>
            <a:chExt cx="2356793" cy="770755"/>
          </a:xfrm>
        </p:grpSpPr>
        <p:sp>
          <p:nvSpPr>
            <p:cNvPr id="74" name="Block Arc 7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Block Arc 7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6" name="Block Arc 7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642242" y="4743542"/>
            <a:ext cx="2356793" cy="770755"/>
            <a:chOff x="1249003" y="5384559"/>
            <a:chExt cx="2356793" cy="770755"/>
          </a:xfrm>
        </p:grpSpPr>
        <p:sp>
          <p:nvSpPr>
            <p:cNvPr id="78" name="Block Arc 7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9" name="Block Arc 7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0" name="Block Arc 7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266398" y="3727910"/>
            <a:ext cx="2356793" cy="770755"/>
            <a:chOff x="1249003" y="5384559"/>
            <a:chExt cx="2356793" cy="770755"/>
          </a:xfrm>
        </p:grpSpPr>
        <p:sp>
          <p:nvSpPr>
            <p:cNvPr id="82" name="Block Arc 8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3" name="Block Arc 8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4" name="Block Arc 8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273262" y="1303830"/>
            <a:ext cx="2356793" cy="770755"/>
            <a:chOff x="1249003" y="5384559"/>
            <a:chExt cx="2356793" cy="770755"/>
          </a:xfrm>
        </p:grpSpPr>
        <p:sp>
          <p:nvSpPr>
            <p:cNvPr id="86" name="Block Arc 8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7" name="Block Arc 8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8" name="Block Arc 8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1533296" y="5366964"/>
            <a:ext cx="2356793" cy="770755"/>
            <a:chOff x="1249003" y="5384559"/>
            <a:chExt cx="2356793" cy="770755"/>
          </a:xfrm>
        </p:grpSpPr>
        <p:sp>
          <p:nvSpPr>
            <p:cNvPr id="90" name="Block Arc 8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1" name="Block Arc 9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2" name="Block Arc 9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455407" y="824250"/>
            <a:ext cx="2356793" cy="770755"/>
            <a:chOff x="1249003" y="5384559"/>
            <a:chExt cx="2356793" cy="770755"/>
          </a:xfrm>
        </p:grpSpPr>
        <p:sp>
          <p:nvSpPr>
            <p:cNvPr id="94" name="Block Arc 9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5" name="Block Arc 9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6" name="Block Arc 9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3400586" y="3113491"/>
            <a:ext cx="2356793" cy="770755"/>
            <a:chOff x="1249003" y="5384559"/>
            <a:chExt cx="2356793" cy="770755"/>
          </a:xfrm>
        </p:grpSpPr>
        <p:sp>
          <p:nvSpPr>
            <p:cNvPr id="98" name="Block Arc 9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9" name="Block Arc 9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0" name="Block Arc 9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1403207" y="4479781"/>
            <a:ext cx="2356793" cy="770755"/>
            <a:chOff x="1249003" y="5384559"/>
            <a:chExt cx="2356793" cy="770755"/>
          </a:xfrm>
        </p:grpSpPr>
        <p:sp>
          <p:nvSpPr>
            <p:cNvPr id="102" name="Block Arc 10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Block Arc 10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Block Arc 10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7326047" y="4251149"/>
            <a:ext cx="2356793" cy="770755"/>
            <a:chOff x="1249003" y="5384559"/>
            <a:chExt cx="2356793" cy="770755"/>
          </a:xfrm>
        </p:grpSpPr>
        <p:sp>
          <p:nvSpPr>
            <p:cNvPr id="106" name="Block Arc 10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7" name="Block Arc 10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" name="Block Arc 10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4532736" y="1673180"/>
            <a:ext cx="2356793" cy="770755"/>
            <a:chOff x="1249003" y="5384559"/>
            <a:chExt cx="2356793" cy="770755"/>
          </a:xfrm>
        </p:grpSpPr>
        <p:sp>
          <p:nvSpPr>
            <p:cNvPr id="110" name="Block Arc 10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1" name="Block Arc 11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Block Arc 11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Dodecagon 7"/>
          <p:cNvSpPr/>
          <p:nvPr/>
        </p:nvSpPr>
        <p:spPr>
          <a:xfrm>
            <a:off x="587148" y="2457983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018895" y="2580326"/>
            <a:ext cx="791030" cy="1279581"/>
            <a:chOff x="468641" y="2414329"/>
            <a:chExt cx="2185608" cy="3535469"/>
          </a:xfrm>
        </p:grpSpPr>
        <p:sp>
          <p:nvSpPr>
            <p:cNvPr id="12" name="Oval 11"/>
            <p:cNvSpPr/>
            <p:nvPr/>
          </p:nvSpPr>
          <p:spPr>
            <a:xfrm>
              <a:off x="1161219" y="24143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>
              <a:stCxn id="12" idx="4"/>
            </p:cNvCxnSpPr>
            <p:nvPr/>
          </p:nvCxnSpPr>
          <p:spPr>
            <a:xfrm flipH="1">
              <a:off x="1475839" y="3226621"/>
              <a:ext cx="91526" cy="15904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823718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475839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1544483" y="3249504"/>
              <a:ext cx="1109766" cy="644403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68641" y="3157969"/>
              <a:ext cx="1052962" cy="735938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03996DA9-6FD3-0141-9B95-971C9D2484FA}"/>
              </a:ext>
            </a:extLst>
          </p:cNvPr>
          <p:cNvSpPr txBox="1"/>
          <p:nvPr/>
        </p:nvSpPr>
        <p:spPr>
          <a:xfrm>
            <a:off x="154834" y="122513"/>
            <a:ext cx="3165906" cy="861774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288CD2"/>
            </a:solidFill>
          </a:ln>
        </p:spPr>
        <p:txBody>
          <a:bodyPr wrap="square" lIns="182880" rIns="182880" bIns="137160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288CD2"/>
                </a:solidFill>
              </a:rPr>
              <a:t>a good talk:</a:t>
            </a:r>
          </a:p>
        </p:txBody>
      </p:sp>
    </p:spTree>
    <p:extLst>
      <p:ext uri="{BB962C8B-B14F-4D97-AF65-F5344CB8AC3E}">
        <p14:creationId xmlns:p14="http://schemas.microsoft.com/office/powerpoint/2010/main" val="28874450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08375" y="4267833"/>
            <a:ext cx="118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Speaker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548484" y="5789164"/>
            <a:ext cx="2356793" cy="770755"/>
            <a:chOff x="1249003" y="5384559"/>
            <a:chExt cx="2356793" cy="770755"/>
          </a:xfrm>
        </p:grpSpPr>
        <p:sp>
          <p:nvSpPr>
            <p:cNvPr id="50" name="Block Arc 4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Block Arc 5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Block Arc 5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08375" y="794982"/>
            <a:ext cx="2356793" cy="770755"/>
            <a:chOff x="1249003" y="5384559"/>
            <a:chExt cx="2356793" cy="770755"/>
          </a:xfrm>
        </p:grpSpPr>
        <p:sp>
          <p:nvSpPr>
            <p:cNvPr id="55" name="Block Arc 54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Block Arc 55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Block Arc 56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2" name="Rectangle 61"/>
          <p:cNvSpPr/>
          <p:nvPr/>
        </p:nvSpPr>
        <p:spPr>
          <a:xfrm rot="19800000">
            <a:off x="4647293" y="975972"/>
            <a:ext cx="929035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985861" y="3093693"/>
            <a:ext cx="824064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800000">
            <a:off x="5395320" y="5564384"/>
            <a:ext cx="639906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/>
          <p:cNvGrpSpPr/>
          <p:nvPr/>
        </p:nvGrpSpPr>
        <p:grpSpPr>
          <a:xfrm>
            <a:off x="3404726" y="2093524"/>
            <a:ext cx="2356793" cy="770755"/>
            <a:chOff x="1249003" y="5384559"/>
            <a:chExt cx="2356793" cy="770755"/>
          </a:xfrm>
        </p:grpSpPr>
        <p:sp>
          <p:nvSpPr>
            <p:cNvPr id="70" name="Block Arc 6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1" name="Block Arc 7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2" name="Block Arc 7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-106011" y="4919865"/>
            <a:ext cx="2356793" cy="770755"/>
            <a:chOff x="1249003" y="5384559"/>
            <a:chExt cx="2356793" cy="770755"/>
          </a:xfrm>
        </p:grpSpPr>
        <p:sp>
          <p:nvSpPr>
            <p:cNvPr id="74" name="Block Arc 7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Block Arc 7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6" name="Block Arc 7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642242" y="4743542"/>
            <a:ext cx="2356793" cy="770755"/>
            <a:chOff x="1249003" y="5384559"/>
            <a:chExt cx="2356793" cy="770755"/>
          </a:xfrm>
        </p:grpSpPr>
        <p:sp>
          <p:nvSpPr>
            <p:cNvPr id="78" name="Block Arc 7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9" name="Block Arc 7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0" name="Block Arc 7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266398" y="3727910"/>
            <a:ext cx="2356793" cy="770755"/>
            <a:chOff x="1249003" y="5384559"/>
            <a:chExt cx="2356793" cy="770755"/>
          </a:xfrm>
        </p:grpSpPr>
        <p:sp>
          <p:nvSpPr>
            <p:cNvPr id="82" name="Block Arc 8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3" name="Block Arc 8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4" name="Block Arc 8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273262" y="1303830"/>
            <a:ext cx="2356793" cy="770755"/>
            <a:chOff x="1249003" y="5384559"/>
            <a:chExt cx="2356793" cy="770755"/>
          </a:xfrm>
        </p:grpSpPr>
        <p:sp>
          <p:nvSpPr>
            <p:cNvPr id="86" name="Block Arc 8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7" name="Block Arc 8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8" name="Block Arc 8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1533296" y="5366964"/>
            <a:ext cx="2356793" cy="770755"/>
            <a:chOff x="1249003" y="5384559"/>
            <a:chExt cx="2356793" cy="770755"/>
          </a:xfrm>
        </p:grpSpPr>
        <p:sp>
          <p:nvSpPr>
            <p:cNvPr id="90" name="Block Arc 8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1" name="Block Arc 9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2" name="Block Arc 9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455407" y="824250"/>
            <a:ext cx="2356793" cy="770755"/>
            <a:chOff x="1249003" y="5384559"/>
            <a:chExt cx="2356793" cy="770755"/>
          </a:xfrm>
        </p:grpSpPr>
        <p:sp>
          <p:nvSpPr>
            <p:cNvPr id="94" name="Block Arc 9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5" name="Block Arc 9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6" name="Block Arc 9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3400586" y="3113491"/>
            <a:ext cx="2356793" cy="770755"/>
            <a:chOff x="1249003" y="5384559"/>
            <a:chExt cx="2356793" cy="770755"/>
          </a:xfrm>
        </p:grpSpPr>
        <p:sp>
          <p:nvSpPr>
            <p:cNvPr id="98" name="Block Arc 9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9" name="Block Arc 9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0" name="Block Arc 9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1403207" y="4479781"/>
            <a:ext cx="2356793" cy="770755"/>
            <a:chOff x="1249003" y="5384559"/>
            <a:chExt cx="2356793" cy="770755"/>
          </a:xfrm>
        </p:grpSpPr>
        <p:sp>
          <p:nvSpPr>
            <p:cNvPr id="102" name="Block Arc 10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Block Arc 10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Block Arc 10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7326047" y="4251149"/>
            <a:ext cx="2356793" cy="770755"/>
            <a:chOff x="1249003" y="5384559"/>
            <a:chExt cx="2356793" cy="770755"/>
          </a:xfrm>
        </p:grpSpPr>
        <p:sp>
          <p:nvSpPr>
            <p:cNvPr id="106" name="Block Arc 10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7" name="Block Arc 10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" name="Block Arc 10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4532736" y="1673180"/>
            <a:ext cx="2356793" cy="770755"/>
            <a:chOff x="1249003" y="5384559"/>
            <a:chExt cx="2356793" cy="770755"/>
          </a:xfrm>
        </p:grpSpPr>
        <p:sp>
          <p:nvSpPr>
            <p:cNvPr id="110" name="Block Arc 10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1" name="Block Arc 11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Block Arc 11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Dodecagon 7"/>
          <p:cNvSpPr/>
          <p:nvPr/>
        </p:nvSpPr>
        <p:spPr>
          <a:xfrm>
            <a:off x="587148" y="2457983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018895" y="2580326"/>
            <a:ext cx="791030" cy="1279581"/>
            <a:chOff x="468641" y="2414329"/>
            <a:chExt cx="2185608" cy="3535469"/>
          </a:xfrm>
        </p:grpSpPr>
        <p:sp>
          <p:nvSpPr>
            <p:cNvPr id="12" name="Oval 11"/>
            <p:cNvSpPr/>
            <p:nvPr/>
          </p:nvSpPr>
          <p:spPr>
            <a:xfrm>
              <a:off x="1161219" y="24143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>
              <a:stCxn id="12" idx="4"/>
            </p:cNvCxnSpPr>
            <p:nvPr/>
          </p:nvCxnSpPr>
          <p:spPr>
            <a:xfrm flipH="1">
              <a:off x="1475839" y="3226621"/>
              <a:ext cx="91526" cy="15904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823718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475839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1544483" y="3249504"/>
              <a:ext cx="1109766" cy="644403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68641" y="3157969"/>
              <a:ext cx="1052962" cy="735938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86CAC22C-34B1-944A-BCAC-852C2CEDAD09}"/>
              </a:ext>
            </a:extLst>
          </p:cNvPr>
          <p:cNvSpPr txBox="1"/>
          <p:nvPr/>
        </p:nvSpPr>
        <p:spPr>
          <a:xfrm>
            <a:off x="154834" y="122513"/>
            <a:ext cx="2852039" cy="861774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288CD2"/>
            </a:solidFill>
          </a:ln>
        </p:spPr>
        <p:txBody>
          <a:bodyPr wrap="square" lIns="182880" rIns="182880" bIns="137160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288CD2"/>
                </a:solidFill>
              </a:rPr>
              <a:t>a bad talk:</a:t>
            </a:r>
          </a:p>
        </p:txBody>
      </p:sp>
      <p:sp>
        <p:nvSpPr>
          <p:cNvPr id="5" name="Dodecagon 4"/>
          <p:cNvSpPr/>
          <p:nvPr/>
        </p:nvSpPr>
        <p:spPr>
          <a:xfrm>
            <a:off x="4338255" y="314687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4802155" y="544574"/>
            <a:ext cx="749837" cy="1164807"/>
            <a:chOff x="4804688" y="2566729"/>
            <a:chExt cx="2177827" cy="3383069"/>
          </a:xfrm>
        </p:grpSpPr>
        <p:sp>
          <p:nvSpPr>
            <p:cNvPr id="33" name="Oval 32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>
              <a:stCxn id="33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xmlns="" id="{C364523C-5441-084D-B65A-617E68A84BF5}"/>
              </a:ext>
            </a:extLst>
          </p:cNvPr>
          <p:cNvSpPr/>
          <p:nvPr/>
        </p:nvSpPr>
        <p:spPr>
          <a:xfrm>
            <a:off x="7448187" y="3109774"/>
            <a:ext cx="1120644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decagon 5"/>
          <p:cNvSpPr/>
          <p:nvPr/>
        </p:nvSpPr>
        <p:spPr>
          <a:xfrm>
            <a:off x="7287743" y="2543623"/>
            <a:ext cx="1441532" cy="1441532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7713650" y="2773511"/>
            <a:ext cx="665349" cy="1033562"/>
            <a:chOff x="4804688" y="2566729"/>
            <a:chExt cx="2177827" cy="3383069"/>
          </a:xfrm>
        </p:grpSpPr>
        <p:sp>
          <p:nvSpPr>
            <p:cNvPr id="26" name="Oval 25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>
              <a:stCxn id="26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Dodecagon 6"/>
          <p:cNvSpPr/>
          <p:nvPr/>
        </p:nvSpPr>
        <p:spPr>
          <a:xfrm>
            <a:off x="4791531" y="4878329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5213768" y="5069684"/>
            <a:ext cx="749837" cy="1164807"/>
            <a:chOff x="4804688" y="2566729"/>
            <a:chExt cx="2177827" cy="3383069"/>
          </a:xfrm>
        </p:grpSpPr>
        <p:sp>
          <p:nvSpPr>
            <p:cNvPr id="19" name="Oval 18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stCxn id="19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438C4FE8-B434-D74E-B53D-608BBD5B9BE7}"/>
              </a:ext>
            </a:extLst>
          </p:cNvPr>
          <p:cNvSpPr txBox="1"/>
          <p:nvPr/>
        </p:nvSpPr>
        <p:spPr>
          <a:xfrm>
            <a:off x="7177639" y="5944135"/>
            <a:ext cx="135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Audience</a:t>
            </a:r>
          </a:p>
        </p:txBody>
      </p:sp>
    </p:spTree>
    <p:extLst>
      <p:ext uri="{BB962C8B-B14F-4D97-AF65-F5344CB8AC3E}">
        <p14:creationId xmlns:p14="http://schemas.microsoft.com/office/powerpoint/2010/main" val="6649915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2.59259E-6 L -0.10955 0.0882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86" y="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1.11111E-6 L 0.13194 -0.00046 " pathEditMode="relative" rAng="0" ptsTypes="AA">
                                      <p:cBhvr>
                                        <p:cTn id="10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97" y="-2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7037E-6 L -0.14045 -3.7037E-6 " pathEditMode="relative" rAng="0" ptsTypes="AA">
                                      <p:cBhvr>
                                        <p:cTn id="12" dur="1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4.07407E-6 L 0.09271 0.07639 " pathEditMode="relative" rAng="0" ptsTypes="AA">
                                      <p:cBhvr>
                                        <p:cTn id="16" dur="1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35" y="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11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08375" y="4267833"/>
            <a:ext cx="118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Speaker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548484" y="5789164"/>
            <a:ext cx="2356793" cy="770755"/>
            <a:chOff x="1249003" y="5384559"/>
            <a:chExt cx="2356793" cy="770755"/>
          </a:xfrm>
        </p:grpSpPr>
        <p:sp>
          <p:nvSpPr>
            <p:cNvPr id="50" name="Block Arc 4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Block Arc 5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Block Arc 5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08375" y="794982"/>
            <a:ext cx="2356793" cy="770755"/>
            <a:chOff x="1249003" y="5384559"/>
            <a:chExt cx="2356793" cy="770755"/>
          </a:xfrm>
        </p:grpSpPr>
        <p:sp>
          <p:nvSpPr>
            <p:cNvPr id="55" name="Block Arc 54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Block Arc 55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Block Arc 56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2" name="Rectangle 61"/>
          <p:cNvSpPr/>
          <p:nvPr/>
        </p:nvSpPr>
        <p:spPr>
          <a:xfrm rot="19800000">
            <a:off x="3671669" y="1564932"/>
            <a:ext cx="929035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2200789" y="3093693"/>
            <a:ext cx="824064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800000">
            <a:off x="6223680" y="6079724"/>
            <a:ext cx="639906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/>
          <p:cNvGrpSpPr/>
          <p:nvPr/>
        </p:nvGrpSpPr>
        <p:grpSpPr>
          <a:xfrm>
            <a:off x="3404726" y="2093524"/>
            <a:ext cx="2356793" cy="770755"/>
            <a:chOff x="1249003" y="5384559"/>
            <a:chExt cx="2356793" cy="770755"/>
          </a:xfrm>
        </p:grpSpPr>
        <p:sp>
          <p:nvSpPr>
            <p:cNvPr id="70" name="Block Arc 6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1" name="Block Arc 7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2" name="Block Arc 7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-106011" y="4919865"/>
            <a:ext cx="2356793" cy="770755"/>
            <a:chOff x="1249003" y="5384559"/>
            <a:chExt cx="2356793" cy="770755"/>
          </a:xfrm>
        </p:grpSpPr>
        <p:sp>
          <p:nvSpPr>
            <p:cNvPr id="74" name="Block Arc 7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Block Arc 7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6" name="Block Arc 7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642242" y="4743542"/>
            <a:ext cx="2356793" cy="770755"/>
            <a:chOff x="1249003" y="5384559"/>
            <a:chExt cx="2356793" cy="770755"/>
          </a:xfrm>
        </p:grpSpPr>
        <p:sp>
          <p:nvSpPr>
            <p:cNvPr id="78" name="Block Arc 7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9" name="Block Arc 7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0" name="Block Arc 7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266398" y="3727910"/>
            <a:ext cx="2356793" cy="770755"/>
            <a:chOff x="1249003" y="5384559"/>
            <a:chExt cx="2356793" cy="770755"/>
          </a:xfrm>
        </p:grpSpPr>
        <p:sp>
          <p:nvSpPr>
            <p:cNvPr id="82" name="Block Arc 8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3" name="Block Arc 8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4" name="Block Arc 8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273262" y="1303830"/>
            <a:ext cx="2356793" cy="770755"/>
            <a:chOff x="1249003" y="5384559"/>
            <a:chExt cx="2356793" cy="770755"/>
          </a:xfrm>
        </p:grpSpPr>
        <p:sp>
          <p:nvSpPr>
            <p:cNvPr id="86" name="Block Arc 8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7" name="Block Arc 8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8" name="Block Arc 8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1533296" y="5366964"/>
            <a:ext cx="2356793" cy="770755"/>
            <a:chOff x="1249003" y="5384559"/>
            <a:chExt cx="2356793" cy="770755"/>
          </a:xfrm>
        </p:grpSpPr>
        <p:sp>
          <p:nvSpPr>
            <p:cNvPr id="90" name="Block Arc 8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1" name="Block Arc 9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2" name="Block Arc 9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455407" y="824250"/>
            <a:ext cx="2356793" cy="770755"/>
            <a:chOff x="1249003" y="5384559"/>
            <a:chExt cx="2356793" cy="770755"/>
          </a:xfrm>
        </p:grpSpPr>
        <p:sp>
          <p:nvSpPr>
            <p:cNvPr id="94" name="Block Arc 9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5" name="Block Arc 9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6" name="Block Arc 9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3400586" y="3113491"/>
            <a:ext cx="2356793" cy="770755"/>
            <a:chOff x="1249003" y="5384559"/>
            <a:chExt cx="2356793" cy="770755"/>
          </a:xfrm>
        </p:grpSpPr>
        <p:sp>
          <p:nvSpPr>
            <p:cNvPr id="98" name="Block Arc 9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9" name="Block Arc 9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0" name="Block Arc 9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1403207" y="4479781"/>
            <a:ext cx="2356793" cy="770755"/>
            <a:chOff x="1249003" y="5384559"/>
            <a:chExt cx="2356793" cy="770755"/>
          </a:xfrm>
        </p:grpSpPr>
        <p:sp>
          <p:nvSpPr>
            <p:cNvPr id="102" name="Block Arc 10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Block Arc 10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Block Arc 10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7326047" y="4251149"/>
            <a:ext cx="2356793" cy="770755"/>
            <a:chOff x="1249003" y="5384559"/>
            <a:chExt cx="2356793" cy="770755"/>
          </a:xfrm>
        </p:grpSpPr>
        <p:sp>
          <p:nvSpPr>
            <p:cNvPr id="106" name="Block Arc 10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7" name="Block Arc 10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" name="Block Arc 10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4532736" y="1673180"/>
            <a:ext cx="2356793" cy="770755"/>
            <a:chOff x="1249003" y="5384559"/>
            <a:chExt cx="2356793" cy="770755"/>
          </a:xfrm>
        </p:grpSpPr>
        <p:sp>
          <p:nvSpPr>
            <p:cNvPr id="110" name="Block Arc 10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1" name="Block Arc 11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Block Arc 11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Dodecagon 7"/>
          <p:cNvSpPr/>
          <p:nvPr/>
        </p:nvSpPr>
        <p:spPr>
          <a:xfrm>
            <a:off x="587148" y="2457983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018895" y="2580326"/>
            <a:ext cx="791030" cy="1279581"/>
            <a:chOff x="468641" y="2414329"/>
            <a:chExt cx="2185608" cy="3535469"/>
          </a:xfrm>
        </p:grpSpPr>
        <p:sp>
          <p:nvSpPr>
            <p:cNvPr id="12" name="Oval 11"/>
            <p:cNvSpPr/>
            <p:nvPr/>
          </p:nvSpPr>
          <p:spPr>
            <a:xfrm>
              <a:off x="1161219" y="24143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>
              <a:stCxn id="12" idx="4"/>
            </p:cNvCxnSpPr>
            <p:nvPr/>
          </p:nvCxnSpPr>
          <p:spPr>
            <a:xfrm flipH="1">
              <a:off x="1475839" y="3226621"/>
              <a:ext cx="91526" cy="15904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823718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475839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1544483" y="3249504"/>
              <a:ext cx="1109766" cy="644403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68641" y="3157969"/>
              <a:ext cx="1052962" cy="735938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86CAC22C-34B1-944A-BCAC-852C2CEDAD09}"/>
              </a:ext>
            </a:extLst>
          </p:cNvPr>
          <p:cNvSpPr txBox="1"/>
          <p:nvPr/>
        </p:nvSpPr>
        <p:spPr>
          <a:xfrm>
            <a:off x="154834" y="122513"/>
            <a:ext cx="2852039" cy="861774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288CD2"/>
            </a:solidFill>
          </a:ln>
        </p:spPr>
        <p:txBody>
          <a:bodyPr wrap="square" lIns="182880" rIns="182880" bIns="137160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288CD2"/>
                </a:solidFill>
              </a:rPr>
              <a:t>a bad talk:</a:t>
            </a:r>
          </a:p>
        </p:txBody>
      </p:sp>
      <p:sp>
        <p:nvSpPr>
          <p:cNvPr id="5" name="Dodecagon 4"/>
          <p:cNvSpPr/>
          <p:nvPr/>
        </p:nvSpPr>
        <p:spPr>
          <a:xfrm>
            <a:off x="4338255" y="314687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4802155" y="544574"/>
            <a:ext cx="749837" cy="1164807"/>
            <a:chOff x="4804688" y="2566729"/>
            <a:chExt cx="2177827" cy="3383069"/>
          </a:xfrm>
        </p:grpSpPr>
        <p:sp>
          <p:nvSpPr>
            <p:cNvPr id="33" name="Oval 32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>
              <a:stCxn id="33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xmlns="" id="{C364523C-5441-084D-B65A-617E68A84BF5}"/>
              </a:ext>
            </a:extLst>
          </p:cNvPr>
          <p:cNvSpPr/>
          <p:nvPr/>
        </p:nvSpPr>
        <p:spPr>
          <a:xfrm>
            <a:off x="6270075" y="3109774"/>
            <a:ext cx="1120644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decagon 5"/>
          <p:cNvSpPr/>
          <p:nvPr/>
        </p:nvSpPr>
        <p:spPr>
          <a:xfrm>
            <a:off x="7287743" y="2543623"/>
            <a:ext cx="1441532" cy="1441532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7713650" y="2773511"/>
            <a:ext cx="665349" cy="1033562"/>
            <a:chOff x="4804688" y="2566729"/>
            <a:chExt cx="2177827" cy="3383069"/>
          </a:xfrm>
        </p:grpSpPr>
        <p:sp>
          <p:nvSpPr>
            <p:cNvPr id="26" name="Oval 25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>
              <a:stCxn id="26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Dodecagon 6"/>
          <p:cNvSpPr/>
          <p:nvPr/>
        </p:nvSpPr>
        <p:spPr>
          <a:xfrm>
            <a:off x="4791531" y="4878329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5213768" y="5069684"/>
            <a:ext cx="749837" cy="1164807"/>
            <a:chOff x="4804688" y="2566729"/>
            <a:chExt cx="2177827" cy="3383069"/>
          </a:xfrm>
        </p:grpSpPr>
        <p:sp>
          <p:nvSpPr>
            <p:cNvPr id="19" name="Oval 18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stCxn id="19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438C4FE8-B434-D74E-B53D-608BBD5B9BE7}"/>
              </a:ext>
            </a:extLst>
          </p:cNvPr>
          <p:cNvSpPr txBox="1"/>
          <p:nvPr/>
        </p:nvSpPr>
        <p:spPr>
          <a:xfrm>
            <a:off x="7177639" y="5944135"/>
            <a:ext cx="135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Audience</a:t>
            </a:r>
          </a:p>
        </p:txBody>
      </p:sp>
    </p:spTree>
    <p:extLst>
      <p:ext uri="{BB962C8B-B14F-4D97-AF65-F5344CB8AC3E}">
        <p14:creationId xmlns:p14="http://schemas.microsoft.com/office/powerpoint/2010/main" val="201363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decagon 4"/>
          <p:cNvSpPr/>
          <p:nvPr/>
        </p:nvSpPr>
        <p:spPr>
          <a:xfrm>
            <a:off x="4338255" y="314687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decagon 5"/>
          <p:cNvSpPr/>
          <p:nvPr/>
        </p:nvSpPr>
        <p:spPr>
          <a:xfrm>
            <a:off x="7287743" y="2543623"/>
            <a:ext cx="1441532" cy="1441532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decagon 6"/>
          <p:cNvSpPr/>
          <p:nvPr/>
        </p:nvSpPr>
        <p:spPr>
          <a:xfrm>
            <a:off x="4791531" y="4878329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08375" y="4267833"/>
            <a:ext cx="118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Speaker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7639" y="5944135"/>
            <a:ext cx="135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Audience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213768" y="5069684"/>
            <a:ext cx="749837" cy="1164807"/>
            <a:chOff x="4804688" y="2566729"/>
            <a:chExt cx="2177827" cy="3383069"/>
          </a:xfrm>
        </p:grpSpPr>
        <p:sp>
          <p:nvSpPr>
            <p:cNvPr id="19" name="Oval 18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stCxn id="19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7713650" y="2773511"/>
            <a:ext cx="665349" cy="1033562"/>
            <a:chOff x="4804688" y="2566729"/>
            <a:chExt cx="2177827" cy="3383069"/>
          </a:xfrm>
        </p:grpSpPr>
        <p:sp>
          <p:nvSpPr>
            <p:cNvPr id="26" name="Oval 25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>
              <a:stCxn id="26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4802155" y="544574"/>
            <a:ext cx="749837" cy="1164807"/>
            <a:chOff x="4804688" y="2566729"/>
            <a:chExt cx="2177827" cy="3383069"/>
          </a:xfrm>
        </p:grpSpPr>
        <p:sp>
          <p:nvSpPr>
            <p:cNvPr id="33" name="Oval 32"/>
            <p:cNvSpPr/>
            <p:nvPr/>
          </p:nvSpPr>
          <p:spPr>
            <a:xfrm>
              <a:off x="5420839" y="25667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>
              <a:stCxn id="33" idx="4"/>
            </p:cNvCxnSpPr>
            <p:nvPr/>
          </p:nvCxnSpPr>
          <p:spPr>
            <a:xfrm>
              <a:off x="5826985" y="3379021"/>
              <a:ext cx="99311" cy="14380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5274175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926296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72749" y="3840352"/>
              <a:ext cx="1109766" cy="301621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4804688" y="3828909"/>
              <a:ext cx="1052962" cy="45036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548484" y="5789164"/>
            <a:ext cx="2356793" cy="770755"/>
            <a:chOff x="1249003" y="5384559"/>
            <a:chExt cx="2356793" cy="770755"/>
          </a:xfrm>
        </p:grpSpPr>
        <p:sp>
          <p:nvSpPr>
            <p:cNvPr id="50" name="Block Arc 4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Block Arc 5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Block Arc 5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08375" y="794982"/>
            <a:ext cx="2356793" cy="770755"/>
            <a:chOff x="1249003" y="5384559"/>
            <a:chExt cx="2356793" cy="770755"/>
          </a:xfrm>
        </p:grpSpPr>
        <p:sp>
          <p:nvSpPr>
            <p:cNvPr id="55" name="Block Arc 54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Block Arc 55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Block Arc 56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2" name="Rectangle 61"/>
          <p:cNvSpPr/>
          <p:nvPr/>
        </p:nvSpPr>
        <p:spPr>
          <a:xfrm rot="19800000">
            <a:off x="1915712" y="2047918"/>
            <a:ext cx="2705066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2211730" y="3115314"/>
            <a:ext cx="5064571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rot="1800000">
            <a:off x="1880017" y="4305168"/>
            <a:ext cx="3237935" cy="346300"/>
          </a:xfrm>
          <a:prstGeom prst="rect">
            <a:avLst/>
          </a:prstGeom>
          <a:pattFill prst="horzBrick">
            <a:fgClr>
              <a:schemeClr val="bg1"/>
            </a:fgClr>
            <a:bgClr>
              <a:schemeClr val="accent2">
                <a:lumMod val="75000"/>
              </a:schemeClr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/>
          <p:cNvGrpSpPr/>
          <p:nvPr/>
        </p:nvGrpSpPr>
        <p:grpSpPr>
          <a:xfrm>
            <a:off x="3404726" y="2093524"/>
            <a:ext cx="2356793" cy="770755"/>
            <a:chOff x="1249003" y="5384559"/>
            <a:chExt cx="2356793" cy="770755"/>
          </a:xfrm>
        </p:grpSpPr>
        <p:sp>
          <p:nvSpPr>
            <p:cNvPr id="70" name="Block Arc 6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1" name="Block Arc 7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2" name="Block Arc 7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-106011" y="4919865"/>
            <a:ext cx="2356793" cy="770755"/>
            <a:chOff x="1249003" y="5384559"/>
            <a:chExt cx="2356793" cy="770755"/>
          </a:xfrm>
        </p:grpSpPr>
        <p:sp>
          <p:nvSpPr>
            <p:cNvPr id="74" name="Block Arc 7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Block Arc 7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6" name="Block Arc 7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642242" y="4743542"/>
            <a:ext cx="2356793" cy="770755"/>
            <a:chOff x="1249003" y="5384559"/>
            <a:chExt cx="2356793" cy="770755"/>
          </a:xfrm>
        </p:grpSpPr>
        <p:sp>
          <p:nvSpPr>
            <p:cNvPr id="78" name="Block Arc 7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9" name="Block Arc 7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0" name="Block Arc 7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266398" y="3727910"/>
            <a:ext cx="2356793" cy="770755"/>
            <a:chOff x="1249003" y="5384559"/>
            <a:chExt cx="2356793" cy="770755"/>
          </a:xfrm>
        </p:grpSpPr>
        <p:sp>
          <p:nvSpPr>
            <p:cNvPr id="82" name="Block Arc 8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3" name="Block Arc 8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4" name="Block Arc 8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273262" y="1303830"/>
            <a:ext cx="2356793" cy="770755"/>
            <a:chOff x="1249003" y="5384559"/>
            <a:chExt cx="2356793" cy="770755"/>
          </a:xfrm>
        </p:grpSpPr>
        <p:sp>
          <p:nvSpPr>
            <p:cNvPr id="86" name="Block Arc 8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7" name="Block Arc 8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8" name="Block Arc 8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ln w="38100" cmpd="sng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1533296" y="5366964"/>
            <a:ext cx="2356793" cy="770755"/>
            <a:chOff x="1249003" y="5384559"/>
            <a:chExt cx="2356793" cy="770755"/>
          </a:xfrm>
        </p:grpSpPr>
        <p:sp>
          <p:nvSpPr>
            <p:cNvPr id="90" name="Block Arc 8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1" name="Block Arc 9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2" name="Block Arc 9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455407" y="824250"/>
            <a:ext cx="2356793" cy="770755"/>
            <a:chOff x="1249003" y="5384559"/>
            <a:chExt cx="2356793" cy="770755"/>
          </a:xfrm>
        </p:grpSpPr>
        <p:sp>
          <p:nvSpPr>
            <p:cNvPr id="94" name="Block Arc 93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5" name="Block Arc 94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6" name="Block Arc 95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3400586" y="3113491"/>
            <a:ext cx="2356793" cy="770755"/>
            <a:chOff x="1249003" y="5384559"/>
            <a:chExt cx="2356793" cy="770755"/>
          </a:xfrm>
        </p:grpSpPr>
        <p:sp>
          <p:nvSpPr>
            <p:cNvPr id="98" name="Block Arc 97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9" name="Block Arc 98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0" name="Block Arc 99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1403207" y="4479781"/>
            <a:ext cx="2356793" cy="770755"/>
            <a:chOff x="1249003" y="5384559"/>
            <a:chExt cx="2356793" cy="770755"/>
          </a:xfrm>
        </p:grpSpPr>
        <p:sp>
          <p:nvSpPr>
            <p:cNvPr id="102" name="Block Arc 101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Block Arc 102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Block Arc 103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7326047" y="4251149"/>
            <a:ext cx="2356793" cy="770755"/>
            <a:chOff x="1249003" y="5384559"/>
            <a:chExt cx="2356793" cy="770755"/>
          </a:xfrm>
        </p:grpSpPr>
        <p:sp>
          <p:nvSpPr>
            <p:cNvPr id="106" name="Block Arc 105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7" name="Block Arc 106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" name="Block Arc 107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4532736" y="1673180"/>
            <a:ext cx="2356793" cy="770755"/>
            <a:chOff x="1249003" y="5384559"/>
            <a:chExt cx="2356793" cy="770755"/>
          </a:xfrm>
        </p:grpSpPr>
        <p:sp>
          <p:nvSpPr>
            <p:cNvPr id="110" name="Block Arc 109"/>
            <p:cNvSpPr/>
            <p:nvPr/>
          </p:nvSpPr>
          <p:spPr>
            <a:xfrm rot="12042652">
              <a:off x="2016043" y="5396002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1" name="Block Arc 110"/>
            <p:cNvSpPr/>
            <p:nvPr/>
          </p:nvSpPr>
          <p:spPr>
            <a:xfrm rot="12042652">
              <a:off x="2774802" y="5428914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Block Arc 111"/>
            <p:cNvSpPr/>
            <p:nvPr/>
          </p:nvSpPr>
          <p:spPr>
            <a:xfrm rot="11700000">
              <a:off x="1249003" y="5384559"/>
              <a:ext cx="830994" cy="726400"/>
            </a:xfrm>
            <a:prstGeom prst="blockArc">
              <a:avLst>
                <a:gd name="adj1" fmla="val 10800000"/>
                <a:gd name="adj2" fmla="val 19599049"/>
                <a:gd name="adj3" fmla="val 3288"/>
              </a:avLst>
            </a:prstGeom>
            <a:solidFill>
              <a:srgbClr val="7EA3C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Dodecagon 7"/>
          <p:cNvSpPr/>
          <p:nvPr/>
        </p:nvSpPr>
        <p:spPr>
          <a:xfrm>
            <a:off x="587148" y="2457983"/>
            <a:ext cx="1624583" cy="1624583"/>
          </a:xfrm>
          <a:prstGeom prst="dodecagon">
            <a:avLst/>
          </a:prstGeom>
          <a:pattFill prst="pct20">
            <a:fgClr>
              <a:schemeClr val="accent2">
                <a:lumMod val="75000"/>
              </a:schemeClr>
            </a:fgClr>
            <a:bgClr>
              <a:srgbClr val="FFFF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018895" y="2580326"/>
            <a:ext cx="791030" cy="1279581"/>
            <a:chOff x="468641" y="2414329"/>
            <a:chExt cx="2185608" cy="3535469"/>
          </a:xfrm>
        </p:grpSpPr>
        <p:sp>
          <p:nvSpPr>
            <p:cNvPr id="12" name="Oval 11"/>
            <p:cNvSpPr/>
            <p:nvPr/>
          </p:nvSpPr>
          <p:spPr>
            <a:xfrm>
              <a:off x="1161219" y="2414329"/>
              <a:ext cx="812292" cy="812292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>
              <a:stCxn id="12" idx="4"/>
            </p:cNvCxnSpPr>
            <p:nvPr/>
          </p:nvCxnSpPr>
          <p:spPr>
            <a:xfrm flipH="1">
              <a:off x="1475839" y="3226621"/>
              <a:ext cx="91526" cy="1590427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823718" y="4817048"/>
              <a:ext cx="652121" cy="113275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475839" y="4817048"/>
              <a:ext cx="629240" cy="100688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1544483" y="3249504"/>
              <a:ext cx="1109766" cy="644403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68641" y="3157969"/>
              <a:ext cx="1052962" cy="735938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xmlns="" id="{7F492502-01D0-964D-B87E-6F82D6852316}"/>
              </a:ext>
            </a:extLst>
          </p:cNvPr>
          <p:cNvSpPr/>
          <p:nvPr/>
        </p:nvSpPr>
        <p:spPr>
          <a:xfrm>
            <a:off x="-679269" y="1"/>
            <a:ext cx="10607040" cy="6857999"/>
          </a:xfrm>
          <a:prstGeom prst="rect">
            <a:avLst/>
          </a:prstGeom>
          <a:solidFill>
            <a:schemeClr val="bg1">
              <a:alpha val="61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9490177A-C88D-3D4B-A39F-367CE6F111AF}"/>
              </a:ext>
            </a:extLst>
          </p:cNvPr>
          <p:cNvSpPr txBox="1"/>
          <p:nvPr/>
        </p:nvSpPr>
        <p:spPr>
          <a:xfrm>
            <a:off x="728529" y="856980"/>
            <a:ext cx="7650470" cy="1723549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288CD2"/>
            </a:solidFill>
          </a:ln>
        </p:spPr>
        <p:txBody>
          <a:bodyPr wrap="square" lIns="182880" rIns="182880" bIns="137160" rtlCol="0" anchor="ctr">
            <a:spAutoFit/>
          </a:bodyPr>
          <a:lstStyle/>
          <a:p>
            <a:pPr algn="ctr"/>
            <a:r>
              <a:rPr lang="en-US" sz="4400" dirty="0">
                <a:solidFill>
                  <a:srgbClr val="288CD2"/>
                </a:solidFill>
              </a:rPr>
              <a:t>build bridges to your audience</a:t>
            </a:r>
          </a:p>
          <a:p>
            <a:pPr algn="ctr"/>
            <a:r>
              <a:rPr lang="en-US" sz="2800" dirty="0">
                <a:solidFill>
                  <a:srgbClr val="288CD2"/>
                </a:solidFill>
              </a:rPr>
              <a:t>organization, content, and delivery should be oriented to the audience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xmlns="" id="{0C52DDAC-BF66-0C40-9376-605201590CD0}"/>
              </a:ext>
            </a:extLst>
          </p:cNvPr>
          <p:cNvSpPr txBox="1"/>
          <p:nvPr/>
        </p:nvSpPr>
        <p:spPr>
          <a:xfrm>
            <a:off x="414726" y="3774970"/>
            <a:ext cx="8314550" cy="1292662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288CD2"/>
            </a:solidFill>
          </a:ln>
        </p:spPr>
        <p:txBody>
          <a:bodyPr wrap="square" lIns="182880" rIns="182880" bIns="137160" rtlCol="0" anchor="ctr">
            <a:spAutoFit/>
          </a:bodyPr>
          <a:lstStyle/>
          <a:p>
            <a:pPr algn="ctr"/>
            <a:r>
              <a:rPr lang="en-US" sz="4400" dirty="0">
                <a:solidFill>
                  <a:srgbClr val="288CD2"/>
                </a:solidFill>
              </a:rPr>
              <a:t>if you start building, they will help!</a:t>
            </a:r>
          </a:p>
          <a:p>
            <a:pPr algn="ctr"/>
            <a:r>
              <a:rPr lang="en-US" sz="2800" dirty="0">
                <a:solidFill>
                  <a:srgbClr val="288CD2"/>
                </a:solidFill>
              </a:rPr>
              <a:t>a good talk feels like a collaboration</a:t>
            </a:r>
          </a:p>
        </p:txBody>
      </p:sp>
    </p:spTree>
    <p:extLst>
      <p:ext uri="{BB962C8B-B14F-4D97-AF65-F5344CB8AC3E}">
        <p14:creationId xmlns:p14="http://schemas.microsoft.com/office/powerpoint/2010/main" val="835074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/>
      <p:bldP spid="115" grpId="0" animBg="1"/>
      <p:bldP spid="11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Other Advice for Oral </a:t>
            </a:r>
            <a:r>
              <a:rPr lang="en-US" dirty="0"/>
              <a:t>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577" y="1073740"/>
            <a:ext cx="8683511" cy="5052424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watch videos by Jean-</a:t>
            </a:r>
            <a:r>
              <a:rPr lang="en-US" dirty="0" err="1"/>
              <a:t>luc</a:t>
            </a:r>
            <a:r>
              <a:rPr lang="en-US" dirty="0"/>
              <a:t> </a:t>
            </a:r>
            <a:r>
              <a:rPr lang="en-US" dirty="0" err="1"/>
              <a:t>Doumont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it’s mostly common sense, yet we all forget!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to prepare an </a:t>
            </a:r>
            <a:r>
              <a:rPr lang="en-US" i="1" dirty="0"/>
              <a:t>N</a:t>
            </a:r>
            <a:r>
              <a:rPr lang="en-US" dirty="0"/>
              <a:t>-minute talk, you need </a:t>
            </a:r>
            <a:r>
              <a:rPr lang="en-US" dirty="0" smtClean="0"/>
              <a:t>20</a:t>
            </a:r>
            <a:r>
              <a:rPr lang="en-US" i="1" dirty="0" smtClean="0"/>
              <a:t>N</a:t>
            </a:r>
            <a:r>
              <a:rPr lang="en-US" dirty="0" smtClean="0"/>
              <a:t> </a:t>
            </a:r>
            <a:r>
              <a:rPr lang="en-US" dirty="0"/>
              <a:t>minutes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practice by yourself (out </a:t>
            </a:r>
            <a:r>
              <a:rPr lang="en-US" dirty="0" smtClean="0"/>
              <a:t>loud!) </a:t>
            </a:r>
            <a:r>
              <a:rPr lang="en-US" dirty="0"/>
              <a:t>and </a:t>
            </a:r>
            <a:r>
              <a:rPr lang="en-US" dirty="0" smtClean="0"/>
              <a:t>with others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this will help you to build bridges to everyone in the audience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for a conference talk, practice at least 10 times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877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86</a:t>
            </a:fld>
            <a:endParaRPr lang="en-US"/>
          </a:p>
        </p:txBody>
      </p:sp>
      <p:pic>
        <p:nvPicPr>
          <p:cNvPr id="5" name="Picture 4" descr="Screen Shot 2019-05-23 at 3.51.2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1511300"/>
            <a:ext cx="5892800" cy="383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BF15D7A-11E5-8C4D-8841-8E0C32436969}"/>
              </a:ext>
            </a:extLst>
          </p:cNvPr>
          <p:cNvSpPr txBox="1"/>
          <p:nvPr/>
        </p:nvSpPr>
        <p:spPr>
          <a:xfrm>
            <a:off x="7219405" y="6261913"/>
            <a:ext cx="1727585" cy="553998"/>
          </a:xfrm>
          <a:prstGeom prst="rect">
            <a:avLst/>
          </a:prstGeom>
          <a:solidFill>
            <a:schemeClr val="bg1"/>
          </a:solidFill>
          <a:ln w="38100" cmpd="sng">
            <a:noFill/>
          </a:ln>
        </p:spPr>
        <p:txBody>
          <a:bodyPr wrap="square" lIns="182880" rIns="182880" bIns="137160" rtlCol="0" anchor="ctr">
            <a:spAutoFit/>
          </a:bodyPr>
          <a:lstStyle/>
          <a:p>
            <a:pPr algn="ctr"/>
            <a:r>
              <a:rPr lang="en-US" sz="2400" dirty="0" err="1">
                <a:solidFill>
                  <a:srgbClr val="288CD2"/>
                </a:solidFill>
              </a:rPr>
              <a:t>Doumont</a:t>
            </a:r>
            <a:endParaRPr lang="en-US" sz="14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7547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87</a:t>
            </a:fld>
            <a:endParaRPr lang="en-US"/>
          </a:p>
        </p:txBody>
      </p:sp>
      <p:pic>
        <p:nvPicPr>
          <p:cNvPr id="3" name="Picture 2" descr="Screen Shot 2019-05-23 at 3.51.3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485900"/>
            <a:ext cx="8001000" cy="3886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2123E2A-DC18-1048-8B88-55FC64A506D7}"/>
              </a:ext>
            </a:extLst>
          </p:cNvPr>
          <p:cNvSpPr txBox="1"/>
          <p:nvPr/>
        </p:nvSpPr>
        <p:spPr>
          <a:xfrm>
            <a:off x="7219405" y="6261913"/>
            <a:ext cx="1727585" cy="553998"/>
          </a:xfrm>
          <a:prstGeom prst="rect">
            <a:avLst/>
          </a:prstGeom>
          <a:solidFill>
            <a:schemeClr val="bg1"/>
          </a:solidFill>
          <a:ln w="38100" cmpd="sng">
            <a:noFill/>
          </a:ln>
        </p:spPr>
        <p:txBody>
          <a:bodyPr wrap="square" lIns="182880" rIns="182880" bIns="137160" rtlCol="0" anchor="ctr">
            <a:spAutoFit/>
          </a:bodyPr>
          <a:lstStyle/>
          <a:p>
            <a:pPr algn="ctr"/>
            <a:r>
              <a:rPr lang="en-US" sz="2400" dirty="0" err="1">
                <a:solidFill>
                  <a:srgbClr val="288CD2"/>
                </a:solidFill>
              </a:rPr>
              <a:t>Doumont</a:t>
            </a:r>
            <a:endParaRPr lang="en-US" sz="14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942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			  Thanks!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6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85928</TotalTime>
  <Words>4266</Words>
  <Application>Microsoft Macintosh PowerPoint</Application>
  <PresentationFormat>On-screen Show (4:3)</PresentationFormat>
  <Paragraphs>698</Paragraphs>
  <Slides>88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Office Theme</vt:lpstr>
      <vt:lpstr>TTIC 31210: Advanced Natural Language Processing</vt:lpstr>
      <vt:lpstr>Roadmap</vt:lpstr>
      <vt:lpstr>Assignments</vt:lpstr>
      <vt:lpstr>Grading</vt:lpstr>
      <vt:lpstr>Dirichlet Process (DP)</vt:lpstr>
      <vt:lpstr>Views of the Dirichlet Process (DP)</vt:lpstr>
      <vt:lpstr>Base Distribution       for DP</vt:lpstr>
      <vt:lpstr>Concentration Parameter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Draw G from a DP (Stick-Breaking Representation)</vt:lpstr>
      <vt:lpstr>A Representation of G Drawn from a DP (Chinese Restaurant Process Representation)</vt:lpstr>
      <vt:lpstr>PowerPoint Presentation</vt:lpstr>
      <vt:lpstr>PowerPoint Presentation</vt:lpstr>
      <vt:lpstr>PowerPoint Presentation</vt:lpstr>
      <vt:lpstr>Inference</vt:lpstr>
      <vt:lpstr>Important Extensions</vt:lpstr>
      <vt:lpstr>Segmentation</vt:lpstr>
      <vt:lpstr>Segmentation</vt:lpstr>
      <vt:lpstr>Grammar Rules for Parsing</vt:lpstr>
      <vt:lpstr>Synchronous Grammar Rules for Machine Translation</vt:lpstr>
      <vt:lpstr>Synchronous Grammar Rules for Machine Translation</vt:lpstr>
      <vt:lpstr>Unsupervised Coreference Resolution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Highest-Ranked Patterns</vt:lpstr>
      <vt:lpstr>When to be Bayesian?</vt:lpstr>
      <vt:lpstr>Being Bayesian in Practice</vt:lpstr>
      <vt:lpstr>Roadmap</vt:lpstr>
      <vt:lpstr>PowerPoint Presentation</vt:lpstr>
      <vt:lpstr>Getting Started on a New Project</vt:lpstr>
      <vt:lpstr>If you are the AI consultant…</vt:lpstr>
      <vt:lpstr>Once you have input/output pairs…</vt:lpstr>
      <vt:lpstr>Once you have input/output pairs…</vt:lpstr>
      <vt:lpstr>Preprocessing</vt:lpstr>
      <vt:lpstr>Most Important Preprocessing Rule</vt:lpstr>
      <vt:lpstr>PowerPoint Presentation</vt:lpstr>
      <vt:lpstr>Keep Your Goals in Mind</vt:lpstr>
      <vt:lpstr>PowerPoint Presentation</vt:lpstr>
      <vt:lpstr>Working on a Research Project</vt:lpstr>
      <vt:lpstr>Working on a Research Project</vt:lpstr>
      <vt:lpstr>The Role of Your Brain in Your Research</vt:lpstr>
      <vt:lpstr>PowerPoint Presentation</vt:lpstr>
      <vt:lpstr>The Awkward Stage</vt:lpstr>
      <vt:lpstr>The Awkward Stage</vt:lpstr>
      <vt:lpstr>Research Projects have Awkward Stages</vt:lpstr>
      <vt:lpstr>Escaping the Awkward Stage</vt:lpstr>
      <vt:lpstr>When Things Don’t Work Out</vt:lpstr>
      <vt:lpstr>PowerPoint Presentation</vt:lpstr>
      <vt:lpstr>PowerPoint Presentation</vt:lpstr>
      <vt:lpstr>Technical Writing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Advice for Oral Presentations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</cp:lastModifiedBy>
  <cp:revision>1648</cp:revision>
  <dcterms:created xsi:type="dcterms:W3CDTF">2015-08-31T18:15:35Z</dcterms:created>
  <dcterms:modified xsi:type="dcterms:W3CDTF">2019-05-30T00:04:55Z</dcterms:modified>
</cp:coreProperties>
</file>