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handoutMasterIdLst>
    <p:handoutMasterId r:id="rId42"/>
  </p:handoutMasterIdLst>
  <p:sldIdLst>
    <p:sldId id="256" r:id="rId2"/>
    <p:sldId id="3180" r:id="rId3"/>
    <p:sldId id="3181" r:id="rId4"/>
    <p:sldId id="3677" r:id="rId5"/>
    <p:sldId id="3678" r:id="rId6"/>
    <p:sldId id="3679" r:id="rId7"/>
    <p:sldId id="3772" r:id="rId8"/>
    <p:sldId id="3680" r:id="rId9"/>
    <p:sldId id="3681" r:id="rId10"/>
    <p:sldId id="3682" r:id="rId11"/>
    <p:sldId id="3773" r:id="rId12"/>
    <p:sldId id="3683" r:id="rId13"/>
    <p:sldId id="3684" r:id="rId14"/>
    <p:sldId id="3685" r:id="rId15"/>
    <p:sldId id="3686" r:id="rId16"/>
    <p:sldId id="3687" r:id="rId17"/>
    <p:sldId id="3689" r:id="rId18"/>
    <p:sldId id="3690" r:id="rId19"/>
    <p:sldId id="3774" r:id="rId20"/>
    <p:sldId id="3795" r:id="rId21"/>
    <p:sldId id="3776" r:id="rId22"/>
    <p:sldId id="3777" r:id="rId23"/>
    <p:sldId id="3778" r:id="rId24"/>
    <p:sldId id="3793" r:id="rId25"/>
    <p:sldId id="3775" r:id="rId26"/>
    <p:sldId id="3691" r:id="rId27"/>
    <p:sldId id="3792" r:id="rId28"/>
    <p:sldId id="3692" r:id="rId29"/>
    <p:sldId id="3694" r:id="rId30"/>
    <p:sldId id="3695" r:id="rId31"/>
    <p:sldId id="3696" r:id="rId32"/>
    <p:sldId id="3697" r:id="rId33"/>
    <p:sldId id="3699" r:id="rId34"/>
    <p:sldId id="3787" r:id="rId35"/>
    <p:sldId id="3700" r:id="rId36"/>
    <p:sldId id="3794" r:id="rId37"/>
    <p:sldId id="3701" r:id="rId38"/>
    <p:sldId id="3702" r:id="rId39"/>
    <p:sldId id="3703"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8CD2"/>
    <a:srgbClr val="BC0000"/>
    <a:srgbClr val="EB5151"/>
    <a:srgbClr val="FFE6E6"/>
    <a:srgbClr val="FFC2C2"/>
    <a:srgbClr val="FF8C8C"/>
    <a:srgbClr val="F76A6A"/>
    <a:srgbClr val="EB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63" autoAdjust="0"/>
    <p:restoredTop sz="86160" autoAdjust="0"/>
  </p:normalViewPr>
  <p:slideViewPr>
    <p:cSldViewPr snapToGrid="0" snapToObjects="1">
      <p:cViewPr varScale="1">
        <p:scale>
          <a:sx n="61" d="100"/>
          <a:sy n="61" d="100"/>
        </p:scale>
        <p:origin x="-2064" y="-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theme" Target="theme/theme1.xml"/><Relationship Id="rId47"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interSettings" Target="printerSettings/printerSettings1.bin"/><Relationship Id="rId44" Type="http://schemas.openxmlformats.org/officeDocument/2006/relationships/presProps" Target="presProps.xml"/><Relationship Id="rId4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664593-8E4E-8747-9BDB-DA84BDED518C}" type="datetime1">
              <a:rPr lang="en-US" smtClean="0"/>
              <a:t>5/14/19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02E5790-10E5-C04B-864A-21F4E57B9FCF}" type="slidenum">
              <a:rPr lang="en-US" smtClean="0"/>
              <a:t>‹#›</a:t>
            </a:fld>
            <a:endParaRPr lang="en-US"/>
          </a:p>
        </p:txBody>
      </p:sp>
    </p:spTree>
    <p:extLst>
      <p:ext uri="{BB962C8B-B14F-4D97-AF65-F5344CB8AC3E}">
        <p14:creationId xmlns:p14="http://schemas.microsoft.com/office/powerpoint/2010/main" val="1321040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A541DB-7577-ED4C-AF0A-388D8C680A39}" type="datetime1">
              <a:rPr lang="en-US" smtClean="0"/>
              <a:t>5/14/19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1B48C7-8E5C-9640-8445-8A9544EEA549}" type="slidenum">
              <a:rPr lang="en-US" smtClean="0"/>
              <a:t>‹#›</a:t>
            </a:fld>
            <a:endParaRPr lang="en-US"/>
          </a:p>
        </p:txBody>
      </p:sp>
    </p:spTree>
    <p:extLst>
      <p:ext uri="{BB962C8B-B14F-4D97-AF65-F5344CB8AC3E}">
        <p14:creationId xmlns:p14="http://schemas.microsoft.com/office/powerpoint/2010/main" val="3819633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Copyright notice for the slide containing the LDA figure:</a:t>
            </a:r>
          </a:p>
          <a:p>
            <a:endParaRPr lang="en-US" dirty="0"/>
          </a:p>
          <a:p>
            <a:r>
              <a:rPr lang="en-US" dirty="0"/>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dirty="0" err="1"/>
              <a:t>permissions@acm.org</a:t>
            </a:r>
            <a:r>
              <a:rPr lang="en-US" dirty="0"/>
              <a:t> or fax (212) 869-0481.</a:t>
            </a:r>
          </a:p>
          <a:p>
            <a:endParaRPr lang="en-US" dirty="0"/>
          </a:p>
          <a:p>
            <a:r>
              <a:rPr lang="en-US" dirty="0"/>
              <a:t>The Digital Library is published by the Association for Computing Machinery. Copyright © 2012 ACM, Inc.</a:t>
            </a:r>
          </a:p>
          <a:p>
            <a:endParaRPr lang="en-US" dirty="0"/>
          </a:p>
        </p:txBody>
      </p:sp>
      <p:sp>
        <p:nvSpPr>
          <p:cNvPr id="4" name="Slide Number Placeholder 3"/>
          <p:cNvSpPr>
            <a:spLocks noGrp="1"/>
          </p:cNvSpPr>
          <p:nvPr>
            <p:ph type="sldNum" sz="quarter" idx="5"/>
          </p:nvPr>
        </p:nvSpPr>
        <p:spPr/>
        <p:txBody>
          <a:bodyPr/>
          <a:lstStyle/>
          <a:p>
            <a:fld id="{491B48C7-8E5C-9640-8445-8A9544EEA549}" type="slidenum">
              <a:rPr lang="en-US" smtClean="0"/>
              <a:t>1</a:t>
            </a:fld>
            <a:endParaRPr lang="en-US"/>
          </a:p>
        </p:txBody>
      </p:sp>
    </p:spTree>
    <p:extLst>
      <p:ext uri="{BB962C8B-B14F-4D97-AF65-F5344CB8AC3E}">
        <p14:creationId xmlns:p14="http://schemas.microsoft.com/office/powerpoint/2010/main" val="3785176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5</a:t>
            </a:fld>
            <a:endParaRPr lang="en-US"/>
          </a:p>
        </p:txBody>
      </p:sp>
    </p:spTree>
    <p:extLst>
      <p:ext uri="{BB962C8B-B14F-4D97-AF65-F5344CB8AC3E}">
        <p14:creationId xmlns:p14="http://schemas.microsoft.com/office/powerpoint/2010/main" val="1678965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6</a:t>
            </a:fld>
            <a:endParaRPr lang="en-US"/>
          </a:p>
        </p:txBody>
      </p:sp>
    </p:spTree>
    <p:extLst>
      <p:ext uri="{BB962C8B-B14F-4D97-AF65-F5344CB8AC3E}">
        <p14:creationId xmlns:p14="http://schemas.microsoft.com/office/powerpoint/2010/main" val="165485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7</a:t>
            </a:fld>
            <a:endParaRPr lang="en-US"/>
          </a:p>
        </p:txBody>
      </p:sp>
    </p:spTree>
    <p:extLst>
      <p:ext uri="{BB962C8B-B14F-4D97-AF65-F5344CB8AC3E}">
        <p14:creationId xmlns:p14="http://schemas.microsoft.com/office/powerpoint/2010/main" val="165485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deepbayes</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_{\Theta} p(Y = y, \Theta = \{\</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d\Theta \\</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exp</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{w}_y^\top \</a:t>
            </a:r>
            <a:r>
              <a:rPr lang="en-US" sz="1200" kern="1200" dirty="0" err="1">
                <a:solidFill>
                  <a:schemeClr val="tx1"/>
                </a:solidFill>
                <a:latin typeface="+mn-lt"/>
                <a:ea typeface="+mn-ea"/>
                <a:cs typeface="+mn-cs"/>
              </a:rPr>
              <a:t>tanh</a:t>
            </a:r>
            <a:r>
              <a:rPr lang="en-US" sz="1200" kern="1200" dirty="0">
                <a:solidFill>
                  <a:schemeClr val="tx1"/>
                </a:solidFill>
                <a:latin typeface="+mn-lt"/>
                <a:ea typeface="+mn-ea"/>
                <a:cs typeface="+mn-cs"/>
              </a:rPr>
              <a:t>\left(\</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g(\</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{x})\right)\}}{Z}\\</a:t>
            </a:r>
          </a:p>
          <a:p>
            <a:r>
              <a:rPr lang="en-US" sz="1200" kern="1200" dirty="0">
                <a:solidFill>
                  <a:schemeClr val="tx1"/>
                </a:solidFill>
                <a:latin typeface="+mn-lt"/>
                <a:ea typeface="+mn-ea"/>
                <a:cs typeface="+mn-cs"/>
              </a:rPr>
              <a:t>&amp;p(Y = y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 \</a:t>
            </a:r>
            <a:r>
              <a:rPr lang="en-US" sz="1200" kern="1200" dirty="0" err="1">
                <a:solidFill>
                  <a:schemeClr val="tx1"/>
                </a:solidFill>
                <a:latin typeface="+mn-lt"/>
                <a:ea typeface="+mn-ea"/>
                <a:cs typeface="+mn-cs"/>
              </a:rPr>
              <a:t>int</a:t>
            </a:r>
            <a:r>
              <a:rPr lang="en-US" sz="1200" kern="1200" dirty="0">
                <a:solidFill>
                  <a:schemeClr val="tx1"/>
                </a:solidFill>
                <a:latin typeface="+mn-lt"/>
                <a:ea typeface="+mn-ea"/>
                <a:cs typeface="+mn-cs"/>
              </a:rPr>
              <a:t>_{\Lambda} p(Y = y, \Lambda = \</a:t>
            </a:r>
            <a:r>
              <a:rPr lang="en-US" sz="1200" kern="1200" dirty="0" err="1">
                <a:solidFill>
                  <a:schemeClr val="tx1"/>
                </a:solidFill>
                <a:latin typeface="+mn-lt"/>
                <a:ea typeface="+mn-ea"/>
                <a:cs typeface="+mn-cs"/>
              </a:rPr>
              <a:t>mathrm</a:t>
            </a:r>
            <a:r>
              <a:rPr lang="en-US" sz="1200" kern="1200" dirty="0">
                <a:solidFill>
                  <a:schemeClr val="tx1"/>
                </a:solidFill>
                <a:latin typeface="+mn-lt"/>
                <a:ea typeface="+mn-ea"/>
                <a:cs typeface="+mn-cs"/>
              </a:rPr>
              <a:t>{MLP}(\</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a:t>
            </a:r>
            <a:r>
              <a:rPr lang="en-US" sz="1200" kern="1200" dirty="0" err="1">
                <a:solidFill>
                  <a:schemeClr val="tx1"/>
                </a:solidFill>
                <a:latin typeface="+mn-lt"/>
                <a:ea typeface="+mn-ea"/>
                <a:cs typeface="+mn-cs"/>
              </a:rPr>
              <a:t>mathbf</a:t>
            </a:r>
            <a:r>
              <a:rPr lang="en-US" sz="1200" kern="1200" dirty="0">
                <a:solidFill>
                  <a:schemeClr val="tx1"/>
                </a:solidFill>
                <a:latin typeface="+mn-lt"/>
                <a:ea typeface="+mn-ea"/>
                <a:cs typeface="+mn-cs"/>
              </a:rPr>
              <a:t>{W}) \mid \</a:t>
            </a:r>
            <a:r>
              <a:rPr lang="en-US" sz="1200" kern="1200" dirty="0" err="1">
                <a:solidFill>
                  <a:schemeClr val="tx1"/>
                </a:solidFill>
                <a:latin typeface="+mn-lt"/>
                <a:ea typeface="+mn-ea"/>
                <a:cs typeface="+mn-cs"/>
              </a:rPr>
              <a:t>boldsymbol</a:t>
            </a:r>
            <a:r>
              <a:rPr lang="en-US" sz="1200" kern="1200" dirty="0">
                <a:solidFill>
                  <a:schemeClr val="tx1"/>
                </a:solidFill>
                <a:latin typeface="+mn-lt"/>
                <a:ea typeface="+mn-ea"/>
                <a:cs typeface="+mn-cs"/>
              </a:rPr>
              <a:t>{x}) d\Lambda \\</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13</a:t>
            </a:fld>
            <a:endParaRPr lang="en-US"/>
          </a:p>
        </p:txBody>
      </p:sp>
    </p:spTree>
    <p:extLst>
      <p:ext uri="{BB962C8B-B14F-4D97-AF65-F5344CB8AC3E}">
        <p14:creationId xmlns:p14="http://schemas.microsoft.com/office/powerpoint/2010/main" val="8531132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genstory</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set of parameters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latent structure } z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p(z\mid\theta)\\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{3: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the observed data } x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 p(x\mid z, \theta)</a:t>
            </a:r>
          </a:p>
          <a:p>
            <a:r>
              <a:rPr lang="en-US" sz="1200" kern="1200" dirty="0">
                <a:solidFill>
                  <a:schemeClr val="tx1"/>
                </a:solidFill>
                <a:latin typeface="+mn-lt"/>
                <a:ea typeface="+mn-ea"/>
                <a:cs typeface="+mn-cs"/>
              </a:rPr>
              <a:t>p(</a:t>
            </a:r>
            <a:r>
              <a:rPr lang="en-US" sz="1200" kern="1200" dirty="0" err="1">
                <a:solidFill>
                  <a:schemeClr val="tx1"/>
                </a:solidFill>
                <a:latin typeface="+mn-lt"/>
                <a:ea typeface="+mn-ea"/>
                <a:cs typeface="+mn-cs"/>
              </a:rPr>
              <a:t>x,z</a:t>
            </a:r>
            <a:r>
              <a:rPr lang="en-US" sz="1200" kern="1200" dirty="0">
                <a:solidFill>
                  <a:schemeClr val="tx1"/>
                </a:solidFill>
                <a:latin typeface="+mn-lt"/>
                <a:ea typeface="+mn-ea"/>
                <a:cs typeface="+mn-cs"/>
              </a:rPr>
              <a:t>,\theta) = p(\theta)p(z\mid\theta)p(x\mid z, \theta)</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16</a:t>
            </a:fld>
            <a:endParaRPr lang="en-US"/>
          </a:p>
        </p:txBody>
      </p:sp>
    </p:spTree>
    <p:extLst>
      <p:ext uri="{BB962C8B-B14F-4D97-AF65-F5344CB8AC3E}">
        <p14:creationId xmlns:p14="http://schemas.microsoft.com/office/powerpoint/2010/main" val="170079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multinomial</a:t>
            </a:r>
          </a:p>
          <a:p>
            <a:r>
              <a:rPr lang="en-US" sz="1200" kern="1200" dirty="0">
                <a:solidFill>
                  <a:schemeClr val="tx1"/>
                </a:solidFill>
                <a:latin typeface="+mn-lt"/>
                <a:ea typeface="+mn-ea"/>
                <a:cs typeface="+mn-cs"/>
              </a:rPr>
              <a:t>&amp;p(A = </a:t>
            </a:r>
            <a:r>
              <a:rPr lang="en-US" sz="1200" kern="1200" dirty="0" err="1">
                <a:solidFill>
                  <a:schemeClr val="tx1"/>
                </a:solidFill>
                <a:latin typeface="+mn-lt"/>
                <a:ea typeface="+mn-ea"/>
                <a:cs typeface="+mn-cs"/>
              </a:rPr>
              <a:t>a_i</a:t>
            </a:r>
            <a:r>
              <a:rPr lang="en-US" sz="1200" kern="1200" dirty="0">
                <a:solidFill>
                  <a:schemeClr val="tx1"/>
                </a:solidFill>
                <a:latin typeface="+mn-lt"/>
                <a:ea typeface="+mn-ea"/>
                <a:cs typeface="+mn-cs"/>
              </a:rPr>
              <a:t> \mid \theta) = \</a:t>
            </a:r>
            <a:r>
              <a:rPr lang="en-US" sz="1200" kern="1200" dirty="0" err="1">
                <a:solidFill>
                  <a:schemeClr val="tx1"/>
                </a:solidFill>
                <a:latin typeface="+mn-lt"/>
                <a:ea typeface="+mn-ea"/>
                <a:cs typeface="+mn-cs"/>
              </a:rPr>
              <a:t>theta_i</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endParaRPr lang="en-US" sz="120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p(X = </a:t>
            </a:r>
            <a:r>
              <a:rPr lang="en-US" sz="1200" kern="1200" dirty="0" err="1">
                <a:solidFill>
                  <a:schemeClr val="tx1"/>
                </a:solidFill>
                <a:latin typeface="+mn-lt"/>
                <a:ea typeface="+mn-ea"/>
                <a:cs typeface="+mn-cs"/>
              </a:rPr>
              <a:t>x_i</a:t>
            </a:r>
            <a:r>
              <a:rPr lang="en-US" sz="1200" kern="1200" dirty="0">
                <a:solidFill>
                  <a:schemeClr val="tx1"/>
                </a:solidFill>
                <a:latin typeface="+mn-lt"/>
                <a:ea typeface="+mn-ea"/>
                <a:cs typeface="+mn-cs"/>
              </a:rPr>
              <a:t> \mid \theta) = \</a:t>
            </a:r>
            <a:r>
              <a:rPr lang="en-US" sz="1200" kern="1200" dirty="0" err="1">
                <a:solidFill>
                  <a:schemeClr val="tx1"/>
                </a:solidFill>
                <a:latin typeface="+mn-lt"/>
                <a:ea typeface="+mn-ea"/>
                <a:cs typeface="+mn-cs"/>
              </a:rPr>
              <a:t>theta_i</a:t>
            </a:r>
            <a:endParaRPr lang="en-US" sz="1200" kern="1200" dirty="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x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x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{Categorical}(\theta)</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17</a:t>
            </a:fld>
            <a:endParaRPr lang="en-US"/>
          </a:p>
        </p:txBody>
      </p:sp>
    </p:spTree>
    <p:extLst>
      <p:ext uri="{BB962C8B-B14F-4D97-AF65-F5344CB8AC3E}">
        <p14:creationId xmlns:p14="http://schemas.microsoft.com/office/powerpoint/2010/main" val="3128158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p(X = </a:t>
            </a:r>
            <a:r>
              <a:rPr lang="en-US" sz="1200" kern="1200" dirty="0" err="1">
                <a:solidFill>
                  <a:schemeClr val="tx1"/>
                </a:solidFill>
                <a:latin typeface="+mn-lt"/>
                <a:ea typeface="+mn-ea"/>
                <a:cs typeface="+mn-cs"/>
              </a:rPr>
              <a:t>x_i</a:t>
            </a:r>
            <a:r>
              <a:rPr lang="en-US" sz="1200" kern="1200" dirty="0">
                <a:solidFill>
                  <a:schemeClr val="tx1"/>
                </a:solidFill>
                <a:latin typeface="+mn-lt"/>
                <a:ea typeface="+mn-ea"/>
                <a:cs typeface="+mn-cs"/>
              </a:rPr>
              <a:t> \mid \theta) = \</a:t>
            </a:r>
            <a:r>
              <a:rPr lang="en-US" sz="1200" kern="1200" dirty="0" err="1">
                <a:solidFill>
                  <a:schemeClr val="tx1"/>
                </a:solidFill>
                <a:latin typeface="+mn-lt"/>
                <a:ea typeface="+mn-ea"/>
                <a:cs typeface="+mn-cs"/>
              </a:rPr>
              <a:t>theta_i</a:t>
            </a:r>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 \{1,\</a:t>
            </a:r>
            <a:r>
              <a:rPr lang="en-US" sz="1200" kern="1200" dirty="0" err="1">
                <a:solidFill>
                  <a:schemeClr val="tx1"/>
                </a:solidFill>
                <a:latin typeface="+mn-lt"/>
                <a:ea typeface="+mn-ea"/>
                <a:cs typeface="+mn-cs"/>
              </a:rPr>
              <a:t>ldots,K</a:t>
            </a:r>
            <a:r>
              <a:rPr lang="en-US" sz="1200" kern="1200" dirty="0">
                <a:solidFill>
                  <a:schemeClr val="tx1"/>
                </a:solidFill>
                <a:latin typeface="+mn-lt"/>
                <a:ea typeface="+mn-ea"/>
                <a:cs typeface="+mn-cs"/>
              </a:rPr>
              <a:t>\}</a:t>
            </a:r>
          </a:p>
          <a:p>
            <a:endParaRPr lang="mr-IN" sz="1200" kern="1200" dirty="0">
              <a:solidFill>
                <a:schemeClr val="tx1"/>
              </a:solidFill>
              <a:latin typeface="+mn-lt"/>
              <a:ea typeface="+mn-ea"/>
              <a:cs typeface="+mn-cs"/>
            </a:endParaRPr>
          </a:p>
          <a:p>
            <a:r>
              <a:rPr lang="mr-IN" sz="1200" kern="1200" dirty="0">
                <a:solidFill>
                  <a:schemeClr val="tx1"/>
                </a:solidFill>
                <a:latin typeface="+mn-lt"/>
                <a:ea typeface="+mn-ea"/>
                <a:cs typeface="+mn-cs"/>
              </a:rPr>
              <a:t>Y_i = \mathbb{I}[X = i]</a:t>
            </a:r>
          </a:p>
          <a:p>
            <a:pPr marL="0" marR="0" indent="0" algn="l" defTabSz="457200" rtl="0" eaLnBrk="1" fontAlgn="auto" latinLnBrk="0" hangingPunct="1">
              <a:lnSpc>
                <a:spcPct val="100000"/>
              </a:lnSpc>
              <a:spcBef>
                <a:spcPts val="0"/>
              </a:spcBef>
              <a:spcAft>
                <a:spcPts val="0"/>
              </a:spcAft>
              <a:buClrTx/>
              <a:buSzTx/>
              <a:buFontTx/>
              <a:buNone/>
              <a:tabLst/>
              <a:defRPr/>
            </a:pPr>
            <a:r>
              <a:rPr lang="mr-IN" sz="1200" kern="1200" dirty="0">
                <a:solidFill>
                  <a:schemeClr val="tx1"/>
                </a:solidFill>
                <a:latin typeface="+mn-lt"/>
                <a:ea typeface="+mn-ea"/>
                <a:cs typeface="+mn-cs"/>
              </a:rPr>
              <a:t>Y\in \{0,1\}^K</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p(Y = y \mid \theta) = \prod_{</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=1}^K \</a:t>
            </a:r>
            <a:r>
              <a:rPr lang="en-US" sz="1200" kern="1200" dirty="0" err="1">
                <a:solidFill>
                  <a:schemeClr val="tx1"/>
                </a:solidFill>
                <a:latin typeface="+mn-lt"/>
                <a:ea typeface="+mn-ea"/>
                <a:cs typeface="+mn-cs"/>
              </a:rPr>
              <a:t>theta_i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y_i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19</a:t>
            </a:fld>
            <a:endParaRPr lang="en-US"/>
          </a:p>
        </p:txBody>
      </p:sp>
    </p:spTree>
    <p:extLst>
      <p:ext uri="{BB962C8B-B14F-4D97-AF65-F5344CB8AC3E}">
        <p14:creationId xmlns:p14="http://schemas.microsoft.com/office/powerpoint/2010/main" val="58789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p(X = </a:t>
            </a:r>
            <a:r>
              <a:rPr lang="en-US" sz="1200" kern="1200" dirty="0" err="1">
                <a:solidFill>
                  <a:schemeClr val="tx1"/>
                </a:solidFill>
                <a:latin typeface="+mn-lt"/>
                <a:ea typeface="+mn-ea"/>
                <a:cs typeface="+mn-cs"/>
              </a:rPr>
              <a:t>x_i</a:t>
            </a:r>
            <a:r>
              <a:rPr lang="en-US" sz="1200" kern="1200" dirty="0">
                <a:solidFill>
                  <a:schemeClr val="tx1"/>
                </a:solidFill>
                <a:latin typeface="+mn-lt"/>
                <a:ea typeface="+mn-ea"/>
                <a:cs typeface="+mn-cs"/>
              </a:rPr>
              <a:t> \mid \theta) = \</a:t>
            </a:r>
            <a:r>
              <a:rPr lang="en-US" sz="1200" kern="1200" dirty="0" err="1">
                <a:solidFill>
                  <a:schemeClr val="tx1"/>
                </a:solidFill>
                <a:latin typeface="+mn-lt"/>
                <a:ea typeface="+mn-ea"/>
                <a:cs typeface="+mn-cs"/>
              </a:rPr>
              <a:t>theta_i</a:t>
            </a:r>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\in \{1,\</a:t>
            </a:r>
            <a:r>
              <a:rPr lang="en-US" sz="1200" kern="1200" dirty="0" err="1">
                <a:solidFill>
                  <a:schemeClr val="tx1"/>
                </a:solidFill>
                <a:latin typeface="+mn-lt"/>
                <a:ea typeface="+mn-ea"/>
                <a:cs typeface="+mn-cs"/>
              </a:rPr>
              <a:t>ldots,K</a:t>
            </a:r>
            <a:r>
              <a:rPr lang="en-US" sz="1200" kern="1200" dirty="0">
                <a:solidFill>
                  <a:schemeClr val="tx1"/>
                </a:solidFill>
                <a:latin typeface="+mn-lt"/>
                <a:ea typeface="+mn-ea"/>
                <a:cs typeface="+mn-cs"/>
              </a:rPr>
              <a:t>\}</a:t>
            </a:r>
          </a:p>
          <a:p>
            <a:endParaRPr lang="mr-IN" sz="1200" kern="1200" dirty="0">
              <a:solidFill>
                <a:schemeClr val="tx1"/>
              </a:solidFill>
              <a:latin typeface="+mn-lt"/>
              <a:ea typeface="+mn-ea"/>
              <a:cs typeface="+mn-cs"/>
            </a:endParaRPr>
          </a:p>
          <a:p>
            <a:r>
              <a:rPr lang="mr-IN" sz="1200" kern="1200" dirty="0">
                <a:solidFill>
                  <a:schemeClr val="tx1"/>
                </a:solidFill>
                <a:latin typeface="+mn-lt"/>
                <a:ea typeface="+mn-ea"/>
                <a:cs typeface="+mn-cs"/>
              </a:rPr>
              <a:t>Y_i = \mathbb{I}[X = i]</a:t>
            </a:r>
          </a:p>
          <a:p>
            <a:pPr marL="0" marR="0" indent="0" algn="l" defTabSz="457200" rtl="0" eaLnBrk="1" fontAlgn="auto" latinLnBrk="0" hangingPunct="1">
              <a:lnSpc>
                <a:spcPct val="100000"/>
              </a:lnSpc>
              <a:spcBef>
                <a:spcPts val="0"/>
              </a:spcBef>
              <a:spcAft>
                <a:spcPts val="0"/>
              </a:spcAft>
              <a:buClrTx/>
              <a:buSzTx/>
              <a:buFontTx/>
              <a:buNone/>
              <a:tabLst/>
              <a:defRPr/>
            </a:pPr>
            <a:r>
              <a:rPr lang="mr-IN" sz="1200" kern="1200" dirty="0">
                <a:solidFill>
                  <a:schemeClr val="tx1"/>
                </a:solidFill>
                <a:latin typeface="+mn-lt"/>
                <a:ea typeface="+mn-ea"/>
                <a:cs typeface="+mn-cs"/>
              </a:rPr>
              <a:t>Y\in \{0,1\}^K</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p(Y = y \mid \theta) = \prod_{</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=1}^K \</a:t>
            </a:r>
            <a:r>
              <a:rPr lang="en-US" sz="1200" kern="1200" dirty="0" err="1">
                <a:solidFill>
                  <a:schemeClr val="tx1"/>
                </a:solidFill>
                <a:latin typeface="+mn-lt"/>
                <a:ea typeface="+mn-ea"/>
                <a:cs typeface="+mn-cs"/>
              </a:rPr>
              <a:t>theta_i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y_i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20</a:t>
            </a:fld>
            <a:endParaRPr lang="en-US"/>
          </a:p>
        </p:txBody>
      </p:sp>
    </p:spTree>
    <p:extLst>
      <p:ext uri="{BB962C8B-B14F-4D97-AF65-F5344CB8AC3E}">
        <p14:creationId xmlns:p14="http://schemas.microsoft.com/office/powerpoint/2010/main" val="587897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dirty="0" err="1"/>
              <a:t>permissions@acm.org</a:t>
            </a:r>
            <a:r>
              <a:rPr lang="en-US" dirty="0"/>
              <a:t> or fax (212) 869-0481.</a:t>
            </a:r>
          </a:p>
          <a:p>
            <a:endParaRPr lang="en-US" dirty="0"/>
          </a:p>
          <a:p>
            <a:r>
              <a:rPr lang="en-US" dirty="0"/>
              <a:t>The Digital Library is published by the Association for Computing Machinery. Copyright © 2012 ACM, Inc.</a:t>
            </a:r>
          </a:p>
        </p:txBody>
      </p:sp>
      <p:sp>
        <p:nvSpPr>
          <p:cNvPr id="4" name="Slide Number Placeholder 3"/>
          <p:cNvSpPr>
            <a:spLocks noGrp="1"/>
          </p:cNvSpPr>
          <p:nvPr>
            <p:ph type="sldNum" sz="quarter" idx="10"/>
          </p:nvPr>
        </p:nvSpPr>
        <p:spPr/>
        <p:txBody>
          <a:bodyPr/>
          <a:lstStyle/>
          <a:p>
            <a:fld id="{491B48C7-8E5C-9640-8445-8A9544EEA549}" type="slidenum">
              <a:rPr lang="en-US" smtClean="0"/>
              <a:t>27</a:t>
            </a:fld>
            <a:endParaRPr lang="en-US"/>
          </a:p>
        </p:txBody>
      </p:sp>
    </p:spTree>
    <p:extLst>
      <p:ext uri="{BB962C8B-B14F-4D97-AF65-F5344CB8AC3E}">
        <p14:creationId xmlns:p14="http://schemas.microsoft.com/office/powerpoint/2010/main" val="2045847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LDA1</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multinomial topic distribution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some distribution } p(\Theta)\\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For each position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in document:}\\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topic } </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b: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word } </a:t>
            </a:r>
            <a:r>
              <a:rPr lang="en-US" sz="1200" kern="1200" dirty="0" err="1">
                <a:solidFill>
                  <a:schemeClr val="tx1"/>
                </a:solidFill>
                <a:latin typeface="+mn-lt"/>
                <a:ea typeface="+mn-ea"/>
                <a:cs typeface="+mn-cs"/>
              </a:rPr>
              <a:t>w_i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{Multinomial}(\beta_{</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29</a:t>
            </a:fld>
            <a:endParaRPr lang="en-US"/>
          </a:p>
        </p:txBody>
      </p:sp>
    </p:spTree>
    <p:extLst>
      <p:ext uri="{BB962C8B-B14F-4D97-AF65-F5344CB8AC3E}">
        <p14:creationId xmlns:p14="http://schemas.microsoft.com/office/powerpoint/2010/main" val="3187766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dirichlet</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&amp;p(\Theta = \theta \mid \alpha)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{1}{B(\alpha)}\</a:t>
            </a:r>
            <a:r>
              <a:rPr lang="en-US" sz="1200" kern="1200" dirty="0" err="1">
                <a:solidFill>
                  <a:schemeClr val="tx1"/>
                </a:solidFill>
                <a:latin typeface="+mn-lt"/>
                <a:ea typeface="+mn-ea"/>
                <a:cs typeface="+mn-cs"/>
              </a:rPr>
              <a:t>prod_i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theta_i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alpha_i</a:t>
            </a:r>
            <a:r>
              <a:rPr lang="en-US" sz="1200" kern="1200" dirty="0">
                <a:solidFill>
                  <a:schemeClr val="tx1"/>
                </a:solidFill>
                <a:latin typeface="+mn-lt"/>
                <a:ea typeface="+mn-ea"/>
                <a:cs typeface="+mn-cs"/>
              </a:rPr>
              <a:t> - 1}\\</a:t>
            </a:r>
          </a:p>
          <a:p>
            <a:r>
              <a:rPr lang="en-US" sz="1200" kern="1200" dirty="0">
                <a:solidFill>
                  <a:schemeClr val="tx1"/>
                </a:solidFill>
                <a:latin typeface="+mn-lt"/>
                <a:ea typeface="+mn-ea"/>
                <a:cs typeface="+mn-cs"/>
              </a:rPr>
              <a:t>%&amp;\theta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32</a:t>
            </a:fld>
            <a:endParaRPr lang="en-US"/>
          </a:p>
        </p:txBody>
      </p:sp>
    </p:spTree>
    <p:extLst>
      <p:ext uri="{BB962C8B-B14F-4D97-AF65-F5344CB8AC3E}">
        <p14:creationId xmlns:p14="http://schemas.microsoft.com/office/powerpoint/2010/main" val="1302317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dirichlet</a:t>
            </a:r>
            <a:endParaRPr lang="en-US" sz="1200" kern="1200" dirty="0">
              <a:solidFill>
                <a:schemeClr val="tx1"/>
              </a:solidFill>
              <a:latin typeface="+mn-lt"/>
              <a:ea typeface="+mn-ea"/>
              <a:cs typeface="+mn-cs"/>
            </a:endParaRPr>
          </a:p>
          <a:p>
            <a:r>
              <a:rPr lang="en-US" sz="1200" kern="1200" dirty="0">
                <a:solidFill>
                  <a:schemeClr val="tx1"/>
                </a:solidFill>
                <a:latin typeface="+mn-lt"/>
                <a:ea typeface="+mn-ea"/>
                <a:cs typeface="+mn-cs"/>
              </a:rPr>
              <a:t>&amp;p(\Theta = \theta \mid \alpha) = \</a:t>
            </a:r>
            <a:r>
              <a:rPr lang="en-US" sz="1200" kern="1200" dirty="0" err="1">
                <a:solidFill>
                  <a:schemeClr val="tx1"/>
                </a:solidFill>
                <a:latin typeface="+mn-lt"/>
                <a:ea typeface="+mn-ea"/>
                <a:cs typeface="+mn-cs"/>
              </a:rPr>
              <a:t>frac</a:t>
            </a:r>
            <a:r>
              <a:rPr lang="en-US" sz="1200" kern="1200" dirty="0">
                <a:solidFill>
                  <a:schemeClr val="tx1"/>
                </a:solidFill>
                <a:latin typeface="+mn-lt"/>
                <a:ea typeface="+mn-ea"/>
                <a:cs typeface="+mn-cs"/>
              </a:rPr>
              <a:t>{1}{B(\alpha)}\</a:t>
            </a:r>
            <a:r>
              <a:rPr lang="en-US" sz="1200" kern="1200" dirty="0" err="1">
                <a:solidFill>
                  <a:schemeClr val="tx1"/>
                </a:solidFill>
                <a:latin typeface="+mn-lt"/>
                <a:ea typeface="+mn-ea"/>
                <a:cs typeface="+mn-cs"/>
              </a:rPr>
              <a:t>prod_i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theta_i</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alpha_i</a:t>
            </a:r>
            <a:r>
              <a:rPr lang="en-US" sz="1200" kern="1200" dirty="0">
                <a:solidFill>
                  <a:schemeClr val="tx1"/>
                </a:solidFill>
                <a:latin typeface="+mn-lt"/>
                <a:ea typeface="+mn-ea"/>
                <a:cs typeface="+mn-cs"/>
              </a:rPr>
              <a:t> - 1}\\</a:t>
            </a:r>
          </a:p>
          <a:p>
            <a:r>
              <a:rPr lang="en-US" sz="1200" kern="1200" dirty="0">
                <a:solidFill>
                  <a:schemeClr val="tx1"/>
                </a:solidFill>
                <a:latin typeface="+mn-lt"/>
                <a:ea typeface="+mn-ea"/>
                <a:cs typeface="+mn-cs"/>
              </a:rPr>
              <a:t>%&amp;\theta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33</a:t>
            </a:fld>
            <a:endParaRPr lang="en-US"/>
          </a:p>
        </p:txBody>
      </p:sp>
    </p:spTree>
    <p:extLst>
      <p:ext uri="{BB962C8B-B14F-4D97-AF65-F5344CB8AC3E}">
        <p14:creationId xmlns:p14="http://schemas.microsoft.com/office/powerpoint/2010/main" val="3511142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LDA1</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multinomial topic distribution } \theta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from some distribution } p(\Theta)\\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For each position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in document:}\\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topic } </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b: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word } </a:t>
            </a:r>
            <a:r>
              <a:rPr lang="en-US" sz="1200" kern="1200" dirty="0" err="1">
                <a:solidFill>
                  <a:schemeClr val="tx1"/>
                </a:solidFill>
                <a:latin typeface="+mn-lt"/>
                <a:ea typeface="+mn-ea"/>
                <a:cs typeface="+mn-cs"/>
              </a:rPr>
              <a:t>w_i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{Multinomial}(\beta_{</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36</a:t>
            </a:fld>
            <a:endParaRPr lang="en-US"/>
          </a:p>
        </p:txBody>
      </p:sp>
    </p:spTree>
    <p:extLst>
      <p:ext uri="{BB962C8B-B14F-4D97-AF65-F5344CB8AC3E}">
        <p14:creationId xmlns:p14="http://schemas.microsoft.com/office/powerpoint/2010/main" val="2829276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LDA2</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multinomial topic distribution } \theta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For each position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in document:}\\</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topic } </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b: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word } </a:t>
            </a:r>
            <a:r>
              <a:rPr lang="en-US" sz="1200" kern="1200" dirty="0" err="1">
                <a:solidFill>
                  <a:schemeClr val="tx1"/>
                </a:solidFill>
                <a:latin typeface="+mn-lt"/>
                <a:ea typeface="+mn-ea"/>
                <a:cs typeface="+mn-cs"/>
              </a:rPr>
              <a:t>w_i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{Multinomial}(\beta_{</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37</a:t>
            </a:fld>
            <a:endParaRPr lang="en-US"/>
          </a:p>
        </p:txBody>
      </p:sp>
    </p:spTree>
    <p:extLst>
      <p:ext uri="{BB962C8B-B14F-4D97-AF65-F5344CB8AC3E}">
        <p14:creationId xmlns:p14="http://schemas.microsoft.com/office/powerpoint/2010/main" val="947202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anlp</a:t>
            </a:r>
            <a:r>
              <a:rPr lang="en-US" sz="1200" kern="1200" dirty="0">
                <a:solidFill>
                  <a:schemeClr val="tx1"/>
                </a:solidFill>
                <a:latin typeface="+mn-lt"/>
                <a:ea typeface="+mn-ea"/>
                <a:cs typeface="+mn-cs"/>
              </a:rPr>
              <a:t>: LDA3</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{1: For each topic, draw a multinomial word distribution } \</a:t>
            </a:r>
            <a:r>
              <a:rPr lang="en-US" sz="1200" kern="1200" dirty="0" err="1">
                <a:solidFill>
                  <a:schemeClr val="tx1"/>
                </a:solidFill>
                <a:latin typeface="+mn-lt"/>
                <a:ea typeface="+mn-ea"/>
                <a:cs typeface="+mn-cs"/>
              </a:rPr>
              <a:t>beta_i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}(\psi)\\</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{2: For each document $d$:}\\</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multinomial topic distribution } \theta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Dirichlet</a:t>
            </a:r>
            <a:r>
              <a:rPr lang="en-US" sz="1200" kern="1200" dirty="0">
                <a:solidFill>
                  <a:schemeClr val="tx1"/>
                </a:solidFill>
                <a:latin typeface="+mn-lt"/>
                <a:ea typeface="+mn-ea"/>
                <a:cs typeface="+mn-cs"/>
              </a:rPr>
              <a:t>}(\alpha)\\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b: For each position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in document $d$:}\\</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i</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topic } </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{Multinomial}(\theta)\\</a:t>
            </a:r>
          </a:p>
          <a:p>
            <a:r>
              <a:rPr lang="en-US" sz="1200" kern="1200" dirty="0">
                <a:solidFill>
                  <a:schemeClr val="tx1"/>
                </a:solidFill>
                <a:latin typeface="+mn-lt"/>
                <a:ea typeface="+mn-ea"/>
                <a:cs typeface="+mn-cs"/>
              </a:rPr>
              <a:t>&amp;\:\:\:\:\</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    ii: }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{Draw a word } </a:t>
            </a:r>
            <a:r>
              <a:rPr lang="en-US" sz="1200" kern="1200" dirty="0" err="1">
                <a:solidFill>
                  <a:schemeClr val="tx1"/>
                </a:solidFill>
                <a:latin typeface="+mn-lt"/>
                <a:ea typeface="+mn-ea"/>
                <a:cs typeface="+mn-cs"/>
              </a:rPr>
              <a:t>w_i</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sim</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mbox</a:t>
            </a:r>
            <a:r>
              <a:rPr lang="en-US" sz="1200" kern="1200" dirty="0">
                <a:solidFill>
                  <a:schemeClr val="tx1"/>
                </a:solidFill>
                <a:latin typeface="+mn-lt"/>
                <a:ea typeface="+mn-ea"/>
                <a:cs typeface="+mn-cs"/>
              </a:rPr>
              <a:t>{Multinomial}(\beta_{</a:t>
            </a:r>
            <a:r>
              <a:rPr lang="en-US" sz="1200" kern="1200" dirty="0" err="1">
                <a:solidFill>
                  <a:schemeClr val="tx1"/>
                </a:solidFill>
                <a:latin typeface="+mn-lt"/>
                <a:ea typeface="+mn-ea"/>
                <a:cs typeface="+mn-cs"/>
              </a:rPr>
              <a:t>z_i</a:t>
            </a:r>
            <a:r>
              <a:rPr lang="en-US" sz="1200" kern="1200" dirty="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491B48C7-8E5C-9640-8445-8A9544EEA549}" type="slidenum">
              <a:rPr lang="en-US" smtClean="0"/>
              <a:t>38</a:t>
            </a:fld>
            <a:endParaRPr lang="en-US"/>
          </a:p>
        </p:txBody>
      </p:sp>
    </p:spTree>
    <p:extLst>
      <p:ext uri="{BB962C8B-B14F-4D97-AF65-F5344CB8AC3E}">
        <p14:creationId xmlns:p14="http://schemas.microsoft.com/office/powerpoint/2010/main" val="1356686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ACD7B2-AEA0-D043-916D-6794629D2DCA}" type="datetime1">
              <a:rPr lang="en-US" smtClean="0"/>
              <a:t>5/14/19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198139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8728-3264-AF4F-9CE5-FA0C8D0912D9}" type="datetime1">
              <a:rPr lang="en-US" smtClean="0"/>
              <a:t>5/14/19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26294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B400C-B81F-7045-98E0-E0086ED4BE98}" type="datetime1">
              <a:rPr lang="en-US" smtClean="0"/>
              <a:t>5/14/19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72745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9F1F27A-F732-8B4A-9B27-686442D49E4C}" type="datetime1">
              <a:rPr lang="en-US" smtClean="0"/>
              <a:t>5/14/19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72530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171ED0-786B-FC43-99CE-2369D6469C8C}" type="datetime1">
              <a:rPr lang="en-US" smtClean="0"/>
              <a:t>5/14/19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01431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F05BA2-5204-E043-BD0E-95E8A7C0A256}" type="datetime1">
              <a:rPr lang="en-US" smtClean="0"/>
              <a:t>5/14/19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67937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FB0B10-84AC-A845-8EBB-B973F6A52188}" type="datetime1">
              <a:rPr lang="en-US" smtClean="0"/>
              <a:t>5/14/19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35168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13713-D95F-9C47-88D3-6BB1CDB9F1E4}" type="datetime1">
              <a:rPr lang="en-US" smtClean="0"/>
              <a:t>5/14/19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270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66023A-8A28-1649-91E1-905AF24D9B1C}" type="datetime1">
              <a:rPr lang="en-US" smtClean="0"/>
              <a:t>5/14/19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86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1BA977-597A-F949-8426-B66CA967B053}" type="datetime1">
              <a:rPr lang="en-US" smtClean="0"/>
              <a:t>5/14/19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47859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614735-0AB7-1A46-9AC6-2D030CB4F2E1}" type="datetime1">
              <a:rPr lang="en-US" smtClean="0"/>
              <a:t>5/14/19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45985559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1398"/>
            <a:ext cx="8229600" cy="72683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073740"/>
            <a:ext cx="8229600" cy="5052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B2050-0557-6041-8605-A9AD7CC206C9}" type="datetime1">
              <a:rPr lang="en-US" smtClean="0"/>
              <a:t>5/14/19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F3AF9-2D61-8E40-AE3D-8390D801ED2C}" type="slidenum">
              <a:rPr lang="en-US" smtClean="0"/>
              <a:t>‹#›</a:t>
            </a:fld>
            <a:endParaRPr lang="en-US" dirty="0"/>
          </a:p>
        </p:txBody>
      </p:sp>
    </p:spTree>
    <p:extLst>
      <p:ext uri="{BB962C8B-B14F-4D97-AF65-F5344CB8AC3E}">
        <p14:creationId xmlns:p14="http://schemas.microsoft.com/office/powerpoint/2010/main" val="1996157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4" Type="http://schemas.openxmlformats.org/officeDocument/2006/relationships/image" Target="../media/image3.emf"/><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4" Type="http://schemas.openxmlformats.org/officeDocument/2006/relationships/image" Target="../media/image3.em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emf"/><Relationship Id="rId3"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4" Type="http://schemas.openxmlformats.org/officeDocument/2006/relationships/image" Target="../media/image5.emf"/><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4" Type="http://schemas.openxmlformats.org/officeDocument/2006/relationships/image" Target="../media/image5.emf"/><Relationship Id="rId5" Type="http://schemas.openxmlformats.org/officeDocument/2006/relationships/image" Target="../media/image6.emf"/><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4" Type="http://schemas.openxmlformats.org/officeDocument/2006/relationships/image" Target="../media/image5.emf"/><Relationship Id="rId1" Type="http://schemas.openxmlformats.org/officeDocument/2006/relationships/slideLayout" Target="../slideLayouts/slideLayout2.xml"/><Relationship Id="rId2" Type="http://schemas.openxmlformats.org/officeDocument/2006/relationships/image" Target="../media/image3.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4" Type="http://schemas.openxmlformats.org/officeDocument/2006/relationships/image" Target="../media/image10.emf"/><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5" Type="http://schemas.openxmlformats.org/officeDocument/2006/relationships/image" Target="../media/image13.emf"/><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4" Type="http://schemas.openxmlformats.org/officeDocument/2006/relationships/image" Target="../media/image15.emf"/><Relationship Id="rId5" Type="http://schemas.openxmlformats.org/officeDocument/2006/relationships/image" Target="../media/image12.emf"/><Relationship Id="rId6" Type="http://schemas.openxmlformats.org/officeDocument/2006/relationships/image" Target="../media/image16.emf"/><Relationship Id="rId7" Type="http://schemas.openxmlformats.org/officeDocument/2006/relationships/image" Target="../media/image11.emf"/><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4" Type="http://schemas.openxmlformats.org/officeDocument/2006/relationships/image" Target="../media/image15.emf"/><Relationship Id="rId5" Type="http://schemas.openxmlformats.org/officeDocument/2006/relationships/image" Target="../media/image12.emf"/><Relationship Id="rId6" Type="http://schemas.openxmlformats.org/officeDocument/2006/relationships/image" Target="../media/image16.emf"/><Relationship Id="rId7" Type="http://schemas.openxmlformats.org/officeDocument/2006/relationships/image" Target="../media/image11.emf"/><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emf"/><Relationship Id="rId3" Type="http://schemas.openxmlformats.org/officeDocument/2006/relationships/image" Target="../media/image2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emf"/></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4" Type="http://schemas.openxmlformats.org/officeDocument/2006/relationships/image" Target="../media/image24.emf"/><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3" Type="http://schemas.openxmlformats.org/officeDocument/2006/relationships/image" Target="../media/image23.emf"/><Relationship Id="rId4" Type="http://schemas.openxmlformats.org/officeDocument/2006/relationships/image" Target="../media/image25.emf"/><Relationship Id="rId5" Type="http://schemas.openxmlformats.org/officeDocument/2006/relationships/image" Target="../media/image24.emf"/><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90525"/>
            <a:ext cx="7772400" cy="1470025"/>
          </a:xfrm>
        </p:spPr>
        <p:txBody>
          <a:bodyPr>
            <a:normAutofit fontScale="90000"/>
          </a:bodyPr>
          <a:lstStyle/>
          <a:p>
            <a:r>
              <a:rPr lang="en-US" dirty="0"/>
              <a:t>TTIC 31210:</a:t>
            </a:r>
            <a:br>
              <a:rPr lang="en-US" dirty="0"/>
            </a:br>
            <a:r>
              <a:rPr lang="en-US" sz="4000" dirty="0"/>
              <a:t>Advanced Natural Language Processing</a:t>
            </a:r>
          </a:p>
        </p:txBody>
      </p:sp>
      <p:sp>
        <p:nvSpPr>
          <p:cNvPr id="3" name="Subtitle 2"/>
          <p:cNvSpPr>
            <a:spLocks noGrp="1"/>
          </p:cNvSpPr>
          <p:nvPr>
            <p:ph type="subTitle" idx="1"/>
          </p:nvPr>
        </p:nvSpPr>
        <p:spPr>
          <a:xfrm>
            <a:off x="317515" y="1993899"/>
            <a:ext cx="8555274" cy="4181067"/>
          </a:xfrm>
        </p:spPr>
        <p:txBody>
          <a:bodyPr>
            <a:normAutofit/>
          </a:bodyPr>
          <a:lstStyle/>
          <a:p>
            <a:r>
              <a:rPr lang="en-US" dirty="0">
                <a:solidFill>
                  <a:schemeClr val="tx1"/>
                </a:solidFill>
              </a:rPr>
              <a:t>Kevin Gimpel</a:t>
            </a:r>
          </a:p>
          <a:p>
            <a:r>
              <a:rPr lang="en-US" dirty="0">
                <a:solidFill>
                  <a:schemeClr val="tx1"/>
                </a:solidFill>
              </a:rPr>
              <a:t>Spring 2019</a:t>
            </a:r>
          </a:p>
          <a:p>
            <a:endParaRPr lang="en-US" dirty="0">
              <a:solidFill>
                <a:schemeClr val="tx1"/>
              </a:solidFill>
            </a:endParaRPr>
          </a:p>
          <a:p>
            <a:r>
              <a:rPr lang="en-US" sz="4000" dirty="0">
                <a:solidFill>
                  <a:schemeClr val="tx1"/>
                </a:solidFill>
              </a:rPr>
              <a:t>Lecture </a:t>
            </a:r>
            <a:r>
              <a:rPr lang="en-US" sz="4000" dirty="0" smtClean="0">
                <a:solidFill>
                  <a:schemeClr val="tx1"/>
                </a:solidFill>
              </a:rPr>
              <a:t>13:</a:t>
            </a:r>
            <a:endParaRPr lang="en-US" sz="4000" dirty="0">
              <a:solidFill>
                <a:schemeClr val="tx1"/>
              </a:solidFill>
            </a:endParaRPr>
          </a:p>
          <a:p>
            <a:r>
              <a:rPr lang="en-US" sz="4000" dirty="0">
                <a:solidFill>
                  <a:schemeClr val="tx1"/>
                </a:solidFill>
              </a:rPr>
              <a:t>Introduction to Bayesian NLP</a:t>
            </a:r>
          </a:p>
        </p:txBody>
      </p:sp>
      <p:sp>
        <p:nvSpPr>
          <p:cNvPr id="4" name="Slide Number Placeholder 3"/>
          <p:cNvSpPr>
            <a:spLocks noGrp="1"/>
          </p:cNvSpPr>
          <p:nvPr>
            <p:ph type="sldNum" sz="quarter" idx="12"/>
          </p:nvPr>
        </p:nvSpPr>
        <p:spPr/>
        <p:txBody>
          <a:bodyPr/>
          <a:lstStyle/>
          <a:p>
            <a:fld id="{3CFF3AF9-2D61-8E40-AE3D-8390D801ED2C}" type="slidenum">
              <a:rPr lang="en-US" smtClean="0"/>
              <a:t>1</a:t>
            </a:fld>
            <a:endParaRPr lang="en-US"/>
          </a:p>
        </p:txBody>
      </p:sp>
    </p:spTree>
    <p:extLst>
      <p:ext uri="{BB962C8B-B14F-4D97-AF65-F5344CB8AC3E}">
        <p14:creationId xmlns:p14="http://schemas.microsoft.com/office/powerpoint/2010/main" val="337682031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0"/>
            <a:ext cx="8567390" cy="5334029"/>
          </a:xfrm>
        </p:spPr>
        <p:txBody>
          <a:bodyPr>
            <a:noAutofit/>
          </a:bodyPr>
          <a:lstStyle/>
          <a:p>
            <a:r>
              <a:rPr lang="en-US" sz="2400" dirty="0">
                <a:solidFill>
                  <a:schemeClr val="bg1">
                    <a:lumMod val="65000"/>
                  </a:schemeClr>
                </a:solidFill>
              </a:rPr>
              <a:t>intro (1 lecture)</a:t>
            </a:r>
          </a:p>
          <a:p>
            <a:r>
              <a:rPr lang="en-US" sz="2400" dirty="0">
                <a:solidFill>
                  <a:schemeClr val="bg1">
                    <a:lumMod val="65000"/>
                  </a:schemeClr>
                </a:solidFill>
              </a:rPr>
              <a:t>deep learning for NLP (5 lectures)</a:t>
            </a:r>
          </a:p>
          <a:p>
            <a:r>
              <a:rPr lang="en-US" sz="2400" dirty="0">
                <a:solidFill>
                  <a:schemeClr val="bg1">
                    <a:lumMod val="65000"/>
                  </a:schemeClr>
                </a:solidFill>
              </a:rPr>
              <a:t>structured prediction (4.5 lectures)</a:t>
            </a:r>
          </a:p>
          <a:p>
            <a:r>
              <a:rPr lang="en-US" sz="2400" dirty="0">
                <a:solidFill>
                  <a:srgbClr val="A6A6A6"/>
                </a:solidFill>
              </a:rPr>
              <a:t>generative models, latent variables, unsupervised learning, variational </a:t>
            </a:r>
            <a:r>
              <a:rPr lang="en-US" sz="2400" dirty="0" err="1">
                <a:solidFill>
                  <a:srgbClr val="A6A6A6"/>
                </a:solidFill>
              </a:rPr>
              <a:t>autoencoders</a:t>
            </a:r>
            <a:r>
              <a:rPr lang="en-US" sz="2400" dirty="0">
                <a:solidFill>
                  <a:srgbClr val="A6A6A6"/>
                </a:solidFill>
              </a:rPr>
              <a:t> (1.5 lectures)</a:t>
            </a:r>
          </a:p>
          <a:p>
            <a:r>
              <a:rPr lang="en-US" sz="2400" b="1" dirty="0"/>
              <a:t>Bayesian methods in NLP (2 lectures)</a:t>
            </a:r>
          </a:p>
          <a:p>
            <a:r>
              <a:rPr lang="en-US" sz="2400" dirty="0"/>
              <a:t>Bayesian </a:t>
            </a:r>
            <a:r>
              <a:rPr lang="en-US" sz="2400" dirty="0" err="1"/>
              <a:t>nonparametrics</a:t>
            </a:r>
            <a:r>
              <a:rPr lang="en-US" sz="2400" dirty="0"/>
              <a:t> in NLP (2 lectures)</a:t>
            </a:r>
          </a:p>
          <a:p>
            <a:r>
              <a:rPr lang="en-US" sz="2400" dirty="0"/>
              <a:t>review &amp; other topics (1 lecture)</a:t>
            </a:r>
          </a:p>
        </p:txBody>
      </p:sp>
      <p:sp>
        <p:nvSpPr>
          <p:cNvPr id="4" name="Slide Number Placeholder 3"/>
          <p:cNvSpPr>
            <a:spLocks noGrp="1"/>
          </p:cNvSpPr>
          <p:nvPr>
            <p:ph type="sldNum" sz="quarter" idx="12"/>
          </p:nvPr>
        </p:nvSpPr>
        <p:spPr/>
        <p:txBody>
          <a:bodyPr/>
          <a:lstStyle/>
          <a:p>
            <a:fld id="{3CFF3AF9-2D61-8E40-AE3D-8390D801ED2C}" type="slidenum">
              <a:rPr lang="en-US" smtClean="0"/>
              <a:t>2</a:t>
            </a:fld>
            <a:endParaRPr lang="en-US"/>
          </a:p>
        </p:txBody>
      </p:sp>
    </p:spTree>
    <p:extLst>
      <p:ext uri="{BB962C8B-B14F-4D97-AF65-F5344CB8AC3E}">
        <p14:creationId xmlns:p14="http://schemas.microsoft.com/office/powerpoint/2010/main" val="3234553547"/>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Assignments</a:t>
            </a:r>
          </a:p>
        </p:txBody>
      </p:sp>
      <p:sp>
        <p:nvSpPr>
          <p:cNvPr id="3" name="Content Placeholder 2"/>
          <p:cNvSpPr>
            <a:spLocks noGrp="1"/>
          </p:cNvSpPr>
          <p:nvPr>
            <p:ph idx="1"/>
          </p:nvPr>
        </p:nvSpPr>
        <p:spPr>
          <a:xfrm>
            <a:off x="157340" y="1073740"/>
            <a:ext cx="8765747" cy="5052424"/>
          </a:xfrm>
        </p:spPr>
        <p:txBody>
          <a:bodyPr/>
          <a:lstStyle/>
          <a:p>
            <a:r>
              <a:rPr lang="en-US" dirty="0"/>
              <a:t>any questions about Assignment 3?</a:t>
            </a:r>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3</a:t>
            </a:fld>
            <a:endParaRPr lang="en-US"/>
          </a:p>
        </p:txBody>
      </p:sp>
    </p:spTree>
    <p:extLst>
      <p:ext uri="{BB962C8B-B14F-4D97-AF65-F5344CB8AC3E}">
        <p14:creationId xmlns:p14="http://schemas.microsoft.com/office/powerpoint/2010/main" val="278008703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Additional Reading</a:t>
            </a:r>
          </a:p>
        </p:txBody>
      </p:sp>
      <p:sp>
        <p:nvSpPr>
          <p:cNvPr id="3" name="Content Placeholder 2"/>
          <p:cNvSpPr>
            <a:spLocks noGrp="1"/>
          </p:cNvSpPr>
          <p:nvPr>
            <p:ph idx="1"/>
          </p:nvPr>
        </p:nvSpPr>
        <p:spPr>
          <a:xfrm>
            <a:off x="128351" y="1073740"/>
            <a:ext cx="4486882" cy="5052424"/>
          </a:xfrm>
        </p:spPr>
        <p:txBody>
          <a:bodyPr>
            <a:normAutofit lnSpcReduction="10000"/>
          </a:bodyPr>
          <a:lstStyle/>
          <a:p>
            <a:r>
              <a:rPr lang="en-US" dirty="0"/>
              <a:t>for this segment of the course, the optional text is Cohen (2016, 2019)</a:t>
            </a:r>
          </a:p>
          <a:p>
            <a:r>
              <a:rPr lang="en-US" dirty="0"/>
              <a:t>there is a copy of the second edition (2019) in the TTIC library</a:t>
            </a:r>
          </a:p>
          <a:p>
            <a:r>
              <a:rPr lang="en-US" dirty="0"/>
              <a:t>readings will be drawn from this book for the next few lectures</a:t>
            </a:r>
          </a:p>
        </p:txBody>
      </p:sp>
      <p:sp>
        <p:nvSpPr>
          <p:cNvPr id="4" name="Slide Number Placeholder 3"/>
          <p:cNvSpPr>
            <a:spLocks noGrp="1"/>
          </p:cNvSpPr>
          <p:nvPr>
            <p:ph type="sldNum" sz="quarter" idx="12"/>
          </p:nvPr>
        </p:nvSpPr>
        <p:spPr/>
        <p:txBody>
          <a:bodyPr/>
          <a:lstStyle/>
          <a:p>
            <a:fld id="{3CFF3AF9-2D61-8E40-AE3D-8390D801ED2C}" type="slidenum">
              <a:rPr lang="en-US" smtClean="0"/>
              <a:t>4</a:t>
            </a:fld>
            <a:endParaRPr lang="en-US"/>
          </a:p>
        </p:txBody>
      </p:sp>
      <p:pic>
        <p:nvPicPr>
          <p:cNvPr id="5" name="Picture 4"/>
          <p:cNvPicPr>
            <a:picLocks noChangeAspect="1"/>
          </p:cNvPicPr>
          <p:nvPr/>
        </p:nvPicPr>
        <p:blipFill>
          <a:blip r:embed="rId2"/>
          <a:stretch>
            <a:fillRect/>
          </a:stretch>
        </p:blipFill>
        <p:spPr>
          <a:xfrm>
            <a:off x="4658555" y="1100004"/>
            <a:ext cx="4236484" cy="5243173"/>
          </a:xfrm>
          <a:prstGeom prst="rect">
            <a:avLst/>
          </a:prstGeom>
        </p:spPr>
      </p:pic>
    </p:spTree>
    <p:extLst>
      <p:ext uri="{BB962C8B-B14F-4D97-AF65-F5344CB8AC3E}">
        <p14:creationId xmlns:p14="http://schemas.microsoft.com/office/powerpoint/2010/main" val="4099641440"/>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898229"/>
            <a:ext cx="8229600" cy="4220953"/>
          </a:xfrm>
        </p:spPr>
        <p:txBody>
          <a:bodyPr>
            <a:noAutofit/>
          </a:bodyPr>
          <a:lstStyle/>
          <a:p>
            <a:r>
              <a:rPr lang="en-US" dirty="0"/>
              <a:t>in most neural NLP, we assume parameters and architectures are fixed</a:t>
            </a:r>
          </a:p>
          <a:p>
            <a:r>
              <a:rPr lang="en-US" dirty="0"/>
              <a:t>consider a one-hidden-layer MLP:</a:t>
            </a:r>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5</a:t>
            </a:fld>
            <a:endParaRPr lang="en-US"/>
          </a:p>
        </p:txBody>
      </p:sp>
      <p:pic>
        <p:nvPicPr>
          <p:cNvPr id="6" name="Picture 5"/>
          <p:cNvPicPr>
            <a:picLocks noChangeAspect="1"/>
          </p:cNvPicPr>
          <p:nvPr/>
        </p:nvPicPr>
        <p:blipFill>
          <a:blip r:embed="rId3"/>
          <a:stretch>
            <a:fillRect/>
          </a:stretch>
        </p:blipFill>
        <p:spPr>
          <a:xfrm>
            <a:off x="1511300" y="2726394"/>
            <a:ext cx="6121400" cy="825500"/>
          </a:xfrm>
          <a:prstGeom prst="rect">
            <a:avLst/>
          </a:prstGeom>
        </p:spPr>
      </p:pic>
    </p:spTree>
    <p:extLst>
      <p:ext uri="{BB962C8B-B14F-4D97-AF65-F5344CB8AC3E}">
        <p14:creationId xmlns:p14="http://schemas.microsoft.com/office/powerpoint/2010/main" val="226515449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898229"/>
            <a:ext cx="8229600" cy="4220953"/>
          </a:xfrm>
        </p:spPr>
        <p:txBody>
          <a:bodyPr>
            <a:noAutofit/>
          </a:bodyPr>
          <a:lstStyle/>
          <a:p>
            <a:r>
              <a:rPr lang="en-US" dirty="0"/>
              <a:t>in most neural NLP, we assume parameters and architectures are fixed</a:t>
            </a:r>
          </a:p>
          <a:p>
            <a:r>
              <a:rPr lang="en-US" dirty="0"/>
              <a:t>consider a one-hidden-layer MLP:</a:t>
            </a:r>
          </a:p>
          <a:p>
            <a:endParaRPr lang="en-US" dirty="0"/>
          </a:p>
          <a:p>
            <a:pPr marL="0" indent="0">
              <a:buNone/>
            </a:pPr>
            <a:endParaRPr lang="en-US" dirty="0"/>
          </a:p>
          <a:p>
            <a:r>
              <a:rPr lang="en-US" dirty="0"/>
              <a:t>now let’s be more explicit about what we’re conditioning on:</a:t>
            </a:r>
          </a:p>
        </p:txBody>
      </p:sp>
      <p:sp>
        <p:nvSpPr>
          <p:cNvPr id="4" name="Slide Number Placeholder 3"/>
          <p:cNvSpPr>
            <a:spLocks noGrp="1"/>
          </p:cNvSpPr>
          <p:nvPr>
            <p:ph type="sldNum" sz="quarter" idx="12"/>
          </p:nvPr>
        </p:nvSpPr>
        <p:spPr/>
        <p:txBody>
          <a:bodyPr/>
          <a:lstStyle/>
          <a:p>
            <a:fld id="{3CFF3AF9-2D61-8E40-AE3D-8390D801ED2C}" type="slidenum">
              <a:rPr lang="en-US" smtClean="0"/>
              <a:t>6</a:t>
            </a:fld>
            <a:endParaRPr lang="en-US"/>
          </a:p>
        </p:txBody>
      </p:sp>
      <p:pic>
        <p:nvPicPr>
          <p:cNvPr id="6" name="Picture 5"/>
          <p:cNvPicPr>
            <a:picLocks noChangeAspect="1"/>
          </p:cNvPicPr>
          <p:nvPr/>
        </p:nvPicPr>
        <p:blipFill>
          <a:blip r:embed="rId3"/>
          <a:stretch>
            <a:fillRect/>
          </a:stretch>
        </p:blipFill>
        <p:spPr>
          <a:xfrm>
            <a:off x="1511300" y="2726394"/>
            <a:ext cx="6121400" cy="825500"/>
          </a:xfrm>
          <a:prstGeom prst="rect">
            <a:avLst/>
          </a:prstGeom>
        </p:spPr>
      </p:pic>
      <p:pic>
        <p:nvPicPr>
          <p:cNvPr id="7" name="Picture 6"/>
          <p:cNvPicPr>
            <a:picLocks noChangeAspect="1"/>
          </p:cNvPicPr>
          <p:nvPr/>
        </p:nvPicPr>
        <p:blipFill>
          <a:blip r:embed="rId4"/>
          <a:stretch>
            <a:fillRect/>
          </a:stretch>
        </p:blipFill>
        <p:spPr>
          <a:xfrm>
            <a:off x="444500" y="4926399"/>
            <a:ext cx="8255000" cy="825500"/>
          </a:xfrm>
          <a:prstGeom prst="rect">
            <a:avLst/>
          </a:prstGeom>
        </p:spPr>
      </p:pic>
    </p:spTree>
    <p:extLst>
      <p:ext uri="{BB962C8B-B14F-4D97-AF65-F5344CB8AC3E}">
        <p14:creationId xmlns:p14="http://schemas.microsoft.com/office/powerpoint/2010/main" val="3058329076"/>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898229"/>
            <a:ext cx="8229600" cy="4220953"/>
          </a:xfrm>
        </p:spPr>
        <p:txBody>
          <a:bodyPr>
            <a:noAutofit/>
          </a:bodyPr>
          <a:lstStyle/>
          <a:p>
            <a:r>
              <a:rPr lang="en-US" dirty="0"/>
              <a:t>in most neural NLP, we assume parameters and architectures are fixed</a:t>
            </a:r>
          </a:p>
          <a:p>
            <a:r>
              <a:rPr lang="en-US" dirty="0"/>
              <a:t>consider a one-hidden-layer MLP:</a:t>
            </a:r>
          </a:p>
          <a:p>
            <a:endParaRPr lang="en-US" dirty="0"/>
          </a:p>
          <a:p>
            <a:pPr marL="0" indent="0">
              <a:buNone/>
            </a:pPr>
            <a:endParaRPr lang="en-US" dirty="0"/>
          </a:p>
          <a:p>
            <a:r>
              <a:rPr lang="en-US" dirty="0"/>
              <a:t>now let’s be more explicit about what we’re conditioning on:</a:t>
            </a:r>
          </a:p>
        </p:txBody>
      </p:sp>
      <p:sp>
        <p:nvSpPr>
          <p:cNvPr id="4" name="Slide Number Placeholder 3"/>
          <p:cNvSpPr>
            <a:spLocks noGrp="1"/>
          </p:cNvSpPr>
          <p:nvPr>
            <p:ph type="sldNum" sz="quarter" idx="12"/>
          </p:nvPr>
        </p:nvSpPr>
        <p:spPr/>
        <p:txBody>
          <a:bodyPr/>
          <a:lstStyle/>
          <a:p>
            <a:fld id="{3CFF3AF9-2D61-8E40-AE3D-8390D801ED2C}" type="slidenum">
              <a:rPr lang="en-US" smtClean="0"/>
              <a:t>7</a:t>
            </a:fld>
            <a:endParaRPr lang="en-US"/>
          </a:p>
        </p:txBody>
      </p:sp>
      <p:pic>
        <p:nvPicPr>
          <p:cNvPr id="6" name="Picture 5"/>
          <p:cNvPicPr>
            <a:picLocks noChangeAspect="1"/>
          </p:cNvPicPr>
          <p:nvPr/>
        </p:nvPicPr>
        <p:blipFill>
          <a:blip r:embed="rId3"/>
          <a:stretch>
            <a:fillRect/>
          </a:stretch>
        </p:blipFill>
        <p:spPr>
          <a:xfrm>
            <a:off x="1511300" y="2726394"/>
            <a:ext cx="6121400" cy="825500"/>
          </a:xfrm>
          <a:prstGeom prst="rect">
            <a:avLst/>
          </a:prstGeom>
        </p:spPr>
      </p:pic>
      <p:pic>
        <p:nvPicPr>
          <p:cNvPr id="7" name="Picture 6"/>
          <p:cNvPicPr>
            <a:picLocks noChangeAspect="1"/>
          </p:cNvPicPr>
          <p:nvPr/>
        </p:nvPicPr>
        <p:blipFill>
          <a:blip r:embed="rId4"/>
          <a:stretch>
            <a:fillRect/>
          </a:stretch>
        </p:blipFill>
        <p:spPr>
          <a:xfrm>
            <a:off x="444500" y="4926399"/>
            <a:ext cx="8255000" cy="825500"/>
          </a:xfrm>
          <a:prstGeom prst="rect">
            <a:avLst/>
          </a:prstGeom>
        </p:spPr>
      </p:pic>
      <p:sp>
        <p:nvSpPr>
          <p:cNvPr id="8" name="TextBox 7"/>
          <p:cNvSpPr txBox="1"/>
          <p:nvPr/>
        </p:nvSpPr>
        <p:spPr>
          <a:xfrm>
            <a:off x="459191" y="5863875"/>
            <a:ext cx="8461571" cy="830997"/>
          </a:xfrm>
          <a:prstGeom prst="rect">
            <a:avLst/>
          </a:prstGeom>
          <a:noFill/>
        </p:spPr>
        <p:txBody>
          <a:bodyPr wrap="none" rtlCol="0">
            <a:spAutoFit/>
          </a:bodyPr>
          <a:lstStyle/>
          <a:p>
            <a:r>
              <a:rPr lang="en-US" sz="2400" dirty="0"/>
              <a:t>note: the notation above suggests that we can think of parameters </a:t>
            </a:r>
          </a:p>
          <a:p>
            <a:r>
              <a:rPr lang="en-US" sz="2400" dirty="0"/>
              <a:t>as random variables; this is not uncontroversial.</a:t>
            </a:r>
          </a:p>
        </p:txBody>
      </p:sp>
    </p:spTree>
    <p:extLst>
      <p:ext uri="{BB962C8B-B14F-4D97-AF65-F5344CB8AC3E}">
        <p14:creationId xmlns:p14="http://schemas.microsoft.com/office/powerpoint/2010/main" val="77439723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2491533"/>
            <a:ext cx="8229600" cy="4220953"/>
          </a:xfrm>
        </p:spPr>
        <p:txBody>
          <a:bodyPr>
            <a:noAutofit/>
          </a:bodyPr>
          <a:lstStyle/>
          <a:p>
            <a:r>
              <a:rPr lang="en-US" dirty="0"/>
              <a:t>how do we get back to                        ?</a:t>
            </a:r>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8</a:t>
            </a:fld>
            <a:endParaRPr lang="en-US"/>
          </a:p>
        </p:txBody>
      </p:sp>
      <p:pic>
        <p:nvPicPr>
          <p:cNvPr id="7" name="Picture 6"/>
          <p:cNvPicPr>
            <a:picLocks noChangeAspect="1"/>
          </p:cNvPicPr>
          <p:nvPr/>
        </p:nvPicPr>
        <p:blipFill>
          <a:blip r:embed="rId2"/>
          <a:stretch>
            <a:fillRect/>
          </a:stretch>
        </p:blipFill>
        <p:spPr>
          <a:xfrm>
            <a:off x="444500" y="1127424"/>
            <a:ext cx="8255000" cy="825500"/>
          </a:xfrm>
          <a:prstGeom prst="rect">
            <a:avLst/>
          </a:prstGeom>
        </p:spPr>
      </p:pic>
      <p:pic>
        <p:nvPicPr>
          <p:cNvPr id="5" name="Picture 4"/>
          <p:cNvPicPr>
            <a:picLocks noChangeAspect="1"/>
          </p:cNvPicPr>
          <p:nvPr/>
        </p:nvPicPr>
        <p:blipFill>
          <a:blip r:embed="rId3"/>
          <a:stretch>
            <a:fillRect/>
          </a:stretch>
        </p:blipFill>
        <p:spPr>
          <a:xfrm>
            <a:off x="4797462" y="2654481"/>
            <a:ext cx="1917700" cy="368300"/>
          </a:xfrm>
          <a:prstGeom prst="rect">
            <a:avLst/>
          </a:prstGeom>
        </p:spPr>
      </p:pic>
    </p:spTree>
    <p:extLst>
      <p:ext uri="{BB962C8B-B14F-4D97-AF65-F5344CB8AC3E}">
        <p14:creationId xmlns:p14="http://schemas.microsoft.com/office/powerpoint/2010/main" val="143853088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2491533"/>
            <a:ext cx="8229600" cy="4220953"/>
          </a:xfrm>
        </p:spPr>
        <p:txBody>
          <a:bodyPr>
            <a:noAutofit/>
          </a:bodyPr>
          <a:lstStyle/>
          <a:p>
            <a:r>
              <a:rPr lang="en-US" dirty="0"/>
              <a:t>how do we get back to                        ?</a:t>
            </a:r>
          </a:p>
          <a:p>
            <a:r>
              <a:rPr lang="en-US" dirty="0"/>
              <a:t>marginalize over new random variables:</a:t>
            </a:r>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9</a:t>
            </a:fld>
            <a:endParaRPr lang="en-US"/>
          </a:p>
        </p:txBody>
      </p:sp>
      <p:pic>
        <p:nvPicPr>
          <p:cNvPr id="7" name="Picture 6"/>
          <p:cNvPicPr>
            <a:picLocks noChangeAspect="1"/>
          </p:cNvPicPr>
          <p:nvPr/>
        </p:nvPicPr>
        <p:blipFill>
          <a:blip r:embed="rId2"/>
          <a:stretch>
            <a:fillRect/>
          </a:stretch>
        </p:blipFill>
        <p:spPr>
          <a:xfrm>
            <a:off x="444500" y="1127424"/>
            <a:ext cx="8255000" cy="825500"/>
          </a:xfrm>
          <a:prstGeom prst="rect">
            <a:avLst/>
          </a:prstGeom>
        </p:spPr>
      </p:pic>
      <p:pic>
        <p:nvPicPr>
          <p:cNvPr id="5" name="Picture 4"/>
          <p:cNvPicPr>
            <a:picLocks noChangeAspect="1"/>
          </p:cNvPicPr>
          <p:nvPr/>
        </p:nvPicPr>
        <p:blipFill>
          <a:blip r:embed="rId3"/>
          <a:stretch>
            <a:fillRect/>
          </a:stretch>
        </p:blipFill>
        <p:spPr>
          <a:xfrm>
            <a:off x="4797462" y="2654481"/>
            <a:ext cx="1917700" cy="368300"/>
          </a:xfrm>
          <a:prstGeom prst="rect">
            <a:avLst/>
          </a:prstGeom>
        </p:spPr>
      </p:pic>
      <p:pic>
        <p:nvPicPr>
          <p:cNvPr id="8" name="Picture 7"/>
          <p:cNvPicPr>
            <a:picLocks noChangeAspect="1"/>
          </p:cNvPicPr>
          <p:nvPr/>
        </p:nvPicPr>
        <p:blipFill>
          <a:blip r:embed="rId4"/>
          <a:stretch>
            <a:fillRect/>
          </a:stretch>
        </p:blipFill>
        <p:spPr>
          <a:xfrm>
            <a:off x="850900" y="3918478"/>
            <a:ext cx="7429500" cy="812800"/>
          </a:xfrm>
          <a:prstGeom prst="rect">
            <a:avLst/>
          </a:prstGeom>
        </p:spPr>
      </p:pic>
    </p:spTree>
    <p:extLst>
      <p:ext uri="{BB962C8B-B14F-4D97-AF65-F5344CB8AC3E}">
        <p14:creationId xmlns:p14="http://schemas.microsoft.com/office/powerpoint/2010/main" val="3321680511"/>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2491533"/>
            <a:ext cx="8229600" cy="4220953"/>
          </a:xfrm>
        </p:spPr>
        <p:txBody>
          <a:bodyPr>
            <a:noAutofit/>
          </a:bodyPr>
          <a:lstStyle/>
          <a:p>
            <a:r>
              <a:rPr lang="en-US" dirty="0"/>
              <a:t>how do we get back to                        ?</a:t>
            </a:r>
          </a:p>
          <a:p>
            <a:r>
              <a:rPr lang="en-US" dirty="0"/>
              <a:t>marginalize over new random variables:</a:t>
            </a:r>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10</a:t>
            </a:fld>
            <a:endParaRPr lang="en-US"/>
          </a:p>
        </p:txBody>
      </p:sp>
      <p:pic>
        <p:nvPicPr>
          <p:cNvPr id="7" name="Picture 6"/>
          <p:cNvPicPr>
            <a:picLocks noChangeAspect="1"/>
          </p:cNvPicPr>
          <p:nvPr/>
        </p:nvPicPr>
        <p:blipFill>
          <a:blip r:embed="rId2"/>
          <a:stretch>
            <a:fillRect/>
          </a:stretch>
        </p:blipFill>
        <p:spPr>
          <a:xfrm>
            <a:off x="444500" y="1127424"/>
            <a:ext cx="8255000" cy="825500"/>
          </a:xfrm>
          <a:prstGeom prst="rect">
            <a:avLst/>
          </a:prstGeom>
        </p:spPr>
      </p:pic>
      <p:pic>
        <p:nvPicPr>
          <p:cNvPr id="5" name="Picture 4"/>
          <p:cNvPicPr>
            <a:picLocks noChangeAspect="1"/>
          </p:cNvPicPr>
          <p:nvPr/>
        </p:nvPicPr>
        <p:blipFill>
          <a:blip r:embed="rId3"/>
          <a:stretch>
            <a:fillRect/>
          </a:stretch>
        </p:blipFill>
        <p:spPr>
          <a:xfrm>
            <a:off x="4797462" y="2654481"/>
            <a:ext cx="1917700" cy="368300"/>
          </a:xfrm>
          <a:prstGeom prst="rect">
            <a:avLst/>
          </a:prstGeom>
        </p:spPr>
      </p:pic>
      <p:pic>
        <p:nvPicPr>
          <p:cNvPr id="8" name="Picture 7"/>
          <p:cNvPicPr>
            <a:picLocks noChangeAspect="1"/>
          </p:cNvPicPr>
          <p:nvPr/>
        </p:nvPicPr>
        <p:blipFill>
          <a:blip r:embed="rId4"/>
          <a:stretch>
            <a:fillRect/>
          </a:stretch>
        </p:blipFill>
        <p:spPr>
          <a:xfrm>
            <a:off x="850900" y="3918478"/>
            <a:ext cx="7429500" cy="812800"/>
          </a:xfrm>
          <a:prstGeom prst="rect">
            <a:avLst/>
          </a:prstGeom>
        </p:spPr>
      </p:pic>
      <p:pic>
        <p:nvPicPr>
          <p:cNvPr id="9" name="Picture 8"/>
          <p:cNvPicPr>
            <a:picLocks noChangeAspect="1"/>
          </p:cNvPicPr>
          <p:nvPr/>
        </p:nvPicPr>
        <p:blipFill>
          <a:blip r:embed="rId5"/>
          <a:stretch>
            <a:fillRect/>
          </a:stretch>
        </p:blipFill>
        <p:spPr>
          <a:xfrm>
            <a:off x="376460" y="5215776"/>
            <a:ext cx="8699500" cy="274821"/>
          </a:xfrm>
          <a:prstGeom prst="rect">
            <a:avLst/>
          </a:prstGeom>
        </p:spPr>
      </p:pic>
    </p:spTree>
    <p:extLst>
      <p:ext uri="{BB962C8B-B14F-4D97-AF65-F5344CB8AC3E}">
        <p14:creationId xmlns:p14="http://schemas.microsoft.com/office/powerpoint/2010/main" val="4067721999"/>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a:t>Motivation</a:t>
            </a:r>
          </a:p>
        </p:txBody>
      </p:sp>
      <p:sp>
        <p:nvSpPr>
          <p:cNvPr id="3" name="Content Placeholder 2"/>
          <p:cNvSpPr>
            <a:spLocks noGrp="1"/>
          </p:cNvSpPr>
          <p:nvPr>
            <p:ph idx="1"/>
          </p:nvPr>
        </p:nvSpPr>
        <p:spPr>
          <a:xfrm>
            <a:off x="457200" y="2491533"/>
            <a:ext cx="8229600" cy="4220953"/>
          </a:xfrm>
        </p:spPr>
        <p:txBody>
          <a:bodyPr>
            <a:noAutofit/>
          </a:bodyPr>
          <a:lstStyle/>
          <a:p>
            <a:r>
              <a:rPr lang="en-US" dirty="0"/>
              <a:t>how do we get back to                        ?</a:t>
            </a:r>
          </a:p>
          <a:p>
            <a:r>
              <a:rPr lang="en-US" dirty="0"/>
              <a:t>marginalize over new random variables:</a:t>
            </a:r>
          </a:p>
          <a:p>
            <a:endParaRPr lang="en-US" dirty="0"/>
          </a:p>
          <a:p>
            <a:endParaRPr lang="en-US" dirty="0"/>
          </a:p>
          <a:p>
            <a:r>
              <a:rPr lang="en-US" dirty="0"/>
              <a:t>intuitively: don’t commit to a single set of parameter values; use them all (with a suitable prior distribution)</a:t>
            </a:r>
          </a:p>
          <a:p>
            <a:pPr marL="0" indent="0">
              <a:buNone/>
            </a:pP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11</a:t>
            </a:fld>
            <a:endParaRPr lang="en-US"/>
          </a:p>
        </p:txBody>
      </p:sp>
      <p:pic>
        <p:nvPicPr>
          <p:cNvPr id="7" name="Picture 6"/>
          <p:cNvPicPr>
            <a:picLocks noChangeAspect="1"/>
          </p:cNvPicPr>
          <p:nvPr/>
        </p:nvPicPr>
        <p:blipFill>
          <a:blip r:embed="rId2"/>
          <a:stretch>
            <a:fillRect/>
          </a:stretch>
        </p:blipFill>
        <p:spPr>
          <a:xfrm>
            <a:off x="444500" y="1127424"/>
            <a:ext cx="8255000" cy="825500"/>
          </a:xfrm>
          <a:prstGeom prst="rect">
            <a:avLst/>
          </a:prstGeom>
        </p:spPr>
      </p:pic>
      <p:pic>
        <p:nvPicPr>
          <p:cNvPr id="5" name="Picture 4"/>
          <p:cNvPicPr>
            <a:picLocks noChangeAspect="1"/>
          </p:cNvPicPr>
          <p:nvPr/>
        </p:nvPicPr>
        <p:blipFill>
          <a:blip r:embed="rId3"/>
          <a:stretch>
            <a:fillRect/>
          </a:stretch>
        </p:blipFill>
        <p:spPr>
          <a:xfrm>
            <a:off x="4797462" y="2654481"/>
            <a:ext cx="1917700" cy="368300"/>
          </a:xfrm>
          <a:prstGeom prst="rect">
            <a:avLst/>
          </a:prstGeom>
        </p:spPr>
      </p:pic>
      <p:pic>
        <p:nvPicPr>
          <p:cNvPr id="8" name="Picture 7"/>
          <p:cNvPicPr>
            <a:picLocks noChangeAspect="1"/>
          </p:cNvPicPr>
          <p:nvPr/>
        </p:nvPicPr>
        <p:blipFill>
          <a:blip r:embed="rId4"/>
          <a:stretch>
            <a:fillRect/>
          </a:stretch>
        </p:blipFill>
        <p:spPr>
          <a:xfrm>
            <a:off x="850900" y="3918478"/>
            <a:ext cx="7429500" cy="812800"/>
          </a:xfrm>
          <a:prstGeom prst="rect">
            <a:avLst/>
          </a:prstGeom>
        </p:spPr>
      </p:pic>
    </p:spTree>
    <p:extLst>
      <p:ext uri="{BB962C8B-B14F-4D97-AF65-F5344CB8AC3E}">
        <p14:creationId xmlns:p14="http://schemas.microsoft.com/office/powerpoint/2010/main" val="161741552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Going Further…</a:t>
            </a:r>
          </a:p>
        </p:txBody>
      </p:sp>
      <p:sp>
        <p:nvSpPr>
          <p:cNvPr id="3" name="Content Placeholder 2"/>
          <p:cNvSpPr>
            <a:spLocks noGrp="1"/>
          </p:cNvSpPr>
          <p:nvPr>
            <p:ph idx="1"/>
          </p:nvPr>
        </p:nvSpPr>
        <p:spPr>
          <a:xfrm>
            <a:off x="457200" y="1073740"/>
            <a:ext cx="8229600" cy="1772656"/>
          </a:xfrm>
        </p:spPr>
        <p:txBody>
          <a:bodyPr>
            <a:normAutofit/>
          </a:bodyPr>
          <a:lstStyle/>
          <a:p>
            <a:r>
              <a:rPr lang="en-US" dirty="0"/>
              <a:t>marginalize over architectures &amp; parameters:</a:t>
            </a:r>
          </a:p>
        </p:txBody>
      </p:sp>
      <p:sp>
        <p:nvSpPr>
          <p:cNvPr id="4" name="Slide Number Placeholder 3"/>
          <p:cNvSpPr>
            <a:spLocks noGrp="1"/>
          </p:cNvSpPr>
          <p:nvPr>
            <p:ph type="sldNum" sz="quarter" idx="12"/>
          </p:nvPr>
        </p:nvSpPr>
        <p:spPr/>
        <p:txBody>
          <a:bodyPr/>
          <a:lstStyle/>
          <a:p>
            <a:fld id="{3CFF3AF9-2D61-8E40-AE3D-8390D801ED2C}" type="slidenum">
              <a:rPr lang="en-US" smtClean="0"/>
              <a:t>12</a:t>
            </a:fld>
            <a:endParaRPr lang="en-US"/>
          </a:p>
        </p:txBody>
      </p:sp>
      <p:pic>
        <p:nvPicPr>
          <p:cNvPr id="6" name="Picture 5"/>
          <p:cNvPicPr>
            <a:picLocks noChangeAspect="1"/>
          </p:cNvPicPr>
          <p:nvPr/>
        </p:nvPicPr>
        <p:blipFill>
          <a:blip r:embed="rId2"/>
          <a:stretch>
            <a:fillRect/>
          </a:stretch>
        </p:blipFill>
        <p:spPr>
          <a:xfrm>
            <a:off x="101600" y="1963746"/>
            <a:ext cx="8940800" cy="1765300"/>
          </a:xfrm>
          <a:prstGeom prst="rect">
            <a:avLst/>
          </a:prstGeom>
        </p:spPr>
      </p:pic>
    </p:spTree>
    <p:extLst>
      <p:ext uri="{BB962C8B-B14F-4D97-AF65-F5344CB8AC3E}">
        <p14:creationId xmlns:p14="http://schemas.microsoft.com/office/powerpoint/2010/main" val="384711292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Going Further…</a:t>
            </a:r>
          </a:p>
        </p:txBody>
      </p:sp>
      <p:sp>
        <p:nvSpPr>
          <p:cNvPr id="3" name="Content Placeholder 2"/>
          <p:cNvSpPr>
            <a:spLocks noGrp="1"/>
          </p:cNvSpPr>
          <p:nvPr>
            <p:ph idx="1"/>
          </p:nvPr>
        </p:nvSpPr>
        <p:spPr>
          <a:xfrm>
            <a:off x="457200" y="1073740"/>
            <a:ext cx="8229600" cy="1772656"/>
          </a:xfrm>
        </p:spPr>
        <p:txBody>
          <a:bodyPr>
            <a:noAutofit/>
          </a:bodyPr>
          <a:lstStyle/>
          <a:p>
            <a:r>
              <a:rPr lang="en-US" dirty="0"/>
              <a:t>marginalize over architectures &amp; parameters:</a:t>
            </a:r>
          </a:p>
          <a:p>
            <a:endParaRPr lang="en-US" dirty="0"/>
          </a:p>
          <a:p>
            <a:endParaRPr lang="en-US" dirty="0"/>
          </a:p>
          <a:p>
            <a:endParaRPr lang="en-US" dirty="0"/>
          </a:p>
          <a:p>
            <a:endParaRPr lang="en-US" dirty="0"/>
          </a:p>
          <a:p>
            <a:r>
              <a:rPr lang="en-US" dirty="0"/>
              <a:t>the Bayesian framework gives us a vocabulary to discuss this kind of thing and methods for approximating these computations</a:t>
            </a:r>
          </a:p>
        </p:txBody>
      </p:sp>
      <p:sp>
        <p:nvSpPr>
          <p:cNvPr id="4" name="Slide Number Placeholder 3"/>
          <p:cNvSpPr>
            <a:spLocks noGrp="1"/>
          </p:cNvSpPr>
          <p:nvPr>
            <p:ph type="sldNum" sz="quarter" idx="12"/>
          </p:nvPr>
        </p:nvSpPr>
        <p:spPr/>
        <p:txBody>
          <a:bodyPr/>
          <a:lstStyle/>
          <a:p>
            <a:fld id="{3CFF3AF9-2D61-8E40-AE3D-8390D801ED2C}" type="slidenum">
              <a:rPr lang="en-US" smtClean="0"/>
              <a:t>13</a:t>
            </a:fld>
            <a:endParaRPr lang="en-US"/>
          </a:p>
        </p:txBody>
      </p:sp>
      <p:pic>
        <p:nvPicPr>
          <p:cNvPr id="6" name="Picture 5"/>
          <p:cNvPicPr>
            <a:picLocks noChangeAspect="1"/>
          </p:cNvPicPr>
          <p:nvPr/>
        </p:nvPicPr>
        <p:blipFill>
          <a:blip r:embed="rId3"/>
          <a:stretch>
            <a:fillRect/>
          </a:stretch>
        </p:blipFill>
        <p:spPr>
          <a:xfrm>
            <a:off x="101600" y="1963746"/>
            <a:ext cx="8940800" cy="1765300"/>
          </a:xfrm>
          <a:prstGeom prst="rect">
            <a:avLst/>
          </a:prstGeom>
        </p:spPr>
      </p:pic>
    </p:spTree>
    <p:extLst>
      <p:ext uri="{BB962C8B-B14F-4D97-AF65-F5344CB8AC3E}">
        <p14:creationId xmlns:p14="http://schemas.microsoft.com/office/powerpoint/2010/main" val="3866671658"/>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“Bayesian”?</a:t>
            </a:r>
          </a:p>
        </p:txBody>
      </p:sp>
      <p:sp>
        <p:nvSpPr>
          <p:cNvPr id="4" name="Slide Number Placeholder 3"/>
          <p:cNvSpPr>
            <a:spLocks noGrp="1"/>
          </p:cNvSpPr>
          <p:nvPr>
            <p:ph type="sldNum" sz="quarter" idx="12"/>
          </p:nvPr>
        </p:nvSpPr>
        <p:spPr/>
        <p:txBody>
          <a:bodyPr/>
          <a:lstStyle/>
          <a:p>
            <a:fld id="{3CFF3AF9-2D61-8E40-AE3D-8390D801ED2C}" type="slidenum">
              <a:rPr lang="en-US" smtClean="0"/>
              <a:t>14</a:t>
            </a:fld>
            <a:endParaRPr lang="en-US"/>
          </a:p>
        </p:txBody>
      </p:sp>
      <p:pic>
        <p:nvPicPr>
          <p:cNvPr id="5" name="Picture 4"/>
          <p:cNvPicPr>
            <a:picLocks noChangeAspect="1"/>
          </p:cNvPicPr>
          <p:nvPr/>
        </p:nvPicPr>
        <p:blipFill>
          <a:blip r:embed="rId2"/>
          <a:stretch>
            <a:fillRect/>
          </a:stretch>
        </p:blipFill>
        <p:spPr>
          <a:xfrm>
            <a:off x="1397000" y="1536700"/>
            <a:ext cx="6350000" cy="3784600"/>
          </a:xfrm>
          <a:prstGeom prst="rect">
            <a:avLst/>
          </a:prstGeom>
        </p:spPr>
      </p:pic>
    </p:spTree>
    <p:extLst>
      <p:ext uri="{BB962C8B-B14F-4D97-AF65-F5344CB8AC3E}">
        <p14:creationId xmlns:p14="http://schemas.microsoft.com/office/powerpoint/2010/main" val="400612975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Bayesian NLP</a:t>
            </a:r>
          </a:p>
        </p:txBody>
      </p:sp>
      <p:sp>
        <p:nvSpPr>
          <p:cNvPr id="3" name="Content Placeholder 2"/>
          <p:cNvSpPr>
            <a:spLocks noGrp="1"/>
          </p:cNvSpPr>
          <p:nvPr>
            <p:ph idx="1"/>
          </p:nvPr>
        </p:nvSpPr>
        <p:spPr/>
        <p:txBody>
          <a:bodyPr>
            <a:normAutofit/>
          </a:bodyPr>
          <a:lstStyle/>
          <a:p>
            <a:r>
              <a:rPr lang="en-US" dirty="0"/>
              <a:t>typically used with unsupervised learning:</a:t>
            </a:r>
          </a:p>
          <a:p>
            <a:pPr lvl="1"/>
            <a:r>
              <a:rPr lang="en-US" dirty="0"/>
              <a:t>we have data</a:t>
            </a:r>
          </a:p>
          <a:p>
            <a:pPr lvl="1"/>
            <a:r>
              <a:rPr lang="en-US" dirty="0"/>
              <a:t>we hypothesize some latent variables through which the data are generated</a:t>
            </a:r>
          </a:p>
          <a:p>
            <a:pPr lvl="1"/>
            <a:r>
              <a:rPr lang="en-US" dirty="0"/>
              <a:t>we define the “generative story” that describes how latent variables are generated, then how data is generated using latent variables</a:t>
            </a:r>
          </a:p>
          <a:p>
            <a:pPr lvl="1"/>
            <a:r>
              <a:rPr lang="en-US" b="1" dirty="0"/>
              <a:t>new</a:t>
            </a:r>
            <a:r>
              <a:rPr lang="en-US" dirty="0"/>
              <a:t>: we parameterize the distributions &amp; add the parameters themselves to the generative story</a:t>
            </a:r>
          </a:p>
        </p:txBody>
      </p:sp>
      <p:sp>
        <p:nvSpPr>
          <p:cNvPr id="4" name="Slide Number Placeholder 3"/>
          <p:cNvSpPr>
            <a:spLocks noGrp="1"/>
          </p:cNvSpPr>
          <p:nvPr>
            <p:ph type="sldNum" sz="quarter" idx="12"/>
          </p:nvPr>
        </p:nvSpPr>
        <p:spPr/>
        <p:txBody>
          <a:bodyPr/>
          <a:lstStyle/>
          <a:p>
            <a:fld id="{3CFF3AF9-2D61-8E40-AE3D-8390D801ED2C}" type="slidenum">
              <a:rPr lang="en-US" smtClean="0"/>
              <a:t>15</a:t>
            </a:fld>
            <a:endParaRPr lang="en-US"/>
          </a:p>
        </p:txBody>
      </p:sp>
    </p:spTree>
    <p:extLst>
      <p:ext uri="{BB962C8B-B14F-4D97-AF65-F5344CB8AC3E}">
        <p14:creationId xmlns:p14="http://schemas.microsoft.com/office/powerpoint/2010/main" val="105446632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Template</a:t>
            </a:r>
          </a:p>
        </p:txBody>
      </p:sp>
      <p:sp>
        <p:nvSpPr>
          <p:cNvPr id="4" name="Slide Number Placeholder 3"/>
          <p:cNvSpPr>
            <a:spLocks noGrp="1"/>
          </p:cNvSpPr>
          <p:nvPr>
            <p:ph type="sldNum" sz="quarter" idx="12"/>
          </p:nvPr>
        </p:nvSpPr>
        <p:spPr/>
        <p:txBody>
          <a:bodyPr/>
          <a:lstStyle/>
          <a:p>
            <a:fld id="{3CFF3AF9-2D61-8E40-AE3D-8390D801ED2C}" type="slidenum">
              <a:rPr lang="en-US" smtClean="0"/>
              <a:t>16</a:t>
            </a:fld>
            <a:endParaRPr lang="en-US"/>
          </a:p>
        </p:txBody>
      </p:sp>
      <p:pic>
        <p:nvPicPr>
          <p:cNvPr id="6" name="Picture 5"/>
          <p:cNvPicPr>
            <a:picLocks noChangeAspect="1"/>
          </p:cNvPicPr>
          <p:nvPr/>
        </p:nvPicPr>
        <p:blipFill>
          <a:blip r:embed="rId3"/>
          <a:stretch>
            <a:fillRect/>
          </a:stretch>
        </p:blipFill>
        <p:spPr>
          <a:xfrm>
            <a:off x="1591971" y="4785989"/>
            <a:ext cx="5934896" cy="437944"/>
          </a:xfrm>
          <a:prstGeom prst="rect">
            <a:avLst/>
          </a:prstGeom>
        </p:spPr>
      </p:pic>
      <p:pic>
        <p:nvPicPr>
          <p:cNvPr id="7" name="Picture 6"/>
          <p:cNvPicPr>
            <a:picLocks noChangeAspect="1"/>
          </p:cNvPicPr>
          <p:nvPr/>
        </p:nvPicPr>
        <p:blipFill>
          <a:blip r:embed="rId4"/>
          <a:stretch>
            <a:fillRect/>
          </a:stretch>
        </p:blipFill>
        <p:spPr>
          <a:xfrm>
            <a:off x="1104900" y="1270000"/>
            <a:ext cx="6921500" cy="1435100"/>
          </a:xfrm>
          <a:prstGeom prst="rect">
            <a:avLst/>
          </a:prstGeom>
        </p:spPr>
      </p:pic>
      <p:sp>
        <p:nvSpPr>
          <p:cNvPr id="8" name="TextBox 7"/>
          <p:cNvSpPr txBox="1"/>
          <p:nvPr/>
        </p:nvSpPr>
        <p:spPr>
          <a:xfrm>
            <a:off x="611249" y="3239972"/>
            <a:ext cx="8041688" cy="1077218"/>
          </a:xfrm>
          <a:prstGeom prst="rect">
            <a:avLst/>
          </a:prstGeom>
          <a:noFill/>
        </p:spPr>
        <p:txBody>
          <a:bodyPr wrap="square" rtlCol="0">
            <a:spAutoFit/>
          </a:bodyPr>
          <a:lstStyle/>
          <a:p>
            <a:r>
              <a:rPr lang="en-US" sz="3200" dirty="0">
                <a:solidFill>
                  <a:srgbClr val="288CD2"/>
                </a:solidFill>
              </a:rPr>
              <a:t>the above generative story implies the following factorization of the joint distribution:</a:t>
            </a:r>
          </a:p>
        </p:txBody>
      </p:sp>
    </p:spTree>
    <p:extLst>
      <p:ext uri="{BB962C8B-B14F-4D97-AF65-F5344CB8AC3E}">
        <p14:creationId xmlns:p14="http://schemas.microsoft.com/office/powerpoint/2010/main" val="94141179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Categorical Distribution</a:t>
            </a:r>
          </a:p>
        </p:txBody>
      </p:sp>
      <p:sp>
        <p:nvSpPr>
          <p:cNvPr id="3" name="Content Placeholder 2"/>
          <p:cNvSpPr>
            <a:spLocks noGrp="1"/>
          </p:cNvSpPr>
          <p:nvPr>
            <p:ph idx="1"/>
          </p:nvPr>
        </p:nvSpPr>
        <p:spPr>
          <a:xfrm>
            <a:off x="457200" y="1073740"/>
            <a:ext cx="8229600" cy="3927298"/>
          </a:xfrm>
        </p:spPr>
        <p:txBody>
          <a:bodyPr>
            <a:normAutofit/>
          </a:bodyPr>
          <a:lstStyle/>
          <a:p>
            <a:r>
              <a:rPr lang="en-US" dirty="0"/>
              <a:t>parameterized by a vector of probabilities, one for drawing each outcome</a:t>
            </a:r>
          </a:p>
          <a:p>
            <a:r>
              <a:rPr lang="en-US" dirty="0"/>
              <a:t>i.e., prob. of drawing outcome </a:t>
            </a:r>
            <a:r>
              <a:rPr lang="en-US" i="1" dirty="0" err="1"/>
              <a:t>i</a:t>
            </a:r>
            <a:r>
              <a:rPr lang="en-US" dirty="0"/>
              <a:t> for variable </a:t>
            </a:r>
            <a:r>
              <a:rPr lang="en-US" i="1" dirty="0"/>
              <a:t>X</a:t>
            </a:r>
            <a:r>
              <a:rPr lang="en-US" dirty="0"/>
              <a:t>:</a:t>
            </a:r>
          </a:p>
          <a:p>
            <a:endParaRPr lang="en-US" dirty="0"/>
          </a:p>
          <a:p>
            <a:endParaRPr lang="en-US" sz="2000" dirty="0"/>
          </a:p>
          <a:p>
            <a:r>
              <a:rPr lang="en-US" dirty="0"/>
              <a:t>when we want to draw from this distribution, we will write:</a:t>
            </a:r>
          </a:p>
        </p:txBody>
      </p:sp>
      <p:sp>
        <p:nvSpPr>
          <p:cNvPr id="4" name="Slide Number Placeholder 3"/>
          <p:cNvSpPr>
            <a:spLocks noGrp="1"/>
          </p:cNvSpPr>
          <p:nvPr>
            <p:ph type="sldNum" sz="quarter" idx="12"/>
          </p:nvPr>
        </p:nvSpPr>
        <p:spPr/>
        <p:txBody>
          <a:bodyPr/>
          <a:lstStyle/>
          <a:p>
            <a:fld id="{3CFF3AF9-2D61-8E40-AE3D-8390D801ED2C}" type="slidenum">
              <a:rPr lang="en-US" smtClean="0"/>
              <a:t>17</a:t>
            </a:fld>
            <a:endParaRPr lang="en-US"/>
          </a:p>
        </p:txBody>
      </p:sp>
      <p:pic>
        <p:nvPicPr>
          <p:cNvPr id="8" name="Picture 7"/>
          <p:cNvPicPr>
            <a:picLocks noChangeAspect="1"/>
          </p:cNvPicPr>
          <p:nvPr/>
        </p:nvPicPr>
        <p:blipFill>
          <a:blip r:embed="rId3"/>
          <a:stretch>
            <a:fillRect/>
          </a:stretch>
        </p:blipFill>
        <p:spPr>
          <a:xfrm>
            <a:off x="2209800" y="3054350"/>
            <a:ext cx="2794000" cy="368300"/>
          </a:xfrm>
          <a:prstGeom prst="rect">
            <a:avLst/>
          </a:prstGeom>
        </p:spPr>
      </p:pic>
      <p:pic>
        <p:nvPicPr>
          <p:cNvPr id="10" name="Picture 9"/>
          <p:cNvPicPr>
            <a:picLocks noChangeAspect="1"/>
          </p:cNvPicPr>
          <p:nvPr/>
        </p:nvPicPr>
        <p:blipFill>
          <a:blip r:embed="rId4"/>
          <a:stretch>
            <a:fillRect/>
          </a:stretch>
        </p:blipFill>
        <p:spPr>
          <a:xfrm>
            <a:off x="6096000" y="3054350"/>
            <a:ext cx="2184400" cy="368300"/>
          </a:xfrm>
          <a:prstGeom prst="rect">
            <a:avLst/>
          </a:prstGeom>
        </p:spPr>
      </p:pic>
      <p:pic>
        <p:nvPicPr>
          <p:cNvPr id="5" name="Picture 4"/>
          <p:cNvPicPr>
            <a:picLocks noChangeAspect="1"/>
          </p:cNvPicPr>
          <p:nvPr/>
        </p:nvPicPr>
        <p:blipFill>
          <a:blip r:embed="rId5"/>
          <a:stretch>
            <a:fillRect/>
          </a:stretch>
        </p:blipFill>
        <p:spPr>
          <a:xfrm>
            <a:off x="3004549" y="5099785"/>
            <a:ext cx="3091451" cy="397166"/>
          </a:xfrm>
          <a:prstGeom prst="rect">
            <a:avLst/>
          </a:prstGeom>
        </p:spPr>
      </p:pic>
    </p:spTree>
    <p:extLst>
      <p:ext uri="{BB962C8B-B14F-4D97-AF65-F5344CB8AC3E}">
        <p14:creationId xmlns:p14="http://schemas.microsoft.com/office/powerpoint/2010/main" val="386931520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Categorical vs. Multinomial</a:t>
            </a:r>
          </a:p>
        </p:txBody>
      </p:sp>
      <p:sp>
        <p:nvSpPr>
          <p:cNvPr id="3" name="Content Placeholder 2"/>
          <p:cNvSpPr>
            <a:spLocks noGrp="1"/>
          </p:cNvSpPr>
          <p:nvPr>
            <p:ph idx="1"/>
          </p:nvPr>
        </p:nvSpPr>
        <p:spPr/>
        <p:txBody>
          <a:bodyPr/>
          <a:lstStyle/>
          <a:p>
            <a:r>
              <a:rPr lang="en-US" dirty="0"/>
              <a:t>“multinomial” is used frequently to mean  categorical in this literature, so we’ll use them interchangeably</a:t>
            </a:r>
          </a:p>
          <a:p>
            <a:endParaRPr lang="en-US" dirty="0"/>
          </a:p>
          <a:p>
            <a:r>
              <a:rPr lang="en-US" dirty="0"/>
              <a:t>a multinomial is actually more general (permits more than 1 instance of an event)</a:t>
            </a:r>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18</a:t>
            </a:fld>
            <a:endParaRPr lang="en-US"/>
          </a:p>
        </p:txBody>
      </p:sp>
    </p:spTree>
    <p:extLst>
      <p:ext uri="{BB962C8B-B14F-4D97-AF65-F5344CB8AC3E}">
        <p14:creationId xmlns:p14="http://schemas.microsoft.com/office/powerpoint/2010/main" val="2816723787"/>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Vector Form of Categorical Distribution</a:t>
            </a:r>
          </a:p>
        </p:txBody>
      </p:sp>
      <p:sp>
        <p:nvSpPr>
          <p:cNvPr id="3" name="Content Placeholder 2"/>
          <p:cNvSpPr>
            <a:spLocks noGrp="1"/>
          </p:cNvSpPr>
          <p:nvPr>
            <p:ph idx="1"/>
          </p:nvPr>
        </p:nvSpPr>
        <p:spPr>
          <a:xfrm>
            <a:off x="457200" y="1134534"/>
            <a:ext cx="8229600" cy="4991630"/>
          </a:xfrm>
        </p:spPr>
        <p:txBody>
          <a:bodyPr/>
          <a:lstStyle/>
          <a:p>
            <a:r>
              <a:rPr lang="en-US" dirty="0"/>
              <a:t>form we saw earlier:</a:t>
            </a:r>
          </a:p>
          <a:p>
            <a:endParaRPr lang="en-US" dirty="0"/>
          </a:p>
          <a:p>
            <a:endParaRPr lang="en-US" dirty="0"/>
          </a:p>
          <a:p>
            <a:r>
              <a:rPr lang="en-US" dirty="0"/>
              <a:t>we can also write the categorical distribution as a (one-hot) vector random variable </a:t>
            </a:r>
            <a:r>
              <a:rPr lang="en-US" i="1" dirty="0"/>
              <a:t>Y</a:t>
            </a:r>
            <a:r>
              <a:rPr lang="en-US" dirty="0"/>
              <a:t>:</a:t>
            </a:r>
          </a:p>
        </p:txBody>
      </p:sp>
      <p:sp>
        <p:nvSpPr>
          <p:cNvPr id="4" name="Slide Number Placeholder 3"/>
          <p:cNvSpPr>
            <a:spLocks noGrp="1"/>
          </p:cNvSpPr>
          <p:nvPr>
            <p:ph type="sldNum" sz="quarter" idx="12"/>
          </p:nvPr>
        </p:nvSpPr>
        <p:spPr/>
        <p:txBody>
          <a:bodyPr/>
          <a:lstStyle/>
          <a:p>
            <a:fld id="{3CFF3AF9-2D61-8E40-AE3D-8390D801ED2C}" type="slidenum">
              <a:rPr lang="en-US" smtClean="0"/>
              <a:t>19</a:t>
            </a:fld>
            <a:endParaRPr lang="en-US"/>
          </a:p>
        </p:txBody>
      </p:sp>
      <p:pic>
        <p:nvPicPr>
          <p:cNvPr id="5" name="Picture 4"/>
          <p:cNvPicPr>
            <a:picLocks noChangeAspect="1"/>
          </p:cNvPicPr>
          <p:nvPr/>
        </p:nvPicPr>
        <p:blipFill>
          <a:blip r:embed="rId3"/>
          <a:stretch>
            <a:fillRect/>
          </a:stretch>
        </p:blipFill>
        <p:spPr>
          <a:xfrm>
            <a:off x="1930400" y="4377267"/>
            <a:ext cx="2006600" cy="368300"/>
          </a:xfrm>
          <a:prstGeom prst="rect">
            <a:avLst/>
          </a:prstGeom>
        </p:spPr>
      </p:pic>
      <p:pic>
        <p:nvPicPr>
          <p:cNvPr id="6" name="Picture 5"/>
          <p:cNvPicPr>
            <a:picLocks noChangeAspect="1"/>
          </p:cNvPicPr>
          <p:nvPr/>
        </p:nvPicPr>
        <p:blipFill>
          <a:blip r:embed="rId4"/>
          <a:stretch>
            <a:fillRect/>
          </a:stretch>
        </p:blipFill>
        <p:spPr>
          <a:xfrm>
            <a:off x="5128440" y="4338779"/>
            <a:ext cx="1828800" cy="419100"/>
          </a:xfrm>
          <a:prstGeom prst="rect">
            <a:avLst/>
          </a:prstGeom>
        </p:spPr>
      </p:pic>
      <p:pic>
        <p:nvPicPr>
          <p:cNvPr id="7" name="Picture 6"/>
          <p:cNvPicPr>
            <a:picLocks noChangeAspect="1"/>
          </p:cNvPicPr>
          <p:nvPr/>
        </p:nvPicPr>
        <p:blipFill>
          <a:blip r:embed="rId5"/>
          <a:stretch>
            <a:fillRect/>
          </a:stretch>
        </p:blipFill>
        <p:spPr>
          <a:xfrm>
            <a:off x="4953000" y="2084910"/>
            <a:ext cx="2184400" cy="368300"/>
          </a:xfrm>
          <a:prstGeom prst="rect">
            <a:avLst/>
          </a:prstGeom>
        </p:spPr>
      </p:pic>
      <p:pic>
        <p:nvPicPr>
          <p:cNvPr id="8" name="Picture 7"/>
          <p:cNvPicPr>
            <a:picLocks noChangeAspect="1"/>
          </p:cNvPicPr>
          <p:nvPr/>
        </p:nvPicPr>
        <p:blipFill rotWithShape="1">
          <a:blip r:embed="rId6"/>
          <a:srcRect r="31827"/>
          <a:stretch/>
        </p:blipFill>
        <p:spPr>
          <a:xfrm>
            <a:off x="2719251" y="5129796"/>
            <a:ext cx="2233749" cy="1054100"/>
          </a:xfrm>
          <a:prstGeom prst="rect">
            <a:avLst/>
          </a:prstGeom>
        </p:spPr>
      </p:pic>
      <p:pic>
        <p:nvPicPr>
          <p:cNvPr id="9" name="Picture 8"/>
          <p:cNvPicPr>
            <a:picLocks noChangeAspect="1"/>
          </p:cNvPicPr>
          <p:nvPr/>
        </p:nvPicPr>
        <p:blipFill>
          <a:blip r:embed="rId7"/>
          <a:stretch>
            <a:fillRect/>
          </a:stretch>
        </p:blipFill>
        <p:spPr>
          <a:xfrm>
            <a:off x="1566333" y="2084910"/>
            <a:ext cx="2794000" cy="368300"/>
          </a:xfrm>
          <a:prstGeom prst="rect">
            <a:avLst/>
          </a:prstGeom>
        </p:spPr>
      </p:pic>
      <p:sp>
        <p:nvSpPr>
          <p:cNvPr id="10" name="TextBox 9"/>
          <p:cNvSpPr txBox="1"/>
          <p:nvPr/>
        </p:nvSpPr>
        <p:spPr>
          <a:xfrm>
            <a:off x="5087384" y="5272900"/>
            <a:ext cx="814855" cy="646331"/>
          </a:xfrm>
          <a:prstGeom prst="rect">
            <a:avLst/>
          </a:prstGeom>
          <a:noFill/>
        </p:spPr>
        <p:txBody>
          <a:bodyPr wrap="square" rtlCol="0">
            <a:spAutoFit/>
          </a:bodyPr>
          <a:lstStyle/>
          <a:p>
            <a:r>
              <a:rPr lang="en-US" sz="3600" dirty="0" smtClean="0">
                <a:solidFill>
                  <a:srgbClr val="288CD2"/>
                </a:solidFill>
              </a:rPr>
              <a:t>?</a:t>
            </a:r>
            <a:endParaRPr lang="en-US" sz="3600" dirty="0">
              <a:solidFill>
                <a:srgbClr val="288CD2"/>
              </a:solidFill>
            </a:endParaRPr>
          </a:p>
        </p:txBody>
      </p:sp>
    </p:spTree>
    <p:extLst>
      <p:ext uri="{BB962C8B-B14F-4D97-AF65-F5344CB8AC3E}">
        <p14:creationId xmlns:p14="http://schemas.microsoft.com/office/powerpoint/2010/main" val="377623283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Vector Form of Categorical Distribution</a:t>
            </a:r>
          </a:p>
        </p:txBody>
      </p:sp>
      <p:sp>
        <p:nvSpPr>
          <p:cNvPr id="3" name="Content Placeholder 2"/>
          <p:cNvSpPr>
            <a:spLocks noGrp="1"/>
          </p:cNvSpPr>
          <p:nvPr>
            <p:ph idx="1"/>
          </p:nvPr>
        </p:nvSpPr>
        <p:spPr>
          <a:xfrm>
            <a:off x="457200" y="1134534"/>
            <a:ext cx="8229600" cy="4991630"/>
          </a:xfrm>
        </p:spPr>
        <p:txBody>
          <a:bodyPr/>
          <a:lstStyle/>
          <a:p>
            <a:r>
              <a:rPr lang="en-US" dirty="0"/>
              <a:t>form we saw earlier:</a:t>
            </a:r>
          </a:p>
          <a:p>
            <a:endParaRPr lang="en-US" dirty="0"/>
          </a:p>
          <a:p>
            <a:endParaRPr lang="en-US" dirty="0"/>
          </a:p>
          <a:p>
            <a:r>
              <a:rPr lang="en-US" dirty="0"/>
              <a:t>we can also write the categorical distribution as a (one-hot) vector random variable </a:t>
            </a:r>
            <a:r>
              <a:rPr lang="en-US" i="1" dirty="0"/>
              <a:t>Y</a:t>
            </a:r>
            <a:r>
              <a:rPr lang="en-US" dirty="0"/>
              <a:t>:</a:t>
            </a:r>
          </a:p>
        </p:txBody>
      </p:sp>
      <p:sp>
        <p:nvSpPr>
          <p:cNvPr id="4" name="Slide Number Placeholder 3"/>
          <p:cNvSpPr>
            <a:spLocks noGrp="1"/>
          </p:cNvSpPr>
          <p:nvPr>
            <p:ph type="sldNum" sz="quarter" idx="12"/>
          </p:nvPr>
        </p:nvSpPr>
        <p:spPr/>
        <p:txBody>
          <a:bodyPr/>
          <a:lstStyle/>
          <a:p>
            <a:fld id="{3CFF3AF9-2D61-8E40-AE3D-8390D801ED2C}" type="slidenum">
              <a:rPr lang="en-US" smtClean="0"/>
              <a:t>20</a:t>
            </a:fld>
            <a:endParaRPr lang="en-US"/>
          </a:p>
        </p:txBody>
      </p:sp>
      <p:pic>
        <p:nvPicPr>
          <p:cNvPr id="5" name="Picture 4"/>
          <p:cNvPicPr>
            <a:picLocks noChangeAspect="1"/>
          </p:cNvPicPr>
          <p:nvPr/>
        </p:nvPicPr>
        <p:blipFill>
          <a:blip r:embed="rId3"/>
          <a:stretch>
            <a:fillRect/>
          </a:stretch>
        </p:blipFill>
        <p:spPr>
          <a:xfrm>
            <a:off x="1930400" y="4377267"/>
            <a:ext cx="2006600" cy="368300"/>
          </a:xfrm>
          <a:prstGeom prst="rect">
            <a:avLst/>
          </a:prstGeom>
        </p:spPr>
      </p:pic>
      <p:pic>
        <p:nvPicPr>
          <p:cNvPr id="6" name="Picture 5"/>
          <p:cNvPicPr>
            <a:picLocks noChangeAspect="1"/>
          </p:cNvPicPr>
          <p:nvPr/>
        </p:nvPicPr>
        <p:blipFill>
          <a:blip r:embed="rId4"/>
          <a:stretch>
            <a:fillRect/>
          </a:stretch>
        </p:blipFill>
        <p:spPr>
          <a:xfrm>
            <a:off x="5128440" y="4338779"/>
            <a:ext cx="1828800" cy="419100"/>
          </a:xfrm>
          <a:prstGeom prst="rect">
            <a:avLst/>
          </a:prstGeom>
        </p:spPr>
      </p:pic>
      <p:pic>
        <p:nvPicPr>
          <p:cNvPr id="7" name="Picture 6"/>
          <p:cNvPicPr>
            <a:picLocks noChangeAspect="1"/>
          </p:cNvPicPr>
          <p:nvPr/>
        </p:nvPicPr>
        <p:blipFill>
          <a:blip r:embed="rId5"/>
          <a:stretch>
            <a:fillRect/>
          </a:stretch>
        </p:blipFill>
        <p:spPr>
          <a:xfrm>
            <a:off x="4953000" y="2084910"/>
            <a:ext cx="2184400" cy="368300"/>
          </a:xfrm>
          <a:prstGeom prst="rect">
            <a:avLst/>
          </a:prstGeom>
        </p:spPr>
      </p:pic>
      <p:pic>
        <p:nvPicPr>
          <p:cNvPr id="8" name="Picture 7"/>
          <p:cNvPicPr>
            <a:picLocks noChangeAspect="1"/>
          </p:cNvPicPr>
          <p:nvPr/>
        </p:nvPicPr>
        <p:blipFill>
          <a:blip r:embed="rId6"/>
          <a:stretch>
            <a:fillRect/>
          </a:stretch>
        </p:blipFill>
        <p:spPr>
          <a:xfrm>
            <a:off x="2719251" y="5129796"/>
            <a:ext cx="3276600" cy="1054100"/>
          </a:xfrm>
          <a:prstGeom prst="rect">
            <a:avLst/>
          </a:prstGeom>
        </p:spPr>
      </p:pic>
      <p:pic>
        <p:nvPicPr>
          <p:cNvPr id="9" name="Picture 8"/>
          <p:cNvPicPr>
            <a:picLocks noChangeAspect="1"/>
          </p:cNvPicPr>
          <p:nvPr/>
        </p:nvPicPr>
        <p:blipFill>
          <a:blip r:embed="rId7"/>
          <a:stretch>
            <a:fillRect/>
          </a:stretch>
        </p:blipFill>
        <p:spPr>
          <a:xfrm>
            <a:off x="1566333" y="2084910"/>
            <a:ext cx="2794000" cy="368300"/>
          </a:xfrm>
          <a:prstGeom prst="rect">
            <a:avLst/>
          </a:prstGeom>
        </p:spPr>
      </p:pic>
    </p:spTree>
    <p:extLst>
      <p:ext uri="{BB962C8B-B14F-4D97-AF65-F5344CB8AC3E}">
        <p14:creationId xmlns:p14="http://schemas.microsoft.com/office/powerpoint/2010/main" val="233744760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2-Simplex</a:t>
            </a:r>
          </a:p>
        </p:txBody>
      </p:sp>
      <p:sp>
        <p:nvSpPr>
          <p:cNvPr id="3" name="Content Placeholder 2"/>
          <p:cNvSpPr>
            <a:spLocks noGrp="1"/>
          </p:cNvSpPr>
          <p:nvPr>
            <p:ph idx="1"/>
          </p:nvPr>
        </p:nvSpPr>
        <p:spPr>
          <a:xfrm>
            <a:off x="152400" y="1073740"/>
            <a:ext cx="8991600" cy="5052424"/>
          </a:xfrm>
        </p:spPr>
        <p:txBody>
          <a:bodyPr/>
          <a:lstStyle/>
          <a:p>
            <a:r>
              <a:rPr lang="en-US" dirty="0"/>
              <a:t>consider a categorical distribution with 3 outcomes</a:t>
            </a:r>
          </a:p>
          <a:p>
            <a:r>
              <a:rPr lang="en-US" dirty="0"/>
              <a:t>e.g., a distribution over words using a vocabulary of size 3:</a:t>
            </a:r>
          </a:p>
        </p:txBody>
      </p:sp>
      <p:sp>
        <p:nvSpPr>
          <p:cNvPr id="4" name="Slide Number Placeholder 3"/>
          <p:cNvSpPr>
            <a:spLocks noGrp="1"/>
          </p:cNvSpPr>
          <p:nvPr>
            <p:ph type="sldNum" sz="quarter" idx="12"/>
          </p:nvPr>
        </p:nvSpPr>
        <p:spPr/>
        <p:txBody>
          <a:bodyPr/>
          <a:lstStyle/>
          <a:p>
            <a:fld id="{3CFF3AF9-2D61-8E40-AE3D-8390D801ED2C}" type="slidenum">
              <a:rPr lang="en-US" smtClean="0"/>
              <a:t>21</a:t>
            </a:fld>
            <a:endParaRPr lang="en-US"/>
          </a:p>
        </p:txBody>
      </p:sp>
      <p:sp>
        <p:nvSpPr>
          <p:cNvPr id="5" name="Isosceles Triangle 4"/>
          <p:cNvSpPr/>
          <p:nvPr/>
        </p:nvSpPr>
        <p:spPr>
          <a:xfrm>
            <a:off x="2852588" y="2981824"/>
            <a:ext cx="3352800" cy="2890345"/>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214601" y="245860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053604" y="5610559"/>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6213616" y="5610559"/>
            <a:ext cx="833381" cy="523220"/>
          </a:xfrm>
          <a:prstGeom prst="rect">
            <a:avLst/>
          </a:prstGeom>
          <a:noFill/>
        </p:spPr>
        <p:txBody>
          <a:bodyPr wrap="none" rtlCol="0">
            <a:spAutoFit/>
          </a:bodyPr>
          <a:lstStyle/>
          <a:p>
            <a:r>
              <a:rPr lang="en-US" sz="2800" dirty="0"/>
              <a:t>UNK</a:t>
            </a:r>
          </a:p>
        </p:txBody>
      </p:sp>
    </p:spTree>
    <p:extLst>
      <p:ext uri="{BB962C8B-B14F-4D97-AF65-F5344CB8AC3E}">
        <p14:creationId xmlns:p14="http://schemas.microsoft.com/office/powerpoint/2010/main" val="2359668325"/>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2-Simplex</a:t>
            </a:r>
          </a:p>
        </p:txBody>
      </p:sp>
      <p:sp>
        <p:nvSpPr>
          <p:cNvPr id="3" name="Content Placeholder 2"/>
          <p:cNvSpPr>
            <a:spLocks noGrp="1"/>
          </p:cNvSpPr>
          <p:nvPr>
            <p:ph idx="1"/>
          </p:nvPr>
        </p:nvSpPr>
        <p:spPr>
          <a:xfrm>
            <a:off x="152400" y="898229"/>
            <a:ext cx="8991600" cy="5227935"/>
          </a:xfrm>
        </p:spPr>
        <p:txBody>
          <a:bodyPr/>
          <a:lstStyle/>
          <a:p>
            <a:r>
              <a:rPr lang="en-US" dirty="0"/>
              <a:t>a point on this simplex represents a categorical distribution over the 3 outcomes</a:t>
            </a:r>
          </a:p>
          <a:p>
            <a:r>
              <a:rPr lang="en-US" dirty="0"/>
              <a:t>a uniform distribution:</a:t>
            </a:r>
          </a:p>
        </p:txBody>
      </p:sp>
      <p:sp>
        <p:nvSpPr>
          <p:cNvPr id="4" name="Slide Number Placeholder 3"/>
          <p:cNvSpPr>
            <a:spLocks noGrp="1"/>
          </p:cNvSpPr>
          <p:nvPr>
            <p:ph type="sldNum" sz="quarter" idx="12"/>
          </p:nvPr>
        </p:nvSpPr>
        <p:spPr/>
        <p:txBody>
          <a:bodyPr/>
          <a:lstStyle/>
          <a:p>
            <a:fld id="{3CFF3AF9-2D61-8E40-AE3D-8390D801ED2C}" type="slidenum">
              <a:rPr lang="en-US" smtClean="0"/>
              <a:t>22</a:t>
            </a:fld>
            <a:endParaRPr lang="en-US"/>
          </a:p>
        </p:txBody>
      </p:sp>
      <p:sp>
        <p:nvSpPr>
          <p:cNvPr id="5" name="Isosceles Triangle 4"/>
          <p:cNvSpPr/>
          <p:nvPr/>
        </p:nvSpPr>
        <p:spPr>
          <a:xfrm>
            <a:off x="2852588" y="2981824"/>
            <a:ext cx="3352800" cy="2890345"/>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214601" y="245860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053604" y="5610559"/>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6213616" y="5610559"/>
            <a:ext cx="833381" cy="523220"/>
          </a:xfrm>
          <a:prstGeom prst="rect">
            <a:avLst/>
          </a:prstGeom>
          <a:noFill/>
        </p:spPr>
        <p:txBody>
          <a:bodyPr wrap="none" rtlCol="0">
            <a:spAutoFit/>
          </a:bodyPr>
          <a:lstStyle/>
          <a:p>
            <a:r>
              <a:rPr lang="en-US" sz="2800" dirty="0"/>
              <a:t>UNK</a:t>
            </a:r>
          </a:p>
        </p:txBody>
      </p:sp>
      <p:sp>
        <p:nvSpPr>
          <p:cNvPr id="11" name="Oval 10">
            <a:extLst>
              <a:ext uri="{FF2B5EF4-FFF2-40B4-BE49-F238E27FC236}">
                <a16:creationId xmlns="" xmlns:a16="http://schemas.microsoft.com/office/drawing/2014/main" id="{708A4616-B609-8242-905E-FE792934A051}"/>
              </a:ext>
            </a:extLst>
          </p:cNvPr>
          <p:cNvSpPr/>
          <p:nvPr/>
        </p:nvSpPr>
        <p:spPr>
          <a:xfrm>
            <a:off x="4444085" y="4747847"/>
            <a:ext cx="169804" cy="169804"/>
          </a:xfrm>
          <a:prstGeom prst="ellipse">
            <a:avLst/>
          </a:prstGeom>
          <a:solidFill>
            <a:srgbClr val="288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65368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2-Simplex</a:t>
            </a:r>
          </a:p>
        </p:txBody>
      </p:sp>
      <p:sp>
        <p:nvSpPr>
          <p:cNvPr id="3" name="Content Placeholder 2"/>
          <p:cNvSpPr>
            <a:spLocks noGrp="1"/>
          </p:cNvSpPr>
          <p:nvPr>
            <p:ph idx="1"/>
          </p:nvPr>
        </p:nvSpPr>
        <p:spPr>
          <a:xfrm>
            <a:off x="152400" y="898229"/>
            <a:ext cx="8991600" cy="5227935"/>
          </a:xfrm>
        </p:spPr>
        <p:txBody>
          <a:bodyPr/>
          <a:lstStyle/>
          <a:p>
            <a:r>
              <a:rPr lang="en-US" dirty="0"/>
              <a:t>a distribution that puts most probability on UNK:</a:t>
            </a:r>
          </a:p>
        </p:txBody>
      </p:sp>
      <p:sp>
        <p:nvSpPr>
          <p:cNvPr id="4" name="Slide Number Placeholder 3"/>
          <p:cNvSpPr>
            <a:spLocks noGrp="1"/>
          </p:cNvSpPr>
          <p:nvPr>
            <p:ph type="sldNum" sz="quarter" idx="12"/>
          </p:nvPr>
        </p:nvSpPr>
        <p:spPr/>
        <p:txBody>
          <a:bodyPr/>
          <a:lstStyle/>
          <a:p>
            <a:fld id="{3CFF3AF9-2D61-8E40-AE3D-8390D801ED2C}" type="slidenum">
              <a:rPr lang="en-US" smtClean="0"/>
              <a:t>23</a:t>
            </a:fld>
            <a:endParaRPr lang="en-US"/>
          </a:p>
        </p:txBody>
      </p:sp>
      <p:sp>
        <p:nvSpPr>
          <p:cNvPr id="5" name="Isosceles Triangle 4"/>
          <p:cNvSpPr/>
          <p:nvPr/>
        </p:nvSpPr>
        <p:spPr>
          <a:xfrm>
            <a:off x="2852588" y="2981824"/>
            <a:ext cx="3352800" cy="2890345"/>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214601" y="245860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053604" y="5610559"/>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6213616" y="5610559"/>
            <a:ext cx="833381" cy="523220"/>
          </a:xfrm>
          <a:prstGeom prst="rect">
            <a:avLst/>
          </a:prstGeom>
          <a:noFill/>
        </p:spPr>
        <p:txBody>
          <a:bodyPr wrap="none" rtlCol="0">
            <a:spAutoFit/>
          </a:bodyPr>
          <a:lstStyle/>
          <a:p>
            <a:r>
              <a:rPr lang="en-US" sz="2800" dirty="0"/>
              <a:t>UNK</a:t>
            </a:r>
          </a:p>
        </p:txBody>
      </p:sp>
      <p:sp>
        <p:nvSpPr>
          <p:cNvPr id="11" name="Oval 10">
            <a:extLst>
              <a:ext uri="{FF2B5EF4-FFF2-40B4-BE49-F238E27FC236}">
                <a16:creationId xmlns="" xmlns:a16="http://schemas.microsoft.com/office/drawing/2014/main" id="{AACD366D-5D6F-0646-8BCA-E86CC5446C23}"/>
              </a:ext>
            </a:extLst>
          </p:cNvPr>
          <p:cNvSpPr/>
          <p:nvPr/>
        </p:nvSpPr>
        <p:spPr>
          <a:xfrm>
            <a:off x="5252098" y="5310554"/>
            <a:ext cx="169804" cy="169804"/>
          </a:xfrm>
          <a:prstGeom prst="ellipse">
            <a:avLst/>
          </a:prstGeom>
          <a:solidFill>
            <a:srgbClr val="288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4573014"/>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2-Simplex</a:t>
            </a:r>
          </a:p>
        </p:txBody>
      </p:sp>
      <p:sp>
        <p:nvSpPr>
          <p:cNvPr id="3" name="Content Placeholder 2"/>
          <p:cNvSpPr>
            <a:spLocks noGrp="1"/>
          </p:cNvSpPr>
          <p:nvPr>
            <p:ph idx="1"/>
          </p:nvPr>
        </p:nvSpPr>
        <p:spPr>
          <a:xfrm>
            <a:off x="152400" y="898229"/>
            <a:ext cx="8991600" cy="5227935"/>
          </a:xfrm>
        </p:spPr>
        <p:txBody>
          <a:bodyPr/>
          <a:lstStyle/>
          <a:p>
            <a:r>
              <a:rPr lang="en-US" dirty="0"/>
              <a:t>a categorical distribution with </a:t>
            </a:r>
            <a:r>
              <a:rPr lang="en-US" i="1" dirty="0"/>
              <a:t>K</a:t>
            </a:r>
            <a:r>
              <a:rPr lang="en-US" dirty="0"/>
              <a:t> outcomes has </a:t>
            </a:r>
            <a:r>
              <a:rPr lang="en-US" i="1" dirty="0"/>
              <a:t>K</a:t>
            </a:r>
            <a:r>
              <a:rPr lang="en-US" dirty="0"/>
              <a:t>-1 parameters</a:t>
            </a:r>
          </a:p>
        </p:txBody>
      </p:sp>
      <p:sp>
        <p:nvSpPr>
          <p:cNvPr id="4" name="Slide Number Placeholder 3"/>
          <p:cNvSpPr>
            <a:spLocks noGrp="1"/>
          </p:cNvSpPr>
          <p:nvPr>
            <p:ph type="sldNum" sz="quarter" idx="12"/>
          </p:nvPr>
        </p:nvSpPr>
        <p:spPr/>
        <p:txBody>
          <a:bodyPr/>
          <a:lstStyle/>
          <a:p>
            <a:fld id="{3CFF3AF9-2D61-8E40-AE3D-8390D801ED2C}" type="slidenum">
              <a:rPr lang="en-US" smtClean="0"/>
              <a:t>24</a:t>
            </a:fld>
            <a:endParaRPr lang="en-US"/>
          </a:p>
        </p:txBody>
      </p:sp>
      <p:sp>
        <p:nvSpPr>
          <p:cNvPr id="5" name="Isosceles Triangle 4"/>
          <p:cNvSpPr/>
          <p:nvPr/>
        </p:nvSpPr>
        <p:spPr>
          <a:xfrm>
            <a:off x="2852588" y="2981824"/>
            <a:ext cx="3352800" cy="2890345"/>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214601" y="245860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053604" y="5610559"/>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6213616" y="5610559"/>
            <a:ext cx="833381" cy="523220"/>
          </a:xfrm>
          <a:prstGeom prst="rect">
            <a:avLst/>
          </a:prstGeom>
          <a:noFill/>
        </p:spPr>
        <p:txBody>
          <a:bodyPr wrap="none" rtlCol="0">
            <a:spAutoFit/>
          </a:bodyPr>
          <a:lstStyle/>
          <a:p>
            <a:r>
              <a:rPr lang="en-US" sz="2800" dirty="0"/>
              <a:t>UNK</a:t>
            </a:r>
          </a:p>
        </p:txBody>
      </p:sp>
    </p:spTree>
    <p:extLst>
      <p:ext uri="{BB962C8B-B14F-4D97-AF65-F5344CB8AC3E}">
        <p14:creationId xmlns:p14="http://schemas.microsoft.com/office/powerpoint/2010/main" val="416156263"/>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Categorical Parameters lie in (</a:t>
            </a:r>
            <a:r>
              <a:rPr lang="en-US" sz="3600" i="1" dirty="0"/>
              <a:t>K</a:t>
            </a:r>
            <a:r>
              <a:rPr lang="en-US" sz="3600" dirty="0"/>
              <a:t>-1)-Simplex</a:t>
            </a:r>
          </a:p>
        </p:txBody>
      </p:sp>
      <p:pic>
        <p:nvPicPr>
          <p:cNvPr id="5" name="Content Placeholder 4" descr="Simplexes.jpg"/>
          <p:cNvPicPr>
            <a:picLocks noGrp="1" noChangeAspect="1"/>
          </p:cNvPicPr>
          <p:nvPr>
            <p:ph idx="1"/>
          </p:nvPr>
        </p:nvPicPr>
        <p:blipFill>
          <a:blip r:embed="rId2">
            <a:extLst>
              <a:ext uri="{28A0092B-C50C-407E-A947-70E740481C1C}">
                <a14:useLocalDpi xmlns:a14="http://schemas.microsoft.com/office/drawing/2010/main" val="0"/>
              </a:ext>
            </a:extLst>
          </a:blip>
          <a:srcRect t="-4572" b="-4572"/>
          <a:stretch>
            <a:fillRect/>
          </a:stretch>
        </p:blipFill>
        <p:spPr/>
      </p:pic>
      <p:sp>
        <p:nvSpPr>
          <p:cNvPr id="4" name="Slide Number Placeholder 3"/>
          <p:cNvSpPr>
            <a:spLocks noGrp="1"/>
          </p:cNvSpPr>
          <p:nvPr>
            <p:ph type="sldNum" sz="quarter" idx="12"/>
          </p:nvPr>
        </p:nvSpPr>
        <p:spPr/>
        <p:txBody>
          <a:bodyPr/>
          <a:lstStyle/>
          <a:p>
            <a:fld id="{3CFF3AF9-2D61-8E40-AE3D-8390D801ED2C}" type="slidenum">
              <a:rPr lang="en-US" smtClean="0"/>
              <a:t>25</a:t>
            </a:fld>
            <a:endParaRPr lang="en-US"/>
          </a:p>
        </p:txBody>
      </p:sp>
      <p:sp>
        <p:nvSpPr>
          <p:cNvPr id="6" name="Content Placeholder 2">
            <a:extLst>
              <a:ext uri="{FF2B5EF4-FFF2-40B4-BE49-F238E27FC236}">
                <a16:creationId xmlns="" xmlns:a16="http://schemas.microsoft.com/office/drawing/2014/main" id="{B410838E-B405-F84E-A716-CC0AF70553B9}"/>
              </a:ext>
            </a:extLst>
          </p:cNvPr>
          <p:cNvSpPr txBox="1">
            <a:spLocks/>
          </p:cNvSpPr>
          <p:nvPr/>
        </p:nvSpPr>
        <p:spPr>
          <a:xfrm>
            <a:off x="485857" y="6356838"/>
            <a:ext cx="7040353" cy="47417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800" dirty="0">
                <a:solidFill>
                  <a:srgbClr val="288CD2"/>
                </a:solidFill>
              </a:rPr>
              <a:t>source: https://</a:t>
            </a:r>
            <a:r>
              <a:rPr lang="en-US" sz="1800" dirty="0" err="1">
                <a:solidFill>
                  <a:srgbClr val="288CD2"/>
                </a:solidFill>
              </a:rPr>
              <a:t>en.wikipedia.org</a:t>
            </a:r>
            <a:r>
              <a:rPr lang="en-US" sz="1800" dirty="0">
                <a:solidFill>
                  <a:srgbClr val="288CD2"/>
                </a:solidFill>
              </a:rPr>
              <a:t>/wiki/Simplex#/media/</a:t>
            </a:r>
            <a:r>
              <a:rPr lang="en-US" sz="1800" dirty="0" err="1">
                <a:solidFill>
                  <a:srgbClr val="288CD2"/>
                </a:solidFill>
              </a:rPr>
              <a:t>File:Simplexes.jpg</a:t>
            </a:r>
            <a:endParaRPr lang="en-US" sz="1100" dirty="0">
              <a:solidFill>
                <a:srgbClr val="288CD2"/>
              </a:solidFill>
            </a:endParaRPr>
          </a:p>
        </p:txBody>
      </p:sp>
    </p:spTree>
    <p:extLst>
      <p:ext uri="{BB962C8B-B14F-4D97-AF65-F5344CB8AC3E}">
        <p14:creationId xmlns:p14="http://schemas.microsoft.com/office/powerpoint/2010/main" val="393521378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606190"/>
            <a:ext cx="8229600" cy="2519973"/>
          </a:xfrm>
        </p:spPr>
        <p:txBody>
          <a:bodyPr>
            <a:normAutofit lnSpcReduction="10000"/>
          </a:bodyPr>
          <a:lstStyle/>
          <a:p>
            <a:r>
              <a:rPr lang="en-US" dirty="0"/>
              <a:t>generative model for document collections using latent variables that can be interpreted as “topics”</a:t>
            </a:r>
          </a:p>
          <a:p>
            <a:r>
              <a:rPr lang="en-US" dirty="0"/>
              <a:t>learns a multinomial distribution over words for each topic</a:t>
            </a:r>
          </a:p>
        </p:txBody>
      </p:sp>
      <p:sp>
        <p:nvSpPr>
          <p:cNvPr id="4" name="Slide Number Placeholder 3"/>
          <p:cNvSpPr>
            <a:spLocks noGrp="1"/>
          </p:cNvSpPr>
          <p:nvPr>
            <p:ph type="sldNum" sz="quarter" idx="12"/>
          </p:nvPr>
        </p:nvSpPr>
        <p:spPr/>
        <p:txBody>
          <a:bodyPr/>
          <a:lstStyle/>
          <a:p>
            <a:fld id="{3CFF3AF9-2D61-8E40-AE3D-8390D801ED2C}" type="slidenum">
              <a:rPr lang="en-US" smtClean="0"/>
              <a:t>26</a:t>
            </a:fld>
            <a:endParaRPr lang="en-US"/>
          </a:p>
        </p:txBody>
      </p:sp>
      <p:pic>
        <p:nvPicPr>
          <p:cNvPr id="5" name="Picture 4"/>
          <p:cNvPicPr>
            <a:picLocks noChangeAspect="1"/>
          </p:cNvPicPr>
          <p:nvPr/>
        </p:nvPicPr>
        <p:blipFill>
          <a:blip r:embed="rId2"/>
          <a:stretch>
            <a:fillRect/>
          </a:stretch>
        </p:blipFill>
        <p:spPr>
          <a:xfrm>
            <a:off x="959924" y="113401"/>
            <a:ext cx="7351531" cy="3334027"/>
          </a:xfrm>
          <a:prstGeom prst="rect">
            <a:avLst/>
          </a:prstGeom>
        </p:spPr>
      </p:pic>
    </p:spTree>
    <p:extLst>
      <p:ext uri="{BB962C8B-B14F-4D97-AF65-F5344CB8AC3E}">
        <p14:creationId xmlns:p14="http://schemas.microsoft.com/office/powerpoint/2010/main" val="3385125018"/>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230886" y="5369014"/>
            <a:ext cx="8831330" cy="1541125"/>
          </a:xfrm>
        </p:spPr>
        <p:txBody>
          <a:bodyPr>
            <a:normAutofit fontScale="47500" lnSpcReduction="20000"/>
          </a:bodyPr>
          <a:lstStyle/>
          <a:p>
            <a:pPr marL="0" indent="0">
              <a:buNone/>
            </a:pPr>
            <a:r>
              <a:rPr lang="en-US" sz="5100" dirty="0" err="1">
                <a:solidFill>
                  <a:srgbClr val="288CD2"/>
                </a:solidFill>
              </a:rPr>
              <a:t>Blei</a:t>
            </a:r>
            <a:r>
              <a:rPr lang="en-US" sz="5100" dirty="0">
                <a:solidFill>
                  <a:srgbClr val="288CD2"/>
                </a:solidFill>
              </a:rPr>
              <a:t> (2012): </a:t>
            </a:r>
            <a:r>
              <a:rPr lang="en-US" sz="5100" i="1" dirty="0">
                <a:solidFill>
                  <a:srgbClr val="288CD2"/>
                </a:solidFill>
              </a:rPr>
              <a:t>Probabilistic Topic Models</a:t>
            </a:r>
          </a:p>
          <a:p>
            <a:pPr marL="0" indent="0">
              <a:buNone/>
            </a:pPr>
            <a:r>
              <a:rPr lang="en-US" sz="2800" dirty="0">
                <a:solidFill>
                  <a:srgbClr val="288CD2"/>
                </a:solidFill>
              </a:rPr>
              <a:t>Permission to make digital or hard copies of part or all of this work for personal or classroom use is granted without fee provided that copies are not made or distributed for profit or commercial advantage and that copies bear this notice and full citation on the first page. Copyright for components of this work owned by others than ACM must be honored. Abstracting with credit is permitted. To copy otherwise, to republish, to post on servers, or to redistribute to lists, requires prior specific permission and/or fee. Request permission to publish from </a:t>
            </a:r>
            <a:r>
              <a:rPr lang="en-US" sz="2800" dirty="0" err="1">
                <a:solidFill>
                  <a:srgbClr val="288CD2"/>
                </a:solidFill>
              </a:rPr>
              <a:t>permissions@acm.org</a:t>
            </a:r>
            <a:r>
              <a:rPr lang="en-US" sz="2800" dirty="0">
                <a:solidFill>
                  <a:srgbClr val="288CD2"/>
                </a:solidFill>
              </a:rPr>
              <a:t> or fax (212) 869-0481.</a:t>
            </a:r>
          </a:p>
          <a:p>
            <a:pPr marL="0" indent="0">
              <a:buNone/>
            </a:pPr>
            <a:r>
              <a:rPr lang="en-US" sz="2800" dirty="0">
                <a:solidFill>
                  <a:srgbClr val="288CD2"/>
                </a:solidFill>
              </a:rPr>
              <a:t>The Digital Library is published by the Association for Computing Machinery. Copyright © 2012 ACM, Inc.</a:t>
            </a:r>
          </a:p>
        </p:txBody>
      </p:sp>
      <p:pic>
        <p:nvPicPr>
          <p:cNvPr id="3" name="Picture 2" descr="lda-blei.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678" y="-19244"/>
            <a:ext cx="9542078" cy="5292038"/>
          </a:xfrm>
          <a:prstGeom prst="rect">
            <a:avLst/>
          </a:prstGeom>
        </p:spPr>
      </p:pic>
    </p:spTree>
    <p:extLst>
      <p:ext uri="{BB962C8B-B14F-4D97-AF65-F5344CB8AC3E}">
        <p14:creationId xmlns:p14="http://schemas.microsoft.com/office/powerpoint/2010/main" val="890823484"/>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33F820A7-D46B-46D8-A3CF-66A8CEAA457D}" type="slidenum">
              <a:rPr lang="en-US" smtClean="0"/>
              <a:pPr/>
              <a:t>28</a:t>
            </a:fld>
            <a:endParaRPr lang="en-US"/>
          </a:p>
        </p:txBody>
      </p:sp>
      <p:pic>
        <p:nvPicPr>
          <p:cNvPr id="7" name="Picture 6"/>
          <p:cNvPicPr>
            <a:picLocks noChangeAspect="1"/>
          </p:cNvPicPr>
          <p:nvPr/>
        </p:nvPicPr>
        <p:blipFill rotWithShape="1">
          <a:blip r:embed="rId2"/>
          <a:srcRect b="34764"/>
          <a:stretch/>
        </p:blipFill>
        <p:spPr>
          <a:xfrm>
            <a:off x="1685059" y="2111852"/>
            <a:ext cx="5638800" cy="2467571"/>
          </a:xfrm>
          <a:prstGeom prst="rect">
            <a:avLst/>
          </a:prstGeom>
        </p:spPr>
      </p:pic>
      <p:sp>
        <p:nvSpPr>
          <p:cNvPr id="2" name="TextBox 1"/>
          <p:cNvSpPr txBox="1"/>
          <p:nvPr/>
        </p:nvSpPr>
        <p:spPr>
          <a:xfrm>
            <a:off x="1201558" y="1633362"/>
            <a:ext cx="6595075" cy="461665"/>
          </a:xfrm>
          <a:prstGeom prst="rect">
            <a:avLst/>
          </a:prstGeom>
          <a:noFill/>
        </p:spPr>
        <p:txBody>
          <a:bodyPr wrap="none" rtlCol="0">
            <a:spAutoFit/>
          </a:bodyPr>
          <a:lstStyle/>
          <a:p>
            <a:r>
              <a:rPr lang="en-US" sz="2400" dirty="0"/>
              <a:t>categorical distributions over words for four topics:</a:t>
            </a:r>
          </a:p>
        </p:txBody>
      </p:sp>
      <p:sp>
        <p:nvSpPr>
          <p:cNvPr id="9" name="Title 1"/>
          <p:cNvSpPr>
            <a:spLocks noGrp="1"/>
          </p:cNvSpPr>
          <p:nvPr>
            <p:ph type="title"/>
          </p:nvPr>
        </p:nvSpPr>
        <p:spPr>
          <a:xfrm>
            <a:off x="457200" y="171398"/>
            <a:ext cx="8229600" cy="902342"/>
          </a:xfrm>
        </p:spPr>
        <p:txBody>
          <a:bodyPr>
            <a:normAutofit fontScale="90000"/>
          </a:bodyPr>
          <a:lstStyle/>
          <a:p>
            <a:r>
              <a:rPr lang="en-US" dirty="0"/>
              <a:t>Latent </a:t>
            </a:r>
            <a:r>
              <a:rPr lang="en-US" dirty="0" err="1"/>
              <a:t>Dirichlet</a:t>
            </a:r>
            <a:r>
              <a:rPr lang="en-US" dirty="0"/>
              <a:t> Allocation</a:t>
            </a:r>
            <a:br>
              <a:rPr lang="en-US" dirty="0"/>
            </a:br>
            <a:r>
              <a:rPr lang="en-US" sz="3100" dirty="0"/>
              <a:t>(</a:t>
            </a:r>
            <a:r>
              <a:rPr lang="en-US" sz="3100" dirty="0" err="1"/>
              <a:t>Blei</a:t>
            </a:r>
            <a:r>
              <a:rPr lang="en-US" sz="3100" dirty="0"/>
              <a:t> et al., 2003)</a:t>
            </a:r>
          </a:p>
        </p:txBody>
      </p:sp>
    </p:spTree>
    <p:extLst>
      <p:ext uri="{BB962C8B-B14F-4D97-AF65-F5344CB8AC3E}">
        <p14:creationId xmlns:p14="http://schemas.microsoft.com/office/powerpoint/2010/main" val="1592042478"/>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Simple LDA</a:t>
            </a:r>
          </a:p>
        </p:txBody>
      </p:sp>
      <p:sp>
        <p:nvSpPr>
          <p:cNvPr id="3" name="Content Placeholder 2"/>
          <p:cNvSpPr>
            <a:spLocks noGrp="1"/>
          </p:cNvSpPr>
          <p:nvPr>
            <p:ph idx="1"/>
          </p:nvPr>
        </p:nvSpPr>
        <p:spPr>
          <a:xfrm>
            <a:off x="389467" y="1073740"/>
            <a:ext cx="8584743" cy="721193"/>
          </a:xfrm>
        </p:spPr>
        <p:txBody>
          <a:bodyPr>
            <a:normAutofit/>
          </a:bodyPr>
          <a:lstStyle/>
          <a:p>
            <a:pPr marL="0" indent="0">
              <a:buNone/>
            </a:pPr>
            <a:r>
              <a:rPr lang="en-US" sz="2400" dirty="0">
                <a:solidFill>
                  <a:srgbClr val="288CD2"/>
                </a:solidFill>
              </a:rPr>
              <a:t>simplified LDA, and only showing generative story for 1 document:</a:t>
            </a:r>
          </a:p>
        </p:txBody>
      </p:sp>
      <p:sp>
        <p:nvSpPr>
          <p:cNvPr id="4" name="Slide Number Placeholder 3"/>
          <p:cNvSpPr>
            <a:spLocks noGrp="1"/>
          </p:cNvSpPr>
          <p:nvPr>
            <p:ph type="sldNum" sz="quarter" idx="12"/>
          </p:nvPr>
        </p:nvSpPr>
        <p:spPr/>
        <p:txBody>
          <a:bodyPr/>
          <a:lstStyle/>
          <a:p>
            <a:fld id="{3CFF3AF9-2D61-8E40-AE3D-8390D801ED2C}" type="slidenum">
              <a:rPr lang="en-US" smtClean="0"/>
              <a:t>29</a:t>
            </a:fld>
            <a:endParaRPr lang="en-US"/>
          </a:p>
        </p:txBody>
      </p:sp>
      <p:pic>
        <p:nvPicPr>
          <p:cNvPr id="5" name="Picture 4"/>
          <p:cNvPicPr>
            <a:picLocks noChangeAspect="1"/>
          </p:cNvPicPr>
          <p:nvPr/>
        </p:nvPicPr>
        <p:blipFill>
          <a:blip r:embed="rId3"/>
          <a:stretch>
            <a:fillRect/>
          </a:stretch>
        </p:blipFill>
        <p:spPr>
          <a:xfrm>
            <a:off x="272151" y="2105890"/>
            <a:ext cx="8769792" cy="1549963"/>
          </a:xfrm>
          <a:prstGeom prst="rect">
            <a:avLst/>
          </a:prstGeom>
        </p:spPr>
      </p:pic>
    </p:spTree>
    <p:extLst>
      <p:ext uri="{BB962C8B-B14F-4D97-AF65-F5344CB8AC3E}">
        <p14:creationId xmlns:p14="http://schemas.microsoft.com/office/powerpoint/2010/main" val="12818005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Simple LDA</a:t>
            </a:r>
          </a:p>
        </p:txBody>
      </p:sp>
      <p:sp>
        <p:nvSpPr>
          <p:cNvPr id="4" name="Slide Number Placeholder 3"/>
          <p:cNvSpPr>
            <a:spLocks noGrp="1"/>
          </p:cNvSpPr>
          <p:nvPr>
            <p:ph type="sldNum" sz="quarter" idx="12"/>
          </p:nvPr>
        </p:nvSpPr>
        <p:spPr/>
        <p:txBody>
          <a:bodyPr/>
          <a:lstStyle/>
          <a:p>
            <a:fld id="{3CFF3AF9-2D61-8E40-AE3D-8390D801ED2C}" type="slidenum">
              <a:rPr lang="en-US" smtClean="0"/>
              <a:t>30</a:t>
            </a:fld>
            <a:endParaRPr lang="en-US"/>
          </a:p>
        </p:txBody>
      </p:sp>
      <p:pic>
        <p:nvPicPr>
          <p:cNvPr id="5" name="Picture 4"/>
          <p:cNvPicPr>
            <a:picLocks noChangeAspect="1"/>
          </p:cNvPicPr>
          <p:nvPr/>
        </p:nvPicPr>
        <p:blipFill>
          <a:blip r:embed="rId2"/>
          <a:stretch>
            <a:fillRect/>
          </a:stretch>
        </p:blipFill>
        <p:spPr>
          <a:xfrm>
            <a:off x="272151" y="2105890"/>
            <a:ext cx="8769792" cy="1549963"/>
          </a:xfrm>
          <a:prstGeom prst="rect">
            <a:avLst/>
          </a:prstGeom>
        </p:spPr>
      </p:pic>
      <p:sp>
        <p:nvSpPr>
          <p:cNvPr id="6" name="TextBox 5"/>
          <p:cNvSpPr txBox="1"/>
          <p:nvPr/>
        </p:nvSpPr>
        <p:spPr>
          <a:xfrm>
            <a:off x="939393" y="4706718"/>
            <a:ext cx="6757203" cy="523220"/>
          </a:xfrm>
          <a:prstGeom prst="rect">
            <a:avLst/>
          </a:prstGeom>
          <a:noFill/>
        </p:spPr>
        <p:txBody>
          <a:bodyPr wrap="none" rtlCol="0">
            <a:spAutoFit/>
          </a:bodyPr>
          <a:lstStyle/>
          <a:p>
            <a:r>
              <a:rPr lang="en-US" sz="2800" dirty="0"/>
              <a:t>multinomial distribution over words for topic </a:t>
            </a:r>
          </a:p>
        </p:txBody>
      </p:sp>
      <p:pic>
        <p:nvPicPr>
          <p:cNvPr id="7" name="Picture 6"/>
          <p:cNvPicPr>
            <a:picLocks noChangeAspect="1"/>
          </p:cNvPicPr>
          <p:nvPr/>
        </p:nvPicPr>
        <p:blipFill>
          <a:blip r:embed="rId3"/>
          <a:stretch>
            <a:fillRect/>
          </a:stretch>
        </p:blipFill>
        <p:spPr>
          <a:xfrm>
            <a:off x="7656667" y="4934919"/>
            <a:ext cx="241300" cy="228600"/>
          </a:xfrm>
          <a:prstGeom prst="rect">
            <a:avLst/>
          </a:prstGeom>
        </p:spPr>
      </p:pic>
      <p:cxnSp>
        <p:nvCxnSpPr>
          <p:cNvPr id="9" name="Straight Arrow Connector 8"/>
          <p:cNvCxnSpPr/>
          <p:nvPr/>
        </p:nvCxnSpPr>
        <p:spPr>
          <a:xfrm flipV="1">
            <a:off x="3014135" y="3720197"/>
            <a:ext cx="1066798" cy="969588"/>
          </a:xfrm>
          <a:prstGeom prst="straightConnector1">
            <a:avLst/>
          </a:prstGeom>
          <a:ln w="5715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13" name="Content Placeholder 2"/>
          <p:cNvSpPr>
            <a:spLocks noGrp="1"/>
          </p:cNvSpPr>
          <p:nvPr>
            <p:ph idx="1"/>
          </p:nvPr>
        </p:nvSpPr>
        <p:spPr>
          <a:xfrm>
            <a:off x="389467" y="1073740"/>
            <a:ext cx="8584743" cy="721193"/>
          </a:xfrm>
        </p:spPr>
        <p:txBody>
          <a:bodyPr>
            <a:normAutofit/>
          </a:bodyPr>
          <a:lstStyle/>
          <a:p>
            <a:pPr marL="0" indent="0">
              <a:buNone/>
            </a:pPr>
            <a:r>
              <a:rPr lang="en-US" sz="2400" dirty="0">
                <a:solidFill>
                  <a:srgbClr val="288CD2"/>
                </a:solidFill>
              </a:rPr>
              <a:t>simplified LDA, and only showing generative story for 1 document:</a:t>
            </a:r>
          </a:p>
        </p:txBody>
      </p:sp>
    </p:spTree>
    <p:extLst>
      <p:ext uri="{BB962C8B-B14F-4D97-AF65-F5344CB8AC3E}">
        <p14:creationId xmlns:p14="http://schemas.microsoft.com/office/powerpoint/2010/main" val="3754085164"/>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Simple LDA</a:t>
            </a:r>
          </a:p>
        </p:txBody>
      </p:sp>
      <p:sp>
        <p:nvSpPr>
          <p:cNvPr id="4" name="Slide Number Placeholder 3"/>
          <p:cNvSpPr>
            <a:spLocks noGrp="1"/>
          </p:cNvSpPr>
          <p:nvPr>
            <p:ph type="sldNum" sz="quarter" idx="12"/>
          </p:nvPr>
        </p:nvSpPr>
        <p:spPr/>
        <p:txBody>
          <a:bodyPr/>
          <a:lstStyle/>
          <a:p>
            <a:fld id="{3CFF3AF9-2D61-8E40-AE3D-8390D801ED2C}" type="slidenum">
              <a:rPr lang="en-US" smtClean="0"/>
              <a:t>31</a:t>
            </a:fld>
            <a:endParaRPr lang="en-US"/>
          </a:p>
        </p:txBody>
      </p:sp>
      <p:pic>
        <p:nvPicPr>
          <p:cNvPr id="5" name="Picture 4"/>
          <p:cNvPicPr>
            <a:picLocks noChangeAspect="1"/>
          </p:cNvPicPr>
          <p:nvPr/>
        </p:nvPicPr>
        <p:blipFill>
          <a:blip r:embed="rId2"/>
          <a:stretch>
            <a:fillRect/>
          </a:stretch>
        </p:blipFill>
        <p:spPr>
          <a:xfrm>
            <a:off x="272151" y="2105890"/>
            <a:ext cx="8769792" cy="1549963"/>
          </a:xfrm>
          <a:prstGeom prst="rect">
            <a:avLst/>
          </a:prstGeom>
        </p:spPr>
      </p:pic>
      <p:sp>
        <p:nvSpPr>
          <p:cNvPr id="6" name="TextBox 5"/>
          <p:cNvSpPr txBox="1"/>
          <p:nvPr/>
        </p:nvSpPr>
        <p:spPr>
          <a:xfrm>
            <a:off x="4086481" y="4343676"/>
            <a:ext cx="4933437" cy="954107"/>
          </a:xfrm>
          <a:prstGeom prst="rect">
            <a:avLst/>
          </a:prstGeom>
          <a:noFill/>
        </p:spPr>
        <p:txBody>
          <a:bodyPr wrap="none" rtlCol="0">
            <a:spAutoFit/>
          </a:bodyPr>
          <a:lstStyle/>
          <a:p>
            <a:r>
              <a:rPr lang="en-US" sz="2800" dirty="0"/>
              <a:t>what should we keep in mind </a:t>
            </a:r>
          </a:p>
          <a:p>
            <a:r>
              <a:rPr lang="en-US" sz="2800" dirty="0"/>
              <a:t>when choosing this distribution?</a:t>
            </a:r>
          </a:p>
        </p:txBody>
      </p:sp>
      <p:cxnSp>
        <p:nvCxnSpPr>
          <p:cNvPr id="7" name="Straight Arrow Connector 6"/>
          <p:cNvCxnSpPr/>
          <p:nvPr/>
        </p:nvCxnSpPr>
        <p:spPr>
          <a:xfrm flipV="1">
            <a:off x="6248140" y="2404128"/>
            <a:ext cx="2438660" cy="1939177"/>
          </a:xfrm>
          <a:prstGeom prst="straightConnector1">
            <a:avLst/>
          </a:prstGeom>
          <a:ln w="5715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
        <p:nvSpPr>
          <p:cNvPr id="9" name="Content Placeholder 2"/>
          <p:cNvSpPr>
            <a:spLocks noGrp="1"/>
          </p:cNvSpPr>
          <p:nvPr>
            <p:ph idx="1"/>
          </p:nvPr>
        </p:nvSpPr>
        <p:spPr>
          <a:xfrm>
            <a:off x="389467" y="1073740"/>
            <a:ext cx="8584743" cy="721193"/>
          </a:xfrm>
        </p:spPr>
        <p:txBody>
          <a:bodyPr>
            <a:normAutofit/>
          </a:bodyPr>
          <a:lstStyle/>
          <a:p>
            <a:pPr marL="0" indent="0">
              <a:buNone/>
            </a:pPr>
            <a:r>
              <a:rPr lang="en-US" sz="2400" dirty="0">
                <a:solidFill>
                  <a:srgbClr val="288CD2"/>
                </a:solidFill>
              </a:rPr>
              <a:t>simplified LDA, and only showing generative story for 1 document:</a:t>
            </a:r>
          </a:p>
        </p:txBody>
      </p:sp>
    </p:spTree>
    <p:extLst>
      <p:ext uri="{BB962C8B-B14F-4D97-AF65-F5344CB8AC3E}">
        <p14:creationId xmlns:p14="http://schemas.microsoft.com/office/powerpoint/2010/main" val="3491429732"/>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Dirichlet</a:t>
            </a:r>
            <a:r>
              <a:rPr lang="en-US" dirty="0"/>
              <a:t> Distribution</a:t>
            </a:r>
          </a:p>
        </p:txBody>
      </p:sp>
      <p:sp>
        <p:nvSpPr>
          <p:cNvPr id="3" name="Content Placeholder 2"/>
          <p:cNvSpPr>
            <a:spLocks noGrp="1"/>
          </p:cNvSpPr>
          <p:nvPr>
            <p:ph idx="1"/>
          </p:nvPr>
        </p:nvSpPr>
        <p:spPr/>
        <p:txBody>
          <a:bodyPr/>
          <a:lstStyle/>
          <a:p>
            <a:r>
              <a:rPr lang="en-US" dirty="0"/>
              <a:t>distribution over vectors with entries that are all positive and sum to 1</a:t>
            </a:r>
          </a:p>
          <a:p>
            <a:r>
              <a:rPr lang="en-US" dirty="0"/>
              <a:t>so it’s kind of like a “distribution over (categorical) distributions”</a:t>
            </a:r>
          </a:p>
        </p:txBody>
      </p:sp>
      <p:sp>
        <p:nvSpPr>
          <p:cNvPr id="4" name="Slide Number Placeholder 3"/>
          <p:cNvSpPr>
            <a:spLocks noGrp="1"/>
          </p:cNvSpPr>
          <p:nvPr>
            <p:ph type="sldNum" sz="quarter" idx="12"/>
          </p:nvPr>
        </p:nvSpPr>
        <p:spPr/>
        <p:txBody>
          <a:bodyPr/>
          <a:lstStyle/>
          <a:p>
            <a:fld id="{3CFF3AF9-2D61-8E40-AE3D-8390D801ED2C}" type="slidenum">
              <a:rPr lang="en-US" smtClean="0"/>
              <a:t>32</a:t>
            </a:fld>
            <a:endParaRPr lang="en-US"/>
          </a:p>
        </p:txBody>
      </p:sp>
      <p:pic>
        <p:nvPicPr>
          <p:cNvPr id="5" name="Picture 4"/>
          <p:cNvPicPr>
            <a:picLocks noChangeAspect="1"/>
          </p:cNvPicPr>
          <p:nvPr/>
        </p:nvPicPr>
        <p:blipFill>
          <a:blip r:embed="rId3"/>
          <a:stretch>
            <a:fillRect/>
          </a:stretch>
        </p:blipFill>
        <p:spPr>
          <a:xfrm>
            <a:off x="2235200" y="3422650"/>
            <a:ext cx="4660900" cy="901700"/>
          </a:xfrm>
          <a:prstGeom prst="rect">
            <a:avLst/>
          </a:prstGeom>
        </p:spPr>
      </p:pic>
      <p:sp>
        <p:nvSpPr>
          <p:cNvPr id="8" name="TextBox 7"/>
          <p:cNvSpPr txBox="1"/>
          <p:nvPr/>
        </p:nvSpPr>
        <p:spPr>
          <a:xfrm>
            <a:off x="1258745" y="5007308"/>
            <a:ext cx="6225783" cy="584776"/>
          </a:xfrm>
          <a:prstGeom prst="rect">
            <a:avLst/>
          </a:prstGeom>
          <a:noFill/>
        </p:spPr>
        <p:txBody>
          <a:bodyPr wrap="none" rtlCol="0">
            <a:spAutoFit/>
          </a:bodyPr>
          <a:lstStyle/>
          <a:p>
            <a:r>
              <a:rPr lang="en-US" sz="3200" dirty="0"/>
              <a:t>normalization term that depends on</a:t>
            </a:r>
          </a:p>
        </p:txBody>
      </p:sp>
      <p:pic>
        <p:nvPicPr>
          <p:cNvPr id="9" name="Picture 8"/>
          <p:cNvPicPr>
            <a:picLocks noChangeAspect="1"/>
          </p:cNvPicPr>
          <p:nvPr/>
        </p:nvPicPr>
        <p:blipFill>
          <a:blip r:embed="rId4"/>
          <a:stretch>
            <a:fillRect/>
          </a:stretch>
        </p:blipFill>
        <p:spPr>
          <a:xfrm>
            <a:off x="7466968" y="5244090"/>
            <a:ext cx="271895" cy="237908"/>
          </a:xfrm>
          <a:prstGeom prst="rect">
            <a:avLst/>
          </a:prstGeom>
        </p:spPr>
      </p:pic>
      <p:cxnSp>
        <p:nvCxnSpPr>
          <p:cNvPr id="10" name="Straight Arrow Connector 9"/>
          <p:cNvCxnSpPr/>
          <p:nvPr/>
        </p:nvCxnSpPr>
        <p:spPr>
          <a:xfrm flipV="1">
            <a:off x="3843867" y="4275669"/>
            <a:ext cx="1032933" cy="782441"/>
          </a:xfrm>
          <a:prstGeom prst="straightConnector1">
            <a:avLst/>
          </a:prstGeom>
          <a:ln w="57150" cmpd="sng">
            <a:headEnd type="none"/>
            <a:tailEnd type="triangle" w="lg"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09256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Dirichlet</a:t>
            </a:r>
            <a:r>
              <a:rPr lang="en-US" dirty="0"/>
              <a:t> Distribution</a:t>
            </a:r>
          </a:p>
        </p:txBody>
      </p:sp>
      <p:sp>
        <p:nvSpPr>
          <p:cNvPr id="3" name="Content Placeholder 2"/>
          <p:cNvSpPr>
            <a:spLocks noGrp="1"/>
          </p:cNvSpPr>
          <p:nvPr>
            <p:ph idx="1"/>
          </p:nvPr>
        </p:nvSpPr>
        <p:spPr/>
        <p:txBody>
          <a:bodyPr/>
          <a:lstStyle/>
          <a:p>
            <a:r>
              <a:rPr lang="en-US" dirty="0"/>
              <a:t>parameterized by a positive vector</a:t>
            </a:r>
          </a:p>
        </p:txBody>
      </p:sp>
      <p:sp>
        <p:nvSpPr>
          <p:cNvPr id="4" name="Slide Number Placeholder 3"/>
          <p:cNvSpPr>
            <a:spLocks noGrp="1"/>
          </p:cNvSpPr>
          <p:nvPr>
            <p:ph type="sldNum" sz="quarter" idx="12"/>
          </p:nvPr>
        </p:nvSpPr>
        <p:spPr/>
        <p:txBody>
          <a:bodyPr/>
          <a:lstStyle/>
          <a:p>
            <a:fld id="{3CFF3AF9-2D61-8E40-AE3D-8390D801ED2C}" type="slidenum">
              <a:rPr lang="en-US" smtClean="0"/>
              <a:t>33</a:t>
            </a:fld>
            <a:endParaRPr lang="en-US"/>
          </a:p>
        </p:txBody>
      </p:sp>
      <p:pic>
        <p:nvPicPr>
          <p:cNvPr id="5" name="Picture 4"/>
          <p:cNvPicPr>
            <a:picLocks noChangeAspect="1"/>
          </p:cNvPicPr>
          <p:nvPr/>
        </p:nvPicPr>
        <p:blipFill>
          <a:blip r:embed="rId3"/>
          <a:stretch>
            <a:fillRect/>
          </a:stretch>
        </p:blipFill>
        <p:spPr>
          <a:xfrm>
            <a:off x="2133600" y="2274538"/>
            <a:ext cx="4660900" cy="901700"/>
          </a:xfrm>
          <a:prstGeom prst="rect">
            <a:avLst/>
          </a:prstGeom>
        </p:spPr>
      </p:pic>
      <p:pic>
        <p:nvPicPr>
          <p:cNvPr id="7" name="Picture 6"/>
          <p:cNvPicPr>
            <a:picLocks noChangeAspect="1"/>
          </p:cNvPicPr>
          <p:nvPr/>
        </p:nvPicPr>
        <p:blipFill>
          <a:blip r:embed="rId4"/>
          <a:stretch>
            <a:fillRect/>
          </a:stretch>
        </p:blipFill>
        <p:spPr>
          <a:xfrm>
            <a:off x="3021230" y="4009635"/>
            <a:ext cx="2489200" cy="368300"/>
          </a:xfrm>
          <a:prstGeom prst="rect">
            <a:avLst/>
          </a:prstGeom>
        </p:spPr>
      </p:pic>
      <p:pic>
        <p:nvPicPr>
          <p:cNvPr id="8" name="Picture 7"/>
          <p:cNvPicPr>
            <a:picLocks noChangeAspect="1"/>
          </p:cNvPicPr>
          <p:nvPr/>
        </p:nvPicPr>
        <p:blipFill>
          <a:blip r:embed="rId5"/>
          <a:stretch>
            <a:fillRect/>
          </a:stretch>
        </p:blipFill>
        <p:spPr>
          <a:xfrm>
            <a:off x="6743701" y="1324350"/>
            <a:ext cx="271895" cy="237908"/>
          </a:xfrm>
          <a:prstGeom prst="rect">
            <a:avLst/>
          </a:prstGeom>
        </p:spPr>
      </p:pic>
    </p:spTree>
    <p:extLst>
      <p:ext uri="{BB962C8B-B14F-4D97-AF65-F5344CB8AC3E}">
        <p14:creationId xmlns:p14="http://schemas.microsoft.com/office/powerpoint/2010/main" val="3710474266"/>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86267"/>
            <a:ext cx="8991600" cy="5939897"/>
          </a:xfrm>
        </p:spPr>
        <p:txBody>
          <a:bodyPr/>
          <a:lstStyle/>
          <a:p>
            <a:r>
              <a:rPr lang="en-US" dirty="0"/>
              <a:t>categorical = point on the simplex </a:t>
            </a:r>
          </a:p>
          <a:p>
            <a:endParaRPr lang="en-US" dirty="0"/>
          </a:p>
          <a:p>
            <a:endParaRPr lang="en-US" dirty="0"/>
          </a:p>
          <a:p>
            <a:endParaRPr lang="en-US" dirty="0"/>
          </a:p>
          <a:p>
            <a:endParaRPr lang="en-US" dirty="0"/>
          </a:p>
          <a:p>
            <a:pPr marL="0" indent="0">
              <a:buNone/>
            </a:pPr>
            <a:endParaRPr lang="en-US" sz="2400" dirty="0"/>
          </a:p>
          <a:p>
            <a:r>
              <a:rPr lang="en-US" dirty="0" err="1"/>
              <a:t>Dirichlet</a:t>
            </a:r>
            <a:r>
              <a:rPr lang="en-US" dirty="0"/>
              <a:t> = distribution over the simplex</a:t>
            </a:r>
          </a:p>
        </p:txBody>
      </p:sp>
      <p:sp>
        <p:nvSpPr>
          <p:cNvPr id="4" name="Slide Number Placeholder 3"/>
          <p:cNvSpPr>
            <a:spLocks noGrp="1"/>
          </p:cNvSpPr>
          <p:nvPr>
            <p:ph type="sldNum" sz="quarter" idx="12"/>
          </p:nvPr>
        </p:nvSpPr>
        <p:spPr/>
        <p:txBody>
          <a:bodyPr/>
          <a:lstStyle/>
          <a:p>
            <a:fld id="{3CFF3AF9-2D61-8E40-AE3D-8390D801ED2C}" type="slidenum">
              <a:rPr lang="en-US" smtClean="0"/>
              <a:t>34</a:t>
            </a:fld>
            <a:endParaRPr lang="en-US"/>
          </a:p>
        </p:txBody>
      </p:sp>
      <p:sp>
        <p:nvSpPr>
          <p:cNvPr id="5" name="Isosceles Triangle 4"/>
          <p:cNvSpPr/>
          <p:nvPr/>
        </p:nvSpPr>
        <p:spPr>
          <a:xfrm>
            <a:off x="3347828" y="4701314"/>
            <a:ext cx="2184144" cy="1882883"/>
          </a:xfrm>
          <a:prstGeom prst="triangle">
            <a:avLst/>
          </a:prstGeom>
          <a:gradFill flip="none" rotWithShape="1">
            <a:gsLst>
              <a:gs pos="12000">
                <a:schemeClr val="accent1"/>
              </a:gs>
              <a:gs pos="85000">
                <a:prstClr val="white"/>
              </a:gs>
            </a:gsLst>
            <a:path path="circle">
              <a:fillToRect l="100000" t="100000"/>
            </a:path>
            <a:tileRect r="-100000" b="-100000"/>
          </a:grad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p:cNvSpPr txBox="1"/>
          <p:nvPr/>
        </p:nvSpPr>
        <p:spPr>
          <a:xfrm>
            <a:off x="4118401" y="4094344"/>
            <a:ext cx="628773" cy="523220"/>
          </a:xfrm>
          <a:prstGeom prst="rect">
            <a:avLst/>
          </a:prstGeom>
          <a:noFill/>
        </p:spPr>
        <p:txBody>
          <a:bodyPr wrap="none" rtlCol="0">
            <a:spAutoFit/>
          </a:bodyPr>
          <a:lstStyle/>
          <a:p>
            <a:r>
              <a:rPr lang="en-US" sz="2800" dirty="0"/>
              <a:t>cat</a:t>
            </a:r>
          </a:p>
        </p:txBody>
      </p:sp>
      <p:sp>
        <p:nvSpPr>
          <p:cNvPr id="7" name="TextBox 6"/>
          <p:cNvSpPr txBox="1"/>
          <p:nvPr/>
        </p:nvSpPr>
        <p:spPr>
          <a:xfrm>
            <a:off x="2515364" y="6168635"/>
            <a:ext cx="731691" cy="523220"/>
          </a:xfrm>
          <a:prstGeom prst="rect">
            <a:avLst/>
          </a:prstGeom>
          <a:noFill/>
        </p:spPr>
        <p:txBody>
          <a:bodyPr wrap="none" rtlCol="0">
            <a:spAutoFit/>
          </a:bodyPr>
          <a:lstStyle/>
          <a:p>
            <a:r>
              <a:rPr lang="en-US" sz="2800" dirty="0"/>
              <a:t>dog</a:t>
            </a:r>
          </a:p>
        </p:txBody>
      </p:sp>
      <p:sp>
        <p:nvSpPr>
          <p:cNvPr id="8" name="TextBox 7"/>
          <p:cNvSpPr txBox="1"/>
          <p:nvPr/>
        </p:nvSpPr>
        <p:spPr>
          <a:xfrm>
            <a:off x="5617176" y="6168635"/>
            <a:ext cx="833381" cy="523220"/>
          </a:xfrm>
          <a:prstGeom prst="rect">
            <a:avLst/>
          </a:prstGeom>
          <a:noFill/>
        </p:spPr>
        <p:txBody>
          <a:bodyPr wrap="none" rtlCol="0">
            <a:spAutoFit/>
          </a:bodyPr>
          <a:lstStyle/>
          <a:p>
            <a:r>
              <a:rPr lang="en-US" sz="2800" dirty="0"/>
              <a:t>UNK</a:t>
            </a:r>
          </a:p>
        </p:txBody>
      </p:sp>
      <p:sp>
        <p:nvSpPr>
          <p:cNvPr id="9" name="Isosceles Triangle 8"/>
          <p:cNvSpPr/>
          <p:nvPr/>
        </p:nvSpPr>
        <p:spPr>
          <a:xfrm>
            <a:off x="3370262" y="1280976"/>
            <a:ext cx="2197331" cy="1894251"/>
          </a:xfrm>
          <a:prstGeom prst="triangle">
            <a:avLst/>
          </a:prstGeom>
          <a:noFill/>
          <a:ln w="57150" cmpd="sng"/>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865236" y="2760785"/>
            <a:ext cx="169804" cy="169804"/>
          </a:xfrm>
          <a:prstGeom prst="ellipse">
            <a:avLst/>
          </a:prstGeom>
          <a:solidFill>
            <a:srgbClr val="288C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4137641" y="735300"/>
            <a:ext cx="628773" cy="523220"/>
          </a:xfrm>
          <a:prstGeom prst="rect">
            <a:avLst/>
          </a:prstGeom>
          <a:noFill/>
        </p:spPr>
        <p:txBody>
          <a:bodyPr wrap="none" rtlCol="0">
            <a:spAutoFit/>
          </a:bodyPr>
          <a:lstStyle/>
          <a:p>
            <a:r>
              <a:rPr lang="en-US" sz="2800" dirty="0"/>
              <a:t>cat</a:t>
            </a:r>
          </a:p>
        </p:txBody>
      </p:sp>
      <p:sp>
        <p:nvSpPr>
          <p:cNvPr id="12" name="TextBox 11"/>
          <p:cNvSpPr txBox="1"/>
          <p:nvPr/>
        </p:nvSpPr>
        <p:spPr>
          <a:xfrm>
            <a:off x="2534604" y="2848079"/>
            <a:ext cx="731691" cy="523220"/>
          </a:xfrm>
          <a:prstGeom prst="rect">
            <a:avLst/>
          </a:prstGeom>
          <a:noFill/>
        </p:spPr>
        <p:txBody>
          <a:bodyPr wrap="none" rtlCol="0">
            <a:spAutoFit/>
          </a:bodyPr>
          <a:lstStyle/>
          <a:p>
            <a:r>
              <a:rPr lang="en-US" sz="2800" dirty="0"/>
              <a:t>dog</a:t>
            </a:r>
          </a:p>
        </p:txBody>
      </p:sp>
      <p:sp>
        <p:nvSpPr>
          <p:cNvPr id="13" name="TextBox 12"/>
          <p:cNvSpPr txBox="1"/>
          <p:nvPr/>
        </p:nvSpPr>
        <p:spPr>
          <a:xfrm>
            <a:off x="5694136" y="2848079"/>
            <a:ext cx="833381" cy="523220"/>
          </a:xfrm>
          <a:prstGeom prst="rect">
            <a:avLst/>
          </a:prstGeom>
          <a:noFill/>
        </p:spPr>
        <p:txBody>
          <a:bodyPr wrap="none" rtlCol="0">
            <a:spAutoFit/>
          </a:bodyPr>
          <a:lstStyle/>
          <a:p>
            <a:r>
              <a:rPr lang="en-US" sz="2800" dirty="0"/>
              <a:t>UNK</a:t>
            </a:r>
          </a:p>
        </p:txBody>
      </p:sp>
    </p:spTree>
    <p:extLst>
      <p:ext uri="{BB962C8B-B14F-4D97-AF65-F5344CB8AC3E}">
        <p14:creationId xmlns:p14="http://schemas.microsoft.com/office/powerpoint/2010/main" val="404146868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[see </a:t>
            </a:r>
            <a:r>
              <a:rPr lang="en-US" dirty="0" err="1"/>
              <a:t>Jupyter</a:t>
            </a:r>
            <a:r>
              <a:rPr lang="en-US" dirty="0"/>
              <a:t> Notebook]</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35</a:t>
            </a:fld>
            <a:endParaRPr lang="en-US"/>
          </a:p>
        </p:txBody>
      </p:sp>
    </p:spTree>
    <p:extLst>
      <p:ext uri="{BB962C8B-B14F-4D97-AF65-F5344CB8AC3E}">
        <p14:creationId xmlns:p14="http://schemas.microsoft.com/office/powerpoint/2010/main" val="343306749"/>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Simple LDA</a:t>
            </a:r>
          </a:p>
        </p:txBody>
      </p:sp>
      <p:sp>
        <p:nvSpPr>
          <p:cNvPr id="3" name="Content Placeholder 2"/>
          <p:cNvSpPr>
            <a:spLocks noGrp="1"/>
          </p:cNvSpPr>
          <p:nvPr>
            <p:ph idx="1"/>
          </p:nvPr>
        </p:nvSpPr>
        <p:spPr>
          <a:xfrm>
            <a:off x="389467" y="1073740"/>
            <a:ext cx="8584743" cy="721193"/>
          </a:xfrm>
        </p:spPr>
        <p:txBody>
          <a:bodyPr>
            <a:normAutofit/>
          </a:bodyPr>
          <a:lstStyle/>
          <a:p>
            <a:pPr marL="0" indent="0">
              <a:buNone/>
            </a:pPr>
            <a:r>
              <a:rPr lang="en-US" sz="2400" dirty="0">
                <a:solidFill>
                  <a:srgbClr val="288CD2"/>
                </a:solidFill>
              </a:rPr>
              <a:t>simplified LDA, and only showing generative story for 1 document:</a:t>
            </a:r>
          </a:p>
        </p:txBody>
      </p:sp>
      <p:sp>
        <p:nvSpPr>
          <p:cNvPr id="4" name="Slide Number Placeholder 3"/>
          <p:cNvSpPr>
            <a:spLocks noGrp="1"/>
          </p:cNvSpPr>
          <p:nvPr>
            <p:ph type="sldNum" sz="quarter" idx="12"/>
          </p:nvPr>
        </p:nvSpPr>
        <p:spPr/>
        <p:txBody>
          <a:bodyPr/>
          <a:lstStyle/>
          <a:p>
            <a:fld id="{3CFF3AF9-2D61-8E40-AE3D-8390D801ED2C}" type="slidenum">
              <a:rPr lang="en-US" smtClean="0"/>
              <a:t>36</a:t>
            </a:fld>
            <a:endParaRPr lang="en-US"/>
          </a:p>
        </p:txBody>
      </p:sp>
      <p:pic>
        <p:nvPicPr>
          <p:cNvPr id="5" name="Picture 4"/>
          <p:cNvPicPr>
            <a:picLocks noChangeAspect="1"/>
          </p:cNvPicPr>
          <p:nvPr/>
        </p:nvPicPr>
        <p:blipFill>
          <a:blip r:embed="rId3"/>
          <a:stretch>
            <a:fillRect/>
          </a:stretch>
        </p:blipFill>
        <p:spPr>
          <a:xfrm>
            <a:off x="272151" y="2105890"/>
            <a:ext cx="8769792" cy="1549963"/>
          </a:xfrm>
          <a:prstGeom prst="rect">
            <a:avLst/>
          </a:prstGeom>
        </p:spPr>
      </p:pic>
    </p:spTree>
    <p:extLst>
      <p:ext uri="{BB962C8B-B14F-4D97-AF65-F5344CB8AC3E}">
        <p14:creationId xmlns:p14="http://schemas.microsoft.com/office/powerpoint/2010/main" val="2683834670"/>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Simple LDA</a:t>
            </a:r>
          </a:p>
        </p:txBody>
      </p:sp>
      <p:sp>
        <p:nvSpPr>
          <p:cNvPr id="4" name="Slide Number Placeholder 3"/>
          <p:cNvSpPr>
            <a:spLocks noGrp="1"/>
          </p:cNvSpPr>
          <p:nvPr>
            <p:ph type="sldNum" sz="quarter" idx="12"/>
          </p:nvPr>
        </p:nvSpPr>
        <p:spPr/>
        <p:txBody>
          <a:bodyPr/>
          <a:lstStyle/>
          <a:p>
            <a:fld id="{3CFF3AF9-2D61-8E40-AE3D-8390D801ED2C}" type="slidenum">
              <a:rPr lang="en-US" smtClean="0"/>
              <a:t>37</a:t>
            </a:fld>
            <a:endParaRPr lang="en-US"/>
          </a:p>
        </p:txBody>
      </p:sp>
      <p:pic>
        <p:nvPicPr>
          <p:cNvPr id="8" name="Picture 7"/>
          <p:cNvPicPr>
            <a:picLocks noChangeAspect="1"/>
          </p:cNvPicPr>
          <p:nvPr/>
        </p:nvPicPr>
        <p:blipFill>
          <a:blip r:embed="rId3"/>
          <a:stretch>
            <a:fillRect/>
          </a:stretch>
        </p:blipFill>
        <p:spPr>
          <a:xfrm>
            <a:off x="275767" y="2087111"/>
            <a:ext cx="7083396" cy="1557342"/>
          </a:xfrm>
          <a:prstGeom prst="rect">
            <a:avLst/>
          </a:prstGeom>
        </p:spPr>
      </p:pic>
      <p:sp>
        <p:nvSpPr>
          <p:cNvPr id="9" name="Content Placeholder 2">
            <a:extLst>
              <a:ext uri="{FF2B5EF4-FFF2-40B4-BE49-F238E27FC236}">
                <a16:creationId xmlns="" xmlns:a16="http://schemas.microsoft.com/office/drawing/2014/main" id="{3EA7D92D-95C8-C945-9B7D-BD28B3C0C495}"/>
              </a:ext>
            </a:extLst>
          </p:cNvPr>
          <p:cNvSpPr>
            <a:spLocks noGrp="1"/>
          </p:cNvSpPr>
          <p:nvPr>
            <p:ph idx="1"/>
          </p:nvPr>
        </p:nvSpPr>
        <p:spPr>
          <a:xfrm>
            <a:off x="389467" y="1073740"/>
            <a:ext cx="8584743" cy="721193"/>
          </a:xfrm>
        </p:spPr>
        <p:txBody>
          <a:bodyPr>
            <a:normAutofit/>
          </a:bodyPr>
          <a:lstStyle/>
          <a:p>
            <a:pPr marL="0" indent="0">
              <a:buNone/>
            </a:pPr>
            <a:r>
              <a:rPr lang="en-US" sz="2400" dirty="0">
                <a:solidFill>
                  <a:srgbClr val="288CD2"/>
                </a:solidFill>
              </a:rPr>
              <a:t>simplified LDA, and only showing generative story for 1 document:</a:t>
            </a:r>
          </a:p>
        </p:txBody>
      </p:sp>
    </p:spTree>
    <p:extLst>
      <p:ext uri="{BB962C8B-B14F-4D97-AF65-F5344CB8AC3E}">
        <p14:creationId xmlns:p14="http://schemas.microsoft.com/office/powerpoint/2010/main" val="1257388120"/>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Story for LDA</a:t>
            </a:r>
          </a:p>
        </p:txBody>
      </p:sp>
      <p:sp>
        <p:nvSpPr>
          <p:cNvPr id="4" name="Slide Number Placeholder 3"/>
          <p:cNvSpPr>
            <a:spLocks noGrp="1"/>
          </p:cNvSpPr>
          <p:nvPr>
            <p:ph type="sldNum" sz="quarter" idx="12"/>
          </p:nvPr>
        </p:nvSpPr>
        <p:spPr/>
        <p:txBody>
          <a:bodyPr/>
          <a:lstStyle/>
          <a:p>
            <a:fld id="{3CFF3AF9-2D61-8E40-AE3D-8390D801ED2C}" type="slidenum">
              <a:rPr lang="en-US" smtClean="0"/>
              <a:t>38</a:t>
            </a:fld>
            <a:endParaRPr lang="en-US"/>
          </a:p>
        </p:txBody>
      </p:sp>
      <p:sp>
        <p:nvSpPr>
          <p:cNvPr id="5" name="Content Placeholder 4"/>
          <p:cNvSpPr>
            <a:spLocks noGrp="1"/>
          </p:cNvSpPr>
          <p:nvPr>
            <p:ph idx="1"/>
          </p:nvPr>
        </p:nvSpPr>
        <p:spPr>
          <a:xfrm>
            <a:off x="457200" y="4048460"/>
            <a:ext cx="8229600" cy="2077704"/>
          </a:xfrm>
        </p:spPr>
        <p:txBody>
          <a:bodyPr>
            <a:normAutofit/>
          </a:bodyPr>
          <a:lstStyle/>
          <a:p>
            <a:r>
              <a:rPr lang="en-US" sz="2800" dirty="0"/>
              <a:t>now we show explicitly the generation of the word </a:t>
            </a:r>
            <a:r>
              <a:rPr lang="en-US" sz="2800" dirty="0" err="1"/>
              <a:t>multinomials</a:t>
            </a:r>
            <a:r>
              <a:rPr lang="en-US" sz="2800" dirty="0"/>
              <a:t> (once for the document collection)</a:t>
            </a:r>
          </a:p>
          <a:p>
            <a:r>
              <a:rPr lang="en-US" sz="2800" dirty="0"/>
              <a:t>where should the </a:t>
            </a:r>
            <a:r>
              <a:rPr lang="en-US" sz="2800" dirty="0" err="1"/>
              <a:t>hyperparameters</a:t>
            </a:r>
            <a:r>
              <a:rPr lang="en-US" sz="2800" dirty="0"/>
              <a:t> (alpha and psi) come from?</a:t>
            </a:r>
          </a:p>
        </p:txBody>
      </p:sp>
      <p:pic>
        <p:nvPicPr>
          <p:cNvPr id="3" name="Picture 2"/>
          <p:cNvPicPr>
            <a:picLocks noChangeAspect="1"/>
          </p:cNvPicPr>
          <p:nvPr/>
        </p:nvPicPr>
        <p:blipFill>
          <a:blip r:embed="rId3"/>
          <a:stretch>
            <a:fillRect/>
          </a:stretch>
        </p:blipFill>
        <p:spPr>
          <a:xfrm>
            <a:off x="90005" y="1109638"/>
            <a:ext cx="8973908" cy="2370466"/>
          </a:xfrm>
          <a:prstGeom prst="rect">
            <a:avLst/>
          </a:prstGeom>
        </p:spPr>
      </p:pic>
    </p:spTree>
    <p:extLst>
      <p:ext uri="{BB962C8B-B14F-4D97-AF65-F5344CB8AC3E}">
        <p14:creationId xmlns:p14="http://schemas.microsoft.com/office/powerpoint/2010/main" val="333463533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Graphical Model for LDA</a:t>
            </a:r>
          </a:p>
        </p:txBody>
      </p:sp>
      <p:sp>
        <p:nvSpPr>
          <p:cNvPr id="4" name="Slide Number Placeholder 3"/>
          <p:cNvSpPr>
            <a:spLocks noGrp="1"/>
          </p:cNvSpPr>
          <p:nvPr>
            <p:ph type="sldNum" sz="quarter" idx="12"/>
          </p:nvPr>
        </p:nvSpPr>
        <p:spPr/>
        <p:txBody>
          <a:bodyPr/>
          <a:lstStyle/>
          <a:p>
            <a:fld id="{3CFF3AF9-2D61-8E40-AE3D-8390D801ED2C}" type="slidenum">
              <a:rPr lang="en-US" smtClean="0"/>
              <a:t>39</a:t>
            </a:fld>
            <a:endParaRPr lang="en-US"/>
          </a:p>
        </p:txBody>
      </p:sp>
      <p:pic>
        <p:nvPicPr>
          <p:cNvPr id="5" name="Picture 4"/>
          <p:cNvPicPr>
            <a:picLocks noChangeAspect="1"/>
          </p:cNvPicPr>
          <p:nvPr/>
        </p:nvPicPr>
        <p:blipFill>
          <a:blip r:embed="rId2"/>
          <a:stretch>
            <a:fillRect/>
          </a:stretch>
        </p:blipFill>
        <p:spPr>
          <a:xfrm>
            <a:off x="2089582" y="1451549"/>
            <a:ext cx="5649733" cy="2983907"/>
          </a:xfrm>
          <a:prstGeom prst="rect">
            <a:avLst/>
          </a:prstGeom>
        </p:spPr>
      </p:pic>
    </p:spTree>
    <p:extLst>
      <p:ext uri="{BB962C8B-B14F-4D97-AF65-F5344CB8AC3E}">
        <p14:creationId xmlns:p14="http://schemas.microsoft.com/office/powerpoint/2010/main" val="2906940785"/>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76674</TotalTime>
  <Words>3741</Words>
  <Application>Microsoft Macintosh PowerPoint</Application>
  <PresentationFormat>On-screen Show (4:3)</PresentationFormat>
  <Paragraphs>296</Paragraphs>
  <Slides>39</Slides>
  <Notes>16</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TTIC 31210: Advanced Natural Language Processing</vt:lpstr>
      <vt:lpstr>Roadmap</vt:lpstr>
      <vt:lpstr>Assignments</vt:lpstr>
      <vt:lpstr>Additional Reading</vt:lpstr>
      <vt:lpstr>Motivation</vt:lpstr>
      <vt:lpstr>Motivation</vt:lpstr>
      <vt:lpstr>Motivation</vt:lpstr>
      <vt:lpstr>Motivation</vt:lpstr>
      <vt:lpstr>Motivation</vt:lpstr>
      <vt:lpstr>Motivation</vt:lpstr>
      <vt:lpstr>Motivation</vt:lpstr>
      <vt:lpstr>Going Further…</vt:lpstr>
      <vt:lpstr>Going Further…</vt:lpstr>
      <vt:lpstr>Why “Bayesian”?</vt:lpstr>
      <vt:lpstr>Bayesian NLP</vt:lpstr>
      <vt:lpstr>Generative Story Template</vt:lpstr>
      <vt:lpstr>Categorical Distribution</vt:lpstr>
      <vt:lpstr>Categorical vs. Multinomial</vt:lpstr>
      <vt:lpstr>Vector Form of Categorical Distribution</vt:lpstr>
      <vt:lpstr>Vector Form of Categorical Distribution</vt:lpstr>
      <vt:lpstr>The 2-Simplex</vt:lpstr>
      <vt:lpstr>The 2-Simplex</vt:lpstr>
      <vt:lpstr>The 2-Simplex</vt:lpstr>
      <vt:lpstr>The 2-Simplex</vt:lpstr>
      <vt:lpstr>Categorical Parameters lie in (K-1)-Simplex</vt:lpstr>
      <vt:lpstr>PowerPoint Presentation</vt:lpstr>
      <vt:lpstr>PowerPoint Presentation</vt:lpstr>
      <vt:lpstr>Latent Dirichlet Allocation (Blei et al., 2003)</vt:lpstr>
      <vt:lpstr>Generative Story for Simple LDA</vt:lpstr>
      <vt:lpstr>Generative Story for Simple LDA</vt:lpstr>
      <vt:lpstr>Generative Story for Simple LDA</vt:lpstr>
      <vt:lpstr>Dirichlet Distribution</vt:lpstr>
      <vt:lpstr>Dirichlet Distribution</vt:lpstr>
      <vt:lpstr>PowerPoint Presentation</vt:lpstr>
      <vt:lpstr>[see Jupyter Notebook]</vt:lpstr>
      <vt:lpstr>Generative Story for Simple LDA</vt:lpstr>
      <vt:lpstr>Generative Story for Simple LDA</vt:lpstr>
      <vt:lpstr>Generative Story for LDA</vt:lpstr>
      <vt:lpstr>Graphical Model for LDA</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TTIC 31190: Natural Language Processing</dc:title>
  <dc:creator>Kevin Gimpel</dc:creator>
  <cp:lastModifiedBy>Kevin</cp:lastModifiedBy>
  <cp:revision>1460</cp:revision>
  <dcterms:created xsi:type="dcterms:W3CDTF">2015-08-31T18:15:35Z</dcterms:created>
  <dcterms:modified xsi:type="dcterms:W3CDTF">2019-05-14T17:16:25Z</dcterms:modified>
</cp:coreProperties>
</file>