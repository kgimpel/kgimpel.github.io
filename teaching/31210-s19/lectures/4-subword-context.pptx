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56" r:id="rId2"/>
    <p:sldId id="3061" r:id="rId3"/>
    <p:sldId id="3062" r:id="rId4"/>
    <p:sldId id="3118" r:id="rId5"/>
    <p:sldId id="3054" r:id="rId6"/>
    <p:sldId id="3106" r:id="rId7"/>
    <p:sldId id="770" r:id="rId8"/>
    <p:sldId id="3071" r:id="rId9"/>
    <p:sldId id="3072" r:id="rId10"/>
    <p:sldId id="3073" r:id="rId11"/>
    <p:sldId id="3091" r:id="rId12"/>
    <p:sldId id="774" r:id="rId13"/>
    <p:sldId id="776" r:id="rId14"/>
    <p:sldId id="3124" r:id="rId15"/>
    <p:sldId id="3125" r:id="rId16"/>
    <p:sldId id="3126" r:id="rId17"/>
    <p:sldId id="3127" r:id="rId18"/>
    <p:sldId id="3128" r:id="rId19"/>
    <p:sldId id="3129" r:id="rId20"/>
    <p:sldId id="3130" r:id="rId21"/>
    <p:sldId id="3131" r:id="rId22"/>
    <p:sldId id="3145" r:id="rId23"/>
    <p:sldId id="3146" r:id="rId24"/>
    <p:sldId id="3134" r:id="rId25"/>
    <p:sldId id="3135" r:id="rId26"/>
    <p:sldId id="3109" r:id="rId27"/>
    <p:sldId id="3111" r:id="rId28"/>
    <p:sldId id="3112" r:id="rId29"/>
    <p:sldId id="777" r:id="rId30"/>
    <p:sldId id="778" r:id="rId31"/>
    <p:sldId id="779" r:id="rId32"/>
    <p:sldId id="3116" r:id="rId33"/>
    <p:sldId id="3137" r:id="rId34"/>
    <p:sldId id="3147" r:id="rId35"/>
    <p:sldId id="3113" r:id="rId36"/>
    <p:sldId id="3114" r:id="rId37"/>
    <p:sldId id="795" r:id="rId38"/>
    <p:sldId id="3138" r:id="rId39"/>
    <p:sldId id="2983" r:id="rId40"/>
    <p:sldId id="804" r:id="rId41"/>
    <p:sldId id="3148" r:id="rId42"/>
    <p:sldId id="762" r:id="rId43"/>
    <p:sldId id="796" r:id="rId44"/>
    <p:sldId id="2980" r:id="rId45"/>
    <p:sldId id="2984" r:id="rId46"/>
    <p:sldId id="2985" r:id="rId47"/>
    <p:sldId id="2986" r:id="rId48"/>
    <p:sldId id="3151" r:id="rId49"/>
    <p:sldId id="3152" r:id="rId50"/>
    <p:sldId id="3153" r:id="rId51"/>
    <p:sldId id="3155" r:id="rId52"/>
    <p:sldId id="3154" r:id="rId53"/>
    <p:sldId id="3150" r:id="rId54"/>
    <p:sldId id="2992" r:id="rId55"/>
    <p:sldId id="2993" r:id="rId56"/>
    <p:sldId id="2994" r:id="rId57"/>
    <p:sldId id="2995" r:id="rId58"/>
    <p:sldId id="2996" r:id="rId59"/>
    <p:sldId id="2997" r:id="rId60"/>
    <p:sldId id="767" r:id="rId61"/>
    <p:sldId id="768" r:id="rId62"/>
    <p:sldId id="3156" r:id="rId63"/>
    <p:sldId id="769" r:id="rId64"/>
    <p:sldId id="803" r:id="rId65"/>
    <p:sldId id="801" r:id="rId66"/>
    <p:sldId id="3139" r:id="rId67"/>
    <p:sldId id="3140" r:id="rId68"/>
    <p:sldId id="797" r:id="rId69"/>
    <p:sldId id="2972" r:id="rId70"/>
    <p:sldId id="3141" r:id="rId71"/>
    <p:sldId id="3142" r:id="rId72"/>
    <p:sldId id="3144" r:id="rId7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FCEE16"/>
    <a:srgbClr val="E7E729"/>
    <a:srgbClr val="E2DF4E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3"/>
    <p:restoredTop sz="90364" autoAdjust="0"/>
  </p:normalViewPr>
  <p:slideViewPr>
    <p:cSldViewPr snapToGrid="0" snapToObjects="1">
      <p:cViewPr varScale="1">
        <p:scale>
          <a:sx n="73" d="100"/>
          <a:sy n="73" d="100"/>
        </p:scale>
        <p:origin x="-25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interSettings" Target="printerSettings/printerSettings1.bin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4/10/19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Ling LSTM, </a:t>
            </a:r>
            <a:r>
              <a:rPr lang="en-US" dirty="0" err="1"/>
              <a:t>ballest</a:t>
            </a:r>
            <a:endParaRPr lang="en-US" dirty="0"/>
          </a:p>
          <a:p>
            <a:r>
              <a:rPr lang="en-US" dirty="0"/>
              <a:t>Yoon Kim CNN</a:t>
            </a:r>
          </a:p>
          <a:p>
            <a:r>
              <a:rPr lang="en-US" dirty="0"/>
              <a:t>DSSM/</a:t>
            </a:r>
            <a:r>
              <a:rPr lang="en-US" dirty="0" err="1"/>
              <a:t>Charagram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22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Ling LSTM, </a:t>
            </a:r>
            <a:r>
              <a:rPr lang="en-US" dirty="0" err="1"/>
              <a:t>ballest</a:t>
            </a:r>
            <a:endParaRPr lang="en-US" dirty="0"/>
          </a:p>
          <a:p>
            <a:r>
              <a:rPr lang="en-US" dirty="0"/>
              <a:t>Yoon Kim CNN</a:t>
            </a:r>
          </a:p>
          <a:p>
            <a:r>
              <a:rPr lang="en-US" dirty="0"/>
              <a:t>DSSM/</a:t>
            </a:r>
            <a:r>
              <a:rPr lang="en-US" dirty="0" err="1"/>
              <a:t>Charagram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22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=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= [0.4 \,\,... \,\, 0.9 \,\,\,\, 0.2 \,\,... \,\, 0.7 \,\,\,\, 0.3 \,\, ... \,\, 0.6]^\top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{w}\in\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{R}^d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%c_1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{x}_{1:d} + b\right)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%c_2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{x}_{d+1:2d}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%c_3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{x}_{2d+1:3d}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83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c_1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{w}^\top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{x}_{1:d}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09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c_2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{w}^\top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{x}_{d+1:2d}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68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c_3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{w}^\top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{x}_{2d+1:3d}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33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c_1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{w}^\top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{x}_{1:d} + b\right)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68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72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62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62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Ling LSTM, </a:t>
            </a:r>
            <a:r>
              <a:rPr lang="en-US" dirty="0" err="1"/>
              <a:t>ballest</a:t>
            </a:r>
            <a:endParaRPr lang="en-US" dirty="0"/>
          </a:p>
          <a:p>
            <a:r>
              <a:rPr lang="en-US" dirty="0"/>
              <a:t>Yoon Kim CNN</a:t>
            </a:r>
          </a:p>
          <a:p>
            <a:r>
              <a:rPr lang="en-US" dirty="0"/>
              <a:t>DSSM/</a:t>
            </a:r>
            <a:r>
              <a:rPr lang="en-US" dirty="0" err="1"/>
              <a:t>Charagram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26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Ling LSTM, </a:t>
            </a:r>
            <a:r>
              <a:rPr lang="en-US" dirty="0" err="1"/>
              <a:t>ballest</a:t>
            </a:r>
            <a:endParaRPr lang="en-US" dirty="0"/>
          </a:p>
          <a:p>
            <a:r>
              <a:rPr lang="en-US" dirty="0"/>
              <a:t>Yoon Kim CNN</a:t>
            </a:r>
          </a:p>
          <a:p>
            <a:r>
              <a:rPr lang="en-US" dirty="0"/>
              <a:t>DSSM/</a:t>
            </a:r>
            <a:r>
              <a:rPr lang="en-US" dirty="0" err="1"/>
              <a:t>Charagram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53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9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4/10/19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4/10/19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4/10/19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4/10/19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4/10/19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7.emf"/><Relationship Id="rId5" Type="http://schemas.openxmlformats.org/officeDocument/2006/relationships/image" Target="../media/image10.emf"/><Relationship Id="rId6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7.emf"/><Relationship Id="rId5" Type="http://schemas.openxmlformats.org/officeDocument/2006/relationships/image" Target="../media/image12.emf"/><Relationship Id="rId6" Type="http://schemas.openxmlformats.org/officeDocument/2006/relationships/image" Target="../media/image11.emf"/><Relationship Id="rId7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7.emf"/><Relationship Id="rId5" Type="http://schemas.openxmlformats.org/officeDocument/2006/relationships/image" Target="../media/image11.emf"/><Relationship Id="rId6" Type="http://schemas.openxmlformats.org/officeDocument/2006/relationships/image" Target="../media/image13.emf"/><Relationship Id="rId7" Type="http://schemas.openxmlformats.org/officeDocument/2006/relationships/image" Target="../media/image12.emf"/><Relationship Id="rId8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7.emf"/><Relationship Id="rId5" Type="http://schemas.openxmlformats.org/officeDocument/2006/relationships/image" Target="../media/image13.emf"/><Relationship Id="rId6" Type="http://schemas.openxmlformats.org/officeDocument/2006/relationships/image" Target="../media/image12.emf"/><Relationship Id="rId7" Type="http://schemas.openxmlformats.org/officeDocument/2006/relationships/image" Target="../media/image10.emf"/><Relationship Id="rId8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15.emf"/><Relationship Id="rId5" Type="http://schemas.openxmlformats.org/officeDocument/2006/relationships/image" Target="../media/image13.emf"/><Relationship Id="rId6" Type="http://schemas.openxmlformats.org/officeDocument/2006/relationships/image" Target="../media/image12.emf"/><Relationship Id="rId7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15.emf"/><Relationship Id="rId5" Type="http://schemas.openxmlformats.org/officeDocument/2006/relationships/image" Target="../media/image13.emf"/><Relationship Id="rId6" Type="http://schemas.openxmlformats.org/officeDocument/2006/relationships/image" Target="../media/image12.emf"/><Relationship Id="rId7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15.emf"/><Relationship Id="rId5" Type="http://schemas.openxmlformats.org/officeDocument/2006/relationships/image" Target="../media/image13.emf"/><Relationship Id="rId6" Type="http://schemas.openxmlformats.org/officeDocument/2006/relationships/image" Target="../media/image12.emf"/><Relationship Id="rId7" Type="http://schemas.openxmlformats.org/officeDocument/2006/relationships/image" Target="../media/image10.emf"/><Relationship Id="rId8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TTIC 31210:</a:t>
            </a:r>
            <a:br>
              <a:rPr lang="en-US" dirty="0"/>
            </a:br>
            <a:r>
              <a:rPr lang="en-US" sz="4000" dirty="0"/>
              <a:t>Advanced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8862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4:</a:t>
            </a:r>
          </a:p>
          <a:p>
            <a:r>
              <a:rPr lang="en-US" sz="4000" dirty="0" err="1">
                <a:solidFill>
                  <a:schemeClr val="tx1"/>
                </a:solidFill>
              </a:rPr>
              <a:t>Subword</a:t>
            </a:r>
            <a:r>
              <a:rPr lang="en-US" sz="4000" dirty="0">
                <a:solidFill>
                  <a:schemeClr val="tx1"/>
                </a:solidFill>
              </a:rPr>
              <a:t> Modeling and Contextualized Word Embeddings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22960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b="1" dirty="0"/>
              <a:t>deep learning for NLP (5 lectures)</a:t>
            </a:r>
          </a:p>
          <a:p>
            <a:r>
              <a:rPr lang="en-US" sz="2400" dirty="0"/>
              <a:t>structured prediction: sequence labeling, syntactic and semantic parsing, dynamic programming (4 lectures)</a:t>
            </a:r>
          </a:p>
          <a:p>
            <a:r>
              <a:rPr lang="en-US" sz="2400" dirty="0"/>
              <a:t>generative models, latent variables, unsupervised learning, variational autoencoders (2 lectures)</a:t>
            </a:r>
          </a:p>
          <a:p>
            <a:r>
              <a:rPr lang="en-US" sz="2400" dirty="0"/>
              <a:t>Bayesian methods in NLP (2 lectures)</a:t>
            </a:r>
          </a:p>
          <a:p>
            <a:r>
              <a:rPr lang="en-US" sz="2400" dirty="0"/>
              <a:t>Bayesian </a:t>
            </a:r>
            <a:r>
              <a:rPr lang="en-US" sz="2400" dirty="0" err="1"/>
              <a:t>nonparametrics</a:t>
            </a:r>
            <a:r>
              <a:rPr lang="en-US" sz="2400" dirty="0"/>
              <a:t> in NLP (2 lectures)</a:t>
            </a:r>
          </a:p>
          <a:p>
            <a:r>
              <a:rPr lang="en-US" sz="2400" dirty="0"/>
              <a:t>review &amp; other topics (1 lecture)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13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4CB61D-C6D4-4E41-A17C-B766C30C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B2C232-FF25-6244-B2C3-8AEFF5613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modeling </a:t>
            </a:r>
            <a:r>
              <a:rPr lang="en-US" dirty="0" err="1"/>
              <a:t>subword</a:t>
            </a:r>
            <a:r>
              <a:rPr lang="en-US" dirty="0"/>
              <a:t> structure in words</a:t>
            </a:r>
          </a:p>
          <a:p>
            <a:r>
              <a:rPr lang="en-US" dirty="0"/>
              <a:t>contextualized word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719050D-5070-B044-9CF9-F27B3AFD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240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Monday we briefly reviewed some models and loss functions for word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836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Work on Word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subword</a:t>
            </a:r>
            <a:r>
              <a:rPr lang="en-US" dirty="0"/>
              <a:t> information (e.g., characters) in word </a:t>
            </a:r>
            <a:r>
              <a:rPr lang="en-US" dirty="0" err="1"/>
              <a:t>embeddings</a:t>
            </a:r>
            <a:endParaRPr lang="en-US" dirty="0"/>
          </a:p>
          <a:p>
            <a:endParaRPr lang="en-US" dirty="0"/>
          </a:p>
          <a:p>
            <a:r>
              <a:rPr lang="en-US" dirty="0"/>
              <a:t>multiple </a:t>
            </a:r>
            <a:r>
              <a:rPr lang="en-US" dirty="0" err="1"/>
              <a:t>embeddings</a:t>
            </a:r>
            <a:r>
              <a:rPr lang="en-US" dirty="0"/>
              <a:t> for a single word type corresponding to different word senses</a:t>
            </a:r>
          </a:p>
          <a:p>
            <a:endParaRPr lang="en-US" dirty="0"/>
          </a:p>
          <a:p>
            <a:r>
              <a:rPr lang="en-US" dirty="0"/>
              <a:t>tailoring </a:t>
            </a:r>
            <a:r>
              <a:rPr lang="en-US" dirty="0" err="1"/>
              <a:t>embeddings</a:t>
            </a:r>
            <a:r>
              <a:rPr lang="en-US" dirty="0"/>
              <a:t> using particular resources or for particular NLP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253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Work on Word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using </a:t>
            </a:r>
            <a:r>
              <a:rPr lang="en-US" dirty="0" err="1">
                <a:solidFill>
                  <a:srgbClr val="288CD2"/>
                </a:solidFill>
              </a:rPr>
              <a:t>subword</a:t>
            </a:r>
            <a:r>
              <a:rPr lang="en-US" dirty="0">
                <a:solidFill>
                  <a:srgbClr val="288CD2"/>
                </a:solidFill>
              </a:rPr>
              <a:t> information (e.g., characters) in word </a:t>
            </a:r>
            <a:r>
              <a:rPr lang="en-US" dirty="0" err="1">
                <a:solidFill>
                  <a:srgbClr val="288CD2"/>
                </a:solidFill>
              </a:rPr>
              <a:t>embeddings</a:t>
            </a:r>
            <a:endParaRPr lang="en-US" dirty="0">
              <a:solidFill>
                <a:srgbClr val="288CD2"/>
              </a:solidFill>
            </a:endParaRPr>
          </a:p>
          <a:p>
            <a:endParaRPr lang="en-US" dirty="0"/>
          </a:p>
          <a:p>
            <a:r>
              <a:rPr lang="en-US" dirty="0"/>
              <a:t>multiple </a:t>
            </a:r>
            <a:r>
              <a:rPr lang="en-US" dirty="0" err="1"/>
              <a:t>embeddings</a:t>
            </a:r>
            <a:r>
              <a:rPr lang="en-US" dirty="0"/>
              <a:t> for a single word type corresponding to different word senses</a:t>
            </a:r>
          </a:p>
          <a:p>
            <a:endParaRPr lang="en-US" dirty="0"/>
          </a:p>
          <a:p>
            <a:r>
              <a:rPr lang="en-US" dirty="0"/>
              <a:t>tailoring </a:t>
            </a:r>
            <a:r>
              <a:rPr lang="en-US" dirty="0" err="1"/>
              <a:t>embeddings</a:t>
            </a:r>
            <a:r>
              <a:rPr lang="en-US" dirty="0"/>
              <a:t> using particular resources or for particular NLP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631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Subword</a:t>
            </a:r>
            <a:r>
              <a:rPr lang="en-US" sz="3600" dirty="0"/>
              <a:t> Modeling for Word </a:t>
            </a:r>
            <a:r>
              <a:rPr lang="en-US" sz="3600" dirty="0" err="1"/>
              <a:t>Embeddings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word </a:t>
            </a:r>
            <a:r>
              <a:rPr lang="en-US" dirty="0" err="1"/>
              <a:t>embeddings</a:t>
            </a:r>
            <a:r>
              <a:rPr lang="en-US" dirty="0"/>
              <a:t> has limitations:</a:t>
            </a:r>
          </a:p>
          <a:p>
            <a:pPr lvl="1"/>
            <a:r>
              <a:rPr lang="en-US" dirty="0"/>
              <a:t>closed vocabulary (100k-300k words is typical)</a:t>
            </a:r>
          </a:p>
          <a:p>
            <a:pPr lvl="1"/>
            <a:r>
              <a:rPr lang="en-US" dirty="0"/>
              <a:t>large number of parameters! (100k * 300)</a:t>
            </a:r>
          </a:p>
          <a:p>
            <a:pPr lvl="1"/>
            <a:r>
              <a:rPr lang="en-US" dirty="0"/>
              <a:t>for morphologically-rich languages, using a separate vector for each word type is “obviously” wrong</a:t>
            </a:r>
          </a:p>
          <a:p>
            <a:pPr lvl="1"/>
            <a:endParaRPr lang="en-US" dirty="0"/>
          </a:p>
          <a:p>
            <a:r>
              <a:rPr lang="en-US" dirty="0"/>
              <a:t>Solution: </a:t>
            </a:r>
            <a:r>
              <a:rPr lang="en-US" b="1" dirty="0"/>
              <a:t>character</a:t>
            </a:r>
            <a:r>
              <a:rPr lang="en-US" dirty="0"/>
              <a:t>-level modeling</a:t>
            </a:r>
          </a:p>
          <a:p>
            <a:pPr lvl="1"/>
            <a:r>
              <a:rPr lang="en-US" dirty="0"/>
              <a:t>open vocabulary, fewer parameters, often similar or better performance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415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62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Early Neural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33" y="745835"/>
            <a:ext cx="8889999" cy="10875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morphological analyzer + recursive neural network:</a:t>
            </a:r>
          </a:p>
        </p:txBody>
      </p:sp>
      <p:pic>
        <p:nvPicPr>
          <p:cNvPr id="5" name="Picture 4" descr="Screen Shot 2019-04-04 at 12.41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836" y="1474557"/>
            <a:ext cx="5846618" cy="451643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88636" y="6085317"/>
            <a:ext cx="8578273" cy="761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>
                <a:solidFill>
                  <a:srgbClr val="288CD2"/>
                </a:solidFill>
              </a:rPr>
              <a:t>Luong</a:t>
            </a:r>
            <a:r>
              <a:rPr lang="en-US" sz="2000" dirty="0">
                <a:solidFill>
                  <a:srgbClr val="288CD2"/>
                </a:solidFill>
              </a:rPr>
              <a:t> et al. (2013): </a:t>
            </a:r>
            <a:r>
              <a:rPr lang="en-US" sz="2000" i="1" dirty="0">
                <a:solidFill>
                  <a:srgbClr val="288CD2"/>
                </a:solidFill>
              </a:rPr>
              <a:t>Better Word Representations with Recursive Neural Networks for Morphology</a:t>
            </a:r>
            <a:endParaRPr lang="en-US" sz="20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9438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145143"/>
            <a:ext cx="6337906" cy="14393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unsupervised morphological analysis &amp; vector addition: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9" name="Picture 8" descr="Screen Shot 2019-04-04 at 12.48.4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626359"/>
            <a:ext cx="5219700" cy="1104900"/>
          </a:xfrm>
          <a:prstGeom prst="rect">
            <a:avLst/>
          </a:prstGeom>
        </p:spPr>
      </p:pic>
      <p:pic>
        <p:nvPicPr>
          <p:cNvPr id="10" name="Picture 9" descr="Screen Shot 2019-04-04 at 12.49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3049206"/>
            <a:ext cx="7099300" cy="22352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637145" y="5942357"/>
            <a:ext cx="6552540" cy="827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Botha &amp; </a:t>
            </a:r>
            <a:r>
              <a:rPr lang="en-US" sz="2000" dirty="0" err="1">
                <a:solidFill>
                  <a:srgbClr val="288CD2"/>
                </a:solidFill>
              </a:rPr>
              <a:t>Blunsom</a:t>
            </a:r>
            <a:r>
              <a:rPr lang="en-US" sz="2000" dirty="0">
                <a:solidFill>
                  <a:srgbClr val="288CD2"/>
                </a:solidFill>
              </a:rPr>
              <a:t> (2014): </a:t>
            </a:r>
            <a:r>
              <a:rPr lang="en-US" sz="2000" i="1" dirty="0">
                <a:solidFill>
                  <a:srgbClr val="288CD2"/>
                </a:solidFill>
              </a:rPr>
              <a:t>Compositional Morphology for Word Representations and Language </a:t>
            </a:r>
            <a:r>
              <a:rPr lang="en-US" sz="2000" i="1" dirty="0" err="1">
                <a:solidFill>
                  <a:srgbClr val="288CD2"/>
                </a:solidFill>
              </a:rPr>
              <a:t>Modelling</a:t>
            </a:r>
            <a:endParaRPr lang="en-US" sz="20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7657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Screen Shot 2019-04-04 at 12.46.55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78"/>
          <a:stretch/>
        </p:blipFill>
        <p:spPr>
          <a:xfrm>
            <a:off x="1258802" y="647352"/>
            <a:ext cx="6421673" cy="512842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238" y="145144"/>
            <a:ext cx="8986762" cy="120952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visualization of learned morpheme vectors: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37145" y="5942357"/>
            <a:ext cx="6552540" cy="827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Botha &amp; </a:t>
            </a:r>
            <a:r>
              <a:rPr lang="en-US" sz="2000" dirty="0" err="1">
                <a:solidFill>
                  <a:srgbClr val="288CD2"/>
                </a:solidFill>
              </a:rPr>
              <a:t>Blunsom</a:t>
            </a:r>
            <a:r>
              <a:rPr lang="en-US" sz="2000" dirty="0">
                <a:solidFill>
                  <a:srgbClr val="288CD2"/>
                </a:solidFill>
              </a:rPr>
              <a:t> (2014): </a:t>
            </a:r>
            <a:r>
              <a:rPr lang="en-US" sz="2000" i="1" dirty="0">
                <a:solidFill>
                  <a:srgbClr val="288CD2"/>
                </a:solidFill>
              </a:rPr>
              <a:t>Compositional Morphology for Word Representations and Language </a:t>
            </a:r>
            <a:r>
              <a:rPr lang="en-US" sz="2000" i="1" dirty="0" err="1">
                <a:solidFill>
                  <a:srgbClr val="288CD2"/>
                </a:solidFill>
              </a:rPr>
              <a:t>Modelling</a:t>
            </a:r>
            <a:endParaRPr lang="en-US" sz="20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6379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55724" cy="5052424"/>
          </a:xfrm>
        </p:spPr>
        <p:txBody>
          <a:bodyPr>
            <a:normAutofit/>
          </a:bodyPr>
          <a:lstStyle/>
          <a:p>
            <a:r>
              <a:rPr lang="en-US" dirty="0"/>
              <a:t>2013-2014: morphological analyzers + define composition function on morphemes + learn </a:t>
            </a:r>
            <a:r>
              <a:rPr lang="en-US" dirty="0" err="1"/>
              <a:t>embeddings</a:t>
            </a:r>
            <a:r>
              <a:rPr lang="en-US" dirty="0"/>
              <a:t> for morphemes</a:t>
            </a:r>
          </a:p>
          <a:p>
            <a:r>
              <a:rPr lang="en-US" dirty="0"/>
              <a:t>today, researchers use one of the following:</a:t>
            </a:r>
          </a:p>
          <a:p>
            <a:pPr lvl="1"/>
            <a:r>
              <a:rPr lang="en-US" dirty="0"/>
              <a:t>RNNs on character sequences </a:t>
            </a:r>
            <a:r>
              <a:rPr lang="en-US" sz="2000" dirty="0">
                <a:solidFill>
                  <a:srgbClr val="288CD2"/>
                </a:solidFill>
              </a:rPr>
              <a:t>(Ling et al., 2015; Ballesteros et al., 2015)</a:t>
            </a:r>
            <a:endParaRPr lang="en-US" dirty="0">
              <a:solidFill>
                <a:srgbClr val="288CD2"/>
              </a:solidFill>
            </a:endParaRPr>
          </a:p>
          <a:p>
            <a:pPr lvl="1"/>
            <a:r>
              <a:rPr lang="en-US" dirty="0"/>
              <a:t>CNNs on character sequences </a:t>
            </a:r>
            <a:r>
              <a:rPr lang="en-US" sz="2000" dirty="0">
                <a:solidFill>
                  <a:srgbClr val="288CD2"/>
                </a:solidFill>
              </a:rPr>
              <a:t>(dos Santos and </a:t>
            </a:r>
            <a:r>
              <a:rPr lang="en-US" sz="2000" dirty="0" err="1">
                <a:solidFill>
                  <a:srgbClr val="288CD2"/>
                </a:solidFill>
              </a:rPr>
              <a:t>Zadrozny</a:t>
            </a:r>
            <a:r>
              <a:rPr lang="en-US" sz="2000" dirty="0">
                <a:solidFill>
                  <a:srgbClr val="288CD2"/>
                </a:solidFill>
              </a:rPr>
              <a:t>, 2014; Zhang et al., 2015; Kim et al., 2016)</a:t>
            </a:r>
            <a:endParaRPr lang="en-US" sz="2000" dirty="0"/>
          </a:p>
          <a:p>
            <a:pPr lvl="1"/>
            <a:r>
              <a:rPr lang="en-US" dirty="0"/>
              <a:t>represent words as bags of character </a:t>
            </a:r>
            <a:r>
              <a:rPr lang="en-US" i="1" dirty="0"/>
              <a:t>n</a:t>
            </a:r>
            <a:r>
              <a:rPr lang="en-US" dirty="0"/>
              <a:t>-grams, learn </a:t>
            </a:r>
            <a:r>
              <a:rPr lang="en-US" dirty="0" err="1"/>
              <a:t>embeddings</a:t>
            </a:r>
            <a:r>
              <a:rPr lang="en-US" dirty="0"/>
              <a:t> for character </a:t>
            </a:r>
            <a:r>
              <a:rPr lang="en-US" i="1" dirty="0"/>
              <a:t>n</a:t>
            </a:r>
            <a:r>
              <a:rPr lang="en-US" dirty="0"/>
              <a:t>-grams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040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 descr="Screen Shot 2016-04-07 at 8.50.32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09"/>
          <a:stretch/>
        </p:blipFill>
        <p:spPr>
          <a:xfrm>
            <a:off x="390439" y="685800"/>
            <a:ext cx="5799556" cy="588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4251" y="4754738"/>
            <a:ext cx="2571645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88CD2"/>
                </a:solidFill>
              </a:rPr>
              <a:t>Ling et al. (2015): </a:t>
            </a:r>
            <a:r>
              <a:rPr lang="en-US" sz="2000" i="1" dirty="0">
                <a:solidFill>
                  <a:srgbClr val="288CD2"/>
                </a:solidFill>
              </a:rPr>
              <a:t>Finding Function in Form: Compositional Character Models for Open Vocabulary Word Representation</a:t>
            </a:r>
            <a:endParaRPr lang="en-US" sz="20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762000"/>
          </a:xfrm>
        </p:spPr>
        <p:txBody>
          <a:bodyPr/>
          <a:lstStyle/>
          <a:p>
            <a:r>
              <a:rPr lang="en-US" sz="3200" dirty="0"/>
              <a:t>Bidirectional LSTM over Characters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6553200"/>
            <a:ext cx="11430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3013642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" name="Picture 1" descr="Screen Shot 2016-04-07 at 9.08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-41565"/>
            <a:ext cx="7200102" cy="6752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05762" y="5587794"/>
            <a:ext cx="17689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Kim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Character-Aware Neural Language Models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-76200"/>
            <a:ext cx="1676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0" y="-152400"/>
            <a:ext cx="3048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solidFill>
            <a:srgbClr val="FFFFFF"/>
          </a:solidFill>
        </p:spPr>
        <p:txBody>
          <a:bodyPr>
            <a:normAutofit fontScale="90000"/>
          </a:bodyPr>
          <a:lstStyle/>
          <a:p>
            <a:r>
              <a:rPr lang="en-US" sz="3200" dirty="0"/>
              <a:t>Convolutional Neural Network over Character Sequence</a:t>
            </a:r>
          </a:p>
        </p:txBody>
      </p:sp>
    </p:spTree>
    <p:extLst>
      <p:ext uri="{BB962C8B-B14F-4D97-AF65-F5344CB8AC3E}">
        <p14:creationId xmlns:p14="http://schemas.microsoft.com/office/powerpoint/2010/main" val="1085325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123860"/>
          </a:xfrm>
        </p:spPr>
        <p:txBody>
          <a:bodyPr>
            <a:normAutofit/>
          </a:bodyPr>
          <a:lstStyle/>
          <a:p>
            <a:r>
              <a:rPr lang="en-US" dirty="0"/>
              <a:t>convolutional neural networks (CNNs) use </a:t>
            </a:r>
            <a:r>
              <a:rPr lang="en-US" b="1" dirty="0">
                <a:solidFill>
                  <a:srgbClr val="288CD2"/>
                </a:solidFill>
              </a:rPr>
              <a:t>filters</a:t>
            </a:r>
            <a:r>
              <a:rPr lang="en-US" dirty="0"/>
              <a:t> that are “convolved with” (matched against all positions of) the input</a:t>
            </a:r>
          </a:p>
          <a:p>
            <a:r>
              <a:rPr lang="en-US" dirty="0"/>
              <a:t>informally, think of convolution as “perform the same operation over multiple parts of the input in some systematic order”</a:t>
            </a:r>
          </a:p>
          <a:p>
            <a:r>
              <a:rPr lang="en-US" dirty="0"/>
              <a:t>CNNs are often used in NLP to convert a word or sentence into a feature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68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073740"/>
            <a:ext cx="8778240" cy="5052424"/>
          </a:xfrm>
        </p:spPr>
        <p:txBody>
          <a:bodyPr/>
          <a:lstStyle/>
          <a:p>
            <a:r>
              <a:rPr lang="en-US" dirty="0"/>
              <a:t>for now, think of a filter as a vector in the word embedding space</a:t>
            </a:r>
          </a:p>
          <a:p>
            <a:endParaRPr lang="en-US" dirty="0"/>
          </a:p>
          <a:p>
            <a:r>
              <a:rPr lang="en-US" dirty="0"/>
              <a:t>the filter matches a particular region of the space</a:t>
            </a:r>
          </a:p>
          <a:p>
            <a:endParaRPr lang="en-US" dirty="0"/>
          </a:p>
          <a:p>
            <a:r>
              <a:rPr lang="en-US" dirty="0"/>
              <a:t>“match” = “has high dot product with”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76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2661B22B-9AC7-934F-8AD4-3AD04C381ACE}"/>
              </a:ext>
            </a:extLst>
          </p:cNvPr>
          <p:cNvSpPr txBox="1"/>
          <p:nvPr/>
        </p:nvSpPr>
        <p:spPr>
          <a:xfrm>
            <a:off x="1232926" y="3651964"/>
            <a:ext cx="3941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consider a single convolutional filter</a:t>
            </a:r>
            <a:endParaRPr lang="en-US" sz="2000" i="1" dirty="0"/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E4159CBC-8ED6-264C-8507-6AEB0ACF6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561" y="3656172"/>
            <a:ext cx="1003300" cy="304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C605EEB-4BBE-E349-AAB0-74F1FCBE1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2ADC6F5-06ED-9E4B-A674-1C709524016D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</p:spTree>
    <p:extLst>
      <p:ext uri="{BB962C8B-B14F-4D97-AF65-F5344CB8AC3E}">
        <p14:creationId xmlns:p14="http://schemas.microsoft.com/office/powerpoint/2010/main" val="8549066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2" grpId="0" animBg="1"/>
      <p:bldP spid="14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BED2178E-40EB-3F49-BE00-272C735E8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726" y="3271667"/>
            <a:ext cx="1758349" cy="35562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AE9473D8-D0E4-9E45-8858-CC875F46BC6F}"/>
              </a:ext>
            </a:extLst>
          </p:cNvPr>
          <p:cNvSpPr txBox="1"/>
          <p:nvPr/>
        </p:nvSpPr>
        <p:spPr>
          <a:xfrm>
            <a:off x="1251950" y="629242"/>
            <a:ext cx="668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dot product of filter and each word vector:</a:t>
            </a:r>
            <a:endParaRPr lang="en-US" sz="2400" i="1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B51A0C0-FA60-3A48-9509-384A98648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8876" y="1691321"/>
            <a:ext cx="2540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48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AE9473D8-D0E4-9E45-8858-CC875F46BC6F}"/>
              </a:ext>
            </a:extLst>
          </p:cNvPr>
          <p:cNvSpPr txBox="1"/>
          <p:nvPr/>
        </p:nvSpPr>
        <p:spPr>
          <a:xfrm>
            <a:off x="1251950" y="629242"/>
            <a:ext cx="668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dot product of filter and each word vector:</a:t>
            </a:r>
            <a:endParaRPr lang="en-US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A4E0FB3-7F0A-1F4D-BACD-EBE9F3F62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2372" y="3793839"/>
            <a:ext cx="2183591" cy="369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B51A0C0-FA60-3A48-9509-384A98648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5540" y="1691321"/>
            <a:ext cx="254000" cy="139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487BB102-2576-2A44-BEBC-B36F309E1F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9726" y="3271667"/>
            <a:ext cx="1758349" cy="35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142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AE9473D8-D0E4-9E45-8858-CC875F46BC6F}"/>
              </a:ext>
            </a:extLst>
          </p:cNvPr>
          <p:cNvSpPr txBox="1"/>
          <p:nvPr/>
        </p:nvSpPr>
        <p:spPr>
          <a:xfrm>
            <a:off x="1251950" y="629242"/>
            <a:ext cx="668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compute dot product of filter and each word vector:</a:t>
            </a:r>
            <a:endParaRPr lang="en-US" sz="2400" i="1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B51A0C0-FA60-3A48-9509-384A98648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675" y="1691321"/>
            <a:ext cx="254000" cy="139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9F544AFB-A999-F344-A5DE-D25584692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757" y="4329720"/>
            <a:ext cx="2286835" cy="3651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19F9CF0D-5C5A-7443-A21C-CE877B539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2372" y="3793839"/>
            <a:ext cx="2183591" cy="3693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20B00F0F-EF72-3148-B7F5-00A3DE6393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9726" y="3271667"/>
            <a:ext cx="1758349" cy="35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137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CFDBAE0-6FB4-9645-9E46-630624536BC9}"/>
              </a:ext>
            </a:extLst>
          </p:cNvPr>
          <p:cNvSpPr txBox="1"/>
          <p:nvPr/>
        </p:nvSpPr>
        <p:spPr>
          <a:xfrm>
            <a:off x="748591" y="4932540"/>
            <a:ext cx="7751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Note: it’s common to add a bias </a:t>
            </a:r>
            <a:r>
              <a:rPr lang="en-US" sz="2400" i="1" dirty="0"/>
              <a:t>b</a:t>
            </a:r>
            <a:r>
              <a:rPr lang="en-US" sz="2400" dirty="0"/>
              <a:t> and use a nonlinearity </a:t>
            </a:r>
            <a:r>
              <a:rPr lang="en-US" sz="2400" i="1" dirty="0"/>
              <a:t>g: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8ACACA0C-FA8B-B648-B853-B03A0C8A9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757" y="4329720"/>
            <a:ext cx="2286835" cy="3651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8095EB16-6FD8-6640-88D6-012ECB6C7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2372" y="3793839"/>
            <a:ext cx="2183591" cy="3693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4A6B107D-1135-6949-BB7B-D5780F8F7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9726" y="3271667"/>
            <a:ext cx="1758349" cy="3556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AE2171FA-E011-6E49-8194-C53F68F53F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3873" y="5551730"/>
            <a:ext cx="3017579" cy="44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52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AB25A842-4AC5-2748-8E4F-D2D74A0B7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50" y="5137035"/>
            <a:ext cx="139700" cy="152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CFDBAE0-6FB4-9645-9E46-630624536BC9}"/>
              </a:ext>
            </a:extLst>
          </p:cNvPr>
          <p:cNvSpPr txBox="1"/>
          <p:nvPr/>
        </p:nvSpPr>
        <p:spPr>
          <a:xfrm>
            <a:off x="748592" y="4966405"/>
            <a:ext cx="7997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“feature map” for this filter, </a:t>
            </a:r>
          </a:p>
          <a:p>
            <a:r>
              <a:rPr lang="en-US" sz="2400" dirty="0"/>
              <a:t>   has an entry for each position in input (in this case, 3 entries)</a:t>
            </a:r>
            <a:endParaRPr lang="en-US" sz="2400" i="1" dirty="0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5C4385D4-E280-BA46-B159-DFD6C0B8E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757" y="4329720"/>
            <a:ext cx="2286835" cy="3651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C6EE6658-C17D-7048-94B6-122239856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2372" y="3793839"/>
            <a:ext cx="2183591" cy="3693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785FA82C-45B2-214D-BFAB-1A89057BD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9726" y="3271667"/>
            <a:ext cx="1758349" cy="35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373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Pooling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AB25A842-4AC5-2748-8E4F-D2D74A0B7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50" y="5137035"/>
            <a:ext cx="139700" cy="152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CFDBAE0-6FB4-9645-9E46-630624536BC9}"/>
              </a:ext>
            </a:extLst>
          </p:cNvPr>
          <p:cNvSpPr txBox="1"/>
          <p:nvPr/>
        </p:nvSpPr>
        <p:spPr>
          <a:xfrm>
            <a:off x="748592" y="4966405"/>
            <a:ext cx="7997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“feature map” for this filter, </a:t>
            </a:r>
          </a:p>
          <a:p>
            <a:r>
              <a:rPr lang="en-US" sz="2400" dirty="0"/>
              <a:t>   has an entry for each position in input (in this case, 3 entries)</a:t>
            </a:r>
            <a:endParaRPr lang="en-US" sz="2400" i="1" dirty="0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5C4385D4-E280-BA46-B159-DFD6C0B8E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757" y="4329720"/>
            <a:ext cx="2286835" cy="3651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C6EE6658-C17D-7048-94B6-122239856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2372" y="3793839"/>
            <a:ext cx="2183591" cy="3693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785FA82C-45B2-214D-BFAB-1A89057BD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9726" y="3271667"/>
            <a:ext cx="1758349" cy="3556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80A52A2-4F7F-C345-A06F-16A3FBDC4C90}"/>
              </a:ext>
            </a:extLst>
          </p:cNvPr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how do we convert this into a fixed-length vector?</a:t>
            </a:r>
          </a:p>
          <a:p>
            <a:r>
              <a:rPr lang="en-US" sz="2800" dirty="0"/>
              <a:t>use </a:t>
            </a:r>
            <a:r>
              <a:rPr lang="en-US" sz="2800" b="1" dirty="0">
                <a:solidFill>
                  <a:srgbClr val="288CD2"/>
                </a:solidFill>
              </a:rPr>
              <a:t>pooling</a:t>
            </a:r>
            <a:r>
              <a:rPr lang="en-US" sz="2800" dirty="0"/>
              <a:t>:</a:t>
            </a:r>
          </a:p>
          <a:p>
            <a:r>
              <a:rPr lang="en-US" sz="2800" dirty="0"/>
              <a:t>	max-pooling: returns maximum value in </a:t>
            </a:r>
          </a:p>
          <a:p>
            <a:r>
              <a:rPr lang="en-US" sz="2800" dirty="0"/>
              <a:t>	average pooling: returns average of values in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BEFEF5DC-48EF-C74B-A0DF-DD9B938C3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330" y="2735976"/>
            <a:ext cx="168867" cy="1842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BA543C34-93F8-3145-8B86-B870FDE83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598" y="3164466"/>
            <a:ext cx="168867" cy="18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78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48132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Pooling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4339516" y="187865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845559" y="2816224"/>
            <a:ext cx="1593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that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2896796" y="1868493"/>
            <a:ext cx="518160" cy="131840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366842" y="2806064"/>
            <a:ext cx="146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not</a:t>
            </a:r>
          </a:p>
        </p:txBody>
      </p:sp>
      <p:sp>
        <p:nvSpPr>
          <p:cNvPr id="12" name="Left Brace 11"/>
          <p:cNvSpPr/>
          <p:nvPr/>
        </p:nvSpPr>
        <p:spPr>
          <a:xfrm rot="16200000">
            <a:off x="5852103" y="1832933"/>
            <a:ext cx="518160" cy="1389526"/>
          </a:xfrm>
          <a:prstGeom prst="leftBrace">
            <a:avLst>
              <a:gd name="adj1" fmla="val 47549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93706" y="2806064"/>
            <a:ext cx="16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88CD2"/>
                </a:solidFill>
              </a:rPr>
              <a:t>vector for </a:t>
            </a:r>
            <a:r>
              <a:rPr lang="en-US" i="1" dirty="0">
                <a:solidFill>
                  <a:srgbClr val="288CD2"/>
                </a:solidFill>
              </a:rPr>
              <a:t>great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E97D713-A0B3-4248-BE4B-27C70E86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368107"/>
            <a:ext cx="508000" cy="152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5B9A15A-A0B8-0640-B9FA-E08665EC0171}"/>
              </a:ext>
            </a:extLst>
          </p:cNvPr>
          <p:cNvSpPr txBox="1"/>
          <p:nvPr/>
        </p:nvSpPr>
        <p:spPr>
          <a:xfrm>
            <a:off x="2382718" y="1185726"/>
            <a:ext cx="1938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not that great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1F8382-3EAB-6E4C-B5D9-1A8AE805B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113" y="1850309"/>
            <a:ext cx="52451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AB25A842-4AC5-2748-8E4F-D2D74A0B7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50" y="5137035"/>
            <a:ext cx="139700" cy="152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CFDBAE0-6FB4-9645-9E46-630624536BC9}"/>
              </a:ext>
            </a:extLst>
          </p:cNvPr>
          <p:cNvSpPr txBox="1"/>
          <p:nvPr/>
        </p:nvSpPr>
        <p:spPr>
          <a:xfrm>
            <a:off x="748592" y="4966405"/>
            <a:ext cx="79971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“feature map” for this filter, </a:t>
            </a:r>
          </a:p>
          <a:p>
            <a:r>
              <a:rPr lang="en-US" sz="2400" dirty="0"/>
              <a:t>   has an entry for each position in input (in this case, 3 entries)</a:t>
            </a:r>
            <a:endParaRPr lang="en-US" sz="2400" i="1" dirty="0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5C4385D4-E280-BA46-B159-DFD6C0B8E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757" y="4329720"/>
            <a:ext cx="2286835" cy="3651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C6EE6658-C17D-7048-94B6-122239856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2372" y="3793839"/>
            <a:ext cx="2183591" cy="3693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785FA82C-45B2-214D-BFAB-1A89057BD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9726" y="3271667"/>
            <a:ext cx="1758349" cy="35562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980A52A2-4F7F-C345-A06F-16A3FBDC4C90}"/>
              </a:ext>
            </a:extLst>
          </p:cNvPr>
          <p:cNvSpPr txBox="1"/>
          <p:nvPr/>
        </p:nvSpPr>
        <p:spPr>
          <a:xfrm>
            <a:off x="768006" y="1677906"/>
            <a:ext cx="7527071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how do we convert this into a fixed-length vector?</a:t>
            </a:r>
          </a:p>
          <a:p>
            <a:r>
              <a:rPr lang="en-US" sz="2800" dirty="0"/>
              <a:t>use </a:t>
            </a:r>
            <a:r>
              <a:rPr lang="en-US" sz="2800" b="1" dirty="0">
                <a:solidFill>
                  <a:srgbClr val="288CD2"/>
                </a:solidFill>
              </a:rPr>
              <a:t>pooling</a:t>
            </a:r>
            <a:r>
              <a:rPr lang="en-US" sz="2800" dirty="0"/>
              <a:t>:</a:t>
            </a:r>
          </a:p>
          <a:p>
            <a:r>
              <a:rPr lang="en-US" sz="2800" dirty="0"/>
              <a:t>	max-pooling: returns maximum value in </a:t>
            </a:r>
          </a:p>
          <a:p>
            <a:r>
              <a:rPr lang="en-US" sz="2800" dirty="0"/>
              <a:t>	average pooling: returns average of values in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BEFEF5DC-48EF-C74B-A0DF-DD9B938C3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330" y="2735976"/>
            <a:ext cx="168867" cy="1842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BA543C34-93F8-3145-8B86-B870FDE83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598" y="3164466"/>
            <a:ext cx="168867" cy="1842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1A44729-44F3-4743-BC6B-75D6F1EF400D}"/>
              </a:ext>
            </a:extLst>
          </p:cNvPr>
          <p:cNvSpPr txBox="1"/>
          <p:nvPr/>
        </p:nvSpPr>
        <p:spPr>
          <a:xfrm>
            <a:off x="696886" y="4344906"/>
            <a:ext cx="7525142" cy="1815882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then, this single filter      produces a single feature </a:t>
            </a:r>
          </a:p>
          <a:p>
            <a:r>
              <a:rPr lang="en-US" sz="2800" dirty="0"/>
              <a:t>value (the output of some kind of pooling).</a:t>
            </a:r>
          </a:p>
          <a:p>
            <a:r>
              <a:rPr lang="en-US" sz="2800" dirty="0"/>
              <a:t>in practice, we use many filters of many different </a:t>
            </a:r>
          </a:p>
          <a:p>
            <a:r>
              <a:rPr lang="en-US" sz="2800" dirty="0"/>
              <a:t>lengths (e.g., </a:t>
            </a:r>
            <a:r>
              <a:rPr lang="en-US" sz="2800" i="1" dirty="0"/>
              <a:t>n</a:t>
            </a:r>
            <a:r>
              <a:rPr lang="en-US" sz="2800" dirty="0"/>
              <a:t>-grams rather than words).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30B1B19-E403-5145-98C0-DF151E88C8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9393" y="4580540"/>
            <a:ext cx="2540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108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1238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“convolutional layer” = set of filters that are convolved with the input vector (whether </a:t>
            </a:r>
            <a:r>
              <a:rPr lang="en-US" b="1" i="1" dirty="0"/>
              <a:t>x</a:t>
            </a:r>
            <a:r>
              <a:rPr lang="en-US" dirty="0"/>
              <a:t> or hidden vector)</a:t>
            </a:r>
          </a:p>
          <a:p>
            <a:endParaRPr lang="en-US" dirty="0"/>
          </a:p>
          <a:p>
            <a:r>
              <a:rPr lang="en-US" dirty="0"/>
              <a:t>could be followed by more convolutional layers, or by a type of pooling</a:t>
            </a:r>
          </a:p>
          <a:p>
            <a:endParaRPr lang="en-US" dirty="0"/>
          </a:p>
          <a:p>
            <a:r>
              <a:rPr lang="en-US" dirty="0"/>
              <a:t>filters of varying n-gram lengths commonly used (1- to 5-grams)</a:t>
            </a:r>
          </a:p>
          <a:p>
            <a:endParaRPr lang="en-US" dirty="0"/>
          </a:p>
          <a:p>
            <a:r>
              <a:rPr lang="en-US" dirty="0"/>
              <a:t>CNNs commonly used for character-level processing; filters look at character n-grams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338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" name="Picture 1" descr="Screen Shot 2016-04-07 at 9.08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-41565"/>
            <a:ext cx="7200102" cy="6752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05762" y="5587794"/>
            <a:ext cx="17689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Kim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Character-Aware Neural Language Models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-76200"/>
            <a:ext cx="1676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0" y="-152400"/>
            <a:ext cx="3048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76200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3200" dirty="0"/>
              <a:t>Convolutional Neural Network over Characters</a:t>
            </a:r>
          </a:p>
        </p:txBody>
      </p:sp>
    </p:spTree>
    <p:extLst>
      <p:ext uri="{BB962C8B-B14F-4D97-AF65-F5344CB8AC3E}">
        <p14:creationId xmlns:p14="http://schemas.microsoft.com/office/powerpoint/2010/main" val="3758220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" name="Picture 1" descr="Screen Shot 2016-04-07 at 9.08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-41565"/>
            <a:ext cx="7200102" cy="6752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05762" y="5587794"/>
            <a:ext cx="17689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Kim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Character-Aware Neural Language Models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-76200"/>
            <a:ext cx="1676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0" y="-152400"/>
            <a:ext cx="3048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76200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3200" dirty="0"/>
              <a:t>Convolutional Neural Network over Characters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81F61D5-21E3-3B47-843C-077E03F81FCB}"/>
              </a:ext>
            </a:extLst>
          </p:cNvPr>
          <p:cNvSpPr txBox="1"/>
          <p:nvPr/>
        </p:nvSpPr>
        <p:spPr>
          <a:xfrm>
            <a:off x="168560" y="129308"/>
            <a:ext cx="7589986" cy="523220"/>
          </a:xfrm>
          <a:prstGeom prst="rect">
            <a:avLst/>
          </a:prstGeom>
          <a:solidFill>
            <a:srgbClr val="FCEE1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1. What dimension are the character </a:t>
            </a:r>
            <a:r>
              <a:rPr lang="en-US" sz="2800" dirty="0" err="1"/>
              <a:t>embeddings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46993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" name="Picture 1" descr="Screen Shot 2016-04-07 at 9.08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-41565"/>
            <a:ext cx="7200102" cy="6752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05762" y="5587794"/>
            <a:ext cx="17689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Kim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Character-Aware Neural Language Models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-76200"/>
            <a:ext cx="1676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0" y="-152400"/>
            <a:ext cx="3048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76200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3200" dirty="0"/>
              <a:t>Convolutional Neural Network over Characters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81F61D5-21E3-3B47-843C-077E03F81FCB}"/>
              </a:ext>
            </a:extLst>
          </p:cNvPr>
          <p:cNvSpPr txBox="1"/>
          <p:nvPr/>
        </p:nvSpPr>
        <p:spPr>
          <a:xfrm>
            <a:off x="168560" y="129308"/>
            <a:ext cx="8017168" cy="954107"/>
          </a:xfrm>
          <a:prstGeom prst="rect">
            <a:avLst/>
          </a:prstGeom>
          <a:solidFill>
            <a:srgbClr val="FCEE1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1. What dimension are the character </a:t>
            </a:r>
            <a:r>
              <a:rPr lang="en-US" sz="2800" dirty="0" err="1"/>
              <a:t>embeddings</a:t>
            </a:r>
            <a:r>
              <a:rPr lang="en-US" sz="2800" dirty="0"/>
              <a:t>?  </a:t>
            </a:r>
            <a:r>
              <a:rPr lang="en-US" sz="2800" b="1" dirty="0">
                <a:solidFill>
                  <a:srgbClr val="000000"/>
                </a:solidFill>
              </a:rPr>
              <a:t>4</a:t>
            </a:r>
          </a:p>
          <a:p>
            <a:r>
              <a:rPr lang="en-US" sz="2800" dirty="0"/>
              <a:t>2. How many character 4-gram filters are there?  </a:t>
            </a:r>
            <a:endParaRPr lang="en-US" sz="2800" b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798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2" name="Picture 1" descr="Screen Shot 2016-04-07 at 9.08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-41565"/>
            <a:ext cx="7200102" cy="6752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05762" y="5587794"/>
            <a:ext cx="17689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Kim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Character-Aware Neural Language Models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-76200"/>
            <a:ext cx="16764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0" y="-152400"/>
            <a:ext cx="3048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76200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3200" dirty="0"/>
              <a:t>Convolutional Neural Network over Characters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81F61D5-21E3-3B47-843C-077E03F81FCB}"/>
              </a:ext>
            </a:extLst>
          </p:cNvPr>
          <p:cNvSpPr txBox="1"/>
          <p:nvPr/>
        </p:nvSpPr>
        <p:spPr>
          <a:xfrm>
            <a:off x="168559" y="129308"/>
            <a:ext cx="8534399" cy="1815882"/>
          </a:xfrm>
          <a:prstGeom prst="rect">
            <a:avLst/>
          </a:prstGeom>
          <a:solidFill>
            <a:srgbClr val="FCEE1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1. What dimension are the character </a:t>
            </a:r>
            <a:r>
              <a:rPr lang="en-US" sz="2800" dirty="0" err="1"/>
              <a:t>embeddings</a:t>
            </a:r>
            <a:r>
              <a:rPr lang="en-US" sz="2800" dirty="0"/>
              <a:t>?  </a:t>
            </a:r>
            <a:r>
              <a:rPr lang="en-US" sz="2800" b="1" dirty="0">
                <a:solidFill>
                  <a:srgbClr val="000000"/>
                </a:solidFill>
              </a:rPr>
              <a:t>4</a:t>
            </a:r>
            <a:endParaRPr lang="en-US" sz="2800" dirty="0">
              <a:solidFill>
                <a:srgbClr val="000000"/>
              </a:solidFill>
            </a:endParaRPr>
          </a:p>
          <a:p>
            <a:r>
              <a:rPr lang="en-US" sz="2800" dirty="0"/>
              <a:t>2. How many character 4-gram filters are there?   </a:t>
            </a:r>
            <a:r>
              <a:rPr lang="en-US" sz="2800" b="1" dirty="0">
                <a:solidFill>
                  <a:srgbClr val="000000"/>
                </a:solidFill>
              </a:rPr>
              <a:t>5</a:t>
            </a:r>
            <a:endParaRPr lang="en-US" sz="2800" dirty="0">
              <a:solidFill>
                <a:srgbClr val="000000"/>
              </a:solidFill>
            </a:endParaRPr>
          </a:p>
          <a:p>
            <a:r>
              <a:rPr lang="en-US" sz="2800" dirty="0"/>
              <a:t>3. Why do different filter lengths lead to different lengths of feature maps?</a:t>
            </a:r>
          </a:p>
        </p:txBody>
      </p:sp>
    </p:spTree>
    <p:extLst>
      <p:ext uri="{BB962C8B-B14F-4D97-AF65-F5344CB8AC3E}">
        <p14:creationId xmlns:p14="http://schemas.microsoft.com/office/powerpoint/2010/main" val="1705975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365" y="1073740"/>
            <a:ext cx="8820726" cy="5052424"/>
          </a:xfrm>
        </p:spPr>
        <p:txBody>
          <a:bodyPr/>
          <a:lstStyle/>
          <a:p>
            <a:r>
              <a:rPr lang="en-US" dirty="0"/>
              <a:t>what about simpler methods?</a:t>
            </a:r>
          </a:p>
          <a:p>
            <a:r>
              <a:rPr lang="en-US" dirty="0"/>
              <a:t>add or average vectors for character </a:t>
            </a:r>
            <a:r>
              <a:rPr lang="en-US" i="1" dirty="0"/>
              <a:t>n</a:t>
            </a:r>
            <a:r>
              <a:rPr lang="en-US" dirty="0"/>
              <a:t>-grams in the word:</a:t>
            </a:r>
          </a:p>
          <a:p>
            <a:pPr lvl="1"/>
            <a:r>
              <a:rPr lang="en-US" dirty="0"/>
              <a:t>word space </a:t>
            </a:r>
            <a:r>
              <a:rPr lang="en-US" dirty="0">
                <a:solidFill>
                  <a:srgbClr val="288CD2"/>
                </a:solidFill>
              </a:rPr>
              <a:t>(</a:t>
            </a:r>
            <a:r>
              <a:rPr lang="en-US" dirty="0" err="1">
                <a:solidFill>
                  <a:srgbClr val="288CD2"/>
                </a:solidFill>
              </a:rPr>
              <a:t>Schutze</a:t>
            </a:r>
            <a:r>
              <a:rPr lang="en-US" dirty="0">
                <a:solidFill>
                  <a:srgbClr val="288CD2"/>
                </a:solidFill>
              </a:rPr>
              <a:t>, 1993)</a:t>
            </a:r>
          </a:p>
          <a:p>
            <a:pPr lvl="1"/>
            <a:r>
              <a:rPr lang="en-US" dirty="0"/>
              <a:t>deep structured semantic models </a:t>
            </a:r>
            <a:r>
              <a:rPr lang="en-US" dirty="0">
                <a:solidFill>
                  <a:srgbClr val="288CD2"/>
                </a:solidFill>
              </a:rPr>
              <a:t>(Huang et al., 2013)</a:t>
            </a:r>
          </a:p>
          <a:p>
            <a:pPr lvl="1"/>
            <a:r>
              <a:rPr lang="en-US" dirty="0" err="1"/>
              <a:t>charagram</a:t>
            </a:r>
            <a:r>
              <a:rPr lang="en-US" dirty="0"/>
              <a:t> </a:t>
            </a:r>
            <a:r>
              <a:rPr lang="en-US" dirty="0">
                <a:solidFill>
                  <a:srgbClr val="288CD2"/>
                </a:solidFill>
              </a:rPr>
              <a:t>(</a:t>
            </a:r>
            <a:r>
              <a:rPr lang="en-US" dirty="0" err="1">
                <a:solidFill>
                  <a:srgbClr val="288CD2"/>
                </a:solidFill>
              </a:rPr>
              <a:t>Wieting</a:t>
            </a:r>
            <a:r>
              <a:rPr lang="en-US" dirty="0">
                <a:solidFill>
                  <a:srgbClr val="288CD2"/>
                </a:solidFill>
              </a:rPr>
              <a:t> et al., 2016)</a:t>
            </a:r>
          </a:p>
          <a:p>
            <a:pPr lvl="1"/>
            <a:r>
              <a:rPr lang="en-US" dirty="0" err="1"/>
              <a:t>fastText</a:t>
            </a:r>
            <a:r>
              <a:rPr lang="en-US" dirty="0"/>
              <a:t> </a:t>
            </a:r>
            <a:r>
              <a:rPr lang="en-US" dirty="0">
                <a:solidFill>
                  <a:srgbClr val="288CD2"/>
                </a:solidFill>
              </a:rPr>
              <a:t>(</a:t>
            </a:r>
            <a:r>
              <a:rPr lang="en-US" dirty="0" err="1">
                <a:solidFill>
                  <a:srgbClr val="288CD2"/>
                </a:solidFill>
              </a:rPr>
              <a:t>Bojanowski</a:t>
            </a:r>
            <a:r>
              <a:rPr lang="en-US" dirty="0">
                <a:solidFill>
                  <a:srgbClr val="288CD2"/>
                </a:solidFill>
              </a:rPr>
              <a:t> et al., 2017)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643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909" y="171398"/>
            <a:ext cx="8693727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DSSM (Microsoft Research, 2013-2016)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 descr="Screen Shot 2016-04-08 at 8.43.5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91440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73" y="6020419"/>
            <a:ext cx="83324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Huang et al. (2013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Learning Deep Structured Semantic Models for Web Search using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Clickthrough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 Data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65915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3" name="Picture 2" descr="Screen Shot 2016-04-08 at 8.45.1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0"/>
            <a:ext cx="9144000" cy="51016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4173" y="6020419"/>
            <a:ext cx="833242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Huang et al. (2013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Learning Deep Structured Semantic Models for Web Search using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Clickthrough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 Data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0909" y="171398"/>
            <a:ext cx="8693727" cy="726831"/>
          </a:xfrm>
        </p:spPr>
        <p:txBody>
          <a:bodyPr>
            <a:normAutofit fontScale="90000"/>
          </a:bodyPr>
          <a:lstStyle/>
          <a:p>
            <a:r>
              <a:rPr lang="en-US" dirty="0"/>
              <a:t>DSSM (Microsoft Research, 2013-2016)</a:t>
            </a:r>
          </a:p>
        </p:txBody>
      </p:sp>
    </p:spTree>
    <p:extLst>
      <p:ext uri="{BB962C8B-B14F-4D97-AF65-F5344CB8AC3E}">
        <p14:creationId xmlns:p14="http://schemas.microsoft.com/office/powerpoint/2010/main" val="28950828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</a:t>
            </a:r>
            <a:r>
              <a:rPr lang="en-US" dirty="0" err="1"/>
              <a:t>Charagram</a:t>
            </a:r>
            <a:r>
              <a:rPr lang="en-US" dirty="0"/>
              <a:t>”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to embed a character sequence (word or sentence), sum embeddings for character </a:t>
            </a:r>
            <a:r>
              <a:rPr lang="en-US" sz="2800" i="1" dirty="0"/>
              <a:t>n</a:t>
            </a:r>
            <a:r>
              <a:rPr lang="en-US" sz="2800" dirty="0"/>
              <a:t>-grams</a:t>
            </a:r>
          </a:p>
          <a:p>
            <a:endParaRPr lang="en-US" sz="2800" dirty="0"/>
          </a:p>
          <a:p>
            <a:r>
              <a:rPr lang="en-US" sz="2800" dirty="0"/>
              <a:t>only parameters to learn are embeddings for character </a:t>
            </a:r>
            <a:r>
              <a:rPr lang="en-US" sz="2800" i="1" dirty="0"/>
              <a:t>n</a:t>
            </a:r>
            <a:r>
              <a:rPr lang="en-US" sz="2800" dirty="0"/>
              <a:t>-grams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9872" y="6020419"/>
            <a:ext cx="8602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288CD2"/>
                </a:solidFill>
                <a:latin typeface="Calibri"/>
                <a:cs typeface="Calibri"/>
              </a:rPr>
              <a:t>Wieting</a:t>
            </a:r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Charagram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: Embedding Words and Sentences via Character n-grams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4079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567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Charagram</a:t>
            </a:r>
            <a:r>
              <a:rPr lang="en-US" dirty="0"/>
              <a:t>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9872" y="6319385"/>
            <a:ext cx="8602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288CD2"/>
                </a:solidFill>
                <a:latin typeface="Calibri"/>
                <a:cs typeface="Calibri"/>
              </a:rPr>
              <a:t>Wieting</a:t>
            </a:r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Charagram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: Embedding Words and Sentences via Character n-grams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6" name="Picture 5" descr="Screen Shot 2019-04-10 at 8.58.29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667"/>
          <a:stretch/>
        </p:blipFill>
        <p:spPr>
          <a:xfrm>
            <a:off x="-139681" y="863600"/>
            <a:ext cx="6426162" cy="2628900"/>
          </a:xfrm>
          <a:prstGeom prst="rect">
            <a:avLst/>
          </a:prstGeom>
        </p:spPr>
      </p:pic>
      <p:pic>
        <p:nvPicPr>
          <p:cNvPr id="7" name="Picture 6" descr="Screen Shot 2019-04-10 at 8.58.29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96" b="14445"/>
          <a:stretch/>
        </p:blipFill>
        <p:spPr>
          <a:xfrm>
            <a:off x="-139681" y="3492500"/>
            <a:ext cx="6426162" cy="28638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4901" y="2590800"/>
            <a:ext cx="2856624" cy="1587500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faster convergence to strong performance than character LSTM or CNN</a:t>
            </a:r>
          </a:p>
        </p:txBody>
      </p:sp>
    </p:spTree>
    <p:extLst>
      <p:ext uri="{BB962C8B-B14F-4D97-AF65-F5344CB8AC3E}">
        <p14:creationId xmlns:p14="http://schemas.microsoft.com/office/powerpoint/2010/main" val="26908322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Charagram</a:t>
            </a:r>
            <a:r>
              <a:rPr lang="en-US" dirty="0"/>
              <a:t> Word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 used all 122,610 character </a:t>
            </a:r>
            <a:r>
              <a:rPr lang="en-US" sz="2800" i="1" dirty="0"/>
              <a:t>n</a:t>
            </a:r>
            <a:r>
              <a:rPr lang="en-US" sz="2800" dirty="0"/>
              <a:t>-grams observed in training set (2 ≤ </a:t>
            </a:r>
            <a:r>
              <a:rPr lang="en-US" sz="2800" i="1" dirty="0"/>
              <a:t>n</a:t>
            </a:r>
            <a:r>
              <a:rPr lang="en-US" sz="2800" dirty="0"/>
              <a:t> ≤ 4), including spaces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we trained on paraphrase pairs from the Paraphrase Database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9872" y="6020419"/>
            <a:ext cx="8602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288CD2"/>
                </a:solidFill>
                <a:latin typeface="Calibri"/>
                <a:cs typeface="Calibri"/>
              </a:rPr>
              <a:t>Wieting</a:t>
            </a:r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Charagram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: Embedding Words and Sentences via Character n-grams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35792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52400" y="609600"/>
          <a:ext cx="8610600" cy="2590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95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214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word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nearest</a:t>
                      </a:r>
                      <a:r>
                        <a:rPr lang="en-US" sz="1800" baseline="0" dirty="0"/>
                        <a:t> neighbors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228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refunding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refunds, refunded, refund, repayment, reimbursement, rebate, repay</a:t>
                      </a:r>
                    </a:p>
                    <a:p>
                      <a:pPr algn="l"/>
                      <a:r>
                        <a:rPr lang="en-US" sz="1800" dirty="0"/>
                        <a:t>reimbursements, reimburse, repaying, repayments, rebates, rebating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228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professors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professor, professorships, professorship, teachers, professorial, teacher</a:t>
                      </a:r>
                    </a:p>
                    <a:p>
                      <a:pPr algn="l"/>
                      <a:r>
                        <a:rPr lang="en-US" sz="1800" dirty="0"/>
                        <a:t>prof., teaches, lecturers, teachings, instructors, </a:t>
                      </a:r>
                      <a:r>
                        <a:rPr lang="en-US" sz="1800" dirty="0" err="1"/>
                        <a:t>headteachers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228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huge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enormous, tremendous, large, big, vast, overwhelming, immense, giant</a:t>
                      </a:r>
                    </a:p>
                    <a:p>
                      <a:pPr algn="l"/>
                      <a:r>
                        <a:rPr lang="en-US" sz="1800" dirty="0"/>
                        <a:t>formidable, considerable, massive, huger, large-scale, great, daunting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4598125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For words in training set:</a:t>
            </a:r>
            <a:endParaRPr lang="en-US" sz="1050" dirty="0"/>
          </a:p>
          <a:p>
            <a:pPr marL="0" indent="0">
              <a:buNone/>
            </a:pPr>
            <a:endParaRPr lang="en-US" sz="1200" dirty="0">
              <a:solidFill>
                <a:srgbClr val="0062A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872" y="6020419"/>
            <a:ext cx="8602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288CD2"/>
                </a:solidFill>
                <a:latin typeface="Calibri"/>
                <a:cs typeface="Calibri"/>
              </a:rPr>
              <a:t>Wieting</a:t>
            </a:r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Charagram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: Embedding Words and Sentences via Character n-grams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4729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52400" y="4038600"/>
          <a:ext cx="8610600" cy="182517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95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378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word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nearest</a:t>
                      </a:r>
                      <a:r>
                        <a:rPr lang="en-US" sz="1800" baseline="0" dirty="0"/>
                        <a:t> neighbors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9664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vehicals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vehical</a:t>
                      </a:r>
                      <a:r>
                        <a:rPr lang="en-US" sz="1800" dirty="0"/>
                        <a:t>, vehicles, </a:t>
                      </a:r>
                      <a:r>
                        <a:rPr lang="en-US" sz="1800" dirty="0" err="1"/>
                        <a:t>vehicels</a:t>
                      </a:r>
                      <a:r>
                        <a:rPr lang="en-US" sz="1800" dirty="0"/>
                        <a:t>, vehicular, cars, vehicle, automobiles, car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9664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journeying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journey, journeys, voyage, trip, </a:t>
                      </a:r>
                      <a:r>
                        <a:rPr lang="en-US" sz="1800" dirty="0" err="1"/>
                        <a:t>roadtrip</a:t>
                      </a:r>
                      <a:r>
                        <a:rPr lang="en-US" sz="1800" dirty="0"/>
                        <a:t>, travel, tourney, voyages, road-trip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2062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babyyyyyy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/>
                        <a:t>babyyyyyyy</a:t>
                      </a:r>
                      <a:r>
                        <a:rPr lang="en-US" sz="1800" dirty="0"/>
                        <a:t>, baby, </a:t>
                      </a:r>
                      <a:r>
                        <a:rPr lang="en-US" sz="1800" dirty="0" err="1"/>
                        <a:t>babys</a:t>
                      </a:r>
                      <a:r>
                        <a:rPr lang="en-US" sz="1800" dirty="0"/>
                        <a:t>, babe, </a:t>
                      </a:r>
                      <a:r>
                        <a:rPr lang="en-US" sz="1800" dirty="0" err="1"/>
                        <a:t>baby.i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babydoll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babycake</a:t>
                      </a:r>
                      <a:r>
                        <a:rPr lang="en-US" sz="1800" dirty="0"/>
                        <a:t>, darling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52400" y="609600"/>
          <a:ext cx="8610600" cy="2590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95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214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word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nearest</a:t>
                      </a:r>
                      <a:r>
                        <a:rPr lang="en-US" sz="1800" baseline="0" dirty="0"/>
                        <a:t> neighbors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228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refunding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refunds, refunded, refund, repayment, reimbursement, rebate, repay</a:t>
                      </a:r>
                    </a:p>
                    <a:p>
                      <a:pPr algn="l"/>
                      <a:r>
                        <a:rPr lang="en-US" sz="1800" dirty="0"/>
                        <a:t>reimbursements, reimburse, repaying, repayments, rebates, rebating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228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professors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professor, professorships, professorship, teachers, professorial, teacher</a:t>
                      </a:r>
                    </a:p>
                    <a:p>
                      <a:pPr algn="l"/>
                      <a:r>
                        <a:rPr lang="en-US" sz="1800" dirty="0"/>
                        <a:t>prof., teaches, lecturers, teachings, instructors, </a:t>
                      </a:r>
                      <a:r>
                        <a:rPr lang="en-US" sz="1800" dirty="0" err="1"/>
                        <a:t>headteachers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228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huge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enormous, tremendous, large, big, vast, overwhelming, immense, giant</a:t>
                      </a:r>
                    </a:p>
                    <a:p>
                      <a:pPr algn="l"/>
                      <a:r>
                        <a:rPr lang="en-US" sz="1800" dirty="0"/>
                        <a:t>formidable, considerable, massive, huger, large-scale, great, daunting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4598125" cy="45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For words in training set:</a:t>
            </a:r>
            <a:endParaRPr lang="en-US" sz="1050" dirty="0"/>
          </a:p>
          <a:p>
            <a:pPr marL="0" indent="0">
              <a:buNone/>
            </a:pPr>
            <a:endParaRPr lang="en-US" sz="1200" dirty="0">
              <a:solidFill>
                <a:srgbClr val="0062AC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304800" y="3429000"/>
            <a:ext cx="459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i="0" dirty="0"/>
              <a:t>For words not in training set:</a:t>
            </a:r>
            <a:endParaRPr lang="en-US" sz="1050" i="0" dirty="0"/>
          </a:p>
          <a:p>
            <a:pPr marL="0" indent="0">
              <a:buFont typeface="Wingdings" pitchFamily="2" charset="2"/>
              <a:buNone/>
            </a:pPr>
            <a:endParaRPr lang="en-US" sz="1200" i="0" dirty="0">
              <a:solidFill>
                <a:srgbClr val="0062A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9872" y="6020419"/>
            <a:ext cx="8602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288CD2"/>
                </a:solidFill>
                <a:latin typeface="Calibri"/>
                <a:cs typeface="Calibri"/>
              </a:rPr>
              <a:t>Wieting</a:t>
            </a:r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 et al. (2016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Charagram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: Embedding Words and Sentences via Character n-grams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25175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fastText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word2vec, but represents a word as the sum of its character </a:t>
            </a:r>
            <a:r>
              <a:rPr lang="en-US" i="1" dirty="0"/>
              <a:t>n</a:t>
            </a:r>
            <a:r>
              <a:rPr lang="en-US" dirty="0"/>
              <a:t>-gram embeddings and an embedding for the word itself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9872" y="6020419"/>
            <a:ext cx="8602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288CD2"/>
                </a:solidFill>
                <a:latin typeface="Calibri"/>
                <a:cs typeface="Calibri"/>
              </a:rPr>
              <a:t>Bojanowski</a:t>
            </a:r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 et al. (2017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Enriching Word Vectors with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Subword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 Information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6" name="Picture 5" descr="Screen Shot 2019-04-10 at 8.56.3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635" y="3059953"/>
            <a:ext cx="5169493" cy="26287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5C481A1-E5CF-9444-BDC4-A98A22090751}"/>
              </a:ext>
            </a:extLst>
          </p:cNvPr>
          <p:cNvSpPr/>
          <p:nvPr/>
        </p:nvSpPr>
        <p:spPr>
          <a:xfrm>
            <a:off x="3350172" y="2924503"/>
            <a:ext cx="1458311" cy="4414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170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fastText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869360"/>
          </a:xfrm>
        </p:spPr>
        <p:txBody>
          <a:bodyPr/>
          <a:lstStyle/>
          <a:p>
            <a:r>
              <a:rPr lang="en-US" dirty="0"/>
              <a:t>better data efficiency than word2vec: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9872" y="6020419"/>
            <a:ext cx="860282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0" dirty="0" err="1">
                <a:solidFill>
                  <a:srgbClr val="288CD2"/>
                </a:solidFill>
                <a:latin typeface="Calibri"/>
                <a:cs typeface="Calibri"/>
              </a:rPr>
              <a:t>Bojanowski</a:t>
            </a:r>
            <a:r>
              <a:rPr lang="en-US" i="0" dirty="0">
                <a:solidFill>
                  <a:srgbClr val="288CD2"/>
                </a:solidFill>
                <a:latin typeface="Calibri"/>
                <a:cs typeface="Calibri"/>
              </a:rPr>
              <a:t> et al. (2017</a:t>
            </a:r>
            <a:r>
              <a:rPr lang="en-US" dirty="0">
                <a:solidFill>
                  <a:srgbClr val="288CD2"/>
                </a:solidFill>
                <a:cs typeface="Calibri"/>
              </a:rPr>
              <a:t>): 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Enriching Word Vectors with </a:t>
            </a:r>
            <a:r>
              <a:rPr lang="en-US" i="1" dirty="0" err="1">
                <a:solidFill>
                  <a:srgbClr val="288CD2"/>
                </a:solidFill>
                <a:cs typeface="Calibri"/>
              </a:rPr>
              <a:t>Subword</a:t>
            </a:r>
            <a:r>
              <a:rPr lang="en-US" i="1" dirty="0">
                <a:solidFill>
                  <a:srgbClr val="288CD2"/>
                </a:solidFill>
                <a:cs typeface="Calibri"/>
              </a:rPr>
              <a:t> Information</a:t>
            </a:r>
            <a:endParaRPr lang="en-US" i="1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8" name="Picture 7" descr="Screen Shot 2019-04-10 at 9.02.1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9524"/>
            <a:ext cx="9144000" cy="400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89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you’re just encoding text (rather than generating), you can use neural architectures like these to capture </a:t>
            </a:r>
            <a:r>
              <a:rPr lang="en-US" dirty="0" err="1"/>
              <a:t>subword</a:t>
            </a:r>
            <a:r>
              <a:rPr lang="en-US" dirty="0"/>
              <a:t> information</a:t>
            </a:r>
          </a:p>
          <a:p>
            <a:endParaRPr lang="en-US" dirty="0"/>
          </a:p>
          <a:p>
            <a:r>
              <a:rPr lang="en-US" dirty="0"/>
              <a:t>for generation, it’s trickier:</a:t>
            </a:r>
          </a:p>
          <a:p>
            <a:pPr lvl="1"/>
            <a:r>
              <a:rPr lang="en-US" dirty="0"/>
              <a:t>character RNNs are fine for generating words, but not sentences (very long sequences and long-distance dependencies)</a:t>
            </a:r>
          </a:p>
          <a:p>
            <a:pPr lvl="1"/>
            <a:endParaRPr lang="en-US" dirty="0"/>
          </a:p>
          <a:p>
            <a:r>
              <a:rPr lang="en-US" dirty="0"/>
              <a:t>simple, data-driven segmentation methods have emerged as the standard way to handle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71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A047E2-5A29-5F42-8BA7-9EA8F590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Data-Driven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BAC3DF-5509-8F42-A461-BB85B73C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779819"/>
          </a:xfrm>
        </p:spPr>
        <p:txBody>
          <a:bodyPr/>
          <a:lstStyle/>
          <a:p>
            <a:r>
              <a:rPr lang="en-US" dirty="0"/>
              <a:t>Most popular methods:</a:t>
            </a:r>
          </a:p>
          <a:p>
            <a:pPr lvl="1"/>
            <a:r>
              <a:rPr lang="en-US" dirty="0"/>
              <a:t>Byte pair encoding (BPE)</a:t>
            </a:r>
          </a:p>
          <a:p>
            <a:pPr lvl="1"/>
            <a:r>
              <a:rPr lang="en-US" dirty="0" err="1"/>
              <a:t>SentencePiece’s</a:t>
            </a:r>
            <a:r>
              <a:rPr lang="en-US" dirty="0"/>
              <a:t> unigram 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BE0779-D10D-9A4C-BF6A-02E85B18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7472AF2-2B05-2C4B-9B64-18CCD3454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6704"/>
            <a:ext cx="9144000" cy="625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018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A047E2-5A29-5F42-8BA7-9EA8F590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Data-Driven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BAC3DF-5509-8F42-A461-BB85B73C2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popular methods:</a:t>
            </a:r>
          </a:p>
          <a:p>
            <a:pPr lvl="1"/>
            <a:r>
              <a:rPr lang="en-US" dirty="0"/>
              <a:t>Byte pair encoding (BPE)</a:t>
            </a:r>
          </a:p>
          <a:p>
            <a:pPr lvl="1"/>
            <a:r>
              <a:rPr lang="en-US" dirty="0" err="1"/>
              <a:t>SentencePiece’s</a:t>
            </a:r>
            <a:r>
              <a:rPr lang="en-US" dirty="0"/>
              <a:t> unigram LM</a:t>
            </a:r>
          </a:p>
          <a:p>
            <a:endParaRPr lang="en-US" dirty="0"/>
          </a:p>
          <a:p>
            <a:r>
              <a:rPr lang="en-US" dirty="0"/>
              <a:t>these are easy and fast to use &amp; work well</a:t>
            </a:r>
          </a:p>
          <a:p>
            <a:endParaRPr lang="en-US" dirty="0"/>
          </a:p>
          <a:p>
            <a:r>
              <a:rPr lang="en-US" dirty="0"/>
              <a:t>they permit unbounded vocabularies with a relatively small number of parameters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BE0779-D10D-9A4C-BF6A-02E85B18E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440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1119155"/>
          </a:xfrm>
        </p:spPr>
        <p:txBody>
          <a:bodyPr>
            <a:noAutofit/>
          </a:bodyPr>
          <a:lstStyle/>
          <a:p>
            <a:r>
              <a:rPr lang="en-US" sz="3600" dirty="0"/>
              <a:t>Byte Pair Encoding (BPE)</a:t>
            </a:r>
            <a:br>
              <a:rPr lang="en-US" sz="3600" dirty="0"/>
            </a:br>
            <a:r>
              <a:rPr lang="en-US" sz="2800" dirty="0">
                <a:solidFill>
                  <a:srgbClr val="288CD2"/>
                </a:solidFill>
              </a:rPr>
              <a:t>(Gage, 1994)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8664"/>
            <a:ext cx="8229600" cy="4577500"/>
          </a:xfrm>
        </p:spPr>
        <p:txBody>
          <a:bodyPr>
            <a:normAutofit/>
          </a:bodyPr>
          <a:lstStyle/>
          <a:p>
            <a:r>
              <a:rPr lang="en-US" dirty="0"/>
              <a:t>simple data compression technique</a:t>
            </a:r>
          </a:p>
          <a:p>
            <a:endParaRPr lang="en-US" dirty="0"/>
          </a:p>
          <a:p>
            <a:r>
              <a:rPr lang="en-US" dirty="0"/>
              <a:t>iteratively replaces most frequent pair of bytes in a sequence with a single, unused byte</a:t>
            </a:r>
          </a:p>
          <a:p>
            <a:endParaRPr lang="en-US" dirty="0"/>
          </a:p>
          <a:p>
            <a:r>
              <a:rPr lang="en-US" dirty="0" err="1"/>
              <a:t>Sennrich</a:t>
            </a:r>
            <a:r>
              <a:rPr lang="en-US" dirty="0"/>
              <a:t> et al. (2016) adapted BPE for characters and character 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545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Byte Pair Encoding (BPE)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849" y="1073740"/>
            <a:ext cx="8817474" cy="505242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88CD2"/>
                </a:solidFill>
              </a:rPr>
              <a:t>merge</a:t>
            </a:r>
            <a:r>
              <a:rPr lang="en-US" dirty="0"/>
              <a:t>: a rule that combines two consecutive units into a single unit</a:t>
            </a:r>
          </a:p>
          <a:p>
            <a:r>
              <a:rPr lang="en-US" dirty="0"/>
              <a:t>initially, units are characters</a:t>
            </a:r>
          </a:p>
          <a:p>
            <a:r>
              <a:rPr lang="en-US" dirty="0"/>
              <a:t>after merges, units become character sequences</a:t>
            </a:r>
          </a:p>
          <a:p>
            <a:r>
              <a:rPr lang="en-US" dirty="0"/>
              <a:t>greedy algorithm:</a:t>
            </a:r>
          </a:p>
          <a:p>
            <a:pPr lvl="1"/>
            <a:r>
              <a:rPr lang="en-US" dirty="0"/>
              <a:t>merge two units with the largest unit bigram count, produce merged unit</a:t>
            </a:r>
          </a:p>
          <a:p>
            <a:pPr lvl="1"/>
            <a:r>
              <a:rPr lang="en-US" dirty="0"/>
              <a:t>replace all instances of that 2-unit sequence with the merged unit, </a:t>
            </a:r>
            <a:r>
              <a:rPr lang="en-US" dirty="0" err="1"/>
              <a:t>recompute</a:t>
            </a:r>
            <a:r>
              <a:rPr lang="en-US" dirty="0"/>
              <a:t> counts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13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Byte Pair Encoding (BPE)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Sennrich</a:t>
            </a:r>
            <a:r>
              <a:rPr lang="en-US" dirty="0"/>
              <a:t> et al. use BPE based on word counts from a corpus</a:t>
            </a:r>
          </a:p>
          <a:p>
            <a:pPr lvl="1"/>
            <a:r>
              <a:rPr lang="en-US" dirty="0"/>
              <a:t>sentences are not used; all that’s needed are word types and their counts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special treatment for end-of-word symbol </a:t>
            </a:r>
            <a:r>
              <a:rPr lang="en-US" dirty="0">
                <a:latin typeface="Courier New"/>
                <a:cs typeface="Courier New"/>
              </a:rPr>
              <a:t>&lt;/w&gt;</a:t>
            </a:r>
            <a:r>
              <a:rPr lang="en-US" dirty="0"/>
              <a:t> (an unseen initial step merges final character in each word with </a:t>
            </a:r>
            <a:r>
              <a:rPr lang="en-US" dirty="0">
                <a:latin typeface="Courier New"/>
                <a:cs typeface="Courier New"/>
              </a:rPr>
              <a:t>&lt;/w&gt;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when segmenting new data, segments words individually (does not use context)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468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892" y="171398"/>
            <a:ext cx="7064397" cy="72683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Corpus:              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2440302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02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892" y="171398"/>
            <a:ext cx="7064397" cy="72683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Corpus:              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434969" y="2133086"/>
            <a:ext cx="3428934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actually the corpus looks like this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F4425A40-C314-3D4A-A0CC-606E9206C846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8285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892" y="171398"/>
            <a:ext cx="7064397" cy="72683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Corpus:              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941630" y="1073740"/>
            <a:ext cx="3512725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w &lt;/w&gt;  (2)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r &lt;/w&gt;  (2)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&lt;/w&gt;  (2)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t &lt;/w&gt; 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2371" y="3749511"/>
            <a:ext cx="4484429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the first thing we do is merge word-ending characters with </a:t>
            </a:r>
            <a:r>
              <a:rPr lang="en-US" sz="3200" dirty="0">
                <a:latin typeface="Courier New"/>
                <a:cs typeface="Courier New"/>
              </a:rPr>
              <a:t>&lt;/w&gt;</a:t>
            </a:r>
            <a:endParaRPr lang="en-US" sz="3200" dirty="0">
              <a:latin typeface="Calibri"/>
              <a:cs typeface="Calibri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01928CE3-ED19-0C44-A4DC-4CFC86CE469D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6566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33C01A4-55C1-2141-91DB-1002BEF41C28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8746C69-33B4-E64E-B7C1-86182FE013C1}"/>
              </a:ext>
            </a:extLst>
          </p:cNvPr>
          <p:cNvSpPr txBox="1"/>
          <p:nvPr/>
        </p:nvSpPr>
        <p:spPr>
          <a:xfrm>
            <a:off x="2907197" y="3306457"/>
            <a:ext cx="5109569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given this set of merges, let’s segment the corpus!</a:t>
            </a:r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05379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 e r&lt;/w&gt;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33C01A4-55C1-2141-91DB-1002BEF41C28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338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 e r&lt;/w&gt;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33C01A4-55C1-2141-91DB-1002BEF41C28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C4A1F1B-4DEE-1D49-AF42-9818249F1D00}"/>
              </a:ext>
            </a:extLst>
          </p:cNvPr>
          <p:cNvSpPr txBox="1"/>
          <p:nvPr/>
        </p:nvSpPr>
        <p:spPr>
          <a:xfrm>
            <a:off x="587735" y="5437496"/>
            <a:ext cx="7114278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looking at the segmented corpus shows us what merge will occur next</a:t>
            </a:r>
          </a:p>
        </p:txBody>
      </p:sp>
    </p:spTree>
    <p:extLst>
      <p:ext uri="{BB962C8B-B14F-4D97-AF65-F5344CB8AC3E}">
        <p14:creationId xmlns:p14="http://schemas.microsoft.com/office/powerpoint/2010/main" val="3728407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 e r&lt;/w&gt;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33C01A4-55C1-2141-91DB-1002BEF41C28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7DFA467-97C8-9F4F-82A6-6F420C2800E7}"/>
              </a:ext>
            </a:extLst>
          </p:cNvPr>
          <p:cNvSpPr txBox="1"/>
          <p:nvPr/>
        </p:nvSpPr>
        <p:spPr>
          <a:xfrm>
            <a:off x="1638073" y="5286012"/>
            <a:ext cx="6108244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what is the next merge?</a:t>
            </a:r>
          </a:p>
          <a:p>
            <a:r>
              <a:rPr lang="en-US" sz="2800" dirty="0">
                <a:cs typeface="Calibri"/>
              </a:rPr>
              <a:t>(what unit bigram appears most often?)</a:t>
            </a:r>
          </a:p>
        </p:txBody>
      </p:sp>
    </p:spTree>
    <p:extLst>
      <p:ext uri="{BB962C8B-B14F-4D97-AF65-F5344CB8AC3E}">
        <p14:creationId xmlns:p14="http://schemas.microsoft.com/office/powerpoint/2010/main" val="545866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 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 e r&lt;/w&gt;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33C01A4-55C1-2141-91DB-1002BEF41C28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EB62066-0B9C-1744-A3A0-B142665DF3D3}"/>
              </a:ext>
            </a:extLst>
          </p:cNvPr>
          <p:cNvSpPr txBox="1"/>
          <p:nvPr/>
        </p:nvSpPr>
        <p:spPr>
          <a:xfrm>
            <a:off x="2907197" y="5279132"/>
            <a:ext cx="5109569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given this new set of merges, let’s re-segment the corpus!</a:t>
            </a:r>
            <a:endParaRPr lang="en-US" sz="2800" dirty="0"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34D5F29-140C-8340-8203-A7889AEFC505}"/>
              </a:ext>
            </a:extLst>
          </p:cNvPr>
          <p:cNvSpPr/>
          <p:nvPr/>
        </p:nvSpPr>
        <p:spPr>
          <a:xfrm>
            <a:off x="6695978" y="3059394"/>
            <a:ext cx="2406041" cy="577295"/>
          </a:xfrm>
          <a:prstGeom prst="rect">
            <a:avLst/>
          </a:prstGeom>
          <a:noFill/>
          <a:ln w="57150" cmpd="sng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023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 e r&lt;/w&gt;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33C01A4-55C1-2141-91DB-1002BEF41C28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4960911-CA73-4149-9737-25B19944CE62}"/>
              </a:ext>
            </a:extLst>
          </p:cNvPr>
          <p:cNvSpPr txBox="1"/>
          <p:nvPr/>
        </p:nvSpPr>
        <p:spPr>
          <a:xfrm>
            <a:off x="4671898" y="5257091"/>
            <a:ext cx="4300042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note: we will always “back off” to the complete segmentation</a:t>
            </a:r>
          </a:p>
        </p:txBody>
      </p:sp>
    </p:spTree>
    <p:extLst>
      <p:ext uri="{BB962C8B-B14F-4D97-AF65-F5344CB8AC3E}">
        <p14:creationId xmlns:p14="http://schemas.microsoft.com/office/powerpoint/2010/main" val="820721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 e r&lt;/w&gt;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6EE4ADA0-27E2-F746-949C-E39D548C6B53}"/>
              </a:ext>
            </a:extLst>
          </p:cNvPr>
          <p:cNvSpPr txBox="1">
            <a:spLocks/>
          </p:cNvSpPr>
          <p:nvPr/>
        </p:nvSpPr>
        <p:spPr>
          <a:xfrm>
            <a:off x="704998" y="5622342"/>
            <a:ext cx="8229600" cy="892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solidFill>
                  <a:srgbClr val="288CD2"/>
                </a:solidFill>
              </a:rPr>
              <a:t>Sennrich</a:t>
            </a:r>
            <a:r>
              <a:rPr lang="en-US" sz="2400" dirty="0">
                <a:solidFill>
                  <a:srgbClr val="288CD2"/>
                </a:solidFill>
              </a:rPr>
              <a:t> et al. (2016): </a:t>
            </a:r>
            <a:r>
              <a:rPr lang="en-US" sz="2400" i="1" dirty="0">
                <a:solidFill>
                  <a:srgbClr val="288CD2"/>
                </a:solidFill>
              </a:rPr>
              <a:t>Neural Machine Translation of Rare Words with </a:t>
            </a:r>
            <a:r>
              <a:rPr lang="en-US" sz="2400" i="1" dirty="0" err="1">
                <a:solidFill>
                  <a:srgbClr val="288CD2"/>
                </a:solidFill>
              </a:rPr>
              <a:t>Subword</a:t>
            </a:r>
            <a:r>
              <a:rPr lang="en-US" sz="2400" i="1" dirty="0">
                <a:solidFill>
                  <a:srgbClr val="288CD2"/>
                </a:solidFill>
              </a:rPr>
              <a:t> Units</a:t>
            </a:r>
            <a:endParaRPr lang="en-US" sz="2400" dirty="0">
              <a:solidFill>
                <a:srgbClr val="288CD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3F852C3-B556-724E-9F4B-581F1255094E}"/>
              </a:ext>
            </a:extLst>
          </p:cNvPr>
          <p:cNvSpPr txBox="1"/>
          <p:nvPr/>
        </p:nvSpPr>
        <p:spPr>
          <a:xfrm>
            <a:off x="1638073" y="5286012"/>
            <a:ext cx="6108244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/>
                <a:cs typeface="Calibri"/>
              </a:rPr>
              <a:t>what is the next merge?</a:t>
            </a:r>
          </a:p>
          <a:p>
            <a:r>
              <a:rPr lang="en-US" sz="2800" dirty="0">
                <a:cs typeface="Calibri"/>
              </a:rPr>
              <a:t>(what unit bigram appears most often?)</a:t>
            </a:r>
          </a:p>
        </p:txBody>
      </p:sp>
    </p:spTree>
    <p:extLst>
      <p:ext uri="{BB962C8B-B14F-4D97-AF65-F5344CB8AC3E}">
        <p14:creationId xmlns:p14="http://schemas.microsoft.com/office/powerpoint/2010/main" val="3291703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  <a:p>
            <a:pPr marL="0" indent="0">
              <a:buNone/>
            </a:pPr>
            <a:r>
              <a:rPr lang="en-US" sz="2800" dirty="0" err="1">
                <a:latin typeface="Courier New"/>
                <a:cs typeface="Courier New"/>
              </a:rPr>
              <a:t>i</a:t>
            </a:r>
            <a:r>
              <a:rPr lang="en-US" sz="2800" dirty="0">
                <a:latin typeface="Courier New"/>
                <a:cs typeface="Courier New"/>
              </a:rPr>
              <a:t> g    (3)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 h e r&lt;/w&gt;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695978" y="3631666"/>
            <a:ext cx="2406041" cy="577295"/>
          </a:xfrm>
          <a:prstGeom prst="rect">
            <a:avLst/>
          </a:prstGeom>
          <a:noFill/>
          <a:ln w="57150" cmpd="sng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665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  <a:p>
            <a:pPr marL="0" indent="0">
              <a:buNone/>
            </a:pPr>
            <a:r>
              <a:rPr lang="en-US" sz="2800" dirty="0" err="1">
                <a:latin typeface="Courier New"/>
                <a:cs typeface="Courier New"/>
              </a:rPr>
              <a:t>i</a:t>
            </a:r>
            <a:r>
              <a:rPr lang="en-US" sz="2800" dirty="0">
                <a:latin typeface="Courier New"/>
                <a:cs typeface="Courier New"/>
              </a:rPr>
              <a:t> g    (3)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ig</a:t>
            </a:r>
            <a:r>
              <a:rPr lang="en-US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ig</a:t>
            </a:r>
            <a:r>
              <a:rPr lang="en-US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ig</a:t>
            </a:r>
            <a:r>
              <a:rPr lang="en-US" dirty="0">
                <a:latin typeface="Courier New"/>
                <a:cs typeface="Courier New"/>
              </a:rPr>
              <a:t> h e r&lt;/w&gt;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1256" y="3453273"/>
            <a:ext cx="3771944" cy="1784365"/>
          </a:xfrm>
          <a:prstGeom prst="rect">
            <a:avLst/>
          </a:prstGeom>
          <a:noFill/>
          <a:ln w="57150" cmpd="sng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16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  <a:p>
            <a:pPr marL="0" indent="0">
              <a:buNone/>
            </a:pPr>
            <a:r>
              <a:rPr lang="en-US" sz="2800" dirty="0" err="1">
                <a:latin typeface="Courier New"/>
                <a:cs typeface="Courier New"/>
              </a:rPr>
              <a:t>i</a:t>
            </a:r>
            <a:r>
              <a:rPr lang="en-US" sz="2800" dirty="0">
                <a:latin typeface="Courier New"/>
                <a:cs typeface="Courier New"/>
              </a:rPr>
              <a:t> g    (3)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h </a:t>
            </a:r>
            <a:r>
              <a:rPr lang="en-US" sz="2800" dirty="0" err="1">
                <a:latin typeface="Courier New"/>
                <a:cs typeface="Courier New"/>
              </a:rPr>
              <a:t>ig</a:t>
            </a:r>
            <a:r>
              <a:rPr lang="en-US" sz="2800" dirty="0">
                <a:latin typeface="Courier New"/>
                <a:cs typeface="Courier New"/>
              </a:rPr>
              <a:t>   (3)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ig</a:t>
            </a:r>
            <a:r>
              <a:rPr lang="en-US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ig</a:t>
            </a:r>
            <a:r>
              <a:rPr lang="en-US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ig</a:t>
            </a:r>
            <a:r>
              <a:rPr lang="en-US" dirty="0">
                <a:latin typeface="Courier New"/>
                <a:cs typeface="Courier New"/>
              </a:rPr>
              <a:t> h e r&lt;/w&gt;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5978" y="4164364"/>
            <a:ext cx="2406041" cy="577295"/>
          </a:xfrm>
          <a:prstGeom prst="rect">
            <a:avLst/>
          </a:prstGeom>
          <a:noFill/>
          <a:ln w="57150" cmpd="sng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442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521486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  <a:p>
            <a:pPr marL="0" indent="0">
              <a:buNone/>
            </a:pPr>
            <a:r>
              <a:rPr lang="en-US" sz="2800" dirty="0" err="1">
                <a:latin typeface="Courier New"/>
                <a:cs typeface="Courier New"/>
              </a:rPr>
              <a:t>i</a:t>
            </a:r>
            <a:r>
              <a:rPr lang="en-US" sz="2800" dirty="0">
                <a:latin typeface="Courier New"/>
                <a:cs typeface="Courier New"/>
              </a:rPr>
              <a:t> g    (3)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h </a:t>
            </a:r>
            <a:r>
              <a:rPr lang="en-US" sz="2800" dirty="0" err="1">
                <a:latin typeface="Courier New"/>
                <a:cs typeface="Courier New"/>
              </a:rPr>
              <a:t>ig</a:t>
            </a:r>
            <a:r>
              <a:rPr lang="en-US" sz="2800" dirty="0">
                <a:latin typeface="Courier New"/>
                <a:cs typeface="Courier New"/>
              </a:rPr>
              <a:t>   (3)</a:t>
            </a: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r&lt;/w&gt;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 w e s t&lt;/w&gt;</a:t>
            </a:r>
          </a:p>
          <a:p>
            <a:pPr marL="0" indent="0">
              <a:buFont typeface="Arial"/>
              <a:buNone/>
            </a:pPr>
            <a:r>
              <a:rPr lang="en-US" dirty="0" err="1">
                <a:latin typeface="Courier New"/>
                <a:cs typeface="Courier New"/>
              </a:rPr>
              <a:t>hig</a:t>
            </a:r>
            <a:r>
              <a:rPr lang="en-US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Font typeface="Arial"/>
              <a:buNone/>
            </a:pPr>
            <a:r>
              <a:rPr lang="en-US" dirty="0" err="1">
                <a:latin typeface="Courier New"/>
                <a:cs typeface="Courier New"/>
              </a:rPr>
              <a:t>hig</a:t>
            </a:r>
            <a:r>
              <a:rPr lang="en-US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Font typeface="Arial"/>
              <a:buNone/>
            </a:pPr>
            <a:r>
              <a:rPr lang="en-US" dirty="0" err="1">
                <a:latin typeface="Courier New"/>
                <a:cs typeface="Courier New"/>
              </a:rPr>
              <a:t>hig</a:t>
            </a:r>
            <a:r>
              <a:rPr lang="en-US" dirty="0">
                <a:latin typeface="Courier New"/>
                <a:cs typeface="Courier New"/>
              </a:rPr>
              <a:t> h e r&lt;/w&gt;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1256" y="3453273"/>
            <a:ext cx="3771944" cy="1784365"/>
          </a:xfrm>
          <a:prstGeom prst="rect">
            <a:avLst/>
          </a:prstGeom>
          <a:noFill/>
          <a:ln w="57150" cmpd="sng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05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02" y="171398"/>
            <a:ext cx="8560522" cy="726831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Corpus:              Segmentation:           Merges: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0" y="1073740"/>
            <a:ext cx="2764846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higher&lt;/w&gt;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21919" y="1073740"/>
            <a:ext cx="2676296" cy="5052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w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r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h &lt;/w&gt; (2)</a:t>
            </a:r>
          </a:p>
          <a:p>
            <a:pPr marL="0" indent="0">
              <a:buFont typeface="Arial"/>
              <a:buNone/>
            </a:pPr>
            <a:r>
              <a:rPr lang="en-US" sz="2800" dirty="0">
                <a:latin typeface="Courier New"/>
                <a:cs typeface="Courier New"/>
              </a:rPr>
              <a:t>t &lt;/w&gt; (1)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 o    (4)</a:t>
            </a:r>
          </a:p>
          <a:p>
            <a:pPr marL="0" indent="0">
              <a:buNone/>
            </a:pPr>
            <a:r>
              <a:rPr lang="en-US" sz="2800" dirty="0" err="1">
                <a:latin typeface="Courier New"/>
                <a:cs typeface="Courier New"/>
              </a:rPr>
              <a:t>i</a:t>
            </a:r>
            <a:r>
              <a:rPr lang="en-US" sz="2800" dirty="0">
                <a:latin typeface="Courier New"/>
                <a:cs typeface="Courier New"/>
              </a:rPr>
              <a:t> g    (3)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h </a:t>
            </a:r>
            <a:r>
              <a:rPr lang="en-US" sz="2800" dirty="0" err="1">
                <a:latin typeface="Courier New"/>
                <a:cs typeface="Courier New"/>
              </a:rPr>
              <a:t>ig</a:t>
            </a:r>
            <a:r>
              <a:rPr lang="en-US" sz="2800" dirty="0">
                <a:latin typeface="Courier New"/>
                <a:cs typeface="Courier New"/>
              </a:rPr>
              <a:t>   (3)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w e    (2)</a:t>
            </a:r>
          </a:p>
          <a:p>
            <a:pPr marL="0" indent="0">
              <a:buNone/>
            </a:pPr>
            <a:r>
              <a:rPr lang="en-US" sz="2800" dirty="0">
                <a:latin typeface="Courier New"/>
                <a:cs typeface="Courier New"/>
              </a:rPr>
              <a:t>lo we  (2)</a:t>
            </a:r>
          </a:p>
          <a:p>
            <a:pPr marL="0" indent="0">
              <a:buNone/>
            </a:pPr>
            <a:r>
              <a:rPr lang="en-US" sz="2600" dirty="0">
                <a:latin typeface="Courier New"/>
                <a:cs typeface="Courier New"/>
              </a:rPr>
              <a:t>lo w&lt;/w&gt;(2)</a:t>
            </a:r>
          </a:p>
          <a:p>
            <a:pPr marL="0" indent="0">
              <a:buNone/>
            </a:pPr>
            <a:r>
              <a:rPr lang="en-US" sz="2600" dirty="0" err="1">
                <a:latin typeface="Courier New"/>
                <a:cs typeface="Courier New"/>
              </a:rPr>
              <a:t>hig</a:t>
            </a:r>
            <a:r>
              <a:rPr lang="en-US" sz="2600" dirty="0">
                <a:latin typeface="Courier New"/>
                <a:cs typeface="Courier New"/>
              </a:rPr>
              <a:t> h&lt;/w&gt;(2)</a:t>
            </a:r>
          </a:p>
          <a:p>
            <a:pPr marL="0" indent="0">
              <a:buNone/>
            </a:pPr>
            <a:endParaRPr lang="en-US" sz="2800" dirty="0">
              <a:latin typeface="Courier New"/>
              <a:cs typeface="Courier New"/>
            </a:endParaRPr>
          </a:p>
          <a:p>
            <a:pPr marL="0" indent="0">
              <a:buFont typeface="Arial"/>
              <a:buNone/>
            </a:pPr>
            <a:endParaRPr lang="en-US" sz="2800" dirty="0">
              <a:latin typeface="Courier New"/>
              <a:cs typeface="Courier New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865207" y="1073740"/>
            <a:ext cx="3956712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low&lt;/w&gt;</a:t>
            </a:r>
          </a:p>
          <a:p>
            <a:pPr marL="0" indent="0">
              <a:buFont typeface="Arial"/>
              <a:buNone/>
            </a:pPr>
            <a:r>
              <a:rPr lang="en-US" dirty="0" err="1">
                <a:latin typeface="Courier New"/>
                <a:cs typeface="Courier New"/>
              </a:rPr>
              <a:t>lowe</a:t>
            </a:r>
            <a:r>
              <a:rPr lang="en-US" dirty="0">
                <a:latin typeface="Courier New"/>
                <a:cs typeface="Courier New"/>
              </a:rPr>
              <a:t> r&lt;/w&gt;</a:t>
            </a:r>
          </a:p>
          <a:p>
            <a:pPr marL="0" indent="0">
              <a:buFont typeface="Arial"/>
              <a:buNone/>
            </a:pPr>
            <a:r>
              <a:rPr lang="en-US" dirty="0" err="1">
                <a:latin typeface="Courier New"/>
                <a:cs typeface="Courier New"/>
              </a:rPr>
              <a:t>lowe</a:t>
            </a:r>
            <a:r>
              <a:rPr lang="en-US" dirty="0">
                <a:latin typeface="Courier New"/>
                <a:cs typeface="Courier New"/>
              </a:rPr>
              <a:t> s t&lt;/w&gt;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Font typeface="Arial"/>
              <a:buNone/>
            </a:pPr>
            <a:r>
              <a:rPr lang="en-US" dirty="0">
                <a:latin typeface="Courier New"/>
                <a:cs typeface="Courier New"/>
              </a:rPr>
              <a:t>high&lt;/w&gt;</a:t>
            </a:r>
          </a:p>
          <a:p>
            <a:pPr marL="0" indent="0">
              <a:buFont typeface="Arial"/>
              <a:buNone/>
            </a:pPr>
            <a:r>
              <a:rPr lang="en-US" dirty="0" err="1">
                <a:latin typeface="Courier New"/>
                <a:cs typeface="Courier New"/>
              </a:rPr>
              <a:t>hig</a:t>
            </a:r>
            <a:r>
              <a:rPr lang="en-US" dirty="0">
                <a:latin typeface="Courier New"/>
                <a:cs typeface="Courier New"/>
              </a:rPr>
              <a:t> h e r&lt;/w&gt;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6555" y="5336480"/>
            <a:ext cx="5566645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we’d like to merge </a:t>
            </a:r>
            <a:r>
              <a:rPr lang="en-US" sz="2800" dirty="0">
                <a:latin typeface="Courier New"/>
                <a:cs typeface="Courier New"/>
              </a:rPr>
              <a:t>e</a:t>
            </a:r>
            <a:r>
              <a:rPr lang="en-US" sz="2800" dirty="0"/>
              <a:t> and </a:t>
            </a:r>
            <a:r>
              <a:rPr lang="en-US" sz="2800" dirty="0">
                <a:latin typeface="Courier New"/>
                <a:cs typeface="Courier New"/>
              </a:rPr>
              <a:t>r&lt;/w&gt;</a:t>
            </a:r>
            <a:r>
              <a:rPr lang="en-US" sz="2800" dirty="0"/>
              <a:t>, but we merged </a:t>
            </a:r>
            <a:r>
              <a:rPr lang="en-US" sz="2800" dirty="0">
                <a:latin typeface="Courier New"/>
                <a:cs typeface="Courier New"/>
              </a:rPr>
              <a:t>w</a:t>
            </a:r>
            <a:r>
              <a:rPr lang="en-US" sz="2800" dirty="0"/>
              <a:t> and </a:t>
            </a:r>
            <a:r>
              <a:rPr lang="en-US" sz="2800" dirty="0">
                <a:latin typeface="Courier New"/>
                <a:cs typeface="Courier New"/>
              </a:rPr>
              <a:t>e</a:t>
            </a:r>
            <a:r>
              <a:rPr lang="en-US" sz="2800" dirty="0"/>
              <a:t> already, so that messed us up</a:t>
            </a:r>
          </a:p>
        </p:txBody>
      </p:sp>
    </p:spTree>
    <p:extLst>
      <p:ext uri="{BB962C8B-B14F-4D97-AF65-F5344CB8AC3E}">
        <p14:creationId xmlns:p14="http://schemas.microsoft.com/office/powerpoint/2010/main" val="19343601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892" y="171398"/>
            <a:ext cx="8647108" cy="72683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New Corpus:     Merges for New Corpus: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892" y="934846"/>
            <a:ext cx="2440302" cy="505242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 (2x)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 (2x)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small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smaller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smallest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995248" y="895162"/>
            <a:ext cx="5040860" cy="4779743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 o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s m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sm</a:t>
            </a:r>
            <a:r>
              <a:rPr lang="en-US" dirty="0">
                <a:latin typeface="Courier New"/>
                <a:cs typeface="Courier New"/>
              </a:rPr>
              <a:t> a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sma</a:t>
            </a:r>
            <a:r>
              <a:rPr lang="en-US" dirty="0">
                <a:latin typeface="Courier New"/>
                <a:cs typeface="Courier New"/>
              </a:rPr>
              <a:t> l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i</a:t>
            </a:r>
            <a:r>
              <a:rPr lang="en-US" dirty="0">
                <a:latin typeface="Courier New"/>
                <a:cs typeface="Courier New"/>
              </a:rPr>
              <a:t> g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 </a:t>
            </a:r>
            <a:r>
              <a:rPr lang="en-US" dirty="0" err="1">
                <a:latin typeface="Courier New"/>
                <a:cs typeface="Courier New"/>
              </a:rPr>
              <a:t>ig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e r&lt;/w&gt;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smal</a:t>
            </a:r>
            <a:r>
              <a:rPr lang="en-US" dirty="0">
                <a:latin typeface="Courier New"/>
                <a:cs typeface="Courier New"/>
              </a:rPr>
              <a:t> l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s t&lt;/w&gt;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 w</a:t>
            </a:r>
          </a:p>
          <a:p>
            <a:pPr marL="0" indent="0">
              <a:buNone/>
            </a:pPr>
            <a:r>
              <a:rPr lang="en-US" dirty="0" err="1">
                <a:latin typeface="Courier New"/>
                <a:cs typeface="Courier New"/>
              </a:rPr>
              <a:t>hig</a:t>
            </a:r>
            <a:r>
              <a:rPr lang="en-US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e </a:t>
            </a:r>
            <a:r>
              <a:rPr lang="en-US" dirty="0" err="1">
                <a:latin typeface="Courier New"/>
                <a:cs typeface="Courier New"/>
              </a:rPr>
              <a:t>st</a:t>
            </a:r>
            <a:r>
              <a:rPr lang="en-US" dirty="0">
                <a:latin typeface="Courier New"/>
                <a:cs typeface="Courier New"/>
              </a:rPr>
              <a:t>&lt;/w&gt;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756350" y="4431646"/>
            <a:ext cx="2302870" cy="628144"/>
          </a:xfrm>
          <a:prstGeom prst="rect">
            <a:avLst/>
          </a:prstGeom>
          <a:noFill/>
          <a:ln w="28575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91004" y="3274453"/>
            <a:ext cx="2302870" cy="628144"/>
          </a:xfrm>
          <a:prstGeom prst="rect">
            <a:avLst/>
          </a:prstGeom>
          <a:noFill/>
          <a:ln w="28575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142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892" y="92030"/>
            <a:ext cx="2805107" cy="726831"/>
          </a:xfrm>
        </p:spPr>
        <p:txBody>
          <a:bodyPr>
            <a:noAutofit/>
          </a:bodyPr>
          <a:lstStyle/>
          <a:p>
            <a:pPr algn="l"/>
            <a:r>
              <a:rPr lang="en-US" sz="3600" dirty="0"/>
              <a:t>Merges: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5997" y="795952"/>
            <a:ext cx="2143354" cy="59628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l o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s m</a:t>
            </a:r>
          </a:p>
          <a:p>
            <a:pPr marL="0" indent="0">
              <a:buNone/>
            </a:pPr>
            <a:r>
              <a:rPr lang="en-US" sz="2400" dirty="0" err="1">
                <a:latin typeface="Courier New"/>
                <a:cs typeface="Courier New"/>
              </a:rPr>
              <a:t>sm</a:t>
            </a:r>
            <a:r>
              <a:rPr lang="en-US" sz="2400" dirty="0">
                <a:latin typeface="Courier New"/>
                <a:cs typeface="Courier New"/>
              </a:rPr>
              <a:t> a</a:t>
            </a:r>
          </a:p>
          <a:p>
            <a:pPr marL="0" indent="0">
              <a:buNone/>
            </a:pPr>
            <a:r>
              <a:rPr lang="en-US" sz="2400" dirty="0" err="1">
                <a:latin typeface="Courier New"/>
                <a:cs typeface="Courier New"/>
              </a:rPr>
              <a:t>sma</a:t>
            </a:r>
            <a:r>
              <a:rPr lang="en-US" sz="2400" dirty="0">
                <a:latin typeface="Courier New"/>
                <a:cs typeface="Courier New"/>
              </a:rPr>
              <a:t> l</a:t>
            </a:r>
          </a:p>
          <a:p>
            <a:pPr marL="0" indent="0">
              <a:buNone/>
            </a:pPr>
            <a:r>
              <a:rPr lang="en-US" sz="2400" dirty="0" err="1">
                <a:latin typeface="Courier New"/>
                <a:cs typeface="Courier New"/>
              </a:rPr>
              <a:t>i</a:t>
            </a:r>
            <a:r>
              <a:rPr lang="en-US" sz="2400" dirty="0">
                <a:latin typeface="Courier New"/>
                <a:cs typeface="Courier New"/>
              </a:rPr>
              <a:t> g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h </a:t>
            </a:r>
            <a:r>
              <a:rPr lang="en-US" sz="2400" dirty="0" err="1">
                <a:latin typeface="Courier New"/>
                <a:cs typeface="Courier New"/>
              </a:rPr>
              <a:t>ig</a:t>
            </a:r>
            <a:endParaRPr lang="en-US" sz="24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e r&lt;/w&gt;</a:t>
            </a:r>
          </a:p>
          <a:p>
            <a:pPr marL="0" indent="0">
              <a:buNone/>
            </a:pPr>
            <a:r>
              <a:rPr lang="en-US" sz="2400" dirty="0" err="1">
                <a:latin typeface="Courier New"/>
                <a:cs typeface="Courier New"/>
              </a:rPr>
              <a:t>smal</a:t>
            </a:r>
            <a:r>
              <a:rPr lang="en-US" sz="2400" dirty="0">
                <a:latin typeface="Courier New"/>
                <a:cs typeface="Courier New"/>
              </a:rPr>
              <a:t> l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s t&lt;/w&gt;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lo w&lt;/w&gt;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lo w</a:t>
            </a:r>
          </a:p>
          <a:p>
            <a:pPr marL="0" indent="0">
              <a:buNone/>
            </a:pPr>
            <a:r>
              <a:rPr lang="en-US" sz="2400" dirty="0" err="1">
                <a:latin typeface="Courier New"/>
                <a:cs typeface="Courier New"/>
              </a:rPr>
              <a:t>hig</a:t>
            </a:r>
            <a:r>
              <a:rPr lang="en-US" sz="2400" dirty="0">
                <a:latin typeface="Courier New"/>
                <a:cs typeface="Courier New"/>
              </a:rPr>
              <a:t> h&lt;/w&gt;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e </a:t>
            </a:r>
            <a:r>
              <a:rPr lang="en-US" sz="2400" dirty="0" err="1">
                <a:latin typeface="Courier New"/>
                <a:cs typeface="Courier New"/>
              </a:rPr>
              <a:t>st</a:t>
            </a:r>
            <a:r>
              <a:rPr lang="en-US" sz="2400" dirty="0">
                <a:latin typeface="Courier New"/>
                <a:cs typeface="Courier New"/>
              </a:rPr>
              <a:t>&lt;/w&gt;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190972" y="842999"/>
            <a:ext cx="5833952" cy="560068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 </a:t>
            </a:r>
            <a:r>
              <a:rPr lang="en-US" dirty="0">
                <a:latin typeface="Courier New"/>
                <a:cs typeface="Courier New"/>
                <a:sym typeface="Wingdings"/>
              </a:rPr>
              <a:t> </a:t>
            </a:r>
            <a:r>
              <a:rPr lang="en-US" dirty="0">
                <a:latin typeface="Courier New"/>
                <a:cs typeface="Courier New"/>
              </a:rPr>
              <a:t>low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lower </a:t>
            </a:r>
            <a:r>
              <a:rPr lang="en-US" dirty="0">
                <a:latin typeface="Courier New"/>
                <a:cs typeface="Courier New"/>
                <a:sym typeface="Wingdings"/>
              </a:rPr>
              <a:t> low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e</a:t>
            </a:r>
            <a:r>
              <a:rPr lang="en-US" dirty="0" err="1">
                <a:latin typeface="Courier New"/>
                <a:cs typeface="Courier New"/>
              </a:rPr>
              <a:t>r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lowest </a:t>
            </a:r>
            <a:r>
              <a:rPr lang="en-US" dirty="0">
                <a:latin typeface="Courier New"/>
                <a:cs typeface="Courier New"/>
                <a:sym typeface="Wingdings"/>
              </a:rPr>
              <a:t> low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est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 </a:t>
            </a:r>
            <a:r>
              <a:rPr lang="en-US" dirty="0">
                <a:latin typeface="Courier New"/>
                <a:cs typeface="Courier New"/>
                <a:sym typeface="Wingdings"/>
              </a:rPr>
              <a:t> high</a:t>
            </a:r>
            <a:endParaRPr lang="en-US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</a:rPr>
              <a:t>higher </a:t>
            </a:r>
            <a:r>
              <a:rPr lang="en-US" dirty="0">
                <a:latin typeface="Courier New"/>
                <a:cs typeface="Courier New"/>
                <a:sym typeface="Wingdings"/>
              </a:rPr>
              <a:t>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hig</a:t>
            </a:r>
            <a:r>
              <a:rPr lang="en-US" dirty="0">
                <a:latin typeface="Courier New"/>
                <a:cs typeface="Courier New"/>
                <a:sym typeface="Wingdings"/>
              </a:rPr>
              <a:t> h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er</a:t>
            </a:r>
            <a:endParaRPr lang="en-US" dirty="0">
              <a:latin typeface="Courier New"/>
              <a:cs typeface="Courier New"/>
              <a:sym typeface="Wingdings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  <a:sym typeface="Wingdings"/>
              </a:rPr>
              <a:t>highest 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hig</a:t>
            </a:r>
            <a:r>
              <a:rPr lang="en-US" dirty="0">
                <a:latin typeface="Courier New"/>
                <a:cs typeface="Courier New"/>
                <a:sym typeface="Wingdings"/>
              </a:rPr>
              <a:t> h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est</a:t>
            </a:r>
            <a:endParaRPr lang="en-US" dirty="0">
              <a:latin typeface="Courier New"/>
              <a:cs typeface="Courier New"/>
              <a:sym typeface="Wingdings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  <a:sym typeface="Wingdings"/>
              </a:rPr>
              <a:t>small 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smal</a:t>
            </a:r>
            <a:r>
              <a:rPr lang="en-US" dirty="0">
                <a:latin typeface="Courier New"/>
                <a:cs typeface="Courier New"/>
                <a:sym typeface="Wingdings"/>
              </a:rPr>
              <a:t> l</a:t>
            </a: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  <a:sym typeface="Wingdings"/>
              </a:rPr>
              <a:t>smaller  small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er</a:t>
            </a:r>
            <a:endParaRPr lang="en-US" dirty="0">
              <a:latin typeface="Courier New"/>
              <a:cs typeface="Courier New"/>
              <a:sym typeface="Wingdings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cs typeface="Courier New"/>
                <a:sym typeface="Wingdings"/>
              </a:rPr>
              <a:t>smallest  small </a:t>
            </a:r>
            <a:r>
              <a:rPr lang="en-US" dirty="0" err="1">
                <a:latin typeface="Courier New"/>
                <a:cs typeface="Courier New"/>
                <a:sym typeface="Wingdings"/>
              </a:rPr>
              <a:t>est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611955" y="95460"/>
            <a:ext cx="3339073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Application:</a:t>
            </a:r>
          </a:p>
        </p:txBody>
      </p:sp>
    </p:spTree>
    <p:extLst>
      <p:ext uri="{BB962C8B-B14F-4D97-AF65-F5344CB8AC3E}">
        <p14:creationId xmlns:p14="http://schemas.microsoft.com/office/powerpoint/2010/main" val="567260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3BC0B2-740E-784B-9E11-98761C66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939FDB-2738-7147-A6FB-E2DD1FD6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limit the vocabulary size of the segmented data by limiting the number of merges</a:t>
            </a:r>
          </a:p>
          <a:p>
            <a:endParaRPr lang="en-US" dirty="0"/>
          </a:p>
          <a:p>
            <a:r>
              <a:rPr lang="en-US" dirty="0"/>
              <a:t>this can be very helpful for handling an open vocabulary of words while reducing computation (e.g., when using a </a:t>
            </a:r>
            <a:r>
              <a:rPr lang="en-US" dirty="0" err="1"/>
              <a:t>softmax</a:t>
            </a:r>
            <a:r>
              <a:rPr lang="en-US" dirty="0"/>
              <a:t> over the vocabulary)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9ED5221-9C48-3241-99C1-B53F16CF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64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7792"/>
            <a:ext cx="8229600" cy="58483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Stanford Sentiment Treebank</a:t>
            </a:r>
          </a:p>
          <a:p>
            <a:pPr marL="0" indent="0">
              <a:buNone/>
            </a:pPr>
            <a:r>
              <a:rPr lang="en-US" sz="2800" dirty="0"/>
              <a:t>BPE merging on </a:t>
            </a:r>
            <a:r>
              <a:rPr lang="en-US" sz="2800" dirty="0" err="1"/>
              <a:t>train+dev</a:t>
            </a:r>
            <a:r>
              <a:rPr lang="en-US" sz="2800" dirty="0"/>
              <a:t> sets</a:t>
            </a:r>
          </a:p>
          <a:p>
            <a:pPr marL="0" indent="0">
              <a:buNone/>
            </a:pPr>
            <a:r>
              <a:rPr lang="en-US" sz="2800" dirty="0"/>
              <a:t>up to 20k merges (max number found: 15,417)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latin typeface="Calibri"/>
                <a:cs typeface="Calibri"/>
              </a:rPr>
              <a:t>Example from test set:</a:t>
            </a:r>
          </a:p>
          <a:p>
            <a:pPr marL="0" indent="0">
              <a:buNone/>
            </a:pPr>
            <a:endParaRPr lang="en-US" sz="2800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writer/director/producer </a:t>
            </a:r>
            <a:r>
              <a:rPr lang="en-US" sz="2400" dirty="0">
                <a:latin typeface="Courier New"/>
                <a:cs typeface="Courier New"/>
                <a:sym typeface="Wingdings"/>
              </a:rPr>
              <a:t> </a:t>
            </a: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writ@@ </a:t>
            </a:r>
            <a:r>
              <a:rPr lang="en-US" sz="2400" dirty="0" err="1">
                <a:latin typeface="Courier New"/>
                <a:cs typeface="Courier New"/>
              </a:rPr>
              <a:t>er</a:t>
            </a:r>
            <a:r>
              <a:rPr lang="en-US" sz="2400" dirty="0">
                <a:latin typeface="Courier New"/>
                <a:cs typeface="Courier New"/>
              </a:rPr>
              <a:t>@@ /@@ direct@@ or@@ /@@ producer</a:t>
            </a:r>
          </a:p>
          <a:p>
            <a:pPr marL="0" indent="0">
              <a:buNone/>
            </a:pPr>
            <a:endParaRPr lang="en-US" sz="2800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sz="2800" dirty="0">
                <a:latin typeface="Calibri"/>
                <a:cs typeface="Calibri"/>
              </a:rPr>
              <a:t>(To recover original text, remove “</a:t>
            </a:r>
            <a:r>
              <a:rPr lang="en-US" sz="2800" dirty="0">
                <a:latin typeface="Courier New"/>
                <a:cs typeface="Courier New"/>
              </a:rPr>
              <a:t>@@ </a:t>
            </a:r>
            <a:r>
              <a:rPr lang="en-US" sz="2800" dirty="0">
                <a:cs typeface="Calibri"/>
              </a:rPr>
              <a:t>”)</a:t>
            </a:r>
            <a:endParaRPr lang="en-US" sz="2800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dirty="0">
              <a:latin typeface="Courier New"/>
              <a:cs typeface="Courier New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0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7792"/>
            <a:ext cx="8229600" cy="58483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writ@@ </a:t>
            </a:r>
            <a:r>
              <a:rPr lang="en-US" sz="2400" dirty="0" err="1">
                <a:latin typeface="Courier New"/>
                <a:cs typeface="Courier New"/>
              </a:rPr>
              <a:t>er</a:t>
            </a:r>
            <a:r>
              <a:rPr lang="en-US" sz="2400" dirty="0">
                <a:latin typeface="Courier New"/>
                <a:cs typeface="Courier New"/>
              </a:rPr>
              <a:t>@@ /@@ direct@@ or@@ /@@ producer</a:t>
            </a:r>
          </a:p>
          <a:p>
            <a:pPr marL="0" indent="0"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Here 's a British flick </a:t>
            </a:r>
            <a:r>
              <a:rPr lang="en-US" sz="2400" dirty="0" err="1">
                <a:latin typeface="Courier New"/>
                <a:cs typeface="Courier New"/>
              </a:rPr>
              <a:t>gle</a:t>
            </a:r>
            <a:r>
              <a:rPr lang="en-US" sz="2400" dirty="0">
                <a:latin typeface="Courier New"/>
                <a:cs typeface="Courier New"/>
              </a:rPr>
              <a:t>@@ </a:t>
            </a:r>
            <a:r>
              <a:rPr lang="en-US" sz="2400" dirty="0" err="1">
                <a:latin typeface="Courier New"/>
                <a:cs typeface="Courier New"/>
              </a:rPr>
              <a:t>efully</a:t>
            </a:r>
            <a:r>
              <a:rPr lang="en-US" sz="2400" dirty="0">
                <a:latin typeface="Courier New"/>
                <a:cs typeface="Courier New"/>
              </a:rPr>
              <a:t> un@@ concerned with </a:t>
            </a:r>
            <a:r>
              <a:rPr lang="en-US" sz="2400" dirty="0" err="1">
                <a:latin typeface="Courier New"/>
                <a:cs typeface="Courier New"/>
              </a:rPr>
              <a:t>plau</a:t>
            </a:r>
            <a:r>
              <a:rPr lang="en-US" sz="2400" dirty="0">
                <a:latin typeface="Courier New"/>
                <a:cs typeface="Courier New"/>
              </a:rPr>
              <a:t>@@ </a:t>
            </a:r>
            <a:r>
              <a:rPr lang="en-US" sz="2400" dirty="0" err="1">
                <a:latin typeface="Courier New"/>
                <a:cs typeface="Courier New"/>
              </a:rPr>
              <a:t>sibility</a:t>
            </a:r>
            <a:r>
              <a:rPr lang="en-US" sz="2400" dirty="0">
                <a:latin typeface="Courier New"/>
                <a:cs typeface="Courier New"/>
              </a:rPr>
              <a:t> , yet just  as determined to entertain you .</a:t>
            </a:r>
          </a:p>
          <a:p>
            <a:pPr marL="0" indent="0"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400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400" dirty="0">
                <a:latin typeface="Courier New"/>
                <a:cs typeface="Courier New"/>
              </a:rPr>
              <a:t>It would </a:t>
            </a:r>
            <a:r>
              <a:rPr lang="en-US" sz="2400" dirty="0" err="1">
                <a:latin typeface="Courier New"/>
                <a:cs typeface="Courier New"/>
              </a:rPr>
              <a:t>n't</a:t>
            </a:r>
            <a:r>
              <a:rPr lang="en-US" sz="2400" dirty="0">
                <a:latin typeface="Courier New"/>
                <a:cs typeface="Courier New"/>
              </a:rPr>
              <a:t> be my prefer@@ red way of   </a:t>
            </a:r>
            <a:r>
              <a:rPr lang="en-US" sz="2400" dirty="0" err="1">
                <a:latin typeface="Courier New"/>
                <a:cs typeface="Courier New"/>
              </a:rPr>
              <a:t>sp</a:t>
            </a:r>
            <a:r>
              <a:rPr lang="en-US" sz="2400" dirty="0">
                <a:latin typeface="Courier New"/>
                <a:cs typeface="Courier New"/>
              </a:rPr>
              <a:t>@@ ending 100 minutes or $ 7@@ .@@ 00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51831" y="5295167"/>
            <a:ext cx="6351619" cy="830997"/>
          </a:xfrm>
          <a:prstGeom prst="rect">
            <a:avLst/>
          </a:prstGeom>
          <a:solidFill>
            <a:srgbClr val="DBEEF4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probably good: “prefer” is related to “preferred”</a:t>
            </a:r>
          </a:p>
          <a:p>
            <a:r>
              <a:rPr lang="en-US" sz="2400" dirty="0"/>
              <a:t>maybe bad: “spending” is not related to “ending”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831" y="2788697"/>
            <a:ext cx="7283965" cy="830997"/>
          </a:xfrm>
          <a:prstGeom prst="rect">
            <a:avLst/>
          </a:prstGeom>
          <a:solidFill>
            <a:srgbClr val="DBEEF4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probably good: “unconcerned” becomes “un concerned”</a:t>
            </a:r>
          </a:p>
          <a:p>
            <a:r>
              <a:rPr lang="en-US" sz="2400" dirty="0"/>
              <a:t>maybe bad: “</a:t>
            </a:r>
            <a:r>
              <a:rPr lang="en-US" sz="2400" dirty="0" err="1"/>
              <a:t>gle</a:t>
            </a:r>
            <a:r>
              <a:rPr lang="en-US" sz="2400" dirty="0"/>
              <a:t> </a:t>
            </a:r>
            <a:r>
              <a:rPr lang="en-US" sz="2400" dirty="0" err="1"/>
              <a:t>efully</a:t>
            </a:r>
            <a:r>
              <a:rPr lang="en-US" sz="2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5193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BPE is a useful hack, doesn’t correspond to optimizing any probabilistic objective function</a:t>
            </a:r>
          </a:p>
          <a:p>
            <a:endParaRPr lang="en-US" dirty="0"/>
          </a:p>
          <a:p>
            <a:r>
              <a:rPr lang="en-US" dirty="0"/>
              <a:t>other related methods have interpretations as probabilistic models</a:t>
            </a:r>
          </a:p>
          <a:p>
            <a:endParaRPr lang="en-US" dirty="0"/>
          </a:p>
          <a:p>
            <a:r>
              <a:rPr lang="en-US" dirty="0"/>
              <a:t>we will see methods later in the course for unsupervised segmentation using probabilistic modeling and priors related to “minimum description length”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38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Work on Word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subword</a:t>
            </a:r>
            <a:r>
              <a:rPr lang="en-US" dirty="0"/>
              <a:t> information (e.g., characters) in word </a:t>
            </a:r>
            <a:r>
              <a:rPr lang="en-US" dirty="0" err="1"/>
              <a:t>embeddings</a:t>
            </a:r>
            <a:endParaRPr lang="en-US" dirty="0"/>
          </a:p>
          <a:p>
            <a:endParaRPr lang="en-US" dirty="0"/>
          </a:p>
          <a:p>
            <a:r>
              <a:rPr lang="en-US" dirty="0"/>
              <a:t>multiple </a:t>
            </a:r>
            <a:r>
              <a:rPr lang="en-US" dirty="0" err="1"/>
              <a:t>embeddings</a:t>
            </a:r>
            <a:r>
              <a:rPr lang="en-US" dirty="0"/>
              <a:t> for a single word type corresponding to different word senses</a:t>
            </a:r>
          </a:p>
          <a:p>
            <a:endParaRPr lang="en-US" dirty="0"/>
          </a:p>
          <a:p>
            <a:r>
              <a:rPr lang="en-US" dirty="0"/>
              <a:t>tailoring </a:t>
            </a:r>
            <a:r>
              <a:rPr lang="en-US" dirty="0" err="1"/>
              <a:t>embeddings</a:t>
            </a:r>
            <a:r>
              <a:rPr lang="en-US" dirty="0"/>
              <a:t> using particular resources or for particular NLP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53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Work on Word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subword</a:t>
            </a:r>
            <a:r>
              <a:rPr lang="en-US" dirty="0"/>
              <a:t> information (e.g., characters) in word </a:t>
            </a:r>
            <a:r>
              <a:rPr lang="en-US" dirty="0" err="1"/>
              <a:t>embeddings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288CD2"/>
                </a:solidFill>
              </a:rPr>
              <a:t>multiple </a:t>
            </a:r>
            <a:r>
              <a:rPr lang="en-US" dirty="0" err="1">
                <a:solidFill>
                  <a:srgbClr val="288CD2"/>
                </a:solidFill>
              </a:rPr>
              <a:t>embeddings</a:t>
            </a:r>
            <a:r>
              <a:rPr lang="en-US" dirty="0">
                <a:solidFill>
                  <a:srgbClr val="288CD2"/>
                </a:solidFill>
              </a:rPr>
              <a:t> for a single word type corresponding to different word senses</a:t>
            </a:r>
          </a:p>
          <a:p>
            <a:endParaRPr lang="en-US" dirty="0"/>
          </a:p>
          <a:p>
            <a:r>
              <a:rPr lang="en-US" dirty="0"/>
              <a:t>tailoring </a:t>
            </a:r>
            <a:r>
              <a:rPr lang="en-US" dirty="0" err="1"/>
              <a:t>embeddings</a:t>
            </a:r>
            <a:r>
              <a:rPr lang="en-US" dirty="0"/>
              <a:t> using particular resources or for particular NLP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32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Multisense</a:t>
            </a:r>
            <a:r>
              <a:rPr lang="en-US" dirty="0"/>
              <a:t> Word </a:t>
            </a:r>
            <a:r>
              <a:rPr lang="en-US" dirty="0" err="1"/>
              <a:t>Embeddings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embedding for a word type is insufficient</a:t>
            </a:r>
          </a:p>
          <a:p>
            <a:pPr lvl="1"/>
            <a:r>
              <a:rPr lang="en-US" dirty="0"/>
              <a:t>due to different senses of a word, different meanings (polysemy, homonymy)</a:t>
            </a:r>
          </a:p>
          <a:p>
            <a:pPr lvl="1"/>
            <a:endParaRPr lang="en-US" dirty="0"/>
          </a:p>
          <a:p>
            <a:r>
              <a:rPr lang="en-US" dirty="0"/>
              <a:t>there has been a lot of work in learning sense-specific word </a:t>
            </a:r>
            <a:r>
              <a:rPr lang="en-US" dirty="0" err="1"/>
              <a:t>embeddings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 a word sense labeler or cluster word tokens into clusters that capture word sense</a:t>
            </a:r>
          </a:p>
          <a:p>
            <a:pPr lvl="1"/>
            <a:r>
              <a:rPr lang="en-US" dirty="0"/>
              <a:t>learn embeddings for each sense/cluster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67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96983"/>
            <a:ext cx="8229600" cy="7481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Huang et al. (2012): </a:t>
            </a:r>
            <a:r>
              <a:rPr lang="en-US" sz="2000" i="1" dirty="0">
                <a:solidFill>
                  <a:srgbClr val="288CD2"/>
                </a:solidFill>
              </a:rPr>
              <a:t>Improving Word Representations Via Global Context And Multiple Word Prototypes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  <p:pic>
        <p:nvPicPr>
          <p:cNvPr id="6" name="Picture 5" descr="Screen Shot 2019-03-28 at 4.26.1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962" y="687630"/>
            <a:ext cx="9523962" cy="4616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Multisense</a:t>
            </a:r>
            <a:r>
              <a:rPr lang="en-US" dirty="0"/>
              <a:t> Word </a:t>
            </a:r>
            <a:r>
              <a:rPr lang="en-US" dirty="0" err="1"/>
              <a:t>Embeddings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1722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4335732-992B-A941-BD14-35136A6BB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85009"/>
            <a:ext cx="8229600" cy="995863"/>
          </a:xfrm>
        </p:spPr>
        <p:txBody>
          <a:bodyPr/>
          <a:lstStyle/>
          <a:p>
            <a:r>
              <a:rPr lang="en-US" dirty="0"/>
              <a:t>nearest neighbors given context: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27E0C76-99DA-C842-8216-A9A63B2D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CE0FD2C-4060-E14D-A201-DC928986B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3479"/>
            <a:ext cx="9144000" cy="271879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CDF876AA-531C-6A44-B875-6152EBBC282F}"/>
              </a:ext>
            </a:extLst>
          </p:cNvPr>
          <p:cNvSpPr txBox="1">
            <a:spLocks/>
          </p:cNvSpPr>
          <p:nvPr/>
        </p:nvSpPr>
        <p:spPr>
          <a:xfrm>
            <a:off x="457200" y="5896983"/>
            <a:ext cx="8229600" cy="748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Li &amp; </a:t>
            </a:r>
            <a:r>
              <a:rPr lang="en-US" sz="2000" dirty="0" err="1">
                <a:solidFill>
                  <a:srgbClr val="288CD2"/>
                </a:solidFill>
              </a:rPr>
              <a:t>Jurafsky</a:t>
            </a:r>
            <a:r>
              <a:rPr lang="en-US" sz="2000" dirty="0">
                <a:solidFill>
                  <a:srgbClr val="288CD2"/>
                </a:solidFill>
              </a:rPr>
              <a:t> (2015): </a:t>
            </a:r>
            <a:r>
              <a:rPr lang="en-US" sz="2000" i="1" dirty="0">
                <a:solidFill>
                  <a:srgbClr val="288CD2"/>
                </a:solidFill>
              </a:rPr>
              <a:t>Do Multi-Sense Embeddings Improve Natural Language Understanding?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CFF7AFCD-6B1B-8D46-9731-57D0CB2FC9F2}"/>
              </a:ext>
            </a:extLst>
          </p:cNvPr>
          <p:cNvSpPr txBox="1">
            <a:spLocks/>
          </p:cNvSpPr>
          <p:nvPr/>
        </p:nvSpPr>
        <p:spPr>
          <a:xfrm>
            <a:off x="457200" y="5177538"/>
            <a:ext cx="8229600" cy="748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>
                <a:solidFill>
                  <a:srgbClr val="288CD2"/>
                </a:solidFill>
              </a:rPr>
              <a:t>Neelakantan</a:t>
            </a:r>
            <a:r>
              <a:rPr lang="en-US" sz="2000" dirty="0">
                <a:solidFill>
                  <a:srgbClr val="288CD2"/>
                </a:solidFill>
              </a:rPr>
              <a:t> et al. (2014): </a:t>
            </a:r>
            <a:r>
              <a:rPr lang="en-US" sz="2000" i="1" dirty="0">
                <a:solidFill>
                  <a:srgbClr val="288CD2"/>
                </a:solidFill>
              </a:rPr>
              <a:t>Efficient nonparametric estimation of multiple embeddings per word in vector space</a:t>
            </a:r>
          </a:p>
        </p:txBody>
      </p:sp>
    </p:spTree>
    <p:extLst>
      <p:ext uri="{BB962C8B-B14F-4D97-AF65-F5344CB8AC3E}">
        <p14:creationId xmlns:p14="http://schemas.microsoft.com/office/powerpoint/2010/main" val="17686602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FFD88B-01C3-4642-94AC-3C144214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Multisense</a:t>
            </a:r>
            <a:r>
              <a:rPr lang="en-US" dirty="0"/>
              <a:t> 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2DCEEA-4675-0D40-B9C1-7BB32E5B4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need a way to label senses or cluster word tokens in training data (and for downstream tasks)</a:t>
            </a:r>
          </a:p>
          <a:p>
            <a:pPr lvl="1"/>
            <a:r>
              <a:rPr lang="en-US" dirty="0"/>
              <a:t>fragments training data, so more may be needed for estimating word embeddings</a:t>
            </a:r>
          </a:p>
          <a:p>
            <a:pPr lvl="1"/>
            <a:r>
              <a:rPr lang="en-US" dirty="0"/>
              <a:t>unlikely to get good clusters for rare word </a:t>
            </a:r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unable to handle new senses that only appear in test data</a:t>
            </a:r>
            <a:endParaRPr lang="en-US" dirty="0"/>
          </a:p>
          <a:p>
            <a:pPr lvl="1"/>
            <a:r>
              <a:rPr lang="en-US" dirty="0"/>
              <a:t>unclear if sense-specific embeddings are useful for downstream tasks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9975EFE-F1AE-2845-893F-E82B5100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276C28-8B50-4D4C-8C94-0D4DE6B8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Do </a:t>
            </a:r>
            <a:r>
              <a:rPr lang="en-US" sz="3200" dirty="0" err="1"/>
              <a:t>Multisense</a:t>
            </a:r>
            <a:r>
              <a:rPr lang="en-US" sz="3200" dirty="0"/>
              <a:t> Embeddings Help on NLP Tasks?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868605-E98C-3D43-A45B-4FD7B9FDB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2" y="1166571"/>
            <a:ext cx="5205576" cy="2852378"/>
          </a:xfrm>
        </p:spPr>
        <p:txBody>
          <a:bodyPr>
            <a:noAutofit/>
          </a:bodyPr>
          <a:lstStyle/>
          <a:p>
            <a:r>
              <a:rPr lang="en-US" sz="2800" dirty="0"/>
              <a:t>yes, on some tasks</a:t>
            </a:r>
          </a:p>
          <a:p>
            <a:endParaRPr lang="en-US" sz="2800" dirty="0"/>
          </a:p>
          <a:p>
            <a:r>
              <a:rPr lang="en-US" sz="2800" dirty="0"/>
              <a:t>but when using powerful neural architectures, </a:t>
            </a:r>
            <a:r>
              <a:rPr lang="en-US" sz="2800" dirty="0" err="1"/>
              <a:t>multisense</a:t>
            </a:r>
            <a:r>
              <a:rPr lang="en-US" sz="2800" dirty="0"/>
              <a:t> embeddings may not be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6BF11DC-39CE-0342-8445-4D9C9C88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D56E6334-07E2-9D42-A7D2-F4C7BE79B877}"/>
              </a:ext>
            </a:extLst>
          </p:cNvPr>
          <p:cNvSpPr txBox="1">
            <a:spLocks/>
          </p:cNvSpPr>
          <p:nvPr/>
        </p:nvSpPr>
        <p:spPr>
          <a:xfrm>
            <a:off x="457200" y="5896983"/>
            <a:ext cx="8229600" cy="748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288CD2"/>
                </a:solidFill>
              </a:rPr>
              <a:t>Li &amp; </a:t>
            </a:r>
            <a:r>
              <a:rPr lang="en-US" sz="2000" dirty="0" err="1">
                <a:solidFill>
                  <a:srgbClr val="288CD2"/>
                </a:solidFill>
              </a:rPr>
              <a:t>Jurafsky</a:t>
            </a:r>
            <a:r>
              <a:rPr lang="en-US" sz="2000" dirty="0">
                <a:solidFill>
                  <a:srgbClr val="288CD2"/>
                </a:solidFill>
              </a:rPr>
              <a:t> (2015): </a:t>
            </a:r>
            <a:r>
              <a:rPr lang="en-US" sz="2000" i="1" dirty="0">
                <a:solidFill>
                  <a:srgbClr val="288CD2"/>
                </a:solidFill>
              </a:rPr>
              <a:t>Do Multi-Sense Embeddings Improve Natural Language Understanding?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DCF5E88-62F9-3D40-BACB-2120979E90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812"/>
          <a:stretch/>
        </p:blipFill>
        <p:spPr>
          <a:xfrm>
            <a:off x="5371114" y="898229"/>
            <a:ext cx="3607348" cy="285237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BEC266C8-C0AE-9748-AF6F-87B1C2E0F974}"/>
              </a:ext>
            </a:extLst>
          </p:cNvPr>
          <p:cNvSpPr txBox="1">
            <a:spLocks/>
          </p:cNvSpPr>
          <p:nvPr/>
        </p:nvSpPr>
        <p:spPr>
          <a:xfrm>
            <a:off x="70940" y="3878318"/>
            <a:ext cx="8623739" cy="20186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increasing dimensionality of (single-sense) embeddings achieves some benefit of </a:t>
            </a:r>
            <a:r>
              <a:rPr lang="en-US" sz="2800" dirty="0" err="1"/>
              <a:t>multisense</a:t>
            </a:r>
            <a:r>
              <a:rPr lang="en-US" sz="2800" dirty="0"/>
              <a:t> embeddings</a:t>
            </a:r>
          </a:p>
          <a:p>
            <a:pPr lvl="1"/>
            <a:r>
              <a:rPr lang="en-US" sz="2400" dirty="0"/>
              <a:t>high dimensionality also may make it easier for subsequent architectures to extract relevant sense based on context</a:t>
            </a:r>
          </a:p>
        </p:txBody>
      </p:sp>
    </p:spTree>
    <p:extLst>
      <p:ext uri="{BB962C8B-B14F-4D97-AF65-F5344CB8AC3E}">
        <p14:creationId xmlns:p14="http://schemas.microsoft.com/office/powerpoint/2010/main" val="1107170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55799</TotalTime>
  <Words>4958</Words>
  <Application>Microsoft Macintosh PowerPoint</Application>
  <PresentationFormat>On-screen Show (4:3)</PresentationFormat>
  <Paragraphs>764</Paragraphs>
  <Slides>72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TTIC 31210: Advanced Natural Language Processing</vt:lpstr>
      <vt:lpstr>Roadmap</vt:lpstr>
      <vt:lpstr>Today</vt:lpstr>
      <vt:lpstr>Recap</vt:lpstr>
      <vt:lpstr>Other Work on Word Embeddings</vt:lpstr>
      <vt:lpstr>Other Work on Word Embeddings</vt:lpstr>
      <vt:lpstr>Subword Modeling for Word Embeddings</vt:lpstr>
      <vt:lpstr>Early Neural Methods</vt:lpstr>
      <vt:lpstr>PowerPoint Presentation</vt:lpstr>
      <vt:lpstr>PowerPoint Presentation</vt:lpstr>
      <vt:lpstr>PowerPoint Presentation</vt:lpstr>
      <vt:lpstr>Bidirectional LSTM over Characters</vt:lpstr>
      <vt:lpstr>Convolutional Neural Network over Character Sequence</vt:lpstr>
      <vt:lpstr>Convolutional Neural Networks</vt:lpstr>
      <vt:lpstr>Filters</vt:lpstr>
      <vt:lpstr>Convolution</vt:lpstr>
      <vt:lpstr>Convolution</vt:lpstr>
      <vt:lpstr>Convolution</vt:lpstr>
      <vt:lpstr>Convolution</vt:lpstr>
      <vt:lpstr>Convolution</vt:lpstr>
      <vt:lpstr>Convolution</vt:lpstr>
      <vt:lpstr>Pooling</vt:lpstr>
      <vt:lpstr>Pooling</vt:lpstr>
      <vt:lpstr>Convolutional Neural Networks</vt:lpstr>
      <vt:lpstr>Convolutional Neural Network over Characters</vt:lpstr>
      <vt:lpstr>Convolutional Neural Network over Characters</vt:lpstr>
      <vt:lpstr>Convolutional Neural Network over Characters</vt:lpstr>
      <vt:lpstr>Convolutional Neural Network over Characters</vt:lpstr>
      <vt:lpstr>PowerPoint Presentation</vt:lpstr>
      <vt:lpstr>DSSM (Microsoft Research, 2013-2016)</vt:lpstr>
      <vt:lpstr>DSSM (Microsoft Research, 2013-2016)</vt:lpstr>
      <vt:lpstr>“Charagram” Embeddings</vt:lpstr>
      <vt:lpstr>Charagram Embeddings</vt:lpstr>
      <vt:lpstr>Charagram Word Embeddings</vt:lpstr>
      <vt:lpstr>PowerPoint Presentation</vt:lpstr>
      <vt:lpstr>PowerPoint Presentation</vt:lpstr>
      <vt:lpstr>fastText</vt:lpstr>
      <vt:lpstr>fastText</vt:lpstr>
      <vt:lpstr>PowerPoint Presentation</vt:lpstr>
      <vt:lpstr>Data-Driven Segmentation</vt:lpstr>
      <vt:lpstr>Data-Driven Segmentation</vt:lpstr>
      <vt:lpstr>Byte Pair Encoding (BPE) (Gage, 1994)</vt:lpstr>
      <vt:lpstr>Byte Pair Encoding (BPE)</vt:lpstr>
      <vt:lpstr>Byte Pair Encoding (BPE)</vt:lpstr>
      <vt:lpstr>Corpus:                         Merges:</vt:lpstr>
      <vt:lpstr>Corpus:                         Merges:</vt:lpstr>
      <vt:lpstr>Corpus:              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Corpus:              Segmentation:           Merges:</vt:lpstr>
      <vt:lpstr>New Corpus:     Merges for New Corpus:</vt:lpstr>
      <vt:lpstr>Merges:</vt:lpstr>
      <vt:lpstr>PowerPoint Presentation</vt:lpstr>
      <vt:lpstr>PowerPoint Presentation</vt:lpstr>
      <vt:lpstr>PowerPoint Presentation</vt:lpstr>
      <vt:lpstr>PowerPoint Presentation</vt:lpstr>
      <vt:lpstr>Other Work on Word Embeddings</vt:lpstr>
      <vt:lpstr>Other Work on Word Embeddings</vt:lpstr>
      <vt:lpstr>Multisense Word Embeddings</vt:lpstr>
      <vt:lpstr>Multisense Word Embeddings</vt:lpstr>
      <vt:lpstr>PowerPoint Presentation</vt:lpstr>
      <vt:lpstr>Multisense Word Embeddings</vt:lpstr>
      <vt:lpstr>Do Multisense Embeddings Help on NLP Tasks?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884</cp:revision>
  <dcterms:created xsi:type="dcterms:W3CDTF">2015-08-31T18:15:35Z</dcterms:created>
  <dcterms:modified xsi:type="dcterms:W3CDTF">2019-04-10T20:16:41Z</dcterms:modified>
</cp:coreProperties>
</file>