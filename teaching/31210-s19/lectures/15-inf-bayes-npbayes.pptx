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3180" r:id="rId3"/>
    <p:sldId id="3181" r:id="rId4"/>
    <p:sldId id="3687" r:id="rId5"/>
    <p:sldId id="3787" r:id="rId6"/>
    <p:sldId id="3815" r:id="rId7"/>
    <p:sldId id="3816" r:id="rId8"/>
    <p:sldId id="3721" r:id="rId9"/>
    <p:sldId id="3729" r:id="rId10"/>
    <p:sldId id="3842" r:id="rId11"/>
    <p:sldId id="3730" r:id="rId12"/>
    <p:sldId id="3731" r:id="rId13"/>
    <p:sldId id="3978" r:id="rId14"/>
    <p:sldId id="3732" r:id="rId15"/>
    <p:sldId id="3851" r:id="rId16"/>
    <p:sldId id="3852" r:id="rId17"/>
    <p:sldId id="3853" r:id="rId18"/>
    <p:sldId id="3969" r:id="rId19"/>
    <p:sldId id="3897" r:id="rId20"/>
    <p:sldId id="3898" r:id="rId21"/>
    <p:sldId id="3899" r:id="rId22"/>
    <p:sldId id="3900" r:id="rId23"/>
    <p:sldId id="3901" r:id="rId24"/>
    <p:sldId id="3902" r:id="rId25"/>
    <p:sldId id="3903" r:id="rId26"/>
    <p:sldId id="3904" r:id="rId27"/>
    <p:sldId id="3905" r:id="rId28"/>
    <p:sldId id="3906" r:id="rId29"/>
    <p:sldId id="3907" r:id="rId30"/>
    <p:sldId id="3908" r:id="rId31"/>
    <p:sldId id="3909" r:id="rId32"/>
    <p:sldId id="3910" r:id="rId33"/>
    <p:sldId id="3911" r:id="rId34"/>
    <p:sldId id="3912" r:id="rId35"/>
    <p:sldId id="3913" r:id="rId36"/>
    <p:sldId id="3914" r:id="rId37"/>
    <p:sldId id="3915" r:id="rId38"/>
    <p:sldId id="3916" r:id="rId39"/>
    <p:sldId id="3917" r:id="rId40"/>
    <p:sldId id="3918" r:id="rId41"/>
    <p:sldId id="3919" r:id="rId42"/>
    <p:sldId id="3920" r:id="rId43"/>
    <p:sldId id="3921" r:id="rId44"/>
    <p:sldId id="3922" r:id="rId45"/>
    <p:sldId id="3923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3CE"/>
    <a:srgbClr val="288CD2"/>
    <a:srgbClr val="BC0000"/>
    <a:srgbClr val="EB5151"/>
    <a:srgbClr val="FFE6E6"/>
    <a:srgbClr val="FFC2C2"/>
    <a:srgbClr val="FF8C8C"/>
    <a:srgbClr val="F76A6A"/>
    <a:srgbClr val="E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3" autoAdjust="0"/>
    <p:restoredTop sz="86160" autoAdjust="0"/>
  </p:normalViewPr>
  <p:slideViewPr>
    <p:cSldViewPr snapToGrid="0" snapToObjects="1">
      <p:cViewPr varScale="1">
        <p:scale>
          <a:sx n="65" d="100"/>
          <a:sy n="65" d="100"/>
        </p:scale>
        <p:origin x="-26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5/22/19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5/22/19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76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anlp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genstory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set of parameters } \theta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p(\theta)\\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{2: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latent structure } z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p(z\mid\theta)\\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{3: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the observed data } x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p(x\mid z, \theta)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x,z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,\theta) = p(\theta)p(z\mid\theta)p(x\mid z, \theta)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99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p(\Theta = \theta \mid \alpha) =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{1}{B(\alpha)}\prod_{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alpha_i</a:t>
            </a: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- 1}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p(\theta\mid y, \alpha)\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p(\theta\mid \alpha)p(y\mid \theta) &amp;\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\left(\prod_{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- 1}\right)\times\left(\prod_{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}\right)\\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&amp;=\prod_{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- 1}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5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p(\Theta = \theta \mid \alpha) =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{1}{B(\alpha)}\prod_{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- 1}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p(\theta\mid y, \alpha)\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- 1}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\alpha' = \alpha + y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p(\theta\mid y, \alpha)\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p(\theta\mid \alpha)p(y\mid \theta) &amp;\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\left(\prod_{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- 1}\right)\times\left(\prod_{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}\right)\\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&amp;=\prod_{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=1}^K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y_i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- 1}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5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anlp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gibbs1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%&amp;U_1,...,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{latent variables}\\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%&amp;U_{-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{all latent variables other than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{all observed data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hyperparameters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{Gibbs sampling: 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{\;\;\;\;initialize all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to values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{\;\;\;\;repeat until convergence:}\\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&amp;\mbox{\;\;\;\;\;\;\;\;sample } u \mbox{ from } p(U_i \mid u_{-i}, \boldsymbol{X})\\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{\;\;\;\;\;\;\;\;set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leftarrow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u$}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08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anlp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LDA3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{1: For each topic $k=1...K$, draw multinomial word distribution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}(\psi)\\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{2: For each document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$:}\\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&amp;\:\:\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 a: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multinomial topic distribution } 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}(\alpha)\\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&amp;\:\:\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 b: For each position $j$ in document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$:}\\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&amp;\:\:\:\:\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topic } 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&amp;\:\:\:\:\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   ii: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word } w^{(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{Multinomial}(\beta_{z^{(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76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anlp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gibbs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%&amp;U_1,...,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{latent variables}\\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%&amp;U_{-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{all latent variables other than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{all observed data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hyperparameters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set of parameters } \theta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p(\theta\mid \alpha)\\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{2: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latent structure } z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p(z\mid\theta)\\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{3: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the observed data } x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p(x\mid z, \theta)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%\mbox{joint: } \;\;p(x^{(1)},..., x^{(n)}, z^{(1)},..., z^{(n)},\theta\mid \alpha)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{R}^K\\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%&amp;\beta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{R}^{K\times V}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Z^{-(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)}, \Theta, \beta,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\beta_{\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cdot,w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everything else}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\beta_{\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cdot,w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)}})\\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%&amp;\theta^{(i)} \mid \theta^{-(i)}, \beta, Z, \boldsymbol{w}, \alpha, \psi \sim \mbox{Dirichlet}([\alpha_1 + m^{(i)}_{1}, \alpha_2 + m^{(i)}_{2},...,\alpha_k + m^{(i)}_{K}])\\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)}_{k}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{\# words in doc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from topic $k$}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\theta^{-(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)}, \beta, Z,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}(\alpha + 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everything else}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}(\alpha + 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)})\\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\beta_{-k}, \theta, Z,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}(\psi +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everything else}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}(\psi +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{R}^K\\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&amp;\beta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{R}^{K\times V}\\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)}_{k}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{\# words in doc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from topic $k$}\\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&amp;n_{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k,v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{\# of times word $v$ appears with topic $k$ in any document}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68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anlp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gibbs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%&amp;U_1,...,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{latent variables}\\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%&amp;U_{-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{all latent variables other than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{all observed data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hyperparameters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set of parameters } \theta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p(\theta\mid \alpha)\\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{2: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latent structure } z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p(z\mid\theta)\\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{3: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the observed data } x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p(x\mid z, \theta)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%\mbox{joint: } \;\;p(x^{(1)},..., x^{(n)}, z^{(1)},..., z^{(n)},\theta\mid \alpha)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{R}^K\\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%&amp;\beta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{R}^{K\times V}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Z^{-(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)}, \Theta, \beta,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\beta_{\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cdot,w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everything else}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\beta_{\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cdot,w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)}})\\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%&amp;\theta^{(i)} \mid \theta^{-(i)}, \beta, Z, \boldsymbol{w}, \alpha, \psi \sim \mbox{Dirichlet}([\alpha_1 + m^{(i)}_{1}, \alpha_2 + m^{(i)}_{2},...,\alpha_k + m^{(i)}_{K}])\\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)}_{k}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{\# words in doc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from topic $k$}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\theta^{-(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)}, \beta, Z,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}(\alpha + 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everything else}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}(\alpha + 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)})\\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\beta_{-k}, \theta, Z,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}(\psi +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everything else}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}(\psi +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{R}^K\\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&amp;\beta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{R}^{K\times V}\\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)}_{k}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{\# words in doc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from topic $k$}\\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&amp;n_{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k,v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{\# of times word $v$ appears with topic $k$ in any document}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96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anlp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LDA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Posterior Gibbs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{Generative Story:}\\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}(\psi)\\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}(\alpha)\\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\\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09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anlp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collapsed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gibbs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lda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%&amp;U_1,...,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{latent variables}\\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%&amp;U_{-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{all latent variables other than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U_i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{all observed data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hyperparameters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{1: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set of parameters } \theta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p(\theta\mid \alpha)\\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{2: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a latent structure } z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p(z\mid\theta)\\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{3: 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{Draw the observed data } x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from } p(x\mid z, \theta)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%\mbox{joint: } \;\;p(x^{(1)},..., x^{(n)}, z^{(1)},..., z^{(n)},\theta\mid \alpha)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{R}^K\\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%&amp;\beta \in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{R}^{K\times V}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Z^{-(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)}, \Theta, \beta,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\beta_{\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cdot,w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{Posterior: } &amp;Z^{(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Z^{-(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)}, \theta, \beta,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{Multinomial}(\theta^{(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odot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\beta_{\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cdot,w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{Collapsed: } &amp;Z^{(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Z^{-(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{?}\\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\mbox{Collapsed: } &amp;p(Z^{(i,j)} \mid Z^{-(i,j)}, \boldsymbol{w}, \alpha, \psi) = \frac{\psi + [n_{-(i,j),k}]_{w^{(i,j)}}}{V\psi + \sum_v [n_{-(i,j),k}]_{v}}\times\frac{\alpha + [m_{-(i,j)}]_k}{K\alpha + \sum_{k'}[m_{-(i,j)}]_{k'}}\\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%%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%&amp;\theta^{(i)} \mid \theta^{-(i)}, \beta, Z, \boldsymbol{w}, \alpha, \psi \sim \mbox{Dirichlet}([\alpha_1 + m^{(i)}_{1}, \alpha_2 + m^{(i)}_{2},...,\alpha_k + m^{(i)}_{K}])\\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)}_{k}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{\# words in doc $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 from topic $k$}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\theta^{-(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)}, \beta, Z,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}(\alpha + 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%\theta^{(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 \mid 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everything else}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}(\alpha + m^{(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)})\\</a:t>
            </a:r>
          </a:p>
          <a:p>
            <a:r>
              <a:rPr lang="mr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\beta_{-k}, \theta, Z,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{w}, \alpha, \psi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}(\psi +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beta_k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\mid &amp;\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 everything else}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Dirichlet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}(\psi +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n_k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)\\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21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5/22/19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5/22/19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5/22/19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4" Type="http://schemas.openxmlformats.org/officeDocument/2006/relationships/image" Target="../media/image6.emf"/><Relationship Id="rId5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5" Type="http://schemas.openxmlformats.org/officeDocument/2006/relationships/image" Target="../media/image12.emf"/><Relationship Id="rId6" Type="http://schemas.openxmlformats.org/officeDocument/2006/relationships/image" Target="../media/image13.emf"/><Relationship Id="rId7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5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tif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4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5" Type="http://schemas.openxmlformats.org/officeDocument/2006/relationships/image" Target="../media/image33.emf"/><Relationship Id="rId6" Type="http://schemas.openxmlformats.org/officeDocument/2006/relationships/image" Target="../media/image34.emf"/><Relationship Id="rId7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4.emf"/><Relationship Id="rId5" Type="http://schemas.openxmlformats.org/officeDocument/2006/relationships/image" Target="../media/image36.emf"/><Relationship Id="rId6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emf"/><Relationship Id="rId6" Type="http://schemas.openxmlformats.org/officeDocument/2006/relationships/image" Target="../media/image42.emf"/><Relationship Id="rId7" Type="http://schemas.openxmlformats.org/officeDocument/2006/relationships/image" Target="../media/image43.emf"/><Relationship Id="rId8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emf"/><Relationship Id="rId3" Type="http://schemas.openxmlformats.org/officeDocument/2006/relationships/image" Target="../media/image3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emf"/><Relationship Id="rId3" Type="http://schemas.openxmlformats.org/officeDocument/2006/relationships/image" Target="../media/image37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emf"/><Relationship Id="rId3" Type="http://schemas.openxmlformats.org/officeDocument/2006/relationships/image" Target="../media/image4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4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emf"/><Relationship Id="rId3" Type="http://schemas.openxmlformats.org/officeDocument/2006/relationships/image" Target="../media/image4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TTIC 31210:</a:t>
            </a:r>
            <a:br>
              <a:rPr lang="en-US" dirty="0"/>
            </a:br>
            <a:r>
              <a:rPr lang="en-US" sz="4000" dirty="0"/>
              <a:t>Advanced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5" y="1993899"/>
            <a:ext cx="8555274" cy="41810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2019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</a:t>
            </a:r>
            <a:r>
              <a:rPr lang="en-US" sz="4000" dirty="0" smtClean="0">
                <a:solidFill>
                  <a:schemeClr val="tx1"/>
                </a:solidFill>
              </a:rPr>
              <a:t>15:</a:t>
            </a:r>
            <a:endParaRPr lang="en-US" sz="4000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Finish Inference in Bayesian NLP,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Start Bayesian </a:t>
            </a:r>
            <a:r>
              <a:rPr lang="en-US" sz="4000" dirty="0" err="1" smtClean="0">
                <a:solidFill>
                  <a:schemeClr val="tx1"/>
                </a:solidFill>
              </a:rPr>
              <a:t>Nonparametrics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0"/>
            <a:ext cx="8567390" cy="53340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intro (1 lecture)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deep learning for NLP (5 lectures)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structured prediction (4.5 lectures)</a:t>
            </a:r>
          </a:p>
          <a:p>
            <a:r>
              <a:rPr lang="en-US" sz="2400" dirty="0">
                <a:solidFill>
                  <a:srgbClr val="A6A6A6"/>
                </a:solidFill>
              </a:rPr>
              <a:t>generative models, latent variables, unsupervised learning, variational </a:t>
            </a:r>
            <a:r>
              <a:rPr lang="en-US" sz="2400" dirty="0" err="1">
                <a:solidFill>
                  <a:srgbClr val="A6A6A6"/>
                </a:solidFill>
              </a:rPr>
              <a:t>autoencoders</a:t>
            </a:r>
            <a:r>
              <a:rPr lang="en-US" sz="2400" dirty="0">
                <a:solidFill>
                  <a:srgbClr val="A6A6A6"/>
                </a:solidFill>
              </a:rPr>
              <a:t> (1.5 lectures)</a:t>
            </a:r>
          </a:p>
          <a:p>
            <a:r>
              <a:rPr lang="en-US" sz="2400" b="1" dirty="0"/>
              <a:t>Bayesian methods in NLP (2 lectures)</a:t>
            </a:r>
          </a:p>
          <a:p>
            <a:r>
              <a:rPr lang="en-US" sz="2400" dirty="0"/>
              <a:t>Bayesian </a:t>
            </a:r>
            <a:r>
              <a:rPr lang="en-US" sz="2400" dirty="0" err="1"/>
              <a:t>nonparametrics</a:t>
            </a:r>
            <a:r>
              <a:rPr lang="en-US" sz="2400" dirty="0"/>
              <a:t> in NLP </a:t>
            </a:r>
            <a:r>
              <a:rPr lang="en-US" sz="2400" dirty="0" smtClean="0"/>
              <a:t>(1.5 </a:t>
            </a:r>
            <a:r>
              <a:rPr lang="en-US" sz="2400" dirty="0"/>
              <a:t>lectures)</a:t>
            </a:r>
          </a:p>
          <a:p>
            <a:r>
              <a:rPr lang="en-US" sz="2400" dirty="0" smtClean="0"/>
              <a:t>research tips &amp; </a:t>
            </a:r>
            <a:r>
              <a:rPr lang="en-US" sz="2400" dirty="0"/>
              <a:t>other topics </a:t>
            </a:r>
            <a:r>
              <a:rPr lang="en-US" sz="2400" dirty="0" smtClean="0"/>
              <a:t>(0.5 lectures)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3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40" y="1073740"/>
            <a:ext cx="8765747" cy="5052424"/>
          </a:xfrm>
        </p:spPr>
        <p:txBody>
          <a:bodyPr/>
          <a:lstStyle/>
          <a:p>
            <a:r>
              <a:rPr lang="en-US" dirty="0" smtClean="0"/>
              <a:t>questions about Assignment 4?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87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Generative Story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71" y="4785989"/>
            <a:ext cx="5934896" cy="4379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1270000"/>
            <a:ext cx="6921500" cy="1435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1249" y="3239972"/>
            <a:ext cx="80416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288CD2"/>
                </a:solidFill>
              </a:rPr>
              <a:t>the above generative story implies the following factorization of the joint distribution:</a:t>
            </a:r>
          </a:p>
        </p:txBody>
      </p:sp>
    </p:spTree>
    <p:extLst>
      <p:ext uri="{BB962C8B-B14F-4D97-AF65-F5344CB8AC3E}">
        <p14:creationId xmlns:p14="http://schemas.microsoft.com/office/powerpoint/2010/main" val="9414117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6267"/>
            <a:ext cx="8991600" cy="5939897"/>
          </a:xfrm>
        </p:spPr>
        <p:txBody>
          <a:bodyPr/>
          <a:lstStyle/>
          <a:p>
            <a:r>
              <a:rPr lang="en-US" dirty="0"/>
              <a:t>categorical = point on the simplex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dirty="0" err="1"/>
              <a:t>Dirichlet</a:t>
            </a:r>
            <a:r>
              <a:rPr lang="en-US" dirty="0"/>
              <a:t> = distribution over the simplex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3347828" y="4701314"/>
            <a:ext cx="2184144" cy="1882883"/>
          </a:xfrm>
          <a:prstGeom prst="triangle">
            <a:avLst/>
          </a:prstGeom>
          <a:gradFill flip="none" rotWithShape="1">
            <a:gsLst>
              <a:gs pos="12000">
                <a:schemeClr val="accent1"/>
              </a:gs>
              <a:gs pos="85000">
                <a:prstClr val="white"/>
              </a:gs>
            </a:gsLst>
            <a:path path="circle">
              <a:fillToRect l="100000" t="100000"/>
            </a:path>
            <a:tileRect r="-100000" b="-100000"/>
          </a:gradFill>
          <a:ln w="5715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18401" y="4094344"/>
            <a:ext cx="628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5364" y="6168635"/>
            <a:ext cx="731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7176" y="6168635"/>
            <a:ext cx="83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UNK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3370262" y="1280976"/>
            <a:ext cx="2197331" cy="1894251"/>
          </a:xfrm>
          <a:prstGeom prst="triangle">
            <a:avLst/>
          </a:prstGeom>
          <a:noFill/>
          <a:ln w="5715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865236" y="2760785"/>
            <a:ext cx="169804" cy="169804"/>
          </a:xfrm>
          <a:prstGeom prst="ellipse">
            <a:avLst/>
          </a:prstGeom>
          <a:solidFill>
            <a:srgbClr val="288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137641" y="735300"/>
            <a:ext cx="628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4604" y="2848079"/>
            <a:ext cx="731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4136" y="2848079"/>
            <a:ext cx="83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UNK</a:t>
            </a:r>
          </a:p>
        </p:txBody>
      </p:sp>
    </p:spTree>
    <p:extLst>
      <p:ext uri="{BB962C8B-B14F-4D97-AF65-F5344CB8AC3E}">
        <p14:creationId xmlns:p14="http://schemas.microsoft.com/office/powerpoint/2010/main" val="40414686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F899EB-93DB-2440-8D77-C6E8FC81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Posterior over Categorical Parameters?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D0FA2F2-8FE0-4640-8351-44D64B81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643" y="1028692"/>
            <a:ext cx="3276600" cy="1054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763818"/>
            <a:ext cx="8534400" cy="2286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643" y="2168236"/>
            <a:ext cx="4660900" cy="10541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3EA7D92D-95C8-C945-9B7D-BD28B3C0C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31" y="3222336"/>
            <a:ext cx="6988078" cy="6234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rgbClr val="288CD2"/>
                </a:solidFill>
              </a:rPr>
              <a:t>posterior </a:t>
            </a:r>
            <a:r>
              <a:rPr lang="en-US" sz="2800" dirty="0" smtClean="0">
                <a:solidFill>
                  <a:srgbClr val="000000"/>
                </a:solidFill>
              </a:rPr>
              <a:t>(given a single observation </a:t>
            </a:r>
            <a:r>
              <a:rPr lang="en-US" sz="2800" i="1" dirty="0" smtClean="0">
                <a:solidFill>
                  <a:srgbClr val="000000"/>
                </a:solidFill>
              </a:rPr>
              <a:t>y</a:t>
            </a:r>
            <a:r>
              <a:rPr lang="en-US" sz="2800" dirty="0" smtClean="0">
                <a:solidFill>
                  <a:srgbClr val="000000"/>
                </a:solidFill>
              </a:rPr>
              <a:t>)</a:t>
            </a:r>
            <a:r>
              <a:rPr lang="en-US" sz="2800" dirty="0" smtClean="0">
                <a:solidFill>
                  <a:srgbClr val="288CD2"/>
                </a:solidFill>
              </a:rPr>
              <a:t>:</a:t>
            </a:r>
            <a:endParaRPr lang="en-US" sz="28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0112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F899EB-93DB-2440-8D77-C6E8FC81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Posterior over Categorical Parameters?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D0FA2F2-8FE0-4640-8351-44D64B81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091" y="1256138"/>
            <a:ext cx="4660900" cy="10541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3EA7D92D-95C8-C945-9B7D-BD28B3C0C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17" y="3140371"/>
            <a:ext cx="1861894" cy="623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rgbClr val="288CD2"/>
                </a:solidFill>
              </a:rPr>
              <a:t>posterior:</a:t>
            </a:r>
            <a:endParaRPr lang="en-US" sz="2800" dirty="0">
              <a:solidFill>
                <a:srgbClr val="288CD2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3EA7D92D-95C8-C945-9B7D-BD28B3C0C495}"/>
              </a:ext>
            </a:extLst>
          </p:cNvPr>
          <p:cNvSpPr txBox="1">
            <a:spLocks/>
          </p:cNvSpPr>
          <p:nvPr/>
        </p:nvSpPr>
        <p:spPr>
          <a:xfrm>
            <a:off x="377917" y="4530437"/>
            <a:ext cx="8534400" cy="1639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 smtClean="0"/>
              <a:t>posterior</a:t>
            </a:r>
            <a:r>
              <a:rPr lang="en-US" sz="2800" dirty="0"/>
              <a:t> </a:t>
            </a:r>
            <a:r>
              <a:rPr lang="en-US" sz="2800" dirty="0" smtClean="0"/>
              <a:t>has form of another </a:t>
            </a:r>
            <a:r>
              <a:rPr lang="en-US" sz="2800" dirty="0" err="1" smtClean="0"/>
              <a:t>Dirichlet</a:t>
            </a:r>
            <a:r>
              <a:rPr lang="en-US" sz="2800" dirty="0" smtClean="0"/>
              <a:t> distribution!</a:t>
            </a:r>
          </a:p>
          <a:p>
            <a:pPr marL="0" indent="0">
              <a:buFont typeface="Arial"/>
              <a:buNone/>
            </a:pPr>
            <a:endParaRPr lang="en-US" sz="2800" dirty="0" smtClean="0">
              <a:solidFill>
                <a:srgbClr val="288CD2"/>
              </a:solidFill>
            </a:endParaRPr>
          </a:p>
          <a:p>
            <a:pPr marL="0" indent="0">
              <a:buFont typeface="Arial"/>
              <a:buNone/>
            </a:pPr>
            <a:r>
              <a:rPr lang="en-US" sz="2800" dirty="0" smtClean="0">
                <a:solidFill>
                  <a:srgbClr val="288CD2"/>
                </a:solidFill>
              </a:rPr>
              <a:t>posterior parameters: </a:t>
            </a:r>
            <a:endParaRPr lang="en-US" sz="2800" dirty="0">
              <a:solidFill>
                <a:srgbClr val="288CD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523" y="5639954"/>
            <a:ext cx="1625600" cy="36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903" y="2895600"/>
            <a:ext cx="3797300" cy="10541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3EA7D92D-95C8-C945-9B7D-BD28B3C0C495}"/>
              </a:ext>
            </a:extLst>
          </p:cNvPr>
          <p:cNvSpPr txBox="1">
            <a:spLocks/>
          </p:cNvSpPr>
          <p:nvPr/>
        </p:nvSpPr>
        <p:spPr>
          <a:xfrm>
            <a:off x="377917" y="1481281"/>
            <a:ext cx="1861894" cy="623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 smtClean="0">
                <a:solidFill>
                  <a:srgbClr val="288CD2"/>
                </a:solidFill>
              </a:rPr>
              <a:t>prior:</a:t>
            </a:r>
            <a:endParaRPr lang="en-US" sz="2800" dirty="0">
              <a:solidFill>
                <a:srgbClr val="288CD2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6717719" y="898229"/>
            <a:ext cx="1684806" cy="1452419"/>
          </a:xfrm>
          <a:prstGeom prst="triangle">
            <a:avLst/>
          </a:prstGeom>
          <a:gradFill flip="none" rotWithShape="1">
            <a:gsLst>
              <a:gs pos="0">
                <a:srgbClr val="7EA3CE"/>
              </a:gs>
              <a:gs pos="100000">
                <a:prstClr val="white"/>
              </a:gs>
            </a:gsLst>
            <a:path path="circle">
              <a:fillToRect l="50000" t="50000" r="50000" b="50000"/>
            </a:path>
            <a:tileRect/>
          </a:gradFill>
          <a:ln w="5715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6717719" y="2690083"/>
            <a:ext cx="1684806" cy="1452419"/>
          </a:xfrm>
          <a:prstGeom prst="triangle">
            <a:avLst/>
          </a:prstGeom>
          <a:gradFill flip="none" rotWithShape="1">
            <a:gsLst>
              <a:gs pos="12000">
                <a:schemeClr val="accent1"/>
              </a:gs>
              <a:gs pos="85000">
                <a:prstClr val="white"/>
              </a:gs>
            </a:gsLst>
            <a:path path="circle">
              <a:fillToRect l="50000" t="50000" r="50000" b="50000"/>
            </a:path>
            <a:tileRect/>
          </a:gradFill>
          <a:ln w="57150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042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Gibbs Sampling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1225156"/>
            <a:ext cx="6972300" cy="1435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3206381"/>
            <a:ext cx="52832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76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LDA Generative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2" y="1514227"/>
            <a:ext cx="8910038" cy="22532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764" y="1220628"/>
            <a:ext cx="9096704" cy="27666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467" y="4807293"/>
            <a:ext cx="1422400" cy="25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467" y="5109809"/>
            <a:ext cx="1993900" cy="20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467" y="5428077"/>
            <a:ext cx="3556000" cy="20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6467" y="5765733"/>
            <a:ext cx="3035300" cy="279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01142" y="4737759"/>
            <a:ext cx="3731448" cy="1359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16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Model for LDA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82" y="1451549"/>
            <a:ext cx="5649733" cy="298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435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Gibbs Sampling for LDA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0" y="1614908"/>
            <a:ext cx="8776345" cy="362084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45372" y="2050289"/>
            <a:ext cx="5470245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2476122"/>
            <a:ext cx="5470245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43413" y="4352690"/>
            <a:ext cx="5470245" cy="5043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43413" y="4868136"/>
            <a:ext cx="8200587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494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Gibbs Sampling for LDA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0" y="1614908"/>
            <a:ext cx="8776345" cy="362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291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79" y="1086094"/>
            <a:ext cx="3441700" cy="1790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79" y="3462653"/>
            <a:ext cx="7137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937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now have a way to generate samples from the posterior for the LDA model</a:t>
            </a:r>
          </a:p>
          <a:p>
            <a:r>
              <a:rPr lang="en-US" dirty="0"/>
              <a:t>how should we do the following?</a:t>
            </a:r>
          </a:p>
          <a:p>
            <a:pPr lvl="1"/>
            <a:r>
              <a:rPr lang="en-US" dirty="0"/>
              <a:t>get topic assignments for each word in the document collection?</a:t>
            </a:r>
          </a:p>
          <a:p>
            <a:pPr lvl="1"/>
            <a:r>
              <a:rPr lang="en-US" dirty="0"/>
              <a:t>get topic distribution for a document?</a:t>
            </a:r>
          </a:p>
          <a:p>
            <a:pPr lvl="1"/>
            <a:r>
              <a:rPr lang="en-US" dirty="0"/>
              <a:t>get estimates of topic-word distributions for each topic?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07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7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Key Quantities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54362" y="1557618"/>
            <a:ext cx="370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Our data is a set of samples: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20" y="1027157"/>
            <a:ext cx="6184900" cy="368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458" y="1577503"/>
            <a:ext cx="2501900" cy="419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76087"/>
          <a:stretch/>
        </p:blipFill>
        <p:spPr>
          <a:xfrm>
            <a:off x="1153324" y="3091163"/>
            <a:ext cx="1633872" cy="444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23913"/>
          <a:stretch/>
        </p:blipFill>
        <p:spPr>
          <a:xfrm>
            <a:off x="2787196" y="3091163"/>
            <a:ext cx="5198728" cy="444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22" y="3998379"/>
            <a:ext cx="8051800" cy="444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43115" y="3763218"/>
            <a:ext cx="8580580" cy="8487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709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Collapsed Gibbs Sampling for LDA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52850"/>
            <a:ext cx="8229600" cy="2873313"/>
          </a:xfrm>
        </p:spPr>
        <p:txBody>
          <a:bodyPr>
            <a:normAutofit/>
          </a:bodyPr>
          <a:lstStyle/>
          <a:p>
            <a:r>
              <a:rPr lang="en-US" dirty="0"/>
              <a:t>the collapsed posterior is tricky to work with because all latent variables become coupled</a:t>
            </a:r>
          </a:p>
          <a:p>
            <a:r>
              <a:rPr lang="en-US" dirty="0"/>
              <a:t>i.e., we now have fewer independence assumptions to help us simplify things</a:t>
            </a:r>
          </a:p>
          <a:p>
            <a:r>
              <a:rPr lang="en-US" dirty="0"/>
              <a:t>[on board]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1" y="1735272"/>
            <a:ext cx="8895779" cy="88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2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Collapsed Gibbs Sampling for LDA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33" y="1681351"/>
            <a:ext cx="8898897" cy="103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7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0"/>
            <a:ext cx="8567390" cy="53340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intro (1 lecture)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deep learning for NLP (5 lectures)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structured prediction (4.5 lectures)</a:t>
            </a:r>
          </a:p>
          <a:p>
            <a:r>
              <a:rPr lang="en-US" sz="2400" dirty="0">
                <a:solidFill>
                  <a:srgbClr val="A6A6A6"/>
                </a:solidFill>
              </a:rPr>
              <a:t>generative models, latent variables, unsupervised learning, variational </a:t>
            </a:r>
            <a:r>
              <a:rPr lang="en-US" sz="2400" dirty="0" err="1">
                <a:solidFill>
                  <a:srgbClr val="A6A6A6"/>
                </a:solidFill>
              </a:rPr>
              <a:t>autoencoders</a:t>
            </a:r>
            <a:r>
              <a:rPr lang="en-US" sz="2400" dirty="0">
                <a:solidFill>
                  <a:srgbClr val="A6A6A6"/>
                </a:solidFill>
              </a:rPr>
              <a:t> (1.5 lectures)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Bayesian methods in NLP (2 lectures)</a:t>
            </a:r>
          </a:p>
          <a:p>
            <a:r>
              <a:rPr lang="en-US" sz="2400" b="1" dirty="0"/>
              <a:t>Bayesian </a:t>
            </a:r>
            <a:r>
              <a:rPr lang="en-US" sz="2400" b="1" dirty="0" err="1"/>
              <a:t>nonparametrics</a:t>
            </a:r>
            <a:r>
              <a:rPr lang="en-US" sz="2400" b="1" dirty="0"/>
              <a:t> in NLP </a:t>
            </a:r>
            <a:r>
              <a:rPr lang="en-US" sz="2400" b="1" dirty="0" smtClean="0"/>
              <a:t>(1.5 </a:t>
            </a:r>
            <a:r>
              <a:rPr lang="en-US" sz="2400" b="1" dirty="0"/>
              <a:t>lectures)</a:t>
            </a:r>
          </a:p>
          <a:p>
            <a:r>
              <a:rPr lang="en-US" sz="2400" dirty="0" smtClean="0"/>
              <a:t>research tips &amp; </a:t>
            </a:r>
            <a:r>
              <a:rPr lang="en-US" sz="2400" dirty="0"/>
              <a:t>other topics </a:t>
            </a:r>
            <a:r>
              <a:rPr lang="en-US" sz="2400" dirty="0" smtClean="0"/>
              <a:t>(0.5 lectures)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28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“Nonparametric”?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nonparametric does not mean “no parameters”</a:t>
            </a:r>
          </a:p>
          <a:p>
            <a:endParaRPr lang="en-US" sz="2800" dirty="0"/>
          </a:p>
          <a:p>
            <a:r>
              <a:rPr lang="en-US" sz="2800" dirty="0"/>
              <a:t>it means that “the number of parameters grows as the data grows”</a:t>
            </a:r>
          </a:p>
          <a:p>
            <a:endParaRPr lang="en-US" sz="2800" dirty="0"/>
          </a:p>
          <a:p>
            <a:r>
              <a:rPr lang="en-US" sz="2800" dirty="0"/>
              <a:t>for our purposes, think of it as “some component of the model permits an unbounded set of something”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988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586115"/>
          </a:xfrm>
        </p:spPr>
        <p:txBody>
          <a:bodyPr>
            <a:normAutofit/>
          </a:bodyPr>
          <a:lstStyle/>
          <a:p>
            <a:r>
              <a:rPr lang="en-US" sz="3200" dirty="0"/>
              <a:t>Parametric or Nonparametric?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416440"/>
              </p:ext>
            </p:extLst>
          </p:nvPr>
        </p:nvGraphicFramePr>
        <p:xfrm>
          <a:off x="434918" y="836217"/>
          <a:ext cx="8355353" cy="54904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29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523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8747">
                <a:tc>
                  <a:txBody>
                    <a:bodyPr/>
                    <a:lstStyle/>
                    <a:p>
                      <a:r>
                        <a:rPr lang="en-US" sz="2000" dirty="0"/>
                        <a:t>Model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Parametric or Nonparametric?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0007">
                <a:tc>
                  <a:txBody>
                    <a:bodyPr/>
                    <a:lstStyle/>
                    <a:p>
                      <a:r>
                        <a:rPr lang="en-US" sz="2000" dirty="0"/>
                        <a:t>Gaussian Mixture</a:t>
                      </a:r>
                      <a:r>
                        <a:rPr lang="en-US" sz="2000" baseline="0" dirty="0"/>
                        <a:t> Model (GMM)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9275">
                <a:tc>
                  <a:txBody>
                    <a:bodyPr/>
                    <a:lstStyle/>
                    <a:p>
                      <a:r>
                        <a:rPr lang="en-US" sz="2000" dirty="0"/>
                        <a:t>Hidden Markov</a:t>
                      </a:r>
                      <a:r>
                        <a:rPr lang="en-US" sz="2000" baseline="0" dirty="0"/>
                        <a:t> Model (with GMM emissions)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/>
                        <a:t>Hidden Markov Model (for</a:t>
                      </a:r>
                      <a:r>
                        <a:rPr lang="en-US" sz="2000" baseline="0" dirty="0"/>
                        <a:t> part-of-speech tagging, with multinomial emissions)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nonparametric*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3741">
                <a:tc>
                  <a:txBody>
                    <a:bodyPr/>
                    <a:lstStyle/>
                    <a:p>
                      <a:r>
                        <a:rPr lang="en-US" sz="2000" dirty="0"/>
                        <a:t>n-gram language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nonparametric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r>
                        <a:rPr lang="en-US" sz="2000" dirty="0"/>
                        <a:t>LDA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nonparametric*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/>
                        <a:t>LSTM</a:t>
                      </a:r>
                      <a:r>
                        <a:rPr lang="en-US" sz="2000" baseline="0" dirty="0"/>
                        <a:t> language model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nonparametric*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/>
                        <a:t>character-level LSTM 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parametric (assuming fixed set of characters)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45372" y="1648268"/>
            <a:ext cx="5559374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5372" y="2261400"/>
            <a:ext cx="5882464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328105" y="1648268"/>
            <a:ext cx="2462166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28105" y="2317100"/>
            <a:ext cx="2462166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2636" y="2971232"/>
            <a:ext cx="5492110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300668" y="2971232"/>
            <a:ext cx="2782054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5372" y="3559400"/>
            <a:ext cx="5882464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328105" y="3539804"/>
            <a:ext cx="2462166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12636" y="4114585"/>
            <a:ext cx="5882464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328105" y="4108376"/>
            <a:ext cx="2462166" cy="5685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34918" y="4802137"/>
            <a:ext cx="5882464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146646" y="4829348"/>
            <a:ext cx="2462166" cy="673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01495" y="5571228"/>
            <a:ext cx="5592379" cy="5351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93874" y="5652901"/>
            <a:ext cx="2692926" cy="673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649846" y="6353059"/>
            <a:ext cx="262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*parametric if vocab fixed</a:t>
            </a:r>
          </a:p>
        </p:txBody>
      </p:sp>
    </p:spTree>
    <p:extLst>
      <p:ext uri="{BB962C8B-B14F-4D97-AF65-F5344CB8AC3E}">
        <p14:creationId xmlns:p14="http://schemas.microsoft.com/office/powerpoint/2010/main" val="414536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586115"/>
          </a:xfrm>
        </p:spPr>
        <p:txBody>
          <a:bodyPr>
            <a:normAutofit/>
          </a:bodyPr>
          <a:lstStyle/>
          <a:p>
            <a:r>
              <a:rPr lang="en-US" sz="3200" dirty="0"/>
              <a:t>Parametric or Nonparametric?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236305"/>
              </p:ext>
            </p:extLst>
          </p:nvPr>
        </p:nvGraphicFramePr>
        <p:xfrm>
          <a:off x="434918" y="836217"/>
          <a:ext cx="8355353" cy="54904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29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523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08747">
                <a:tc>
                  <a:txBody>
                    <a:bodyPr/>
                    <a:lstStyle/>
                    <a:p>
                      <a:r>
                        <a:rPr lang="en-US" sz="2000" dirty="0"/>
                        <a:t>Model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Parametric or Nonparametric?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0007">
                <a:tc>
                  <a:txBody>
                    <a:bodyPr/>
                    <a:lstStyle/>
                    <a:p>
                      <a:r>
                        <a:rPr lang="en-US" sz="2000" dirty="0"/>
                        <a:t>Gaussian Mixture</a:t>
                      </a:r>
                      <a:r>
                        <a:rPr lang="en-US" sz="2000" baseline="0" dirty="0"/>
                        <a:t> Model (GMM)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9275">
                <a:tc>
                  <a:txBody>
                    <a:bodyPr/>
                    <a:lstStyle/>
                    <a:p>
                      <a:r>
                        <a:rPr lang="en-US" sz="2000" dirty="0"/>
                        <a:t>Hidden Markov</a:t>
                      </a:r>
                      <a:r>
                        <a:rPr lang="en-US" sz="2000" baseline="0" dirty="0"/>
                        <a:t> Model (with GMM emissions)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/>
                        <a:t>Hidden Markov Model (for</a:t>
                      </a:r>
                      <a:r>
                        <a:rPr lang="en-US" sz="2000" baseline="0" dirty="0"/>
                        <a:t> part-of-speech tagging, with multinomial emissions)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nonparametric*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3741">
                <a:tc>
                  <a:txBody>
                    <a:bodyPr/>
                    <a:lstStyle/>
                    <a:p>
                      <a:r>
                        <a:rPr lang="en-US" sz="2000" dirty="0"/>
                        <a:t>n-gram language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nonparametric*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r>
                        <a:rPr lang="en-US" sz="2000" dirty="0"/>
                        <a:t>LDA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nonparametric*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/>
                        <a:t>LSTM</a:t>
                      </a:r>
                      <a:r>
                        <a:rPr lang="en-US" sz="2000" baseline="0" dirty="0"/>
                        <a:t> language model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nonparametric*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808747">
                <a:tc>
                  <a:txBody>
                    <a:bodyPr/>
                    <a:lstStyle/>
                    <a:p>
                      <a:r>
                        <a:rPr lang="en-US" sz="2000" dirty="0"/>
                        <a:t>character-level LSTM 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parametric (assuming fixed set of characters)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649846" y="6353059"/>
            <a:ext cx="262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*parametric if vocab fixed</a:t>
            </a:r>
          </a:p>
        </p:txBody>
      </p:sp>
    </p:spTree>
    <p:extLst>
      <p:ext uri="{BB962C8B-B14F-4D97-AF65-F5344CB8AC3E}">
        <p14:creationId xmlns:p14="http://schemas.microsoft.com/office/powerpoint/2010/main" val="8289470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0086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“nonparametric modeling” in terms of vocab has a lot of </a:t>
            </a:r>
            <a:r>
              <a:rPr lang="en-US" dirty="0" smtClean="0"/>
              <a:t>simple engineering </a:t>
            </a:r>
            <a:r>
              <a:rPr lang="en-US" dirty="0"/>
              <a:t>solutions:</a:t>
            </a:r>
          </a:p>
          <a:p>
            <a:pPr lvl="1"/>
            <a:r>
              <a:rPr lang="en-US" dirty="0"/>
              <a:t>use UNK for unknown words, do smoothing of high-order </a:t>
            </a:r>
            <a:r>
              <a:rPr lang="en-US" i="1" dirty="0"/>
              <a:t>n</a:t>
            </a:r>
            <a:r>
              <a:rPr lang="en-US" dirty="0"/>
              <a:t>-grams, etc.</a:t>
            </a:r>
          </a:p>
          <a:p>
            <a:endParaRPr lang="en-US" dirty="0"/>
          </a:p>
          <a:p>
            <a:r>
              <a:rPr lang="en-US" dirty="0"/>
              <a:t>in this case, unbounded part of model is mostly determined by observed data, heuristics are useful</a:t>
            </a:r>
          </a:p>
          <a:p>
            <a:endParaRPr lang="en-US" dirty="0"/>
          </a:p>
          <a:p>
            <a:r>
              <a:rPr lang="en-US" dirty="0"/>
              <a:t>modeling gets more interesting when unbounded part of model relates to </a:t>
            </a:r>
            <a:r>
              <a:rPr lang="en-US" b="1" dirty="0"/>
              <a:t>latent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166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might you want to permit an unbounded set of latent items in a model?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24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Infinite Mixture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mixture components is unbounded (grows depending on the data)</a:t>
            </a:r>
          </a:p>
          <a:p>
            <a:r>
              <a:rPr lang="en-US" dirty="0"/>
              <a:t>e.g., LDA with an unbounded set of 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120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859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“Infinite” HMM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5897"/>
            <a:ext cx="8229600" cy="2044686"/>
          </a:xfrm>
        </p:spPr>
        <p:txBody>
          <a:bodyPr/>
          <a:lstStyle/>
          <a:p>
            <a:r>
              <a:rPr lang="en-US" dirty="0"/>
              <a:t>HMMs permit infinite sequences already</a:t>
            </a:r>
          </a:p>
          <a:p>
            <a:r>
              <a:rPr lang="en-US" dirty="0"/>
              <a:t>what’s new here?</a:t>
            </a:r>
          </a:p>
          <a:p>
            <a:r>
              <a:rPr lang="en-US" dirty="0"/>
              <a:t>infinite number of </a:t>
            </a:r>
            <a:r>
              <a:rPr lang="en-US" b="1" dirty="0"/>
              <a:t>hidden states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18" y="2675764"/>
            <a:ext cx="7329906" cy="346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6698" y="6280663"/>
            <a:ext cx="4477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88CD2"/>
                </a:solidFill>
              </a:rPr>
              <a:t>Beal et al. (2002), </a:t>
            </a:r>
            <a:r>
              <a:rPr lang="en-US" sz="2400" dirty="0" err="1">
                <a:solidFill>
                  <a:srgbClr val="288CD2"/>
                </a:solidFill>
              </a:rPr>
              <a:t>Teh</a:t>
            </a:r>
            <a:r>
              <a:rPr lang="en-US" sz="2400" dirty="0">
                <a:solidFill>
                  <a:srgbClr val="288CD2"/>
                </a:solidFill>
              </a:rPr>
              <a:t> et al. (2005)</a:t>
            </a:r>
          </a:p>
        </p:txBody>
      </p:sp>
    </p:spTree>
    <p:extLst>
      <p:ext uri="{BB962C8B-B14F-4D97-AF65-F5344CB8AC3E}">
        <p14:creationId xmlns:p14="http://schemas.microsoft.com/office/powerpoint/2010/main" val="37276815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0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“Infinite” PCFG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87" y="731131"/>
            <a:ext cx="9066013" cy="2279369"/>
          </a:xfrm>
        </p:spPr>
        <p:txBody>
          <a:bodyPr>
            <a:normAutofit/>
          </a:bodyPr>
          <a:lstStyle/>
          <a:p>
            <a:r>
              <a:rPr lang="en-US" sz="2800" dirty="0"/>
              <a:t>PCFGs can already handle infinite-length derivations</a:t>
            </a:r>
          </a:p>
          <a:p>
            <a:r>
              <a:rPr lang="en-US" sz="2800" dirty="0"/>
              <a:t>“infinite” here means an infinite number of </a:t>
            </a:r>
            <a:r>
              <a:rPr lang="en-US" sz="2800" b="1" dirty="0" err="1"/>
              <a:t>nonterminals</a:t>
            </a:r>
            <a:r>
              <a:rPr lang="en-US" sz="2800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9563"/>
            <a:ext cx="9144000" cy="4153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39376" y="6280663"/>
            <a:ext cx="4865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88CD2"/>
                </a:solidFill>
              </a:rPr>
              <a:t>Liang et al. (2007), </a:t>
            </a:r>
            <a:r>
              <a:rPr lang="en-US" sz="2400" dirty="0" err="1">
                <a:solidFill>
                  <a:srgbClr val="288CD2"/>
                </a:solidFill>
              </a:rPr>
              <a:t>Finkel</a:t>
            </a:r>
            <a:r>
              <a:rPr lang="en-US" sz="2400" dirty="0">
                <a:solidFill>
                  <a:srgbClr val="288CD2"/>
                </a:solidFill>
              </a:rPr>
              <a:t> et al. (2007)</a:t>
            </a:r>
          </a:p>
        </p:txBody>
      </p:sp>
    </p:spTree>
    <p:extLst>
      <p:ext uri="{BB962C8B-B14F-4D97-AF65-F5344CB8AC3E}">
        <p14:creationId xmlns:p14="http://schemas.microsoft.com/office/powerpoint/2010/main" val="963064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358"/>
            <a:ext cx="8229600" cy="58588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might you want to permit an unbounded set of latent items in a model?</a:t>
            </a:r>
          </a:p>
          <a:p>
            <a:pPr lvl="1"/>
            <a:r>
              <a:rPr lang="en-US" dirty="0" smtClean="0"/>
              <a:t># topics </a:t>
            </a:r>
            <a:r>
              <a:rPr lang="en-US" dirty="0"/>
              <a:t>in LDA</a:t>
            </a:r>
          </a:p>
          <a:p>
            <a:pPr lvl="1"/>
            <a:r>
              <a:rPr lang="en-US" dirty="0" smtClean="0"/>
              <a:t># Gaussians </a:t>
            </a:r>
            <a:r>
              <a:rPr lang="en-US" dirty="0"/>
              <a:t>in a Gaussian Mixture Model</a:t>
            </a:r>
          </a:p>
          <a:p>
            <a:pPr lvl="1"/>
            <a:r>
              <a:rPr lang="en-US" dirty="0" smtClean="0"/>
              <a:t># </a:t>
            </a:r>
            <a:r>
              <a:rPr lang="en-US" dirty="0"/>
              <a:t>hidden states in an HMM</a:t>
            </a:r>
          </a:p>
          <a:p>
            <a:pPr lvl="1"/>
            <a:r>
              <a:rPr lang="en-US" dirty="0" smtClean="0"/>
              <a:t># </a:t>
            </a:r>
            <a:r>
              <a:rPr lang="en-US" dirty="0" err="1"/>
              <a:t>nonterminals</a:t>
            </a:r>
            <a:r>
              <a:rPr lang="en-US" dirty="0"/>
              <a:t> in a PCFG</a:t>
            </a:r>
          </a:p>
          <a:p>
            <a:pPr lvl="1"/>
            <a:r>
              <a:rPr lang="en-US" dirty="0"/>
              <a:t>morph lexicon for morphological segmentation</a:t>
            </a:r>
          </a:p>
          <a:p>
            <a:pPr lvl="1"/>
            <a:r>
              <a:rPr lang="en-US" dirty="0"/>
              <a:t>lexicon for Chinese word segmentation</a:t>
            </a:r>
          </a:p>
          <a:p>
            <a:pPr lvl="1"/>
            <a:r>
              <a:rPr lang="en-US" dirty="0" smtClean="0"/>
              <a:t># </a:t>
            </a:r>
            <a:r>
              <a:rPr lang="en-US" dirty="0" err="1"/>
              <a:t>coreference</a:t>
            </a:r>
            <a:r>
              <a:rPr lang="en-US" dirty="0"/>
              <a:t> chains in </a:t>
            </a:r>
            <a:r>
              <a:rPr lang="en-US" dirty="0" err="1"/>
              <a:t>coreference</a:t>
            </a:r>
            <a:r>
              <a:rPr lang="en-US" dirty="0"/>
              <a:t> </a:t>
            </a:r>
            <a:r>
              <a:rPr lang="en-US" dirty="0" smtClean="0"/>
              <a:t>resolution</a:t>
            </a:r>
          </a:p>
          <a:p>
            <a:pPr lvl="1"/>
            <a:r>
              <a:rPr lang="en-US" dirty="0" smtClean="0"/>
              <a:t># senses for a word when learning sense-specific word </a:t>
            </a:r>
            <a:r>
              <a:rPr lang="en-US" dirty="0" err="1" smtClean="0"/>
              <a:t>embeddings</a:t>
            </a:r>
            <a:endParaRPr lang="en-US" dirty="0"/>
          </a:p>
          <a:p>
            <a:pPr lvl="1"/>
            <a:r>
              <a:rPr lang="en-US" dirty="0" smtClean="0"/>
              <a:t># </a:t>
            </a:r>
            <a:r>
              <a:rPr lang="en-US" dirty="0"/>
              <a:t>dimensions in an embedding (?!)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335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priors over distributions that permit an unbounded set of items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86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LDA Generative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2" y="1514227"/>
            <a:ext cx="8910038" cy="22532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764" y="1220628"/>
            <a:ext cx="9096704" cy="27666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91" y="4817950"/>
            <a:ext cx="1422400" cy="25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91" y="5120466"/>
            <a:ext cx="1993900" cy="20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91" y="5438734"/>
            <a:ext cx="3556000" cy="20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91" y="5776390"/>
            <a:ext cx="3035300" cy="279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666" y="4748416"/>
            <a:ext cx="3731448" cy="1359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4980179" y="4934048"/>
            <a:ext cx="362110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dimensionality of alpha </a:t>
            </a:r>
          </a:p>
          <a:p>
            <a:pPr algn="ctr" eaLnBrk="1" hangingPunct="1"/>
            <a:r>
              <a:rPr lang="en-US" sz="2000" dirty="0">
                <a:solidFill>
                  <a:srgbClr val="0062AC"/>
                </a:solidFill>
                <a:latin typeface="Calibri"/>
                <a:cs typeface="Calibri"/>
              </a:rPr>
              <a:t>must be </a:t>
            </a:r>
            <a:r>
              <a:rPr lang="en-US" sz="2000" i="1" dirty="0">
                <a:solidFill>
                  <a:srgbClr val="0062AC"/>
                </a:solidFill>
                <a:latin typeface="Calibri"/>
                <a:cs typeface="Calibri"/>
              </a:rPr>
              <a:t>K</a:t>
            </a:r>
            <a:r>
              <a:rPr lang="en-US" sz="2000" dirty="0">
                <a:solidFill>
                  <a:srgbClr val="0062AC"/>
                </a:solidFill>
                <a:latin typeface="Calibri"/>
                <a:cs typeface="Calibri"/>
              </a:rPr>
              <a:t> (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the number of topics)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6597764" y="2573317"/>
            <a:ext cx="231687" cy="2383939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452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Dirichlet</a:t>
            </a:r>
            <a:r>
              <a:rPr lang="en-US" dirty="0"/>
              <a:t> Process (DP)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“distribution over distributions”</a:t>
            </a:r>
          </a:p>
          <a:p>
            <a:endParaRPr lang="en-US" dirty="0"/>
          </a:p>
          <a:p>
            <a:r>
              <a:rPr lang="en-US" dirty="0"/>
              <a:t>unlike </a:t>
            </a:r>
            <a:r>
              <a:rPr lang="en-US" dirty="0" err="1"/>
              <a:t>Dirichlet</a:t>
            </a:r>
            <a:r>
              <a:rPr lang="en-US" dirty="0"/>
              <a:t> distribution, DP does not require pre-specifying number of components</a:t>
            </a:r>
          </a:p>
          <a:p>
            <a:endParaRPr lang="en-US" dirty="0"/>
          </a:p>
          <a:p>
            <a:r>
              <a:rPr lang="en-US" dirty="0"/>
              <a:t>we’ll now describe how a DP generates a distribution over an unbounded set of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116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Running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we’re trying to segment words into morphological units without any supervision:</a:t>
            </a:r>
          </a:p>
          <a:p>
            <a:pPr lvl="1"/>
            <a:r>
              <a:rPr lang="en-US" dirty="0"/>
              <a:t>walking </a:t>
            </a:r>
            <a:r>
              <a:rPr lang="en-US" dirty="0">
                <a:sym typeface="Wingdings"/>
              </a:rPr>
              <a:t> walk + </a:t>
            </a:r>
            <a:r>
              <a:rPr lang="en-US" dirty="0" err="1">
                <a:sym typeface="Wingdings"/>
              </a:rPr>
              <a:t>ing</a:t>
            </a:r>
            <a:endParaRPr lang="en-US" dirty="0">
              <a:sym typeface="Wingdings"/>
            </a:endParaRPr>
          </a:p>
          <a:p>
            <a:pPr lvl="1"/>
            <a:r>
              <a:rPr lang="en-US" dirty="0">
                <a:sym typeface="Wingdings"/>
              </a:rPr>
              <a:t>restarted  re + start + </a:t>
            </a:r>
            <a:r>
              <a:rPr lang="en-US" dirty="0" err="1">
                <a:sym typeface="Wingdings"/>
              </a:rPr>
              <a:t>ed</a:t>
            </a:r>
            <a:endParaRPr lang="en-US" dirty="0">
              <a:sym typeface="Wingdings"/>
            </a:endParaRPr>
          </a:p>
          <a:p>
            <a:pPr lvl="1"/>
            <a:endParaRPr lang="en-US" dirty="0">
              <a:sym typeface="Wingdings"/>
            </a:endParaRPr>
          </a:p>
          <a:p>
            <a:r>
              <a:rPr lang="en-US" dirty="0"/>
              <a:t>what is the unbounded set of latent items here?</a:t>
            </a:r>
          </a:p>
          <a:p>
            <a:pPr lvl="1"/>
            <a:r>
              <a:rPr lang="en-US" dirty="0"/>
              <a:t>lexicon of possible morphological units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31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Dirichlet</a:t>
            </a:r>
            <a:r>
              <a:rPr lang="en-US" dirty="0"/>
              <a:t> Process (DP)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 a “base distribution” </a:t>
            </a:r>
          </a:p>
          <a:p>
            <a:r>
              <a:rPr lang="en-US" dirty="0"/>
              <a:t>simple example base distribution for our morph lexicon: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e.g., probability of “</a:t>
            </a:r>
            <a:r>
              <a:rPr lang="en-US" dirty="0" err="1"/>
              <a:t>ing</a:t>
            </a:r>
            <a:r>
              <a:rPr lang="en-US" dirty="0"/>
              <a:t>”: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662" y="1261838"/>
            <a:ext cx="452148" cy="3684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2789977"/>
            <a:ext cx="4051300" cy="939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800" y="4767787"/>
            <a:ext cx="57404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622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Dirichlet</a:t>
            </a:r>
            <a:r>
              <a:rPr lang="en-US" dirty="0"/>
              <a:t>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unbounded distribution over items will choose its items by sampling from the base distribution</a:t>
            </a:r>
          </a:p>
          <a:p>
            <a:r>
              <a:rPr lang="en-US" dirty="0"/>
              <a:t>base distribution typically has an infinite set of items with nonzero probability, as in our 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4071065"/>
            <a:ext cx="40513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443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Items and Probabilities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distribution provides the items (“atoms”), as many as we want</a:t>
            </a:r>
          </a:p>
          <a:p>
            <a:r>
              <a:rPr lang="en-US" dirty="0"/>
              <a:t>where do their probabilities come from?</a:t>
            </a:r>
          </a:p>
          <a:p>
            <a:r>
              <a:rPr lang="en-US" dirty="0"/>
              <a:t>we need an infinite set of probabilities that sum to 1</a:t>
            </a:r>
          </a:p>
          <a:p>
            <a:r>
              <a:rPr lang="en-US" dirty="0"/>
              <a:t>DPs have another parameter: concentration (strength) parameter </a:t>
            </a:r>
            <a:r>
              <a:rPr lang="en-US" i="1" dirty="0"/>
              <a:t>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488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Stick-Breaking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46374"/>
            <a:ext cx="8229600" cy="107979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betas form an infinite sequence that sums to 1</a:t>
            </a:r>
          </a:p>
          <a:p>
            <a:r>
              <a:rPr lang="en-US" dirty="0"/>
              <a:t>they provide probabilities for an infinite set of items!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full stick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9426" y="1812244"/>
            <a:ext cx="4515320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82734" y="1812244"/>
            <a:ext cx="152311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89426" y="2410240"/>
            <a:ext cx="3780012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47426" y="2410240"/>
            <a:ext cx="73530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89426" y="3019376"/>
            <a:ext cx="2821883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89297" y="3019376"/>
            <a:ext cx="958129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995019" y="3526074"/>
            <a:ext cx="43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224" y="1832061"/>
            <a:ext cx="266700" cy="2921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171" y="1840390"/>
            <a:ext cx="7747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171" y="2404657"/>
            <a:ext cx="1701800" cy="317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275" y="2430057"/>
            <a:ext cx="2794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136" y="3039193"/>
            <a:ext cx="2794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171" y="3019376"/>
            <a:ext cx="23876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246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Stick-Breaking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46374"/>
            <a:ext cx="8229600" cy="107979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betas form an infinite sequence that sums to 1</a:t>
            </a:r>
          </a:p>
          <a:p>
            <a:r>
              <a:rPr lang="en-US" dirty="0"/>
              <a:t>they provide probabilities for an infinite set of items!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full stick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9426" y="1812244"/>
            <a:ext cx="4515320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82734" y="1812244"/>
            <a:ext cx="152311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89426" y="2410240"/>
            <a:ext cx="3780012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47426" y="2410240"/>
            <a:ext cx="73530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89426" y="3019376"/>
            <a:ext cx="2821883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89297" y="3019376"/>
            <a:ext cx="958129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224" y="1832061"/>
            <a:ext cx="2667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275" y="2430057"/>
            <a:ext cx="2794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136" y="3039193"/>
            <a:ext cx="279400" cy="292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0" y="4049294"/>
            <a:ext cx="2527300" cy="939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1397" y="3684824"/>
            <a:ext cx="195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153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40"/>
            <a:ext cx="8229600" cy="586116"/>
          </a:xfrm>
        </p:spPr>
        <p:txBody>
          <a:bodyPr>
            <a:normAutofit/>
          </a:bodyPr>
          <a:lstStyle/>
          <a:p>
            <a:r>
              <a:rPr lang="en-US" sz="2800" dirty="0"/>
              <a:t>Beta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 descr="Screen Shot 2017-05-17 at 10.57.2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770" y="630870"/>
            <a:ext cx="5545030" cy="2096143"/>
          </a:xfrm>
          <a:prstGeom prst="rect">
            <a:avLst/>
          </a:prstGeom>
        </p:spPr>
      </p:pic>
      <p:pic>
        <p:nvPicPr>
          <p:cNvPr id="7" name="Picture 6" descr="Screen Shot 2017-05-17 at 10.57.3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206" y="4697660"/>
            <a:ext cx="5653094" cy="2163980"/>
          </a:xfrm>
          <a:prstGeom prst="rect">
            <a:avLst/>
          </a:prstGeom>
        </p:spPr>
      </p:pic>
      <p:pic>
        <p:nvPicPr>
          <p:cNvPr id="5" name="Picture 4" descr="Screen Shot 2017-05-17 at 10.57.06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206" y="2645597"/>
            <a:ext cx="5583130" cy="21194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70117"/>
            <a:ext cx="20828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63900"/>
            <a:ext cx="18415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347061"/>
            <a:ext cx="1993900" cy="317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153476"/>
            <a:ext cx="195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150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Stick-Breaking with High Concentration (</a:t>
            </a:r>
            <a:r>
              <a:rPr lang="en-US" sz="3200" i="1" dirty="0"/>
              <a:t>s</a:t>
            </a:r>
            <a:r>
              <a:rPr lang="en-US" sz="3200" dirty="0"/>
              <a:t> = 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full stick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3458880"/>
            <a:ext cx="2527300" cy="9398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397" y="3094410"/>
            <a:ext cx="195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99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Stick-Breaking with High Concentration (</a:t>
            </a:r>
            <a:r>
              <a:rPr lang="en-US" sz="3200" i="1" dirty="0"/>
              <a:t>s</a:t>
            </a:r>
            <a:r>
              <a:rPr lang="en-US" sz="3200" dirty="0"/>
              <a:t> =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77721"/>
            <a:ext cx="8229600" cy="1079790"/>
          </a:xfrm>
        </p:spPr>
        <p:txBody>
          <a:bodyPr>
            <a:normAutofit/>
          </a:bodyPr>
          <a:lstStyle/>
          <a:p>
            <a:r>
              <a:rPr lang="en-US" dirty="0"/>
              <a:t>high concentration = more of probability mass preserved for other pieces in the stick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full stick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9425" y="1812244"/>
            <a:ext cx="5829961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97374" y="1812244"/>
            <a:ext cx="208478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89426" y="2410240"/>
            <a:ext cx="5562576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029990" y="2407777"/>
            <a:ext cx="26738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89426" y="3019376"/>
            <a:ext cx="5261769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718039" y="3019376"/>
            <a:ext cx="311951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404" y="1832061"/>
            <a:ext cx="2667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884" y="2430057"/>
            <a:ext cx="2794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590" y="3039193"/>
            <a:ext cx="2794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198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Stick-Breaking with Low Concentration (</a:t>
            </a:r>
            <a:r>
              <a:rPr lang="en-US" sz="3200" i="1" dirty="0"/>
              <a:t>s</a:t>
            </a:r>
            <a:r>
              <a:rPr lang="en-US" sz="3200" dirty="0"/>
              <a:t> = 0.1)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full stick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3436599"/>
            <a:ext cx="2527300" cy="939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397" y="3072129"/>
            <a:ext cx="195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699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Stick-Breaking with Low Concentration (</a:t>
            </a:r>
            <a:r>
              <a:rPr lang="en-US" sz="3200" i="1" dirty="0"/>
              <a:t>s</a:t>
            </a:r>
            <a:r>
              <a:rPr lang="en-US" sz="3200" dirty="0"/>
              <a:t> = 0.1)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9426" y="1281088"/>
            <a:ext cx="6038438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89426" y="1234813"/>
            <a:ext cx="955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full stick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9425" y="1812244"/>
            <a:ext cx="2532217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99630" y="1812244"/>
            <a:ext cx="352270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89426" y="2410240"/>
            <a:ext cx="1406972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874386" y="2407777"/>
            <a:ext cx="1125244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389426" y="3019376"/>
            <a:ext cx="459985" cy="31191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938537" y="3019376"/>
            <a:ext cx="935849" cy="31191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903" y="1832061"/>
            <a:ext cx="266700" cy="292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921" y="2430057"/>
            <a:ext cx="2794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374" y="3039193"/>
            <a:ext cx="279400" cy="292100"/>
          </a:xfrm>
          <a:prstGeom prst="rect">
            <a:avLst/>
          </a:prstGeom>
        </p:spPr>
      </p:pic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57200" y="4277721"/>
            <a:ext cx="8229600" cy="1079790"/>
          </a:xfrm>
        </p:spPr>
        <p:txBody>
          <a:bodyPr>
            <a:normAutofit/>
          </a:bodyPr>
          <a:lstStyle/>
          <a:p>
            <a:r>
              <a:rPr lang="en-US" dirty="0"/>
              <a:t>low concentration = stronger power law effects in resulting probabilities</a:t>
            </a:r>
          </a:p>
        </p:txBody>
      </p:sp>
    </p:spTree>
    <p:extLst>
      <p:ext uri="{BB962C8B-B14F-4D97-AF65-F5344CB8AC3E}">
        <p14:creationId xmlns:p14="http://schemas.microsoft.com/office/powerpoint/2010/main" val="26686393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Draw G from a DP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76" y="1975892"/>
            <a:ext cx="4533900" cy="116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76" y="3431660"/>
            <a:ext cx="2946400" cy="850900"/>
          </a:xfrm>
          <a:prstGeom prst="rect">
            <a:avLst/>
          </a:prstGeom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088758" y="1305573"/>
            <a:ext cx="43335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draw infinite probabilities from </a:t>
            </a:r>
          </a:p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stick-breaking </a:t>
            </a:r>
            <a:r>
              <a:rPr lang="en-US" sz="2000" dirty="0">
                <a:solidFill>
                  <a:srgbClr val="0062AC"/>
                </a:solidFill>
                <a:latin typeface="Calibri"/>
                <a:cs typeface="Calibri"/>
              </a:rPr>
              <a:t>process with parameter s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3066058" y="1659516"/>
            <a:ext cx="1022700" cy="468211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18459" y="2419071"/>
            <a:ext cx="1204530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444975" y="2159300"/>
            <a:ext cx="38000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draw atoms from base distribution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016478" y="2559410"/>
            <a:ext cx="2670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atoms can be repeated!</a:t>
            </a:r>
          </a:p>
        </p:txBody>
      </p:sp>
    </p:spTree>
    <p:extLst>
      <p:ext uri="{BB962C8B-B14F-4D97-AF65-F5344CB8AC3E}">
        <p14:creationId xmlns:p14="http://schemas.microsoft.com/office/powerpoint/2010/main" val="4105127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Draw G from a DP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76" y="1975892"/>
            <a:ext cx="4533900" cy="116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76" y="3431660"/>
            <a:ext cx="2946400" cy="850900"/>
          </a:xfrm>
          <a:prstGeom prst="rect">
            <a:avLst/>
          </a:prstGeom>
        </p:spPr>
      </p:pic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4088758" y="1305573"/>
            <a:ext cx="43335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draw infinite probabilities from </a:t>
            </a:r>
          </a:p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stick-breaking </a:t>
            </a:r>
            <a:r>
              <a:rPr lang="en-US" sz="2000" dirty="0">
                <a:solidFill>
                  <a:srgbClr val="0062AC"/>
                </a:solidFill>
                <a:latin typeface="Calibri"/>
                <a:cs typeface="Calibri"/>
              </a:rPr>
              <a:t>process with parameter s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3066058" y="1659516"/>
            <a:ext cx="1022700" cy="468211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18459" y="2419071"/>
            <a:ext cx="1204530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444975" y="2159300"/>
            <a:ext cx="38000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draw atoms from base distribution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016478" y="2559410"/>
            <a:ext cx="2670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atoms can be repeated!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5113780"/>
            <a:ext cx="41148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607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stick-breaking construction of the DP is useful for specifying models and defining inference algorithms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207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Dirichlet</a:t>
            </a:r>
            <a:r>
              <a:rPr lang="en-US" dirty="0"/>
              <a:t> Process Mixture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39"/>
            <a:ext cx="8229600" cy="5376262"/>
          </a:xfrm>
        </p:spPr>
        <p:txBody>
          <a:bodyPr>
            <a:normAutofit/>
          </a:bodyPr>
          <a:lstStyle/>
          <a:p>
            <a:r>
              <a:rPr lang="en-US" dirty="0"/>
              <a:t>generative story for dataset                          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800" dirty="0"/>
              <a:t>each </a:t>
            </a:r>
            <a:r>
              <a:rPr lang="en-US" sz="2800" i="1" dirty="0"/>
              <a:t>x</a:t>
            </a:r>
            <a:r>
              <a:rPr lang="en-US" sz="2800" dirty="0"/>
              <a:t> is generated from a single mixture component</a:t>
            </a:r>
          </a:p>
          <a:p>
            <a:r>
              <a:rPr lang="en-US" sz="2800" dirty="0"/>
              <a:t>the number of mixture components is unbounded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35" y="2181963"/>
            <a:ext cx="4533900" cy="18034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3240445" y="2527376"/>
            <a:ext cx="1204530" cy="216610"/>
          </a:xfrm>
          <a:prstGeom prst="straightConnector1">
            <a:avLst/>
          </a:prstGeom>
          <a:ln w="25400">
            <a:solidFill>
              <a:srgbClr val="0062AC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466961" y="2267605"/>
            <a:ext cx="4125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what should the base distribution be?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659" y="1246018"/>
            <a:ext cx="21463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369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79892</TotalTime>
  <Words>4788</Words>
  <Application>Microsoft Macintosh PowerPoint</Application>
  <PresentationFormat>On-screen Show (4:3)</PresentationFormat>
  <Paragraphs>383</Paragraphs>
  <Slides>45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TTIC 31210: Advanced Natural Language Processing</vt:lpstr>
      <vt:lpstr>Roadmap</vt:lpstr>
      <vt:lpstr>Assignments</vt:lpstr>
      <vt:lpstr>Generative Story Template</vt:lpstr>
      <vt:lpstr>PowerPoint Presentation</vt:lpstr>
      <vt:lpstr>Posterior over Categorical Parameters?</vt:lpstr>
      <vt:lpstr>Posterior over Categorical Parameters?</vt:lpstr>
      <vt:lpstr>Gibbs Sampling Template</vt:lpstr>
      <vt:lpstr>LDA Generative Story</vt:lpstr>
      <vt:lpstr>Graphical Model for LDA</vt:lpstr>
      <vt:lpstr>Gibbs Sampling for LDA</vt:lpstr>
      <vt:lpstr>Gibbs Sampling for LDA</vt:lpstr>
      <vt:lpstr>LDA</vt:lpstr>
      <vt:lpstr>PowerPoint Presentation</vt:lpstr>
      <vt:lpstr>Key Quantities</vt:lpstr>
      <vt:lpstr>Collapsed Gibbs Sampling for LDA</vt:lpstr>
      <vt:lpstr>Collapsed Gibbs Sampling for LDA</vt:lpstr>
      <vt:lpstr>Roadmap</vt:lpstr>
      <vt:lpstr>“Nonparametric”?</vt:lpstr>
      <vt:lpstr>Parametric or Nonparametric?</vt:lpstr>
      <vt:lpstr>Parametric or Nonparametric?</vt:lpstr>
      <vt:lpstr>PowerPoint Presentation</vt:lpstr>
      <vt:lpstr>PowerPoint Presentation</vt:lpstr>
      <vt:lpstr>Infinite Mixture Model</vt:lpstr>
      <vt:lpstr>“Infinite” HMM</vt:lpstr>
      <vt:lpstr>“Infinite” PCFG</vt:lpstr>
      <vt:lpstr>PowerPoint Presentation</vt:lpstr>
      <vt:lpstr>PowerPoint Presentation</vt:lpstr>
      <vt:lpstr>LDA Generative Story</vt:lpstr>
      <vt:lpstr>Dirichlet Process (DP)</vt:lpstr>
      <vt:lpstr>Running Example</vt:lpstr>
      <vt:lpstr>Dirichlet Process (DP)</vt:lpstr>
      <vt:lpstr>Dirichlet Processes</vt:lpstr>
      <vt:lpstr>Items and Probabilities</vt:lpstr>
      <vt:lpstr>Stick-Breaking Process</vt:lpstr>
      <vt:lpstr>Stick-Breaking Process</vt:lpstr>
      <vt:lpstr>Beta Distribution</vt:lpstr>
      <vt:lpstr>Stick-Breaking with High Concentration (s = 10)</vt:lpstr>
      <vt:lpstr>Stick-Breaking with High Concentration (s = 10)</vt:lpstr>
      <vt:lpstr>Stick-Breaking with Low Concentration (s = 0.1)</vt:lpstr>
      <vt:lpstr>Stick-Breaking with Low Concentration (s = 0.1)</vt:lpstr>
      <vt:lpstr>A Draw G from a DP</vt:lpstr>
      <vt:lpstr>A Draw G from a DP</vt:lpstr>
      <vt:lpstr>PowerPoint Presentation</vt:lpstr>
      <vt:lpstr>Dirichlet Process Mixture Model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1515</cp:revision>
  <dcterms:created xsi:type="dcterms:W3CDTF">2015-08-31T18:15:35Z</dcterms:created>
  <dcterms:modified xsi:type="dcterms:W3CDTF">2019-05-22T22:10:00Z</dcterms:modified>
</cp:coreProperties>
</file>