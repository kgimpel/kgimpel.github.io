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5"/>
  </p:notesMasterIdLst>
  <p:handoutMasterIdLst>
    <p:handoutMasterId r:id="rId56"/>
  </p:handoutMasterIdLst>
  <p:sldIdLst>
    <p:sldId id="256" r:id="rId2"/>
    <p:sldId id="3180" r:id="rId3"/>
    <p:sldId id="3181" r:id="rId4"/>
    <p:sldId id="3393" r:id="rId5"/>
    <p:sldId id="3386" r:id="rId6"/>
    <p:sldId id="3389" r:id="rId7"/>
    <p:sldId id="3408" r:id="rId8"/>
    <p:sldId id="3409" r:id="rId9"/>
    <p:sldId id="3410" r:id="rId10"/>
    <p:sldId id="3414" r:id="rId11"/>
    <p:sldId id="3415" r:id="rId12"/>
    <p:sldId id="3490" r:id="rId13"/>
    <p:sldId id="3487" r:id="rId14"/>
    <p:sldId id="3488" r:id="rId15"/>
    <p:sldId id="3489" r:id="rId16"/>
    <p:sldId id="3384" r:id="rId17"/>
    <p:sldId id="3492" r:id="rId18"/>
    <p:sldId id="3470" r:id="rId19"/>
    <p:sldId id="3491" r:id="rId20"/>
    <p:sldId id="3464" r:id="rId21"/>
    <p:sldId id="3496" r:id="rId22"/>
    <p:sldId id="3497" r:id="rId23"/>
    <p:sldId id="3498" r:id="rId24"/>
    <p:sldId id="3499" r:id="rId25"/>
    <p:sldId id="3495" r:id="rId26"/>
    <p:sldId id="3493" r:id="rId27"/>
    <p:sldId id="3502" r:id="rId28"/>
    <p:sldId id="3503" r:id="rId29"/>
    <p:sldId id="3505" r:id="rId30"/>
    <p:sldId id="3510" r:id="rId31"/>
    <p:sldId id="3501" r:id="rId32"/>
    <p:sldId id="3500" r:id="rId33"/>
    <p:sldId id="3463" r:id="rId34"/>
    <p:sldId id="3504" r:id="rId35"/>
    <p:sldId id="3471" r:id="rId36"/>
    <p:sldId id="3121" r:id="rId37"/>
    <p:sldId id="3122" r:id="rId38"/>
    <p:sldId id="3123" r:id="rId39"/>
    <p:sldId id="3124" r:id="rId40"/>
    <p:sldId id="3125" r:id="rId41"/>
    <p:sldId id="3472" r:id="rId42"/>
    <p:sldId id="3274" r:id="rId43"/>
    <p:sldId id="3275" r:id="rId44"/>
    <p:sldId id="3476" r:id="rId45"/>
    <p:sldId id="3474" r:id="rId46"/>
    <p:sldId id="3506" r:id="rId47"/>
    <p:sldId id="3126" r:id="rId48"/>
    <p:sldId id="3272" r:id="rId49"/>
    <p:sldId id="3273" r:id="rId50"/>
    <p:sldId id="3473" r:id="rId51"/>
    <p:sldId id="3481" r:id="rId52"/>
    <p:sldId id="3127" r:id="rId53"/>
    <p:sldId id="3128" r:id="rId5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8CD2"/>
    <a:srgbClr val="BC0000"/>
    <a:srgbClr val="EB5151"/>
    <a:srgbClr val="FFE6E6"/>
    <a:srgbClr val="FFC2C2"/>
    <a:srgbClr val="FF8C8C"/>
    <a:srgbClr val="F76A6A"/>
    <a:srgbClr val="EB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258" autoAdjust="0"/>
    <p:restoredTop sz="83454" autoAdjust="0"/>
  </p:normalViewPr>
  <p:slideViewPr>
    <p:cSldViewPr snapToGrid="0" snapToObjects="1">
      <p:cViewPr varScale="1">
        <p:scale>
          <a:sx n="68" d="100"/>
          <a:sy n="68" d="100"/>
        </p:scale>
        <p:origin x="-2680" y="-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notesMaster" Target="notesMasters/notesMaster1.xml"/><Relationship Id="rId56" Type="http://schemas.openxmlformats.org/officeDocument/2006/relationships/handoutMaster" Target="handoutMasters/handoutMaster1.xml"/><Relationship Id="rId57" Type="http://schemas.openxmlformats.org/officeDocument/2006/relationships/printerSettings" Target="printerSettings/printerSettings1.bin"/><Relationship Id="rId58" Type="http://schemas.openxmlformats.org/officeDocument/2006/relationships/presProps" Target="presProps.xml"/><Relationship Id="rId59" Type="http://schemas.openxmlformats.org/officeDocument/2006/relationships/viewProps" Target="viewProps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60" Type="http://schemas.openxmlformats.org/officeDocument/2006/relationships/theme" Target="theme/theme1.xml"/><Relationship Id="rId61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664593-8E4E-8747-9BDB-DA84BDED518C}" type="datetime1">
              <a:rPr lang="en-US" smtClean="0"/>
              <a:t>5/1/19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2E5790-10E5-C04B-864A-21F4E57B9F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04023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A541DB-7577-ED4C-AF0A-388D8C680A39}" type="datetime1">
              <a:rPr lang="en-US" smtClean="0"/>
              <a:t>5/1/19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1B48C7-8E5C-9640-8445-8A9544EEA5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63304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{classify}(\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{x},\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{\theta})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argmax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{y}}\;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{score}(\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{x},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{y},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{\theta})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3895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newcommand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{&lt;s&gt;}}}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newcommand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{&lt;/s&gt;}}}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\hat{y}_1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argmax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{L}} \,\,\,p_{\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{``Lower''} \mid y)\,p_{\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{\tau}}(y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\hat{y}_2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argmax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{L}} \,\,\,p_{\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{``the''} \mid y)\,p_{\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{\tau}}(y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{J}})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\hat{y}_3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argmax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{L}} \,\,\,p_{\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{``lights''} \mid y)\,p_{\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{\tau}}(y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{D}})\,p_{\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\mid y)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4226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newcommand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topb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mathop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{$\max$-$b$}}}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newcommand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{&lt;s&gt;}}}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newcommand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{&lt;/s&gt;}}}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%\hat{y}_1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argmax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{L}} \,\,\,p_{\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{``Lower''} \mid y)\,p_{\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{\tau}}(y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%\hat{y}_2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argmax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{L}} \,\,\,p_{\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{``the''} \mid y)\,p_{\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{\tau}}(y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{J}})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%\hat{y}_3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argmax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{L}} \,\,\,p_{\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{``lights''} \mid y)\,p_{\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{\tau}}(y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{D}})\,p_{\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\mid y)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B(1)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topb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{L}} \,\,\,p_{\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{``Lower''} \mid y)\,p_{\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{\tau}}(y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4226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newcommand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topb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mathop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{$\max$-$b$}}}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newcommand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{&lt;s&gt;}}}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newcommand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{&lt;/s&gt;}}}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{``Lower''} \mid y)\,p_{\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{\tau}}(y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)\,\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{score}(\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hyp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prev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}})</a:t>
            </a:r>
          </a:p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B(1)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topb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{L}} \,\,\,p_{\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{``Lower''} \mid y)\,p_{\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{\tau}}(y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4226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newcommand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topb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mathop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{$\max$-$b$}}}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newcommand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{&lt;s&gt;}}}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newcommand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{&lt;/s&gt;}}}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%\hat{y}_1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argmax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{L}} \,\,\,p_{\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{``Lower''} \mid y)\,p_{\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{\tau}}(y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%\hat{y}_2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argmax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{L}} \,\,\,p_{\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{``the''} \mid y)\,p_{\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{\tau}}(y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{J}})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%\hat{y}_3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argmax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{L}} \,\,\,p_{\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{``lights''} \mid y)\,p_{\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{\tau}}(y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{D}})\,p_{\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\mid y)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B(1)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topb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{L}} \,\,\,p_{\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{``Lower''} \mid y)\,p_{\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{\tau}}(y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4226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newcommand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topb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mathop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{$\max$-$b$}}}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newcommand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{&lt;s&gt;}}}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newcommand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{&lt;/s&gt;}}}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%\hat{y}_1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argmax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{L}} \,\,\,p_{\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{``Lower''} \mid y)\,p_{\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{\tau}}(y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%\hat{y}_2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argmax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{L}} \,\,\,p_{\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{``the''} \mid y)\,p_{\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{\tau}}(y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{J}})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%\hat{y}_3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argmax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{L}} \,\,\,p_{\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{``lights''} \mid y)\,p_{\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{\tau}}(y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{D}})\,p_{\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\mid y)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B(1)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topb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{L}} \,\,\,p_{\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{``Lower''} \mid y)\,p_{\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{\tau}}(y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4226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newcommand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topb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mathop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{$\max$-$b$}}}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newcommand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{&lt;s&gt;}}}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newcommand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{&lt;/s&gt;}}}</a:t>
            </a:r>
          </a:p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{``the''} \mid y)\\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&amp;\times 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{\tau}}(y \mid y_{\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prev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}})\\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&amp;\times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{score}(\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hyp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prev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}})</a:t>
            </a:r>
          </a:p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{``the''} \mid y)\,p_{\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{\tau}}(y \mid y_{\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prev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}})\,\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{score}(\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hyp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prev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}})</a:t>
            </a:r>
          </a:p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%\hat{y}_1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argmax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{L}} \,\,\,p_{\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{``Lower''} \mid y)\,p_{\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{\tau}}(y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%\hat{y}_2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argmax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{L}} \,\,\,p_{\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{``the''} \mid y)\,p_{\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{\tau}}(y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{J}})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%\hat{y}_3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argmax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{L}} \,\,\,p_{\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{``lights''} \mid y)\,p_{\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{\tau}}(y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{D}})\,p_{\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\mid y)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B(1)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topb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{L}} \,\,\,p_{\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{``Lower''} \mid y)\,p_{\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{\tau}}(y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4226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newcommand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topb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mathop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{$\max$-$b$}}}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newcommand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{&lt;s&gt;}}}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newcommand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{&lt;/s&gt;}}}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%\hat{y}_1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argmax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{L}} \,\,\,p_{\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{``Lower''} \mid y)\,p_{\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{\tau}}(y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%\hat{y}_2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argmax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{L}} \,\,\,p_{\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{``the''} \mid y)\,p_{\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{\tau}}(y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{J}})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%\hat{y}_3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argmax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{L}} \,\,\,p_{\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{``lights''} \mid y)\,p_{\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{\tau}}(y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{D}})\,p_{\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\mid y)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B(1)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topb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{L}} \,\,\,p_{\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{``Lower''} \mid y)\,p_{\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{\tau}}(y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4226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newcommand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topb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mathop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{$\max$-$b$}}}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newcommand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{&lt;s&gt;}}}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newcommand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{&lt;/s&gt;}}}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%\hat{y}_1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argmax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{L}} \,\,\,p_{\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{``Lower''} \mid y)\,p_{\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{\tau}}(y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%\hat{y}_2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argmax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{L}} \,\,\,p_{\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{``the''} \mid y)\,p_{\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{\tau}}(y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{J}})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%\hat{y}_3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argmax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{L}} \,\,\,p_{\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{``lights''} \mid y)\,p_{\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{\tau}}(y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{D}})\,p_{\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\mid y)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B(1)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topb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{L}} \,\,\,p_{\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{``Lower''} \mid y)\,p_{\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{\tau}}(y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0030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newcommand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topb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mathop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{$\max$-$b$}}}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newcommand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{&lt;s&gt;}}}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newcommand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{&lt;/s&gt;}}}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%\hat{y}_1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argmax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{L}} \,\,\,p_{\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{``Lower''} \mid y)\,p_{\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{\tau}}(y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%\hat{y}_2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argmax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{L}} \,\,\,p_{\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{``the''} \mid y)\,p_{\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{\tau}}(y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{J}})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%\hat{y}_3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argmax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{L}} \,\,\,p_{\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{``lights''} \mid y)\,p_{\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{\tau}}(y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{D}})\,p_{\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\mid y)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B(1)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topb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{L}} \,\,\,p_{\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{``Lower''} \mid y)\,p_{\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{\tau}}(y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3122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newcommand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topb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mathop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{$\max$-$b$}}}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newcommand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{&lt;s&gt;}}}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newcommand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{&lt;/s&gt;}}}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%\hat{y}_1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argmax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{L}} \,\,\,p_{\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{``Lower''} \mid y)\,p_{\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{\tau}}(y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%\hat{y}_2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argmax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{L}} \,\,\,p_{\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{``the''} \mid y)\,p_{\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{\tau}}(y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{J}})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%\hat{y}_3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argmax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{L}} \,\,\,p_{\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{``lights''} \mid y)\,p_{\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{\tau}}(y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{D}})\,p_{\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\mid y)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B(1)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topb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{L}} \,\,\,p_{\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{``Lower''} \mid y)\,p_{\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{\tau}}(y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6309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newcommand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topb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mathop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{$\max$-$b$}}}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newcommand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{&lt;s&gt;}}}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newcommand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{&lt;/s&gt;}}}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%\hat{y}_1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argmax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{L}} \,\,\,p_{\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{``Lower''} \mid y)\,p_{\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{\tau}}(y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%\hat{y}_2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argmax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{L}} \,\,\,p_{\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{``the''} \mid y)\,p_{\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{\tau}}(y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{J}})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%\hat{y}_3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argmax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{L}} \,\,\,p_{\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{``lights''} \mid y)\,p_{\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{\tau}}(y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{D}})\,p_{\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\mid y)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B(1)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topb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{L}} \,\,\,p_{\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{``Lower''} \mid y)\,p_{\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{\tau}}(y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9573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newcommand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{&lt;s&gt;}}}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newcommand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{&lt;/s&gt;}}}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\hat{y}_1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argmax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{L}} \,\,\,p_{\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{``Lower''} \mid y)\,p_{\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{\tau}}(y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\hat{y}_2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argmax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{L}} \,\,\,p_{\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{``the''} \mid y)\,p_{\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{\tau}}(y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{J}})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\hat{y}_3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argmax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{L}} \,\,\,p_{\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{``lights''} \mid y)\,p_{\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{\tau}}(y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{D}})\,p_{\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\mid y)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395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newcommand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{&lt;s&gt;}}}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newcommand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{&lt;/s&gt;}}}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\hat{y}_1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argmax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{L}} \,\,\,p_{\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{``Lower''} \mid y)\,p_{\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{\tau}}(y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\hat{y}_2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argmax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{L}} \,\,\,p_{\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{``the''} \mid y)\,p_{\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{\tau}}(y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{J}})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\hat{y}_3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argmax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{L}} \,\,\,p_{\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{``lights''} \mid y)\,p_{\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{\tau}}(y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{D}})\,p_{\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\mid y)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9372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newcommand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{&lt;s&gt;}}}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newcommand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{&lt;/s&gt;}}}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\hat{y}_1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argmax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{L}} \,\,\,p_{\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{``Lower''} \mid y)\,p_{\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{\tau}}(y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\hat{y}_2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argmax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{L}} \,\,\,p_{\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{``the''} \mid y)\,p_{\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{\tau}}(y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{J}})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\hat{y}_3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argmax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{L}} \,\,\,p_{\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{``lights''} \mid y)\,p_{\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{\tau}}(y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{D}})\,p_{\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\mid y)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77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newcommand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{&lt;s&gt;}}}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newcommand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{&lt;/s&gt;}}}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\hat{y}_1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argmax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{L}} \,\,\,p_{\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{``Lower''} \mid y)\,p_{\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{\tau}}(y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\hat{y}_2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argmax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{L}} \,\,\,p_{\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{``the''} \mid y)\,p_{\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{\tau}}(y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{J}})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\hat{y}_3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argmax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{L}} \,\,\,p_{\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{``lights''} \mid y)\,p_{\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{\tau}}(y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{D}})\,p_{\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\mid y)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5791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newcommand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{&lt;s&gt;}}}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newcommand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{&lt;/s&gt;}}}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\hat{y}_1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argmax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{L}} \,\,\,p_{\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{``Lower''} \mid y)\,p_{\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{\tau}}(y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\hat{y}_2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argmax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{L}} \,\,\,p_{\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{``the''} \mid y)\,p_{\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{\tau}}(y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{J}})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\hat{y}_3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argmax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{L}} \,\,\,p_{\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{``lights''} \mid y)\,p_{\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{\tau}}(y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{D}})\,p_{\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\mid y)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9245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newcommand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{&lt;s&gt;}}}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newcommand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{&lt;/s&gt;}}}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\hat{y}_1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argmax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{L}} \,\,\,p_{\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{``Lower''} \mid y)\,p_{\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{\tau}}(y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\hat{y}_2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argmax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{L}} \,\,\,p_{\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{``the''} \mid y)\,p_{\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{\tau}}(y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{J}})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\hat{y}_3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argmax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{L}} \,\,\,p_{\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{``lights''} \mid y)\,p_{\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{\tau}}(y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{D}})\,p_{\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\mid y)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58081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newcommand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{&lt;s&gt;}}}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newcommand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}{\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{&lt;/s&gt;}}}</a:t>
            </a:r>
          </a:p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\hat{y}_1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argmax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{L}} \,\,\,p_{\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{``Lower''} \mid y)\,p_{\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{\tau}}(y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\hat{y}_2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argmax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{L}} \,\,\,p_{\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{``the''} \mid y)\,p_{\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{\tau}}(y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{J}})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\hat{y}_3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argmax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_{y\in\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mathcal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{L}} \,\,\,p_{\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{\eta}}(\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{``lights''} \mid y)\,p_{\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{\tau}}(y \mid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mbox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texttt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{D}})\,p_{\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boldsymbol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{\tau}}(\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eos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\mid y)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39659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{classify}(\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{x},\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{\theta}) =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argmax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_{\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{y}}\;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mathrm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{score}(\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{x},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{y}, \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vect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{\theta})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18840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change max to argmax, </a:t>
            </a:r>
            <a:r>
              <a:rPr lang="en-US" dirty="0" err="1"/>
              <a:t>costClassify</a:t>
            </a:r>
            <a:r>
              <a:rPr lang="en-US" dirty="0"/>
              <a:t>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1B48C7-8E5C-9640-8445-8A9544EEA549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53302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9EE786-5231-4CAC-9122-1CD64C9192C1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0164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CD7B2-AEA0-D043-916D-6794629D2DCA}" type="datetime1">
              <a:rPr lang="en-US" smtClean="0"/>
              <a:t>5/1/19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399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68728-3264-AF4F-9CE5-FA0C8D0912D9}" type="datetime1">
              <a:rPr lang="en-US" smtClean="0"/>
              <a:t>5/1/19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946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2B400C-B81F-7045-98E0-E0086ED4BE98}" type="datetime1">
              <a:rPr lang="en-US" smtClean="0"/>
              <a:t>5/1/19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455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1F27A-F732-8B4A-9B27-686442D49E4C}" type="datetime1">
              <a:rPr lang="en-US" smtClean="0"/>
              <a:t>5/1/19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305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71ED0-786B-FC43-99CE-2369D6469C8C}" type="datetime1">
              <a:rPr lang="en-US" smtClean="0"/>
              <a:t>5/1/19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311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05BA2-5204-E043-BD0E-95E8A7C0A256}" type="datetime1">
              <a:rPr lang="en-US" smtClean="0"/>
              <a:t>5/1/19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377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FB0B10-84AC-A845-8EBB-B973F6A52188}" type="datetime1">
              <a:rPr lang="en-US" smtClean="0"/>
              <a:t>5/1/19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817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13713-D95F-9C47-88D3-6BB1CDB9F1E4}" type="datetime1">
              <a:rPr lang="en-US" smtClean="0"/>
              <a:t>5/1/19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095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6023A-8A28-1649-91E1-905AF24D9B1C}" type="datetime1">
              <a:rPr lang="en-US" smtClean="0"/>
              <a:t>5/1/19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087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BA977-597A-F949-8426-B66CA967B053}" type="datetime1">
              <a:rPr lang="en-US" smtClean="0"/>
              <a:t>5/1/19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859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14735-0AB7-1A46-9AC6-2D030CB4F2E1}" type="datetime1">
              <a:rPr lang="en-US" smtClean="0"/>
              <a:t>5/1/19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855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71398"/>
            <a:ext cx="8229600" cy="7268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73740"/>
            <a:ext cx="8229600" cy="5052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EB2050-0557-6041-8605-A9AD7CC206C9}" type="datetime1">
              <a:rPr lang="en-US" smtClean="0"/>
              <a:t>5/1/19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FF3AF9-2D61-8E40-AE3D-8390D801ED2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157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4" Type="http://schemas.openxmlformats.org/officeDocument/2006/relationships/image" Target="../media/image2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e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e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e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em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4" Type="http://schemas.openxmlformats.org/officeDocument/2006/relationships/image" Target="../media/image11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4" Type="http://schemas.openxmlformats.org/officeDocument/2006/relationships/image" Target="../media/image14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e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4" Type="http://schemas.openxmlformats.org/officeDocument/2006/relationships/image" Target="../media/image17.emf"/><Relationship Id="rId5" Type="http://schemas.openxmlformats.org/officeDocument/2006/relationships/image" Target="../media/image12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emf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emf"/><Relationship Id="rId3" Type="http://schemas.openxmlformats.org/officeDocument/2006/relationships/image" Target="../media/image19.emf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emf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emf"/><Relationship Id="rId3" Type="http://schemas.openxmlformats.org/officeDocument/2006/relationships/image" Target="../media/image21.e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4" Type="http://schemas.openxmlformats.org/officeDocument/2006/relationships/image" Target="../media/image22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emf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4" Type="http://schemas.openxmlformats.org/officeDocument/2006/relationships/image" Target="../media/image19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4" Type="http://schemas.openxmlformats.org/officeDocument/2006/relationships/image" Target="../media/image22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emf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4" Type="http://schemas.openxmlformats.org/officeDocument/2006/relationships/image" Target="../media/image22.emf"/><Relationship Id="rId5" Type="http://schemas.openxmlformats.org/officeDocument/2006/relationships/image" Target="../media/image25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emf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4" Type="http://schemas.openxmlformats.org/officeDocument/2006/relationships/image" Target="../media/image22.emf"/><Relationship Id="rId5" Type="http://schemas.openxmlformats.org/officeDocument/2006/relationships/image" Target="../media/image25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em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4" Type="http://schemas.openxmlformats.org/officeDocument/2006/relationships/image" Target="../media/image22.emf"/><Relationship Id="rId5" Type="http://schemas.openxmlformats.org/officeDocument/2006/relationships/image" Target="../media/image25.emf"/><Relationship Id="rId6" Type="http://schemas.openxmlformats.org/officeDocument/2006/relationships/image" Target="../media/image30.emf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emf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4" Type="http://schemas.openxmlformats.org/officeDocument/2006/relationships/image" Target="../media/image22.emf"/><Relationship Id="rId5" Type="http://schemas.openxmlformats.org/officeDocument/2006/relationships/image" Target="../media/image25.emf"/><Relationship Id="rId6" Type="http://schemas.openxmlformats.org/officeDocument/2006/relationships/image" Target="../media/image30.emf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90525"/>
            <a:ext cx="7772400" cy="1470025"/>
          </a:xfrm>
        </p:spPr>
        <p:txBody>
          <a:bodyPr>
            <a:normAutofit fontScale="90000"/>
          </a:bodyPr>
          <a:lstStyle/>
          <a:p>
            <a:r>
              <a:rPr lang="en-US" dirty="0"/>
              <a:t>TTIC 31210:</a:t>
            </a:r>
            <a:br>
              <a:rPr lang="en-US" dirty="0"/>
            </a:br>
            <a:r>
              <a:rPr lang="en-US" sz="4000" dirty="0"/>
              <a:t>Advanced Natural Language Processing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7515" y="1993899"/>
            <a:ext cx="8555274" cy="418106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Kevin Gimpel</a:t>
            </a:r>
          </a:p>
          <a:p>
            <a:r>
              <a:rPr lang="en-US" dirty="0">
                <a:solidFill>
                  <a:schemeClr val="tx1"/>
                </a:solidFill>
              </a:rPr>
              <a:t>Spring 2019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sz="4000" dirty="0">
                <a:solidFill>
                  <a:schemeClr val="tx1"/>
                </a:solidFill>
              </a:rPr>
              <a:t>Lecture 10:</a:t>
            </a:r>
          </a:p>
          <a:p>
            <a:r>
              <a:rPr lang="en-US" sz="4000" dirty="0">
                <a:solidFill>
                  <a:schemeClr val="tx1"/>
                </a:solidFill>
              </a:rPr>
              <a:t>Inference &amp; Learning                                 in Structured Prediction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82031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26660"/>
            <a:ext cx="8567390" cy="5334029"/>
          </a:xfrm>
        </p:spPr>
        <p:txBody>
          <a:bodyPr>
            <a:noAutofit/>
          </a:bodyPr>
          <a:lstStyle/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</a:rPr>
              <a:t>intro (1 lecture)</a:t>
            </a:r>
          </a:p>
          <a:p>
            <a:r>
              <a:rPr lang="en-US" sz="2400" dirty="0">
                <a:solidFill>
                  <a:schemeClr val="bg1">
                    <a:lumMod val="65000"/>
                  </a:schemeClr>
                </a:solidFill>
              </a:rPr>
              <a:t>deep learning for NLP (5 lectures)</a:t>
            </a:r>
          </a:p>
          <a:p>
            <a:r>
              <a:rPr lang="en-US" sz="2400" b="1" dirty="0"/>
              <a:t>structured prediction (4 lectures)</a:t>
            </a:r>
          </a:p>
          <a:p>
            <a:pPr lvl="1"/>
            <a:r>
              <a:rPr lang="en-US" sz="2000" dirty="0"/>
              <a:t>introducing/formalizing structured prediction, categories of structures</a:t>
            </a:r>
          </a:p>
          <a:p>
            <a:pPr lvl="1"/>
            <a:r>
              <a:rPr lang="en-US" sz="2000" b="1" dirty="0"/>
              <a:t>inference: dynamic programming, greedy algorithms, beam search</a:t>
            </a:r>
          </a:p>
          <a:p>
            <a:pPr lvl="1"/>
            <a:r>
              <a:rPr lang="en-US" sz="2000" b="1" dirty="0"/>
              <a:t>inference with non-local features</a:t>
            </a:r>
          </a:p>
          <a:p>
            <a:pPr lvl="1"/>
            <a:r>
              <a:rPr lang="en-US" sz="2000" b="1" dirty="0"/>
              <a:t>learning in structured prediction</a:t>
            </a:r>
          </a:p>
          <a:p>
            <a:r>
              <a:rPr lang="en-US" sz="2400" dirty="0"/>
              <a:t>generative models, latent variables, unsupervised learning, variational autoencoders (2 lectures)</a:t>
            </a:r>
          </a:p>
          <a:p>
            <a:r>
              <a:rPr lang="en-US" sz="2400" dirty="0"/>
              <a:t>Bayesian methods in NLP (2 lectures)</a:t>
            </a:r>
          </a:p>
          <a:p>
            <a:r>
              <a:rPr lang="en-US" sz="2400" dirty="0"/>
              <a:t>Bayesian </a:t>
            </a:r>
            <a:r>
              <a:rPr lang="en-US" sz="2400" dirty="0" err="1"/>
              <a:t>nonparametrics</a:t>
            </a:r>
            <a:r>
              <a:rPr lang="en-US" sz="2400" dirty="0"/>
              <a:t> in NLP (2 lectures)</a:t>
            </a:r>
          </a:p>
          <a:p>
            <a:r>
              <a:rPr lang="en-US" sz="2400" dirty="0"/>
              <a:t>review &amp; other topics (1 lecture)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55354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Assignments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7340" y="1073740"/>
            <a:ext cx="8765747" cy="5052424"/>
          </a:xfrm>
        </p:spPr>
        <p:txBody>
          <a:bodyPr/>
          <a:lstStyle/>
          <a:p>
            <a:r>
              <a:rPr lang="en-US" dirty="0"/>
              <a:t>Assignment 2 due today. Questions?</a:t>
            </a:r>
          </a:p>
          <a:p>
            <a:endParaRPr lang="en-US" dirty="0"/>
          </a:p>
          <a:p>
            <a:r>
              <a:rPr lang="en-US" dirty="0"/>
              <a:t>Assignment 3 has been posted, due two weeks from tomorrow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08703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Arrow Connector 20"/>
          <p:cNvCxnSpPr/>
          <p:nvPr/>
        </p:nvCxnSpPr>
        <p:spPr bwMode="auto">
          <a:xfrm>
            <a:off x="3590197" y="1559018"/>
            <a:ext cx="338667" cy="490999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008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" name="TextBox 21"/>
          <p:cNvSpPr txBox="1"/>
          <p:nvPr/>
        </p:nvSpPr>
        <p:spPr>
          <a:xfrm>
            <a:off x="935881" y="1097353"/>
            <a:ext cx="3315782" cy="461665"/>
          </a:xfrm>
          <a:prstGeom prst="rect">
            <a:avLst/>
          </a:prstGeom>
          <a:solidFill>
            <a:schemeClr val="bg1"/>
          </a:solidFill>
          <a:ln w="57150">
            <a:solidFill>
              <a:srgbClr val="008000"/>
            </a:solidFill>
          </a:ln>
          <a:effectLst>
            <a:softEdge rad="50800"/>
          </a:effectLst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008000"/>
                </a:solidFill>
                <a:latin typeface="Calibri"/>
                <a:cs typeface="Calibri"/>
              </a:rPr>
              <a:t>inference</a:t>
            </a:r>
            <a:r>
              <a:rPr lang="en-US" sz="2400" i="0" dirty="0">
                <a:solidFill>
                  <a:srgbClr val="008000"/>
                </a:solidFill>
                <a:latin typeface="Calibri"/>
                <a:cs typeface="Calibri"/>
              </a:rPr>
              <a:t>: solve              </a:t>
            </a:r>
            <a:r>
              <a:rPr lang="en-US" sz="2400" i="0" dirty="0">
                <a:solidFill>
                  <a:schemeClr val="bg1"/>
                </a:solidFill>
                <a:latin typeface="Calibri"/>
                <a:cs typeface="Calibri"/>
              </a:rPr>
              <a:t>_</a:t>
            </a:r>
            <a:r>
              <a:rPr lang="en-US" sz="2400" i="0" dirty="0">
                <a:solidFill>
                  <a:srgbClr val="008000"/>
                </a:solidFill>
                <a:latin typeface="Calibri"/>
                <a:cs typeface="Calibri"/>
              </a:rPr>
              <a:t> </a:t>
            </a: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4897" y="1296551"/>
            <a:ext cx="990600" cy="215900"/>
          </a:xfrm>
          <a:prstGeom prst="rect">
            <a:avLst/>
          </a:prstGeom>
        </p:spPr>
      </p:pic>
      <p:sp>
        <p:nvSpPr>
          <p:cNvPr id="19" name="Title 1">
            <a:extLst>
              <a:ext uri="{FF2B5EF4-FFF2-40B4-BE49-F238E27FC236}">
                <a16:creationId xmlns="" xmlns:a16="http://schemas.microsoft.com/office/drawing/2014/main" id="{0FB18455-30C2-4F4A-A6DC-24587ED45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71398"/>
            <a:ext cx="8229600" cy="726831"/>
          </a:xfrm>
        </p:spPr>
        <p:txBody>
          <a:bodyPr>
            <a:noAutofit/>
          </a:bodyPr>
          <a:lstStyle/>
          <a:p>
            <a:r>
              <a:rPr lang="en-US" sz="3600" dirty="0"/>
              <a:t>Inference with Structured Predictors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746" y="2092484"/>
            <a:ext cx="57531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5123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Greedy Inference</a:t>
            </a:r>
          </a:p>
        </p:txBody>
      </p:sp>
      <p:sp>
        <p:nvSpPr>
          <p:cNvPr id="5" name="Text Box 10">
            <a:extLst>
              <a:ext uri="{FF2B5EF4-FFF2-40B4-BE49-F238E27FC236}">
                <a16:creationId xmlns=""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900" y="6334780"/>
            <a:ext cx="416916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sz="2800" dirty="0">
                <a:solidFill>
                  <a:srgbClr val="288CD2"/>
                </a:solidFill>
                <a:cs typeface="Courier New"/>
              </a:rPr>
              <a:t>Lower   the   lights</a:t>
            </a:r>
          </a:p>
        </p:txBody>
      </p:sp>
      <p:sp>
        <p:nvSpPr>
          <p:cNvPr id="6" name="Text Box 10">
            <a:extLst>
              <a:ext uri="{FF2B5EF4-FFF2-40B4-BE49-F238E27FC236}">
                <a16:creationId xmlns=""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5813543"/>
            <a:ext cx="295914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sz="2800" dirty="0">
                <a:solidFill>
                  <a:srgbClr val="288CD2"/>
                </a:solidFill>
                <a:latin typeface="Courier New"/>
                <a:cs typeface="Courier New"/>
              </a:rPr>
              <a:t>  V   D   N</a:t>
            </a:r>
          </a:p>
        </p:txBody>
      </p:sp>
      <p:sp>
        <p:nvSpPr>
          <p:cNvPr id="8" name="Text Box 10">
            <a:extLst>
              <a:ext uri="{FF2B5EF4-FFF2-40B4-BE49-F238E27FC236}">
                <a16:creationId xmlns=""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2120" y="899361"/>
            <a:ext cx="648471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sz="2800" dirty="0">
                <a:solidFill>
                  <a:srgbClr val="288CD2"/>
                </a:solidFill>
                <a:cs typeface="Courier New"/>
              </a:rPr>
              <a:t>Lower                  the                 lights</a:t>
            </a:r>
          </a:p>
        </p:txBody>
      </p:sp>
      <p:sp>
        <p:nvSpPr>
          <p:cNvPr id="10" name="Text Box 10">
            <a:extLst>
              <a:ext uri="{FF2B5EF4-FFF2-40B4-BE49-F238E27FC236}">
                <a16:creationId xmlns=""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323" y="1844999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288CD2"/>
                </a:solidFill>
                <a:latin typeface="Courier New"/>
                <a:cs typeface="Courier New"/>
              </a:rPr>
              <a:t>&lt;s&gt;</a:t>
            </a:r>
          </a:p>
        </p:txBody>
      </p:sp>
      <p:sp>
        <p:nvSpPr>
          <p:cNvPr id="12" name="Text Box 10">
            <a:extLst>
              <a:ext uri="{FF2B5EF4-FFF2-40B4-BE49-F238E27FC236}">
                <a16:creationId xmlns=""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78060" y="1844999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288CD2"/>
                </a:solidFill>
                <a:latin typeface="Courier New"/>
                <a:cs typeface="Courier New"/>
              </a:rPr>
              <a:t>J</a:t>
            </a:r>
          </a:p>
        </p:txBody>
      </p:sp>
      <p:cxnSp>
        <p:nvCxnSpPr>
          <p:cNvPr id="13" name="Straight Arrow Connector 12"/>
          <p:cNvCxnSpPr/>
          <p:nvPr/>
        </p:nvCxnSpPr>
        <p:spPr bwMode="auto">
          <a:xfrm flipV="1">
            <a:off x="1293877" y="2600019"/>
            <a:ext cx="4408717" cy="1434069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4" name="Text Box 10">
            <a:extLst>
              <a:ext uri="{FF2B5EF4-FFF2-40B4-BE49-F238E27FC236}">
                <a16:creationId xmlns=""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8126" y="1844999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288CD2"/>
                </a:solidFill>
                <a:latin typeface="Courier New"/>
                <a:cs typeface="Courier New"/>
              </a:rPr>
              <a:t>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02594" y="1689413"/>
            <a:ext cx="910506" cy="910606"/>
          </a:xfrm>
          <a:prstGeom prst="rect">
            <a:avLst/>
          </a:prstGeom>
          <a:noFill/>
          <a:ln w="38100" cmpd="sng">
            <a:solidFill>
              <a:srgbClr val="288C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 Box 10">
            <a:extLst>
              <a:ext uri="{FF2B5EF4-FFF2-40B4-BE49-F238E27FC236}">
                <a16:creationId xmlns=""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2594" y="1844999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288CD2"/>
                </a:solidFill>
                <a:latin typeface="Courier New"/>
                <a:cs typeface="Courier New"/>
              </a:rPr>
              <a:t>N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492" y="4034088"/>
            <a:ext cx="7975600" cy="622300"/>
          </a:xfrm>
          <a:prstGeom prst="rect">
            <a:avLst/>
          </a:prstGeom>
        </p:spPr>
      </p:pic>
      <p:sp>
        <p:nvSpPr>
          <p:cNvPr id="24" name="Text Box 10">
            <a:extLst>
              <a:ext uri="{FF2B5EF4-FFF2-40B4-BE49-F238E27FC236}">
                <a16:creationId xmlns=""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7559" y="1844999"/>
            <a:ext cx="115680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288CD2"/>
                </a:solidFill>
                <a:latin typeface="Courier New"/>
                <a:cs typeface="Courier New"/>
              </a:rPr>
              <a:t>&lt;/s&gt;</a:t>
            </a:r>
          </a:p>
        </p:txBody>
      </p:sp>
    </p:spTree>
    <p:extLst>
      <p:ext uri="{BB962C8B-B14F-4D97-AF65-F5344CB8AC3E}">
        <p14:creationId xmlns:p14="http://schemas.microsoft.com/office/powerpoint/2010/main" val="119160492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Beam Search (beam size </a:t>
            </a:r>
            <a:r>
              <a:rPr lang="en-US" i="1" dirty="0"/>
              <a:t>b</a:t>
            </a:r>
            <a:r>
              <a:rPr lang="en-US" dirty="0"/>
              <a:t> = 2)</a:t>
            </a:r>
          </a:p>
        </p:txBody>
      </p:sp>
      <p:sp>
        <p:nvSpPr>
          <p:cNvPr id="7" name="Rectangle 6"/>
          <p:cNvSpPr/>
          <p:nvPr/>
        </p:nvSpPr>
        <p:spPr>
          <a:xfrm>
            <a:off x="202030" y="1689413"/>
            <a:ext cx="910506" cy="910606"/>
          </a:xfrm>
          <a:prstGeom prst="rect">
            <a:avLst/>
          </a:prstGeom>
          <a:noFill/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Box 10">
            <a:extLst>
              <a:ext uri="{FF2B5EF4-FFF2-40B4-BE49-F238E27FC236}">
                <a16:creationId xmlns=""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2120" y="899361"/>
            <a:ext cx="648471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sz="2800" dirty="0">
                <a:solidFill>
                  <a:srgbClr val="288CD2"/>
                </a:solidFill>
                <a:cs typeface="Courier New"/>
              </a:rPr>
              <a:t>Lower                  the                 lights</a:t>
            </a:r>
          </a:p>
        </p:txBody>
      </p:sp>
      <p:sp>
        <p:nvSpPr>
          <p:cNvPr id="10" name="Text Box 10">
            <a:extLst>
              <a:ext uri="{FF2B5EF4-FFF2-40B4-BE49-F238E27FC236}">
                <a16:creationId xmlns=""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323" y="1844999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BC0000"/>
                </a:solidFill>
                <a:latin typeface="Courier New"/>
                <a:cs typeface="Courier New"/>
              </a:rPr>
              <a:t>&lt;s&gt;</a:t>
            </a:r>
          </a:p>
        </p:txBody>
      </p:sp>
      <p:cxnSp>
        <p:nvCxnSpPr>
          <p:cNvPr id="13" name="Straight Arrow Connector 12"/>
          <p:cNvCxnSpPr/>
          <p:nvPr/>
        </p:nvCxnSpPr>
        <p:spPr bwMode="auto">
          <a:xfrm flipH="1" flipV="1">
            <a:off x="655576" y="2600019"/>
            <a:ext cx="446616" cy="822632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BC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" name="Text Box 10">
            <a:extLst>
              <a:ext uri="{FF2B5EF4-FFF2-40B4-BE49-F238E27FC236}">
                <a16:creationId xmlns=""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400134"/>
            <a:ext cx="2023924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sz="2800" dirty="0">
                <a:solidFill>
                  <a:srgbClr val="BC0000"/>
                </a:solidFill>
                <a:cs typeface="Courier New"/>
              </a:rPr>
              <a:t>starting hypothesis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12536" y="1689413"/>
            <a:ext cx="249644" cy="910606"/>
          </a:xfrm>
          <a:prstGeom prst="rect">
            <a:avLst/>
          </a:prstGeom>
          <a:solidFill>
            <a:srgbClr val="BC0000"/>
          </a:solidFill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 rot="16200000">
            <a:off x="4202077" y="2735131"/>
            <a:ext cx="622978" cy="6547337"/>
          </a:xfrm>
          <a:prstGeom prst="rect">
            <a:avLst/>
          </a:prstGeom>
          <a:gradFill>
            <a:gsLst>
              <a:gs pos="0">
                <a:srgbClr val="BC0000"/>
              </a:gs>
              <a:gs pos="100000">
                <a:schemeClr val="bg1"/>
              </a:gs>
            </a:gsLst>
          </a:gra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 Box 10">
            <a:extLst>
              <a:ext uri="{FF2B5EF4-FFF2-40B4-BE49-F238E27FC236}">
                <a16:creationId xmlns=""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9897" y="5109270"/>
            <a:ext cx="163834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sz="2800" dirty="0">
                <a:solidFill>
                  <a:srgbClr val="BC0000"/>
                </a:solidFill>
                <a:cs typeface="Courier New"/>
              </a:rPr>
              <a:t>low score</a:t>
            </a:r>
          </a:p>
        </p:txBody>
      </p:sp>
      <p:sp>
        <p:nvSpPr>
          <p:cNvPr id="23" name="Text Box 10">
            <a:extLst>
              <a:ext uri="{FF2B5EF4-FFF2-40B4-BE49-F238E27FC236}">
                <a16:creationId xmlns=""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1967" y="5110993"/>
            <a:ext cx="166526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sz="2800" dirty="0">
                <a:solidFill>
                  <a:srgbClr val="BC0000"/>
                </a:solidFill>
                <a:cs typeface="Courier New"/>
              </a:rPr>
              <a:t>high score</a:t>
            </a:r>
          </a:p>
        </p:txBody>
      </p:sp>
      <p:cxnSp>
        <p:nvCxnSpPr>
          <p:cNvPr id="24" name="Straight Arrow Connector 23"/>
          <p:cNvCxnSpPr>
            <a:endCxn id="17" idx="3"/>
          </p:cNvCxnSpPr>
          <p:nvPr/>
        </p:nvCxnSpPr>
        <p:spPr bwMode="auto">
          <a:xfrm flipH="1" flipV="1">
            <a:off x="1362180" y="2144716"/>
            <a:ext cx="1033023" cy="547974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BC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5" name="Text Box 10">
            <a:extLst>
              <a:ext uri="{FF2B5EF4-FFF2-40B4-BE49-F238E27FC236}">
                <a16:creationId xmlns=""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1124" y="2368219"/>
            <a:ext cx="2023924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sz="2800" dirty="0">
                <a:solidFill>
                  <a:srgbClr val="BC0000"/>
                </a:solidFill>
                <a:cs typeface="Courier New"/>
              </a:rPr>
              <a:t>score of hypothesis</a:t>
            </a:r>
          </a:p>
        </p:txBody>
      </p:sp>
    </p:spTree>
    <p:extLst>
      <p:ext uri="{BB962C8B-B14F-4D97-AF65-F5344CB8AC3E}">
        <p14:creationId xmlns:p14="http://schemas.microsoft.com/office/powerpoint/2010/main" val="131763644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Extend Hypotheses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02030" y="1689413"/>
            <a:ext cx="910506" cy="910606"/>
          </a:xfrm>
          <a:prstGeom prst="rect">
            <a:avLst/>
          </a:prstGeom>
          <a:noFill/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Box 10">
            <a:extLst>
              <a:ext uri="{FF2B5EF4-FFF2-40B4-BE49-F238E27FC236}">
                <a16:creationId xmlns=""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6600" y="899361"/>
            <a:ext cx="648471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sz="2800" dirty="0">
                <a:solidFill>
                  <a:srgbClr val="288CD2"/>
                </a:solidFill>
                <a:cs typeface="Courier New"/>
              </a:rPr>
              <a:t>Lower                  the                 lights</a:t>
            </a:r>
          </a:p>
        </p:txBody>
      </p:sp>
      <p:sp>
        <p:nvSpPr>
          <p:cNvPr id="10" name="Text Box 10">
            <a:extLst>
              <a:ext uri="{FF2B5EF4-FFF2-40B4-BE49-F238E27FC236}">
                <a16:creationId xmlns=""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323" y="1844999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BC0000"/>
                </a:solidFill>
                <a:latin typeface="Courier New"/>
                <a:cs typeface="Courier New"/>
              </a:rPr>
              <a:t>&lt;s&gt;</a:t>
            </a:r>
          </a:p>
        </p:txBody>
      </p:sp>
      <p:cxnSp>
        <p:nvCxnSpPr>
          <p:cNvPr id="13" name="Straight Arrow Connector 12"/>
          <p:cNvCxnSpPr>
            <a:stCxn id="17" idx="3"/>
            <a:endCxn id="21" idx="1"/>
          </p:cNvCxnSpPr>
          <p:nvPr/>
        </p:nvCxnSpPr>
        <p:spPr bwMode="auto">
          <a:xfrm>
            <a:off x="1362180" y="2144716"/>
            <a:ext cx="811364" cy="800115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BC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" name="Rectangle 16"/>
          <p:cNvSpPr/>
          <p:nvPr/>
        </p:nvSpPr>
        <p:spPr>
          <a:xfrm>
            <a:off x="1112536" y="1689413"/>
            <a:ext cx="249644" cy="910606"/>
          </a:xfrm>
          <a:prstGeom prst="rect">
            <a:avLst/>
          </a:prstGeom>
          <a:solidFill>
            <a:srgbClr val="BC0000"/>
          </a:solidFill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 rot="16200000">
            <a:off x="2058526" y="4377596"/>
            <a:ext cx="437996" cy="4452264"/>
          </a:xfrm>
          <a:prstGeom prst="rect">
            <a:avLst/>
          </a:prstGeom>
          <a:gradFill>
            <a:gsLst>
              <a:gs pos="0">
                <a:srgbClr val="BC0000"/>
              </a:gs>
              <a:gs pos="100000">
                <a:schemeClr val="bg1"/>
              </a:gs>
            </a:gsLst>
          </a:gra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 Box 10">
            <a:extLst>
              <a:ext uri="{FF2B5EF4-FFF2-40B4-BE49-F238E27FC236}">
                <a16:creationId xmlns=""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389" y="5788080"/>
            <a:ext cx="163834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sz="2800" dirty="0">
                <a:solidFill>
                  <a:srgbClr val="BC0000"/>
                </a:solidFill>
                <a:cs typeface="Courier New"/>
              </a:rPr>
              <a:t>low score</a:t>
            </a:r>
          </a:p>
        </p:txBody>
      </p:sp>
      <p:sp>
        <p:nvSpPr>
          <p:cNvPr id="23" name="Text Box 10">
            <a:extLst>
              <a:ext uri="{FF2B5EF4-FFF2-40B4-BE49-F238E27FC236}">
                <a16:creationId xmlns=""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7896" y="5789803"/>
            <a:ext cx="166526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sz="2800" dirty="0">
                <a:solidFill>
                  <a:srgbClr val="BC0000"/>
                </a:solidFill>
                <a:cs typeface="Courier New"/>
              </a:rPr>
              <a:t>high score</a:t>
            </a:r>
          </a:p>
        </p:txBody>
      </p:sp>
      <p:cxnSp>
        <p:nvCxnSpPr>
          <p:cNvPr id="24" name="Straight Arrow Connector 23"/>
          <p:cNvCxnSpPr>
            <a:stCxn id="17" idx="3"/>
          </p:cNvCxnSpPr>
          <p:nvPr/>
        </p:nvCxnSpPr>
        <p:spPr bwMode="auto">
          <a:xfrm flipV="1">
            <a:off x="1362180" y="1825057"/>
            <a:ext cx="811364" cy="319659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BC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" name="Rectangle 14"/>
          <p:cNvSpPr/>
          <p:nvPr/>
        </p:nvSpPr>
        <p:spPr>
          <a:xfrm>
            <a:off x="2173544" y="1578922"/>
            <a:ext cx="910506" cy="910606"/>
          </a:xfrm>
          <a:prstGeom prst="rect">
            <a:avLst/>
          </a:prstGeom>
          <a:noFill/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 Box 10">
            <a:extLst>
              <a:ext uri="{FF2B5EF4-FFF2-40B4-BE49-F238E27FC236}">
                <a16:creationId xmlns=""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3544" y="1734508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BC0000"/>
                </a:solidFill>
                <a:latin typeface="Courier New"/>
                <a:cs typeface="Courier New"/>
              </a:rPr>
              <a:t>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73544" y="2489528"/>
            <a:ext cx="910506" cy="910606"/>
          </a:xfrm>
          <a:prstGeom prst="rect">
            <a:avLst/>
          </a:prstGeom>
          <a:noFill/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Box 10">
            <a:extLst>
              <a:ext uri="{FF2B5EF4-FFF2-40B4-BE49-F238E27FC236}">
                <a16:creationId xmlns=""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2181" y="2641752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BC0000"/>
                </a:solidFill>
                <a:latin typeface="Courier New"/>
                <a:cs typeface="Courier New"/>
              </a:rPr>
              <a:t>V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71252" y="3398144"/>
            <a:ext cx="910506" cy="910606"/>
          </a:xfrm>
          <a:prstGeom prst="rect">
            <a:avLst/>
          </a:prstGeom>
          <a:noFill/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 Box 10">
            <a:extLst>
              <a:ext uri="{FF2B5EF4-FFF2-40B4-BE49-F238E27FC236}">
                <a16:creationId xmlns=""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9889" y="3550368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BC0000"/>
                </a:solidFill>
                <a:latin typeface="Courier New"/>
                <a:cs typeface="Courier New"/>
              </a:rPr>
              <a:t>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76666" y="4301765"/>
            <a:ext cx="910506" cy="910606"/>
          </a:xfrm>
          <a:prstGeom prst="rect">
            <a:avLst/>
          </a:prstGeom>
          <a:noFill/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 Box 10">
            <a:extLst>
              <a:ext uri="{FF2B5EF4-FFF2-40B4-BE49-F238E27FC236}">
                <a16:creationId xmlns=""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5303" y="4453989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BC0000"/>
                </a:solidFill>
                <a:latin typeface="Courier New"/>
                <a:cs typeface="Courier New"/>
              </a:rPr>
              <a:t>J</a:t>
            </a:r>
          </a:p>
        </p:txBody>
      </p:sp>
      <p:cxnSp>
        <p:nvCxnSpPr>
          <p:cNvPr id="30" name="Straight Arrow Connector 29"/>
          <p:cNvCxnSpPr>
            <a:stCxn id="17" idx="3"/>
          </p:cNvCxnSpPr>
          <p:nvPr/>
        </p:nvCxnSpPr>
        <p:spPr bwMode="auto">
          <a:xfrm>
            <a:off x="1362180" y="2144716"/>
            <a:ext cx="823123" cy="1734382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BC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" name="Straight Arrow Connector 30"/>
          <p:cNvCxnSpPr>
            <a:endCxn id="29" idx="1"/>
          </p:cNvCxnSpPr>
          <p:nvPr/>
        </p:nvCxnSpPr>
        <p:spPr bwMode="auto">
          <a:xfrm>
            <a:off x="1362180" y="2123202"/>
            <a:ext cx="823123" cy="2592397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BC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2" name="Rectangle 31"/>
          <p:cNvSpPr/>
          <p:nvPr/>
        </p:nvSpPr>
        <p:spPr>
          <a:xfrm>
            <a:off x="3087172" y="2489672"/>
            <a:ext cx="249644" cy="910606"/>
          </a:xfrm>
          <a:prstGeom prst="rect">
            <a:avLst/>
          </a:prstGeom>
          <a:solidFill>
            <a:srgbClr val="FF8C8C"/>
          </a:solidFill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3087172" y="1579066"/>
            <a:ext cx="249644" cy="910606"/>
          </a:xfrm>
          <a:prstGeom prst="rect">
            <a:avLst/>
          </a:prstGeom>
          <a:solidFill>
            <a:srgbClr val="FFC2C2"/>
          </a:solidFill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3091232" y="4301802"/>
            <a:ext cx="249644" cy="910606"/>
          </a:xfrm>
          <a:prstGeom prst="rect">
            <a:avLst/>
          </a:prstGeom>
          <a:solidFill>
            <a:srgbClr val="EB0000"/>
          </a:solidFill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3091232" y="3402917"/>
            <a:ext cx="249644" cy="910606"/>
          </a:xfrm>
          <a:prstGeom prst="rect">
            <a:avLst/>
          </a:prstGeom>
          <a:solidFill>
            <a:schemeClr val="bg1"/>
          </a:solidFill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 Box 10">
            <a:extLst>
              <a:ext uri="{FF2B5EF4-FFF2-40B4-BE49-F238E27FC236}">
                <a16:creationId xmlns=""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1089" y="1476756"/>
            <a:ext cx="49182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sz="2800" dirty="0">
                <a:solidFill>
                  <a:srgbClr val="BC0000"/>
                </a:solidFill>
                <a:cs typeface="Courier New"/>
              </a:rPr>
              <a:t>scores of extended hypotheses:</a:t>
            </a:r>
          </a:p>
        </p:txBody>
      </p:sp>
      <p:pic>
        <p:nvPicPr>
          <p:cNvPr id="40" name="Picture 3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1091" y="2093176"/>
            <a:ext cx="5619391" cy="34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89701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20" grpId="0"/>
      <p:bldP spid="21" grpId="0" animBg="1"/>
      <p:bldP spid="22" grpId="0"/>
      <p:bldP spid="26" grpId="0" animBg="1"/>
      <p:bldP spid="27" grpId="0"/>
      <p:bldP spid="28" grpId="0" animBg="1"/>
      <p:bldP spid="29" grpId="0"/>
      <p:bldP spid="32" grpId="0" animBg="1"/>
      <p:bldP spid="33" grpId="0" animBg="1"/>
      <p:bldP spid="34" grpId="0" animBg="1"/>
      <p:bldP spid="35" grpId="0" animBg="1"/>
      <p:bldP spid="3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Prune Hypotheses (</a:t>
            </a:r>
            <a:r>
              <a:rPr lang="en-US" i="1" dirty="0"/>
              <a:t>b</a:t>
            </a:r>
            <a:r>
              <a:rPr lang="en-US" dirty="0"/>
              <a:t> = 2)</a:t>
            </a:r>
          </a:p>
        </p:txBody>
      </p:sp>
      <p:sp>
        <p:nvSpPr>
          <p:cNvPr id="7" name="Rectangle 6"/>
          <p:cNvSpPr/>
          <p:nvPr/>
        </p:nvSpPr>
        <p:spPr>
          <a:xfrm>
            <a:off x="202030" y="1689413"/>
            <a:ext cx="910506" cy="910606"/>
          </a:xfrm>
          <a:prstGeom prst="rect">
            <a:avLst/>
          </a:prstGeom>
          <a:noFill/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Box 10">
            <a:extLst>
              <a:ext uri="{FF2B5EF4-FFF2-40B4-BE49-F238E27FC236}">
                <a16:creationId xmlns=""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6600" y="899361"/>
            <a:ext cx="648471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sz="2800" dirty="0">
                <a:solidFill>
                  <a:srgbClr val="288CD2"/>
                </a:solidFill>
                <a:cs typeface="Courier New"/>
              </a:rPr>
              <a:t>Lower                  the                 lights</a:t>
            </a:r>
          </a:p>
        </p:txBody>
      </p:sp>
      <p:sp>
        <p:nvSpPr>
          <p:cNvPr id="10" name="Text Box 10">
            <a:extLst>
              <a:ext uri="{FF2B5EF4-FFF2-40B4-BE49-F238E27FC236}">
                <a16:creationId xmlns=""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323" y="1844999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BC0000"/>
                </a:solidFill>
                <a:latin typeface="Courier New"/>
                <a:cs typeface="Courier New"/>
              </a:rPr>
              <a:t>&lt;s&gt;</a:t>
            </a:r>
          </a:p>
        </p:txBody>
      </p:sp>
      <p:cxnSp>
        <p:nvCxnSpPr>
          <p:cNvPr id="13" name="Straight Arrow Connector 12"/>
          <p:cNvCxnSpPr>
            <a:stCxn id="17" idx="3"/>
            <a:endCxn id="21" idx="1"/>
          </p:cNvCxnSpPr>
          <p:nvPr/>
        </p:nvCxnSpPr>
        <p:spPr bwMode="auto">
          <a:xfrm>
            <a:off x="1362180" y="2144716"/>
            <a:ext cx="811364" cy="800115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BC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" name="Rectangle 16"/>
          <p:cNvSpPr/>
          <p:nvPr/>
        </p:nvSpPr>
        <p:spPr>
          <a:xfrm>
            <a:off x="1112536" y="1689413"/>
            <a:ext cx="249644" cy="910606"/>
          </a:xfrm>
          <a:prstGeom prst="rect">
            <a:avLst/>
          </a:prstGeom>
          <a:solidFill>
            <a:srgbClr val="BC0000"/>
          </a:solidFill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/>
          <p:cNvCxnSpPr>
            <a:stCxn id="17" idx="3"/>
          </p:cNvCxnSpPr>
          <p:nvPr/>
        </p:nvCxnSpPr>
        <p:spPr bwMode="auto">
          <a:xfrm flipV="1">
            <a:off x="1362180" y="1825057"/>
            <a:ext cx="811364" cy="319659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BC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" name="Rectangle 14"/>
          <p:cNvSpPr/>
          <p:nvPr/>
        </p:nvSpPr>
        <p:spPr>
          <a:xfrm>
            <a:off x="2173544" y="1578922"/>
            <a:ext cx="910506" cy="910606"/>
          </a:xfrm>
          <a:prstGeom prst="rect">
            <a:avLst/>
          </a:prstGeom>
          <a:noFill/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 Box 10">
            <a:extLst>
              <a:ext uri="{FF2B5EF4-FFF2-40B4-BE49-F238E27FC236}">
                <a16:creationId xmlns=""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3544" y="1734508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BC0000"/>
                </a:solidFill>
                <a:latin typeface="Courier New"/>
                <a:cs typeface="Courier New"/>
              </a:rPr>
              <a:t>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73544" y="2489528"/>
            <a:ext cx="910506" cy="910606"/>
          </a:xfrm>
          <a:prstGeom prst="rect">
            <a:avLst/>
          </a:prstGeom>
          <a:noFill/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Box 10">
            <a:extLst>
              <a:ext uri="{FF2B5EF4-FFF2-40B4-BE49-F238E27FC236}">
                <a16:creationId xmlns=""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2181" y="2641752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BC0000"/>
                </a:solidFill>
                <a:latin typeface="Courier New"/>
                <a:cs typeface="Courier New"/>
              </a:rPr>
              <a:t>V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71252" y="3398144"/>
            <a:ext cx="910506" cy="910606"/>
          </a:xfrm>
          <a:prstGeom prst="rect">
            <a:avLst/>
          </a:prstGeom>
          <a:noFill/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 Box 10">
            <a:extLst>
              <a:ext uri="{FF2B5EF4-FFF2-40B4-BE49-F238E27FC236}">
                <a16:creationId xmlns=""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9889" y="3550368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BC0000"/>
                </a:solidFill>
                <a:latin typeface="Courier New"/>
                <a:cs typeface="Courier New"/>
              </a:rPr>
              <a:t>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76666" y="4301765"/>
            <a:ext cx="910506" cy="910606"/>
          </a:xfrm>
          <a:prstGeom prst="rect">
            <a:avLst/>
          </a:prstGeom>
          <a:noFill/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 Box 10">
            <a:extLst>
              <a:ext uri="{FF2B5EF4-FFF2-40B4-BE49-F238E27FC236}">
                <a16:creationId xmlns=""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5303" y="4453989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BC0000"/>
                </a:solidFill>
                <a:latin typeface="Courier New"/>
                <a:cs typeface="Courier New"/>
              </a:rPr>
              <a:t>J</a:t>
            </a:r>
          </a:p>
        </p:txBody>
      </p:sp>
      <p:cxnSp>
        <p:nvCxnSpPr>
          <p:cNvPr id="30" name="Straight Arrow Connector 29"/>
          <p:cNvCxnSpPr>
            <a:stCxn id="17" idx="3"/>
          </p:cNvCxnSpPr>
          <p:nvPr/>
        </p:nvCxnSpPr>
        <p:spPr bwMode="auto">
          <a:xfrm>
            <a:off x="1362180" y="2144716"/>
            <a:ext cx="823123" cy="1734382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BC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" name="Straight Arrow Connector 30"/>
          <p:cNvCxnSpPr>
            <a:endCxn id="29" idx="1"/>
          </p:cNvCxnSpPr>
          <p:nvPr/>
        </p:nvCxnSpPr>
        <p:spPr bwMode="auto">
          <a:xfrm>
            <a:off x="1362180" y="2123202"/>
            <a:ext cx="823123" cy="2592397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BC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2" name="Rectangle 31"/>
          <p:cNvSpPr/>
          <p:nvPr/>
        </p:nvSpPr>
        <p:spPr>
          <a:xfrm>
            <a:off x="3087172" y="2489672"/>
            <a:ext cx="249644" cy="910606"/>
          </a:xfrm>
          <a:prstGeom prst="rect">
            <a:avLst/>
          </a:prstGeom>
          <a:solidFill>
            <a:srgbClr val="FF8C8C"/>
          </a:solidFill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3087172" y="1579066"/>
            <a:ext cx="249644" cy="910606"/>
          </a:xfrm>
          <a:prstGeom prst="rect">
            <a:avLst/>
          </a:prstGeom>
          <a:solidFill>
            <a:srgbClr val="FFC2C2"/>
          </a:solidFill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3091232" y="4301802"/>
            <a:ext cx="249644" cy="910606"/>
          </a:xfrm>
          <a:prstGeom prst="rect">
            <a:avLst/>
          </a:prstGeom>
          <a:solidFill>
            <a:srgbClr val="EB0000"/>
          </a:solidFill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3091232" y="3402917"/>
            <a:ext cx="249644" cy="910606"/>
          </a:xfrm>
          <a:prstGeom prst="rect">
            <a:avLst/>
          </a:prstGeom>
          <a:solidFill>
            <a:schemeClr val="bg1"/>
          </a:solidFill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 Box 10">
            <a:extLst>
              <a:ext uri="{FF2B5EF4-FFF2-40B4-BE49-F238E27FC236}">
                <a16:creationId xmlns=""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0530" y="1587035"/>
            <a:ext cx="546347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sz="2800" dirty="0">
                <a:cs typeface="Courier New"/>
              </a:rPr>
              <a:t>keep top </a:t>
            </a:r>
            <a:r>
              <a:rPr lang="en-US" altLang="ja-JP" sz="2800" i="1" dirty="0">
                <a:cs typeface="Courier New"/>
              </a:rPr>
              <a:t>b</a:t>
            </a:r>
            <a:r>
              <a:rPr lang="en-US" altLang="ja-JP" sz="2800" dirty="0">
                <a:cs typeface="Courier New"/>
              </a:rPr>
              <a:t> hypotheses</a:t>
            </a:r>
          </a:p>
        </p:txBody>
      </p:sp>
      <p:sp>
        <p:nvSpPr>
          <p:cNvPr id="40" name="Rectangle 39"/>
          <p:cNvSpPr/>
          <p:nvPr/>
        </p:nvSpPr>
        <p:spPr>
          <a:xfrm rot="16200000">
            <a:off x="2058526" y="4377596"/>
            <a:ext cx="437996" cy="4452264"/>
          </a:xfrm>
          <a:prstGeom prst="rect">
            <a:avLst/>
          </a:prstGeom>
          <a:gradFill>
            <a:gsLst>
              <a:gs pos="0">
                <a:srgbClr val="BC0000"/>
              </a:gs>
              <a:gs pos="100000">
                <a:schemeClr val="bg1"/>
              </a:gs>
            </a:gsLst>
          </a:gra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 Box 10">
            <a:extLst>
              <a:ext uri="{FF2B5EF4-FFF2-40B4-BE49-F238E27FC236}">
                <a16:creationId xmlns=""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389" y="5788080"/>
            <a:ext cx="163834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sz="2800" dirty="0">
                <a:solidFill>
                  <a:srgbClr val="BC0000"/>
                </a:solidFill>
                <a:cs typeface="Courier New"/>
              </a:rPr>
              <a:t>low score</a:t>
            </a:r>
          </a:p>
        </p:txBody>
      </p:sp>
      <p:sp>
        <p:nvSpPr>
          <p:cNvPr id="42" name="Text Box 10">
            <a:extLst>
              <a:ext uri="{FF2B5EF4-FFF2-40B4-BE49-F238E27FC236}">
                <a16:creationId xmlns=""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7896" y="5789803"/>
            <a:ext cx="166526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sz="2800" dirty="0">
                <a:solidFill>
                  <a:srgbClr val="BC0000"/>
                </a:solidFill>
                <a:cs typeface="Courier New"/>
              </a:rPr>
              <a:t>high score</a:t>
            </a:r>
          </a:p>
        </p:txBody>
      </p:sp>
    </p:spTree>
    <p:extLst>
      <p:ext uri="{BB962C8B-B14F-4D97-AF65-F5344CB8AC3E}">
        <p14:creationId xmlns:p14="http://schemas.microsoft.com/office/powerpoint/2010/main" val="282205109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1" animBg="1"/>
      <p:bldP spid="20" grpId="1"/>
      <p:bldP spid="26" grpId="1" animBg="1"/>
      <p:bldP spid="27" grpId="1"/>
      <p:bldP spid="33" grpId="1" animBg="1"/>
      <p:bldP spid="35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Prune Hypotheses (</a:t>
            </a:r>
            <a:r>
              <a:rPr lang="en-US" i="1" dirty="0"/>
              <a:t>b</a:t>
            </a:r>
            <a:r>
              <a:rPr lang="en-US" dirty="0"/>
              <a:t> = 2)</a:t>
            </a:r>
          </a:p>
        </p:txBody>
      </p:sp>
      <p:sp>
        <p:nvSpPr>
          <p:cNvPr id="7" name="Rectangle 6"/>
          <p:cNvSpPr/>
          <p:nvPr/>
        </p:nvSpPr>
        <p:spPr>
          <a:xfrm>
            <a:off x="202030" y="1689413"/>
            <a:ext cx="910506" cy="910606"/>
          </a:xfrm>
          <a:prstGeom prst="rect">
            <a:avLst/>
          </a:prstGeom>
          <a:noFill/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Box 10">
            <a:extLst>
              <a:ext uri="{FF2B5EF4-FFF2-40B4-BE49-F238E27FC236}">
                <a16:creationId xmlns=""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6600" y="899361"/>
            <a:ext cx="648471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sz="2800" dirty="0">
                <a:solidFill>
                  <a:srgbClr val="288CD2"/>
                </a:solidFill>
                <a:cs typeface="Courier New"/>
              </a:rPr>
              <a:t>Lower                  the                 lights</a:t>
            </a:r>
          </a:p>
        </p:txBody>
      </p:sp>
      <p:sp>
        <p:nvSpPr>
          <p:cNvPr id="10" name="Text Box 10">
            <a:extLst>
              <a:ext uri="{FF2B5EF4-FFF2-40B4-BE49-F238E27FC236}">
                <a16:creationId xmlns=""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323" y="1844999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BC0000"/>
                </a:solidFill>
                <a:latin typeface="Courier New"/>
                <a:cs typeface="Courier New"/>
              </a:rPr>
              <a:t>&lt;s&gt;</a:t>
            </a:r>
          </a:p>
        </p:txBody>
      </p:sp>
      <p:cxnSp>
        <p:nvCxnSpPr>
          <p:cNvPr id="13" name="Straight Arrow Connector 12"/>
          <p:cNvCxnSpPr>
            <a:stCxn id="17" idx="3"/>
            <a:endCxn id="21" idx="1"/>
          </p:cNvCxnSpPr>
          <p:nvPr/>
        </p:nvCxnSpPr>
        <p:spPr bwMode="auto">
          <a:xfrm>
            <a:off x="1362180" y="2144716"/>
            <a:ext cx="811364" cy="0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BC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" name="Rectangle 16"/>
          <p:cNvSpPr/>
          <p:nvPr/>
        </p:nvSpPr>
        <p:spPr>
          <a:xfrm>
            <a:off x="1112536" y="1689413"/>
            <a:ext cx="249644" cy="910606"/>
          </a:xfrm>
          <a:prstGeom prst="rect">
            <a:avLst/>
          </a:prstGeom>
          <a:solidFill>
            <a:srgbClr val="BC0000"/>
          </a:solidFill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2173544" y="1689413"/>
            <a:ext cx="910506" cy="910606"/>
          </a:xfrm>
          <a:prstGeom prst="rect">
            <a:avLst/>
          </a:prstGeom>
          <a:noFill/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Box 10">
            <a:extLst>
              <a:ext uri="{FF2B5EF4-FFF2-40B4-BE49-F238E27FC236}">
                <a16:creationId xmlns=""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2181" y="1841637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BC0000"/>
                </a:solidFill>
                <a:latin typeface="Courier New"/>
                <a:cs typeface="Courier New"/>
              </a:rPr>
              <a:t>V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76666" y="2597855"/>
            <a:ext cx="910506" cy="910606"/>
          </a:xfrm>
          <a:prstGeom prst="rect">
            <a:avLst/>
          </a:prstGeom>
          <a:noFill/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 Box 10">
            <a:extLst>
              <a:ext uri="{FF2B5EF4-FFF2-40B4-BE49-F238E27FC236}">
                <a16:creationId xmlns=""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5303" y="2750079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BC0000"/>
                </a:solidFill>
                <a:latin typeface="Courier New"/>
                <a:cs typeface="Courier New"/>
              </a:rPr>
              <a:t>J</a:t>
            </a:r>
          </a:p>
        </p:txBody>
      </p:sp>
      <p:cxnSp>
        <p:nvCxnSpPr>
          <p:cNvPr id="30" name="Straight Arrow Connector 29"/>
          <p:cNvCxnSpPr>
            <a:stCxn id="17" idx="3"/>
            <a:endCxn id="28" idx="1"/>
          </p:cNvCxnSpPr>
          <p:nvPr/>
        </p:nvCxnSpPr>
        <p:spPr bwMode="auto">
          <a:xfrm>
            <a:off x="1362180" y="2144716"/>
            <a:ext cx="814486" cy="908442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BC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2" name="Rectangle 31"/>
          <p:cNvSpPr/>
          <p:nvPr/>
        </p:nvSpPr>
        <p:spPr>
          <a:xfrm>
            <a:off x="3087172" y="1689557"/>
            <a:ext cx="249644" cy="910606"/>
          </a:xfrm>
          <a:prstGeom prst="rect">
            <a:avLst/>
          </a:prstGeom>
          <a:solidFill>
            <a:srgbClr val="FF8C8C"/>
          </a:solidFill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3091232" y="2597892"/>
            <a:ext cx="249644" cy="910606"/>
          </a:xfrm>
          <a:prstGeom prst="rect">
            <a:avLst/>
          </a:prstGeom>
          <a:solidFill>
            <a:srgbClr val="EB0000"/>
          </a:solidFill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 rot="16200000">
            <a:off x="2058526" y="4377596"/>
            <a:ext cx="437996" cy="4452264"/>
          </a:xfrm>
          <a:prstGeom prst="rect">
            <a:avLst/>
          </a:prstGeom>
          <a:gradFill>
            <a:gsLst>
              <a:gs pos="0">
                <a:srgbClr val="BC0000"/>
              </a:gs>
              <a:gs pos="100000">
                <a:schemeClr val="bg1"/>
              </a:gs>
            </a:gsLst>
          </a:gra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 Box 10">
            <a:extLst>
              <a:ext uri="{FF2B5EF4-FFF2-40B4-BE49-F238E27FC236}">
                <a16:creationId xmlns=""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389" y="5788080"/>
            <a:ext cx="163834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sz="2800" dirty="0">
                <a:solidFill>
                  <a:srgbClr val="BC0000"/>
                </a:solidFill>
                <a:cs typeface="Courier New"/>
              </a:rPr>
              <a:t>low score</a:t>
            </a:r>
          </a:p>
        </p:txBody>
      </p:sp>
      <p:sp>
        <p:nvSpPr>
          <p:cNvPr id="42" name="Text Box 10">
            <a:extLst>
              <a:ext uri="{FF2B5EF4-FFF2-40B4-BE49-F238E27FC236}">
                <a16:creationId xmlns=""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7896" y="5789803"/>
            <a:ext cx="166526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sz="2800" dirty="0">
                <a:solidFill>
                  <a:srgbClr val="BC0000"/>
                </a:solidFill>
                <a:cs typeface="Courier New"/>
              </a:rPr>
              <a:t>high score</a:t>
            </a:r>
          </a:p>
        </p:txBody>
      </p:sp>
    </p:spTree>
    <p:extLst>
      <p:ext uri="{BB962C8B-B14F-4D97-AF65-F5344CB8AC3E}">
        <p14:creationId xmlns:p14="http://schemas.microsoft.com/office/powerpoint/2010/main" val="82624946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Extend Hypotheses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02030" y="1689413"/>
            <a:ext cx="910506" cy="910606"/>
          </a:xfrm>
          <a:prstGeom prst="rect">
            <a:avLst/>
          </a:prstGeom>
          <a:noFill/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Box 10">
            <a:extLst>
              <a:ext uri="{FF2B5EF4-FFF2-40B4-BE49-F238E27FC236}">
                <a16:creationId xmlns=""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6600" y="899361"/>
            <a:ext cx="648471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sz="2800" dirty="0">
                <a:solidFill>
                  <a:srgbClr val="288CD2"/>
                </a:solidFill>
                <a:cs typeface="Courier New"/>
              </a:rPr>
              <a:t>Lower                  the                 lights</a:t>
            </a:r>
          </a:p>
        </p:txBody>
      </p:sp>
      <p:sp>
        <p:nvSpPr>
          <p:cNvPr id="10" name="Text Box 10">
            <a:extLst>
              <a:ext uri="{FF2B5EF4-FFF2-40B4-BE49-F238E27FC236}">
                <a16:creationId xmlns=""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323" y="1844999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BC0000"/>
                </a:solidFill>
                <a:latin typeface="Courier New"/>
                <a:cs typeface="Courier New"/>
              </a:rPr>
              <a:t>&lt;s&gt;</a:t>
            </a:r>
          </a:p>
        </p:txBody>
      </p:sp>
      <p:cxnSp>
        <p:nvCxnSpPr>
          <p:cNvPr id="13" name="Straight Arrow Connector 12"/>
          <p:cNvCxnSpPr>
            <a:stCxn id="17" idx="3"/>
            <a:endCxn id="21" idx="1"/>
          </p:cNvCxnSpPr>
          <p:nvPr/>
        </p:nvCxnSpPr>
        <p:spPr bwMode="auto">
          <a:xfrm>
            <a:off x="1362180" y="2144716"/>
            <a:ext cx="811364" cy="0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BC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" name="Rectangle 16"/>
          <p:cNvSpPr/>
          <p:nvPr/>
        </p:nvSpPr>
        <p:spPr>
          <a:xfrm>
            <a:off x="1112536" y="1689413"/>
            <a:ext cx="249644" cy="910606"/>
          </a:xfrm>
          <a:prstGeom prst="rect">
            <a:avLst/>
          </a:prstGeom>
          <a:solidFill>
            <a:srgbClr val="BC0000"/>
          </a:solidFill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2173544" y="1689413"/>
            <a:ext cx="910506" cy="910606"/>
          </a:xfrm>
          <a:prstGeom prst="rect">
            <a:avLst/>
          </a:prstGeom>
          <a:noFill/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Box 10">
            <a:extLst>
              <a:ext uri="{FF2B5EF4-FFF2-40B4-BE49-F238E27FC236}">
                <a16:creationId xmlns=""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2181" y="1841637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BC0000"/>
                </a:solidFill>
                <a:latin typeface="Courier New"/>
                <a:cs typeface="Courier New"/>
              </a:rPr>
              <a:t>V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76666" y="2597855"/>
            <a:ext cx="910506" cy="910606"/>
          </a:xfrm>
          <a:prstGeom prst="rect">
            <a:avLst/>
          </a:prstGeom>
          <a:noFill/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 Box 10">
            <a:extLst>
              <a:ext uri="{FF2B5EF4-FFF2-40B4-BE49-F238E27FC236}">
                <a16:creationId xmlns=""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5303" y="2750079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BC0000"/>
                </a:solidFill>
                <a:latin typeface="Courier New"/>
                <a:cs typeface="Courier New"/>
              </a:rPr>
              <a:t>J</a:t>
            </a:r>
          </a:p>
        </p:txBody>
      </p:sp>
      <p:cxnSp>
        <p:nvCxnSpPr>
          <p:cNvPr id="30" name="Straight Arrow Connector 29"/>
          <p:cNvCxnSpPr>
            <a:stCxn id="17" idx="3"/>
            <a:endCxn id="28" idx="1"/>
          </p:cNvCxnSpPr>
          <p:nvPr/>
        </p:nvCxnSpPr>
        <p:spPr bwMode="auto">
          <a:xfrm>
            <a:off x="1362180" y="2144716"/>
            <a:ext cx="814486" cy="908442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BC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2" name="Rectangle 31"/>
          <p:cNvSpPr/>
          <p:nvPr/>
        </p:nvSpPr>
        <p:spPr>
          <a:xfrm>
            <a:off x="3087172" y="1689557"/>
            <a:ext cx="249644" cy="910606"/>
          </a:xfrm>
          <a:prstGeom prst="rect">
            <a:avLst/>
          </a:prstGeom>
          <a:solidFill>
            <a:srgbClr val="FF8C8C"/>
          </a:solidFill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3091232" y="2597892"/>
            <a:ext cx="249644" cy="910606"/>
          </a:xfrm>
          <a:prstGeom prst="rect">
            <a:avLst/>
          </a:prstGeom>
          <a:solidFill>
            <a:srgbClr val="EB0000"/>
          </a:solidFill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/>
          <p:cNvCxnSpPr>
            <a:endCxn id="27" idx="1"/>
          </p:cNvCxnSpPr>
          <p:nvPr/>
        </p:nvCxnSpPr>
        <p:spPr bwMode="auto">
          <a:xfrm>
            <a:off x="3372969" y="2144716"/>
            <a:ext cx="811364" cy="800115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BC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4" name="Straight Arrow Connector 23"/>
          <p:cNvCxnSpPr/>
          <p:nvPr/>
        </p:nvCxnSpPr>
        <p:spPr bwMode="auto">
          <a:xfrm flipV="1">
            <a:off x="3372969" y="1825057"/>
            <a:ext cx="811364" cy="319659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BC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5" name="Rectangle 24"/>
          <p:cNvSpPr/>
          <p:nvPr/>
        </p:nvSpPr>
        <p:spPr>
          <a:xfrm>
            <a:off x="4184333" y="1578922"/>
            <a:ext cx="910506" cy="910606"/>
          </a:xfrm>
          <a:prstGeom prst="rect">
            <a:avLst/>
          </a:prstGeom>
          <a:noFill/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 Box 10">
            <a:extLst>
              <a:ext uri="{FF2B5EF4-FFF2-40B4-BE49-F238E27FC236}">
                <a16:creationId xmlns=""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4333" y="1734508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BC0000"/>
                </a:solidFill>
                <a:latin typeface="Courier New"/>
                <a:cs typeface="Courier New"/>
              </a:rPr>
              <a:t>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84333" y="2489528"/>
            <a:ext cx="910506" cy="910606"/>
          </a:xfrm>
          <a:prstGeom prst="rect">
            <a:avLst/>
          </a:prstGeom>
          <a:noFill/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 Box 10">
            <a:extLst>
              <a:ext uri="{FF2B5EF4-FFF2-40B4-BE49-F238E27FC236}">
                <a16:creationId xmlns=""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2970" y="2641752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BC0000"/>
                </a:solidFill>
                <a:latin typeface="Courier New"/>
                <a:cs typeface="Courier New"/>
              </a:rPr>
              <a:t>V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82041" y="3398144"/>
            <a:ext cx="910506" cy="910606"/>
          </a:xfrm>
          <a:prstGeom prst="rect">
            <a:avLst/>
          </a:prstGeom>
          <a:noFill/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 Box 10">
            <a:extLst>
              <a:ext uri="{FF2B5EF4-FFF2-40B4-BE49-F238E27FC236}">
                <a16:creationId xmlns=""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0678" y="3550368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BC0000"/>
                </a:solidFill>
                <a:latin typeface="Courier New"/>
                <a:cs typeface="Courier New"/>
              </a:rPr>
              <a:t>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87455" y="4301765"/>
            <a:ext cx="910506" cy="910606"/>
          </a:xfrm>
          <a:prstGeom prst="rect">
            <a:avLst/>
          </a:prstGeom>
          <a:noFill/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 Box 10">
            <a:extLst>
              <a:ext uri="{FF2B5EF4-FFF2-40B4-BE49-F238E27FC236}">
                <a16:creationId xmlns=""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6092" y="4453989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BC0000"/>
                </a:solidFill>
                <a:latin typeface="Courier New"/>
                <a:cs typeface="Courier New"/>
              </a:rPr>
              <a:t>J</a:t>
            </a:r>
          </a:p>
        </p:txBody>
      </p:sp>
      <p:cxnSp>
        <p:nvCxnSpPr>
          <p:cNvPr id="45" name="Straight Arrow Connector 44"/>
          <p:cNvCxnSpPr>
            <a:stCxn id="32" idx="3"/>
          </p:cNvCxnSpPr>
          <p:nvPr/>
        </p:nvCxnSpPr>
        <p:spPr bwMode="auto">
          <a:xfrm>
            <a:off x="3336816" y="2144860"/>
            <a:ext cx="859276" cy="1734238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BC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" name="Straight Arrow Connector 45"/>
          <p:cNvCxnSpPr>
            <a:stCxn id="32" idx="3"/>
            <a:endCxn id="43" idx="1"/>
          </p:cNvCxnSpPr>
          <p:nvPr/>
        </p:nvCxnSpPr>
        <p:spPr bwMode="auto">
          <a:xfrm>
            <a:off x="3336816" y="2144860"/>
            <a:ext cx="859276" cy="2570739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BC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7" name="Rectangle 46"/>
          <p:cNvSpPr/>
          <p:nvPr/>
        </p:nvSpPr>
        <p:spPr>
          <a:xfrm>
            <a:off x="5097961" y="2489672"/>
            <a:ext cx="249644" cy="910606"/>
          </a:xfrm>
          <a:prstGeom prst="rect">
            <a:avLst/>
          </a:prstGeom>
          <a:solidFill>
            <a:srgbClr val="FFE6E6"/>
          </a:solidFill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5097961" y="1579066"/>
            <a:ext cx="249644" cy="910606"/>
          </a:xfrm>
          <a:prstGeom prst="rect">
            <a:avLst/>
          </a:prstGeom>
          <a:solidFill>
            <a:schemeClr val="bg1"/>
          </a:solidFill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/>
          <p:cNvSpPr/>
          <p:nvPr/>
        </p:nvSpPr>
        <p:spPr>
          <a:xfrm>
            <a:off x="5102021" y="4301802"/>
            <a:ext cx="249644" cy="910606"/>
          </a:xfrm>
          <a:prstGeom prst="rect">
            <a:avLst/>
          </a:prstGeom>
          <a:solidFill>
            <a:srgbClr val="FFC2C2"/>
          </a:solidFill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/>
          <p:cNvSpPr/>
          <p:nvPr/>
        </p:nvSpPr>
        <p:spPr>
          <a:xfrm>
            <a:off x="5098198" y="3402917"/>
            <a:ext cx="249644" cy="910606"/>
          </a:xfrm>
          <a:prstGeom prst="rect">
            <a:avLst/>
          </a:prstGeom>
          <a:solidFill>
            <a:srgbClr val="EB0000"/>
          </a:solidFill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 Box 10">
            <a:extLst>
              <a:ext uri="{FF2B5EF4-FFF2-40B4-BE49-F238E27FC236}">
                <a16:creationId xmlns=""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046" y="3643566"/>
            <a:ext cx="2280801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sz="2800" i="1" dirty="0">
                <a:cs typeface="Courier New"/>
              </a:rPr>
              <a:t>b</a:t>
            </a:r>
            <a:r>
              <a:rPr lang="en-US" altLang="ja-JP" sz="2800" dirty="0">
                <a:cs typeface="Courier New"/>
              </a:rPr>
              <a:t> hypotheses to extend</a:t>
            </a:r>
          </a:p>
        </p:txBody>
      </p:sp>
      <p:sp>
        <p:nvSpPr>
          <p:cNvPr id="52" name="Text Box 10">
            <a:extLst>
              <a:ext uri="{FF2B5EF4-FFF2-40B4-BE49-F238E27FC236}">
                <a16:creationId xmlns=""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6753" y="4915612"/>
            <a:ext cx="2917297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sz="2800" dirty="0">
                <a:cs typeface="Courier New"/>
              </a:rPr>
              <a:t>consider all possible ways of extending them</a:t>
            </a:r>
          </a:p>
        </p:txBody>
      </p:sp>
      <p:cxnSp>
        <p:nvCxnSpPr>
          <p:cNvPr id="53" name="Straight Arrow Connector 52"/>
          <p:cNvCxnSpPr/>
          <p:nvPr/>
        </p:nvCxnSpPr>
        <p:spPr bwMode="auto">
          <a:xfrm>
            <a:off x="3340876" y="3508498"/>
            <a:ext cx="855216" cy="2037089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BC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4" name="Rectangle 53"/>
          <p:cNvSpPr/>
          <p:nvPr/>
        </p:nvSpPr>
        <p:spPr>
          <a:xfrm>
            <a:off x="4184333" y="5390001"/>
            <a:ext cx="910506" cy="910606"/>
          </a:xfrm>
          <a:prstGeom prst="rect">
            <a:avLst/>
          </a:prstGeom>
          <a:noFill/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 Box 10">
            <a:extLst>
              <a:ext uri="{FF2B5EF4-FFF2-40B4-BE49-F238E27FC236}">
                <a16:creationId xmlns=""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4333" y="5545587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BC0000"/>
                </a:solidFill>
                <a:latin typeface="Courier New"/>
                <a:cs typeface="Courier New"/>
              </a:rPr>
              <a:t>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97961" y="5390145"/>
            <a:ext cx="249644" cy="910606"/>
          </a:xfrm>
          <a:prstGeom prst="rect">
            <a:avLst/>
          </a:prstGeom>
          <a:solidFill>
            <a:schemeClr val="bg1"/>
          </a:solidFill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 Box 10">
            <a:extLst>
              <a:ext uri="{FF2B5EF4-FFF2-40B4-BE49-F238E27FC236}">
                <a16:creationId xmlns=""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90884" y="4897329"/>
            <a:ext cx="53055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mr-IN" altLang="ja-JP" sz="2800" i="1" dirty="0">
                <a:solidFill>
                  <a:srgbClr val="BC0000"/>
                </a:solidFill>
                <a:cs typeface="Courier New"/>
              </a:rPr>
              <a:t>…</a:t>
            </a:r>
            <a:endParaRPr lang="en-US" altLang="ja-JP" sz="2800" dirty="0">
              <a:solidFill>
                <a:srgbClr val="BC0000"/>
              </a:solidFill>
              <a:cs typeface="Courier New"/>
            </a:endParaRPr>
          </a:p>
        </p:txBody>
      </p:sp>
      <p:cxnSp>
        <p:nvCxnSpPr>
          <p:cNvPr id="58" name="Straight Arrow Connector 57"/>
          <p:cNvCxnSpPr/>
          <p:nvPr/>
        </p:nvCxnSpPr>
        <p:spPr bwMode="auto">
          <a:xfrm>
            <a:off x="3340876" y="3550368"/>
            <a:ext cx="680661" cy="3175352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BC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9" name="Rectangle 58"/>
          <p:cNvSpPr/>
          <p:nvPr/>
        </p:nvSpPr>
        <p:spPr>
          <a:xfrm>
            <a:off x="4184333" y="6303967"/>
            <a:ext cx="910506" cy="910606"/>
          </a:xfrm>
          <a:prstGeom prst="rect">
            <a:avLst/>
          </a:prstGeom>
          <a:noFill/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/>
          <p:cNvSpPr/>
          <p:nvPr/>
        </p:nvSpPr>
        <p:spPr>
          <a:xfrm>
            <a:off x="5097961" y="6304111"/>
            <a:ext cx="249644" cy="910606"/>
          </a:xfrm>
          <a:prstGeom prst="rect">
            <a:avLst/>
          </a:prstGeom>
          <a:solidFill>
            <a:srgbClr val="FFE6E6"/>
          </a:solidFill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Text Box 10">
            <a:extLst>
              <a:ext uri="{FF2B5EF4-FFF2-40B4-BE49-F238E27FC236}">
                <a16:creationId xmlns=""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2041" y="6467052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BC0000"/>
                </a:solidFill>
                <a:latin typeface="Courier New"/>
                <a:cs typeface="Courier New"/>
              </a:rPr>
              <a:t>V</a:t>
            </a:r>
          </a:p>
        </p:txBody>
      </p:sp>
      <p:sp>
        <p:nvSpPr>
          <p:cNvPr id="62" name="Text Box 10">
            <a:extLst>
              <a:ext uri="{FF2B5EF4-FFF2-40B4-BE49-F238E27FC236}">
                <a16:creationId xmlns=""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94170" y="1563447"/>
            <a:ext cx="3389616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sz="2800" dirty="0">
                <a:solidFill>
                  <a:srgbClr val="BC0000"/>
                </a:solidFill>
                <a:cs typeface="Courier New"/>
              </a:rPr>
              <a:t>scores of extended hypotheses:</a:t>
            </a: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6473" y="2824474"/>
            <a:ext cx="2603500" cy="14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62498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/>
      <p:bldP spid="27" grpId="0" animBg="1"/>
      <p:bldP spid="31" grpId="0"/>
      <p:bldP spid="33" grpId="0" animBg="1"/>
      <p:bldP spid="35" grpId="0"/>
      <p:bldP spid="38" grpId="0" animBg="1"/>
      <p:bldP spid="43" grpId="0"/>
      <p:bldP spid="47" grpId="0" animBg="1"/>
      <p:bldP spid="48" grpId="0" animBg="1"/>
      <p:bldP spid="49" grpId="0" animBg="1"/>
      <p:bldP spid="50" grpId="0" animBg="1"/>
      <p:bldP spid="51" grpId="0"/>
      <p:bldP spid="52" grpId="0"/>
      <p:bldP spid="54" grpId="0" animBg="1"/>
      <p:bldP spid="55" grpId="0"/>
      <p:bldP spid="56" grpId="0" animBg="1"/>
      <p:bldP spid="57" grpId="0"/>
      <p:bldP spid="59" grpId="0" animBg="1"/>
      <p:bldP spid="60" grpId="0" animBg="1"/>
      <p:bldP spid="61" grpId="0"/>
      <p:bldP spid="62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Prune Hypotheses (</a:t>
            </a:r>
            <a:r>
              <a:rPr lang="en-US" i="1" dirty="0"/>
              <a:t>b</a:t>
            </a:r>
            <a:r>
              <a:rPr lang="en-US" dirty="0"/>
              <a:t> = 2)</a:t>
            </a:r>
          </a:p>
        </p:txBody>
      </p:sp>
      <p:sp>
        <p:nvSpPr>
          <p:cNvPr id="7" name="Rectangle 6"/>
          <p:cNvSpPr/>
          <p:nvPr/>
        </p:nvSpPr>
        <p:spPr>
          <a:xfrm>
            <a:off x="202030" y="1689413"/>
            <a:ext cx="910506" cy="910606"/>
          </a:xfrm>
          <a:prstGeom prst="rect">
            <a:avLst/>
          </a:prstGeom>
          <a:noFill/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Box 10">
            <a:extLst>
              <a:ext uri="{FF2B5EF4-FFF2-40B4-BE49-F238E27FC236}">
                <a16:creationId xmlns=""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6600" y="899361"/>
            <a:ext cx="648471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sz="2800" dirty="0">
                <a:solidFill>
                  <a:srgbClr val="288CD2"/>
                </a:solidFill>
                <a:cs typeface="Courier New"/>
              </a:rPr>
              <a:t>Lower                  the                 lights</a:t>
            </a:r>
          </a:p>
        </p:txBody>
      </p:sp>
      <p:sp>
        <p:nvSpPr>
          <p:cNvPr id="10" name="Text Box 10">
            <a:extLst>
              <a:ext uri="{FF2B5EF4-FFF2-40B4-BE49-F238E27FC236}">
                <a16:creationId xmlns=""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323" y="1844999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BC0000"/>
                </a:solidFill>
                <a:latin typeface="Courier New"/>
                <a:cs typeface="Courier New"/>
              </a:rPr>
              <a:t>&lt;s&gt;</a:t>
            </a:r>
          </a:p>
        </p:txBody>
      </p:sp>
      <p:cxnSp>
        <p:nvCxnSpPr>
          <p:cNvPr id="13" name="Straight Arrow Connector 12"/>
          <p:cNvCxnSpPr>
            <a:stCxn id="17" idx="3"/>
            <a:endCxn id="21" idx="1"/>
          </p:cNvCxnSpPr>
          <p:nvPr/>
        </p:nvCxnSpPr>
        <p:spPr bwMode="auto">
          <a:xfrm>
            <a:off x="1362180" y="2144716"/>
            <a:ext cx="811364" cy="0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BC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" name="Rectangle 16"/>
          <p:cNvSpPr/>
          <p:nvPr/>
        </p:nvSpPr>
        <p:spPr>
          <a:xfrm>
            <a:off x="1112536" y="1689413"/>
            <a:ext cx="249644" cy="910606"/>
          </a:xfrm>
          <a:prstGeom prst="rect">
            <a:avLst/>
          </a:prstGeom>
          <a:solidFill>
            <a:srgbClr val="BC0000"/>
          </a:solidFill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2173544" y="1689413"/>
            <a:ext cx="910506" cy="910606"/>
          </a:xfrm>
          <a:prstGeom prst="rect">
            <a:avLst/>
          </a:prstGeom>
          <a:noFill/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Box 10">
            <a:extLst>
              <a:ext uri="{FF2B5EF4-FFF2-40B4-BE49-F238E27FC236}">
                <a16:creationId xmlns=""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2181" y="1841637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BC0000"/>
                </a:solidFill>
                <a:latin typeface="Courier New"/>
                <a:cs typeface="Courier New"/>
              </a:rPr>
              <a:t>V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76666" y="2597855"/>
            <a:ext cx="910506" cy="910606"/>
          </a:xfrm>
          <a:prstGeom prst="rect">
            <a:avLst/>
          </a:prstGeom>
          <a:noFill/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 Box 10">
            <a:extLst>
              <a:ext uri="{FF2B5EF4-FFF2-40B4-BE49-F238E27FC236}">
                <a16:creationId xmlns=""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5303" y="2750079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BC0000"/>
                </a:solidFill>
                <a:latin typeface="Courier New"/>
                <a:cs typeface="Courier New"/>
              </a:rPr>
              <a:t>J</a:t>
            </a:r>
          </a:p>
        </p:txBody>
      </p:sp>
      <p:cxnSp>
        <p:nvCxnSpPr>
          <p:cNvPr id="30" name="Straight Arrow Connector 29"/>
          <p:cNvCxnSpPr>
            <a:stCxn id="17" idx="3"/>
            <a:endCxn id="28" idx="1"/>
          </p:cNvCxnSpPr>
          <p:nvPr/>
        </p:nvCxnSpPr>
        <p:spPr bwMode="auto">
          <a:xfrm>
            <a:off x="1362180" y="2144716"/>
            <a:ext cx="814486" cy="908442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BC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2" name="Rectangle 31"/>
          <p:cNvSpPr/>
          <p:nvPr/>
        </p:nvSpPr>
        <p:spPr>
          <a:xfrm>
            <a:off x="3087172" y="1689557"/>
            <a:ext cx="249644" cy="910606"/>
          </a:xfrm>
          <a:prstGeom prst="rect">
            <a:avLst/>
          </a:prstGeom>
          <a:solidFill>
            <a:srgbClr val="FF8C8C"/>
          </a:solidFill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3091232" y="2597892"/>
            <a:ext cx="249644" cy="910606"/>
          </a:xfrm>
          <a:prstGeom prst="rect">
            <a:avLst/>
          </a:prstGeom>
          <a:solidFill>
            <a:srgbClr val="EB0000"/>
          </a:solidFill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 Box 10">
            <a:extLst>
              <a:ext uri="{FF2B5EF4-FFF2-40B4-BE49-F238E27FC236}">
                <a16:creationId xmlns=""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374" y="3677040"/>
            <a:ext cx="7842855" cy="2123658"/>
          </a:xfrm>
          <a:prstGeom prst="rect">
            <a:avLst/>
          </a:prstGeom>
          <a:solidFill>
            <a:schemeClr val="bg1"/>
          </a:solidFill>
          <a:ln w="38100" cmpd="sng">
            <a:solidFill>
              <a:srgbClr val="BC0000"/>
            </a:solidFill>
            <a:miter lim="800000"/>
            <a:headEnd/>
            <a:tailEnd/>
          </a:ln>
          <a:effectLst>
            <a:outerShdw blurRad="63500" dist="38099" dir="2700000" algn="ctr" rotWithShape="0">
              <a:schemeClr val="bg2">
                <a:alpha val="74998"/>
              </a:schemeClr>
            </a:outerShdw>
          </a:effectLst>
          <a:extLst/>
        </p:spPr>
        <p:txBody>
          <a:bodyPr wrap="square">
            <a:spAutoFit/>
          </a:bodyPr>
          <a:lstStyle/>
          <a:p>
            <a:r>
              <a:rPr lang="en-US" altLang="ja-JP" sz="2800" dirty="0">
                <a:cs typeface="Courier New"/>
              </a:rPr>
              <a:t>note: due to the small size of HMM parts, these two hypotheses will look identical going forward</a:t>
            </a:r>
          </a:p>
          <a:p>
            <a:endParaRPr lang="en-US" altLang="ja-JP" sz="2000" dirty="0">
              <a:cs typeface="Courier New"/>
            </a:endParaRPr>
          </a:p>
          <a:p>
            <a:r>
              <a:rPr lang="en-US" altLang="ja-JP" sz="2800" dirty="0">
                <a:cs typeface="Courier New"/>
              </a:rPr>
              <a:t>we don’t need to keep both of them! (unless we’re trying to return an </a:t>
            </a:r>
            <a:r>
              <a:rPr lang="en-US" altLang="ja-JP" sz="2800" i="1" dirty="0">
                <a:cs typeface="Courier New"/>
              </a:rPr>
              <a:t>n</a:t>
            </a:r>
            <a:r>
              <a:rPr lang="en-US" altLang="ja-JP" sz="2800" dirty="0">
                <a:cs typeface="Courier New"/>
              </a:rPr>
              <a:t>-best list)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82041" y="1722523"/>
            <a:ext cx="910506" cy="910606"/>
          </a:xfrm>
          <a:prstGeom prst="rect">
            <a:avLst/>
          </a:prstGeom>
          <a:noFill/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 Box 10">
            <a:extLst>
              <a:ext uri="{FF2B5EF4-FFF2-40B4-BE49-F238E27FC236}">
                <a16:creationId xmlns=""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0678" y="1874747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BC0000"/>
                </a:solidFill>
                <a:latin typeface="Courier New"/>
                <a:cs typeface="Courier New"/>
              </a:rPr>
              <a:t>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02021" y="1727296"/>
            <a:ext cx="247359" cy="910606"/>
          </a:xfrm>
          <a:prstGeom prst="rect">
            <a:avLst/>
          </a:prstGeom>
          <a:solidFill>
            <a:srgbClr val="EB0000"/>
          </a:solidFill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EB0000"/>
              </a:solidFill>
            </a:endParaRPr>
          </a:p>
        </p:txBody>
      </p:sp>
      <p:cxnSp>
        <p:nvCxnSpPr>
          <p:cNvPr id="27" name="Straight Arrow Connector 26"/>
          <p:cNvCxnSpPr>
            <a:stCxn id="32" idx="3"/>
            <a:endCxn id="25" idx="1"/>
          </p:cNvCxnSpPr>
          <p:nvPr/>
        </p:nvCxnSpPr>
        <p:spPr bwMode="auto">
          <a:xfrm flipV="1">
            <a:off x="3336816" y="2136357"/>
            <a:ext cx="853862" cy="8503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BC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1" name="Rectangle 30"/>
          <p:cNvSpPr/>
          <p:nvPr/>
        </p:nvSpPr>
        <p:spPr>
          <a:xfrm>
            <a:off x="4179756" y="2637974"/>
            <a:ext cx="910506" cy="910606"/>
          </a:xfrm>
          <a:prstGeom prst="rect">
            <a:avLst/>
          </a:prstGeom>
          <a:noFill/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 Box 10">
            <a:extLst>
              <a:ext uri="{FF2B5EF4-FFF2-40B4-BE49-F238E27FC236}">
                <a16:creationId xmlns=""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8393" y="2790198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BC0000"/>
                </a:solidFill>
                <a:latin typeface="Courier New"/>
                <a:cs typeface="Courier New"/>
              </a:rPr>
              <a:t>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99736" y="2642747"/>
            <a:ext cx="249644" cy="910606"/>
          </a:xfrm>
          <a:prstGeom prst="rect">
            <a:avLst/>
          </a:prstGeom>
          <a:solidFill>
            <a:srgbClr val="FFC2C2"/>
          </a:solidFill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/>
          <p:cNvCxnSpPr/>
          <p:nvPr/>
        </p:nvCxnSpPr>
        <p:spPr bwMode="auto">
          <a:xfrm flipV="1">
            <a:off x="3346290" y="3060814"/>
            <a:ext cx="853862" cy="8503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BC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53808067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Prune Hypotheses (</a:t>
            </a:r>
            <a:r>
              <a:rPr lang="en-US" i="1" dirty="0"/>
              <a:t>b</a:t>
            </a:r>
            <a:r>
              <a:rPr lang="en-US" dirty="0"/>
              <a:t> = 2)</a:t>
            </a:r>
          </a:p>
        </p:txBody>
      </p:sp>
      <p:sp>
        <p:nvSpPr>
          <p:cNvPr id="7" name="Rectangle 6"/>
          <p:cNvSpPr/>
          <p:nvPr/>
        </p:nvSpPr>
        <p:spPr>
          <a:xfrm>
            <a:off x="202030" y="1689413"/>
            <a:ext cx="910506" cy="910606"/>
          </a:xfrm>
          <a:prstGeom prst="rect">
            <a:avLst/>
          </a:prstGeom>
          <a:noFill/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Box 10">
            <a:extLst>
              <a:ext uri="{FF2B5EF4-FFF2-40B4-BE49-F238E27FC236}">
                <a16:creationId xmlns=""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6600" y="899361"/>
            <a:ext cx="648471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sz="2800" dirty="0">
                <a:solidFill>
                  <a:srgbClr val="288CD2"/>
                </a:solidFill>
                <a:cs typeface="Courier New"/>
              </a:rPr>
              <a:t>Lower                  the                 lights</a:t>
            </a:r>
          </a:p>
        </p:txBody>
      </p:sp>
      <p:sp>
        <p:nvSpPr>
          <p:cNvPr id="10" name="Text Box 10">
            <a:extLst>
              <a:ext uri="{FF2B5EF4-FFF2-40B4-BE49-F238E27FC236}">
                <a16:creationId xmlns=""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323" y="1844999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BC0000"/>
                </a:solidFill>
                <a:latin typeface="Courier New"/>
                <a:cs typeface="Courier New"/>
              </a:rPr>
              <a:t>&lt;s&gt;</a:t>
            </a:r>
          </a:p>
        </p:txBody>
      </p:sp>
      <p:cxnSp>
        <p:nvCxnSpPr>
          <p:cNvPr id="13" name="Straight Arrow Connector 12"/>
          <p:cNvCxnSpPr>
            <a:stCxn id="17" idx="3"/>
            <a:endCxn id="21" idx="1"/>
          </p:cNvCxnSpPr>
          <p:nvPr/>
        </p:nvCxnSpPr>
        <p:spPr bwMode="auto">
          <a:xfrm>
            <a:off x="1362180" y="2144716"/>
            <a:ext cx="811364" cy="0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BC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" name="Rectangle 16"/>
          <p:cNvSpPr/>
          <p:nvPr/>
        </p:nvSpPr>
        <p:spPr>
          <a:xfrm>
            <a:off x="1112536" y="1689413"/>
            <a:ext cx="249644" cy="910606"/>
          </a:xfrm>
          <a:prstGeom prst="rect">
            <a:avLst/>
          </a:prstGeom>
          <a:solidFill>
            <a:srgbClr val="BC0000"/>
          </a:solidFill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2173544" y="1689413"/>
            <a:ext cx="910506" cy="910606"/>
          </a:xfrm>
          <a:prstGeom prst="rect">
            <a:avLst/>
          </a:prstGeom>
          <a:noFill/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Box 10">
            <a:extLst>
              <a:ext uri="{FF2B5EF4-FFF2-40B4-BE49-F238E27FC236}">
                <a16:creationId xmlns=""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2181" y="1841637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BC0000"/>
                </a:solidFill>
                <a:latin typeface="Courier New"/>
                <a:cs typeface="Courier New"/>
              </a:rPr>
              <a:t>V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76666" y="2597855"/>
            <a:ext cx="910506" cy="910606"/>
          </a:xfrm>
          <a:prstGeom prst="rect">
            <a:avLst/>
          </a:prstGeom>
          <a:noFill/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 Box 10">
            <a:extLst>
              <a:ext uri="{FF2B5EF4-FFF2-40B4-BE49-F238E27FC236}">
                <a16:creationId xmlns=""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5303" y="2750079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BC0000"/>
                </a:solidFill>
                <a:latin typeface="Courier New"/>
                <a:cs typeface="Courier New"/>
              </a:rPr>
              <a:t>J</a:t>
            </a:r>
          </a:p>
        </p:txBody>
      </p:sp>
      <p:cxnSp>
        <p:nvCxnSpPr>
          <p:cNvPr id="30" name="Straight Arrow Connector 29"/>
          <p:cNvCxnSpPr>
            <a:stCxn id="17" idx="3"/>
            <a:endCxn id="28" idx="1"/>
          </p:cNvCxnSpPr>
          <p:nvPr/>
        </p:nvCxnSpPr>
        <p:spPr bwMode="auto">
          <a:xfrm>
            <a:off x="1362180" y="2144716"/>
            <a:ext cx="814486" cy="908442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BC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2" name="Rectangle 31"/>
          <p:cNvSpPr/>
          <p:nvPr/>
        </p:nvSpPr>
        <p:spPr>
          <a:xfrm>
            <a:off x="3087172" y="1689557"/>
            <a:ext cx="249644" cy="910606"/>
          </a:xfrm>
          <a:prstGeom prst="rect">
            <a:avLst/>
          </a:prstGeom>
          <a:solidFill>
            <a:srgbClr val="FF8C8C"/>
          </a:solidFill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3091232" y="2597892"/>
            <a:ext cx="249644" cy="910606"/>
          </a:xfrm>
          <a:prstGeom prst="rect">
            <a:avLst/>
          </a:prstGeom>
          <a:solidFill>
            <a:srgbClr val="EB0000"/>
          </a:solidFill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 Box 10">
            <a:extLst>
              <a:ext uri="{FF2B5EF4-FFF2-40B4-BE49-F238E27FC236}">
                <a16:creationId xmlns=""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374" y="3677040"/>
            <a:ext cx="7842855" cy="2862322"/>
          </a:xfrm>
          <a:prstGeom prst="rect">
            <a:avLst/>
          </a:prstGeom>
          <a:solidFill>
            <a:schemeClr val="bg1"/>
          </a:solidFill>
          <a:ln w="38100" cmpd="sng">
            <a:solidFill>
              <a:srgbClr val="BC0000"/>
            </a:solidFill>
            <a:miter lim="800000"/>
            <a:headEnd/>
            <a:tailEnd/>
          </a:ln>
          <a:effectLst>
            <a:outerShdw blurRad="63500" dist="38099" dir="2700000" algn="ctr" rotWithShape="0">
              <a:schemeClr val="bg2">
                <a:alpha val="74998"/>
              </a:schemeClr>
            </a:outerShdw>
          </a:effectLst>
          <a:extLst/>
        </p:spPr>
        <p:txBody>
          <a:bodyPr wrap="square">
            <a:spAutoFit/>
          </a:bodyPr>
          <a:lstStyle/>
          <a:p>
            <a:r>
              <a:rPr lang="en-US" altLang="ja-JP" sz="2800" dirty="0">
                <a:cs typeface="Courier New"/>
              </a:rPr>
              <a:t>note: due to the small size of HMM parts, these two hypotheses will look identical going forward</a:t>
            </a:r>
          </a:p>
          <a:p>
            <a:endParaRPr lang="en-US" altLang="ja-JP" sz="2000" dirty="0">
              <a:cs typeface="Courier New"/>
            </a:endParaRPr>
          </a:p>
          <a:p>
            <a:r>
              <a:rPr lang="en-US" altLang="ja-JP" sz="2800" dirty="0">
                <a:cs typeface="Courier New"/>
              </a:rPr>
              <a:t>we don’t need to keep both of them! (unless we’re trying to return an </a:t>
            </a:r>
            <a:r>
              <a:rPr lang="en-US" altLang="ja-JP" sz="2800" i="1" dirty="0">
                <a:cs typeface="Courier New"/>
              </a:rPr>
              <a:t>n</a:t>
            </a:r>
            <a:r>
              <a:rPr lang="en-US" altLang="ja-JP" sz="2800" dirty="0">
                <a:cs typeface="Courier New"/>
              </a:rPr>
              <a:t>-best list)</a:t>
            </a:r>
          </a:p>
          <a:p>
            <a:endParaRPr lang="en-US" altLang="ja-JP" sz="2000" dirty="0">
              <a:cs typeface="Courier New"/>
            </a:endParaRPr>
          </a:p>
          <a:p>
            <a:r>
              <a:rPr lang="en-US" altLang="ja-JP" sz="2800" dirty="0">
                <a:cs typeface="Courier New"/>
              </a:rPr>
              <a:t>we can use </a:t>
            </a:r>
            <a:r>
              <a:rPr lang="en-US" altLang="ja-JP" sz="2800" b="1" dirty="0">
                <a:cs typeface="Courier New"/>
              </a:rPr>
              <a:t>recombination</a:t>
            </a:r>
            <a:endParaRPr lang="en-US" altLang="ja-JP" sz="2800" dirty="0">
              <a:cs typeface="Courier New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4182041" y="1722523"/>
            <a:ext cx="910506" cy="910606"/>
          </a:xfrm>
          <a:prstGeom prst="rect">
            <a:avLst/>
          </a:prstGeom>
          <a:noFill/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 Box 10">
            <a:extLst>
              <a:ext uri="{FF2B5EF4-FFF2-40B4-BE49-F238E27FC236}">
                <a16:creationId xmlns=""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0678" y="1874747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BC0000"/>
                </a:solidFill>
                <a:latin typeface="Courier New"/>
                <a:cs typeface="Courier New"/>
              </a:rPr>
              <a:t>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02021" y="1727296"/>
            <a:ext cx="247359" cy="910606"/>
          </a:xfrm>
          <a:prstGeom prst="rect">
            <a:avLst/>
          </a:prstGeom>
          <a:solidFill>
            <a:srgbClr val="EB0000"/>
          </a:solidFill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EB0000"/>
              </a:solidFill>
            </a:endParaRPr>
          </a:p>
        </p:txBody>
      </p:sp>
      <p:cxnSp>
        <p:nvCxnSpPr>
          <p:cNvPr id="27" name="Straight Arrow Connector 26"/>
          <p:cNvCxnSpPr>
            <a:stCxn id="32" idx="3"/>
            <a:endCxn id="25" idx="1"/>
          </p:cNvCxnSpPr>
          <p:nvPr/>
        </p:nvCxnSpPr>
        <p:spPr bwMode="auto">
          <a:xfrm flipV="1">
            <a:off x="3336816" y="2136357"/>
            <a:ext cx="853862" cy="8503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BC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1" name="Rectangle 30"/>
          <p:cNvSpPr/>
          <p:nvPr/>
        </p:nvSpPr>
        <p:spPr>
          <a:xfrm>
            <a:off x="4179756" y="2637974"/>
            <a:ext cx="910506" cy="910606"/>
          </a:xfrm>
          <a:prstGeom prst="rect">
            <a:avLst/>
          </a:prstGeom>
          <a:noFill/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 Box 10">
            <a:extLst>
              <a:ext uri="{FF2B5EF4-FFF2-40B4-BE49-F238E27FC236}">
                <a16:creationId xmlns=""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8393" y="2790198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BC0000"/>
                </a:solidFill>
                <a:latin typeface="Courier New"/>
                <a:cs typeface="Courier New"/>
              </a:rPr>
              <a:t>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99736" y="2642747"/>
            <a:ext cx="249644" cy="910606"/>
          </a:xfrm>
          <a:prstGeom prst="rect">
            <a:avLst/>
          </a:prstGeom>
          <a:solidFill>
            <a:srgbClr val="FFC2C2"/>
          </a:solidFill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/>
          <p:cNvCxnSpPr/>
          <p:nvPr/>
        </p:nvCxnSpPr>
        <p:spPr bwMode="auto">
          <a:xfrm flipV="1">
            <a:off x="3346290" y="3060814"/>
            <a:ext cx="853862" cy="8503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BC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1832770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Recombination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02030" y="1689413"/>
            <a:ext cx="910506" cy="910606"/>
          </a:xfrm>
          <a:prstGeom prst="rect">
            <a:avLst/>
          </a:prstGeom>
          <a:noFill/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Box 10">
            <a:extLst>
              <a:ext uri="{FF2B5EF4-FFF2-40B4-BE49-F238E27FC236}">
                <a16:creationId xmlns=""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6600" y="899361"/>
            <a:ext cx="648471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sz="2800" dirty="0">
                <a:solidFill>
                  <a:srgbClr val="288CD2"/>
                </a:solidFill>
                <a:cs typeface="Courier New"/>
              </a:rPr>
              <a:t>Lower                  the                 lights</a:t>
            </a:r>
          </a:p>
        </p:txBody>
      </p:sp>
      <p:sp>
        <p:nvSpPr>
          <p:cNvPr id="10" name="Text Box 10">
            <a:extLst>
              <a:ext uri="{FF2B5EF4-FFF2-40B4-BE49-F238E27FC236}">
                <a16:creationId xmlns=""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323" y="1844999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BC0000"/>
                </a:solidFill>
                <a:latin typeface="Courier New"/>
                <a:cs typeface="Courier New"/>
              </a:rPr>
              <a:t>&lt;s&gt;</a:t>
            </a:r>
          </a:p>
        </p:txBody>
      </p:sp>
      <p:cxnSp>
        <p:nvCxnSpPr>
          <p:cNvPr id="13" name="Straight Arrow Connector 12"/>
          <p:cNvCxnSpPr>
            <a:stCxn id="17" idx="3"/>
            <a:endCxn id="21" idx="1"/>
          </p:cNvCxnSpPr>
          <p:nvPr/>
        </p:nvCxnSpPr>
        <p:spPr bwMode="auto">
          <a:xfrm>
            <a:off x="1362180" y="2144716"/>
            <a:ext cx="811364" cy="0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BC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" name="Rectangle 16"/>
          <p:cNvSpPr/>
          <p:nvPr/>
        </p:nvSpPr>
        <p:spPr>
          <a:xfrm>
            <a:off x="1112536" y="1689413"/>
            <a:ext cx="249644" cy="910606"/>
          </a:xfrm>
          <a:prstGeom prst="rect">
            <a:avLst/>
          </a:prstGeom>
          <a:solidFill>
            <a:srgbClr val="BC0000"/>
          </a:solidFill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2173544" y="1689413"/>
            <a:ext cx="910506" cy="910606"/>
          </a:xfrm>
          <a:prstGeom prst="rect">
            <a:avLst/>
          </a:prstGeom>
          <a:noFill/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Box 10">
            <a:extLst>
              <a:ext uri="{FF2B5EF4-FFF2-40B4-BE49-F238E27FC236}">
                <a16:creationId xmlns=""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2181" y="1841637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BC0000"/>
                </a:solidFill>
                <a:latin typeface="Courier New"/>
                <a:cs typeface="Courier New"/>
              </a:rPr>
              <a:t>V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76666" y="2597855"/>
            <a:ext cx="910506" cy="910606"/>
          </a:xfrm>
          <a:prstGeom prst="rect">
            <a:avLst/>
          </a:prstGeom>
          <a:noFill/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 Box 10">
            <a:extLst>
              <a:ext uri="{FF2B5EF4-FFF2-40B4-BE49-F238E27FC236}">
                <a16:creationId xmlns=""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5303" y="2750079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BC0000"/>
                </a:solidFill>
                <a:latin typeface="Courier New"/>
                <a:cs typeface="Courier New"/>
              </a:rPr>
              <a:t>J</a:t>
            </a:r>
          </a:p>
        </p:txBody>
      </p:sp>
      <p:cxnSp>
        <p:nvCxnSpPr>
          <p:cNvPr id="30" name="Straight Arrow Connector 29"/>
          <p:cNvCxnSpPr>
            <a:stCxn id="17" idx="3"/>
            <a:endCxn id="28" idx="1"/>
          </p:cNvCxnSpPr>
          <p:nvPr/>
        </p:nvCxnSpPr>
        <p:spPr bwMode="auto">
          <a:xfrm>
            <a:off x="1362180" y="2144716"/>
            <a:ext cx="814486" cy="908442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BC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2" name="Rectangle 31"/>
          <p:cNvSpPr/>
          <p:nvPr/>
        </p:nvSpPr>
        <p:spPr>
          <a:xfrm>
            <a:off x="3087172" y="1689557"/>
            <a:ext cx="249644" cy="910606"/>
          </a:xfrm>
          <a:prstGeom prst="rect">
            <a:avLst/>
          </a:prstGeom>
          <a:solidFill>
            <a:srgbClr val="FF8C8C"/>
          </a:solidFill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3091232" y="2597892"/>
            <a:ext cx="249644" cy="910606"/>
          </a:xfrm>
          <a:prstGeom prst="rect">
            <a:avLst/>
          </a:prstGeom>
          <a:solidFill>
            <a:srgbClr val="EB0000"/>
          </a:solidFill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 Box 10">
            <a:extLst>
              <a:ext uri="{FF2B5EF4-FFF2-40B4-BE49-F238E27FC236}">
                <a16:creationId xmlns=""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574" y="4123743"/>
            <a:ext cx="8504615" cy="954107"/>
          </a:xfrm>
          <a:prstGeom prst="rect">
            <a:avLst/>
          </a:prstGeom>
          <a:solidFill>
            <a:schemeClr val="bg1"/>
          </a:solidFill>
          <a:ln w="38100" cmpd="sng">
            <a:solidFill>
              <a:srgbClr val="BC0000"/>
            </a:solidFill>
            <a:miter lim="800000"/>
            <a:headEnd/>
            <a:tailEnd/>
          </a:ln>
          <a:effectLst>
            <a:outerShdw blurRad="63500" dist="38099" dir="2700000" algn="ctr" rotWithShape="0">
              <a:schemeClr val="bg2">
                <a:alpha val="74998"/>
              </a:schemeClr>
            </a:outerShdw>
          </a:effectLst>
          <a:extLst/>
        </p:spPr>
        <p:txBody>
          <a:bodyPr wrap="square">
            <a:spAutoFit/>
          </a:bodyPr>
          <a:lstStyle/>
          <a:p>
            <a:r>
              <a:rPr lang="en-US" altLang="ja-JP" sz="2800" b="1" dirty="0">
                <a:cs typeface="Courier New"/>
              </a:rPr>
              <a:t>recombination</a:t>
            </a:r>
            <a:r>
              <a:rPr lang="en-US" altLang="ja-JP" sz="2800" dirty="0">
                <a:cs typeface="Courier New"/>
              </a:rPr>
              <a:t>: combine hypotheses with identical final labels, keep </a:t>
            </a:r>
            <a:r>
              <a:rPr lang="en-US" altLang="ja-JP" sz="2800" dirty="0" err="1">
                <a:cs typeface="Courier New"/>
              </a:rPr>
              <a:t>backpointer</a:t>
            </a:r>
            <a:r>
              <a:rPr lang="en-US" altLang="ja-JP" sz="2800" dirty="0">
                <a:cs typeface="Courier New"/>
              </a:rPr>
              <a:t> for higher-scoring hypothesis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82041" y="1722523"/>
            <a:ext cx="910506" cy="910606"/>
          </a:xfrm>
          <a:prstGeom prst="rect">
            <a:avLst/>
          </a:prstGeom>
          <a:noFill/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 Box 10">
            <a:extLst>
              <a:ext uri="{FF2B5EF4-FFF2-40B4-BE49-F238E27FC236}">
                <a16:creationId xmlns=""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0678" y="1874747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BC0000"/>
                </a:solidFill>
                <a:latin typeface="Courier New"/>
                <a:cs typeface="Courier New"/>
              </a:rPr>
              <a:t>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02021" y="1727296"/>
            <a:ext cx="247359" cy="910606"/>
          </a:xfrm>
          <a:prstGeom prst="rect">
            <a:avLst/>
          </a:prstGeom>
          <a:solidFill>
            <a:srgbClr val="EB0000"/>
          </a:solidFill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EB0000"/>
              </a:solidFill>
            </a:endParaRPr>
          </a:p>
        </p:txBody>
      </p:sp>
      <p:cxnSp>
        <p:nvCxnSpPr>
          <p:cNvPr id="27" name="Straight Arrow Connector 26"/>
          <p:cNvCxnSpPr>
            <a:stCxn id="32" idx="3"/>
            <a:endCxn id="25" idx="1"/>
          </p:cNvCxnSpPr>
          <p:nvPr/>
        </p:nvCxnSpPr>
        <p:spPr bwMode="auto">
          <a:xfrm flipV="1">
            <a:off x="3336816" y="2136357"/>
            <a:ext cx="853862" cy="8503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BC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Straight Arrow Connector 37"/>
          <p:cNvCxnSpPr/>
          <p:nvPr/>
        </p:nvCxnSpPr>
        <p:spPr bwMode="auto">
          <a:xfrm flipV="1">
            <a:off x="3346290" y="3060814"/>
            <a:ext cx="853862" cy="8503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BC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" name="Rectangle 38">
            <a:extLst>
              <a:ext uri="{FF2B5EF4-FFF2-40B4-BE49-F238E27FC236}">
                <a16:creationId xmlns="" xmlns:a16="http://schemas.microsoft.com/office/drawing/2014/main" id="{D34F54B6-7A5A-514A-9D7A-4555F9E45841}"/>
              </a:ext>
            </a:extLst>
          </p:cNvPr>
          <p:cNvSpPr/>
          <p:nvPr/>
        </p:nvSpPr>
        <p:spPr>
          <a:xfrm>
            <a:off x="4179756" y="2637974"/>
            <a:ext cx="910506" cy="910606"/>
          </a:xfrm>
          <a:prstGeom prst="rect">
            <a:avLst/>
          </a:prstGeom>
          <a:noFill/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 Box 10">
            <a:extLst>
              <a:ext uri="{FF2B5EF4-FFF2-40B4-BE49-F238E27FC236}">
                <a16:creationId xmlns="" xmlns:a16="http://schemas.microsoft.com/office/drawing/2014/main" id="{DAF80BB3-38FA-1E4F-BEF0-5FF5034127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8393" y="2790198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BC0000"/>
                </a:solidFill>
                <a:latin typeface="Courier New"/>
                <a:cs typeface="Courier New"/>
              </a:rPr>
              <a:t>D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="" xmlns:a16="http://schemas.microsoft.com/office/drawing/2014/main" id="{B3D90A76-63A5-ED46-8832-8F9868D070F5}"/>
              </a:ext>
            </a:extLst>
          </p:cNvPr>
          <p:cNvSpPr/>
          <p:nvPr/>
        </p:nvSpPr>
        <p:spPr>
          <a:xfrm>
            <a:off x="5099736" y="2642747"/>
            <a:ext cx="249644" cy="910606"/>
          </a:xfrm>
          <a:prstGeom prst="rect">
            <a:avLst/>
          </a:prstGeom>
          <a:solidFill>
            <a:srgbClr val="FFC2C2"/>
          </a:solidFill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0208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0" grpId="0"/>
      <p:bldP spid="4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Recombination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02030" y="1689413"/>
            <a:ext cx="910506" cy="910606"/>
          </a:xfrm>
          <a:prstGeom prst="rect">
            <a:avLst/>
          </a:prstGeom>
          <a:noFill/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Box 10">
            <a:extLst>
              <a:ext uri="{FF2B5EF4-FFF2-40B4-BE49-F238E27FC236}">
                <a16:creationId xmlns=""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6600" y="899361"/>
            <a:ext cx="648471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sz="2800" dirty="0">
                <a:solidFill>
                  <a:srgbClr val="288CD2"/>
                </a:solidFill>
                <a:cs typeface="Courier New"/>
              </a:rPr>
              <a:t>Lower                  the                 lights</a:t>
            </a:r>
          </a:p>
        </p:txBody>
      </p:sp>
      <p:sp>
        <p:nvSpPr>
          <p:cNvPr id="10" name="Text Box 10">
            <a:extLst>
              <a:ext uri="{FF2B5EF4-FFF2-40B4-BE49-F238E27FC236}">
                <a16:creationId xmlns=""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323" y="1844999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BC0000"/>
                </a:solidFill>
                <a:latin typeface="Courier New"/>
                <a:cs typeface="Courier New"/>
              </a:rPr>
              <a:t>&lt;s&gt;</a:t>
            </a:r>
          </a:p>
        </p:txBody>
      </p:sp>
      <p:cxnSp>
        <p:nvCxnSpPr>
          <p:cNvPr id="13" name="Straight Arrow Connector 12"/>
          <p:cNvCxnSpPr>
            <a:stCxn id="17" idx="3"/>
            <a:endCxn id="21" idx="1"/>
          </p:cNvCxnSpPr>
          <p:nvPr/>
        </p:nvCxnSpPr>
        <p:spPr bwMode="auto">
          <a:xfrm>
            <a:off x="1362180" y="2144716"/>
            <a:ext cx="811364" cy="0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BC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" name="Rectangle 16"/>
          <p:cNvSpPr/>
          <p:nvPr/>
        </p:nvSpPr>
        <p:spPr>
          <a:xfrm>
            <a:off x="1112536" y="1689413"/>
            <a:ext cx="249644" cy="910606"/>
          </a:xfrm>
          <a:prstGeom prst="rect">
            <a:avLst/>
          </a:prstGeom>
          <a:solidFill>
            <a:srgbClr val="BC0000"/>
          </a:solidFill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2173544" y="1689413"/>
            <a:ext cx="910506" cy="910606"/>
          </a:xfrm>
          <a:prstGeom prst="rect">
            <a:avLst/>
          </a:prstGeom>
          <a:noFill/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Box 10">
            <a:extLst>
              <a:ext uri="{FF2B5EF4-FFF2-40B4-BE49-F238E27FC236}">
                <a16:creationId xmlns=""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2181" y="1841637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BC0000"/>
                </a:solidFill>
                <a:latin typeface="Courier New"/>
                <a:cs typeface="Courier New"/>
              </a:rPr>
              <a:t>V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76666" y="2597855"/>
            <a:ext cx="910506" cy="910606"/>
          </a:xfrm>
          <a:prstGeom prst="rect">
            <a:avLst/>
          </a:prstGeom>
          <a:noFill/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 Box 10">
            <a:extLst>
              <a:ext uri="{FF2B5EF4-FFF2-40B4-BE49-F238E27FC236}">
                <a16:creationId xmlns=""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5303" y="2750079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BC0000"/>
                </a:solidFill>
                <a:latin typeface="Courier New"/>
                <a:cs typeface="Courier New"/>
              </a:rPr>
              <a:t>J</a:t>
            </a:r>
          </a:p>
        </p:txBody>
      </p:sp>
      <p:cxnSp>
        <p:nvCxnSpPr>
          <p:cNvPr id="30" name="Straight Arrow Connector 29"/>
          <p:cNvCxnSpPr>
            <a:stCxn id="17" idx="3"/>
            <a:endCxn id="28" idx="1"/>
          </p:cNvCxnSpPr>
          <p:nvPr/>
        </p:nvCxnSpPr>
        <p:spPr bwMode="auto">
          <a:xfrm>
            <a:off x="1362180" y="2144716"/>
            <a:ext cx="814486" cy="908442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BC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2" name="Rectangle 31"/>
          <p:cNvSpPr/>
          <p:nvPr/>
        </p:nvSpPr>
        <p:spPr>
          <a:xfrm>
            <a:off x="3087172" y="1689557"/>
            <a:ext cx="249644" cy="910606"/>
          </a:xfrm>
          <a:prstGeom prst="rect">
            <a:avLst/>
          </a:prstGeom>
          <a:solidFill>
            <a:srgbClr val="FF8C8C"/>
          </a:solidFill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3091232" y="2597892"/>
            <a:ext cx="249644" cy="910606"/>
          </a:xfrm>
          <a:prstGeom prst="rect">
            <a:avLst/>
          </a:prstGeom>
          <a:solidFill>
            <a:srgbClr val="EB0000"/>
          </a:solidFill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 Box 10">
            <a:extLst>
              <a:ext uri="{FF2B5EF4-FFF2-40B4-BE49-F238E27FC236}">
                <a16:creationId xmlns=""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374" y="4200709"/>
            <a:ext cx="8300055" cy="1661993"/>
          </a:xfrm>
          <a:prstGeom prst="rect">
            <a:avLst/>
          </a:prstGeom>
          <a:solidFill>
            <a:schemeClr val="bg1"/>
          </a:solidFill>
          <a:ln w="38100" cmpd="sng">
            <a:solidFill>
              <a:srgbClr val="BC0000"/>
            </a:solidFill>
            <a:miter lim="800000"/>
            <a:headEnd/>
            <a:tailEnd/>
          </a:ln>
          <a:effectLst>
            <a:outerShdw blurRad="63500" dist="38099" dir="2700000" algn="ctr" rotWithShape="0">
              <a:schemeClr val="bg2">
                <a:alpha val="74998"/>
              </a:schemeClr>
            </a:outerShdw>
          </a:effectLst>
          <a:extLst/>
        </p:spPr>
        <p:txBody>
          <a:bodyPr wrap="square">
            <a:spAutoFit/>
          </a:bodyPr>
          <a:lstStyle/>
          <a:p>
            <a:r>
              <a:rPr lang="en-US" altLang="ja-JP" sz="2800" dirty="0">
                <a:cs typeface="Courier New"/>
              </a:rPr>
              <a:t>recombination can make better use of hypothesis set</a:t>
            </a:r>
          </a:p>
          <a:p>
            <a:endParaRPr lang="en-US" altLang="ja-JP" dirty="0">
              <a:cs typeface="Courier New"/>
            </a:endParaRPr>
          </a:p>
          <a:p>
            <a:r>
              <a:rPr lang="en-US" altLang="ja-JP" sz="2800" dirty="0">
                <a:cs typeface="Courier New"/>
              </a:rPr>
              <a:t>above, we now have space to add another hypothesis and increase label diversity at this position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82041" y="1722523"/>
            <a:ext cx="910506" cy="910606"/>
          </a:xfrm>
          <a:prstGeom prst="rect">
            <a:avLst/>
          </a:prstGeom>
          <a:noFill/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 Box 10">
            <a:extLst>
              <a:ext uri="{FF2B5EF4-FFF2-40B4-BE49-F238E27FC236}">
                <a16:creationId xmlns=""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0678" y="1874747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BC0000"/>
                </a:solidFill>
                <a:latin typeface="Courier New"/>
                <a:cs typeface="Courier New"/>
              </a:rPr>
              <a:t>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02021" y="1727296"/>
            <a:ext cx="247359" cy="910606"/>
          </a:xfrm>
          <a:prstGeom prst="rect">
            <a:avLst/>
          </a:prstGeom>
          <a:solidFill>
            <a:srgbClr val="EB0000"/>
          </a:solidFill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EB0000"/>
              </a:solidFill>
            </a:endParaRPr>
          </a:p>
        </p:txBody>
      </p:sp>
      <p:cxnSp>
        <p:nvCxnSpPr>
          <p:cNvPr id="27" name="Straight Arrow Connector 26"/>
          <p:cNvCxnSpPr>
            <a:stCxn id="32" idx="3"/>
            <a:endCxn id="25" idx="1"/>
          </p:cNvCxnSpPr>
          <p:nvPr/>
        </p:nvCxnSpPr>
        <p:spPr bwMode="auto">
          <a:xfrm flipV="1">
            <a:off x="3336816" y="2136357"/>
            <a:ext cx="853862" cy="8503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BC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1" name="Rectangle 30"/>
          <p:cNvSpPr/>
          <p:nvPr/>
        </p:nvSpPr>
        <p:spPr>
          <a:xfrm>
            <a:off x="4179756" y="2637974"/>
            <a:ext cx="910506" cy="910606"/>
          </a:xfrm>
          <a:prstGeom prst="rect">
            <a:avLst/>
          </a:prstGeom>
          <a:noFill/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 Box 10">
            <a:extLst>
              <a:ext uri="{FF2B5EF4-FFF2-40B4-BE49-F238E27FC236}">
                <a16:creationId xmlns=""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8393" y="2790198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BC0000"/>
                </a:solidFill>
                <a:latin typeface="Courier New"/>
                <a:cs typeface="Courier New"/>
              </a:rPr>
              <a:t>J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99736" y="2642747"/>
            <a:ext cx="249644" cy="910606"/>
          </a:xfrm>
          <a:prstGeom prst="rect">
            <a:avLst/>
          </a:prstGeom>
          <a:solidFill>
            <a:srgbClr val="FFC2C2"/>
          </a:solidFill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/>
          <p:cNvCxnSpPr>
            <a:cxnSpLocks/>
            <a:stCxn id="32" idx="3"/>
          </p:cNvCxnSpPr>
          <p:nvPr/>
        </p:nvCxnSpPr>
        <p:spPr bwMode="auto">
          <a:xfrm>
            <a:off x="3336816" y="2144860"/>
            <a:ext cx="863336" cy="915955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BC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60226739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31" grpId="0" animBg="1"/>
      <p:bldP spid="33" grpId="0"/>
      <p:bldP spid="3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Recombination with Ranked </a:t>
            </a:r>
            <a:r>
              <a:rPr lang="en-US" sz="3600" dirty="0" err="1"/>
              <a:t>Backpointers</a:t>
            </a:r>
            <a:endParaRPr lang="en-US" sz="3600" dirty="0"/>
          </a:p>
        </p:txBody>
      </p:sp>
      <p:sp>
        <p:nvSpPr>
          <p:cNvPr id="7" name="Rectangle 6"/>
          <p:cNvSpPr/>
          <p:nvPr/>
        </p:nvSpPr>
        <p:spPr>
          <a:xfrm>
            <a:off x="202030" y="1689413"/>
            <a:ext cx="910506" cy="910606"/>
          </a:xfrm>
          <a:prstGeom prst="rect">
            <a:avLst/>
          </a:prstGeom>
          <a:noFill/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Box 10">
            <a:extLst>
              <a:ext uri="{FF2B5EF4-FFF2-40B4-BE49-F238E27FC236}">
                <a16:creationId xmlns=""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6600" y="899361"/>
            <a:ext cx="6484714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sz="2800" dirty="0">
                <a:solidFill>
                  <a:srgbClr val="288CD2"/>
                </a:solidFill>
                <a:cs typeface="Courier New"/>
              </a:rPr>
              <a:t>Lower                  the                 lights</a:t>
            </a:r>
          </a:p>
        </p:txBody>
      </p:sp>
      <p:sp>
        <p:nvSpPr>
          <p:cNvPr id="10" name="Text Box 10">
            <a:extLst>
              <a:ext uri="{FF2B5EF4-FFF2-40B4-BE49-F238E27FC236}">
                <a16:creationId xmlns=""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323" y="1844999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BC0000"/>
                </a:solidFill>
                <a:latin typeface="Courier New"/>
                <a:cs typeface="Courier New"/>
              </a:rPr>
              <a:t>&lt;s&gt;</a:t>
            </a:r>
          </a:p>
        </p:txBody>
      </p:sp>
      <p:cxnSp>
        <p:nvCxnSpPr>
          <p:cNvPr id="13" name="Straight Arrow Connector 12"/>
          <p:cNvCxnSpPr>
            <a:stCxn id="17" idx="3"/>
            <a:endCxn id="21" idx="1"/>
          </p:cNvCxnSpPr>
          <p:nvPr/>
        </p:nvCxnSpPr>
        <p:spPr bwMode="auto">
          <a:xfrm>
            <a:off x="1362180" y="2144716"/>
            <a:ext cx="811364" cy="0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BC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" name="Rectangle 16"/>
          <p:cNvSpPr/>
          <p:nvPr/>
        </p:nvSpPr>
        <p:spPr>
          <a:xfrm>
            <a:off x="1112536" y="1689413"/>
            <a:ext cx="249644" cy="910606"/>
          </a:xfrm>
          <a:prstGeom prst="rect">
            <a:avLst/>
          </a:prstGeom>
          <a:solidFill>
            <a:srgbClr val="BC0000"/>
          </a:solidFill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2173544" y="1689413"/>
            <a:ext cx="910506" cy="910606"/>
          </a:xfrm>
          <a:prstGeom prst="rect">
            <a:avLst/>
          </a:prstGeom>
          <a:noFill/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Box 10">
            <a:extLst>
              <a:ext uri="{FF2B5EF4-FFF2-40B4-BE49-F238E27FC236}">
                <a16:creationId xmlns=""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2181" y="1841637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BC0000"/>
                </a:solidFill>
                <a:latin typeface="Courier New"/>
                <a:cs typeface="Courier New"/>
              </a:rPr>
              <a:t>V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76666" y="2597855"/>
            <a:ext cx="910506" cy="910606"/>
          </a:xfrm>
          <a:prstGeom prst="rect">
            <a:avLst/>
          </a:prstGeom>
          <a:noFill/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 Box 10">
            <a:extLst>
              <a:ext uri="{FF2B5EF4-FFF2-40B4-BE49-F238E27FC236}">
                <a16:creationId xmlns=""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5303" y="2750079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BC0000"/>
                </a:solidFill>
                <a:latin typeface="Courier New"/>
                <a:cs typeface="Courier New"/>
              </a:rPr>
              <a:t>J</a:t>
            </a:r>
          </a:p>
        </p:txBody>
      </p:sp>
      <p:cxnSp>
        <p:nvCxnSpPr>
          <p:cNvPr id="30" name="Straight Arrow Connector 29"/>
          <p:cNvCxnSpPr>
            <a:stCxn id="17" idx="3"/>
            <a:endCxn id="28" idx="1"/>
          </p:cNvCxnSpPr>
          <p:nvPr/>
        </p:nvCxnSpPr>
        <p:spPr bwMode="auto">
          <a:xfrm>
            <a:off x="1362180" y="2144716"/>
            <a:ext cx="814486" cy="908442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BC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2" name="Rectangle 31"/>
          <p:cNvSpPr/>
          <p:nvPr/>
        </p:nvSpPr>
        <p:spPr>
          <a:xfrm>
            <a:off x="3087172" y="1689557"/>
            <a:ext cx="249644" cy="910606"/>
          </a:xfrm>
          <a:prstGeom prst="rect">
            <a:avLst/>
          </a:prstGeom>
          <a:solidFill>
            <a:srgbClr val="FF8C8C"/>
          </a:solidFill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3091232" y="2597892"/>
            <a:ext cx="249644" cy="910606"/>
          </a:xfrm>
          <a:prstGeom prst="rect">
            <a:avLst/>
          </a:prstGeom>
          <a:solidFill>
            <a:srgbClr val="EB0000"/>
          </a:solidFill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 Box 10">
            <a:extLst>
              <a:ext uri="{FF2B5EF4-FFF2-40B4-BE49-F238E27FC236}">
                <a16:creationId xmlns=""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323" y="3660330"/>
            <a:ext cx="8780391" cy="2308324"/>
          </a:xfrm>
          <a:prstGeom prst="rect">
            <a:avLst/>
          </a:prstGeom>
          <a:solidFill>
            <a:schemeClr val="bg1"/>
          </a:solidFill>
          <a:ln w="38100" cmpd="sng">
            <a:solidFill>
              <a:srgbClr val="BC0000"/>
            </a:solidFill>
            <a:miter lim="800000"/>
            <a:headEnd/>
            <a:tailEnd/>
          </a:ln>
          <a:effectLst>
            <a:outerShdw blurRad="63500" dist="38099" dir="2700000" algn="ctr" rotWithShape="0">
              <a:schemeClr val="bg2">
                <a:alpha val="74998"/>
              </a:schemeClr>
            </a:outerShdw>
          </a:effectLst>
          <a:extLst/>
        </p:spPr>
        <p:txBody>
          <a:bodyPr wrap="square">
            <a:spAutoFit/>
          </a:bodyPr>
          <a:lstStyle/>
          <a:p>
            <a:r>
              <a:rPr lang="en-US" altLang="ja-JP" sz="2800" dirty="0">
                <a:cs typeface="Courier New"/>
              </a:rPr>
              <a:t>we could keep both </a:t>
            </a:r>
            <a:r>
              <a:rPr lang="en-US" altLang="ja-JP" sz="2800" dirty="0" err="1">
                <a:cs typeface="Courier New"/>
              </a:rPr>
              <a:t>backpointers</a:t>
            </a:r>
            <a:r>
              <a:rPr lang="en-US" altLang="ja-JP" sz="2800" dirty="0">
                <a:cs typeface="Courier New"/>
              </a:rPr>
              <a:t>, distinguishing them according to score rank</a:t>
            </a:r>
          </a:p>
          <a:p>
            <a:endParaRPr lang="en-US" altLang="ja-JP" sz="1600" dirty="0">
              <a:cs typeface="Courier New"/>
            </a:endParaRPr>
          </a:p>
          <a:p>
            <a:r>
              <a:rPr lang="en-US" altLang="ja-JP" sz="2800" dirty="0">
                <a:cs typeface="Courier New"/>
              </a:rPr>
              <a:t>this adds overhead, but could help us later in beam search</a:t>
            </a:r>
          </a:p>
          <a:p>
            <a:endParaRPr lang="en-US" altLang="ja-JP" sz="1600" dirty="0">
              <a:cs typeface="Courier New"/>
            </a:endParaRPr>
          </a:p>
          <a:p>
            <a:r>
              <a:rPr lang="en-US" altLang="ja-JP" sz="2800" dirty="0">
                <a:cs typeface="Courier New"/>
              </a:rPr>
              <a:t>commonly done if we want (approximate) </a:t>
            </a:r>
            <a:r>
              <a:rPr lang="en-US" altLang="ja-JP" sz="2800" i="1" dirty="0">
                <a:cs typeface="Courier New"/>
              </a:rPr>
              <a:t>n</a:t>
            </a:r>
            <a:r>
              <a:rPr lang="en-US" altLang="ja-JP" sz="2800" dirty="0">
                <a:cs typeface="Courier New"/>
              </a:rPr>
              <a:t>-best lists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82041" y="1722523"/>
            <a:ext cx="910506" cy="910606"/>
          </a:xfrm>
          <a:prstGeom prst="rect">
            <a:avLst/>
          </a:prstGeom>
          <a:noFill/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 Box 10">
            <a:extLst>
              <a:ext uri="{FF2B5EF4-FFF2-40B4-BE49-F238E27FC236}">
                <a16:creationId xmlns=""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0678" y="1874747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BC0000"/>
                </a:solidFill>
                <a:latin typeface="Courier New"/>
                <a:cs typeface="Courier New"/>
              </a:rPr>
              <a:t>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02021" y="1727296"/>
            <a:ext cx="247359" cy="910606"/>
          </a:xfrm>
          <a:prstGeom prst="rect">
            <a:avLst/>
          </a:prstGeom>
          <a:solidFill>
            <a:srgbClr val="EB0000"/>
          </a:solidFill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EB0000"/>
              </a:solidFill>
            </a:endParaRPr>
          </a:p>
        </p:txBody>
      </p:sp>
      <p:cxnSp>
        <p:nvCxnSpPr>
          <p:cNvPr id="27" name="Straight Arrow Connector 26"/>
          <p:cNvCxnSpPr>
            <a:stCxn id="32" idx="3"/>
            <a:endCxn id="25" idx="1"/>
          </p:cNvCxnSpPr>
          <p:nvPr/>
        </p:nvCxnSpPr>
        <p:spPr bwMode="auto">
          <a:xfrm flipV="1">
            <a:off x="3336816" y="2136357"/>
            <a:ext cx="853862" cy="8503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BC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" name="Straight Arrow Connector 37"/>
          <p:cNvCxnSpPr>
            <a:cxnSpLocks/>
            <a:endCxn id="24" idx="1"/>
          </p:cNvCxnSpPr>
          <p:nvPr/>
        </p:nvCxnSpPr>
        <p:spPr bwMode="auto">
          <a:xfrm flipV="1">
            <a:off x="3346290" y="2177826"/>
            <a:ext cx="835751" cy="891492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BC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1" name="Text Box 10">
            <a:extLst>
              <a:ext uri="{FF2B5EF4-FFF2-40B4-BE49-F238E27FC236}">
                <a16:creationId xmlns="" xmlns:a16="http://schemas.microsoft.com/office/drawing/2014/main" id="{056BAC8A-69C4-324D-9D16-87BED32A08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79208" y="1946929"/>
            <a:ext cx="217715" cy="307777"/>
          </a:xfrm>
          <a:prstGeom prst="rect">
            <a:avLst/>
          </a:prstGeom>
          <a:solidFill>
            <a:schemeClr val="bg1"/>
          </a:solidFill>
          <a:ln w="38100">
            <a:solidFill>
              <a:srgbClr val="BC0000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1400" dirty="0">
                <a:solidFill>
                  <a:srgbClr val="BC0000"/>
                </a:solidFill>
                <a:cs typeface="Courier New"/>
              </a:rPr>
              <a:t>1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="" xmlns:a16="http://schemas.microsoft.com/office/drawing/2014/main" id="{00A15D6E-5630-664F-A1C4-D53E415BC26E}"/>
              </a:ext>
            </a:extLst>
          </p:cNvPr>
          <p:cNvSpPr/>
          <p:nvPr/>
        </p:nvSpPr>
        <p:spPr>
          <a:xfrm>
            <a:off x="4179756" y="2637974"/>
            <a:ext cx="910506" cy="910606"/>
          </a:xfrm>
          <a:prstGeom prst="rect">
            <a:avLst/>
          </a:prstGeom>
          <a:noFill/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 Box 10">
            <a:extLst>
              <a:ext uri="{FF2B5EF4-FFF2-40B4-BE49-F238E27FC236}">
                <a16:creationId xmlns="" xmlns:a16="http://schemas.microsoft.com/office/drawing/2014/main" id="{EFC3AAC2-5E2E-DA49-A051-9DDFEF55C6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8393" y="2790198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BC0000"/>
                </a:solidFill>
                <a:latin typeface="Courier New"/>
                <a:cs typeface="Courier New"/>
              </a:rPr>
              <a:t>J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="" xmlns:a16="http://schemas.microsoft.com/office/drawing/2014/main" id="{E91DAF66-0660-1E4C-BC21-C31515DFCFDC}"/>
              </a:ext>
            </a:extLst>
          </p:cNvPr>
          <p:cNvSpPr/>
          <p:nvPr/>
        </p:nvSpPr>
        <p:spPr>
          <a:xfrm>
            <a:off x="5099736" y="2642747"/>
            <a:ext cx="249644" cy="910606"/>
          </a:xfrm>
          <a:prstGeom prst="rect">
            <a:avLst/>
          </a:prstGeom>
          <a:solidFill>
            <a:srgbClr val="FFC2C2"/>
          </a:solidFill>
          <a:ln w="38100" cmpd="sng">
            <a:solidFill>
              <a:srgbClr val="BC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="" xmlns:a16="http://schemas.microsoft.com/office/drawing/2014/main" id="{A6A63031-F69D-CD49-8E82-EBF1DDE92863}"/>
              </a:ext>
            </a:extLst>
          </p:cNvPr>
          <p:cNvCxnSpPr>
            <a:cxnSpLocks/>
            <a:endCxn id="35" idx="1"/>
          </p:cNvCxnSpPr>
          <p:nvPr/>
        </p:nvCxnSpPr>
        <p:spPr bwMode="auto">
          <a:xfrm>
            <a:off x="3336816" y="2144860"/>
            <a:ext cx="842940" cy="948417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BC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3" name="Text Box 10">
            <a:extLst>
              <a:ext uri="{FF2B5EF4-FFF2-40B4-BE49-F238E27FC236}">
                <a16:creationId xmlns="" xmlns:a16="http://schemas.microsoft.com/office/drawing/2014/main" id="{39270684-CD24-7E49-85D3-42BA63411F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8711" y="2230965"/>
            <a:ext cx="217715" cy="307777"/>
          </a:xfrm>
          <a:prstGeom prst="rect">
            <a:avLst/>
          </a:prstGeom>
          <a:solidFill>
            <a:schemeClr val="bg1"/>
          </a:solidFill>
          <a:ln w="38100">
            <a:solidFill>
              <a:srgbClr val="BC0000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1400" dirty="0">
                <a:solidFill>
                  <a:srgbClr val="BC0000"/>
                </a:solidFill>
                <a:cs typeface="Courier New"/>
              </a:rPr>
              <a:t>1</a:t>
            </a:r>
          </a:p>
        </p:txBody>
      </p:sp>
      <p:sp>
        <p:nvSpPr>
          <p:cNvPr id="45" name="Text Box 10">
            <a:extLst>
              <a:ext uri="{FF2B5EF4-FFF2-40B4-BE49-F238E27FC236}">
                <a16:creationId xmlns="" xmlns:a16="http://schemas.microsoft.com/office/drawing/2014/main" id="{19C31525-FB68-8A49-B75A-75C805AF22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0547" y="2713783"/>
            <a:ext cx="217841" cy="307777"/>
          </a:xfrm>
          <a:prstGeom prst="rect">
            <a:avLst/>
          </a:prstGeom>
          <a:solidFill>
            <a:schemeClr val="bg1"/>
          </a:solidFill>
          <a:ln w="38100">
            <a:solidFill>
              <a:srgbClr val="BC0000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1400" dirty="0">
                <a:solidFill>
                  <a:srgbClr val="BC0000"/>
                </a:solidFill>
                <a:cs typeface="Courier New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80873457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B546E4A-6EB2-7C44-B74E-0F2664526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Recombination in Beam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72BB265-2E5C-EF42-A0CD-14DE13407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73740"/>
            <a:ext cx="9144000" cy="5052424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recombination has been successfully used in beam search for phrase-based machine translation</a:t>
            </a:r>
          </a:p>
          <a:p>
            <a:endParaRPr lang="en-US" dirty="0"/>
          </a:p>
          <a:p>
            <a:r>
              <a:rPr lang="en-US" dirty="0"/>
              <a:t>incurs additional overhead, but improves hypothesis diversity</a:t>
            </a:r>
          </a:p>
          <a:p>
            <a:endParaRPr lang="en-US" dirty="0"/>
          </a:p>
          <a:p>
            <a:r>
              <a:rPr lang="en-US" dirty="0"/>
              <a:t>exact (lossless) recombination only feasible with small parts</a:t>
            </a:r>
          </a:p>
          <a:p>
            <a:endParaRPr lang="en-US" dirty="0"/>
          </a:p>
          <a:p>
            <a:r>
              <a:rPr lang="en-US" dirty="0"/>
              <a:t>as with other beam search components (extend hypotheses / prune hypothesis set), recombination must be defined by modeler for particular problem / score function in use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F73A407A-CD81-6E4A-9379-2B35B20D6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51075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F96DCB1-1C1B-294B-9B0D-BBB7DC698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Beam Search for Phrase-Based Machine Translation</a:t>
            </a:r>
          </a:p>
        </p:txBody>
      </p:sp>
      <p:sp>
        <p:nvSpPr>
          <p:cNvPr id="7" name="Text Box 10">
            <a:extLst>
              <a:ext uri="{FF2B5EF4-FFF2-40B4-BE49-F238E27FC236}">
                <a16:creationId xmlns="" xmlns:a16="http://schemas.microsoft.com/office/drawing/2014/main" id="{305E911E-FC8D-9A42-84FD-955244BC19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1262" y="6259810"/>
            <a:ext cx="536587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sz="2400" dirty="0">
                <a:solidFill>
                  <a:srgbClr val="288CD2"/>
                </a:solidFill>
                <a:cs typeface="Courier New"/>
              </a:rPr>
              <a:t>Koehn: </a:t>
            </a:r>
            <a:r>
              <a:rPr lang="en-US" altLang="ja-JP" sz="2400" i="1" dirty="0">
                <a:solidFill>
                  <a:srgbClr val="288CD2"/>
                </a:solidFill>
                <a:cs typeface="Courier New"/>
              </a:rPr>
              <a:t>Statistical Machine Translation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18D97894-A8A5-CB49-8EB7-8BBDB5712E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133" y="804736"/>
            <a:ext cx="8119696" cy="5362823"/>
          </a:xfrm>
          <a:prstGeom prst="rect">
            <a:avLst/>
          </a:prstGeom>
        </p:spPr>
      </p:pic>
      <p:sp>
        <p:nvSpPr>
          <p:cNvPr id="8" name="Text Box 10">
            <a:extLst>
              <a:ext uri="{FF2B5EF4-FFF2-40B4-BE49-F238E27FC236}">
                <a16:creationId xmlns="" xmlns:a16="http://schemas.microsoft.com/office/drawing/2014/main" id="{F804792C-3902-9B4B-BC91-4A83620120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019" y="804736"/>
            <a:ext cx="3855481" cy="1569660"/>
          </a:xfrm>
          <a:prstGeom prst="rect">
            <a:avLst/>
          </a:prstGeom>
          <a:solidFill>
            <a:srgbClr val="288CD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sz="2400" dirty="0">
                <a:solidFill>
                  <a:schemeClr val="bg1"/>
                </a:solidFill>
                <a:cs typeface="Courier New"/>
              </a:rPr>
              <a:t>hypothesis sets are separated based on how many source words </a:t>
            </a:r>
            <a:r>
              <a:rPr lang="en-US" altLang="ja-JP" sz="2400" dirty="0" smtClean="0">
                <a:solidFill>
                  <a:schemeClr val="bg1"/>
                </a:solidFill>
                <a:cs typeface="Courier New"/>
              </a:rPr>
              <a:t>have been </a:t>
            </a:r>
            <a:r>
              <a:rPr lang="en-US" altLang="ja-JP" sz="2400" dirty="0">
                <a:solidFill>
                  <a:schemeClr val="bg1"/>
                </a:solidFill>
                <a:cs typeface="Courier New"/>
              </a:rPr>
              <a:t>translated</a:t>
            </a:r>
          </a:p>
        </p:txBody>
      </p:sp>
    </p:spTree>
    <p:extLst>
      <p:ext uri="{BB962C8B-B14F-4D97-AF65-F5344CB8AC3E}">
        <p14:creationId xmlns:p14="http://schemas.microsoft.com/office/powerpoint/2010/main" val="39967272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F96DCB1-1C1B-294B-9B0D-BBB7DC698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Recombination for Phrase-Based Machine Translation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FD20A417-64CC-F947-AA4F-026DCAD983A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0964"/>
          <a:stretch/>
        </p:blipFill>
        <p:spPr>
          <a:xfrm>
            <a:off x="0" y="1028698"/>
            <a:ext cx="9144000" cy="5051829"/>
          </a:xfrm>
          <a:prstGeom prst="rect">
            <a:avLst/>
          </a:prstGeom>
        </p:spPr>
      </p:pic>
      <p:sp>
        <p:nvSpPr>
          <p:cNvPr id="5" name="Text Box 10">
            <a:extLst>
              <a:ext uri="{FF2B5EF4-FFF2-40B4-BE49-F238E27FC236}">
                <a16:creationId xmlns="" xmlns:a16="http://schemas.microsoft.com/office/drawing/2014/main" id="{23F8E538-7C87-1140-90BD-1FE44C7266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1262" y="6259810"/>
            <a:ext cx="536587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sz="2400" dirty="0">
                <a:solidFill>
                  <a:srgbClr val="288CD2"/>
                </a:solidFill>
                <a:cs typeface="Courier New"/>
              </a:rPr>
              <a:t>Koehn: </a:t>
            </a:r>
            <a:r>
              <a:rPr lang="en-US" altLang="ja-JP" sz="2400" i="1" dirty="0">
                <a:solidFill>
                  <a:srgbClr val="288CD2"/>
                </a:solidFill>
                <a:cs typeface="Courier New"/>
              </a:rPr>
              <a:t>Statistical Machine Translation</a:t>
            </a:r>
          </a:p>
        </p:txBody>
      </p:sp>
    </p:spTree>
    <p:extLst>
      <p:ext uri="{BB962C8B-B14F-4D97-AF65-F5344CB8AC3E}">
        <p14:creationId xmlns:p14="http://schemas.microsoft.com/office/powerpoint/2010/main" val="43404158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F96DCB1-1C1B-294B-9B0D-BBB7DC698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Recombination for Phrase-Based Machine Translation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D2640310-F88D-8540-9C40-FB097A8008C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947"/>
          <a:stretch/>
        </p:blipFill>
        <p:spPr>
          <a:xfrm>
            <a:off x="1061356" y="1081768"/>
            <a:ext cx="6755799" cy="4994502"/>
          </a:xfrm>
          <a:prstGeom prst="rect">
            <a:avLst/>
          </a:prstGeom>
        </p:spPr>
      </p:pic>
      <p:sp>
        <p:nvSpPr>
          <p:cNvPr id="5" name="Text Box 10">
            <a:extLst>
              <a:ext uri="{FF2B5EF4-FFF2-40B4-BE49-F238E27FC236}">
                <a16:creationId xmlns="" xmlns:a16="http://schemas.microsoft.com/office/drawing/2014/main" id="{020BDF6A-F668-D645-9727-C335A1DFEB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019" y="2818683"/>
            <a:ext cx="4696402" cy="1200329"/>
          </a:xfrm>
          <a:prstGeom prst="rect">
            <a:avLst/>
          </a:prstGeom>
          <a:solidFill>
            <a:srgbClr val="288CD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sz="2400" dirty="0">
                <a:solidFill>
                  <a:schemeClr val="bg1"/>
                </a:solidFill>
                <a:cs typeface="Courier New"/>
              </a:rPr>
              <a:t>this situation (“spurious ambiguity”) sometimes arises in structured prediction tasks</a:t>
            </a:r>
          </a:p>
        </p:txBody>
      </p:sp>
      <p:sp>
        <p:nvSpPr>
          <p:cNvPr id="10" name="Text Box 10">
            <a:extLst>
              <a:ext uri="{FF2B5EF4-FFF2-40B4-BE49-F238E27FC236}">
                <a16:creationId xmlns="" xmlns:a16="http://schemas.microsoft.com/office/drawing/2014/main" id="{AA77E63C-FF84-4E45-9E61-741735CAB5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1262" y="6259810"/>
            <a:ext cx="536587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sz="2400" dirty="0">
                <a:solidFill>
                  <a:srgbClr val="288CD2"/>
                </a:solidFill>
                <a:cs typeface="Courier New"/>
              </a:rPr>
              <a:t>Koehn: </a:t>
            </a:r>
            <a:r>
              <a:rPr lang="en-US" altLang="ja-JP" sz="2400" i="1" dirty="0">
                <a:solidFill>
                  <a:srgbClr val="288CD2"/>
                </a:solidFill>
                <a:cs typeface="Courier New"/>
              </a:rPr>
              <a:t>Statistical Machine Translation</a:t>
            </a:r>
          </a:p>
        </p:txBody>
      </p:sp>
    </p:spTree>
    <p:extLst>
      <p:ext uri="{BB962C8B-B14F-4D97-AF65-F5344CB8AC3E}">
        <p14:creationId xmlns:p14="http://schemas.microsoft.com/office/powerpoint/2010/main" val="25719036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6CEC437-1D61-7C43-ACE9-3396ED9B8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Gradient Descent for Inference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24DB657-CF99-9249-BD1D-C76FCF25CE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465" y="1989548"/>
            <a:ext cx="8923564" cy="4803138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note: we’re talking about using gradient descent for </a:t>
            </a:r>
            <a:r>
              <a:rPr lang="en-US" i="1" dirty="0"/>
              <a:t>inference</a:t>
            </a:r>
            <a:r>
              <a:rPr lang="en-US" dirty="0"/>
              <a:t>, not learning</a:t>
            </a:r>
          </a:p>
          <a:p>
            <a:endParaRPr lang="en-US" dirty="0"/>
          </a:p>
          <a:p>
            <a:r>
              <a:rPr lang="en-US" dirty="0"/>
              <a:t>in solving this argmax, we are doing optimization (over a discrete, structured space)</a:t>
            </a:r>
          </a:p>
          <a:p>
            <a:endParaRPr lang="en-US" dirty="0"/>
          </a:p>
          <a:p>
            <a:r>
              <a:rPr lang="en-US" dirty="0"/>
              <a:t>we can relax the output space from a discrete space to a continuous one, then apply any optimization method we want (e.g., gradient descent)</a:t>
            </a:r>
          </a:p>
          <a:p>
            <a:endParaRPr lang="en-US" dirty="0"/>
          </a:p>
          <a:p>
            <a:r>
              <a:rPr lang="en-US" dirty="0"/>
              <a:t>we just need ways to relax the discrete space and then ways to convert the “continuous structured output” to a discrete one after optimization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D218B959-9027-9249-8D69-BB7B85FC9A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2303" y="1126388"/>
            <a:ext cx="5753100" cy="63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93156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Relaxing Discrete Output Space for POS Tagging</a:t>
            </a:r>
          </a:p>
        </p:txBody>
      </p:sp>
      <p:sp>
        <p:nvSpPr>
          <p:cNvPr id="21" name="Text Box 10">
            <a:extLst>
              <a:ext uri="{FF2B5EF4-FFF2-40B4-BE49-F238E27FC236}">
                <a16:creationId xmlns=""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6746" y="5361945"/>
            <a:ext cx="8776606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sz="3200" dirty="0">
                <a:cs typeface="Courier New"/>
              </a:rPr>
              <a:t>first, represent discrete, structured output using one-hot vectors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="" xmlns:a16="http://schemas.microsoft.com/office/drawing/2014/main" id="{68DD321E-B179-B545-9C22-7688208F094D}"/>
              </a:ext>
            </a:extLst>
          </p:cNvPr>
          <p:cNvSpPr/>
          <p:nvPr/>
        </p:nvSpPr>
        <p:spPr>
          <a:xfrm rot="10800000">
            <a:off x="2954165" y="2476613"/>
            <a:ext cx="381000" cy="2391291"/>
          </a:xfrm>
          <a:prstGeom prst="roundRect">
            <a:avLst/>
          </a:prstGeom>
          <a:solidFill>
            <a:srgbClr val="288CD2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="" xmlns:a16="http://schemas.microsoft.com/office/drawing/2014/main" id="{BA02EAA2-94C1-664B-83F8-A16AEF79B620}"/>
              </a:ext>
            </a:extLst>
          </p:cNvPr>
          <p:cNvSpPr/>
          <p:nvPr/>
        </p:nvSpPr>
        <p:spPr>
          <a:xfrm rot="10800000">
            <a:off x="3030365" y="3772014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="" xmlns:a16="http://schemas.microsoft.com/office/drawing/2014/main" id="{A1AA0257-5AF3-D045-8EE3-1D4EDD7FA35E}"/>
              </a:ext>
            </a:extLst>
          </p:cNvPr>
          <p:cNvSpPr/>
          <p:nvPr/>
        </p:nvSpPr>
        <p:spPr>
          <a:xfrm rot="10800000">
            <a:off x="3030365" y="3391014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="" xmlns:a16="http://schemas.microsoft.com/office/drawing/2014/main" id="{4C6EFF22-7B68-1D46-B5C3-3EED555DD564}"/>
              </a:ext>
            </a:extLst>
          </p:cNvPr>
          <p:cNvSpPr/>
          <p:nvPr/>
        </p:nvSpPr>
        <p:spPr>
          <a:xfrm rot="10800000">
            <a:off x="3030365" y="3010014"/>
            <a:ext cx="228600" cy="2286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="" xmlns:a16="http://schemas.microsoft.com/office/drawing/2014/main" id="{CD41A74D-2E7C-6342-A0A5-312D6514C770}"/>
              </a:ext>
            </a:extLst>
          </p:cNvPr>
          <p:cNvSpPr/>
          <p:nvPr/>
        </p:nvSpPr>
        <p:spPr>
          <a:xfrm rot="10800000">
            <a:off x="3030365" y="2629014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="" xmlns:a16="http://schemas.microsoft.com/office/drawing/2014/main" id="{189EEEAB-C4B0-034B-A3EB-E397D9E4DA3E}"/>
              </a:ext>
            </a:extLst>
          </p:cNvPr>
          <p:cNvSpPr/>
          <p:nvPr/>
        </p:nvSpPr>
        <p:spPr>
          <a:xfrm rot="10800000">
            <a:off x="3030364" y="4134504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="" xmlns:a16="http://schemas.microsoft.com/office/drawing/2014/main" id="{5AC2C83B-FF80-C64D-AB0E-11E593BD38A1}"/>
              </a:ext>
            </a:extLst>
          </p:cNvPr>
          <p:cNvSpPr/>
          <p:nvPr/>
        </p:nvSpPr>
        <p:spPr>
          <a:xfrm rot="10800000">
            <a:off x="3030364" y="4509422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7" name="Text Box 10">
            <a:extLst>
              <a:ext uri="{FF2B5EF4-FFF2-40B4-BE49-F238E27FC236}">
                <a16:creationId xmlns="" xmlns:a16="http://schemas.microsoft.com/office/drawing/2014/main" id="{D24C535B-6191-C944-BD14-97EEA6B0E0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877" y="2538732"/>
            <a:ext cx="960042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400" dirty="0">
                <a:solidFill>
                  <a:srgbClr val="288CD2"/>
                </a:solidFill>
                <a:latin typeface="Courier New"/>
                <a:cs typeface="Courier New"/>
              </a:rPr>
              <a:t>N</a:t>
            </a:r>
          </a:p>
          <a:p>
            <a:pPr algn="ctr"/>
            <a:r>
              <a:rPr lang="en-US" altLang="ja-JP" sz="2400" dirty="0">
                <a:solidFill>
                  <a:srgbClr val="288CD2"/>
                </a:solidFill>
                <a:latin typeface="Courier New"/>
                <a:cs typeface="Courier New"/>
              </a:rPr>
              <a:t>V</a:t>
            </a:r>
          </a:p>
          <a:p>
            <a:pPr algn="ctr"/>
            <a:r>
              <a:rPr lang="en-US" altLang="ja-JP" sz="2400" dirty="0">
                <a:solidFill>
                  <a:srgbClr val="288CD2"/>
                </a:solidFill>
                <a:latin typeface="Courier New"/>
                <a:cs typeface="Courier New"/>
              </a:rPr>
              <a:t>D</a:t>
            </a:r>
          </a:p>
          <a:p>
            <a:pPr algn="ctr"/>
            <a:r>
              <a:rPr lang="en-US" altLang="ja-JP" sz="2400" dirty="0">
                <a:solidFill>
                  <a:srgbClr val="288CD2"/>
                </a:solidFill>
                <a:latin typeface="Courier New"/>
                <a:cs typeface="Courier New"/>
              </a:rPr>
              <a:t>J</a:t>
            </a:r>
          </a:p>
          <a:p>
            <a:pPr algn="ctr"/>
            <a:r>
              <a:rPr lang="en-US" altLang="ja-JP" sz="2400" dirty="0">
                <a:solidFill>
                  <a:srgbClr val="288CD2"/>
                </a:solidFill>
                <a:latin typeface="Courier New"/>
                <a:cs typeface="Courier New"/>
              </a:rPr>
              <a:t>&lt;s&gt;</a:t>
            </a:r>
          </a:p>
          <a:p>
            <a:pPr algn="ctr"/>
            <a:r>
              <a:rPr lang="en-US" altLang="ja-JP" sz="2400" dirty="0">
                <a:solidFill>
                  <a:srgbClr val="288CD2"/>
                </a:solidFill>
                <a:latin typeface="Courier New"/>
                <a:cs typeface="Courier New"/>
              </a:rPr>
              <a:t>&lt;/s&gt;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="" xmlns:a16="http://schemas.microsoft.com/office/drawing/2014/main" id="{84C7A325-ED30-E34B-9B59-3BCC7487B336}"/>
              </a:ext>
            </a:extLst>
          </p:cNvPr>
          <p:cNvSpPr/>
          <p:nvPr/>
        </p:nvSpPr>
        <p:spPr>
          <a:xfrm rot="10800000">
            <a:off x="4274059" y="2468449"/>
            <a:ext cx="381000" cy="2391291"/>
          </a:xfrm>
          <a:prstGeom prst="roundRect">
            <a:avLst/>
          </a:prstGeom>
          <a:solidFill>
            <a:srgbClr val="288CD2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="" xmlns:a16="http://schemas.microsoft.com/office/drawing/2014/main" id="{0E20F4C1-60C7-EC45-AC3A-269CC738AF01}"/>
              </a:ext>
            </a:extLst>
          </p:cNvPr>
          <p:cNvSpPr/>
          <p:nvPr/>
        </p:nvSpPr>
        <p:spPr>
          <a:xfrm rot="10800000">
            <a:off x="4350259" y="3763850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="" xmlns:a16="http://schemas.microsoft.com/office/drawing/2014/main" id="{90651128-2B3A-5D4F-B9D7-E04ECB9053EF}"/>
              </a:ext>
            </a:extLst>
          </p:cNvPr>
          <p:cNvSpPr/>
          <p:nvPr/>
        </p:nvSpPr>
        <p:spPr>
          <a:xfrm rot="10800000">
            <a:off x="4350259" y="3382850"/>
            <a:ext cx="228600" cy="2286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="" xmlns:a16="http://schemas.microsoft.com/office/drawing/2014/main" id="{E2B39D8B-73BA-0741-9795-92E5D65A86F5}"/>
              </a:ext>
            </a:extLst>
          </p:cNvPr>
          <p:cNvSpPr/>
          <p:nvPr/>
        </p:nvSpPr>
        <p:spPr>
          <a:xfrm rot="10800000">
            <a:off x="4350259" y="3001850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="" xmlns:a16="http://schemas.microsoft.com/office/drawing/2014/main" id="{85ECBB31-3BAD-A949-85DF-921975B71208}"/>
              </a:ext>
            </a:extLst>
          </p:cNvPr>
          <p:cNvSpPr/>
          <p:nvPr/>
        </p:nvSpPr>
        <p:spPr>
          <a:xfrm rot="10800000">
            <a:off x="4350259" y="2620850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="" xmlns:a16="http://schemas.microsoft.com/office/drawing/2014/main" id="{E1573663-5055-604C-882C-26276FA9085B}"/>
              </a:ext>
            </a:extLst>
          </p:cNvPr>
          <p:cNvSpPr/>
          <p:nvPr/>
        </p:nvSpPr>
        <p:spPr>
          <a:xfrm rot="10800000">
            <a:off x="4350258" y="4126340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="" xmlns:a16="http://schemas.microsoft.com/office/drawing/2014/main" id="{FCF4E804-7E52-BD4E-B337-2E10F2590A4E}"/>
              </a:ext>
            </a:extLst>
          </p:cNvPr>
          <p:cNvSpPr/>
          <p:nvPr/>
        </p:nvSpPr>
        <p:spPr>
          <a:xfrm rot="10800000">
            <a:off x="4350258" y="4501258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5" name="Rounded Rectangle 44">
            <a:extLst>
              <a:ext uri="{FF2B5EF4-FFF2-40B4-BE49-F238E27FC236}">
                <a16:creationId xmlns="" xmlns:a16="http://schemas.microsoft.com/office/drawing/2014/main" id="{71FC1CE5-0AE7-A24A-9175-A8F3095A635E}"/>
              </a:ext>
            </a:extLst>
          </p:cNvPr>
          <p:cNvSpPr/>
          <p:nvPr/>
        </p:nvSpPr>
        <p:spPr>
          <a:xfrm rot="10800000">
            <a:off x="5629125" y="2467332"/>
            <a:ext cx="381000" cy="2391291"/>
          </a:xfrm>
          <a:prstGeom prst="roundRect">
            <a:avLst/>
          </a:prstGeom>
          <a:solidFill>
            <a:srgbClr val="288CD2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="" xmlns:a16="http://schemas.microsoft.com/office/drawing/2014/main" id="{F075DFEC-BCA7-B448-85F8-1ED9D0CCC5CC}"/>
              </a:ext>
            </a:extLst>
          </p:cNvPr>
          <p:cNvSpPr/>
          <p:nvPr/>
        </p:nvSpPr>
        <p:spPr>
          <a:xfrm rot="10800000">
            <a:off x="5705325" y="3762733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="" xmlns:a16="http://schemas.microsoft.com/office/drawing/2014/main" id="{4DC9932D-4914-BD45-AFE9-2FB9FDB74501}"/>
              </a:ext>
            </a:extLst>
          </p:cNvPr>
          <p:cNvSpPr/>
          <p:nvPr/>
        </p:nvSpPr>
        <p:spPr>
          <a:xfrm rot="10800000">
            <a:off x="5705325" y="3381733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="" xmlns:a16="http://schemas.microsoft.com/office/drawing/2014/main" id="{B4762AF8-C88B-AC44-BE90-63124E84498B}"/>
              </a:ext>
            </a:extLst>
          </p:cNvPr>
          <p:cNvSpPr/>
          <p:nvPr/>
        </p:nvSpPr>
        <p:spPr>
          <a:xfrm rot="10800000">
            <a:off x="5705325" y="3000733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="" xmlns:a16="http://schemas.microsoft.com/office/drawing/2014/main" id="{734D91B1-84C5-A84C-8A7C-3EE8877203F3}"/>
              </a:ext>
            </a:extLst>
          </p:cNvPr>
          <p:cNvSpPr/>
          <p:nvPr/>
        </p:nvSpPr>
        <p:spPr>
          <a:xfrm rot="10800000">
            <a:off x="5705325" y="2619733"/>
            <a:ext cx="228600" cy="2286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="" xmlns:a16="http://schemas.microsoft.com/office/drawing/2014/main" id="{E4F6C406-CC9A-B048-B740-A0497D263F65}"/>
              </a:ext>
            </a:extLst>
          </p:cNvPr>
          <p:cNvSpPr/>
          <p:nvPr/>
        </p:nvSpPr>
        <p:spPr>
          <a:xfrm rot="10800000">
            <a:off x="5705324" y="4125223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="" xmlns:a16="http://schemas.microsoft.com/office/drawing/2014/main" id="{80CB92A0-1419-A14C-A0CC-543D26BA37D1}"/>
              </a:ext>
            </a:extLst>
          </p:cNvPr>
          <p:cNvSpPr/>
          <p:nvPr/>
        </p:nvSpPr>
        <p:spPr>
          <a:xfrm rot="10800000">
            <a:off x="5705324" y="4500141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2" name="Rounded Rectangle 51">
            <a:extLst>
              <a:ext uri="{FF2B5EF4-FFF2-40B4-BE49-F238E27FC236}">
                <a16:creationId xmlns="" xmlns:a16="http://schemas.microsoft.com/office/drawing/2014/main" id="{04CFEAB4-17DB-524B-9269-0D451149AA63}"/>
              </a:ext>
            </a:extLst>
          </p:cNvPr>
          <p:cNvSpPr/>
          <p:nvPr/>
        </p:nvSpPr>
        <p:spPr>
          <a:xfrm rot="10800000">
            <a:off x="1735169" y="2476613"/>
            <a:ext cx="381000" cy="2391291"/>
          </a:xfrm>
          <a:prstGeom prst="roundRect">
            <a:avLst/>
          </a:prstGeom>
          <a:solidFill>
            <a:srgbClr val="288CD2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="" xmlns:a16="http://schemas.microsoft.com/office/drawing/2014/main" id="{3FCB64FE-CD36-5143-BADC-A4903DB0B3BE}"/>
              </a:ext>
            </a:extLst>
          </p:cNvPr>
          <p:cNvSpPr/>
          <p:nvPr/>
        </p:nvSpPr>
        <p:spPr>
          <a:xfrm rot="10800000">
            <a:off x="1811369" y="3772014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="" xmlns:a16="http://schemas.microsoft.com/office/drawing/2014/main" id="{EC4C8305-ED0B-FE45-B32C-5EEB4B1A7973}"/>
              </a:ext>
            </a:extLst>
          </p:cNvPr>
          <p:cNvSpPr/>
          <p:nvPr/>
        </p:nvSpPr>
        <p:spPr>
          <a:xfrm rot="10800000">
            <a:off x="1811369" y="3391014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5" name="Oval 54">
            <a:extLst>
              <a:ext uri="{FF2B5EF4-FFF2-40B4-BE49-F238E27FC236}">
                <a16:creationId xmlns="" xmlns:a16="http://schemas.microsoft.com/office/drawing/2014/main" id="{D57A0A62-B273-0E45-8A60-1BBA82A2B4CA}"/>
              </a:ext>
            </a:extLst>
          </p:cNvPr>
          <p:cNvSpPr/>
          <p:nvPr/>
        </p:nvSpPr>
        <p:spPr>
          <a:xfrm rot="10800000">
            <a:off x="1811369" y="3010014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6" name="Oval 55">
            <a:extLst>
              <a:ext uri="{FF2B5EF4-FFF2-40B4-BE49-F238E27FC236}">
                <a16:creationId xmlns="" xmlns:a16="http://schemas.microsoft.com/office/drawing/2014/main" id="{8FD1EF9E-E4AC-8844-8B21-67F2EEF8A57B}"/>
              </a:ext>
            </a:extLst>
          </p:cNvPr>
          <p:cNvSpPr/>
          <p:nvPr/>
        </p:nvSpPr>
        <p:spPr>
          <a:xfrm rot="10800000">
            <a:off x="1811369" y="2629014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7" name="Oval 56">
            <a:extLst>
              <a:ext uri="{FF2B5EF4-FFF2-40B4-BE49-F238E27FC236}">
                <a16:creationId xmlns="" xmlns:a16="http://schemas.microsoft.com/office/drawing/2014/main" id="{03BE779F-8714-EA4E-A49F-9601AB9ACB1C}"/>
              </a:ext>
            </a:extLst>
          </p:cNvPr>
          <p:cNvSpPr/>
          <p:nvPr/>
        </p:nvSpPr>
        <p:spPr>
          <a:xfrm rot="10800000">
            <a:off x="1811368" y="4134504"/>
            <a:ext cx="228600" cy="2286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8" name="Oval 57">
            <a:extLst>
              <a:ext uri="{FF2B5EF4-FFF2-40B4-BE49-F238E27FC236}">
                <a16:creationId xmlns="" xmlns:a16="http://schemas.microsoft.com/office/drawing/2014/main" id="{08AA52A9-20BC-A344-ACE9-807C977DE4BD}"/>
              </a:ext>
            </a:extLst>
          </p:cNvPr>
          <p:cNvSpPr/>
          <p:nvPr/>
        </p:nvSpPr>
        <p:spPr>
          <a:xfrm rot="10800000">
            <a:off x="1811368" y="4509422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9" name="Rounded Rectangle 58">
            <a:extLst>
              <a:ext uri="{FF2B5EF4-FFF2-40B4-BE49-F238E27FC236}">
                <a16:creationId xmlns="" xmlns:a16="http://schemas.microsoft.com/office/drawing/2014/main" id="{085C71ED-2885-A647-993D-1FD1F1172BAC}"/>
              </a:ext>
            </a:extLst>
          </p:cNvPr>
          <p:cNvSpPr/>
          <p:nvPr/>
        </p:nvSpPr>
        <p:spPr>
          <a:xfrm rot="10800000">
            <a:off x="6867717" y="2467332"/>
            <a:ext cx="381000" cy="2391291"/>
          </a:xfrm>
          <a:prstGeom prst="roundRect">
            <a:avLst/>
          </a:prstGeom>
          <a:solidFill>
            <a:srgbClr val="288CD2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="" xmlns:a16="http://schemas.microsoft.com/office/drawing/2014/main" id="{B17E135A-B831-1A41-AA22-7DA6E7E30BD2}"/>
              </a:ext>
            </a:extLst>
          </p:cNvPr>
          <p:cNvSpPr/>
          <p:nvPr/>
        </p:nvSpPr>
        <p:spPr>
          <a:xfrm rot="10800000">
            <a:off x="6943917" y="3762733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1" name="Oval 60">
            <a:extLst>
              <a:ext uri="{FF2B5EF4-FFF2-40B4-BE49-F238E27FC236}">
                <a16:creationId xmlns="" xmlns:a16="http://schemas.microsoft.com/office/drawing/2014/main" id="{6DDA967A-FAC9-DD48-BA3E-4A9904AB58D8}"/>
              </a:ext>
            </a:extLst>
          </p:cNvPr>
          <p:cNvSpPr/>
          <p:nvPr/>
        </p:nvSpPr>
        <p:spPr>
          <a:xfrm rot="10800000">
            <a:off x="6943917" y="3381733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2" name="Oval 61">
            <a:extLst>
              <a:ext uri="{FF2B5EF4-FFF2-40B4-BE49-F238E27FC236}">
                <a16:creationId xmlns="" xmlns:a16="http://schemas.microsoft.com/office/drawing/2014/main" id="{327B4ADF-C9AB-934F-BC3E-D681C9F9D620}"/>
              </a:ext>
            </a:extLst>
          </p:cNvPr>
          <p:cNvSpPr/>
          <p:nvPr/>
        </p:nvSpPr>
        <p:spPr>
          <a:xfrm rot="10800000">
            <a:off x="6943917" y="3000733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3" name="Oval 62">
            <a:extLst>
              <a:ext uri="{FF2B5EF4-FFF2-40B4-BE49-F238E27FC236}">
                <a16:creationId xmlns="" xmlns:a16="http://schemas.microsoft.com/office/drawing/2014/main" id="{FE513E34-2A87-514C-A6C7-84C714394D53}"/>
              </a:ext>
            </a:extLst>
          </p:cNvPr>
          <p:cNvSpPr/>
          <p:nvPr/>
        </p:nvSpPr>
        <p:spPr>
          <a:xfrm rot="10800000">
            <a:off x="6943917" y="2619733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4" name="Oval 63">
            <a:extLst>
              <a:ext uri="{FF2B5EF4-FFF2-40B4-BE49-F238E27FC236}">
                <a16:creationId xmlns="" xmlns:a16="http://schemas.microsoft.com/office/drawing/2014/main" id="{E89AAE6F-A5E3-424A-BD50-879779CBCAF2}"/>
              </a:ext>
            </a:extLst>
          </p:cNvPr>
          <p:cNvSpPr/>
          <p:nvPr/>
        </p:nvSpPr>
        <p:spPr>
          <a:xfrm rot="10800000">
            <a:off x="6943916" y="4125223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5" name="Oval 64">
            <a:extLst>
              <a:ext uri="{FF2B5EF4-FFF2-40B4-BE49-F238E27FC236}">
                <a16:creationId xmlns="" xmlns:a16="http://schemas.microsoft.com/office/drawing/2014/main" id="{199FD474-48AA-E742-91F8-3D07154AA7EF}"/>
              </a:ext>
            </a:extLst>
          </p:cNvPr>
          <p:cNvSpPr/>
          <p:nvPr/>
        </p:nvSpPr>
        <p:spPr>
          <a:xfrm rot="10800000">
            <a:off x="6943916" y="4500141"/>
            <a:ext cx="228600" cy="22860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6" name="Text Box 10">
            <a:extLst>
              <a:ext uri="{FF2B5EF4-FFF2-40B4-BE49-F238E27FC236}">
                <a16:creationId xmlns="" xmlns:a16="http://schemas.microsoft.com/office/drawing/2014/main" id="{6D46E349-D265-3945-88AD-C630EE5261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477" y="1767958"/>
            <a:ext cx="391720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sz="2800" dirty="0">
                <a:solidFill>
                  <a:srgbClr val="288CD2"/>
                </a:solidFill>
                <a:cs typeface="Courier New"/>
              </a:rPr>
              <a:t>Lower        the          lights</a:t>
            </a:r>
          </a:p>
        </p:txBody>
      </p:sp>
      <p:sp>
        <p:nvSpPr>
          <p:cNvPr id="67" name="Text Box 10">
            <a:extLst>
              <a:ext uri="{FF2B5EF4-FFF2-40B4-BE49-F238E27FC236}">
                <a16:creationId xmlns="" xmlns:a16="http://schemas.microsoft.com/office/drawing/2014/main" id="{0E80FE10-5FE1-154B-B147-B769D1AA2C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7335" y="1053497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288CD2"/>
                </a:solidFill>
                <a:latin typeface="Courier New"/>
                <a:cs typeface="Courier New"/>
              </a:rPr>
              <a:t>&lt;s&gt;</a:t>
            </a:r>
          </a:p>
        </p:txBody>
      </p:sp>
      <p:sp>
        <p:nvSpPr>
          <p:cNvPr id="68" name="Text Box 10">
            <a:extLst>
              <a:ext uri="{FF2B5EF4-FFF2-40B4-BE49-F238E27FC236}">
                <a16:creationId xmlns="" xmlns:a16="http://schemas.microsoft.com/office/drawing/2014/main" id="{8A3476FB-E7CA-3741-B6C8-CDEE7AC613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4730" y="1053497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288CD2"/>
                </a:solidFill>
                <a:latin typeface="Courier New"/>
                <a:cs typeface="Courier New"/>
              </a:rPr>
              <a:t>V</a:t>
            </a:r>
          </a:p>
        </p:txBody>
      </p:sp>
      <p:sp>
        <p:nvSpPr>
          <p:cNvPr id="69" name="Text Box 10">
            <a:extLst>
              <a:ext uri="{FF2B5EF4-FFF2-40B4-BE49-F238E27FC236}">
                <a16:creationId xmlns="" xmlns:a16="http://schemas.microsoft.com/office/drawing/2014/main" id="{D74486C8-7D99-174B-859A-B840303FD7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4890" y="1053497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288CD2"/>
                </a:solidFill>
                <a:latin typeface="Courier New"/>
                <a:cs typeface="Courier New"/>
              </a:rPr>
              <a:t>D</a:t>
            </a:r>
          </a:p>
        </p:txBody>
      </p:sp>
      <p:sp>
        <p:nvSpPr>
          <p:cNvPr id="70" name="Text Box 10">
            <a:extLst>
              <a:ext uri="{FF2B5EF4-FFF2-40B4-BE49-F238E27FC236}">
                <a16:creationId xmlns="" xmlns:a16="http://schemas.microsoft.com/office/drawing/2014/main" id="{F5B376E2-1592-D347-B77A-8065714970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7797" y="1053497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288CD2"/>
                </a:solidFill>
                <a:latin typeface="Courier New"/>
                <a:cs typeface="Courier New"/>
              </a:rPr>
              <a:t>N</a:t>
            </a:r>
          </a:p>
        </p:txBody>
      </p:sp>
      <p:sp>
        <p:nvSpPr>
          <p:cNvPr id="71" name="Text Box 10">
            <a:extLst>
              <a:ext uri="{FF2B5EF4-FFF2-40B4-BE49-F238E27FC236}">
                <a16:creationId xmlns="" xmlns:a16="http://schemas.microsoft.com/office/drawing/2014/main" id="{E8A18CB0-16F1-4241-B528-8BD08A0A10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0684" y="1053497"/>
            <a:ext cx="115680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288CD2"/>
                </a:solidFill>
                <a:latin typeface="Courier New"/>
                <a:cs typeface="Courier New"/>
              </a:rPr>
              <a:t>&lt;/s&gt;</a:t>
            </a:r>
          </a:p>
        </p:txBody>
      </p:sp>
    </p:spTree>
    <p:extLst>
      <p:ext uri="{BB962C8B-B14F-4D97-AF65-F5344CB8AC3E}">
        <p14:creationId xmlns:p14="http://schemas.microsoft.com/office/powerpoint/2010/main" val="340831856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Relaxing Discrete Output Space for POS Tagging</a:t>
            </a:r>
          </a:p>
        </p:txBody>
      </p:sp>
      <p:sp>
        <p:nvSpPr>
          <p:cNvPr id="8" name="Text Box 10">
            <a:extLst>
              <a:ext uri="{FF2B5EF4-FFF2-40B4-BE49-F238E27FC236}">
                <a16:creationId xmlns=""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477" y="1767958"/>
            <a:ext cx="391720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sz="2800" dirty="0">
                <a:solidFill>
                  <a:srgbClr val="288CD2"/>
                </a:solidFill>
                <a:cs typeface="Courier New"/>
              </a:rPr>
              <a:t>Lower        the          lights</a:t>
            </a:r>
          </a:p>
        </p:txBody>
      </p:sp>
      <p:sp>
        <p:nvSpPr>
          <p:cNvPr id="10" name="Text Box 10">
            <a:extLst>
              <a:ext uri="{FF2B5EF4-FFF2-40B4-BE49-F238E27FC236}">
                <a16:creationId xmlns=""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7335" y="1053497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288CD2"/>
                </a:solidFill>
                <a:latin typeface="Courier New"/>
                <a:cs typeface="Courier New"/>
              </a:rPr>
              <a:t>&lt;s&gt;</a:t>
            </a:r>
          </a:p>
        </p:txBody>
      </p:sp>
      <p:sp>
        <p:nvSpPr>
          <p:cNvPr id="12" name="Text Box 10">
            <a:extLst>
              <a:ext uri="{FF2B5EF4-FFF2-40B4-BE49-F238E27FC236}">
                <a16:creationId xmlns=""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4730" y="1053497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288CD2"/>
                </a:solidFill>
                <a:latin typeface="Courier New"/>
                <a:cs typeface="Courier New"/>
              </a:rPr>
              <a:t>V</a:t>
            </a:r>
          </a:p>
        </p:txBody>
      </p:sp>
      <p:sp>
        <p:nvSpPr>
          <p:cNvPr id="14" name="Text Box 10">
            <a:extLst>
              <a:ext uri="{FF2B5EF4-FFF2-40B4-BE49-F238E27FC236}">
                <a16:creationId xmlns=""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4890" y="1053497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288CD2"/>
                </a:solidFill>
                <a:latin typeface="Courier New"/>
                <a:cs typeface="Courier New"/>
              </a:rPr>
              <a:t>D</a:t>
            </a:r>
          </a:p>
        </p:txBody>
      </p:sp>
      <p:sp>
        <p:nvSpPr>
          <p:cNvPr id="17" name="Text Box 10">
            <a:extLst>
              <a:ext uri="{FF2B5EF4-FFF2-40B4-BE49-F238E27FC236}">
                <a16:creationId xmlns=""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7797" y="1053497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288CD2"/>
                </a:solidFill>
                <a:latin typeface="Courier New"/>
                <a:cs typeface="Courier New"/>
              </a:rPr>
              <a:t>N</a:t>
            </a:r>
          </a:p>
        </p:txBody>
      </p:sp>
      <p:sp>
        <p:nvSpPr>
          <p:cNvPr id="21" name="Text Box 10">
            <a:extLst>
              <a:ext uri="{FF2B5EF4-FFF2-40B4-BE49-F238E27FC236}">
                <a16:creationId xmlns=""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6746" y="5361945"/>
            <a:ext cx="8776606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sz="3200" dirty="0">
                <a:cs typeface="Courier New"/>
              </a:rPr>
              <a:t>then, relax to vectors where sum of entries is 1 (treat them as distributions over tags)</a:t>
            </a:r>
          </a:p>
        </p:txBody>
      </p:sp>
      <p:sp>
        <p:nvSpPr>
          <p:cNvPr id="24" name="Text Box 10">
            <a:extLst>
              <a:ext uri="{FF2B5EF4-FFF2-40B4-BE49-F238E27FC236}">
                <a16:creationId xmlns=""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0684" y="1053497"/>
            <a:ext cx="115680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288CD2"/>
                </a:solidFill>
                <a:latin typeface="Courier New"/>
                <a:cs typeface="Courier New"/>
              </a:rPr>
              <a:t>&lt;/s&gt;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="" xmlns:a16="http://schemas.microsoft.com/office/drawing/2014/main" id="{68DD321E-B179-B545-9C22-7688208F094D}"/>
              </a:ext>
            </a:extLst>
          </p:cNvPr>
          <p:cNvSpPr/>
          <p:nvPr/>
        </p:nvSpPr>
        <p:spPr>
          <a:xfrm rot="10800000">
            <a:off x="2954165" y="2476613"/>
            <a:ext cx="381000" cy="2391291"/>
          </a:xfrm>
          <a:prstGeom prst="roundRect">
            <a:avLst/>
          </a:prstGeom>
          <a:solidFill>
            <a:srgbClr val="288CD2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="" xmlns:a16="http://schemas.microsoft.com/office/drawing/2014/main" id="{BA02EAA2-94C1-664B-83F8-A16AEF79B620}"/>
              </a:ext>
            </a:extLst>
          </p:cNvPr>
          <p:cNvSpPr/>
          <p:nvPr/>
        </p:nvSpPr>
        <p:spPr>
          <a:xfrm rot="10800000">
            <a:off x="3030365" y="3772014"/>
            <a:ext cx="228600" cy="2286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="" xmlns:a16="http://schemas.microsoft.com/office/drawing/2014/main" id="{A1AA0257-5AF3-D045-8EE3-1D4EDD7FA35E}"/>
              </a:ext>
            </a:extLst>
          </p:cNvPr>
          <p:cNvSpPr/>
          <p:nvPr/>
        </p:nvSpPr>
        <p:spPr>
          <a:xfrm rot="10800000">
            <a:off x="3030365" y="3391014"/>
            <a:ext cx="228600" cy="2286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="" xmlns:a16="http://schemas.microsoft.com/office/drawing/2014/main" id="{4C6EFF22-7B68-1D46-B5C3-3EED555DD564}"/>
              </a:ext>
            </a:extLst>
          </p:cNvPr>
          <p:cNvSpPr/>
          <p:nvPr/>
        </p:nvSpPr>
        <p:spPr>
          <a:xfrm rot="10800000">
            <a:off x="3030365" y="3010014"/>
            <a:ext cx="228600" cy="2286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="" xmlns:a16="http://schemas.microsoft.com/office/drawing/2014/main" id="{CD41A74D-2E7C-6342-A0A5-312D6514C770}"/>
              </a:ext>
            </a:extLst>
          </p:cNvPr>
          <p:cNvSpPr/>
          <p:nvPr/>
        </p:nvSpPr>
        <p:spPr>
          <a:xfrm rot="10800000">
            <a:off x="3030365" y="2629014"/>
            <a:ext cx="228600" cy="2286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="" xmlns:a16="http://schemas.microsoft.com/office/drawing/2014/main" id="{189EEEAB-C4B0-034B-A3EB-E397D9E4DA3E}"/>
              </a:ext>
            </a:extLst>
          </p:cNvPr>
          <p:cNvSpPr/>
          <p:nvPr/>
        </p:nvSpPr>
        <p:spPr>
          <a:xfrm rot="10800000">
            <a:off x="3030364" y="4134504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="" xmlns:a16="http://schemas.microsoft.com/office/drawing/2014/main" id="{5AC2C83B-FF80-C64D-AB0E-11E593BD38A1}"/>
              </a:ext>
            </a:extLst>
          </p:cNvPr>
          <p:cNvSpPr/>
          <p:nvPr/>
        </p:nvSpPr>
        <p:spPr>
          <a:xfrm rot="10800000">
            <a:off x="3030364" y="4509422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7" name="Text Box 10">
            <a:extLst>
              <a:ext uri="{FF2B5EF4-FFF2-40B4-BE49-F238E27FC236}">
                <a16:creationId xmlns="" xmlns:a16="http://schemas.microsoft.com/office/drawing/2014/main" id="{D24C535B-6191-C944-BD14-97EEA6B0E0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877" y="2538732"/>
            <a:ext cx="960042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400" dirty="0">
                <a:solidFill>
                  <a:srgbClr val="288CD2"/>
                </a:solidFill>
                <a:latin typeface="Courier New"/>
                <a:cs typeface="Courier New"/>
              </a:rPr>
              <a:t>N</a:t>
            </a:r>
          </a:p>
          <a:p>
            <a:pPr algn="ctr"/>
            <a:r>
              <a:rPr lang="en-US" altLang="ja-JP" sz="2400" dirty="0">
                <a:solidFill>
                  <a:srgbClr val="288CD2"/>
                </a:solidFill>
                <a:latin typeface="Courier New"/>
                <a:cs typeface="Courier New"/>
              </a:rPr>
              <a:t>V</a:t>
            </a:r>
          </a:p>
          <a:p>
            <a:pPr algn="ctr"/>
            <a:r>
              <a:rPr lang="en-US" altLang="ja-JP" sz="2400" dirty="0">
                <a:solidFill>
                  <a:srgbClr val="288CD2"/>
                </a:solidFill>
                <a:latin typeface="Courier New"/>
                <a:cs typeface="Courier New"/>
              </a:rPr>
              <a:t>D</a:t>
            </a:r>
          </a:p>
          <a:p>
            <a:pPr algn="ctr"/>
            <a:r>
              <a:rPr lang="en-US" altLang="ja-JP" sz="2400" dirty="0">
                <a:solidFill>
                  <a:srgbClr val="288CD2"/>
                </a:solidFill>
                <a:latin typeface="Courier New"/>
                <a:cs typeface="Courier New"/>
              </a:rPr>
              <a:t>J</a:t>
            </a:r>
          </a:p>
          <a:p>
            <a:pPr algn="ctr"/>
            <a:r>
              <a:rPr lang="en-US" altLang="ja-JP" sz="2400" dirty="0">
                <a:solidFill>
                  <a:srgbClr val="288CD2"/>
                </a:solidFill>
                <a:latin typeface="Courier New"/>
                <a:cs typeface="Courier New"/>
              </a:rPr>
              <a:t>&lt;s&gt;</a:t>
            </a:r>
          </a:p>
          <a:p>
            <a:pPr algn="ctr"/>
            <a:r>
              <a:rPr lang="en-US" altLang="ja-JP" sz="2400" dirty="0">
                <a:solidFill>
                  <a:srgbClr val="288CD2"/>
                </a:solidFill>
                <a:latin typeface="Courier New"/>
                <a:cs typeface="Courier New"/>
              </a:rPr>
              <a:t>&lt;/s&gt;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="" xmlns:a16="http://schemas.microsoft.com/office/drawing/2014/main" id="{84C7A325-ED30-E34B-9B59-3BCC7487B336}"/>
              </a:ext>
            </a:extLst>
          </p:cNvPr>
          <p:cNvSpPr/>
          <p:nvPr/>
        </p:nvSpPr>
        <p:spPr>
          <a:xfrm rot="10800000">
            <a:off x="4274059" y="2468449"/>
            <a:ext cx="381000" cy="2391291"/>
          </a:xfrm>
          <a:prstGeom prst="roundRect">
            <a:avLst/>
          </a:prstGeom>
          <a:solidFill>
            <a:srgbClr val="288CD2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="" xmlns:a16="http://schemas.microsoft.com/office/drawing/2014/main" id="{0E20F4C1-60C7-EC45-AC3A-269CC738AF01}"/>
              </a:ext>
            </a:extLst>
          </p:cNvPr>
          <p:cNvSpPr/>
          <p:nvPr/>
        </p:nvSpPr>
        <p:spPr>
          <a:xfrm rot="10800000">
            <a:off x="4350259" y="3763850"/>
            <a:ext cx="228600" cy="2286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="" xmlns:a16="http://schemas.microsoft.com/office/drawing/2014/main" id="{90651128-2B3A-5D4F-B9D7-E04ECB9053EF}"/>
              </a:ext>
            </a:extLst>
          </p:cNvPr>
          <p:cNvSpPr/>
          <p:nvPr/>
        </p:nvSpPr>
        <p:spPr>
          <a:xfrm rot="10800000">
            <a:off x="4350259" y="3382850"/>
            <a:ext cx="228600" cy="2286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="" xmlns:a16="http://schemas.microsoft.com/office/drawing/2014/main" id="{E2B39D8B-73BA-0741-9795-92E5D65A86F5}"/>
              </a:ext>
            </a:extLst>
          </p:cNvPr>
          <p:cNvSpPr/>
          <p:nvPr/>
        </p:nvSpPr>
        <p:spPr>
          <a:xfrm rot="10800000">
            <a:off x="4350259" y="3001850"/>
            <a:ext cx="228600" cy="2286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="" xmlns:a16="http://schemas.microsoft.com/office/drawing/2014/main" id="{85ECBB31-3BAD-A949-85DF-921975B71208}"/>
              </a:ext>
            </a:extLst>
          </p:cNvPr>
          <p:cNvSpPr/>
          <p:nvPr/>
        </p:nvSpPr>
        <p:spPr>
          <a:xfrm rot="10800000">
            <a:off x="4350259" y="2620850"/>
            <a:ext cx="228600" cy="2286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="" xmlns:a16="http://schemas.microsoft.com/office/drawing/2014/main" id="{E1573663-5055-604C-882C-26276FA9085B}"/>
              </a:ext>
            </a:extLst>
          </p:cNvPr>
          <p:cNvSpPr/>
          <p:nvPr/>
        </p:nvSpPr>
        <p:spPr>
          <a:xfrm rot="10800000">
            <a:off x="4350258" y="4126340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="" xmlns:a16="http://schemas.microsoft.com/office/drawing/2014/main" id="{FCF4E804-7E52-BD4E-B337-2E10F2590A4E}"/>
              </a:ext>
            </a:extLst>
          </p:cNvPr>
          <p:cNvSpPr/>
          <p:nvPr/>
        </p:nvSpPr>
        <p:spPr>
          <a:xfrm rot="10800000">
            <a:off x="4350258" y="4501258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5" name="Rounded Rectangle 44">
            <a:extLst>
              <a:ext uri="{FF2B5EF4-FFF2-40B4-BE49-F238E27FC236}">
                <a16:creationId xmlns="" xmlns:a16="http://schemas.microsoft.com/office/drawing/2014/main" id="{71FC1CE5-0AE7-A24A-9175-A8F3095A635E}"/>
              </a:ext>
            </a:extLst>
          </p:cNvPr>
          <p:cNvSpPr/>
          <p:nvPr/>
        </p:nvSpPr>
        <p:spPr>
          <a:xfrm rot="10800000">
            <a:off x="5629125" y="2467332"/>
            <a:ext cx="381000" cy="2391291"/>
          </a:xfrm>
          <a:prstGeom prst="roundRect">
            <a:avLst/>
          </a:prstGeom>
          <a:solidFill>
            <a:srgbClr val="288CD2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="" xmlns:a16="http://schemas.microsoft.com/office/drawing/2014/main" id="{F075DFEC-BCA7-B448-85F8-1ED9D0CCC5CC}"/>
              </a:ext>
            </a:extLst>
          </p:cNvPr>
          <p:cNvSpPr/>
          <p:nvPr/>
        </p:nvSpPr>
        <p:spPr>
          <a:xfrm rot="10800000">
            <a:off x="5705325" y="3762733"/>
            <a:ext cx="228600" cy="2286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="" xmlns:a16="http://schemas.microsoft.com/office/drawing/2014/main" id="{4DC9932D-4914-BD45-AFE9-2FB9FDB74501}"/>
              </a:ext>
            </a:extLst>
          </p:cNvPr>
          <p:cNvSpPr/>
          <p:nvPr/>
        </p:nvSpPr>
        <p:spPr>
          <a:xfrm rot="10800000">
            <a:off x="5705325" y="3381733"/>
            <a:ext cx="228600" cy="2286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="" xmlns:a16="http://schemas.microsoft.com/office/drawing/2014/main" id="{B4762AF8-C88B-AC44-BE90-63124E84498B}"/>
              </a:ext>
            </a:extLst>
          </p:cNvPr>
          <p:cNvSpPr/>
          <p:nvPr/>
        </p:nvSpPr>
        <p:spPr>
          <a:xfrm rot="10800000">
            <a:off x="5705325" y="3000733"/>
            <a:ext cx="228600" cy="2286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="" xmlns:a16="http://schemas.microsoft.com/office/drawing/2014/main" id="{734D91B1-84C5-A84C-8A7C-3EE8877203F3}"/>
              </a:ext>
            </a:extLst>
          </p:cNvPr>
          <p:cNvSpPr/>
          <p:nvPr/>
        </p:nvSpPr>
        <p:spPr>
          <a:xfrm rot="10800000">
            <a:off x="5705325" y="2619733"/>
            <a:ext cx="228600" cy="2286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="" xmlns:a16="http://schemas.microsoft.com/office/drawing/2014/main" id="{E4F6C406-CC9A-B048-B740-A0497D263F65}"/>
              </a:ext>
            </a:extLst>
          </p:cNvPr>
          <p:cNvSpPr/>
          <p:nvPr/>
        </p:nvSpPr>
        <p:spPr>
          <a:xfrm rot="10800000">
            <a:off x="5705324" y="4125223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="" xmlns:a16="http://schemas.microsoft.com/office/drawing/2014/main" id="{80CB92A0-1419-A14C-A0CC-543D26BA37D1}"/>
              </a:ext>
            </a:extLst>
          </p:cNvPr>
          <p:cNvSpPr/>
          <p:nvPr/>
        </p:nvSpPr>
        <p:spPr>
          <a:xfrm rot="10800000">
            <a:off x="5705324" y="4500141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2" name="Rounded Rectangle 51">
            <a:extLst>
              <a:ext uri="{FF2B5EF4-FFF2-40B4-BE49-F238E27FC236}">
                <a16:creationId xmlns="" xmlns:a16="http://schemas.microsoft.com/office/drawing/2014/main" id="{04CFEAB4-17DB-524B-9269-0D451149AA63}"/>
              </a:ext>
            </a:extLst>
          </p:cNvPr>
          <p:cNvSpPr/>
          <p:nvPr/>
        </p:nvSpPr>
        <p:spPr>
          <a:xfrm rot="10800000">
            <a:off x="1735169" y="2476613"/>
            <a:ext cx="381000" cy="2391291"/>
          </a:xfrm>
          <a:prstGeom prst="roundRect">
            <a:avLst/>
          </a:prstGeom>
          <a:solidFill>
            <a:srgbClr val="288CD2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="" xmlns:a16="http://schemas.microsoft.com/office/drawing/2014/main" id="{3FCB64FE-CD36-5143-BADC-A4903DB0B3BE}"/>
              </a:ext>
            </a:extLst>
          </p:cNvPr>
          <p:cNvSpPr/>
          <p:nvPr/>
        </p:nvSpPr>
        <p:spPr>
          <a:xfrm rot="10800000">
            <a:off x="1811369" y="3772014"/>
            <a:ext cx="228600" cy="2286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="" xmlns:a16="http://schemas.microsoft.com/office/drawing/2014/main" id="{EC4C8305-ED0B-FE45-B32C-5EEB4B1A7973}"/>
              </a:ext>
            </a:extLst>
          </p:cNvPr>
          <p:cNvSpPr/>
          <p:nvPr/>
        </p:nvSpPr>
        <p:spPr>
          <a:xfrm rot="10800000">
            <a:off x="1811369" y="3391014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5" name="Oval 54">
            <a:extLst>
              <a:ext uri="{FF2B5EF4-FFF2-40B4-BE49-F238E27FC236}">
                <a16:creationId xmlns="" xmlns:a16="http://schemas.microsoft.com/office/drawing/2014/main" id="{D57A0A62-B273-0E45-8A60-1BBA82A2B4CA}"/>
              </a:ext>
            </a:extLst>
          </p:cNvPr>
          <p:cNvSpPr/>
          <p:nvPr/>
        </p:nvSpPr>
        <p:spPr>
          <a:xfrm rot="10800000">
            <a:off x="1811369" y="3010014"/>
            <a:ext cx="228600" cy="2286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6" name="Oval 55">
            <a:extLst>
              <a:ext uri="{FF2B5EF4-FFF2-40B4-BE49-F238E27FC236}">
                <a16:creationId xmlns="" xmlns:a16="http://schemas.microsoft.com/office/drawing/2014/main" id="{8FD1EF9E-E4AC-8844-8B21-67F2EEF8A57B}"/>
              </a:ext>
            </a:extLst>
          </p:cNvPr>
          <p:cNvSpPr/>
          <p:nvPr/>
        </p:nvSpPr>
        <p:spPr>
          <a:xfrm rot="10800000">
            <a:off x="1811369" y="2629014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7" name="Oval 56">
            <a:extLst>
              <a:ext uri="{FF2B5EF4-FFF2-40B4-BE49-F238E27FC236}">
                <a16:creationId xmlns="" xmlns:a16="http://schemas.microsoft.com/office/drawing/2014/main" id="{03BE779F-8714-EA4E-A49F-9601AB9ACB1C}"/>
              </a:ext>
            </a:extLst>
          </p:cNvPr>
          <p:cNvSpPr/>
          <p:nvPr/>
        </p:nvSpPr>
        <p:spPr>
          <a:xfrm rot="10800000">
            <a:off x="1811368" y="4134504"/>
            <a:ext cx="228600" cy="2286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8" name="Oval 57">
            <a:extLst>
              <a:ext uri="{FF2B5EF4-FFF2-40B4-BE49-F238E27FC236}">
                <a16:creationId xmlns="" xmlns:a16="http://schemas.microsoft.com/office/drawing/2014/main" id="{08AA52A9-20BC-A344-ACE9-807C977DE4BD}"/>
              </a:ext>
            </a:extLst>
          </p:cNvPr>
          <p:cNvSpPr/>
          <p:nvPr/>
        </p:nvSpPr>
        <p:spPr>
          <a:xfrm rot="10800000">
            <a:off x="1811368" y="4509422"/>
            <a:ext cx="228600" cy="2286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9" name="Rounded Rectangle 58">
            <a:extLst>
              <a:ext uri="{FF2B5EF4-FFF2-40B4-BE49-F238E27FC236}">
                <a16:creationId xmlns="" xmlns:a16="http://schemas.microsoft.com/office/drawing/2014/main" id="{085C71ED-2885-A647-993D-1FD1F1172BAC}"/>
              </a:ext>
            </a:extLst>
          </p:cNvPr>
          <p:cNvSpPr/>
          <p:nvPr/>
        </p:nvSpPr>
        <p:spPr>
          <a:xfrm rot="10800000">
            <a:off x="6867717" y="2467332"/>
            <a:ext cx="381000" cy="2391291"/>
          </a:xfrm>
          <a:prstGeom prst="roundRect">
            <a:avLst/>
          </a:prstGeom>
          <a:solidFill>
            <a:srgbClr val="288CD2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="" xmlns:a16="http://schemas.microsoft.com/office/drawing/2014/main" id="{B17E135A-B831-1A41-AA22-7DA6E7E30BD2}"/>
              </a:ext>
            </a:extLst>
          </p:cNvPr>
          <p:cNvSpPr/>
          <p:nvPr/>
        </p:nvSpPr>
        <p:spPr>
          <a:xfrm rot="10800000">
            <a:off x="6943917" y="3762733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1" name="Oval 60">
            <a:extLst>
              <a:ext uri="{FF2B5EF4-FFF2-40B4-BE49-F238E27FC236}">
                <a16:creationId xmlns="" xmlns:a16="http://schemas.microsoft.com/office/drawing/2014/main" id="{6DDA967A-FAC9-DD48-BA3E-4A9904AB58D8}"/>
              </a:ext>
            </a:extLst>
          </p:cNvPr>
          <p:cNvSpPr/>
          <p:nvPr/>
        </p:nvSpPr>
        <p:spPr>
          <a:xfrm rot="10800000">
            <a:off x="6943917" y="3381733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2" name="Oval 61">
            <a:extLst>
              <a:ext uri="{FF2B5EF4-FFF2-40B4-BE49-F238E27FC236}">
                <a16:creationId xmlns="" xmlns:a16="http://schemas.microsoft.com/office/drawing/2014/main" id="{327B4ADF-C9AB-934F-BC3E-D681C9F9D620}"/>
              </a:ext>
            </a:extLst>
          </p:cNvPr>
          <p:cNvSpPr/>
          <p:nvPr/>
        </p:nvSpPr>
        <p:spPr>
          <a:xfrm rot="10800000">
            <a:off x="6943917" y="3000733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3" name="Oval 62">
            <a:extLst>
              <a:ext uri="{FF2B5EF4-FFF2-40B4-BE49-F238E27FC236}">
                <a16:creationId xmlns="" xmlns:a16="http://schemas.microsoft.com/office/drawing/2014/main" id="{FE513E34-2A87-514C-A6C7-84C714394D53}"/>
              </a:ext>
            </a:extLst>
          </p:cNvPr>
          <p:cNvSpPr/>
          <p:nvPr/>
        </p:nvSpPr>
        <p:spPr>
          <a:xfrm rot="10800000">
            <a:off x="6943917" y="2619733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4" name="Oval 63">
            <a:extLst>
              <a:ext uri="{FF2B5EF4-FFF2-40B4-BE49-F238E27FC236}">
                <a16:creationId xmlns="" xmlns:a16="http://schemas.microsoft.com/office/drawing/2014/main" id="{E89AAE6F-A5E3-424A-BD50-879779CBCAF2}"/>
              </a:ext>
            </a:extLst>
          </p:cNvPr>
          <p:cNvSpPr/>
          <p:nvPr/>
        </p:nvSpPr>
        <p:spPr>
          <a:xfrm rot="10800000">
            <a:off x="6943916" y="4125223"/>
            <a:ext cx="228600" cy="2286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5" name="Oval 64">
            <a:extLst>
              <a:ext uri="{FF2B5EF4-FFF2-40B4-BE49-F238E27FC236}">
                <a16:creationId xmlns="" xmlns:a16="http://schemas.microsoft.com/office/drawing/2014/main" id="{199FD474-48AA-E742-91F8-3D07154AA7EF}"/>
              </a:ext>
            </a:extLst>
          </p:cNvPr>
          <p:cNvSpPr/>
          <p:nvPr/>
        </p:nvSpPr>
        <p:spPr>
          <a:xfrm rot="10800000">
            <a:off x="6943916" y="4500141"/>
            <a:ext cx="228600" cy="2286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</p:spTree>
    <p:extLst>
      <p:ext uri="{BB962C8B-B14F-4D97-AF65-F5344CB8AC3E}">
        <p14:creationId xmlns:p14="http://schemas.microsoft.com/office/powerpoint/2010/main" val="235174102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Relaxing Discrete Output Space for POS Tagging</a:t>
            </a:r>
          </a:p>
        </p:txBody>
      </p:sp>
      <p:sp>
        <p:nvSpPr>
          <p:cNvPr id="8" name="Text Box 10">
            <a:extLst>
              <a:ext uri="{FF2B5EF4-FFF2-40B4-BE49-F238E27FC236}">
                <a16:creationId xmlns=""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477" y="1767958"/>
            <a:ext cx="391720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sz="2800" dirty="0">
                <a:solidFill>
                  <a:srgbClr val="288CD2"/>
                </a:solidFill>
                <a:cs typeface="Courier New"/>
              </a:rPr>
              <a:t>Lower        the          lights</a:t>
            </a:r>
          </a:p>
        </p:txBody>
      </p:sp>
      <p:sp>
        <p:nvSpPr>
          <p:cNvPr id="10" name="Text Box 10">
            <a:extLst>
              <a:ext uri="{FF2B5EF4-FFF2-40B4-BE49-F238E27FC236}">
                <a16:creationId xmlns=""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7335" y="1053497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288CD2"/>
                </a:solidFill>
                <a:latin typeface="Courier New"/>
                <a:cs typeface="Courier New"/>
              </a:rPr>
              <a:t>&lt;s&gt;</a:t>
            </a:r>
          </a:p>
        </p:txBody>
      </p:sp>
      <p:sp>
        <p:nvSpPr>
          <p:cNvPr id="12" name="Text Box 10">
            <a:extLst>
              <a:ext uri="{FF2B5EF4-FFF2-40B4-BE49-F238E27FC236}">
                <a16:creationId xmlns=""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4730" y="1053497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288CD2"/>
                </a:solidFill>
                <a:latin typeface="Courier New"/>
                <a:cs typeface="Courier New"/>
              </a:rPr>
              <a:t>V</a:t>
            </a:r>
          </a:p>
        </p:txBody>
      </p:sp>
      <p:sp>
        <p:nvSpPr>
          <p:cNvPr id="14" name="Text Box 10">
            <a:extLst>
              <a:ext uri="{FF2B5EF4-FFF2-40B4-BE49-F238E27FC236}">
                <a16:creationId xmlns=""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4890" y="1053497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288CD2"/>
                </a:solidFill>
                <a:latin typeface="Courier New"/>
                <a:cs typeface="Courier New"/>
              </a:rPr>
              <a:t>D</a:t>
            </a:r>
          </a:p>
        </p:txBody>
      </p:sp>
      <p:sp>
        <p:nvSpPr>
          <p:cNvPr id="17" name="Text Box 10">
            <a:extLst>
              <a:ext uri="{FF2B5EF4-FFF2-40B4-BE49-F238E27FC236}">
                <a16:creationId xmlns=""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7797" y="1053497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288CD2"/>
                </a:solidFill>
                <a:latin typeface="Courier New"/>
                <a:cs typeface="Courier New"/>
              </a:rPr>
              <a:t>N</a:t>
            </a:r>
          </a:p>
        </p:txBody>
      </p:sp>
      <p:sp>
        <p:nvSpPr>
          <p:cNvPr id="21" name="Text Box 10">
            <a:extLst>
              <a:ext uri="{FF2B5EF4-FFF2-40B4-BE49-F238E27FC236}">
                <a16:creationId xmlns=""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6746" y="5156531"/>
            <a:ext cx="8776606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sz="3200" dirty="0" smtClean="0">
                <a:cs typeface="Courier New"/>
              </a:rPr>
              <a:t>use gradient </a:t>
            </a:r>
            <a:r>
              <a:rPr lang="en-US" altLang="ja-JP" sz="3200" dirty="0">
                <a:cs typeface="Courier New"/>
              </a:rPr>
              <a:t>descent to optimize the </a:t>
            </a:r>
            <a:r>
              <a:rPr lang="en-US" altLang="ja-JP" sz="3200" dirty="0" err="1" smtClean="0">
                <a:cs typeface="Courier New"/>
              </a:rPr>
              <a:t>pretrained</a:t>
            </a:r>
            <a:r>
              <a:rPr lang="en-US" altLang="ja-JP" sz="3200" dirty="0" smtClean="0">
                <a:cs typeface="Courier New"/>
              </a:rPr>
              <a:t> score </a:t>
            </a:r>
            <a:r>
              <a:rPr lang="en-US" altLang="ja-JP" sz="3200" dirty="0">
                <a:cs typeface="Courier New"/>
              </a:rPr>
              <a:t>function </a:t>
            </a:r>
            <a:r>
              <a:rPr lang="en-US" altLang="ja-JP" sz="3200" dirty="0" smtClean="0">
                <a:cs typeface="Courier New"/>
              </a:rPr>
              <a:t>with respect to these </a:t>
            </a:r>
            <a:r>
              <a:rPr lang="en-US" altLang="ja-JP" sz="3200" dirty="0">
                <a:cs typeface="Courier New"/>
              </a:rPr>
              <a:t>vector entries</a:t>
            </a:r>
          </a:p>
        </p:txBody>
      </p:sp>
      <p:sp>
        <p:nvSpPr>
          <p:cNvPr id="24" name="Text Box 10">
            <a:extLst>
              <a:ext uri="{FF2B5EF4-FFF2-40B4-BE49-F238E27FC236}">
                <a16:creationId xmlns=""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0684" y="1053497"/>
            <a:ext cx="115680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288CD2"/>
                </a:solidFill>
                <a:latin typeface="Courier New"/>
                <a:cs typeface="Courier New"/>
              </a:rPr>
              <a:t>&lt;/s&gt;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="" xmlns:a16="http://schemas.microsoft.com/office/drawing/2014/main" id="{68DD321E-B179-B545-9C22-7688208F094D}"/>
              </a:ext>
            </a:extLst>
          </p:cNvPr>
          <p:cNvSpPr/>
          <p:nvPr/>
        </p:nvSpPr>
        <p:spPr>
          <a:xfrm rot="10800000">
            <a:off x="2954165" y="2476613"/>
            <a:ext cx="381000" cy="2391291"/>
          </a:xfrm>
          <a:prstGeom prst="roundRect">
            <a:avLst/>
          </a:prstGeom>
          <a:solidFill>
            <a:srgbClr val="288CD2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="" xmlns:a16="http://schemas.microsoft.com/office/drawing/2014/main" id="{BA02EAA2-94C1-664B-83F8-A16AEF79B620}"/>
              </a:ext>
            </a:extLst>
          </p:cNvPr>
          <p:cNvSpPr/>
          <p:nvPr/>
        </p:nvSpPr>
        <p:spPr>
          <a:xfrm rot="10800000">
            <a:off x="3030365" y="3772014"/>
            <a:ext cx="228600" cy="2286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="" xmlns:a16="http://schemas.microsoft.com/office/drawing/2014/main" id="{A1AA0257-5AF3-D045-8EE3-1D4EDD7FA35E}"/>
              </a:ext>
            </a:extLst>
          </p:cNvPr>
          <p:cNvSpPr/>
          <p:nvPr/>
        </p:nvSpPr>
        <p:spPr>
          <a:xfrm rot="10800000">
            <a:off x="3030365" y="3391014"/>
            <a:ext cx="228600" cy="2286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="" xmlns:a16="http://schemas.microsoft.com/office/drawing/2014/main" id="{4C6EFF22-7B68-1D46-B5C3-3EED555DD564}"/>
              </a:ext>
            </a:extLst>
          </p:cNvPr>
          <p:cNvSpPr/>
          <p:nvPr/>
        </p:nvSpPr>
        <p:spPr>
          <a:xfrm rot="10800000">
            <a:off x="3030365" y="3010014"/>
            <a:ext cx="228600" cy="2286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="" xmlns:a16="http://schemas.microsoft.com/office/drawing/2014/main" id="{CD41A74D-2E7C-6342-A0A5-312D6514C770}"/>
              </a:ext>
            </a:extLst>
          </p:cNvPr>
          <p:cNvSpPr/>
          <p:nvPr/>
        </p:nvSpPr>
        <p:spPr>
          <a:xfrm rot="10800000">
            <a:off x="3030365" y="2629014"/>
            <a:ext cx="228600" cy="2286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="" xmlns:a16="http://schemas.microsoft.com/office/drawing/2014/main" id="{189EEEAB-C4B0-034B-A3EB-E397D9E4DA3E}"/>
              </a:ext>
            </a:extLst>
          </p:cNvPr>
          <p:cNvSpPr/>
          <p:nvPr/>
        </p:nvSpPr>
        <p:spPr>
          <a:xfrm rot="10800000">
            <a:off x="3030364" y="4134504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="" xmlns:a16="http://schemas.microsoft.com/office/drawing/2014/main" id="{5AC2C83B-FF80-C64D-AB0E-11E593BD38A1}"/>
              </a:ext>
            </a:extLst>
          </p:cNvPr>
          <p:cNvSpPr/>
          <p:nvPr/>
        </p:nvSpPr>
        <p:spPr>
          <a:xfrm rot="10800000">
            <a:off x="3030364" y="4509422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7" name="Text Box 10">
            <a:extLst>
              <a:ext uri="{FF2B5EF4-FFF2-40B4-BE49-F238E27FC236}">
                <a16:creationId xmlns="" xmlns:a16="http://schemas.microsoft.com/office/drawing/2014/main" id="{D24C535B-6191-C944-BD14-97EEA6B0E0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877" y="2538732"/>
            <a:ext cx="960042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400" dirty="0">
                <a:solidFill>
                  <a:srgbClr val="288CD2"/>
                </a:solidFill>
                <a:latin typeface="Courier New"/>
                <a:cs typeface="Courier New"/>
              </a:rPr>
              <a:t>N</a:t>
            </a:r>
          </a:p>
          <a:p>
            <a:pPr algn="ctr"/>
            <a:r>
              <a:rPr lang="en-US" altLang="ja-JP" sz="2400" dirty="0">
                <a:solidFill>
                  <a:srgbClr val="288CD2"/>
                </a:solidFill>
                <a:latin typeface="Courier New"/>
                <a:cs typeface="Courier New"/>
              </a:rPr>
              <a:t>V</a:t>
            </a:r>
          </a:p>
          <a:p>
            <a:pPr algn="ctr"/>
            <a:r>
              <a:rPr lang="en-US" altLang="ja-JP" sz="2400" dirty="0">
                <a:solidFill>
                  <a:srgbClr val="288CD2"/>
                </a:solidFill>
                <a:latin typeface="Courier New"/>
                <a:cs typeface="Courier New"/>
              </a:rPr>
              <a:t>D</a:t>
            </a:r>
          </a:p>
          <a:p>
            <a:pPr algn="ctr"/>
            <a:r>
              <a:rPr lang="en-US" altLang="ja-JP" sz="2400" dirty="0">
                <a:solidFill>
                  <a:srgbClr val="288CD2"/>
                </a:solidFill>
                <a:latin typeface="Courier New"/>
                <a:cs typeface="Courier New"/>
              </a:rPr>
              <a:t>J</a:t>
            </a:r>
          </a:p>
          <a:p>
            <a:pPr algn="ctr"/>
            <a:r>
              <a:rPr lang="en-US" altLang="ja-JP" sz="2400" dirty="0">
                <a:solidFill>
                  <a:srgbClr val="288CD2"/>
                </a:solidFill>
                <a:latin typeface="Courier New"/>
                <a:cs typeface="Courier New"/>
              </a:rPr>
              <a:t>&lt;s&gt;</a:t>
            </a:r>
          </a:p>
          <a:p>
            <a:pPr algn="ctr"/>
            <a:r>
              <a:rPr lang="en-US" altLang="ja-JP" sz="2400" dirty="0">
                <a:solidFill>
                  <a:srgbClr val="288CD2"/>
                </a:solidFill>
                <a:latin typeface="Courier New"/>
                <a:cs typeface="Courier New"/>
              </a:rPr>
              <a:t>&lt;/s&gt;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="" xmlns:a16="http://schemas.microsoft.com/office/drawing/2014/main" id="{84C7A325-ED30-E34B-9B59-3BCC7487B336}"/>
              </a:ext>
            </a:extLst>
          </p:cNvPr>
          <p:cNvSpPr/>
          <p:nvPr/>
        </p:nvSpPr>
        <p:spPr>
          <a:xfrm rot="10800000">
            <a:off x="4274059" y="2468449"/>
            <a:ext cx="381000" cy="2391291"/>
          </a:xfrm>
          <a:prstGeom prst="roundRect">
            <a:avLst/>
          </a:prstGeom>
          <a:solidFill>
            <a:srgbClr val="288CD2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="" xmlns:a16="http://schemas.microsoft.com/office/drawing/2014/main" id="{0E20F4C1-60C7-EC45-AC3A-269CC738AF01}"/>
              </a:ext>
            </a:extLst>
          </p:cNvPr>
          <p:cNvSpPr/>
          <p:nvPr/>
        </p:nvSpPr>
        <p:spPr>
          <a:xfrm rot="10800000">
            <a:off x="4350259" y="3763850"/>
            <a:ext cx="228600" cy="2286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="" xmlns:a16="http://schemas.microsoft.com/office/drawing/2014/main" id="{90651128-2B3A-5D4F-B9D7-E04ECB9053EF}"/>
              </a:ext>
            </a:extLst>
          </p:cNvPr>
          <p:cNvSpPr/>
          <p:nvPr/>
        </p:nvSpPr>
        <p:spPr>
          <a:xfrm rot="10800000">
            <a:off x="4350259" y="3382850"/>
            <a:ext cx="228600" cy="2286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="" xmlns:a16="http://schemas.microsoft.com/office/drawing/2014/main" id="{E2B39D8B-73BA-0741-9795-92E5D65A86F5}"/>
              </a:ext>
            </a:extLst>
          </p:cNvPr>
          <p:cNvSpPr/>
          <p:nvPr/>
        </p:nvSpPr>
        <p:spPr>
          <a:xfrm rot="10800000">
            <a:off x="4350259" y="3001850"/>
            <a:ext cx="228600" cy="2286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="" xmlns:a16="http://schemas.microsoft.com/office/drawing/2014/main" id="{85ECBB31-3BAD-A949-85DF-921975B71208}"/>
              </a:ext>
            </a:extLst>
          </p:cNvPr>
          <p:cNvSpPr/>
          <p:nvPr/>
        </p:nvSpPr>
        <p:spPr>
          <a:xfrm rot="10800000">
            <a:off x="4350259" y="2620850"/>
            <a:ext cx="228600" cy="2286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="" xmlns:a16="http://schemas.microsoft.com/office/drawing/2014/main" id="{E1573663-5055-604C-882C-26276FA9085B}"/>
              </a:ext>
            </a:extLst>
          </p:cNvPr>
          <p:cNvSpPr/>
          <p:nvPr/>
        </p:nvSpPr>
        <p:spPr>
          <a:xfrm rot="10800000">
            <a:off x="4350258" y="4126340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="" xmlns:a16="http://schemas.microsoft.com/office/drawing/2014/main" id="{FCF4E804-7E52-BD4E-B337-2E10F2590A4E}"/>
              </a:ext>
            </a:extLst>
          </p:cNvPr>
          <p:cNvSpPr/>
          <p:nvPr/>
        </p:nvSpPr>
        <p:spPr>
          <a:xfrm rot="10800000">
            <a:off x="4350258" y="4501258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5" name="Rounded Rectangle 44">
            <a:extLst>
              <a:ext uri="{FF2B5EF4-FFF2-40B4-BE49-F238E27FC236}">
                <a16:creationId xmlns="" xmlns:a16="http://schemas.microsoft.com/office/drawing/2014/main" id="{71FC1CE5-0AE7-A24A-9175-A8F3095A635E}"/>
              </a:ext>
            </a:extLst>
          </p:cNvPr>
          <p:cNvSpPr/>
          <p:nvPr/>
        </p:nvSpPr>
        <p:spPr>
          <a:xfrm rot="10800000">
            <a:off x="5629125" y="2467332"/>
            <a:ext cx="381000" cy="2391291"/>
          </a:xfrm>
          <a:prstGeom prst="roundRect">
            <a:avLst/>
          </a:prstGeom>
          <a:solidFill>
            <a:srgbClr val="288CD2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="" xmlns:a16="http://schemas.microsoft.com/office/drawing/2014/main" id="{F075DFEC-BCA7-B448-85F8-1ED9D0CCC5CC}"/>
              </a:ext>
            </a:extLst>
          </p:cNvPr>
          <p:cNvSpPr/>
          <p:nvPr/>
        </p:nvSpPr>
        <p:spPr>
          <a:xfrm rot="10800000">
            <a:off x="5705325" y="3762733"/>
            <a:ext cx="228600" cy="2286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="" xmlns:a16="http://schemas.microsoft.com/office/drawing/2014/main" id="{4DC9932D-4914-BD45-AFE9-2FB9FDB74501}"/>
              </a:ext>
            </a:extLst>
          </p:cNvPr>
          <p:cNvSpPr/>
          <p:nvPr/>
        </p:nvSpPr>
        <p:spPr>
          <a:xfrm rot="10800000">
            <a:off x="5705325" y="3381733"/>
            <a:ext cx="228600" cy="2286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="" xmlns:a16="http://schemas.microsoft.com/office/drawing/2014/main" id="{B4762AF8-C88B-AC44-BE90-63124E84498B}"/>
              </a:ext>
            </a:extLst>
          </p:cNvPr>
          <p:cNvSpPr/>
          <p:nvPr/>
        </p:nvSpPr>
        <p:spPr>
          <a:xfrm rot="10800000">
            <a:off x="5705325" y="3000733"/>
            <a:ext cx="228600" cy="2286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="" xmlns:a16="http://schemas.microsoft.com/office/drawing/2014/main" id="{734D91B1-84C5-A84C-8A7C-3EE8877203F3}"/>
              </a:ext>
            </a:extLst>
          </p:cNvPr>
          <p:cNvSpPr/>
          <p:nvPr/>
        </p:nvSpPr>
        <p:spPr>
          <a:xfrm rot="10800000">
            <a:off x="5705325" y="2619733"/>
            <a:ext cx="228600" cy="2286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="" xmlns:a16="http://schemas.microsoft.com/office/drawing/2014/main" id="{E4F6C406-CC9A-B048-B740-A0497D263F65}"/>
              </a:ext>
            </a:extLst>
          </p:cNvPr>
          <p:cNvSpPr/>
          <p:nvPr/>
        </p:nvSpPr>
        <p:spPr>
          <a:xfrm rot="10800000">
            <a:off x="5705324" y="4125223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="" xmlns:a16="http://schemas.microsoft.com/office/drawing/2014/main" id="{80CB92A0-1419-A14C-A0CC-543D26BA37D1}"/>
              </a:ext>
            </a:extLst>
          </p:cNvPr>
          <p:cNvSpPr/>
          <p:nvPr/>
        </p:nvSpPr>
        <p:spPr>
          <a:xfrm rot="10800000">
            <a:off x="5705324" y="4500141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2" name="Rounded Rectangle 51">
            <a:extLst>
              <a:ext uri="{FF2B5EF4-FFF2-40B4-BE49-F238E27FC236}">
                <a16:creationId xmlns="" xmlns:a16="http://schemas.microsoft.com/office/drawing/2014/main" id="{04CFEAB4-17DB-524B-9269-0D451149AA63}"/>
              </a:ext>
            </a:extLst>
          </p:cNvPr>
          <p:cNvSpPr/>
          <p:nvPr/>
        </p:nvSpPr>
        <p:spPr>
          <a:xfrm rot="10800000">
            <a:off x="1735169" y="2476613"/>
            <a:ext cx="381000" cy="2391291"/>
          </a:xfrm>
          <a:prstGeom prst="roundRect">
            <a:avLst/>
          </a:prstGeom>
          <a:solidFill>
            <a:srgbClr val="288CD2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="" xmlns:a16="http://schemas.microsoft.com/office/drawing/2014/main" id="{3FCB64FE-CD36-5143-BADC-A4903DB0B3BE}"/>
              </a:ext>
            </a:extLst>
          </p:cNvPr>
          <p:cNvSpPr/>
          <p:nvPr/>
        </p:nvSpPr>
        <p:spPr>
          <a:xfrm rot="10800000">
            <a:off x="1811369" y="3772014"/>
            <a:ext cx="228600" cy="2286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="" xmlns:a16="http://schemas.microsoft.com/office/drawing/2014/main" id="{EC4C8305-ED0B-FE45-B32C-5EEB4B1A7973}"/>
              </a:ext>
            </a:extLst>
          </p:cNvPr>
          <p:cNvSpPr/>
          <p:nvPr/>
        </p:nvSpPr>
        <p:spPr>
          <a:xfrm rot="10800000">
            <a:off x="1811369" y="3391014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5" name="Oval 54">
            <a:extLst>
              <a:ext uri="{FF2B5EF4-FFF2-40B4-BE49-F238E27FC236}">
                <a16:creationId xmlns="" xmlns:a16="http://schemas.microsoft.com/office/drawing/2014/main" id="{D57A0A62-B273-0E45-8A60-1BBA82A2B4CA}"/>
              </a:ext>
            </a:extLst>
          </p:cNvPr>
          <p:cNvSpPr/>
          <p:nvPr/>
        </p:nvSpPr>
        <p:spPr>
          <a:xfrm rot="10800000">
            <a:off x="1811369" y="3010014"/>
            <a:ext cx="228600" cy="2286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6" name="Oval 55">
            <a:extLst>
              <a:ext uri="{FF2B5EF4-FFF2-40B4-BE49-F238E27FC236}">
                <a16:creationId xmlns="" xmlns:a16="http://schemas.microsoft.com/office/drawing/2014/main" id="{8FD1EF9E-E4AC-8844-8B21-67F2EEF8A57B}"/>
              </a:ext>
            </a:extLst>
          </p:cNvPr>
          <p:cNvSpPr/>
          <p:nvPr/>
        </p:nvSpPr>
        <p:spPr>
          <a:xfrm rot="10800000">
            <a:off x="1811369" y="2629014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7" name="Oval 56">
            <a:extLst>
              <a:ext uri="{FF2B5EF4-FFF2-40B4-BE49-F238E27FC236}">
                <a16:creationId xmlns="" xmlns:a16="http://schemas.microsoft.com/office/drawing/2014/main" id="{03BE779F-8714-EA4E-A49F-9601AB9ACB1C}"/>
              </a:ext>
            </a:extLst>
          </p:cNvPr>
          <p:cNvSpPr/>
          <p:nvPr/>
        </p:nvSpPr>
        <p:spPr>
          <a:xfrm rot="10800000">
            <a:off x="1811368" y="4134504"/>
            <a:ext cx="228600" cy="2286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8" name="Oval 57">
            <a:extLst>
              <a:ext uri="{FF2B5EF4-FFF2-40B4-BE49-F238E27FC236}">
                <a16:creationId xmlns="" xmlns:a16="http://schemas.microsoft.com/office/drawing/2014/main" id="{08AA52A9-20BC-A344-ACE9-807C977DE4BD}"/>
              </a:ext>
            </a:extLst>
          </p:cNvPr>
          <p:cNvSpPr/>
          <p:nvPr/>
        </p:nvSpPr>
        <p:spPr>
          <a:xfrm rot="10800000">
            <a:off x="1811368" y="4509422"/>
            <a:ext cx="228600" cy="2286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9" name="Rounded Rectangle 58">
            <a:extLst>
              <a:ext uri="{FF2B5EF4-FFF2-40B4-BE49-F238E27FC236}">
                <a16:creationId xmlns="" xmlns:a16="http://schemas.microsoft.com/office/drawing/2014/main" id="{085C71ED-2885-A647-993D-1FD1F1172BAC}"/>
              </a:ext>
            </a:extLst>
          </p:cNvPr>
          <p:cNvSpPr/>
          <p:nvPr/>
        </p:nvSpPr>
        <p:spPr>
          <a:xfrm rot="10800000">
            <a:off x="6867717" y="2467332"/>
            <a:ext cx="381000" cy="2391291"/>
          </a:xfrm>
          <a:prstGeom prst="roundRect">
            <a:avLst/>
          </a:prstGeom>
          <a:solidFill>
            <a:srgbClr val="288CD2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="" xmlns:a16="http://schemas.microsoft.com/office/drawing/2014/main" id="{B17E135A-B831-1A41-AA22-7DA6E7E30BD2}"/>
              </a:ext>
            </a:extLst>
          </p:cNvPr>
          <p:cNvSpPr/>
          <p:nvPr/>
        </p:nvSpPr>
        <p:spPr>
          <a:xfrm rot="10800000">
            <a:off x="6943917" y="3762733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1" name="Oval 60">
            <a:extLst>
              <a:ext uri="{FF2B5EF4-FFF2-40B4-BE49-F238E27FC236}">
                <a16:creationId xmlns="" xmlns:a16="http://schemas.microsoft.com/office/drawing/2014/main" id="{6DDA967A-FAC9-DD48-BA3E-4A9904AB58D8}"/>
              </a:ext>
            </a:extLst>
          </p:cNvPr>
          <p:cNvSpPr/>
          <p:nvPr/>
        </p:nvSpPr>
        <p:spPr>
          <a:xfrm rot="10800000">
            <a:off x="6943917" y="3381733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2" name="Oval 61">
            <a:extLst>
              <a:ext uri="{FF2B5EF4-FFF2-40B4-BE49-F238E27FC236}">
                <a16:creationId xmlns="" xmlns:a16="http://schemas.microsoft.com/office/drawing/2014/main" id="{327B4ADF-C9AB-934F-BC3E-D681C9F9D620}"/>
              </a:ext>
            </a:extLst>
          </p:cNvPr>
          <p:cNvSpPr/>
          <p:nvPr/>
        </p:nvSpPr>
        <p:spPr>
          <a:xfrm rot="10800000">
            <a:off x="6943917" y="3000733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3" name="Oval 62">
            <a:extLst>
              <a:ext uri="{FF2B5EF4-FFF2-40B4-BE49-F238E27FC236}">
                <a16:creationId xmlns="" xmlns:a16="http://schemas.microsoft.com/office/drawing/2014/main" id="{FE513E34-2A87-514C-A6C7-84C714394D53}"/>
              </a:ext>
            </a:extLst>
          </p:cNvPr>
          <p:cNvSpPr/>
          <p:nvPr/>
        </p:nvSpPr>
        <p:spPr>
          <a:xfrm rot="10800000">
            <a:off x="6943917" y="2619733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4" name="Oval 63">
            <a:extLst>
              <a:ext uri="{FF2B5EF4-FFF2-40B4-BE49-F238E27FC236}">
                <a16:creationId xmlns="" xmlns:a16="http://schemas.microsoft.com/office/drawing/2014/main" id="{E89AAE6F-A5E3-424A-BD50-879779CBCAF2}"/>
              </a:ext>
            </a:extLst>
          </p:cNvPr>
          <p:cNvSpPr/>
          <p:nvPr/>
        </p:nvSpPr>
        <p:spPr>
          <a:xfrm rot="10800000">
            <a:off x="6943916" y="4125223"/>
            <a:ext cx="228600" cy="2286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5" name="Oval 64">
            <a:extLst>
              <a:ext uri="{FF2B5EF4-FFF2-40B4-BE49-F238E27FC236}">
                <a16:creationId xmlns="" xmlns:a16="http://schemas.microsoft.com/office/drawing/2014/main" id="{199FD474-48AA-E742-91F8-3D07154AA7EF}"/>
              </a:ext>
            </a:extLst>
          </p:cNvPr>
          <p:cNvSpPr/>
          <p:nvPr/>
        </p:nvSpPr>
        <p:spPr>
          <a:xfrm rot="10800000">
            <a:off x="6943916" y="4500141"/>
            <a:ext cx="228600" cy="2286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</p:spTree>
    <p:extLst>
      <p:ext uri="{BB962C8B-B14F-4D97-AF65-F5344CB8AC3E}">
        <p14:creationId xmlns:p14="http://schemas.microsoft.com/office/powerpoint/2010/main" val="76375869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Relaxing Discrete Output Space for POS Tagging</a:t>
            </a:r>
          </a:p>
        </p:txBody>
      </p:sp>
      <p:sp>
        <p:nvSpPr>
          <p:cNvPr id="8" name="Text Box 10">
            <a:extLst>
              <a:ext uri="{FF2B5EF4-FFF2-40B4-BE49-F238E27FC236}">
                <a16:creationId xmlns=""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477" y="1767958"/>
            <a:ext cx="391720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sz="2800" dirty="0">
                <a:solidFill>
                  <a:srgbClr val="288CD2"/>
                </a:solidFill>
                <a:cs typeface="Courier New"/>
              </a:rPr>
              <a:t>Lower        the          lights</a:t>
            </a:r>
          </a:p>
        </p:txBody>
      </p:sp>
      <p:sp>
        <p:nvSpPr>
          <p:cNvPr id="10" name="Text Box 10">
            <a:extLst>
              <a:ext uri="{FF2B5EF4-FFF2-40B4-BE49-F238E27FC236}">
                <a16:creationId xmlns=""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7335" y="1053497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288CD2"/>
                </a:solidFill>
                <a:latin typeface="Courier New"/>
                <a:cs typeface="Courier New"/>
              </a:rPr>
              <a:t>&lt;s&gt;</a:t>
            </a:r>
          </a:p>
        </p:txBody>
      </p:sp>
      <p:sp>
        <p:nvSpPr>
          <p:cNvPr id="12" name="Text Box 10">
            <a:extLst>
              <a:ext uri="{FF2B5EF4-FFF2-40B4-BE49-F238E27FC236}">
                <a16:creationId xmlns=""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4730" y="1053497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288CD2"/>
                </a:solidFill>
                <a:latin typeface="Courier New"/>
                <a:cs typeface="Courier New"/>
              </a:rPr>
              <a:t>V</a:t>
            </a:r>
          </a:p>
        </p:txBody>
      </p:sp>
      <p:sp>
        <p:nvSpPr>
          <p:cNvPr id="14" name="Text Box 10">
            <a:extLst>
              <a:ext uri="{FF2B5EF4-FFF2-40B4-BE49-F238E27FC236}">
                <a16:creationId xmlns=""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4890" y="1053497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288CD2"/>
                </a:solidFill>
                <a:latin typeface="Courier New"/>
                <a:cs typeface="Courier New"/>
              </a:rPr>
              <a:t>D</a:t>
            </a:r>
          </a:p>
        </p:txBody>
      </p:sp>
      <p:sp>
        <p:nvSpPr>
          <p:cNvPr id="17" name="Text Box 10">
            <a:extLst>
              <a:ext uri="{FF2B5EF4-FFF2-40B4-BE49-F238E27FC236}">
                <a16:creationId xmlns=""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7797" y="1053497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288CD2"/>
                </a:solidFill>
                <a:latin typeface="Courier New"/>
                <a:cs typeface="Courier New"/>
              </a:rPr>
              <a:t>N</a:t>
            </a:r>
          </a:p>
        </p:txBody>
      </p:sp>
      <p:sp>
        <p:nvSpPr>
          <p:cNvPr id="21" name="Text Box 10">
            <a:extLst>
              <a:ext uri="{FF2B5EF4-FFF2-40B4-BE49-F238E27FC236}">
                <a16:creationId xmlns=""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07" y="5272139"/>
            <a:ext cx="9103545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sz="3200" dirty="0">
                <a:cs typeface="Courier New"/>
              </a:rPr>
              <a:t>at convergence, find largest value in each vector and return it as the predicted POS tag at that position</a:t>
            </a:r>
          </a:p>
        </p:txBody>
      </p:sp>
      <p:sp>
        <p:nvSpPr>
          <p:cNvPr id="24" name="Text Box 10">
            <a:extLst>
              <a:ext uri="{FF2B5EF4-FFF2-40B4-BE49-F238E27FC236}">
                <a16:creationId xmlns=""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0684" y="1053497"/>
            <a:ext cx="115680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288CD2"/>
                </a:solidFill>
                <a:latin typeface="Courier New"/>
                <a:cs typeface="Courier New"/>
              </a:rPr>
              <a:t>&lt;/s&gt;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="" xmlns:a16="http://schemas.microsoft.com/office/drawing/2014/main" id="{68DD321E-B179-B545-9C22-7688208F094D}"/>
              </a:ext>
            </a:extLst>
          </p:cNvPr>
          <p:cNvSpPr/>
          <p:nvPr/>
        </p:nvSpPr>
        <p:spPr>
          <a:xfrm rot="10800000">
            <a:off x="2954165" y="2476613"/>
            <a:ext cx="381000" cy="2391291"/>
          </a:xfrm>
          <a:prstGeom prst="roundRect">
            <a:avLst/>
          </a:prstGeom>
          <a:solidFill>
            <a:srgbClr val="288CD2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="" xmlns:a16="http://schemas.microsoft.com/office/drawing/2014/main" id="{BA02EAA2-94C1-664B-83F8-A16AEF79B620}"/>
              </a:ext>
            </a:extLst>
          </p:cNvPr>
          <p:cNvSpPr/>
          <p:nvPr/>
        </p:nvSpPr>
        <p:spPr>
          <a:xfrm rot="10800000">
            <a:off x="3030365" y="3772014"/>
            <a:ext cx="228600" cy="2286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="" xmlns:a16="http://schemas.microsoft.com/office/drawing/2014/main" id="{A1AA0257-5AF3-D045-8EE3-1D4EDD7FA35E}"/>
              </a:ext>
            </a:extLst>
          </p:cNvPr>
          <p:cNvSpPr/>
          <p:nvPr/>
        </p:nvSpPr>
        <p:spPr>
          <a:xfrm rot="10800000">
            <a:off x="3030365" y="3391014"/>
            <a:ext cx="228600" cy="2286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="" xmlns:a16="http://schemas.microsoft.com/office/drawing/2014/main" id="{4C6EFF22-7B68-1D46-B5C3-3EED555DD564}"/>
              </a:ext>
            </a:extLst>
          </p:cNvPr>
          <p:cNvSpPr/>
          <p:nvPr/>
        </p:nvSpPr>
        <p:spPr>
          <a:xfrm rot="10800000">
            <a:off x="3030365" y="3010014"/>
            <a:ext cx="228600" cy="2286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="" xmlns:a16="http://schemas.microsoft.com/office/drawing/2014/main" id="{CD41A74D-2E7C-6342-A0A5-312D6514C770}"/>
              </a:ext>
            </a:extLst>
          </p:cNvPr>
          <p:cNvSpPr/>
          <p:nvPr/>
        </p:nvSpPr>
        <p:spPr>
          <a:xfrm rot="10800000">
            <a:off x="3030365" y="2629014"/>
            <a:ext cx="228600" cy="2286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="" xmlns:a16="http://schemas.microsoft.com/office/drawing/2014/main" id="{189EEEAB-C4B0-034B-A3EB-E397D9E4DA3E}"/>
              </a:ext>
            </a:extLst>
          </p:cNvPr>
          <p:cNvSpPr/>
          <p:nvPr/>
        </p:nvSpPr>
        <p:spPr>
          <a:xfrm rot="10800000">
            <a:off x="3030364" y="4134504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="" xmlns:a16="http://schemas.microsoft.com/office/drawing/2014/main" id="{5AC2C83B-FF80-C64D-AB0E-11E593BD38A1}"/>
              </a:ext>
            </a:extLst>
          </p:cNvPr>
          <p:cNvSpPr/>
          <p:nvPr/>
        </p:nvSpPr>
        <p:spPr>
          <a:xfrm rot="10800000">
            <a:off x="3030364" y="4509422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7" name="Text Box 10">
            <a:extLst>
              <a:ext uri="{FF2B5EF4-FFF2-40B4-BE49-F238E27FC236}">
                <a16:creationId xmlns="" xmlns:a16="http://schemas.microsoft.com/office/drawing/2014/main" id="{D24C535B-6191-C944-BD14-97EEA6B0E0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877" y="2538732"/>
            <a:ext cx="960042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400" dirty="0">
                <a:solidFill>
                  <a:srgbClr val="288CD2"/>
                </a:solidFill>
                <a:latin typeface="Courier New"/>
                <a:cs typeface="Courier New"/>
              </a:rPr>
              <a:t>N</a:t>
            </a:r>
          </a:p>
          <a:p>
            <a:pPr algn="ctr"/>
            <a:r>
              <a:rPr lang="en-US" altLang="ja-JP" sz="2400" dirty="0">
                <a:solidFill>
                  <a:srgbClr val="288CD2"/>
                </a:solidFill>
                <a:latin typeface="Courier New"/>
                <a:cs typeface="Courier New"/>
              </a:rPr>
              <a:t>V</a:t>
            </a:r>
          </a:p>
          <a:p>
            <a:pPr algn="ctr"/>
            <a:r>
              <a:rPr lang="en-US" altLang="ja-JP" sz="2400" dirty="0">
                <a:solidFill>
                  <a:srgbClr val="288CD2"/>
                </a:solidFill>
                <a:latin typeface="Courier New"/>
                <a:cs typeface="Courier New"/>
              </a:rPr>
              <a:t>D</a:t>
            </a:r>
          </a:p>
          <a:p>
            <a:pPr algn="ctr"/>
            <a:r>
              <a:rPr lang="en-US" altLang="ja-JP" sz="2400" dirty="0">
                <a:solidFill>
                  <a:srgbClr val="288CD2"/>
                </a:solidFill>
                <a:latin typeface="Courier New"/>
                <a:cs typeface="Courier New"/>
              </a:rPr>
              <a:t>J</a:t>
            </a:r>
          </a:p>
          <a:p>
            <a:pPr algn="ctr"/>
            <a:r>
              <a:rPr lang="en-US" altLang="ja-JP" sz="2400" dirty="0">
                <a:solidFill>
                  <a:srgbClr val="288CD2"/>
                </a:solidFill>
                <a:latin typeface="Courier New"/>
                <a:cs typeface="Courier New"/>
              </a:rPr>
              <a:t>&lt;s&gt;</a:t>
            </a:r>
          </a:p>
          <a:p>
            <a:pPr algn="ctr"/>
            <a:r>
              <a:rPr lang="en-US" altLang="ja-JP" sz="2400" dirty="0">
                <a:solidFill>
                  <a:srgbClr val="288CD2"/>
                </a:solidFill>
                <a:latin typeface="Courier New"/>
                <a:cs typeface="Courier New"/>
              </a:rPr>
              <a:t>&lt;/s&gt;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="" xmlns:a16="http://schemas.microsoft.com/office/drawing/2014/main" id="{84C7A325-ED30-E34B-9B59-3BCC7487B336}"/>
              </a:ext>
            </a:extLst>
          </p:cNvPr>
          <p:cNvSpPr/>
          <p:nvPr/>
        </p:nvSpPr>
        <p:spPr>
          <a:xfrm rot="10800000">
            <a:off x="4274059" y="2468449"/>
            <a:ext cx="381000" cy="2391291"/>
          </a:xfrm>
          <a:prstGeom prst="roundRect">
            <a:avLst/>
          </a:prstGeom>
          <a:solidFill>
            <a:srgbClr val="288CD2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="" xmlns:a16="http://schemas.microsoft.com/office/drawing/2014/main" id="{0E20F4C1-60C7-EC45-AC3A-269CC738AF01}"/>
              </a:ext>
            </a:extLst>
          </p:cNvPr>
          <p:cNvSpPr/>
          <p:nvPr/>
        </p:nvSpPr>
        <p:spPr>
          <a:xfrm rot="10800000">
            <a:off x="4350259" y="3763850"/>
            <a:ext cx="228600" cy="2286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="" xmlns:a16="http://schemas.microsoft.com/office/drawing/2014/main" id="{90651128-2B3A-5D4F-B9D7-E04ECB9053EF}"/>
              </a:ext>
            </a:extLst>
          </p:cNvPr>
          <p:cNvSpPr/>
          <p:nvPr/>
        </p:nvSpPr>
        <p:spPr>
          <a:xfrm rot="10800000">
            <a:off x="4350259" y="3382850"/>
            <a:ext cx="228600" cy="2286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="" xmlns:a16="http://schemas.microsoft.com/office/drawing/2014/main" id="{E2B39D8B-73BA-0741-9795-92E5D65A86F5}"/>
              </a:ext>
            </a:extLst>
          </p:cNvPr>
          <p:cNvSpPr/>
          <p:nvPr/>
        </p:nvSpPr>
        <p:spPr>
          <a:xfrm rot="10800000">
            <a:off x="4350259" y="3001850"/>
            <a:ext cx="228600" cy="2286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="" xmlns:a16="http://schemas.microsoft.com/office/drawing/2014/main" id="{85ECBB31-3BAD-A949-85DF-921975B71208}"/>
              </a:ext>
            </a:extLst>
          </p:cNvPr>
          <p:cNvSpPr/>
          <p:nvPr/>
        </p:nvSpPr>
        <p:spPr>
          <a:xfrm rot="10800000">
            <a:off x="4350259" y="2620850"/>
            <a:ext cx="228600" cy="2286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="" xmlns:a16="http://schemas.microsoft.com/office/drawing/2014/main" id="{E1573663-5055-604C-882C-26276FA9085B}"/>
              </a:ext>
            </a:extLst>
          </p:cNvPr>
          <p:cNvSpPr/>
          <p:nvPr/>
        </p:nvSpPr>
        <p:spPr>
          <a:xfrm rot="10800000">
            <a:off x="4350258" y="4126340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="" xmlns:a16="http://schemas.microsoft.com/office/drawing/2014/main" id="{FCF4E804-7E52-BD4E-B337-2E10F2590A4E}"/>
              </a:ext>
            </a:extLst>
          </p:cNvPr>
          <p:cNvSpPr/>
          <p:nvPr/>
        </p:nvSpPr>
        <p:spPr>
          <a:xfrm rot="10800000">
            <a:off x="4350258" y="4501258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5" name="Rounded Rectangle 44">
            <a:extLst>
              <a:ext uri="{FF2B5EF4-FFF2-40B4-BE49-F238E27FC236}">
                <a16:creationId xmlns="" xmlns:a16="http://schemas.microsoft.com/office/drawing/2014/main" id="{71FC1CE5-0AE7-A24A-9175-A8F3095A635E}"/>
              </a:ext>
            </a:extLst>
          </p:cNvPr>
          <p:cNvSpPr/>
          <p:nvPr/>
        </p:nvSpPr>
        <p:spPr>
          <a:xfrm rot="10800000">
            <a:off x="5629125" y="2467332"/>
            <a:ext cx="381000" cy="2391291"/>
          </a:xfrm>
          <a:prstGeom prst="roundRect">
            <a:avLst/>
          </a:prstGeom>
          <a:solidFill>
            <a:srgbClr val="288CD2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="" xmlns:a16="http://schemas.microsoft.com/office/drawing/2014/main" id="{F075DFEC-BCA7-B448-85F8-1ED9D0CCC5CC}"/>
              </a:ext>
            </a:extLst>
          </p:cNvPr>
          <p:cNvSpPr/>
          <p:nvPr/>
        </p:nvSpPr>
        <p:spPr>
          <a:xfrm rot="10800000">
            <a:off x="5705325" y="3762733"/>
            <a:ext cx="228600" cy="2286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="" xmlns:a16="http://schemas.microsoft.com/office/drawing/2014/main" id="{4DC9932D-4914-BD45-AFE9-2FB9FDB74501}"/>
              </a:ext>
            </a:extLst>
          </p:cNvPr>
          <p:cNvSpPr/>
          <p:nvPr/>
        </p:nvSpPr>
        <p:spPr>
          <a:xfrm rot="10800000">
            <a:off x="5705325" y="3381733"/>
            <a:ext cx="228600" cy="2286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="" xmlns:a16="http://schemas.microsoft.com/office/drawing/2014/main" id="{B4762AF8-C88B-AC44-BE90-63124E84498B}"/>
              </a:ext>
            </a:extLst>
          </p:cNvPr>
          <p:cNvSpPr/>
          <p:nvPr/>
        </p:nvSpPr>
        <p:spPr>
          <a:xfrm rot="10800000">
            <a:off x="5705325" y="3000733"/>
            <a:ext cx="228600" cy="2286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="" xmlns:a16="http://schemas.microsoft.com/office/drawing/2014/main" id="{734D91B1-84C5-A84C-8A7C-3EE8877203F3}"/>
              </a:ext>
            </a:extLst>
          </p:cNvPr>
          <p:cNvSpPr/>
          <p:nvPr/>
        </p:nvSpPr>
        <p:spPr>
          <a:xfrm rot="10800000">
            <a:off x="5705325" y="2619733"/>
            <a:ext cx="228600" cy="2286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="" xmlns:a16="http://schemas.microsoft.com/office/drawing/2014/main" id="{E4F6C406-CC9A-B048-B740-A0497D263F65}"/>
              </a:ext>
            </a:extLst>
          </p:cNvPr>
          <p:cNvSpPr/>
          <p:nvPr/>
        </p:nvSpPr>
        <p:spPr>
          <a:xfrm rot="10800000">
            <a:off x="5705324" y="4125223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="" xmlns:a16="http://schemas.microsoft.com/office/drawing/2014/main" id="{80CB92A0-1419-A14C-A0CC-543D26BA37D1}"/>
              </a:ext>
            </a:extLst>
          </p:cNvPr>
          <p:cNvSpPr/>
          <p:nvPr/>
        </p:nvSpPr>
        <p:spPr>
          <a:xfrm rot="10800000">
            <a:off x="5705324" y="4500141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2" name="Rounded Rectangle 51">
            <a:extLst>
              <a:ext uri="{FF2B5EF4-FFF2-40B4-BE49-F238E27FC236}">
                <a16:creationId xmlns="" xmlns:a16="http://schemas.microsoft.com/office/drawing/2014/main" id="{04CFEAB4-17DB-524B-9269-0D451149AA63}"/>
              </a:ext>
            </a:extLst>
          </p:cNvPr>
          <p:cNvSpPr/>
          <p:nvPr/>
        </p:nvSpPr>
        <p:spPr>
          <a:xfrm rot="10800000">
            <a:off x="1735169" y="2476613"/>
            <a:ext cx="381000" cy="2391291"/>
          </a:xfrm>
          <a:prstGeom prst="roundRect">
            <a:avLst/>
          </a:prstGeom>
          <a:solidFill>
            <a:srgbClr val="288CD2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="" xmlns:a16="http://schemas.microsoft.com/office/drawing/2014/main" id="{3FCB64FE-CD36-5143-BADC-A4903DB0B3BE}"/>
              </a:ext>
            </a:extLst>
          </p:cNvPr>
          <p:cNvSpPr/>
          <p:nvPr/>
        </p:nvSpPr>
        <p:spPr>
          <a:xfrm rot="10800000">
            <a:off x="1811369" y="3772014"/>
            <a:ext cx="228600" cy="2286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="" xmlns:a16="http://schemas.microsoft.com/office/drawing/2014/main" id="{EC4C8305-ED0B-FE45-B32C-5EEB4B1A7973}"/>
              </a:ext>
            </a:extLst>
          </p:cNvPr>
          <p:cNvSpPr/>
          <p:nvPr/>
        </p:nvSpPr>
        <p:spPr>
          <a:xfrm rot="10800000">
            <a:off x="1811369" y="3391014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5" name="Oval 54">
            <a:extLst>
              <a:ext uri="{FF2B5EF4-FFF2-40B4-BE49-F238E27FC236}">
                <a16:creationId xmlns="" xmlns:a16="http://schemas.microsoft.com/office/drawing/2014/main" id="{D57A0A62-B273-0E45-8A60-1BBA82A2B4CA}"/>
              </a:ext>
            </a:extLst>
          </p:cNvPr>
          <p:cNvSpPr/>
          <p:nvPr/>
        </p:nvSpPr>
        <p:spPr>
          <a:xfrm rot="10800000">
            <a:off x="1811369" y="3010014"/>
            <a:ext cx="228600" cy="2286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6" name="Oval 55">
            <a:extLst>
              <a:ext uri="{FF2B5EF4-FFF2-40B4-BE49-F238E27FC236}">
                <a16:creationId xmlns="" xmlns:a16="http://schemas.microsoft.com/office/drawing/2014/main" id="{8FD1EF9E-E4AC-8844-8B21-67F2EEF8A57B}"/>
              </a:ext>
            </a:extLst>
          </p:cNvPr>
          <p:cNvSpPr/>
          <p:nvPr/>
        </p:nvSpPr>
        <p:spPr>
          <a:xfrm rot="10800000">
            <a:off x="1811369" y="2629014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7" name="Oval 56">
            <a:extLst>
              <a:ext uri="{FF2B5EF4-FFF2-40B4-BE49-F238E27FC236}">
                <a16:creationId xmlns="" xmlns:a16="http://schemas.microsoft.com/office/drawing/2014/main" id="{03BE779F-8714-EA4E-A49F-9601AB9ACB1C}"/>
              </a:ext>
            </a:extLst>
          </p:cNvPr>
          <p:cNvSpPr/>
          <p:nvPr/>
        </p:nvSpPr>
        <p:spPr>
          <a:xfrm rot="10800000">
            <a:off x="1811368" y="4134504"/>
            <a:ext cx="228600" cy="2286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8" name="Oval 57">
            <a:extLst>
              <a:ext uri="{FF2B5EF4-FFF2-40B4-BE49-F238E27FC236}">
                <a16:creationId xmlns="" xmlns:a16="http://schemas.microsoft.com/office/drawing/2014/main" id="{08AA52A9-20BC-A344-ACE9-807C977DE4BD}"/>
              </a:ext>
            </a:extLst>
          </p:cNvPr>
          <p:cNvSpPr/>
          <p:nvPr/>
        </p:nvSpPr>
        <p:spPr>
          <a:xfrm rot="10800000">
            <a:off x="1811368" y="4509422"/>
            <a:ext cx="228600" cy="2286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9" name="Rounded Rectangle 58">
            <a:extLst>
              <a:ext uri="{FF2B5EF4-FFF2-40B4-BE49-F238E27FC236}">
                <a16:creationId xmlns="" xmlns:a16="http://schemas.microsoft.com/office/drawing/2014/main" id="{085C71ED-2885-A647-993D-1FD1F1172BAC}"/>
              </a:ext>
            </a:extLst>
          </p:cNvPr>
          <p:cNvSpPr/>
          <p:nvPr/>
        </p:nvSpPr>
        <p:spPr>
          <a:xfrm rot="10800000">
            <a:off x="6867717" y="2467332"/>
            <a:ext cx="381000" cy="2391291"/>
          </a:xfrm>
          <a:prstGeom prst="roundRect">
            <a:avLst/>
          </a:prstGeom>
          <a:solidFill>
            <a:srgbClr val="288CD2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="" xmlns:a16="http://schemas.microsoft.com/office/drawing/2014/main" id="{B17E135A-B831-1A41-AA22-7DA6E7E30BD2}"/>
              </a:ext>
            </a:extLst>
          </p:cNvPr>
          <p:cNvSpPr/>
          <p:nvPr/>
        </p:nvSpPr>
        <p:spPr>
          <a:xfrm rot="10800000">
            <a:off x="6943917" y="3762733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1" name="Oval 60">
            <a:extLst>
              <a:ext uri="{FF2B5EF4-FFF2-40B4-BE49-F238E27FC236}">
                <a16:creationId xmlns="" xmlns:a16="http://schemas.microsoft.com/office/drawing/2014/main" id="{6DDA967A-FAC9-DD48-BA3E-4A9904AB58D8}"/>
              </a:ext>
            </a:extLst>
          </p:cNvPr>
          <p:cNvSpPr/>
          <p:nvPr/>
        </p:nvSpPr>
        <p:spPr>
          <a:xfrm rot="10800000">
            <a:off x="6943917" y="3381733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2" name="Oval 61">
            <a:extLst>
              <a:ext uri="{FF2B5EF4-FFF2-40B4-BE49-F238E27FC236}">
                <a16:creationId xmlns="" xmlns:a16="http://schemas.microsoft.com/office/drawing/2014/main" id="{327B4ADF-C9AB-934F-BC3E-D681C9F9D620}"/>
              </a:ext>
            </a:extLst>
          </p:cNvPr>
          <p:cNvSpPr/>
          <p:nvPr/>
        </p:nvSpPr>
        <p:spPr>
          <a:xfrm rot="10800000">
            <a:off x="6943917" y="3000733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3" name="Oval 62">
            <a:extLst>
              <a:ext uri="{FF2B5EF4-FFF2-40B4-BE49-F238E27FC236}">
                <a16:creationId xmlns="" xmlns:a16="http://schemas.microsoft.com/office/drawing/2014/main" id="{FE513E34-2A87-514C-A6C7-84C714394D53}"/>
              </a:ext>
            </a:extLst>
          </p:cNvPr>
          <p:cNvSpPr/>
          <p:nvPr/>
        </p:nvSpPr>
        <p:spPr>
          <a:xfrm rot="10800000">
            <a:off x="6943917" y="2619733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4" name="Oval 63">
            <a:extLst>
              <a:ext uri="{FF2B5EF4-FFF2-40B4-BE49-F238E27FC236}">
                <a16:creationId xmlns="" xmlns:a16="http://schemas.microsoft.com/office/drawing/2014/main" id="{E89AAE6F-A5E3-424A-BD50-879779CBCAF2}"/>
              </a:ext>
            </a:extLst>
          </p:cNvPr>
          <p:cNvSpPr/>
          <p:nvPr/>
        </p:nvSpPr>
        <p:spPr>
          <a:xfrm rot="10800000">
            <a:off x="6943916" y="4125223"/>
            <a:ext cx="228600" cy="2286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5" name="Oval 64">
            <a:extLst>
              <a:ext uri="{FF2B5EF4-FFF2-40B4-BE49-F238E27FC236}">
                <a16:creationId xmlns="" xmlns:a16="http://schemas.microsoft.com/office/drawing/2014/main" id="{199FD474-48AA-E742-91F8-3D07154AA7EF}"/>
              </a:ext>
            </a:extLst>
          </p:cNvPr>
          <p:cNvSpPr/>
          <p:nvPr/>
        </p:nvSpPr>
        <p:spPr>
          <a:xfrm rot="10800000">
            <a:off x="6943916" y="4500141"/>
            <a:ext cx="228600" cy="2286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</p:spTree>
    <p:extLst>
      <p:ext uri="{BB962C8B-B14F-4D97-AF65-F5344CB8AC3E}">
        <p14:creationId xmlns:p14="http://schemas.microsoft.com/office/powerpoint/2010/main" val="280571198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5A7CD91-97E0-AE46-B944-1ED7FE868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Gradient Descent for Inference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C25D4E3-1E1E-1244-A999-40E6DFADA9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simple and general</a:t>
            </a:r>
          </a:p>
          <a:p>
            <a:endParaRPr lang="en-US" dirty="0"/>
          </a:p>
          <a:p>
            <a:r>
              <a:rPr lang="en-US" dirty="0"/>
              <a:t>easy to implement thanks to toolkits with automatic differentiation</a:t>
            </a:r>
          </a:p>
          <a:p>
            <a:endParaRPr lang="en-US" dirty="0"/>
          </a:p>
          <a:p>
            <a:r>
              <a:rPr lang="en-US" dirty="0"/>
              <a:t>it does require a way to relax the output space to be continuous</a:t>
            </a:r>
          </a:p>
          <a:p>
            <a:endParaRPr lang="en-US" dirty="0"/>
          </a:p>
          <a:p>
            <a:r>
              <a:rPr lang="en-US" dirty="0"/>
              <a:t>how well does it work?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9626E83D-7B86-9C43-B05D-AE8046223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08592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09A7B7D-53D5-C645-B6F0-69CD2FCED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Empirical Comparison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="" xmlns:a16="http://schemas.microsoft.com/office/drawing/2014/main" id="{5A31B806-1072-B143-81B5-178C54B54F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936" y="1029319"/>
            <a:ext cx="6821715" cy="33729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4C0E9D84-CE78-AB4F-9FF1-EB6E73F15E28}"/>
              </a:ext>
            </a:extLst>
          </p:cNvPr>
          <p:cNvSpPr/>
          <p:nvPr/>
        </p:nvSpPr>
        <p:spPr>
          <a:xfrm>
            <a:off x="6915149" y="1795847"/>
            <a:ext cx="2167344" cy="797473"/>
          </a:xfrm>
          <a:prstGeom prst="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68" tIns="34284" rIns="68568" bIns="34284" rtlCol="0" anchor="ctr"/>
          <a:lstStyle>
            <a:defPPr>
              <a:defRPr lang="en-US"/>
            </a:defPPr>
            <a:lvl1pPr marL="0" algn="l" defTabSz="3291279" rtl="0" eaLnBrk="1" latinLnBrk="0" hangingPunct="1">
              <a:defRPr sz="6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1645640" algn="l" defTabSz="3291279" rtl="0" eaLnBrk="1" latinLnBrk="0" hangingPunct="1">
              <a:defRPr sz="6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3291279" algn="l" defTabSz="3291279" rtl="0" eaLnBrk="1" latinLnBrk="0" hangingPunct="1">
              <a:defRPr sz="6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4936919" algn="l" defTabSz="3291279" rtl="0" eaLnBrk="1" latinLnBrk="0" hangingPunct="1">
              <a:defRPr sz="6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6582559" algn="l" defTabSz="3291279" rtl="0" eaLnBrk="1" latinLnBrk="0" hangingPunct="1">
              <a:defRPr sz="6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8228198" algn="l" defTabSz="3291279" rtl="0" eaLnBrk="1" latinLnBrk="0" hangingPunct="1">
              <a:defRPr sz="6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873837" algn="l" defTabSz="3291279" rtl="0" eaLnBrk="1" latinLnBrk="0" hangingPunct="1">
              <a:defRPr sz="6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1519478" algn="l" defTabSz="3291279" rtl="0" eaLnBrk="1" latinLnBrk="0" hangingPunct="1">
              <a:defRPr sz="6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3165118" algn="l" defTabSz="3291279" rtl="0" eaLnBrk="1" latinLnBrk="0" hangingPunct="1">
              <a:defRPr sz="6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>
                <a:solidFill>
                  <a:srgbClr val="288CD2"/>
                </a:solidFill>
                <a:cs typeface="Times New Roman" panose="02020603050405020304" pitchFamily="18" charset="0"/>
              </a:rPr>
              <a:t># of gradient descent iterations 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="" xmlns:a16="http://schemas.microsoft.com/office/drawing/2014/main" id="{B3A42555-89E2-824D-9216-57583CA19F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49" y="4652328"/>
            <a:ext cx="9086851" cy="1485019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sequence labeling task with 400 labels (CCG </a:t>
            </a:r>
            <a:r>
              <a:rPr lang="en-US" dirty="0" err="1"/>
              <a:t>supertagging</a:t>
            </a:r>
            <a:r>
              <a:rPr lang="en-US" dirty="0"/>
              <a:t>)</a:t>
            </a:r>
          </a:p>
          <a:p>
            <a:r>
              <a:rPr lang="en-US" dirty="0"/>
              <a:t>model is a BLSTM-CRF</a:t>
            </a:r>
          </a:p>
          <a:p>
            <a:r>
              <a:rPr lang="en-US" dirty="0"/>
              <a:t>gradient descent is much worse than Viterbi!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="" xmlns:a16="http://schemas.microsoft.com/office/drawing/2014/main" id="{6BF45B41-E1E2-DA4D-B822-BA0C33CEABA1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6490607" y="1463095"/>
            <a:ext cx="991687" cy="383721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" name="Text Box 10">
            <a:extLst>
              <a:ext uri="{FF2B5EF4-FFF2-40B4-BE49-F238E27FC236}">
                <a16:creationId xmlns="" xmlns:a16="http://schemas.microsoft.com/office/drawing/2014/main" id="{47DC3DC1-42A9-C84E-BFAA-D5210147E8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4156" y="6137347"/>
            <a:ext cx="7649936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sz="2000" dirty="0">
                <a:solidFill>
                  <a:srgbClr val="288CD2"/>
                </a:solidFill>
                <a:cs typeface="Courier New"/>
              </a:rPr>
              <a:t>Tu &amp; </a:t>
            </a:r>
            <a:r>
              <a:rPr lang="en-US" altLang="ja-JP" sz="2000" dirty="0" err="1">
                <a:solidFill>
                  <a:srgbClr val="288CD2"/>
                </a:solidFill>
                <a:cs typeface="Courier New"/>
              </a:rPr>
              <a:t>Gimpel</a:t>
            </a:r>
            <a:r>
              <a:rPr lang="en-US" altLang="ja-JP" sz="2000" dirty="0">
                <a:solidFill>
                  <a:srgbClr val="288CD2"/>
                </a:solidFill>
                <a:cs typeface="Courier New"/>
              </a:rPr>
              <a:t> (2019): </a:t>
            </a:r>
            <a:r>
              <a:rPr lang="en-US" altLang="ja-JP" sz="2000" i="1" dirty="0">
                <a:solidFill>
                  <a:srgbClr val="288CD2"/>
                </a:solidFill>
                <a:cs typeface="Courier New"/>
              </a:rPr>
              <a:t>Benchmarking Approximate Inference Methods for Neural Structured Prediction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="" xmlns:a16="http://schemas.microsoft.com/office/drawing/2014/main" id="{30D24D4C-B9BB-D84B-AE3E-ED6E8E69C1DB}"/>
              </a:ext>
            </a:extLst>
          </p:cNvPr>
          <p:cNvSpPr/>
          <p:nvPr/>
        </p:nvSpPr>
        <p:spPr>
          <a:xfrm>
            <a:off x="3690257" y="2784021"/>
            <a:ext cx="2800350" cy="37555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897632BF-EBA9-B24D-9BBA-2202F9584310}"/>
              </a:ext>
            </a:extLst>
          </p:cNvPr>
          <p:cNvSpPr/>
          <p:nvPr/>
        </p:nvSpPr>
        <p:spPr>
          <a:xfrm>
            <a:off x="1540328" y="1279398"/>
            <a:ext cx="203021" cy="37555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="" xmlns:a16="http://schemas.microsoft.com/office/drawing/2014/main" id="{A571EC1A-40B6-ED4E-9FBD-29E4A46C1C9C}"/>
              </a:ext>
            </a:extLst>
          </p:cNvPr>
          <p:cNvCxnSpPr/>
          <p:nvPr/>
        </p:nvCxnSpPr>
        <p:spPr>
          <a:xfrm>
            <a:off x="3837215" y="2784021"/>
            <a:ext cx="2506435" cy="0"/>
          </a:xfrm>
          <a:prstGeom prst="line">
            <a:avLst/>
          </a:prstGeom>
          <a:ln w="31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612547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A9985CE-BB0F-FC4C-A453-DBCB29242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Inference Networks for Structured Prediction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7F22C3E-5C9F-3C4E-AA90-1C12DA6138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working in the relaxed continuous output space, we can design a neural network architecture to map from inputs to (relaxed) outputs</a:t>
            </a:r>
          </a:p>
          <a:p>
            <a:r>
              <a:rPr lang="en-US" dirty="0"/>
              <a:t>train the network to output a structure with high score (similar to teacher-student networks / knowledge distillation)</a:t>
            </a:r>
          </a:p>
        </p:txBody>
      </p:sp>
      <p:sp>
        <p:nvSpPr>
          <p:cNvPr id="5" name="Text Box 10">
            <a:extLst>
              <a:ext uri="{FF2B5EF4-FFF2-40B4-BE49-F238E27FC236}">
                <a16:creationId xmlns="" xmlns:a16="http://schemas.microsoft.com/office/drawing/2014/main" id="{76A5C873-E49A-B64B-B1AB-FB970C92F7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407" y="6317270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dirty="0">
                <a:solidFill>
                  <a:srgbClr val="288CD2"/>
                </a:solidFill>
                <a:cs typeface="Courier New"/>
              </a:rPr>
              <a:t>Tu &amp; </a:t>
            </a:r>
            <a:r>
              <a:rPr lang="en-US" altLang="ja-JP" dirty="0" err="1">
                <a:solidFill>
                  <a:srgbClr val="288CD2"/>
                </a:solidFill>
                <a:cs typeface="Courier New"/>
              </a:rPr>
              <a:t>Gimpel</a:t>
            </a:r>
            <a:r>
              <a:rPr lang="en-US" altLang="ja-JP" dirty="0">
                <a:solidFill>
                  <a:srgbClr val="288CD2"/>
                </a:solidFill>
                <a:cs typeface="Courier New"/>
              </a:rPr>
              <a:t> (2018): </a:t>
            </a:r>
            <a:r>
              <a:rPr lang="en-US" altLang="ja-JP" i="1" dirty="0">
                <a:solidFill>
                  <a:srgbClr val="288CD2"/>
                </a:solidFill>
                <a:cs typeface="Courier New"/>
              </a:rPr>
              <a:t>Learning Approximate Inference Networks for Structured Prediction</a:t>
            </a:r>
          </a:p>
        </p:txBody>
      </p:sp>
    </p:spTree>
    <p:extLst>
      <p:ext uri="{BB962C8B-B14F-4D97-AF65-F5344CB8AC3E}">
        <p14:creationId xmlns:p14="http://schemas.microsoft.com/office/powerpoint/2010/main" val="180027969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Inference Networks for POS Tagging</a:t>
            </a:r>
          </a:p>
        </p:txBody>
      </p:sp>
      <p:sp>
        <p:nvSpPr>
          <p:cNvPr id="8" name="Text Box 10">
            <a:extLst>
              <a:ext uri="{FF2B5EF4-FFF2-40B4-BE49-F238E27FC236}">
                <a16:creationId xmlns=""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477" y="1767958"/>
            <a:ext cx="391720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sz="2800" dirty="0">
                <a:solidFill>
                  <a:srgbClr val="288CD2"/>
                </a:solidFill>
                <a:cs typeface="Courier New"/>
              </a:rPr>
              <a:t>Lower        the          lights</a:t>
            </a:r>
          </a:p>
        </p:txBody>
      </p:sp>
      <p:sp>
        <p:nvSpPr>
          <p:cNvPr id="10" name="Text Box 10">
            <a:extLst>
              <a:ext uri="{FF2B5EF4-FFF2-40B4-BE49-F238E27FC236}">
                <a16:creationId xmlns=""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7335" y="1053497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288CD2"/>
                </a:solidFill>
                <a:latin typeface="Courier New"/>
                <a:cs typeface="Courier New"/>
              </a:rPr>
              <a:t>&lt;s&gt;</a:t>
            </a:r>
          </a:p>
        </p:txBody>
      </p:sp>
      <p:sp>
        <p:nvSpPr>
          <p:cNvPr id="12" name="Text Box 10">
            <a:extLst>
              <a:ext uri="{FF2B5EF4-FFF2-40B4-BE49-F238E27FC236}">
                <a16:creationId xmlns=""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4730" y="1053497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288CD2"/>
                </a:solidFill>
                <a:latin typeface="Courier New"/>
                <a:cs typeface="Courier New"/>
              </a:rPr>
              <a:t>V</a:t>
            </a:r>
          </a:p>
        </p:txBody>
      </p:sp>
      <p:sp>
        <p:nvSpPr>
          <p:cNvPr id="14" name="Text Box 10">
            <a:extLst>
              <a:ext uri="{FF2B5EF4-FFF2-40B4-BE49-F238E27FC236}">
                <a16:creationId xmlns=""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14890" y="1053497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288CD2"/>
                </a:solidFill>
                <a:latin typeface="Courier New"/>
                <a:cs typeface="Courier New"/>
              </a:rPr>
              <a:t>D</a:t>
            </a:r>
          </a:p>
        </p:txBody>
      </p:sp>
      <p:sp>
        <p:nvSpPr>
          <p:cNvPr id="17" name="Text Box 10">
            <a:extLst>
              <a:ext uri="{FF2B5EF4-FFF2-40B4-BE49-F238E27FC236}">
                <a16:creationId xmlns=""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67797" y="1053497"/>
            <a:ext cx="90186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288CD2"/>
                </a:solidFill>
                <a:latin typeface="Courier New"/>
                <a:cs typeface="Courier New"/>
              </a:rPr>
              <a:t>N</a:t>
            </a:r>
          </a:p>
        </p:txBody>
      </p:sp>
      <p:sp>
        <p:nvSpPr>
          <p:cNvPr id="21" name="Text Box 10">
            <a:extLst>
              <a:ext uri="{FF2B5EF4-FFF2-40B4-BE49-F238E27FC236}">
                <a16:creationId xmlns=""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6746" y="5361945"/>
            <a:ext cx="8776606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sz="3200" dirty="0">
                <a:cs typeface="Courier New"/>
              </a:rPr>
              <a:t>use an LSTM (for example) to go from the sentence to the POS tag distribution at each position</a:t>
            </a:r>
          </a:p>
        </p:txBody>
      </p:sp>
      <p:sp>
        <p:nvSpPr>
          <p:cNvPr id="24" name="Text Box 10">
            <a:extLst>
              <a:ext uri="{FF2B5EF4-FFF2-40B4-BE49-F238E27FC236}">
                <a16:creationId xmlns=""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0684" y="1053497"/>
            <a:ext cx="1156802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800" dirty="0">
                <a:solidFill>
                  <a:srgbClr val="288CD2"/>
                </a:solidFill>
                <a:latin typeface="Courier New"/>
                <a:cs typeface="Courier New"/>
              </a:rPr>
              <a:t>&lt;/s&gt;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="" xmlns:a16="http://schemas.microsoft.com/office/drawing/2014/main" id="{68DD321E-B179-B545-9C22-7688208F094D}"/>
              </a:ext>
            </a:extLst>
          </p:cNvPr>
          <p:cNvSpPr/>
          <p:nvPr/>
        </p:nvSpPr>
        <p:spPr>
          <a:xfrm rot="10800000">
            <a:off x="2954165" y="2476613"/>
            <a:ext cx="381000" cy="2391291"/>
          </a:xfrm>
          <a:prstGeom prst="roundRect">
            <a:avLst/>
          </a:prstGeom>
          <a:solidFill>
            <a:srgbClr val="288CD2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="" xmlns:a16="http://schemas.microsoft.com/office/drawing/2014/main" id="{BA02EAA2-94C1-664B-83F8-A16AEF79B620}"/>
              </a:ext>
            </a:extLst>
          </p:cNvPr>
          <p:cNvSpPr/>
          <p:nvPr/>
        </p:nvSpPr>
        <p:spPr>
          <a:xfrm rot="10800000">
            <a:off x="3030365" y="3772014"/>
            <a:ext cx="228600" cy="2286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="" xmlns:a16="http://schemas.microsoft.com/office/drawing/2014/main" id="{A1AA0257-5AF3-D045-8EE3-1D4EDD7FA35E}"/>
              </a:ext>
            </a:extLst>
          </p:cNvPr>
          <p:cNvSpPr/>
          <p:nvPr/>
        </p:nvSpPr>
        <p:spPr>
          <a:xfrm rot="10800000">
            <a:off x="3030365" y="3391014"/>
            <a:ext cx="228600" cy="2286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="" xmlns:a16="http://schemas.microsoft.com/office/drawing/2014/main" id="{4C6EFF22-7B68-1D46-B5C3-3EED555DD564}"/>
              </a:ext>
            </a:extLst>
          </p:cNvPr>
          <p:cNvSpPr/>
          <p:nvPr/>
        </p:nvSpPr>
        <p:spPr>
          <a:xfrm rot="10800000">
            <a:off x="3030365" y="3010014"/>
            <a:ext cx="228600" cy="2286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="" xmlns:a16="http://schemas.microsoft.com/office/drawing/2014/main" id="{CD41A74D-2E7C-6342-A0A5-312D6514C770}"/>
              </a:ext>
            </a:extLst>
          </p:cNvPr>
          <p:cNvSpPr/>
          <p:nvPr/>
        </p:nvSpPr>
        <p:spPr>
          <a:xfrm rot="10800000">
            <a:off x="3030365" y="2629014"/>
            <a:ext cx="228600" cy="2286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="" xmlns:a16="http://schemas.microsoft.com/office/drawing/2014/main" id="{189EEEAB-C4B0-034B-A3EB-E397D9E4DA3E}"/>
              </a:ext>
            </a:extLst>
          </p:cNvPr>
          <p:cNvSpPr/>
          <p:nvPr/>
        </p:nvSpPr>
        <p:spPr>
          <a:xfrm rot="10800000">
            <a:off x="3030364" y="4134504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="" xmlns:a16="http://schemas.microsoft.com/office/drawing/2014/main" id="{5AC2C83B-FF80-C64D-AB0E-11E593BD38A1}"/>
              </a:ext>
            </a:extLst>
          </p:cNvPr>
          <p:cNvSpPr/>
          <p:nvPr/>
        </p:nvSpPr>
        <p:spPr>
          <a:xfrm rot="10800000">
            <a:off x="3030364" y="4509422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7" name="Text Box 10">
            <a:extLst>
              <a:ext uri="{FF2B5EF4-FFF2-40B4-BE49-F238E27FC236}">
                <a16:creationId xmlns="" xmlns:a16="http://schemas.microsoft.com/office/drawing/2014/main" id="{D24C535B-6191-C944-BD14-97EEA6B0E0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877" y="2538732"/>
            <a:ext cx="960042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400" dirty="0">
                <a:solidFill>
                  <a:srgbClr val="288CD2"/>
                </a:solidFill>
                <a:latin typeface="Courier New"/>
                <a:cs typeface="Courier New"/>
              </a:rPr>
              <a:t>N</a:t>
            </a:r>
          </a:p>
          <a:p>
            <a:pPr algn="ctr"/>
            <a:r>
              <a:rPr lang="en-US" altLang="ja-JP" sz="2400" dirty="0">
                <a:solidFill>
                  <a:srgbClr val="288CD2"/>
                </a:solidFill>
                <a:latin typeface="Courier New"/>
                <a:cs typeface="Courier New"/>
              </a:rPr>
              <a:t>V</a:t>
            </a:r>
          </a:p>
          <a:p>
            <a:pPr algn="ctr"/>
            <a:r>
              <a:rPr lang="en-US" altLang="ja-JP" sz="2400" dirty="0">
                <a:solidFill>
                  <a:srgbClr val="288CD2"/>
                </a:solidFill>
                <a:latin typeface="Courier New"/>
                <a:cs typeface="Courier New"/>
              </a:rPr>
              <a:t>D</a:t>
            </a:r>
          </a:p>
          <a:p>
            <a:pPr algn="ctr"/>
            <a:r>
              <a:rPr lang="en-US" altLang="ja-JP" sz="2400" dirty="0">
                <a:solidFill>
                  <a:srgbClr val="288CD2"/>
                </a:solidFill>
                <a:latin typeface="Courier New"/>
                <a:cs typeface="Courier New"/>
              </a:rPr>
              <a:t>J</a:t>
            </a:r>
          </a:p>
          <a:p>
            <a:pPr algn="ctr"/>
            <a:r>
              <a:rPr lang="en-US" altLang="ja-JP" sz="2400" dirty="0">
                <a:solidFill>
                  <a:srgbClr val="288CD2"/>
                </a:solidFill>
                <a:latin typeface="Courier New"/>
                <a:cs typeface="Courier New"/>
              </a:rPr>
              <a:t>&lt;s&gt;</a:t>
            </a:r>
          </a:p>
          <a:p>
            <a:pPr algn="ctr"/>
            <a:r>
              <a:rPr lang="en-US" altLang="ja-JP" sz="2400" dirty="0">
                <a:solidFill>
                  <a:srgbClr val="288CD2"/>
                </a:solidFill>
                <a:latin typeface="Courier New"/>
                <a:cs typeface="Courier New"/>
              </a:rPr>
              <a:t>&lt;/s&gt;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="" xmlns:a16="http://schemas.microsoft.com/office/drawing/2014/main" id="{84C7A325-ED30-E34B-9B59-3BCC7487B336}"/>
              </a:ext>
            </a:extLst>
          </p:cNvPr>
          <p:cNvSpPr/>
          <p:nvPr/>
        </p:nvSpPr>
        <p:spPr>
          <a:xfrm rot="10800000">
            <a:off x="4274059" y="2468449"/>
            <a:ext cx="381000" cy="2391291"/>
          </a:xfrm>
          <a:prstGeom prst="roundRect">
            <a:avLst/>
          </a:prstGeom>
          <a:solidFill>
            <a:srgbClr val="288CD2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="" xmlns:a16="http://schemas.microsoft.com/office/drawing/2014/main" id="{0E20F4C1-60C7-EC45-AC3A-269CC738AF01}"/>
              </a:ext>
            </a:extLst>
          </p:cNvPr>
          <p:cNvSpPr/>
          <p:nvPr/>
        </p:nvSpPr>
        <p:spPr>
          <a:xfrm rot="10800000">
            <a:off x="4350259" y="3763850"/>
            <a:ext cx="228600" cy="2286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="" xmlns:a16="http://schemas.microsoft.com/office/drawing/2014/main" id="{90651128-2B3A-5D4F-B9D7-E04ECB9053EF}"/>
              </a:ext>
            </a:extLst>
          </p:cNvPr>
          <p:cNvSpPr/>
          <p:nvPr/>
        </p:nvSpPr>
        <p:spPr>
          <a:xfrm rot="10800000">
            <a:off x="4350259" y="3382850"/>
            <a:ext cx="228600" cy="2286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="" xmlns:a16="http://schemas.microsoft.com/office/drawing/2014/main" id="{E2B39D8B-73BA-0741-9795-92E5D65A86F5}"/>
              </a:ext>
            </a:extLst>
          </p:cNvPr>
          <p:cNvSpPr/>
          <p:nvPr/>
        </p:nvSpPr>
        <p:spPr>
          <a:xfrm rot="10800000">
            <a:off x="4350259" y="3001850"/>
            <a:ext cx="228600" cy="2286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="" xmlns:a16="http://schemas.microsoft.com/office/drawing/2014/main" id="{85ECBB31-3BAD-A949-85DF-921975B71208}"/>
              </a:ext>
            </a:extLst>
          </p:cNvPr>
          <p:cNvSpPr/>
          <p:nvPr/>
        </p:nvSpPr>
        <p:spPr>
          <a:xfrm rot="10800000">
            <a:off x="4350259" y="2620850"/>
            <a:ext cx="228600" cy="2286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="" xmlns:a16="http://schemas.microsoft.com/office/drawing/2014/main" id="{E1573663-5055-604C-882C-26276FA9085B}"/>
              </a:ext>
            </a:extLst>
          </p:cNvPr>
          <p:cNvSpPr/>
          <p:nvPr/>
        </p:nvSpPr>
        <p:spPr>
          <a:xfrm rot="10800000">
            <a:off x="4350258" y="4126340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="" xmlns:a16="http://schemas.microsoft.com/office/drawing/2014/main" id="{FCF4E804-7E52-BD4E-B337-2E10F2590A4E}"/>
              </a:ext>
            </a:extLst>
          </p:cNvPr>
          <p:cNvSpPr/>
          <p:nvPr/>
        </p:nvSpPr>
        <p:spPr>
          <a:xfrm rot="10800000">
            <a:off x="4350258" y="4501258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5" name="Rounded Rectangle 44">
            <a:extLst>
              <a:ext uri="{FF2B5EF4-FFF2-40B4-BE49-F238E27FC236}">
                <a16:creationId xmlns="" xmlns:a16="http://schemas.microsoft.com/office/drawing/2014/main" id="{71FC1CE5-0AE7-A24A-9175-A8F3095A635E}"/>
              </a:ext>
            </a:extLst>
          </p:cNvPr>
          <p:cNvSpPr/>
          <p:nvPr/>
        </p:nvSpPr>
        <p:spPr>
          <a:xfrm rot="10800000">
            <a:off x="5629125" y="2467332"/>
            <a:ext cx="381000" cy="2391291"/>
          </a:xfrm>
          <a:prstGeom prst="roundRect">
            <a:avLst/>
          </a:prstGeom>
          <a:solidFill>
            <a:srgbClr val="288CD2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="" xmlns:a16="http://schemas.microsoft.com/office/drawing/2014/main" id="{F075DFEC-BCA7-B448-85F8-1ED9D0CCC5CC}"/>
              </a:ext>
            </a:extLst>
          </p:cNvPr>
          <p:cNvSpPr/>
          <p:nvPr/>
        </p:nvSpPr>
        <p:spPr>
          <a:xfrm rot="10800000">
            <a:off x="5705325" y="3762733"/>
            <a:ext cx="228600" cy="2286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="" xmlns:a16="http://schemas.microsoft.com/office/drawing/2014/main" id="{4DC9932D-4914-BD45-AFE9-2FB9FDB74501}"/>
              </a:ext>
            </a:extLst>
          </p:cNvPr>
          <p:cNvSpPr/>
          <p:nvPr/>
        </p:nvSpPr>
        <p:spPr>
          <a:xfrm rot="10800000">
            <a:off x="5705325" y="3381733"/>
            <a:ext cx="228600" cy="2286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="" xmlns:a16="http://schemas.microsoft.com/office/drawing/2014/main" id="{B4762AF8-C88B-AC44-BE90-63124E84498B}"/>
              </a:ext>
            </a:extLst>
          </p:cNvPr>
          <p:cNvSpPr/>
          <p:nvPr/>
        </p:nvSpPr>
        <p:spPr>
          <a:xfrm rot="10800000">
            <a:off x="5705325" y="3000733"/>
            <a:ext cx="228600" cy="2286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="" xmlns:a16="http://schemas.microsoft.com/office/drawing/2014/main" id="{734D91B1-84C5-A84C-8A7C-3EE8877203F3}"/>
              </a:ext>
            </a:extLst>
          </p:cNvPr>
          <p:cNvSpPr/>
          <p:nvPr/>
        </p:nvSpPr>
        <p:spPr>
          <a:xfrm rot="10800000">
            <a:off x="5705325" y="2619733"/>
            <a:ext cx="228600" cy="2286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="" xmlns:a16="http://schemas.microsoft.com/office/drawing/2014/main" id="{E4F6C406-CC9A-B048-B740-A0497D263F65}"/>
              </a:ext>
            </a:extLst>
          </p:cNvPr>
          <p:cNvSpPr/>
          <p:nvPr/>
        </p:nvSpPr>
        <p:spPr>
          <a:xfrm rot="10800000">
            <a:off x="5705324" y="4125223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="" xmlns:a16="http://schemas.microsoft.com/office/drawing/2014/main" id="{80CB92A0-1419-A14C-A0CC-543D26BA37D1}"/>
              </a:ext>
            </a:extLst>
          </p:cNvPr>
          <p:cNvSpPr/>
          <p:nvPr/>
        </p:nvSpPr>
        <p:spPr>
          <a:xfrm rot="10800000">
            <a:off x="5705324" y="4500141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2" name="Rounded Rectangle 51">
            <a:extLst>
              <a:ext uri="{FF2B5EF4-FFF2-40B4-BE49-F238E27FC236}">
                <a16:creationId xmlns="" xmlns:a16="http://schemas.microsoft.com/office/drawing/2014/main" id="{04CFEAB4-17DB-524B-9269-0D451149AA63}"/>
              </a:ext>
            </a:extLst>
          </p:cNvPr>
          <p:cNvSpPr/>
          <p:nvPr/>
        </p:nvSpPr>
        <p:spPr>
          <a:xfrm rot="10800000">
            <a:off x="1735169" y="2476613"/>
            <a:ext cx="381000" cy="2391291"/>
          </a:xfrm>
          <a:prstGeom prst="roundRect">
            <a:avLst/>
          </a:prstGeom>
          <a:solidFill>
            <a:srgbClr val="288CD2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="" xmlns:a16="http://schemas.microsoft.com/office/drawing/2014/main" id="{3FCB64FE-CD36-5143-BADC-A4903DB0B3BE}"/>
              </a:ext>
            </a:extLst>
          </p:cNvPr>
          <p:cNvSpPr/>
          <p:nvPr/>
        </p:nvSpPr>
        <p:spPr>
          <a:xfrm rot="10800000">
            <a:off x="1811369" y="3772014"/>
            <a:ext cx="228600" cy="2286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="" xmlns:a16="http://schemas.microsoft.com/office/drawing/2014/main" id="{EC4C8305-ED0B-FE45-B32C-5EEB4B1A7973}"/>
              </a:ext>
            </a:extLst>
          </p:cNvPr>
          <p:cNvSpPr/>
          <p:nvPr/>
        </p:nvSpPr>
        <p:spPr>
          <a:xfrm rot="10800000">
            <a:off x="1811369" y="3391014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5" name="Oval 54">
            <a:extLst>
              <a:ext uri="{FF2B5EF4-FFF2-40B4-BE49-F238E27FC236}">
                <a16:creationId xmlns="" xmlns:a16="http://schemas.microsoft.com/office/drawing/2014/main" id="{D57A0A62-B273-0E45-8A60-1BBA82A2B4CA}"/>
              </a:ext>
            </a:extLst>
          </p:cNvPr>
          <p:cNvSpPr/>
          <p:nvPr/>
        </p:nvSpPr>
        <p:spPr>
          <a:xfrm rot="10800000">
            <a:off x="1811369" y="3010014"/>
            <a:ext cx="228600" cy="2286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6" name="Oval 55">
            <a:extLst>
              <a:ext uri="{FF2B5EF4-FFF2-40B4-BE49-F238E27FC236}">
                <a16:creationId xmlns="" xmlns:a16="http://schemas.microsoft.com/office/drawing/2014/main" id="{8FD1EF9E-E4AC-8844-8B21-67F2EEF8A57B}"/>
              </a:ext>
            </a:extLst>
          </p:cNvPr>
          <p:cNvSpPr/>
          <p:nvPr/>
        </p:nvSpPr>
        <p:spPr>
          <a:xfrm rot="10800000">
            <a:off x="1811369" y="2629014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7" name="Oval 56">
            <a:extLst>
              <a:ext uri="{FF2B5EF4-FFF2-40B4-BE49-F238E27FC236}">
                <a16:creationId xmlns="" xmlns:a16="http://schemas.microsoft.com/office/drawing/2014/main" id="{03BE779F-8714-EA4E-A49F-9601AB9ACB1C}"/>
              </a:ext>
            </a:extLst>
          </p:cNvPr>
          <p:cNvSpPr/>
          <p:nvPr/>
        </p:nvSpPr>
        <p:spPr>
          <a:xfrm rot="10800000">
            <a:off x="1811368" y="4134504"/>
            <a:ext cx="228600" cy="2286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8" name="Oval 57">
            <a:extLst>
              <a:ext uri="{FF2B5EF4-FFF2-40B4-BE49-F238E27FC236}">
                <a16:creationId xmlns="" xmlns:a16="http://schemas.microsoft.com/office/drawing/2014/main" id="{08AA52A9-20BC-A344-ACE9-807C977DE4BD}"/>
              </a:ext>
            </a:extLst>
          </p:cNvPr>
          <p:cNvSpPr/>
          <p:nvPr/>
        </p:nvSpPr>
        <p:spPr>
          <a:xfrm rot="10800000">
            <a:off x="1811368" y="4509422"/>
            <a:ext cx="228600" cy="2286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9" name="Rounded Rectangle 58">
            <a:extLst>
              <a:ext uri="{FF2B5EF4-FFF2-40B4-BE49-F238E27FC236}">
                <a16:creationId xmlns="" xmlns:a16="http://schemas.microsoft.com/office/drawing/2014/main" id="{085C71ED-2885-A647-993D-1FD1F1172BAC}"/>
              </a:ext>
            </a:extLst>
          </p:cNvPr>
          <p:cNvSpPr/>
          <p:nvPr/>
        </p:nvSpPr>
        <p:spPr>
          <a:xfrm rot="10800000">
            <a:off x="6867717" y="2467332"/>
            <a:ext cx="381000" cy="2391291"/>
          </a:xfrm>
          <a:prstGeom prst="roundRect">
            <a:avLst/>
          </a:prstGeom>
          <a:solidFill>
            <a:srgbClr val="288CD2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="" xmlns:a16="http://schemas.microsoft.com/office/drawing/2014/main" id="{B17E135A-B831-1A41-AA22-7DA6E7E30BD2}"/>
              </a:ext>
            </a:extLst>
          </p:cNvPr>
          <p:cNvSpPr/>
          <p:nvPr/>
        </p:nvSpPr>
        <p:spPr>
          <a:xfrm rot="10800000">
            <a:off x="6943917" y="3762733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1" name="Oval 60">
            <a:extLst>
              <a:ext uri="{FF2B5EF4-FFF2-40B4-BE49-F238E27FC236}">
                <a16:creationId xmlns="" xmlns:a16="http://schemas.microsoft.com/office/drawing/2014/main" id="{6DDA967A-FAC9-DD48-BA3E-4A9904AB58D8}"/>
              </a:ext>
            </a:extLst>
          </p:cNvPr>
          <p:cNvSpPr/>
          <p:nvPr/>
        </p:nvSpPr>
        <p:spPr>
          <a:xfrm rot="10800000">
            <a:off x="6943917" y="3381733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2" name="Oval 61">
            <a:extLst>
              <a:ext uri="{FF2B5EF4-FFF2-40B4-BE49-F238E27FC236}">
                <a16:creationId xmlns="" xmlns:a16="http://schemas.microsoft.com/office/drawing/2014/main" id="{327B4ADF-C9AB-934F-BC3E-D681C9F9D620}"/>
              </a:ext>
            </a:extLst>
          </p:cNvPr>
          <p:cNvSpPr/>
          <p:nvPr/>
        </p:nvSpPr>
        <p:spPr>
          <a:xfrm rot="10800000">
            <a:off x="6943917" y="3000733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3" name="Oval 62">
            <a:extLst>
              <a:ext uri="{FF2B5EF4-FFF2-40B4-BE49-F238E27FC236}">
                <a16:creationId xmlns="" xmlns:a16="http://schemas.microsoft.com/office/drawing/2014/main" id="{FE513E34-2A87-514C-A6C7-84C714394D53}"/>
              </a:ext>
            </a:extLst>
          </p:cNvPr>
          <p:cNvSpPr/>
          <p:nvPr/>
        </p:nvSpPr>
        <p:spPr>
          <a:xfrm rot="10800000">
            <a:off x="6943917" y="2619733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4" name="Oval 63">
            <a:extLst>
              <a:ext uri="{FF2B5EF4-FFF2-40B4-BE49-F238E27FC236}">
                <a16:creationId xmlns="" xmlns:a16="http://schemas.microsoft.com/office/drawing/2014/main" id="{E89AAE6F-A5E3-424A-BD50-879779CBCAF2}"/>
              </a:ext>
            </a:extLst>
          </p:cNvPr>
          <p:cNvSpPr/>
          <p:nvPr/>
        </p:nvSpPr>
        <p:spPr>
          <a:xfrm rot="10800000">
            <a:off x="6943916" y="4125223"/>
            <a:ext cx="228600" cy="2286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5" name="Oval 64">
            <a:extLst>
              <a:ext uri="{FF2B5EF4-FFF2-40B4-BE49-F238E27FC236}">
                <a16:creationId xmlns="" xmlns:a16="http://schemas.microsoft.com/office/drawing/2014/main" id="{199FD474-48AA-E742-91F8-3D07154AA7EF}"/>
              </a:ext>
            </a:extLst>
          </p:cNvPr>
          <p:cNvSpPr/>
          <p:nvPr/>
        </p:nvSpPr>
        <p:spPr>
          <a:xfrm rot="10800000">
            <a:off x="6943916" y="4500141"/>
            <a:ext cx="228600" cy="2286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</p:spTree>
    <p:extLst>
      <p:ext uri="{BB962C8B-B14F-4D97-AF65-F5344CB8AC3E}">
        <p14:creationId xmlns:p14="http://schemas.microsoft.com/office/powerpoint/2010/main" val="218692559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10">
            <a:extLst>
              <a:ext uri="{FF2B5EF4-FFF2-40B4-BE49-F238E27FC236}">
                <a16:creationId xmlns=""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3920" y="6342096"/>
            <a:ext cx="588273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sz="2800" dirty="0">
                <a:solidFill>
                  <a:srgbClr val="288CD2"/>
                </a:solidFill>
                <a:cs typeface="Courier New"/>
              </a:rPr>
              <a:t>&lt;s&gt;      Lower        the          lights      &lt;/s&gt;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="" xmlns:a16="http://schemas.microsoft.com/office/drawing/2014/main" id="{68DD321E-B179-B545-9C22-7688208F094D}"/>
              </a:ext>
            </a:extLst>
          </p:cNvPr>
          <p:cNvSpPr/>
          <p:nvPr/>
        </p:nvSpPr>
        <p:spPr>
          <a:xfrm rot="10800000">
            <a:off x="2954165" y="111087"/>
            <a:ext cx="381000" cy="2391291"/>
          </a:xfrm>
          <a:prstGeom prst="roundRect">
            <a:avLst/>
          </a:prstGeom>
          <a:solidFill>
            <a:srgbClr val="288CD2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="" xmlns:a16="http://schemas.microsoft.com/office/drawing/2014/main" id="{BA02EAA2-94C1-664B-83F8-A16AEF79B620}"/>
              </a:ext>
            </a:extLst>
          </p:cNvPr>
          <p:cNvSpPr/>
          <p:nvPr/>
        </p:nvSpPr>
        <p:spPr>
          <a:xfrm rot="10800000">
            <a:off x="3030365" y="1406488"/>
            <a:ext cx="228600" cy="2286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="" xmlns:a16="http://schemas.microsoft.com/office/drawing/2014/main" id="{A1AA0257-5AF3-D045-8EE3-1D4EDD7FA35E}"/>
              </a:ext>
            </a:extLst>
          </p:cNvPr>
          <p:cNvSpPr/>
          <p:nvPr/>
        </p:nvSpPr>
        <p:spPr>
          <a:xfrm rot="10800000">
            <a:off x="3030365" y="1025488"/>
            <a:ext cx="228600" cy="2286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="" xmlns:a16="http://schemas.microsoft.com/office/drawing/2014/main" id="{4C6EFF22-7B68-1D46-B5C3-3EED555DD564}"/>
              </a:ext>
            </a:extLst>
          </p:cNvPr>
          <p:cNvSpPr/>
          <p:nvPr/>
        </p:nvSpPr>
        <p:spPr>
          <a:xfrm rot="10800000">
            <a:off x="3030365" y="644488"/>
            <a:ext cx="228600" cy="2286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="" xmlns:a16="http://schemas.microsoft.com/office/drawing/2014/main" id="{CD41A74D-2E7C-6342-A0A5-312D6514C770}"/>
              </a:ext>
            </a:extLst>
          </p:cNvPr>
          <p:cNvSpPr/>
          <p:nvPr/>
        </p:nvSpPr>
        <p:spPr>
          <a:xfrm rot="10800000">
            <a:off x="3030365" y="263488"/>
            <a:ext cx="228600" cy="2286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="" xmlns:a16="http://schemas.microsoft.com/office/drawing/2014/main" id="{189EEEAB-C4B0-034B-A3EB-E397D9E4DA3E}"/>
              </a:ext>
            </a:extLst>
          </p:cNvPr>
          <p:cNvSpPr/>
          <p:nvPr/>
        </p:nvSpPr>
        <p:spPr>
          <a:xfrm rot="10800000">
            <a:off x="3030364" y="1768978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="" xmlns:a16="http://schemas.microsoft.com/office/drawing/2014/main" id="{5AC2C83B-FF80-C64D-AB0E-11E593BD38A1}"/>
              </a:ext>
            </a:extLst>
          </p:cNvPr>
          <p:cNvSpPr/>
          <p:nvPr/>
        </p:nvSpPr>
        <p:spPr>
          <a:xfrm rot="10800000">
            <a:off x="3030364" y="2143896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7" name="Text Box 10">
            <a:extLst>
              <a:ext uri="{FF2B5EF4-FFF2-40B4-BE49-F238E27FC236}">
                <a16:creationId xmlns="" xmlns:a16="http://schemas.microsoft.com/office/drawing/2014/main" id="{D24C535B-6191-C944-BD14-97EEA6B0E0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877" y="173206"/>
            <a:ext cx="960042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400" dirty="0">
                <a:solidFill>
                  <a:srgbClr val="288CD2"/>
                </a:solidFill>
                <a:latin typeface="Courier New"/>
                <a:cs typeface="Courier New"/>
              </a:rPr>
              <a:t>N</a:t>
            </a:r>
          </a:p>
          <a:p>
            <a:pPr algn="ctr"/>
            <a:r>
              <a:rPr lang="en-US" altLang="ja-JP" sz="2400" dirty="0">
                <a:solidFill>
                  <a:srgbClr val="288CD2"/>
                </a:solidFill>
                <a:latin typeface="Courier New"/>
                <a:cs typeface="Courier New"/>
              </a:rPr>
              <a:t>V</a:t>
            </a:r>
          </a:p>
          <a:p>
            <a:pPr algn="ctr"/>
            <a:r>
              <a:rPr lang="en-US" altLang="ja-JP" sz="2400" dirty="0">
                <a:solidFill>
                  <a:srgbClr val="288CD2"/>
                </a:solidFill>
                <a:latin typeface="Courier New"/>
                <a:cs typeface="Courier New"/>
              </a:rPr>
              <a:t>D</a:t>
            </a:r>
          </a:p>
          <a:p>
            <a:pPr algn="ctr"/>
            <a:r>
              <a:rPr lang="en-US" altLang="ja-JP" sz="2400" dirty="0">
                <a:solidFill>
                  <a:srgbClr val="288CD2"/>
                </a:solidFill>
                <a:latin typeface="Courier New"/>
                <a:cs typeface="Courier New"/>
              </a:rPr>
              <a:t>J</a:t>
            </a:r>
          </a:p>
          <a:p>
            <a:pPr algn="ctr"/>
            <a:r>
              <a:rPr lang="en-US" altLang="ja-JP" sz="2400" dirty="0">
                <a:solidFill>
                  <a:srgbClr val="288CD2"/>
                </a:solidFill>
                <a:latin typeface="Courier New"/>
                <a:cs typeface="Courier New"/>
              </a:rPr>
              <a:t>&lt;s&gt;</a:t>
            </a:r>
          </a:p>
          <a:p>
            <a:pPr algn="ctr"/>
            <a:r>
              <a:rPr lang="en-US" altLang="ja-JP" sz="2400" dirty="0">
                <a:solidFill>
                  <a:srgbClr val="288CD2"/>
                </a:solidFill>
                <a:latin typeface="Courier New"/>
                <a:cs typeface="Courier New"/>
              </a:rPr>
              <a:t>&lt;/s&gt;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="" xmlns:a16="http://schemas.microsoft.com/office/drawing/2014/main" id="{84C7A325-ED30-E34B-9B59-3BCC7487B336}"/>
              </a:ext>
            </a:extLst>
          </p:cNvPr>
          <p:cNvSpPr/>
          <p:nvPr/>
        </p:nvSpPr>
        <p:spPr>
          <a:xfrm rot="10800000">
            <a:off x="4274059" y="102923"/>
            <a:ext cx="381000" cy="2391291"/>
          </a:xfrm>
          <a:prstGeom prst="roundRect">
            <a:avLst/>
          </a:prstGeom>
          <a:solidFill>
            <a:srgbClr val="288CD2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="" xmlns:a16="http://schemas.microsoft.com/office/drawing/2014/main" id="{0E20F4C1-60C7-EC45-AC3A-269CC738AF01}"/>
              </a:ext>
            </a:extLst>
          </p:cNvPr>
          <p:cNvSpPr/>
          <p:nvPr/>
        </p:nvSpPr>
        <p:spPr>
          <a:xfrm rot="10800000">
            <a:off x="4350259" y="1398324"/>
            <a:ext cx="228600" cy="2286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="" xmlns:a16="http://schemas.microsoft.com/office/drawing/2014/main" id="{90651128-2B3A-5D4F-B9D7-E04ECB9053EF}"/>
              </a:ext>
            </a:extLst>
          </p:cNvPr>
          <p:cNvSpPr/>
          <p:nvPr/>
        </p:nvSpPr>
        <p:spPr>
          <a:xfrm rot="10800000">
            <a:off x="4350259" y="1017324"/>
            <a:ext cx="228600" cy="2286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="" xmlns:a16="http://schemas.microsoft.com/office/drawing/2014/main" id="{E2B39D8B-73BA-0741-9795-92E5D65A86F5}"/>
              </a:ext>
            </a:extLst>
          </p:cNvPr>
          <p:cNvSpPr/>
          <p:nvPr/>
        </p:nvSpPr>
        <p:spPr>
          <a:xfrm rot="10800000">
            <a:off x="4350259" y="636324"/>
            <a:ext cx="228600" cy="2286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="" xmlns:a16="http://schemas.microsoft.com/office/drawing/2014/main" id="{85ECBB31-3BAD-A949-85DF-921975B71208}"/>
              </a:ext>
            </a:extLst>
          </p:cNvPr>
          <p:cNvSpPr/>
          <p:nvPr/>
        </p:nvSpPr>
        <p:spPr>
          <a:xfrm rot="10800000">
            <a:off x="4350259" y="255324"/>
            <a:ext cx="228600" cy="2286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="" xmlns:a16="http://schemas.microsoft.com/office/drawing/2014/main" id="{E1573663-5055-604C-882C-26276FA9085B}"/>
              </a:ext>
            </a:extLst>
          </p:cNvPr>
          <p:cNvSpPr/>
          <p:nvPr/>
        </p:nvSpPr>
        <p:spPr>
          <a:xfrm rot="10800000">
            <a:off x="4350258" y="1760814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="" xmlns:a16="http://schemas.microsoft.com/office/drawing/2014/main" id="{FCF4E804-7E52-BD4E-B337-2E10F2590A4E}"/>
              </a:ext>
            </a:extLst>
          </p:cNvPr>
          <p:cNvSpPr/>
          <p:nvPr/>
        </p:nvSpPr>
        <p:spPr>
          <a:xfrm rot="10800000">
            <a:off x="4350258" y="2135732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5" name="Rounded Rectangle 44">
            <a:extLst>
              <a:ext uri="{FF2B5EF4-FFF2-40B4-BE49-F238E27FC236}">
                <a16:creationId xmlns="" xmlns:a16="http://schemas.microsoft.com/office/drawing/2014/main" id="{71FC1CE5-0AE7-A24A-9175-A8F3095A635E}"/>
              </a:ext>
            </a:extLst>
          </p:cNvPr>
          <p:cNvSpPr/>
          <p:nvPr/>
        </p:nvSpPr>
        <p:spPr>
          <a:xfrm rot="10800000">
            <a:off x="5629125" y="101806"/>
            <a:ext cx="381000" cy="2391291"/>
          </a:xfrm>
          <a:prstGeom prst="roundRect">
            <a:avLst/>
          </a:prstGeom>
          <a:solidFill>
            <a:srgbClr val="288CD2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="" xmlns:a16="http://schemas.microsoft.com/office/drawing/2014/main" id="{F075DFEC-BCA7-B448-85F8-1ED9D0CCC5CC}"/>
              </a:ext>
            </a:extLst>
          </p:cNvPr>
          <p:cNvSpPr/>
          <p:nvPr/>
        </p:nvSpPr>
        <p:spPr>
          <a:xfrm rot="10800000">
            <a:off x="5705325" y="1397207"/>
            <a:ext cx="228600" cy="2286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="" xmlns:a16="http://schemas.microsoft.com/office/drawing/2014/main" id="{4DC9932D-4914-BD45-AFE9-2FB9FDB74501}"/>
              </a:ext>
            </a:extLst>
          </p:cNvPr>
          <p:cNvSpPr/>
          <p:nvPr/>
        </p:nvSpPr>
        <p:spPr>
          <a:xfrm rot="10800000">
            <a:off x="5705325" y="1016207"/>
            <a:ext cx="228600" cy="2286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="" xmlns:a16="http://schemas.microsoft.com/office/drawing/2014/main" id="{B4762AF8-C88B-AC44-BE90-63124E84498B}"/>
              </a:ext>
            </a:extLst>
          </p:cNvPr>
          <p:cNvSpPr/>
          <p:nvPr/>
        </p:nvSpPr>
        <p:spPr>
          <a:xfrm rot="10800000">
            <a:off x="5705325" y="635207"/>
            <a:ext cx="228600" cy="2286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="" xmlns:a16="http://schemas.microsoft.com/office/drawing/2014/main" id="{734D91B1-84C5-A84C-8A7C-3EE8877203F3}"/>
              </a:ext>
            </a:extLst>
          </p:cNvPr>
          <p:cNvSpPr/>
          <p:nvPr/>
        </p:nvSpPr>
        <p:spPr>
          <a:xfrm rot="10800000">
            <a:off x="5705325" y="254207"/>
            <a:ext cx="228600" cy="2286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="" xmlns:a16="http://schemas.microsoft.com/office/drawing/2014/main" id="{E4F6C406-CC9A-B048-B740-A0497D263F65}"/>
              </a:ext>
            </a:extLst>
          </p:cNvPr>
          <p:cNvSpPr/>
          <p:nvPr/>
        </p:nvSpPr>
        <p:spPr>
          <a:xfrm rot="10800000">
            <a:off x="5705324" y="1759697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="" xmlns:a16="http://schemas.microsoft.com/office/drawing/2014/main" id="{80CB92A0-1419-A14C-A0CC-543D26BA37D1}"/>
              </a:ext>
            </a:extLst>
          </p:cNvPr>
          <p:cNvSpPr/>
          <p:nvPr/>
        </p:nvSpPr>
        <p:spPr>
          <a:xfrm rot="10800000">
            <a:off x="5705324" y="2134615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2" name="Rounded Rectangle 51">
            <a:extLst>
              <a:ext uri="{FF2B5EF4-FFF2-40B4-BE49-F238E27FC236}">
                <a16:creationId xmlns="" xmlns:a16="http://schemas.microsoft.com/office/drawing/2014/main" id="{04CFEAB4-17DB-524B-9269-0D451149AA63}"/>
              </a:ext>
            </a:extLst>
          </p:cNvPr>
          <p:cNvSpPr/>
          <p:nvPr/>
        </p:nvSpPr>
        <p:spPr>
          <a:xfrm rot="10800000">
            <a:off x="1735169" y="111087"/>
            <a:ext cx="381000" cy="2391291"/>
          </a:xfrm>
          <a:prstGeom prst="roundRect">
            <a:avLst/>
          </a:prstGeom>
          <a:solidFill>
            <a:srgbClr val="288CD2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="" xmlns:a16="http://schemas.microsoft.com/office/drawing/2014/main" id="{3FCB64FE-CD36-5143-BADC-A4903DB0B3BE}"/>
              </a:ext>
            </a:extLst>
          </p:cNvPr>
          <p:cNvSpPr/>
          <p:nvPr/>
        </p:nvSpPr>
        <p:spPr>
          <a:xfrm rot="10800000">
            <a:off x="1811369" y="1406488"/>
            <a:ext cx="228600" cy="2286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="" xmlns:a16="http://schemas.microsoft.com/office/drawing/2014/main" id="{EC4C8305-ED0B-FE45-B32C-5EEB4B1A7973}"/>
              </a:ext>
            </a:extLst>
          </p:cNvPr>
          <p:cNvSpPr/>
          <p:nvPr/>
        </p:nvSpPr>
        <p:spPr>
          <a:xfrm rot="10800000">
            <a:off x="1811369" y="1025488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5" name="Oval 54">
            <a:extLst>
              <a:ext uri="{FF2B5EF4-FFF2-40B4-BE49-F238E27FC236}">
                <a16:creationId xmlns="" xmlns:a16="http://schemas.microsoft.com/office/drawing/2014/main" id="{D57A0A62-B273-0E45-8A60-1BBA82A2B4CA}"/>
              </a:ext>
            </a:extLst>
          </p:cNvPr>
          <p:cNvSpPr/>
          <p:nvPr/>
        </p:nvSpPr>
        <p:spPr>
          <a:xfrm rot="10800000">
            <a:off x="1811369" y="644488"/>
            <a:ext cx="228600" cy="2286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6" name="Oval 55">
            <a:extLst>
              <a:ext uri="{FF2B5EF4-FFF2-40B4-BE49-F238E27FC236}">
                <a16:creationId xmlns="" xmlns:a16="http://schemas.microsoft.com/office/drawing/2014/main" id="{8FD1EF9E-E4AC-8844-8B21-67F2EEF8A57B}"/>
              </a:ext>
            </a:extLst>
          </p:cNvPr>
          <p:cNvSpPr/>
          <p:nvPr/>
        </p:nvSpPr>
        <p:spPr>
          <a:xfrm rot="10800000">
            <a:off x="1811369" y="263488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7" name="Oval 56">
            <a:extLst>
              <a:ext uri="{FF2B5EF4-FFF2-40B4-BE49-F238E27FC236}">
                <a16:creationId xmlns="" xmlns:a16="http://schemas.microsoft.com/office/drawing/2014/main" id="{03BE779F-8714-EA4E-A49F-9601AB9ACB1C}"/>
              </a:ext>
            </a:extLst>
          </p:cNvPr>
          <p:cNvSpPr/>
          <p:nvPr/>
        </p:nvSpPr>
        <p:spPr>
          <a:xfrm rot="10800000">
            <a:off x="1811368" y="1768978"/>
            <a:ext cx="228600" cy="2286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8" name="Oval 57">
            <a:extLst>
              <a:ext uri="{FF2B5EF4-FFF2-40B4-BE49-F238E27FC236}">
                <a16:creationId xmlns="" xmlns:a16="http://schemas.microsoft.com/office/drawing/2014/main" id="{08AA52A9-20BC-A344-ACE9-807C977DE4BD}"/>
              </a:ext>
            </a:extLst>
          </p:cNvPr>
          <p:cNvSpPr/>
          <p:nvPr/>
        </p:nvSpPr>
        <p:spPr>
          <a:xfrm rot="10800000">
            <a:off x="1811368" y="2143896"/>
            <a:ext cx="228600" cy="2286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9" name="Rounded Rectangle 58">
            <a:extLst>
              <a:ext uri="{FF2B5EF4-FFF2-40B4-BE49-F238E27FC236}">
                <a16:creationId xmlns="" xmlns:a16="http://schemas.microsoft.com/office/drawing/2014/main" id="{085C71ED-2885-A647-993D-1FD1F1172BAC}"/>
              </a:ext>
            </a:extLst>
          </p:cNvPr>
          <p:cNvSpPr/>
          <p:nvPr/>
        </p:nvSpPr>
        <p:spPr>
          <a:xfrm rot="10800000">
            <a:off x="6867717" y="101806"/>
            <a:ext cx="381000" cy="2391291"/>
          </a:xfrm>
          <a:prstGeom prst="roundRect">
            <a:avLst/>
          </a:prstGeom>
          <a:solidFill>
            <a:srgbClr val="288CD2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="" xmlns:a16="http://schemas.microsoft.com/office/drawing/2014/main" id="{B17E135A-B831-1A41-AA22-7DA6E7E30BD2}"/>
              </a:ext>
            </a:extLst>
          </p:cNvPr>
          <p:cNvSpPr/>
          <p:nvPr/>
        </p:nvSpPr>
        <p:spPr>
          <a:xfrm rot="10800000">
            <a:off x="6943917" y="1397207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1" name="Oval 60">
            <a:extLst>
              <a:ext uri="{FF2B5EF4-FFF2-40B4-BE49-F238E27FC236}">
                <a16:creationId xmlns="" xmlns:a16="http://schemas.microsoft.com/office/drawing/2014/main" id="{6DDA967A-FAC9-DD48-BA3E-4A9904AB58D8}"/>
              </a:ext>
            </a:extLst>
          </p:cNvPr>
          <p:cNvSpPr/>
          <p:nvPr/>
        </p:nvSpPr>
        <p:spPr>
          <a:xfrm rot="10800000">
            <a:off x="6943917" y="1016207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2" name="Oval 61">
            <a:extLst>
              <a:ext uri="{FF2B5EF4-FFF2-40B4-BE49-F238E27FC236}">
                <a16:creationId xmlns="" xmlns:a16="http://schemas.microsoft.com/office/drawing/2014/main" id="{327B4ADF-C9AB-934F-BC3E-D681C9F9D620}"/>
              </a:ext>
            </a:extLst>
          </p:cNvPr>
          <p:cNvSpPr/>
          <p:nvPr/>
        </p:nvSpPr>
        <p:spPr>
          <a:xfrm rot="10800000">
            <a:off x="6943917" y="635207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3" name="Oval 62">
            <a:extLst>
              <a:ext uri="{FF2B5EF4-FFF2-40B4-BE49-F238E27FC236}">
                <a16:creationId xmlns="" xmlns:a16="http://schemas.microsoft.com/office/drawing/2014/main" id="{FE513E34-2A87-514C-A6C7-84C714394D53}"/>
              </a:ext>
            </a:extLst>
          </p:cNvPr>
          <p:cNvSpPr/>
          <p:nvPr/>
        </p:nvSpPr>
        <p:spPr>
          <a:xfrm rot="10800000">
            <a:off x="6943917" y="254207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4" name="Oval 63">
            <a:extLst>
              <a:ext uri="{FF2B5EF4-FFF2-40B4-BE49-F238E27FC236}">
                <a16:creationId xmlns="" xmlns:a16="http://schemas.microsoft.com/office/drawing/2014/main" id="{E89AAE6F-A5E3-424A-BD50-879779CBCAF2}"/>
              </a:ext>
            </a:extLst>
          </p:cNvPr>
          <p:cNvSpPr/>
          <p:nvPr/>
        </p:nvSpPr>
        <p:spPr>
          <a:xfrm rot="10800000">
            <a:off x="6943916" y="1759697"/>
            <a:ext cx="228600" cy="2286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5" name="Oval 64">
            <a:extLst>
              <a:ext uri="{FF2B5EF4-FFF2-40B4-BE49-F238E27FC236}">
                <a16:creationId xmlns="" xmlns:a16="http://schemas.microsoft.com/office/drawing/2014/main" id="{199FD474-48AA-E742-91F8-3D07154AA7EF}"/>
              </a:ext>
            </a:extLst>
          </p:cNvPr>
          <p:cNvSpPr/>
          <p:nvPr/>
        </p:nvSpPr>
        <p:spPr>
          <a:xfrm rot="10800000">
            <a:off x="6943916" y="2134615"/>
            <a:ext cx="228600" cy="2286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="" xmlns:a16="http://schemas.microsoft.com/office/drawing/2014/main" id="{4F59DA9D-8A9B-5A45-9A5F-AF24AD78BF00}"/>
              </a:ext>
            </a:extLst>
          </p:cNvPr>
          <p:cNvCxnSpPr>
            <a:cxnSpLocks/>
            <a:stCxn id="110" idx="1"/>
            <a:endCxn id="115" idx="3"/>
          </p:cNvCxnSpPr>
          <p:nvPr/>
        </p:nvCxnSpPr>
        <p:spPr bwMode="auto">
          <a:xfrm>
            <a:off x="4648200" y="3560797"/>
            <a:ext cx="968111" cy="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7" name="Straight Arrow Connector 66">
            <a:extLst>
              <a:ext uri="{FF2B5EF4-FFF2-40B4-BE49-F238E27FC236}">
                <a16:creationId xmlns="" xmlns:a16="http://schemas.microsoft.com/office/drawing/2014/main" id="{CEDABF64-6F12-BF44-95F6-08C1D5664715}"/>
              </a:ext>
            </a:extLst>
          </p:cNvPr>
          <p:cNvCxnSpPr>
            <a:cxnSpLocks/>
            <a:stCxn id="115" idx="1"/>
            <a:endCxn id="120" idx="3"/>
          </p:cNvCxnSpPr>
          <p:nvPr/>
        </p:nvCxnSpPr>
        <p:spPr bwMode="auto">
          <a:xfrm>
            <a:off x="5997311" y="3560797"/>
            <a:ext cx="863527" cy="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8" name="Straight Arrow Connector 67">
            <a:extLst>
              <a:ext uri="{FF2B5EF4-FFF2-40B4-BE49-F238E27FC236}">
                <a16:creationId xmlns="" xmlns:a16="http://schemas.microsoft.com/office/drawing/2014/main" id="{281BC5C1-BBB3-C34B-9672-9B3D072A5A0B}"/>
              </a:ext>
            </a:extLst>
          </p:cNvPr>
          <p:cNvCxnSpPr>
            <a:cxnSpLocks/>
            <a:stCxn id="105" idx="1"/>
            <a:endCxn id="110" idx="3"/>
          </p:cNvCxnSpPr>
          <p:nvPr/>
        </p:nvCxnSpPr>
        <p:spPr bwMode="auto">
          <a:xfrm>
            <a:off x="3321558" y="3560797"/>
            <a:ext cx="945642" cy="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69" name="Group 68">
            <a:extLst>
              <a:ext uri="{FF2B5EF4-FFF2-40B4-BE49-F238E27FC236}">
                <a16:creationId xmlns="" xmlns:a16="http://schemas.microsoft.com/office/drawing/2014/main" id="{33FAF307-C000-4B47-BCB2-6389DFE19C0E}"/>
              </a:ext>
            </a:extLst>
          </p:cNvPr>
          <p:cNvGrpSpPr/>
          <p:nvPr/>
        </p:nvGrpSpPr>
        <p:grpSpPr>
          <a:xfrm rot="5400000">
            <a:off x="1091466" y="5313397"/>
            <a:ext cx="1676400" cy="381000"/>
            <a:chOff x="2809241" y="2899966"/>
            <a:chExt cx="1676400" cy="381000"/>
          </a:xfrm>
        </p:grpSpPr>
        <p:sp>
          <p:nvSpPr>
            <p:cNvPr id="70" name="Rounded Rectangle 69">
              <a:extLst>
                <a:ext uri="{FF2B5EF4-FFF2-40B4-BE49-F238E27FC236}">
                  <a16:creationId xmlns="" xmlns:a16="http://schemas.microsoft.com/office/drawing/2014/main" id="{D9AC3340-5B3C-9F45-B3FD-D6610700C473}"/>
                </a:ext>
              </a:extLst>
            </p:cNvPr>
            <p:cNvSpPr/>
            <p:nvPr/>
          </p:nvSpPr>
          <p:spPr>
            <a:xfrm rot="5400000">
              <a:off x="3456941" y="2252266"/>
              <a:ext cx="381000" cy="1676400"/>
            </a:xfrm>
            <a:prstGeom prst="roundRect">
              <a:avLst/>
            </a:prstGeom>
            <a:solidFill>
              <a:srgbClr val="288CD2"/>
            </a:solidFill>
            <a:ln>
              <a:solidFill>
                <a:schemeClr val="tx1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-ROMAN"/>
                <a:cs typeface="TIMES-ROMAN"/>
              </a:endParaRPr>
            </a:p>
          </p:txBody>
        </p:sp>
        <p:sp>
          <p:nvSpPr>
            <p:cNvPr id="71" name="Oval 70">
              <a:extLst>
                <a:ext uri="{FF2B5EF4-FFF2-40B4-BE49-F238E27FC236}">
                  <a16:creationId xmlns="" xmlns:a16="http://schemas.microsoft.com/office/drawing/2014/main" id="{18ADAC5B-8EA7-AB4B-A7FA-993BC4FDC707}"/>
                </a:ext>
              </a:extLst>
            </p:cNvPr>
            <p:cNvSpPr/>
            <p:nvPr/>
          </p:nvSpPr>
          <p:spPr>
            <a:xfrm rot="5400000">
              <a:off x="4104641" y="2976166"/>
              <a:ext cx="228600" cy="2286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-ROMAN"/>
                <a:cs typeface="TIMES-ROMAN"/>
              </a:endParaRPr>
            </a:p>
          </p:txBody>
        </p:sp>
        <p:sp>
          <p:nvSpPr>
            <p:cNvPr id="72" name="Oval 71">
              <a:extLst>
                <a:ext uri="{FF2B5EF4-FFF2-40B4-BE49-F238E27FC236}">
                  <a16:creationId xmlns="" xmlns:a16="http://schemas.microsoft.com/office/drawing/2014/main" id="{569CBB01-6986-9A4B-B5A6-B70063D23281}"/>
                </a:ext>
              </a:extLst>
            </p:cNvPr>
            <p:cNvSpPr/>
            <p:nvPr/>
          </p:nvSpPr>
          <p:spPr>
            <a:xfrm rot="5400000">
              <a:off x="3723641" y="2976166"/>
              <a:ext cx="228600" cy="2286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-ROMAN"/>
                <a:cs typeface="TIMES-ROMAN"/>
              </a:endParaRPr>
            </a:p>
          </p:txBody>
        </p:sp>
        <p:sp>
          <p:nvSpPr>
            <p:cNvPr id="73" name="Oval 72">
              <a:extLst>
                <a:ext uri="{FF2B5EF4-FFF2-40B4-BE49-F238E27FC236}">
                  <a16:creationId xmlns="" xmlns:a16="http://schemas.microsoft.com/office/drawing/2014/main" id="{0BD162C4-0A74-9A46-BE61-88453C528963}"/>
                </a:ext>
              </a:extLst>
            </p:cNvPr>
            <p:cNvSpPr/>
            <p:nvPr/>
          </p:nvSpPr>
          <p:spPr>
            <a:xfrm rot="5400000">
              <a:off x="3342641" y="2976166"/>
              <a:ext cx="228600" cy="2286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-ROMAN"/>
                <a:cs typeface="TIMES-ROMAN"/>
              </a:endParaRPr>
            </a:p>
          </p:txBody>
        </p:sp>
        <p:sp>
          <p:nvSpPr>
            <p:cNvPr id="74" name="Oval 73">
              <a:extLst>
                <a:ext uri="{FF2B5EF4-FFF2-40B4-BE49-F238E27FC236}">
                  <a16:creationId xmlns="" xmlns:a16="http://schemas.microsoft.com/office/drawing/2014/main" id="{18536B45-5D53-9C4E-A20E-CD5DA5915D6F}"/>
                </a:ext>
              </a:extLst>
            </p:cNvPr>
            <p:cNvSpPr/>
            <p:nvPr/>
          </p:nvSpPr>
          <p:spPr>
            <a:xfrm rot="5400000">
              <a:off x="2961641" y="2976166"/>
              <a:ext cx="228600" cy="2286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-ROMAN"/>
                <a:cs typeface="TIMES-ROMAN"/>
              </a:endParaRP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="" xmlns:a16="http://schemas.microsoft.com/office/drawing/2014/main" id="{4621CAF6-70E2-3B40-B59E-336785338992}"/>
              </a:ext>
            </a:extLst>
          </p:cNvPr>
          <p:cNvGrpSpPr/>
          <p:nvPr/>
        </p:nvGrpSpPr>
        <p:grpSpPr>
          <a:xfrm rot="5400000">
            <a:off x="2288179" y="5313397"/>
            <a:ext cx="1676400" cy="381000"/>
            <a:chOff x="2809241" y="2899966"/>
            <a:chExt cx="1676400" cy="381000"/>
          </a:xfrm>
        </p:grpSpPr>
        <p:sp>
          <p:nvSpPr>
            <p:cNvPr id="76" name="Rounded Rectangle 75">
              <a:extLst>
                <a:ext uri="{FF2B5EF4-FFF2-40B4-BE49-F238E27FC236}">
                  <a16:creationId xmlns="" xmlns:a16="http://schemas.microsoft.com/office/drawing/2014/main" id="{CE3FDF4A-BD48-FD4F-8D6F-BECEA921D5D1}"/>
                </a:ext>
              </a:extLst>
            </p:cNvPr>
            <p:cNvSpPr/>
            <p:nvPr/>
          </p:nvSpPr>
          <p:spPr>
            <a:xfrm rot="5400000">
              <a:off x="3456941" y="2252266"/>
              <a:ext cx="381000" cy="1676400"/>
            </a:xfrm>
            <a:prstGeom prst="roundRect">
              <a:avLst/>
            </a:prstGeom>
            <a:solidFill>
              <a:srgbClr val="288CD2"/>
            </a:solidFill>
            <a:ln>
              <a:solidFill>
                <a:schemeClr val="tx1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-ROMAN"/>
                <a:cs typeface="TIMES-ROMAN"/>
              </a:endParaRPr>
            </a:p>
          </p:txBody>
        </p:sp>
        <p:sp>
          <p:nvSpPr>
            <p:cNvPr id="77" name="Oval 76">
              <a:extLst>
                <a:ext uri="{FF2B5EF4-FFF2-40B4-BE49-F238E27FC236}">
                  <a16:creationId xmlns="" xmlns:a16="http://schemas.microsoft.com/office/drawing/2014/main" id="{23424AB4-C810-444A-AD41-CB3BB0BB28BE}"/>
                </a:ext>
              </a:extLst>
            </p:cNvPr>
            <p:cNvSpPr/>
            <p:nvPr/>
          </p:nvSpPr>
          <p:spPr>
            <a:xfrm rot="5400000">
              <a:off x="4104641" y="2976166"/>
              <a:ext cx="228600" cy="2286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-ROMAN"/>
                <a:cs typeface="TIMES-ROMAN"/>
              </a:endParaRPr>
            </a:p>
          </p:txBody>
        </p:sp>
        <p:sp>
          <p:nvSpPr>
            <p:cNvPr id="78" name="Oval 77">
              <a:extLst>
                <a:ext uri="{FF2B5EF4-FFF2-40B4-BE49-F238E27FC236}">
                  <a16:creationId xmlns="" xmlns:a16="http://schemas.microsoft.com/office/drawing/2014/main" id="{4C298291-F92B-AB47-ABED-24EDD32A21C0}"/>
                </a:ext>
              </a:extLst>
            </p:cNvPr>
            <p:cNvSpPr/>
            <p:nvPr/>
          </p:nvSpPr>
          <p:spPr>
            <a:xfrm rot="5400000">
              <a:off x="3723641" y="2976166"/>
              <a:ext cx="228600" cy="2286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-ROMAN"/>
                <a:cs typeface="TIMES-ROMAN"/>
              </a:endParaRPr>
            </a:p>
          </p:txBody>
        </p:sp>
        <p:sp>
          <p:nvSpPr>
            <p:cNvPr id="79" name="Oval 78">
              <a:extLst>
                <a:ext uri="{FF2B5EF4-FFF2-40B4-BE49-F238E27FC236}">
                  <a16:creationId xmlns="" xmlns:a16="http://schemas.microsoft.com/office/drawing/2014/main" id="{5759CD2B-DAA9-834E-9BB2-589932072B58}"/>
                </a:ext>
              </a:extLst>
            </p:cNvPr>
            <p:cNvSpPr/>
            <p:nvPr/>
          </p:nvSpPr>
          <p:spPr>
            <a:xfrm rot="5400000">
              <a:off x="3342641" y="2976166"/>
              <a:ext cx="228600" cy="2286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-ROMAN"/>
                <a:cs typeface="TIMES-ROMAN"/>
              </a:endParaRPr>
            </a:p>
          </p:txBody>
        </p:sp>
        <p:sp>
          <p:nvSpPr>
            <p:cNvPr id="80" name="Oval 79">
              <a:extLst>
                <a:ext uri="{FF2B5EF4-FFF2-40B4-BE49-F238E27FC236}">
                  <a16:creationId xmlns="" xmlns:a16="http://schemas.microsoft.com/office/drawing/2014/main" id="{7C4276DD-77F3-4B4A-B111-39905EC0538D}"/>
                </a:ext>
              </a:extLst>
            </p:cNvPr>
            <p:cNvSpPr/>
            <p:nvPr/>
          </p:nvSpPr>
          <p:spPr>
            <a:xfrm rot="5400000">
              <a:off x="2961641" y="2976166"/>
              <a:ext cx="228600" cy="2286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-ROMAN"/>
                <a:cs typeface="TIMES-ROMAN"/>
              </a:endParaRPr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="" xmlns:a16="http://schemas.microsoft.com/office/drawing/2014/main" id="{07B1A099-3FB6-3844-BB8A-BF1F285AF521}"/>
              </a:ext>
            </a:extLst>
          </p:cNvPr>
          <p:cNvGrpSpPr/>
          <p:nvPr/>
        </p:nvGrpSpPr>
        <p:grpSpPr>
          <a:xfrm rot="5400000">
            <a:off x="3614821" y="5313397"/>
            <a:ext cx="1676400" cy="381000"/>
            <a:chOff x="2809241" y="2899966"/>
            <a:chExt cx="1676400" cy="381000"/>
          </a:xfrm>
        </p:grpSpPr>
        <p:sp>
          <p:nvSpPr>
            <p:cNvPr id="82" name="Rounded Rectangle 81">
              <a:extLst>
                <a:ext uri="{FF2B5EF4-FFF2-40B4-BE49-F238E27FC236}">
                  <a16:creationId xmlns="" xmlns:a16="http://schemas.microsoft.com/office/drawing/2014/main" id="{39B9DA48-E17C-834B-B014-1C5D0ED23FDC}"/>
                </a:ext>
              </a:extLst>
            </p:cNvPr>
            <p:cNvSpPr/>
            <p:nvPr/>
          </p:nvSpPr>
          <p:spPr>
            <a:xfrm rot="5400000">
              <a:off x="3456941" y="2252266"/>
              <a:ext cx="381000" cy="1676400"/>
            </a:xfrm>
            <a:prstGeom prst="roundRect">
              <a:avLst/>
            </a:prstGeom>
            <a:solidFill>
              <a:srgbClr val="288CD2"/>
            </a:solidFill>
            <a:ln>
              <a:solidFill>
                <a:schemeClr val="tx1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-ROMAN"/>
                <a:cs typeface="TIMES-ROMAN"/>
              </a:endParaRPr>
            </a:p>
          </p:txBody>
        </p:sp>
        <p:sp>
          <p:nvSpPr>
            <p:cNvPr id="83" name="Oval 82">
              <a:extLst>
                <a:ext uri="{FF2B5EF4-FFF2-40B4-BE49-F238E27FC236}">
                  <a16:creationId xmlns="" xmlns:a16="http://schemas.microsoft.com/office/drawing/2014/main" id="{D92A9050-37F1-9B44-8739-1AC179CF55E3}"/>
                </a:ext>
              </a:extLst>
            </p:cNvPr>
            <p:cNvSpPr/>
            <p:nvPr/>
          </p:nvSpPr>
          <p:spPr>
            <a:xfrm rot="5400000">
              <a:off x="4104641" y="2976166"/>
              <a:ext cx="228600" cy="2286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-ROMAN"/>
                <a:cs typeface="TIMES-ROMAN"/>
              </a:endParaRPr>
            </a:p>
          </p:txBody>
        </p:sp>
        <p:sp>
          <p:nvSpPr>
            <p:cNvPr id="84" name="Oval 83">
              <a:extLst>
                <a:ext uri="{FF2B5EF4-FFF2-40B4-BE49-F238E27FC236}">
                  <a16:creationId xmlns="" xmlns:a16="http://schemas.microsoft.com/office/drawing/2014/main" id="{A9065C80-2992-0C4A-B44A-D8CC288FCA8A}"/>
                </a:ext>
              </a:extLst>
            </p:cNvPr>
            <p:cNvSpPr/>
            <p:nvPr/>
          </p:nvSpPr>
          <p:spPr>
            <a:xfrm rot="5400000">
              <a:off x="3723641" y="2976166"/>
              <a:ext cx="228600" cy="2286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-ROMAN"/>
                <a:cs typeface="TIMES-ROMAN"/>
              </a:endParaRPr>
            </a:p>
          </p:txBody>
        </p:sp>
        <p:sp>
          <p:nvSpPr>
            <p:cNvPr id="85" name="Oval 84">
              <a:extLst>
                <a:ext uri="{FF2B5EF4-FFF2-40B4-BE49-F238E27FC236}">
                  <a16:creationId xmlns="" xmlns:a16="http://schemas.microsoft.com/office/drawing/2014/main" id="{E25B4957-8D14-CE4A-BDB0-79BE75EFA566}"/>
                </a:ext>
              </a:extLst>
            </p:cNvPr>
            <p:cNvSpPr/>
            <p:nvPr/>
          </p:nvSpPr>
          <p:spPr>
            <a:xfrm rot="5400000">
              <a:off x="3342641" y="2976166"/>
              <a:ext cx="228600" cy="2286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-ROMAN"/>
                <a:cs typeface="TIMES-ROMAN"/>
              </a:endParaRPr>
            </a:p>
          </p:txBody>
        </p:sp>
        <p:sp>
          <p:nvSpPr>
            <p:cNvPr id="86" name="Oval 85">
              <a:extLst>
                <a:ext uri="{FF2B5EF4-FFF2-40B4-BE49-F238E27FC236}">
                  <a16:creationId xmlns="" xmlns:a16="http://schemas.microsoft.com/office/drawing/2014/main" id="{CA1B9846-CBEF-0242-892C-1EEAEC047779}"/>
                </a:ext>
              </a:extLst>
            </p:cNvPr>
            <p:cNvSpPr/>
            <p:nvPr/>
          </p:nvSpPr>
          <p:spPr>
            <a:xfrm rot="5400000">
              <a:off x="2961641" y="2976166"/>
              <a:ext cx="228600" cy="2286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-ROMAN"/>
                <a:cs typeface="TIMES-ROMAN"/>
              </a:endParaRPr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="" xmlns:a16="http://schemas.microsoft.com/office/drawing/2014/main" id="{D54BAEE0-A3A6-2E46-AD3D-F1C59E15A403}"/>
              </a:ext>
            </a:extLst>
          </p:cNvPr>
          <p:cNvGrpSpPr/>
          <p:nvPr/>
        </p:nvGrpSpPr>
        <p:grpSpPr>
          <a:xfrm rot="5400000">
            <a:off x="4963932" y="5313397"/>
            <a:ext cx="1676400" cy="381000"/>
            <a:chOff x="2809241" y="2899966"/>
            <a:chExt cx="1676400" cy="381000"/>
          </a:xfrm>
        </p:grpSpPr>
        <p:sp>
          <p:nvSpPr>
            <p:cNvPr id="88" name="Rounded Rectangle 87">
              <a:extLst>
                <a:ext uri="{FF2B5EF4-FFF2-40B4-BE49-F238E27FC236}">
                  <a16:creationId xmlns="" xmlns:a16="http://schemas.microsoft.com/office/drawing/2014/main" id="{FECF46B9-3DDB-DB43-B04F-2D996675850D}"/>
                </a:ext>
              </a:extLst>
            </p:cNvPr>
            <p:cNvSpPr/>
            <p:nvPr/>
          </p:nvSpPr>
          <p:spPr>
            <a:xfrm rot="5400000">
              <a:off x="3456941" y="2252266"/>
              <a:ext cx="381000" cy="1676400"/>
            </a:xfrm>
            <a:prstGeom prst="roundRect">
              <a:avLst/>
            </a:prstGeom>
            <a:solidFill>
              <a:srgbClr val="288CD2"/>
            </a:solidFill>
            <a:ln>
              <a:solidFill>
                <a:schemeClr val="tx1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-ROMAN"/>
                <a:cs typeface="TIMES-ROMAN"/>
              </a:endParaRPr>
            </a:p>
          </p:txBody>
        </p:sp>
        <p:sp>
          <p:nvSpPr>
            <p:cNvPr id="89" name="Oval 88">
              <a:extLst>
                <a:ext uri="{FF2B5EF4-FFF2-40B4-BE49-F238E27FC236}">
                  <a16:creationId xmlns="" xmlns:a16="http://schemas.microsoft.com/office/drawing/2014/main" id="{4C2A5266-6E1F-C64A-B955-2540C783ADF9}"/>
                </a:ext>
              </a:extLst>
            </p:cNvPr>
            <p:cNvSpPr/>
            <p:nvPr/>
          </p:nvSpPr>
          <p:spPr>
            <a:xfrm rot="5400000">
              <a:off x="4104641" y="2976166"/>
              <a:ext cx="228600" cy="2286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-ROMAN"/>
                <a:cs typeface="TIMES-ROMAN"/>
              </a:endParaRPr>
            </a:p>
          </p:txBody>
        </p:sp>
        <p:sp>
          <p:nvSpPr>
            <p:cNvPr id="90" name="Oval 89">
              <a:extLst>
                <a:ext uri="{FF2B5EF4-FFF2-40B4-BE49-F238E27FC236}">
                  <a16:creationId xmlns="" xmlns:a16="http://schemas.microsoft.com/office/drawing/2014/main" id="{67F7EB60-A804-AA45-9B3F-D2872FE19640}"/>
                </a:ext>
              </a:extLst>
            </p:cNvPr>
            <p:cNvSpPr/>
            <p:nvPr/>
          </p:nvSpPr>
          <p:spPr>
            <a:xfrm rot="5400000">
              <a:off x="3723641" y="2976166"/>
              <a:ext cx="228600" cy="2286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-ROMAN"/>
                <a:cs typeface="TIMES-ROMAN"/>
              </a:endParaRPr>
            </a:p>
          </p:txBody>
        </p:sp>
        <p:sp>
          <p:nvSpPr>
            <p:cNvPr id="91" name="Oval 90">
              <a:extLst>
                <a:ext uri="{FF2B5EF4-FFF2-40B4-BE49-F238E27FC236}">
                  <a16:creationId xmlns="" xmlns:a16="http://schemas.microsoft.com/office/drawing/2014/main" id="{B8563918-1B44-9A40-AAAD-3C31ABDF2673}"/>
                </a:ext>
              </a:extLst>
            </p:cNvPr>
            <p:cNvSpPr/>
            <p:nvPr/>
          </p:nvSpPr>
          <p:spPr>
            <a:xfrm rot="5400000">
              <a:off x="3342641" y="2976166"/>
              <a:ext cx="228600" cy="2286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-ROMAN"/>
                <a:cs typeface="TIMES-ROMAN"/>
              </a:endParaRPr>
            </a:p>
          </p:txBody>
        </p:sp>
        <p:sp>
          <p:nvSpPr>
            <p:cNvPr id="92" name="Oval 91">
              <a:extLst>
                <a:ext uri="{FF2B5EF4-FFF2-40B4-BE49-F238E27FC236}">
                  <a16:creationId xmlns="" xmlns:a16="http://schemas.microsoft.com/office/drawing/2014/main" id="{A96370AB-AA34-6045-A590-8CB49E6216BF}"/>
                </a:ext>
              </a:extLst>
            </p:cNvPr>
            <p:cNvSpPr/>
            <p:nvPr/>
          </p:nvSpPr>
          <p:spPr>
            <a:xfrm rot="5400000">
              <a:off x="2961641" y="2976166"/>
              <a:ext cx="228600" cy="2286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-ROMAN"/>
                <a:cs typeface="TIMES-ROMAN"/>
              </a:endParaRP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="" xmlns:a16="http://schemas.microsoft.com/office/drawing/2014/main" id="{DA41C6DD-7C9E-B949-B53F-E695633F871E}"/>
              </a:ext>
            </a:extLst>
          </p:cNvPr>
          <p:cNvGrpSpPr/>
          <p:nvPr/>
        </p:nvGrpSpPr>
        <p:grpSpPr>
          <a:xfrm rot="5400000">
            <a:off x="6208459" y="5313397"/>
            <a:ext cx="1676400" cy="381000"/>
            <a:chOff x="2809241" y="2899966"/>
            <a:chExt cx="1676400" cy="381000"/>
          </a:xfrm>
        </p:grpSpPr>
        <p:sp>
          <p:nvSpPr>
            <p:cNvPr id="94" name="Rounded Rectangle 93">
              <a:extLst>
                <a:ext uri="{FF2B5EF4-FFF2-40B4-BE49-F238E27FC236}">
                  <a16:creationId xmlns="" xmlns:a16="http://schemas.microsoft.com/office/drawing/2014/main" id="{EDD50342-840A-6D48-ADE6-5092902614E8}"/>
                </a:ext>
              </a:extLst>
            </p:cNvPr>
            <p:cNvSpPr/>
            <p:nvPr/>
          </p:nvSpPr>
          <p:spPr>
            <a:xfrm rot="5400000">
              <a:off x="3456941" y="2252266"/>
              <a:ext cx="381000" cy="1676400"/>
            </a:xfrm>
            <a:prstGeom prst="roundRect">
              <a:avLst/>
            </a:prstGeom>
            <a:solidFill>
              <a:srgbClr val="288CD2"/>
            </a:solidFill>
            <a:ln>
              <a:solidFill>
                <a:schemeClr val="tx1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-ROMAN"/>
                <a:cs typeface="TIMES-ROMAN"/>
              </a:endParaRPr>
            </a:p>
          </p:txBody>
        </p:sp>
        <p:sp>
          <p:nvSpPr>
            <p:cNvPr id="95" name="Oval 94">
              <a:extLst>
                <a:ext uri="{FF2B5EF4-FFF2-40B4-BE49-F238E27FC236}">
                  <a16:creationId xmlns="" xmlns:a16="http://schemas.microsoft.com/office/drawing/2014/main" id="{87EAD7CC-AC7C-1E43-BF9B-10DEDE010D18}"/>
                </a:ext>
              </a:extLst>
            </p:cNvPr>
            <p:cNvSpPr/>
            <p:nvPr/>
          </p:nvSpPr>
          <p:spPr>
            <a:xfrm rot="5400000">
              <a:off x="4104641" y="2976166"/>
              <a:ext cx="228600" cy="2286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-ROMAN"/>
                <a:cs typeface="TIMES-ROMAN"/>
              </a:endParaRPr>
            </a:p>
          </p:txBody>
        </p:sp>
        <p:sp>
          <p:nvSpPr>
            <p:cNvPr id="96" name="Oval 95">
              <a:extLst>
                <a:ext uri="{FF2B5EF4-FFF2-40B4-BE49-F238E27FC236}">
                  <a16:creationId xmlns="" xmlns:a16="http://schemas.microsoft.com/office/drawing/2014/main" id="{73067E3B-512A-4647-AA0D-CBBC3581C255}"/>
                </a:ext>
              </a:extLst>
            </p:cNvPr>
            <p:cNvSpPr/>
            <p:nvPr/>
          </p:nvSpPr>
          <p:spPr>
            <a:xfrm rot="5400000">
              <a:off x="3723641" y="2976166"/>
              <a:ext cx="228600" cy="2286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-ROMAN"/>
                <a:cs typeface="TIMES-ROMAN"/>
              </a:endParaRPr>
            </a:p>
          </p:txBody>
        </p:sp>
        <p:sp>
          <p:nvSpPr>
            <p:cNvPr id="97" name="Oval 96">
              <a:extLst>
                <a:ext uri="{FF2B5EF4-FFF2-40B4-BE49-F238E27FC236}">
                  <a16:creationId xmlns="" xmlns:a16="http://schemas.microsoft.com/office/drawing/2014/main" id="{B7DBA51F-CD53-3544-B2F8-8430AD0A9F26}"/>
                </a:ext>
              </a:extLst>
            </p:cNvPr>
            <p:cNvSpPr/>
            <p:nvPr/>
          </p:nvSpPr>
          <p:spPr>
            <a:xfrm rot="5400000">
              <a:off x="3342641" y="2976166"/>
              <a:ext cx="228600" cy="2286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-ROMAN"/>
                <a:cs typeface="TIMES-ROMAN"/>
              </a:endParaRPr>
            </a:p>
          </p:txBody>
        </p:sp>
        <p:sp>
          <p:nvSpPr>
            <p:cNvPr id="98" name="Oval 97">
              <a:extLst>
                <a:ext uri="{FF2B5EF4-FFF2-40B4-BE49-F238E27FC236}">
                  <a16:creationId xmlns="" xmlns:a16="http://schemas.microsoft.com/office/drawing/2014/main" id="{1E0AE8C1-A9C6-7341-8BD3-D0BB4801FCDE}"/>
                </a:ext>
              </a:extLst>
            </p:cNvPr>
            <p:cNvSpPr/>
            <p:nvPr/>
          </p:nvSpPr>
          <p:spPr>
            <a:xfrm rot="5400000">
              <a:off x="2961641" y="2976166"/>
              <a:ext cx="228600" cy="2286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-ROMAN"/>
                <a:cs typeface="TIMES-ROMAN"/>
              </a:endParaRPr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="" xmlns:a16="http://schemas.microsoft.com/office/drawing/2014/main" id="{A7A8ABB3-1550-1245-9D7B-069098ACB596}"/>
              </a:ext>
            </a:extLst>
          </p:cNvPr>
          <p:cNvGrpSpPr/>
          <p:nvPr/>
        </p:nvGrpSpPr>
        <p:grpSpPr>
          <a:xfrm>
            <a:off x="1743845" y="2913097"/>
            <a:ext cx="381000" cy="1295400"/>
            <a:chOff x="914400" y="2209800"/>
            <a:chExt cx="381000" cy="1295400"/>
          </a:xfrm>
        </p:grpSpPr>
        <p:sp>
          <p:nvSpPr>
            <p:cNvPr id="100" name="Rounded Rectangle 99">
              <a:extLst>
                <a:ext uri="{FF2B5EF4-FFF2-40B4-BE49-F238E27FC236}">
                  <a16:creationId xmlns="" xmlns:a16="http://schemas.microsoft.com/office/drawing/2014/main" id="{C2130554-5E26-D241-B77C-11CBF5B98DF1}"/>
                </a:ext>
              </a:extLst>
            </p:cNvPr>
            <p:cNvSpPr/>
            <p:nvPr/>
          </p:nvSpPr>
          <p:spPr>
            <a:xfrm rot="10800000">
              <a:off x="914400" y="2209800"/>
              <a:ext cx="381000" cy="1295400"/>
            </a:xfrm>
            <a:prstGeom prst="roundRect">
              <a:avLst/>
            </a:prstGeom>
            <a:solidFill>
              <a:srgbClr val="22B900"/>
            </a:solidFill>
            <a:ln>
              <a:solidFill>
                <a:schemeClr val="tx1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-ROMAN"/>
                <a:cs typeface="TIMES-ROMAN"/>
              </a:endParaRPr>
            </a:p>
          </p:txBody>
        </p:sp>
        <p:sp>
          <p:nvSpPr>
            <p:cNvPr id="101" name="Oval 100">
              <a:extLst>
                <a:ext uri="{FF2B5EF4-FFF2-40B4-BE49-F238E27FC236}">
                  <a16:creationId xmlns="" xmlns:a16="http://schemas.microsoft.com/office/drawing/2014/main" id="{DC462354-40D7-7845-AE54-A5348BA6CE51}"/>
                </a:ext>
              </a:extLst>
            </p:cNvPr>
            <p:cNvSpPr/>
            <p:nvPr/>
          </p:nvSpPr>
          <p:spPr>
            <a:xfrm rot="10800000">
              <a:off x="990600" y="3124200"/>
              <a:ext cx="228600" cy="2286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-ROMAN"/>
                <a:cs typeface="TIMES-ROMAN"/>
              </a:endParaRPr>
            </a:p>
          </p:txBody>
        </p:sp>
        <p:sp>
          <p:nvSpPr>
            <p:cNvPr id="102" name="Oval 101">
              <a:extLst>
                <a:ext uri="{FF2B5EF4-FFF2-40B4-BE49-F238E27FC236}">
                  <a16:creationId xmlns="" xmlns:a16="http://schemas.microsoft.com/office/drawing/2014/main" id="{90EF94A3-0A88-BB42-8AD4-9CF9E35AD177}"/>
                </a:ext>
              </a:extLst>
            </p:cNvPr>
            <p:cNvSpPr/>
            <p:nvPr/>
          </p:nvSpPr>
          <p:spPr>
            <a:xfrm rot="10800000">
              <a:off x="990600" y="2743200"/>
              <a:ext cx="228600" cy="2286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-ROMAN"/>
                <a:cs typeface="TIMES-ROMAN"/>
              </a:endParaRPr>
            </a:p>
          </p:txBody>
        </p:sp>
        <p:sp>
          <p:nvSpPr>
            <p:cNvPr id="103" name="Oval 102">
              <a:extLst>
                <a:ext uri="{FF2B5EF4-FFF2-40B4-BE49-F238E27FC236}">
                  <a16:creationId xmlns="" xmlns:a16="http://schemas.microsoft.com/office/drawing/2014/main" id="{ADEA6959-8AC8-E74E-A7BE-F0099CA89414}"/>
                </a:ext>
              </a:extLst>
            </p:cNvPr>
            <p:cNvSpPr/>
            <p:nvPr/>
          </p:nvSpPr>
          <p:spPr>
            <a:xfrm rot="10800000">
              <a:off x="990600" y="2362200"/>
              <a:ext cx="228600" cy="2286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-ROMAN"/>
                <a:cs typeface="TIMES-ROMAN"/>
              </a:endParaRPr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="" xmlns:a16="http://schemas.microsoft.com/office/drawing/2014/main" id="{F2FC7AFF-DC71-364B-9488-9F2B21B36088}"/>
              </a:ext>
            </a:extLst>
          </p:cNvPr>
          <p:cNvGrpSpPr/>
          <p:nvPr/>
        </p:nvGrpSpPr>
        <p:grpSpPr>
          <a:xfrm>
            <a:off x="2940558" y="2913097"/>
            <a:ext cx="381000" cy="1295400"/>
            <a:chOff x="914400" y="2209800"/>
            <a:chExt cx="381000" cy="1295400"/>
          </a:xfrm>
        </p:grpSpPr>
        <p:sp>
          <p:nvSpPr>
            <p:cNvPr id="105" name="Rounded Rectangle 104">
              <a:extLst>
                <a:ext uri="{FF2B5EF4-FFF2-40B4-BE49-F238E27FC236}">
                  <a16:creationId xmlns="" xmlns:a16="http://schemas.microsoft.com/office/drawing/2014/main" id="{905985D8-FA3D-724D-AC10-297B324FEE23}"/>
                </a:ext>
              </a:extLst>
            </p:cNvPr>
            <p:cNvSpPr/>
            <p:nvPr/>
          </p:nvSpPr>
          <p:spPr>
            <a:xfrm rot="10800000">
              <a:off x="914400" y="2209800"/>
              <a:ext cx="381000" cy="1295400"/>
            </a:xfrm>
            <a:prstGeom prst="roundRect">
              <a:avLst/>
            </a:prstGeom>
            <a:solidFill>
              <a:srgbClr val="22B900"/>
            </a:solidFill>
            <a:ln>
              <a:solidFill>
                <a:schemeClr val="tx1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-ROMAN"/>
                <a:cs typeface="TIMES-ROMAN"/>
              </a:endParaRPr>
            </a:p>
          </p:txBody>
        </p:sp>
        <p:sp>
          <p:nvSpPr>
            <p:cNvPr id="106" name="Oval 105">
              <a:extLst>
                <a:ext uri="{FF2B5EF4-FFF2-40B4-BE49-F238E27FC236}">
                  <a16:creationId xmlns="" xmlns:a16="http://schemas.microsoft.com/office/drawing/2014/main" id="{52FCEC98-610E-3D45-BEF5-EB738A39C300}"/>
                </a:ext>
              </a:extLst>
            </p:cNvPr>
            <p:cNvSpPr/>
            <p:nvPr/>
          </p:nvSpPr>
          <p:spPr>
            <a:xfrm rot="10800000">
              <a:off x="990600" y="3124200"/>
              <a:ext cx="228600" cy="2286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-ROMAN"/>
                <a:cs typeface="TIMES-ROMAN"/>
              </a:endParaRPr>
            </a:p>
          </p:txBody>
        </p:sp>
        <p:sp>
          <p:nvSpPr>
            <p:cNvPr id="107" name="Oval 106">
              <a:extLst>
                <a:ext uri="{FF2B5EF4-FFF2-40B4-BE49-F238E27FC236}">
                  <a16:creationId xmlns="" xmlns:a16="http://schemas.microsoft.com/office/drawing/2014/main" id="{2266D184-5171-8542-B3E8-B248ECA2ED17}"/>
                </a:ext>
              </a:extLst>
            </p:cNvPr>
            <p:cNvSpPr/>
            <p:nvPr/>
          </p:nvSpPr>
          <p:spPr>
            <a:xfrm rot="10800000">
              <a:off x="990600" y="2743200"/>
              <a:ext cx="228600" cy="2286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-ROMAN"/>
                <a:cs typeface="TIMES-ROMAN"/>
              </a:endParaRPr>
            </a:p>
          </p:txBody>
        </p:sp>
        <p:sp>
          <p:nvSpPr>
            <p:cNvPr id="108" name="Oval 107">
              <a:extLst>
                <a:ext uri="{FF2B5EF4-FFF2-40B4-BE49-F238E27FC236}">
                  <a16:creationId xmlns="" xmlns:a16="http://schemas.microsoft.com/office/drawing/2014/main" id="{3E650DFD-612E-084A-A33A-6AF55FBA3788}"/>
                </a:ext>
              </a:extLst>
            </p:cNvPr>
            <p:cNvSpPr/>
            <p:nvPr/>
          </p:nvSpPr>
          <p:spPr>
            <a:xfrm rot="10800000">
              <a:off x="990600" y="2362200"/>
              <a:ext cx="228600" cy="2286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-ROMAN"/>
                <a:cs typeface="TIMES-ROMAN"/>
              </a:endParaRPr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="" xmlns:a16="http://schemas.microsoft.com/office/drawing/2014/main" id="{DA265631-95C5-A54C-BAB6-ABE4344E9AF5}"/>
              </a:ext>
            </a:extLst>
          </p:cNvPr>
          <p:cNvGrpSpPr/>
          <p:nvPr/>
        </p:nvGrpSpPr>
        <p:grpSpPr>
          <a:xfrm>
            <a:off x="4267200" y="2913097"/>
            <a:ext cx="381000" cy="1295400"/>
            <a:chOff x="914400" y="2209800"/>
            <a:chExt cx="381000" cy="1295400"/>
          </a:xfrm>
        </p:grpSpPr>
        <p:sp>
          <p:nvSpPr>
            <p:cNvPr id="110" name="Rounded Rectangle 109">
              <a:extLst>
                <a:ext uri="{FF2B5EF4-FFF2-40B4-BE49-F238E27FC236}">
                  <a16:creationId xmlns="" xmlns:a16="http://schemas.microsoft.com/office/drawing/2014/main" id="{F52C6BD7-1588-4149-AF10-B9A42CC5B7C1}"/>
                </a:ext>
              </a:extLst>
            </p:cNvPr>
            <p:cNvSpPr/>
            <p:nvPr/>
          </p:nvSpPr>
          <p:spPr>
            <a:xfrm rot="10800000">
              <a:off x="914400" y="2209800"/>
              <a:ext cx="381000" cy="1295400"/>
            </a:xfrm>
            <a:prstGeom prst="roundRect">
              <a:avLst/>
            </a:prstGeom>
            <a:solidFill>
              <a:srgbClr val="22B900"/>
            </a:solidFill>
            <a:ln>
              <a:solidFill>
                <a:schemeClr val="tx1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-ROMAN"/>
                <a:cs typeface="TIMES-ROMAN"/>
              </a:endParaRPr>
            </a:p>
          </p:txBody>
        </p:sp>
        <p:sp>
          <p:nvSpPr>
            <p:cNvPr id="111" name="Oval 110">
              <a:extLst>
                <a:ext uri="{FF2B5EF4-FFF2-40B4-BE49-F238E27FC236}">
                  <a16:creationId xmlns="" xmlns:a16="http://schemas.microsoft.com/office/drawing/2014/main" id="{8B346EC6-7E0A-E44D-A682-764A3A2351B6}"/>
                </a:ext>
              </a:extLst>
            </p:cNvPr>
            <p:cNvSpPr/>
            <p:nvPr/>
          </p:nvSpPr>
          <p:spPr>
            <a:xfrm rot="10800000">
              <a:off x="990600" y="3124200"/>
              <a:ext cx="228600" cy="2286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-ROMAN"/>
                <a:cs typeface="TIMES-ROMAN"/>
              </a:endParaRPr>
            </a:p>
          </p:txBody>
        </p:sp>
        <p:sp>
          <p:nvSpPr>
            <p:cNvPr id="112" name="Oval 111">
              <a:extLst>
                <a:ext uri="{FF2B5EF4-FFF2-40B4-BE49-F238E27FC236}">
                  <a16:creationId xmlns="" xmlns:a16="http://schemas.microsoft.com/office/drawing/2014/main" id="{96FE0508-87FF-BB41-A66A-2B7F0C9FD0A5}"/>
                </a:ext>
              </a:extLst>
            </p:cNvPr>
            <p:cNvSpPr/>
            <p:nvPr/>
          </p:nvSpPr>
          <p:spPr>
            <a:xfrm rot="10800000">
              <a:off x="990600" y="2743200"/>
              <a:ext cx="228600" cy="2286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-ROMAN"/>
                <a:cs typeface="TIMES-ROMAN"/>
              </a:endParaRPr>
            </a:p>
          </p:txBody>
        </p:sp>
        <p:sp>
          <p:nvSpPr>
            <p:cNvPr id="113" name="Oval 112">
              <a:extLst>
                <a:ext uri="{FF2B5EF4-FFF2-40B4-BE49-F238E27FC236}">
                  <a16:creationId xmlns="" xmlns:a16="http://schemas.microsoft.com/office/drawing/2014/main" id="{3B4EFFE4-5E02-3E40-B04C-93B3AC4526D0}"/>
                </a:ext>
              </a:extLst>
            </p:cNvPr>
            <p:cNvSpPr/>
            <p:nvPr/>
          </p:nvSpPr>
          <p:spPr>
            <a:xfrm rot="10800000">
              <a:off x="990600" y="2362200"/>
              <a:ext cx="228600" cy="2286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-ROMAN"/>
                <a:cs typeface="TIMES-ROMAN"/>
              </a:endParaRPr>
            </a:p>
          </p:txBody>
        </p:sp>
      </p:grpSp>
      <p:grpSp>
        <p:nvGrpSpPr>
          <p:cNvPr id="114" name="Group 113">
            <a:extLst>
              <a:ext uri="{FF2B5EF4-FFF2-40B4-BE49-F238E27FC236}">
                <a16:creationId xmlns="" xmlns:a16="http://schemas.microsoft.com/office/drawing/2014/main" id="{F7D42C7E-5A14-3546-BFF9-C3D1A18071A3}"/>
              </a:ext>
            </a:extLst>
          </p:cNvPr>
          <p:cNvGrpSpPr/>
          <p:nvPr/>
        </p:nvGrpSpPr>
        <p:grpSpPr>
          <a:xfrm>
            <a:off x="5616311" y="2913097"/>
            <a:ext cx="381000" cy="1295400"/>
            <a:chOff x="914400" y="2209800"/>
            <a:chExt cx="381000" cy="1295400"/>
          </a:xfrm>
        </p:grpSpPr>
        <p:sp>
          <p:nvSpPr>
            <p:cNvPr id="115" name="Rounded Rectangle 114">
              <a:extLst>
                <a:ext uri="{FF2B5EF4-FFF2-40B4-BE49-F238E27FC236}">
                  <a16:creationId xmlns="" xmlns:a16="http://schemas.microsoft.com/office/drawing/2014/main" id="{D1F74CD7-D712-604F-9E1A-55F613FFBE2D}"/>
                </a:ext>
              </a:extLst>
            </p:cNvPr>
            <p:cNvSpPr/>
            <p:nvPr/>
          </p:nvSpPr>
          <p:spPr>
            <a:xfrm rot="10800000">
              <a:off x="914400" y="2209800"/>
              <a:ext cx="381000" cy="1295400"/>
            </a:xfrm>
            <a:prstGeom prst="roundRect">
              <a:avLst/>
            </a:prstGeom>
            <a:solidFill>
              <a:srgbClr val="22B900"/>
            </a:solidFill>
            <a:ln>
              <a:solidFill>
                <a:schemeClr val="tx1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-ROMAN"/>
                <a:cs typeface="TIMES-ROMAN"/>
              </a:endParaRPr>
            </a:p>
          </p:txBody>
        </p:sp>
        <p:sp>
          <p:nvSpPr>
            <p:cNvPr id="116" name="Oval 115">
              <a:extLst>
                <a:ext uri="{FF2B5EF4-FFF2-40B4-BE49-F238E27FC236}">
                  <a16:creationId xmlns="" xmlns:a16="http://schemas.microsoft.com/office/drawing/2014/main" id="{D20F5215-8AAB-1B48-9050-836E7038ABBA}"/>
                </a:ext>
              </a:extLst>
            </p:cNvPr>
            <p:cNvSpPr/>
            <p:nvPr/>
          </p:nvSpPr>
          <p:spPr>
            <a:xfrm rot="10800000">
              <a:off x="990600" y="3124200"/>
              <a:ext cx="228600" cy="2286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-ROMAN"/>
                <a:cs typeface="TIMES-ROMAN"/>
              </a:endParaRPr>
            </a:p>
          </p:txBody>
        </p:sp>
        <p:sp>
          <p:nvSpPr>
            <p:cNvPr id="117" name="Oval 116">
              <a:extLst>
                <a:ext uri="{FF2B5EF4-FFF2-40B4-BE49-F238E27FC236}">
                  <a16:creationId xmlns="" xmlns:a16="http://schemas.microsoft.com/office/drawing/2014/main" id="{35AB97E1-E4E4-9C4C-AE1A-1370CEDA225F}"/>
                </a:ext>
              </a:extLst>
            </p:cNvPr>
            <p:cNvSpPr/>
            <p:nvPr/>
          </p:nvSpPr>
          <p:spPr>
            <a:xfrm rot="10800000">
              <a:off x="990600" y="2743200"/>
              <a:ext cx="228600" cy="2286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-ROMAN"/>
                <a:cs typeface="TIMES-ROMAN"/>
              </a:endParaRPr>
            </a:p>
          </p:txBody>
        </p:sp>
        <p:sp>
          <p:nvSpPr>
            <p:cNvPr id="118" name="Oval 117">
              <a:extLst>
                <a:ext uri="{FF2B5EF4-FFF2-40B4-BE49-F238E27FC236}">
                  <a16:creationId xmlns="" xmlns:a16="http://schemas.microsoft.com/office/drawing/2014/main" id="{C2A64FED-A821-5848-9663-13B3164FE267}"/>
                </a:ext>
              </a:extLst>
            </p:cNvPr>
            <p:cNvSpPr/>
            <p:nvPr/>
          </p:nvSpPr>
          <p:spPr>
            <a:xfrm rot="10800000">
              <a:off x="990600" y="2362200"/>
              <a:ext cx="228600" cy="2286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-ROMAN"/>
                <a:cs typeface="TIMES-ROMAN"/>
              </a:endParaRPr>
            </a:p>
          </p:txBody>
        </p:sp>
      </p:grpSp>
      <p:grpSp>
        <p:nvGrpSpPr>
          <p:cNvPr id="119" name="Group 118">
            <a:extLst>
              <a:ext uri="{FF2B5EF4-FFF2-40B4-BE49-F238E27FC236}">
                <a16:creationId xmlns="" xmlns:a16="http://schemas.microsoft.com/office/drawing/2014/main" id="{165D14F1-A773-0641-94B6-F71F866C3AF9}"/>
              </a:ext>
            </a:extLst>
          </p:cNvPr>
          <p:cNvGrpSpPr/>
          <p:nvPr/>
        </p:nvGrpSpPr>
        <p:grpSpPr>
          <a:xfrm>
            <a:off x="6860838" y="2913097"/>
            <a:ext cx="381000" cy="1295400"/>
            <a:chOff x="914400" y="2209800"/>
            <a:chExt cx="381000" cy="1295400"/>
          </a:xfrm>
        </p:grpSpPr>
        <p:sp>
          <p:nvSpPr>
            <p:cNvPr id="120" name="Rounded Rectangle 119">
              <a:extLst>
                <a:ext uri="{FF2B5EF4-FFF2-40B4-BE49-F238E27FC236}">
                  <a16:creationId xmlns="" xmlns:a16="http://schemas.microsoft.com/office/drawing/2014/main" id="{4A6C7AAA-C825-0E40-AB78-62D44688673A}"/>
                </a:ext>
              </a:extLst>
            </p:cNvPr>
            <p:cNvSpPr/>
            <p:nvPr/>
          </p:nvSpPr>
          <p:spPr>
            <a:xfrm rot="10800000">
              <a:off x="914400" y="2209800"/>
              <a:ext cx="381000" cy="1295400"/>
            </a:xfrm>
            <a:prstGeom prst="roundRect">
              <a:avLst/>
            </a:prstGeom>
            <a:solidFill>
              <a:srgbClr val="22B900"/>
            </a:solidFill>
            <a:ln>
              <a:solidFill>
                <a:schemeClr val="tx1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-ROMAN"/>
                <a:cs typeface="TIMES-ROMAN"/>
              </a:endParaRPr>
            </a:p>
          </p:txBody>
        </p:sp>
        <p:sp>
          <p:nvSpPr>
            <p:cNvPr id="121" name="Oval 120">
              <a:extLst>
                <a:ext uri="{FF2B5EF4-FFF2-40B4-BE49-F238E27FC236}">
                  <a16:creationId xmlns="" xmlns:a16="http://schemas.microsoft.com/office/drawing/2014/main" id="{7D64638B-A71C-7A40-BB46-B05CE1133026}"/>
                </a:ext>
              </a:extLst>
            </p:cNvPr>
            <p:cNvSpPr/>
            <p:nvPr/>
          </p:nvSpPr>
          <p:spPr>
            <a:xfrm rot="10800000">
              <a:off x="990600" y="3124200"/>
              <a:ext cx="228600" cy="2286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-ROMAN"/>
                <a:cs typeface="TIMES-ROMAN"/>
              </a:endParaRPr>
            </a:p>
          </p:txBody>
        </p:sp>
        <p:sp>
          <p:nvSpPr>
            <p:cNvPr id="122" name="Oval 121">
              <a:extLst>
                <a:ext uri="{FF2B5EF4-FFF2-40B4-BE49-F238E27FC236}">
                  <a16:creationId xmlns="" xmlns:a16="http://schemas.microsoft.com/office/drawing/2014/main" id="{800130EB-8EA5-2B44-AB58-C2C1B589FC83}"/>
                </a:ext>
              </a:extLst>
            </p:cNvPr>
            <p:cNvSpPr/>
            <p:nvPr/>
          </p:nvSpPr>
          <p:spPr>
            <a:xfrm rot="10800000">
              <a:off x="990600" y="2743200"/>
              <a:ext cx="228600" cy="2286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-ROMAN"/>
                <a:cs typeface="TIMES-ROMAN"/>
              </a:endParaRPr>
            </a:p>
          </p:txBody>
        </p:sp>
        <p:sp>
          <p:nvSpPr>
            <p:cNvPr id="123" name="Oval 122">
              <a:extLst>
                <a:ext uri="{FF2B5EF4-FFF2-40B4-BE49-F238E27FC236}">
                  <a16:creationId xmlns="" xmlns:a16="http://schemas.microsoft.com/office/drawing/2014/main" id="{3202D1F5-B460-9149-8E37-CBFDF3625C26}"/>
                </a:ext>
              </a:extLst>
            </p:cNvPr>
            <p:cNvSpPr/>
            <p:nvPr/>
          </p:nvSpPr>
          <p:spPr>
            <a:xfrm rot="10800000">
              <a:off x="990600" y="2362200"/>
              <a:ext cx="228600" cy="2286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-ROMAN"/>
                <a:cs typeface="TIMES-ROMAN"/>
              </a:endParaRPr>
            </a:p>
          </p:txBody>
        </p:sp>
      </p:grpSp>
      <p:cxnSp>
        <p:nvCxnSpPr>
          <p:cNvPr id="124" name="Straight Arrow Connector 123">
            <a:extLst>
              <a:ext uri="{FF2B5EF4-FFF2-40B4-BE49-F238E27FC236}">
                <a16:creationId xmlns="" xmlns:a16="http://schemas.microsoft.com/office/drawing/2014/main" id="{14D6172B-421F-3E4C-8CDD-DB457ACABCD4}"/>
              </a:ext>
            </a:extLst>
          </p:cNvPr>
          <p:cNvCxnSpPr>
            <a:cxnSpLocks/>
            <a:stCxn id="100" idx="1"/>
            <a:endCxn id="105" idx="3"/>
          </p:cNvCxnSpPr>
          <p:nvPr/>
        </p:nvCxnSpPr>
        <p:spPr bwMode="auto">
          <a:xfrm>
            <a:off x="2124845" y="3560797"/>
            <a:ext cx="815713" cy="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5" name="Straight Arrow Connector 124">
            <a:extLst>
              <a:ext uri="{FF2B5EF4-FFF2-40B4-BE49-F238E27FC236}">
                <a16:creationId xmlns="" xmlns:a16="http://schemas.microsoft.com/office/drawing/2014/main" id="{1C8E5166-87E6-0548-80F7-B4489602BA0A}"/>
              </a:ext>
            </a:extLst>
          </p:cNvPr>
          <p:cNvCxnSpPr/>
          <p:nvPr/>
        </p:nvCxnSpPr>
        <p:spPr bwMode="auto">
          <a:xfrm flipV="1">
            <a:off x="1921645" y="4208497"/>
            <a:ext cx="0" cy="4572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6" name="Straight Arrow Connector 125">
            <a:extLst>
              <a:ext uri="{FF2B5EF4-FFF2-40B4-BE49-F238E27FC236}">
                <a16:creationId xmlns="" xmlns:a16="http://schemas.microsoft.com/office/drawing/2014/main" id="{1E00EF0A-7240-9645-A4B2-2F547D6A1DE4}"/>
              </a:ext>
            </a:extLst>
          </p:cNvPr>
          <p:cNvCxnSpPr/>
          <p:nvPr/>
        </p:nvCxnSpPr>
        <p:spPr bwMode="auto">
          <a:xfrm flipV="1">
            <a:off x="3118358" y="4208497"/>
            <a:ext cx="0" cy="4572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7" name="Straight Arrow Connector 126">
            <a:extLst>
              <a:ext uri="{FF2B5EF4-FFF2-40B4-BE49-F238E27FC236}">
                <a16:creationId xmlns="" xmlns:a16="http://schemas.microsoft.com/office/drawing/2014/main" id="{F305F93B-5EFF-9248-98C1-4A1281438A14}"/>
              </a:ext>
            </a:extLst>
          </p:cNvPr>
          <p:cNvCxnSpPr/>
          <p:nvPr/>
        </p:nvCxnSpPr>
        <p:spPr bwMode="auto">
          <a:xfrm flipV="1">
            <a:off x="4445000" y="4208497"/>
            <a:ext cx="0" cy="4572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8" name="Straight Arrow Connector 127">
            <a:extLst>
              <a:ext uri="{FF2B5EF4-FFF2-40B4-BE49-F238E27FC236}">
                <a16:creationId xmlns="" xmlns:a16="http://schemas.microsoft.com/office/drawing/2014/main" id="{F09DBA1D-D635-C043-AA45-9913BB53CF44}"/>
              </a:ext>
            </a:extLst>
          </p:cNvPr>
          <p:cNvCxnSpPr/>
          <p:nvPr/>
        </p:nvCxnSpPr>
        <p:spPr bwMode="auto">
          <a:xfrm flipV="1">
            <a:off x="5794111" y="4208497"/>
            <a:ext cx="0" cy="4572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9" name="Straight Arrow Connector 128">
            <a:extLst>
              <a:ext uri="{FF2B5EF4-FFF2-40B4-BE49-F238E27FC236}">
                <a16:creationId xmlns="" xmlns:a16="http://schemas.microsoft.com/office/drawing/2014/main" id="{8D72F6CD-F76A-4A4B-8A22-8A63B79C58F2}"/>
              </a:ext>
            </a:extLst>
          </p:cNvPr>
          <p:cNvCxnSpPr/>
          <p:nvPr/>
        </p:nvCxnSpPr>
        <p:spPr bwMode="auto">
          <a:xfrm flipV="1">
            <a:off x="7038638" y="4208497"/>
            <a:ext cx="0" cy="4572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0" name="Straight Arrow Connector 129">
            <a:extLst>
              <a:ext uri="{FF2B5EF4-FFF2-40B4-BE49-F238E27FC236}">
                <a16:creationId xmlns="" xmlns:a16="http://schemas.microsoft.com/office/drawing/2014/main" id="{220CB7D2-F079-5047-BF60-74B5029AF113}"/>
              </a:ext>
            </a:extLst>
          </p:cNvPr>
          <p:cNvCxnSpPr>
            <a:cxnSpLocks/>
            <a:stCxn id="115" idx="2"/>
            <a:endCxn id="45" idx="0"/>
          </p:cNvCxnSpPr>
          <p:nvPr/>
        </p:nvCxnSpPr>
        <p:spPr bwMode="auto">
          <a:xfrm flipV="1">
            <a:off x="5806811" y="2493097"/>
            <a:ext cx="12814" cy="4200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1" name="Straight Arrow Connector 130">
            <a:extLst>
              <a:ext uri="{FF2B5EF4-FFF2-40B4-BE49-F238E27FC236}">
                <a16:creationId xmlns="" xmlns:a16="http://schemas.microsoft.com/office/drawing/2014/main" id="{38DD3907-96EC-1B40-ADE1-318CE7463025}"/>
              </a:ext>
            </a:extLst>
          </p:cNvPr>
          <p:cNvCxnSpPr>
            <a:cxnSpLocks/>
            <a:stCxn id="120" idx="2"/>
          </p:cNvCxnSpPr>
          <p:nvPr/>
        </p:nvCxnSpPr>
        <p:spPr bwMode="auto">
          <a:xfrm flipV="1">
            <a:off x="7051338" y="2493097"/>
            <a:ext cx="14762" cy="4200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2" name="Straight Arrow Connector 131">
            <a:extLst>
              <a:ext uri="{FF2B5EF4-FFF2-40B4-BE49-F238E27FC236}">
                <a16:creationId xmlns="" xmlns:a16="http://schemas.microsoft.com/office/drawing/2014/main" id="{67F17C05-3C83-5B41-BB13-BB0A7BEF6BB2}"/>
              </a:ext>
            </a:extLst>
          </p:cNvPr>
          <p:cNvCxnSpPr>
            <a:cxnSpLocks/>
            <a:stCxn id="110" idx="2"/>
          </p:cNvCxnSpPr>
          <p:nvPr/>
        </p:nvCxnSpPr>
        <p:spPr bwMode="auto">
          <a:xfrm flipH="1" flipV="1">
            <a:off x="4453020" y="2502379"/>
            <a:ext cx="4680" cy="410718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3" name="Straight Arrow Connector 132">
            <a:extLst>
              <a:ext uri="{FF2B5EF4-FFF2-40B4-BE49-F238E27FC236}">
                <a16:creationId xmlns="" xmlns:a16="http://schemas.microsoft.com/office/drawing/2014/main" id="{CEC3AB0F-AB83-FF4E-B47D-3A7C1EB3732D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3132614" y="2512468"/>
            <a:ext cx="4680" cy="410718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4" name="Straight Arrow Connector 133">
            <a:extLst>
              <a:ext uri="{FF2B5EF4-FFF2-40B4-BE49-F238E27FC236}">
                <a16:creationId xmlns="" xmlns:a16="http://schemas.microsoft.com/office/drawing/2014/main" id="{0ED72C21-418A-3345-ACCF-2ABDA392B44F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1927326" y="2501260"/>
            <a:ext cx="4680" cy="410718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19444157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10">
            <a:extLst>
              <a:ext uri="{FF2B5EF4-FFF2-40B4-BE49-F238E27FC236}">
                <a16:creationId xmlns="" xmlns:a16="http://schemas.microsoft.com/office/drawing/2014/main" id="{9842F9DE-10ED-824B-83C3-E2F5EE09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3920" y="6342096"/>
            <a:ext cx="588273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sz="2800" dirty="0">
                <a:solidFill>
                  <a:srgbClr val="288CD2"/>
                </a:solidFill>
                <a:cs typeface="Courier New"/>
              </a:rPr>
              <a:t>&lt;s&gt;      Lower        the          lights      &lt;/s&gt;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="" xmlns:a16="http://schemas.microsoft.com/office/drawing/2014/main" id="{68DD321E-B179-B545-9C22-7688208F094D}"/>
              </a:ext>
            </a:extLst>
          </p:cNvPr>
          <p:cNvSpPr/>
          <p:nvPr/>
        </p:nvSpPr>
        <p:spPr>
          <a:xfrm rot="10800000">
            <a:off x="2954165" y="111087"/>
            <a:ext cx="381000" cy="2391291"/>
          </a:xfrm>
          <a:prstGeom prst="roundRect">
            <a:avLst/>
          </a:prstGeom>
          <a:solidFill>
            <a:srgbClr val="288CD2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="" xmlns:a16="http://schemas.microsoft.com/office/drawing/2014/main" id="{BA02EAA2-94C1-664B-83F8-A16AEF79B620}"/>
              </a:ext>
            </a:extLst>
          </p:cNvPr>
          <p:cNvSpPr/>
          <p:nvPr/>
        </p:nvSpPr>
        <p:spPr>
          <a:xfrm rot="10800000">
            <a:off x="3030365" y="1406488"/>
            <a:ext cx="228600" cy="2286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="" xmlns:a16="http://schemas.microsoft.com/office/drawing/2014/main" id="{A1AA0257-5AF3-D045-8EE3-1D4EDD7FA35E}"/>
              </a:ext>
            </a:extLst>
          </p:cNvPr>
          <p:cNvSpPr/>
          <p:nvPr/>
        </p:nvSpPr>
        <p:spPr>
          <a:xfrm rot="10800000">
            <a:off x="3030365" y="1025488"/>
            <a:ext cx="228600" cy="2286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="" xmlns:a16="http://schemas.microsoft.com/office/drawing/2014/main" id="{4C6EFF22-7B68-1D46-B5C3-3EED555DD564}"/>
              </a:ext>
            </a:extLst>
          </p:cNvPr>
          <p:cNvSpPr/>
          <p:nvPr/>
        </p:nvSpPr>
        <p:spPr>
          <a:xfrm rot="10800000">
            <a:off x="3030365" y="644488"/>
            <a:ext cx="228600" cy="2286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="" xmlns:a16="http://schemas.microsoft.com/office/drawing/2014/main" id="{CD41A74D-2E7C-6342-A0A5-312D6514C770}"/>
              </a:ext>
            </a:extLst>
          </p:cNvPr>
          <p:cNvSpPr/>
          <p:nvPr/>
        </p:nvSpPr>
        <p:spPr>
          <a:xfrm rot="10800000">
            <a:off x="3030365" y="263488"/>
            <a:ext cx="228600" cy="2286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="" xmlns:a16="http://schemas.microsoft.com/office/drawing/2014/main" id="{189EEEAB-C4B0-034B-A3EB-E397D9E4DA3E}"/>
              </a:ext>
            </a:extLst>
          </p:cNvPr>
          <p:cNvSpPr/>
          <p:nvPr/>
        </p:nvSpPr>
        <p:spPr>
          <a:xfrm rot="10800000">
            <a:off x="3030364" y="1768978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="" xmlns:a16="http://schemas.microsoft.com/office/drawing/2014/main" id="{5AC2C83B-FF80-C64D-AB0E-11E593BD38A1}"/>
              </a:ext>
            </a:extLst>
          </p:cNvPr>
          <p:cNvSpPr/>
          <p:nvPr/>
        </p:nvSpPr>
        <p:spPr>
          <a:xfrm rot="10800000">
            <a:off x="3030364" y="2143896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7" name="Text Box 10">
            <a:extLst>
              <a:ext uri="{FF2B5EF4-FFF2-40B4-BE49-F238E27FC236}">
                <a16:creationId xmlns="" xmlns:a16="http://schemas.microsoft.com/office/drawing/2014/main" id="{D24C535B-6191-C944-BD14-97EEA6B0E0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877" y="173206"/>
            <a:ext cx="960042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/>
            <a:r>
              <a:rPr lang="en-US" altLang="ja-JP" sz="2400" dirty="0">
                <a:solidFill>
                  <a:srgbClr val="288CD2"/>
                </a:solidFill>
                <a:latin typeface="Courier New"/>
                <a:cs typeface="Courier New"/>
              </a:rPr>
              <a:t>N</a:t>
            </a:r>
          </a:p>
          <a:p>
            <a:pPr algn="ctr"/>
            <a:r>
              <a:rPr lang="en-US" altLang="ja-JP" sz="2400" dirty="0">
                <a:solidFill>
                  <a:srgbClr val="288CD2"/>
                </a:solidFill>
                <a:latin typeface="Courier New"/>
                <a:cs typeface="Courier New"/>
              </a:rPr>
              <a:t>V</a:t>
            </a:r>
          </a:p>
          <a:p>
            <a:pPr algn="ctr"/>
            <a:r>
              <a:rPr lang="en-US" altLang="ja-JP" sz="2400" dirty="0">
                <a:solidFill>
                  <a:srgbClr val="288CD2"/>
                </a:solidFill>
                <a:latin typeface="Courier New"/>
                <a:cs typeface="Courier New"/>
              </a:rPr>
              <a:t>D</a:t>
            </a:r>
          </a:p>
          <a:p>
            <a:pPr algn="ctr"/>
            <a:r>
              <a:rPr lang="en-US" altLang="ja-JP" sz="2400" dirty="0">
                <a:solidFill>
                  <a:srgbClr val="288CD2"/>
                </a:solidFill>
                <a:latin typeface="Courier New"/>
                <a:cs typeface="Courier New"/>
              </a:rPr>
              <a:t>J</a:t>
            </a:r>
          </a:p>
          <a:p>
            <a:pPr algn="ctr"/>
            <a:r>
              <a:rPr lang="en-US" altLang="ja-JP" sz="2400" dirty="0">
                <a:solidFill>
                  <a:srgbClr val="288CD2"/>
                </a:solidFill>
                <a:latin typeface="Courier New"/>
                <a:cs typeface="Courier New"/>
              </a:rPr>
              <a:t>&lt;s&gt;</a:t>
            </a:r>
          </a:p>
          <a:p>
            <a:pPr algn="ctr"/>
            <a:r>
              <a:rPr lang="en-US" altLang="ja-JP" sz="2400" dirty="0">
                <a:solidFill>
                  <a:srgbClr val="288CD2"/>
                </a:solidFill>
                <a:latin typeface="Courier New"/>
                <a:cs typeface="Courier New"/>
              </a:rPr>
              <a:t>&lt;/s&gt;</a:t>
            </a:r>
          </a:p>
        </p:txBody>
      </p:sp>
      <p:sp>
        <p:nvSpPr>
          <p:cNvPr id="38" name="Rounded Rectangle 37">
            <a:extLst>
              <a:ext uri="{FF2B5EF4-FFF2-40B4-BE49-F238E27FC236}">
                <a16:creationId xmlns="" xmlns:a16="http://schemas.microsoft.com/office/drawing/2014/main" id="{84C7A325-ED30-E34B-9B59-3BCC7487B336}"/>
              </a:ext>
            </a:extLst>
          </p:cNvPr>
          <p:cNvSpPr/>
          <p:nvPr/>
        </p:nvSpPr>
        <p:spPr>
          <a:xfrm rot="10800000">
            <a:off x="4274059" y="102923"/>
            <a:ext cx="381000" cy="2391291"/>
          </a:xfrm>
          <a:prstGeom prst="roundRect">
            <a:avLst/>
          </a:prstGeom>
          <a:solidFill>
            <a:srgbClr val="288CD2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="" xmlns:a16="http://schemas.microsoft.com/office/drawing/2014/main" id="{0E20F4C1-60C7-EC45-AC3A-269CC738AF01}"/>
              </a:ext>
            </a:extLst>
          </p:cNvPr>
          <p:cNvSpPr/>
          <p:nvPr/>
        </p:nvSpPr>
        <p:spPr>
          <a:xfrm rot="10800000">
            <a:off x="4350259" y="1398324"/>
            <a:ext cx="228600" cy="2286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="" xmlns:a16="http://schemas.microsoft.com/office/drawing/2014/main" id="{90651128-2B3A-5D4F-B9D7-E04ECB9053EF}"/>
              </a:ext>
            </a:extLst>
          </p:cNvPr>
          <p:cNvSpPr/>
          <p:nvPr/>
        </p:nvSpPr>
        <p:spPr>
          <a:xfrm rot="10800000">
            <a:off x="4350259" y="1017324"/>
            <a:ext cx="228600" cy="2286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="" xmlns:a16="http://schemas.microsoft.com/office/drawing/2014/main" id="{E2B39D8B-73BA-0741-9795-92E5D65A86F5}"/>
              </a:ext>
            </a:extLst>
          </p:cNvPr>
          <p:cNvSpPr/>
          <p:nvPr/>
        </p:nvSpPr>
        <p:spPr>
          <a:xfrm rot="10800000">
            <a:off x="4350259" y="636324"/>
            <a:ext cx="228600" cy="2286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="" xmlns:a16="http://schemas.microsoft.com/office/drawing/2014/main" id="{85ECBB31-3BAD-A949-85DF-921975B71208}"/>
              </a:ext>
            </a:extLst>
          </p:cNvPr>
          <p:cNvSpPr/>
          <p:nvPr/>
        </p:nvSpPr>
        <p:spPr>
          <a:xfrm rot="10800000">
            <a:off x="4350259" y="255324"/>
            <a:ext cx="228600" cy="2286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="" xmlns:a16="http://schemas.microsoft.com/office/drawing/2014/main" id="{E1573663-5055-604C-882C-26276FA9085B}"/>
              </a:ext>
            </a:extLst>
          </p:cNvPr>
          <p:cNvSpPr/>
          <p:nvPr/>
        </p:nvSpPr>
        <p:spPr>
          <a:xfrm rot="10800000">
            <a:off x="4350258" y="1760814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4" name="Oval 43">
            <a:extLst>
              <a:ext uri="{FF2B5EF4-FFF2-40B4-BE49-F238E27FC236}">
                <a16:creationId xmlns="" xmlns:a16="http://schemas.microsoft.com/office/drawing/2014/main" id="{FCF4E804-7E52-BD4E-B337-2E10F2590A4E}"/>
              </a:ext>
            </a:extLst>
          </p:cNvPr>
          <p:cNvSpPr/>
          <p:nvPr/>
        </p:nvSpPr>
        <p:spPr>
          <a:xfrm rot="10800000">
            <a:off x="4350258" y="2135732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5" name="Rounded Rectangle 44">
            <a:extLst>
              <a:ext uri="{FF2B5EF4-FFF2-40B4-BE49-F238E27FC236}">
                <a16:creationId xmlns="" xmlns:a16="http://schemas.microsoft.com/office/drawing/2014/main" id="{71FC1CE5-0AE7-A24A-9175-A8F3095A635E}"/>
              </a:ext>
            </a:extLst>
          </p:cNvPr>
          <p:cNvSpPr/>
          <p:nvPr/>
        </p:nvSpPr>
        <p:spPr>
          <a:xfrm rot="10800000">
            <a:off x="5629125" y="101806"/>
            <a:ext cx="381000" cy="2391291"/>
          </a:xfrm>
          <a:prstGeom prst="roundRect">
            <a:avLst/>
          </a:prstGeom>
          <a:solidFill>
            <a:srgbClr val="288CD2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="" xmlns:a16="http://schemas.microsoft.com/office/drawing/2014/main" id="{F075DFEC-BCA7-B448-85F8-1ED9D0CCC5CC}"/>
              </a:ext>
            </a:extLst>
          </p:cNvPr>
          <p:cNvSpPr/>
          <p:nvPr/>
        </p:nvSpPr>
        <p:spPr>
          <a:xfrm rot="10800000">
            <a:off x="5705325" y="1397207"/>
            <a:ext cx="228600" cy="2286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="" xmlns:a16="http://schemas.microsoft.com/office/drawing/2014/main" id="{4DC9932D-4914-BD45-AFE9-2FB9FDB74501}"/>
              </a:ext>
            </a:extLst>
          </p:cNvPr>
          <p:cNvSpPr/>
          <p:nvPr/>
        </p:nvSpPr>
        <p:spPr>
          <a:xfrm rot="10800000">
            <a:off x="5705325" y="1016207"/>
            <a:ext cx="228600" cy="2286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8" name="Oval 47">
            <a:extLst>
              <a:ext uri="{FF2B5EF4-FFF2-40B4-BE49-F238E27FC236}">
                <a16:creationId xmlns="" xmlns:a16="http://schemas.microsoft.com/office/drawing/2014/main" id="{B4762AF8-C88B-AC44-BE90-63124E84498B}"/>
              </a:ext>
            </a:extLst>
          </p:cNvPr>
          <p:cNvSpPr/>
          <p:nvPr/>
        </p:nvSpPr>
        <p:spPr>
          <a:xfrm rot="10800000">
            <a:off x="5705325" y="635207"/>
            <a:ext cx="228600" cy="228600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="" xmlns:a16="http://schemas.microsoft.com/office/drawing/2014/main" id="{734D91B1-84C5-A84C-8A7C-3EE8877203F3}"/>
              </a:ext>
            </a:extLst>
          </p:cNvPr>
          <p:cNvSpPr/>
          <p:nvPr/>
        </p:nvSpPr>
        <p:spPr>
          <a:xfrm rot="10800000">
            <a:off x="5705325" y="254207"/>
            <a:ext cx="228600" cy="22860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="" xmlns:a16="http://schemas.microsoft.com/office/drawing/2014/main" id="{E4F6C406-CC9A-B048-B740-A0497D263F65}"/>
              </a:ext>
            </a:extLst>
          </p:cNvPr>
          <p:cNvSpPr/>
          <p:nvPr/>
        </p:nvSpPr>
        <p:spPr>
          <a:xfrm rot="10800000">
            <a:off x="5705324" y="1759697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="" xmlns:a16="http://schemas.microsoft.com/office/drawing/2014/main" id="{80CB92A0-1419-A14C-A0CC-543D26BA37D1}"/>
              </a:ext>
            </a:extLst>
          </p:cNvPr>
          <p:cNvSpPr/>
          <p:nvPr/>
        </p:nvSpPr>
        <p:spPr>
          <a:xfrm rot="10800000">
            <a:off x="5705324" y="2134615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2" name="Rounded Rectangle 51">
            <a:extLst>
              <a:ext uri="{FF2B5EF4-FFF2-40B4-BE49-F238E27FC236}">
                <a16:creationId xmlns="" xmlns:a16="http://schemas.microsoft.com/office/drawing/2014/main" id="{04CFEAB4-17DB-524B-9269-0D451149AA63}"/>
              </a:ext>
            </a:extLst>
          </p:cNvPr>
          <p:cNvSpPr/>
          <p:nvPr/>
        </p:nvSpPr>
        <p:spPr>
          <a:xfrm rot="10800000">
            <a:off x="1735169" y="111087"/>
            <a:ext cx="381000" cy="2391291"/>
          </a:xfrm>
          <a:prstGeom prst="roundRect">
            <a:avLst/>
          </a:prstGeom>
          <a:solidFill>
            <a:srgbClr val="288CD2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="" xmlns:a16="http://schemas.microsoft.com/office/drawing/2014/main" id="{3FCB64FE-CD36-5143-BADC-A4903DB0B3BE}"/>
              </a:ext>
            </a:extLst>
          </p:cNvPr>
          <p:cNvSpPr/>
          <p:nvPr/>
        </p:nvSpPr>
        <p:spPr>
          <a:xfrm rot="10800000">
            <a:off x="1811369" y="1406488"/>
            <a:ext cx="228600" cy="2286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4" name="Oval 53">
            <a:extLst>
              <a:ext uri="{FF2B5EF4-FFF2-40B4-BE49-F238E27FC236}">
                <a16:creationId xmlns="" xmlns:a16="http://schemas.microsoft.com/office/drawing/2014/main" id="{EC4C8305-ED0B-FE45-B32C-5EEB4B1A7973}"/>
              </a:ext>
            </a:extLst>
          </p:cNvPr>
          <p:cNvSpPr/>
          <p:nvPr/>
        </p:nvSpPr>
        <p:spPr>
          <a:xfrm rot="10800000">
            <a:off x="1811369" y="1025488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5" name="Oval 54">
            <a:extLst>
              <a:ext uri="{FF2B5EF4-FFF2-40B4-BE49-F238E27FC236}">
                <a16:creationId xmlns="" xmlns:a16="http://schemas.microsoft.com/office/drawing/2014/main" id="{D57A0A62-B273-0E45-8A60-1BBA82A2B4CA}"/>
              </a:ext>
            </a:extLst>
          </p:cNvPr>
          <p:cNvSpPr/>
          <p:nvPr/>
        </p:nvSpPr>
        <p:spPr>
          <a:xfrm rot="10800000">
            <a:off x="1811369" y="644488"/>
            <a:ext cx="228600" cy="2286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6" name="Oval 55">
            <a:extLst>
              <a:ext uri="{FF2B5EF4-FFF2-40B4-BE49-F238E27FC236}">
                <a16:creationId xmlns="" xmlns:a16="http://schemas.microsoft.com/office/drawing/2014/main" id="{8FD1EF9E-E4AC-8844-8B21-67F2EEF8A57B}"/>
              </a:ext>
            </a:extLst>
          </p:cNvPr>
          <p:cNvSpPr/>
          <p:nvPr/>
        </p:nvSpPr>
        <p:spPr>
          <a:xfrm rot="10800000">
            <a:off x="1811369" y="263488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7" name="Oval 56">
            <a:extLst>
              <a:ext uri="{FF2B5EF4-FFF2-40B4-BE49-F238E27FC236}">
                <a16:creationId xmlns="" xmlns:a16="http://schemas.microsoft.com/office/drawing/2014/main" id="{03BE779F-8714-EA4E-A49F-9601AB9ACB1C}"/>
              </a:ext>
            </a:extLst>
          </p:cNvPr>
          <p:cNvSpPr/>
          <p:nvPr/>
        </p:nvSpPr>
        <p:spPr>
          <a:xfrm rot="10800000">
            <a:off x="1811368" y="1768978"/>
            <a:ext cx="228600" cy="2286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8" name="Oval 57">
            <a:extLst>
              <a:ext uri="{FF2B5EF4-FFF2-40B4-BE49-F238E27FC236}">
                <a16:creationId xmlns="" xmlns:a16="http://schemas.microsoft.com/office/drawing/2014/main" id="{08AA52A9-20BC-A344-ACE9-807C977DE4BD}"/>
              </a:ext>
            </a:extLst>
          </p:cNvPr>
          <p:cNvSpPr/>
          <p:nvPr/>
        </p:nvSpPr>
        <p:spPr>
          <a:xfrm rot="10800000">
            <a:off x="1811368" y="2143896"/>
            <a:ext cx="228600" cy="22860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59" name="Rounded Rectangle 58">
            <a:extLst>
              <a:ext uri="{FF2B5EF4-FFF2-40B4-BE49-F238E27FC236}">
                <a16:creationId xmlns="" xmlns:a16="http://schemas.microsoft.com/office/drawing/2014/main" id="{085C71ED-2885-A647-993D-1FD1F1172BAC}"/>
              </a:ext>
            </a:extLst>
          </p:cNvPr>
          <p:cNvSpPr/>
          <p:nvPr/>
        </p:nvSpPr>
        <p:spPr>
          <a:xfrm rot="10800000">
            <a:off x="6867717" y="101806"/>
            <a:ext cx="381000" cy="2391291"/>
          </a:xfrm>
          <a:prstGeom prst="roundRect">
            <a:avLst/>
          </a:prstGeom>
          <a:solidFill>
            <a:srgbClr val="288CD2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0" name="Oval 59">
            <a:extLst>
              <a:ext uri="{FF2B5EF4-FFF2-40B4-BE49-F238E27FC236}">
                <a16:creationId xmlns="" xmlns:a16="http://schemas.microsoft.com/office/drawing/2014/main" id="{B17E135A-B831-1A41-AA22-7DA6E7E30BD2}"/>
              </a:ext>
            </a:extLst>
          </p:cNvPr>
          <p:cNvSpPr/>
          <p:nvPr/>
        </p:nvSpPr>
        <p:spPr>
          <a:xfrm rot="10800000">
            <a:off x="6943917" y="1397207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1" name="Oval 60">
            <a:extLst>
              <a:ext uri="{FF2B5EF4-FFF2-40B4-BE49-F238E27FC236}">
                <a16:creationId xmlns="" xmlns:a16="http://schemas.microsoft.com/office/drawing/2014/main" id="{6DDA967A-FAC9-DD48-BA3E-4A9904AB58D8}"/>
              </a:ext>
            </a:extLst>
          </p:cNvPr>
          <p:cNvSpPr/>
          <p:nvPr/>
        </p:nvSpPr>
        <p:spPr>
          <a:xfrm rot="10800000">
            <a:off x="6943917" y="1016207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2" name="Oval 61">
            <a:extLst>
              <a:ext uri="{FF2B5EF4-FFF2-40B4-BE49-F238E27FC236}">
                <a16:creationId xmlns="" xmlns:a16="http://schemas.microsoft.com/office/drawing/2014/main" id="{327B4ADF-C9AB-934F-BC3E-D681C9F9D620}"/>
              </a:ext>
            </a:extLst>
          </p:cNvPr>
          <p:cNvSpPr/>
          <p:nvPr/>
        </p:nvSpPr>
        <p:spPr>
          <a:xfrm rot="10800000">
            <a:off x="6943917" y="635207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3" name="Oval 62">
            <a:extLst>
              <a:ext uri="{FF2B5EF4-FFF2-40B4-BE49-F238E27FC236}">
                <a16:creationId xmlns="" xmlns:a16="http://schemas.microsoft.com/office/drawing/2014/main" id="{FE513E34-2A87-514C-A6C7-84C714394D53}"/>
              </a:ext>
            </a:extLst>
          </p:cNvPr>
          <p:cNvSpPr/>
          <p:nvPr/>
        </p:nvSpPr>
        <p:spPr>
          <a:xfrm rot="10800000">
            <a:off x="6943917" y="254207"/>
            <a:ext cx="228600" cy="228600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4" name="Oval 63">
            <a:extLst>
              <a:ext uri="{FF2B5EF4-FFF2-40B4-BE49-F238E27FC236}">
                <a16:creationId xmlns="" xmlns:a16="http://schemas.microsoft.com/office/drawing/2014/main" id="{E89AAE6F-A5E3-424A-BD50-879779CBCAF2}"/>
              </a:ext>
            </a:extLst>
          </p:cNvPr>
          <p:cNvSpPr/>
          <p:nvPr/>
        </p:nvSpPr>
        <p:spPr>
          <a:xfrm rot="10800000">
            <a:off x="6943916" y="1759697"/>
            <a:ext cx="228600" cy="2286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65" name="Oval 64">
            <a:extLst>
              <a:ext uri="{FF2B5EF4-FFF2-40B4-BE49-F238E27FC236}">
                <a16:creationId xmlns="" xmlns:a16="http://schemas.microsoft.com/office/drawing/2014/main" id="{199FD474-48AA-E742-91F8-3D07154AA7EF}"/>
              </a:ext>
            </a:extLst>
          </p:cNvPr>
          <p:cNvSpPr/>
          <p:nvPr/>
        </p:nvSpPr>
        <p:spPr>
          <a:xfrm rot="10800000">
            <a:off x="6943916" y="2134615"/>
            <a:ext cx="228600" cy="2286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tx1"/>
            </a:solidFill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="" xmlns:a16="http://schemas.microsoft.com/office/drawing/2014/main" id="{4F59DA9D-8A9B-5A45-9A5F-AF24AD78BF00}"/>
              </a:ext>
            </a:extLst>
          </p:cNvPr>
          <p:cNvCxnSpPr>
            <a:cxnSpLocks/>
            <a:stCxn id="110" idx="1"/>
            <a:endCxn id="115" idx="3"/>
          </p:cNvCxnSpPr>
          <p:nvPr/>
        </p:nvCxnSpPr>
        <p:spPr bwMode="auto">
          <a:xfrm>
            <a:off x="4648200" y="3560797"/>
            <a:ext cx="968111" cy="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7" name="Straight Arrow Connector 66">
            <a:extLst>
              <a:ext uri="{FF2B5EF4-FFF2-40B4-BE49-F238E27FC236}">
                <a16:creationId xmlns="" xmlns:a16="http://schemas.microsoft.com/office/drawing/2014/main" id="{CEDABF64-6F12-BF44-95F6-08C1D5664715}"/>
              </a:ext>
            </a:extLst>
          </p:cNvPr>
          <p:cNvCxnSpPr>
            <a:cxnSpLocks/>
            <a:stCxn id="115" idx="1"/>
            <a:endCxn id="120" idx="3"/>
          </p:cNvCxnSpPr>
          <p:nvPr/>
        </p:nvCxnSpPr>
        <p:spPr bwMode="auto">
          <a:xfrm>
            <a:off x="5997311" y="3560797"/>
            <a:ext cx="863527" cy="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68" name="Straight Arrow Connector 67">
            <a:extLst>
              <a:ext uri="{FF2B5EF4-FFF2-40B4-BE49-F238E27FC236}">
                <a16:creationId xmlns="" xmlns:a16="http://schemas.microsoft.com/office/drawing/2014/main" id="{281BC5C1-BBB3-C34B-9672-9B3D072A5A0B}"/>
              </a:ext>
            </a:extLst>
          </p:cNvPr>
          <p:cNvCxnSpPr>
            <a:cxnSpLocks/>
            <a:stCxn id="105" idx="1"/>
            <a:endCxn id="110" idx="3"/>
          </p:cNvCxnSpPr>
          <p:nvPr/>
        </p:nvCxnSpPr>
        <p:spPr bwMode="auto">
          <a:xfrm>
            <a:off x="3321558" y="3560797"/>
            <a:ext cx="945642" cy="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grpSp>
        <p:nvGrpSpPr>
          <p:cNvPr id="69" name="Group 68">
            <a:extLst>
              <a:ext uri="{FF2B5EF4-FFF2-40B4-BE49-F238E27FC236}">
                <a16:creationId xmlns="" xmlns:a16="http://schemas.microsoft.com/office/drawing/2014/main" id="{33FAF307-C000-4B47-BCB2-6389DFE19C0E}"/>
              </a:ext>
            </a:extLst>
          </p:cNvPr>
          <p:cNvGrpSpPr/>
          <p:nvPr/>
        </p:nvGrpSpPr>
        <p:grpSpPr>
          <a:xfrm rot="5400000">
            <a:off x="1091466" y="5313397"/>
            <a:ext cx="1676400" cy="381000"/>
            <a:chOff x="2809241" y="2899966"/>
            <a:chExt cx="1676400" cy="381000"/>
          </a:xfrm>
        </p:grpSpPr>
        <p:sp>
          <p:nvSpPr>
            <p:cNvPr id="70" name="Rounded Rectangle 69">
              <a:extLst>
                <a:ext uri="{FF2B5EF4-FFF2-40B4-BE49-F238E27FC236}">
                  <a16:creationId xmlns="" xmlns:a16="http://schemas.microsoft.com/office/drawing/2014/main" id="{D9AC3340-5B3C-9F45-B3FD-D6610700C473}"/>
                </a:ext>
              </a:extLst>
            </p:cNvPr>
            <p:cNvSpPr/>
            <p:nvPr/>
          </p:nvSpPr>
          <p:spPr>
            <a:xfrm rot="5400000">
              <a:off x="3456941" y="2252266"/>
              <a:ext cx="381000" cy="1676400"/>
            </a:xfrm>
            <a:prstGeom prst="roundRect">
              <a:avLst/>
            </a:prstGeom>
            <a:solidFill>
              <a:srgbClr val="288CD2"/>
            </a:solidFill>
            <a:ln>
              <a:solidFill>
                <a:schemeClr val="tx1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-ROMAN"/>
                <a:cs typeface="TIMES-ROMAN"/>
              </a:endParaRPr>
            </a:p>
          </p:txBody>
        </p:sp>
        <p:sp>
          <p:nvSpPr>
            <p:cNvPr id="71" name="Oval 70">
              <a:extLst>
                <a:ext uri="{FF2B5EF4-FFF2-40B4-BE49-F238E27FC236}">
                  <a16:creationId xmlns="" xmlns:a16="http://schemas.microsoft.com/office/drawing/2014/main" id="{18ADAC5B-8EA7-AB4B-A7FA-993BC4FDC707}"/>
                </a:ext>
              </a:extLst>
            </p:cNvPr>
            <p:cNvSpPr/>
            <p:nvPr/>
          </p:nvSpPr>
          <p:spPr>
            <a:xfrm rot="5400000">
              <a:off x="4104641" y="2976166"/>
              <a:ext cx="228600" cy="2286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-ROMAN"/>
                <a:cs typeface="TIMES-ROMAN"/>
              </a:endParaRPr>
            </a:p>
          </p:txBody>
        </p:sp>
        <p:sp>
          <p:nvSpPr>
            <p:cNvPr id="72" name="Oval 71">
              <a:extLst>
                <a:ext uri="{FF2B5EF4-FFF2-40B4-BE49-F238E27FC236}">
                  <a16:creationId xmlns="" xmlns:a16="http://schemas.microsoft.com/office/drawing/2014/main" id="{569CBB01-6986-9A4B-B5A6-B70063D23281}"/>
                </a:ext>
              </a:extLst>
            </p:cNvPr>
            <p:cNvSpPr/>
            <p:nvPr/>
          </p:nvSpPr>
          <p:spPr>
            <a:xfrm rot="5400000">
              <a:off x="3723641" y="2976166"/>
              <a:ext cx="228600" cy="2286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-ROMAN"/>
                <a:cs typeface="TIMES-ROMAN"/>
              </a:endParaRPr>
            </a:p>
          </p:txBody>
        </p:sp>
        <p:sp>
          <p:nvSpPr>
            <p:cNvPr id="73" name="Oval 72">
              <a:extLst>
                <a:ext uri="{FF2B5EF4-FFF2-40B4-BE49-F238E27FC236}">
                  <a16:creationId xmlns="" xmlns:a16="http://schemas.microsoft.com/office/drawing/2014/main" id="{0BD162C4-0A74-9A46-BE61-88453C528963}"/>
                </a:ext>
              </a:extLst>
            </p:cNvPr>
            <p:cNvSpPr/>
            <p:nvPr/>
          </p:nvSpPr>
          <p:spPr>
            <a:xfrm rot="5400000">
              <a:off x="3342641" y="2976166"/>
              <a:ext cx="228600" cy="2286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-ROMAN"/>
                <a:cs typeface="TIMES-ROMAN"/>
              </a:endParaRPr>
            </a:p>
          </p:txBody>
        </p:sp>
        <p:sp>
          <p:nvSpPr>
            <p:cNvPr id="74" name="Oval 73">
              <a:extLst>
                <a:ext uri="{FF2B5EF4-FFF2-40B4-BE49-F238E27FC236}">
                  <a16:creationId xmlns="" xmlns:a16="http://schemas.microsoft.com/office/drawing/2014/main" id="{18536B45-5D53-9C4E-A20E-CD5DA5915D6F}"/>
                </a:ext>
              </a:extLst>
            </p:cNvPr>
            <p:cNvSpPr/>
            <p:nvPr/>
          </p:nvSpPr>
          <p:spPr>
            <a:xfrm rot="5400000">
              <a:off x="2961641" y="2976166"/>
              <a:ext cx="228600" cy="2286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-ROMAN"/>
                <a:cs typeface="TIMES-ROMAN"/>
              </a:endParaRP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="" xmlns:a16="http://schemas.microsoft.com/office/drawing/2014/main" id="{4621CAF6-70E2-3B40-B59E-336785338992}"/>
              </a:ext>
            </a:extLst>
          </p:cNvPr>
          <p:cNvGrpSpPr/>
          <p:nvPr/>
        </p:nvGrpSpPr>
        <p:grpSpPr>
          <a:xfrm rot="5400000">
            <a:off x="2288179" y="5313397"/>
            <a:ext cx="1676400" cy="381000"/>
            <a:chOff x="2809241" y="2899966"/>
            <a:chExt cx="1676400" cy="381000"/>
          </a:xfrm>
        </p:grpSpPr>
        <p:sp>
          <p:nvSpPr>
            <p:cNvPr id="76" name="Rounded Rectangle 75">
              <a:extLst>
                <a:ext uri="{FF2B5EF4-FFF2-40B4-BE49-F238E27FC236}">
                  <a16:creationId xmlns="" xmlns:a16="http://schemas.microsoft.com/office/drawing/2014/main" id="{CE3FDF4A-BD48-FD4F-8D6F-BECEA921D5D1}"/>
                </a:ext>
              </a:extLst>
            </p:cNvPr>
            <p:cNvSpPr/>
            <p:nvPr/>
          </p:nvSpPr>
          <p:spPr>
            <a:xfrm rot="5400000">
              <a:off x="3456941" y="2252266"/>
              <a:ext cx="381000" cy="1676400"/>
            </a:xfrm>
            <a:prstGeom prst="roundRect">
              <a:avLst/>
            </a:prstGeom>
            <a:solidFill>
              <a:srgbClr val="288CD2"/>
            </a:solidFill>
            <a:ln>
              <a:solidFill>
                <a:schemeClr val="tx1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-ROMAN"/>
                <a:cs typeface="TIMES-ROMAN"/>
              </a:endParaRPr>
            </a:p>
          </p:txBody>
        </p:sp>
        <p:sp>
          <p:nvSpPr>
            <p:cNvPr id="77" name="Oval 76">
              <a:extLst>
                <a:ext uri="{FF2B5EF4-FFF2-40B4-BE49-F238E27FC236}">
                  <a16:creationId xmlns="" xmlns:a16="http://schemas.microsoft.com/office/drawing/2014/main" id="{23424AB4-C810-444A-AD41-CB3BB0BB28BE}"/>
                </a:ext>
              </a:extLst>
            </p:cNvPr>
            <p:cNvSpPr/>
            <p:nvPr/>
          </p:nvSpPr>
          <p:spPr>
            <a:xfrm rot="5400000">
              <a:off x="4104641" y="2976166"/>
              <a:ext cx="228600" cy="2286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-ROMAN"/>
                <a:cs typeface="TIMES-ROMAN"/>
              </a:endParaRPr>
            </a:p>
          </p:txBody>
        </p:sp>
        <p:sp>
          <p:nvSpPr>
            <p:cNvPr id="78" name="Oval 77">
              <a:extLst>
                <a:ext uri="{FF2B5EF4-FFF2-40B4-BE49-F238E27FC236}">
                  <a16:creationId xmlns="" xmlns:a16="http://schemas.microsoft.com/office/drawing/2014/main" id="{4C298291-F92B-AB47-ABED-24EDD32A21C0}"/>
                </a:ext>
              </a:extLst>
            </p:cNvPr>
            <p:cNvSpPr/>
            <p:nvPr/>
          </p:nvSpPr>
          <p:spPr>
            <a:xfrm rot="5400000">
              <a:off x="3723641" y="2976166"/>
              <a:ext cx="228600" cy="2286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-ROMAN"/>
                <a:cs typeface="TIMES-ROMAN"/>
              </a:endParaRPr>
            </a:p>
          </p:txBody>
        </p:sp>
        <p:sp>
          <p:nvSpPr>
            <p:cNvPr id="79" name="Oval 78">
              <a:extLst>
                <a:ext uri="{FF2B5EF4-FFF2-40B4-BE49-F238E27FC236}">
                  <a16:creationId xmlns="" xmlns:a16="http://schemas.microsoft.com/office/drawing/2014/main" id="{5759CD2B-DAA9-834E-9BB2-589932072B58}"/>
                </a:ext>
              </a:extLst>
            </p:cNvPr>
            <p:cNvSpPr/>
            <p:nvPr/>
          </p:nvSpPr>
          <p:spPr>
            <a:xfrm rot="5400000">
              <a:off x="3342641" y="2976166"/>
              <a:ext cx="228600" cy="2286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-ROMAN"/>
                <a:cs typeface="TIMES-ROMAN"/>
              </a:endParaRPr>
            </a:p>
          </p:txBody>
        </p:sp>
        <p:sp>
          <p:nvSpPr>
            <p:cNvPr id="80" name="Oval 79">
              <a:extLst>
                <a:ext uri="{FF2B5EF4-FFF2-40B4-BE49-F238E27FC236}">
                  <a16:creationId xmlns="" xmlns:a16="http://schemas.microsoft.com/office/drawing/2014/main" id="{7C4276DD-77F3-4B4A-B111-39905EC0538D}"/>
                </a:ext>
              </a:extLst>
            </p:cNvPr>
            <p:cNvSpPr/>
            <p:nvPr/>
          </p:nvSpPr>
          <p:spPr>
            <a:xfrm rot="5400000">
              <a:off x="2961641" y="2976166"/>
              <a:ext cx="228600" cy="2286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-ROMAN"/>
                <a:cs typeface="TIMES-ROMAN"/>
              </a:endParaRPr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="" xmlns:a16="http://schemas.microsoft.com/office/drawing/2014/main" id="{07B1A099-3FB6-3844-BB8A-BF1F285AF521}"/>
              </a:ext>
            </a:extLst>
          </p:cNvPr>
          <p:cNvGrpSpPr/>
          <p:nvPr/>
        </p:nvGrpSpPr>
        <p:grpSpPr>
          <a:xfrm rot="5400000">
            <a:off x="3614821" y="5313397"/>
            <a:ext cx="1676400" cy="381000"/>
            <a:chOff x="2809241" y="2899966"/>
            <a:chExt cx="1676400" cy="381000"/>
          </a:xfrm>
        </p:grpSpPr>
        <p:sp>
          <p:nvSpPr>
            <p:cNvPr id="82" name="Rounded Rectangle 81">
              <a:extLst>
                <a:ext uri="{FF2B5EF4-FFF2-40B4-BE49-F238E27FC236}">
                  <a16:creationId xmlns="" xmlns:a16="http://schemas.microsoft.com/office/drawing/2014/main" id="{39B9DA48-E17C-834B-B014-1C5D0ED23FDC}"/>
                </a:ext>
              </a:extLst>
            </p:cNvPr>
            <p:cNvSpPr/>
            <p:nvPr/>
          </p:nvSpPr>
          <p:spPr>
            <a:xfrm rot="5400000">
              <a:off x="3456941" y="2252266"/>
              <a:ext cx="381000" cy="1676400"/>
            </a:xfrm>
            <a:prstGeom prst="roundRect">
              <a:avLst/>
            </a:prstGeom>
            <a:solidFill>
              <a:srgbClr val="288CD2"/>
            </a:solidFill>
            <a:ln>
              <a:solidFill>
                <a:schemeClr val="tx1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-ROMAN"/>
                <a:cs typeface="TIMES-ROMAN"/>
              </a:endParaRPr>
            </a:p>
          </p:txBody>
        </p:sp>
        <p:sp>
          <p:nvSpPr>
            <p:cNvPr id="83" name="Oval 82">
              <a:extLst>
                <a:ext uri="{FF2B5EF4-FFF2-40B4-BE49-F238E27FC236}">
                  <a16:creationId xmlns="" xmlns:a16="http://schemas.microsoft.com/office/drawing/2014/main" id="{D92A9050-37F1-9B44-8739-1AC179CF55E3}"/>
                </a:ext>
              </a:extLst>
            </p:cNvPr>
            <p:cNvSpPr/>
            <p:nvPr/>
          </p:nvSpPr>
          <p:spPr>
            <a:xfrm rot="5400000">
              <a:off x="4104641" y="2976166"/>
              <a:ext cx="228600" cy="2286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-ROMAN"/>
                <a:cs typeface="TIMES-ROMAN"/>
              </a:endParaRPr>
            </a:p>
          </p:txBody>
        </p:sp>
        <p:sp>
          <p:nvSpPr>
            <p:cNvPr id="84" name="Oval 83">
              <a:extLst>
                <a:ext uri="{FF2B5EF4-FFF2-40B4-BE49-F238E27FC236}">
                  <a16:creationId xmlns="" xmlns:a16="http://schemas.microsoft.com/office/drawing/2014/main" id="{A9065C80-2992-0C4A-B44A-D8CC288FCA8A}"/>
                </a:ext>
              </a:extLst>
            </p:cNvPr>
            <p:cNvSpPr/>
            <p:nvPr/>
          </p:nvSpPr>
          <p:spPr>
            <a:xfrm rot="5400000">
              <a:off x="3723641" y="2976166"/>
              <a:ext cx="228600" cy="2286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-ROMAN"/>
                <a:cs typeface="TIMES-ROMAN"/>
              </a:endParaRPr>
            </a:p>
          </p:txBody>
        </p:sp>
        <p:sp>
          <p:nvSpPr>
            <p:cNvPr id="85" name="Oval 84">
              <a:extLst>
                <a:ext uri="{FF2B5EF4-FFF2-40B4-BE49-F238E27FC236}">
                  <a16:creationId xmlns="" xmlns:a16="http://schemas.microsoft.com/office/drawing/2014/main" id="{E25B4957-8D14-CE4A-BDB0-79BE75EFA566}"/>
                </a:ext>
              </a:extLst>
            </p:cNvPr>
            <p:cNvSpPr/>
            <p:nvPr/>
          </p:nvSpPr>
          <p:spPr>
            <a:xfrm rot="5400000">
              <a:off x="3342641" y="2976166"/>
              <a:ext cx="228600" cy="2286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-ROMAN"/>
                <a:cs typeface="TIMES-ROMAN"/>
              </a:endParaRPr>
            </a:p>
          </p:txBody>
        </p:sp>
        <p:sp>
          <p:nvSpPr>
            <p:cNvPr id="86" name="Oval 85">
              <a:extLst>
                <a:ext uri="{FF2B5EF4-FFF2-40B4-BE49-F238E27FC236}">
                  <a16:creationId xmlns="" xmlns:a16="http://schemas.microsoft.com/office/drawing/2014/main" id="{CA1B9846-CBEF-0242-892C-1EEAEC047779}"/>
                </a:ext>
              </a:extLst>
            </p:cNvPr>
            <p:cNvSpPr/>
            <p:nvPr/>
          </p:nvSpPr>
          <p:spPr>
            <a:xfrm rot="5400000">
              <a:off x="2961641" y="2976166"/>
              <a:ext cx="228600" cy="2286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-ROMAN"/>
                <a:cs typeface="TIMES-ROMAN"/>
              </a:endParaRPr>
            </a:p>
          </p:txBody>
        </p:sp>
      </p:grpSp>
      <p:grpSp>
        <p:nvGrpSpPr>
          <p:cNvPr id="87" name="Group 86">
            <a:extLst>
              <a:ext uri="{FF2B5EF4-FFF2-40B4-BE49-F238E27FC236}">
                <a16:creationId xmlns="" xmlns:a16="http://schemas.microsoft.com/office/drawing/2014/main" id="{D54BAEE0-A3A6-2E46-AD3D-F1C59E15A403}"/>
              </a:ext>
            </a:extLst>
          </p:cNvPr>
          <p:cNvGrpSpPr/>
          <p:nvPr/>
        </p:nvGrpSpPr>
        <p:grpSpPr>
          <a:xfrm rot="5400000">
            <a:off x="4963932" y="5313397"/>
            <a:ext cx="1676400" cy="381000"/>
            <a:chOff x="2809241" y="2899966"/>
            <a:chExt cx="1676400" cy="381000"/>
          </a:xfrm>
        </p:grpSpPr>
        <p:sp>
          <p:nvSpPr>
            <p:cNvPr id="88" name="Rounded Rectangle 87">
              <a:extLst>
                <a:ext uri="{FF2B5EF4-FFF2-40B4-BE49-F238E27FC236}">
                  <a16:creationId xmlns="" xmlns:a16="http://schemas.microsoft.com/office/drawing/2014/main" id="{FECF46B9-3DDB-DB43-B04F-2D996675850D}"/>
                </a:ext>
              </a:extLst>
            </p:cNvPr>
            <p:cNvSpPr/>
            <p:nvPr/>
          </p:nvSpPr>
          <p:spPr>
            <a:xfrm rot="5400000">
              <a:off x="3456941" y="2252266"/>
              <a:ext cx="381000" cy="1676400"/>
            </a:xfrm>
            <a:prstGeom prst="roundRect">
              <a:avLst/>
            </a:prstGeom>
            <a:solidFill>
              <a:srgbClr val="288CD2"/>
            </a:solidFill>
            <a:ln>
              <a:solidFill>
                <a:schemeClr val="tx1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-ROMAN"/>
                <a:cs typeface="TIMES-ROMAN"/>
              </a:endParaRPr>
            </a:p>
          </p:txBody>
        </p:sp>
        <p:sp>
          <p:nvSpPr>
            <p:cNvPr id="89" name="Oval 88">
              <a:extLst>
                <a:ext uri="{FF2B5EF4-FFF2-40B4-BE49-F238E27FC236}">
                  <a16:creationId xmlns="" xmlns:a16="http://schemas.microsoft.com/office/drawing/2014/main" id="{4C2A5266-6E1F-C64A-B955-2540C783ADF9}"/>
                </a:ext>
              </a:extLst>
            </p:cNvPr>
            <p:cNvSpPr/>
            <p:nvPr/>
          </p:nvSpPr>
          <p:spPr>
            <a:xfrm rot="5400000">
              <a:off x="4104641" y="2976166"/>
              <a:ext cx="228600" cy="2286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-ROMAN"/>
                <a:cs typeface="TIMES-ROMAN"/>
              </a:endParaRPr>
            </a:p>
          </p:txBody>
        </p:sp>
        <p:sp>
          <p:nvSpPr>
            <p:cNvPr id="90" name="Oval 89">
              <a:extLst>
                <a:ext uri="{FF2B5EF4-FFF2-40B4-BE49-F238E27FC236}">
                  <a16:creationId xmlns="" xmlns:a16="http://schemas.microsoft.com/office/drawing/2014/main" id="{67F7EB60-A804-AA45-9B3F-D2872FE19640}"/>
                </a:ext>
              </a:extLst>
            </p:cNvPr>
            <p:cNvSpPr/>
            <p:nvPr/>
          </p:nvSpPr>
          <p:spPr>
            <a:xfrm rot="5400000">
              <a:off x="3723641" y="2976166"/>
              <a:ext cx="228600" cy="2286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-ROMAN"/>
                <a:cs typeface="TIMES-ROMAN"/>
              </a:endParaRPr>
            </a:p>
          </p:txBody>
        </p:sp>
        <p:sp>
          <p:nvSpPr>
            <p:cNvPr id="91" name="Oval 90">
              <a:extLst>
                <a:ext uri="{FF2B5EF4-FFF2-40B4-BE49-F238E27FC236}">
                  <a16:creationId xmlns="" xmlns:a16="http://schemas.microsoft.com/office/drawing/2014/main" id="{B8563918-1B44-9A40-AAAD-3C31ABDF2673}"/>
                </a:ext>
              </a:extLst>
            </p:cNvPr>
            <p:cNvSpPr/>
            <p:nvPr/>
          </p:nvSpPr>
          <p:spPr>
            <a:xfrm rot="5400000">
              <a:off x="3342641" y="2976166"/>
              <a:ext cx="228600" cy="2286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-ROMAN"/>
                <a:cs typeface="TIMES-ROMAN"/>
              </a:endParaRPr>
            </a:p>
          </p:txBody>
        </p:sp>
        <p:sp>
          <p:nvSpPr>
            <p:cNvPr id="92" name="Oval 91">
              <a:extLst>
                <a:ext uri="{FF2B5EF4-FFF2-40B4-BE49-F238E27FC236}">
                  <a16:creationId xmlns="" xmlns:a16="http://schemas.microsoft.com/office/drawing/2014/main" id="{A96370AB-AA34-6045-A590-8CB49E6216BF}"/>
                </a:ext>
              </a:extLst>
            </p:cNvPr>
            <p:cNvSpPr/>
            <p:nvPr/>
          </p:nvSpPr>
          <p:spPr>
            <a:xfrm rot="5400000">
              <a:off x="2961641" y="2976166"/>
              <a:ext cx="228600" cy="2286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-ROMAN"/>
                <a:cs typeface="TIMES-ROMAN"/>
              </a:endParaRPr>
            </a:p>
          </p:txBody>
        </p:sp>
      </p:grpSp>
      <p:grpSp>
        <p:nvGrpSpPr>
          <p:cNvPr id="93" name="Group 92">
            <a:extLst>
              <a:ext uri="{FF2B5EF4-FFF2-40B4-BE49-F238E27FC236}">
                <a16:creationId xmlns="" xmlns:a16="http://schemas.microsoft.com/office/drawing/2014/main" id="{DA41C6DD-7C9E-B949-B53F-E695633F871E}"/>
              </a:ext>
            </a:extLst>
          </p:cNvPr>
          <p:cNvGrpSpPr/>
          <p:nvPr/>
        </p:nvGrpSpPr>
        <p:grpSpPr>
          <a:xfrm rot="5400000">
            <a:off x="6208459" y="5313397"/>
            <a:ext cx="1676400" cy="381000"/>
            <a:chOff x="2809241" y="2899966"/>
            <a:chExt cx="1676400" cy="381000"/>
          </a:xfrm>
        </p:grpSpPr>
        <p:sp>
          <p:nvSpPr>
            <p:cNvPr id="94" name="Rounded Rectangle 93">
              <a:extLst>
                <a:ext uri="{FF2B5EF4-FFF2-40B4-BE49-F238E27FC236}">
                  <a16:creationId xmlns="" xmlns:a16="http://schemas.microsoft.com/office/drawing/2014/main" id="{EDD50342-840A-6D48-ADE6-5092902614E8}"/>
                </a:ext>
              </a:extLst>
            </p:cNvPr>
            <p:cNvSpPr/>
            <p:nvPr/>
          </p:nvSpPr>
          <p:spPr>
            <a:xfrm rot="5400000">
              <a:off x="3456941" y="2252266"/>
              <a:ext cx="381000" cy="1676400"/>
            </a:xfrm>
            <a:prstGeom prst="roundRect">
              <a:avLst/>
            </a:prstGeom>
            <a:solidFill>
              <a:srgbClr val="288CD2"/>
            </a:solidFill>
            <a:ln>
              <a:solidFill>
                <a:schemeClr val="tx1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-ROMAN"/>
                <a:cs typeface="TIMES-ROMAN"/>
              </a:endParaRPr>
            </a:p>
          </p:txBody>
        </p:sp>
        <p:sp>
          <p:nvSpPr>
            <p:cNvPr id="95" name="Oval 94">
              <a:extLst>
                <a:ext uri="{FF2B5EF4-FFF2-40B4-BE49-F238E27FC236}">
                  <a16:creationId xmlns="" xmlns:a16="http://schemas.microsoft.com/office/drawing/2014/main" id="{87EAD7CC-AC7C-1E43-BF9B-10DEDE010D18}"/>
                </a:ext>
              </a:extLst>
            </p:cNvPr>
            <p:cNvSpPr/>
            <p:nvPr/>
          </p:nvSpPr>
          <p:spPr>
            <a:xfrm rot="5400000">
              <a:off x="4104641" y="2976166"/>
              <a:ext cx="228600" cy="2286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-ROMAN"/>
                <a:cs typeface="TIMES-ROMAN"/>
              </a:endParaRPr>
            </a:p>
          </p:txBody>
        </p:sp>
        <p:sp>
          <p:nvSpPr>
            <p:cNvPr id="96" name="Oval 95">
              <a:extLst>
                <a:ext uri="{FF2B5EF4-FFF2-40B4-BE49-F238E27FC236}">
                  <a16:creationId xmlns="" xmlns:a16="http://schemas.microsoft.com/office/drawing/2014/main" id="{73067E3B-512A-4647-AA0D-CBBC3581C255}"/>
                </a:ext>
              </a:extLst>
            </p:cNvPr>
            <p:cNvSpPr/>
            <p:nvPr/>
          </p:nvSpPr>
          <p:spPr>
            <a:xfrm rot="5400000">
              <a:off x="3723641" y="2976166"/>
              <a:ext cx="228600" cy="2286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-ROMAN"/>
                <a:cs typeface="TIMES-ROMAN"/>
              </a:endParaRPr>
            </a:p>
          </p:txBody>
        </p:sp>
        <p:sp>
          <p:nvSpPr>
            <p:cNvPr id="97" name="Oval 96">
              <a:extLst>
                <a:ext uri="{FF2B5EF4-FFF2-40B4-BE49-F238E27FC236}">
                  <a16:creationId xmlns="" xmlns:a16="http://schemas.microsoft.com/office/drawing/2014/main" id="{B7DBA51F-CD53-3544-B2F8-8430AD0A9F26}"/>
                </a:ext>
              </a:extLst>
            </p:cNvPr>
            <p:cNvSpPr/>
            <p:nvPr/>
          </p:nvSpPr>
          <p:spPr>
            <a:xfrm rot="5400000">
              <a:off x="3342641" y="2976166"/>
              <a:ext cx="228600" cy="2286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-ROMAN"/>
                <a:cs typeface="TIMES-ROMAN"/>
              </a:endParaRPr>
            </a:p>
          </p:txBody>
        </p:sp>
        <p:sp>
          <p:nvSpPr>
            <p:cNvPr id="98" name="Oval 97">
              <a:extLst>
                <a:ext uri="{FF2B5EF4-FFF2-40B4-BE49-F238E27FC236}">
                  <a16:creationId xmlns="" xmlns:a16="http://schemas.microsoft.com/office/drawing/2014/main" id="{1E0AE8C1-A9C6-7341-8BD3-D0BB4801FCDE}"/>
                </a:ext>
              </a:extLst>
            </p:cNvPr>
            <p:cNvSpPr/>
            <p:nvPr/>
          </p:nvSpPr>
          <p:spPr>
            <a:xfrm rot="5400000">
              <a:off x="2961641" y="2976166"/>
              <a:ext cx="228600" cy="2286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-ROMAN"/>
                <a:cs typeface="TIMES-ROMAN"/>
              </a:endParaRPr>
            </a:p>
          </p:txBody>
        </p:sp>
      </p:grpSp>
      <p:grpSp>
        <p:nvGrpSpPr>
          <p:cNvPr id="99" name="Group 98">
            <a:extLst>
              <a:ext uri="{FF2B5EF4-FFF2-40B4-BE49-F238E27FC236}">
                <a16:creationId xmlns="" xmlns:a16="http://schemas.microsoft.com/office/drawing/2014/main" id="{A7A8ABB3-1550-1245-9D7B-069098ACB596}"/>
              </a:ext>
            </a:extLst>
          </p:cNvPr>
          <p:cNvGrpSpPr/>
          <p:nvPr/>
        </p:nvGrpSpPr>
        <p:grpSpPr>
          <a:xfrm>
            <a:off x="1743845" y="2913097"/>
            <a:ext cx="381000" cy="1295400"/>
            <a:chOff x="914400" y="2209800"/>
            <a:chExt cx="381000" cy="1295400"/>
          </a:xfrm>
        </p:grpSpPr>
        <p:sp>
          <p:nvSpPr>
            <p:cNvPr id="100" name="Rounded Rectangle 99">
              <a:extLst>
                <a:ext uri="{FF2B5EF4-FFF2-40B4-BE49-F238E27FC236}">
                  <a16:creationId xmlns="" xmlns:a16="http://schemas.microsoft.com/office/drawing/2014/main" id="{C2130554-5E26-D241-B77C-11CBF5B98DF1}"/>
                </a:ext>
              </a:extLst>
            </p:cNvPr>
            <p:cNvSpPr/>
            <p:nvPr/>
          </p:nvSpPr>
          <p:spPr>
            <a:xfrm rot="10800000">
              <a:off x="914400" y="2209800"/>
              <a:ext cx="381000" cy="1295400"/>
            </a:xfrm>
            <a:prstGeom prst="roundRect">
              <a:avLst/>
            </a:prstGeom>
            <a:solidFill>
              <a:srgbClr val="22B900"/>
            </a:solidFill>
            <a:ln>
              <a:solidFill>
                <a:schemeClr val="tx1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-ROMAN"/>
                <a:cs typeface="TIMES-ROMAN"/>
              </a:endParaRPr>
            </a:p>
          </p:txBody>
        </p:sp>
        <p:sp>
          <p:nvSpPr>
            <p:cNvPr id="101" name="Oval 100">
              <a:extLst>
                <a:ext uri="{FF2B5EF4-FFF2-40B4-BE49-F238E27FC236}">
                  <a16:creationId xmlns="" xmlns:a16="http://schemas.microsoft.com/office/drawing/2014/main" id="{DC462354-40D7-7845-AE54-A5348BA6CE51}"/>
                </a:ext>
              </a:extLst>
            </p:cNvPr>
            <p:cNvSpPr/>
            <p:nvPr/>
          </p:nvSpPr>
          <p:spPr>
            <a:xfrm rot="10800000">
              <a:off x="990600" y="3124200"/>
              <a:ext cx="228600" cy="2286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-ROMAN"/>
                <a:cs typeface="TIMES-ROMAN"/>
              </a:endParaRPr>
            </a:p>
          </p:txBody>
        </p:sp>
        <p:sp>
          <p:nvSpPr>
            <p:cNvPr id="102" name="Oval 101">
              <a:extLst>
                <a:ext uri="{FF2B5EF4-FFF2-40B4-BE49-F238E27FC236}">
                  <a16:creationId xmlns="" xmlns:a16="http://schemas.microsoft.com/office/drawing/2014/main" id="{90EF94A3-0A88-BB42-8AD4-9CF9E35AD177}"/>
                </a:ext>
              </a:extLst>
            </p:cNvPr>
            <p:cNvSpPr/>
            <p:nvPr/>
          </p:nvSpPr>
          <p:spPr>
            <a:xfrm rot="10800000">
              <a:off x="990600" y="2743200"/>
              <a:ext cx="228600" cy="2286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-ROMAN"/>
                <a:cs typeface="TIMES-ROMAN"/>
              </a:endParaRPr>
            </a:p>
          </p:txBody>
        </p:sp>
        <p:sp>
          <p:nvSpPr>
            <p:cNvPr id="103" name="Oval 102">
              <a:extLst>
                <a:ext uri="{FF2B5EF4-FFF2-40B4-BE49-F238E27FC236}">
                  <a16:creationId xmlns="" xmlns:a16="http://schemas.microsoft.com/office/drawing/2014/main" id="{ADEA6959-8AC8-E74E-A7BE-F0099CA89414}"/>
                </a:ext>
              </a:extLst>
            </p:cNvPr>
            <p:cNvSpPr/>
            <p:nvPr/>
          </p:nvSpPr>
          <p:spPr>
            <a:xfrm rot="10800000">
              <a:off x="990600" y="2362200"/>
              <a:ext cx="228600" cy="2286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-ROMAN"/>
                <a:cs typeface="TIMES-ROMAN"/>
              </a:endParaRPr>
            </a:p>
          </p:txBody>
        </p:sp>
      </p:grpSp>
      <p:grpSp>
        <p:nvGrpSpPr>
          <p:cNvPr id="104" name="Group 103">
            <a:extLst>
              <a:ext uri="{FF2B5EF4-FFF2-40B4-BE49-F238E27FC236}">
                <a16:creationId xmlns="" xmlns:a16="http://schemas.microsoft.com/office/drawing/2014/main" id="{F2FC7AFF-DC71-364B-9488-9F2B21B36088}"/>
              </a:ext>
            </a:extLst>
          </p:cNvPr>
          <p:cNvGrpSpPr/>
          <p:nvPr/>
        </p:nvGrpSpPr>
        <p:grpSpPr>
          <a:xfrm>
            <a:off x="2940558" y="2913097"/>
            <a:ext cx="381000" cy="1295400"/>
            <a:chOff x="914400" y="2209800"/>
            <a:chExt cx="381000" cy="1295400"/>
          </a:xfrm>
        </p:grpSpPr>
        <p:sp>
          <p:nvSpPr>
            <p:cNvPr id="105" name="Rounded Rectangle 104">
              <a:extLst>
                <a:ext uri="{FF2B5EF4-FFF2-40B4-BE49-F238E27FC236}">
                  <a16:creationId xmlns="" xmlns:a16="http://schemas.microsoft.com/office/drawing/2014/main" id="{905985D8-FA3D-724D-AC10-297B324FEE23}"/>
                </a:ext>
              </a:extLst>
            </p:cNvPr>
            <p:cNvSpPr/>
            <p:nvPr/>
          </p:nvSpPr>
          <p:spPr>
            <a:xfrm rot="10800000">
              <a:off x="914400" y="2209800"/>
              <a:ext cx="381000" cy="1295400"/>
            </a:xfrm>
            <a:prstGeom prst="roundRect">
              <a:avLst/>
            </a:prstGeom>
            <a:solidFill>
              <a:srgbClr val="22B900"/>
            </a:solidFill>
            <a:ln>
              <a:solidFill>
                <a:schemeClr val="tx1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-ROMAN"/>
                <a:cs typeface="TIMES-ROMAN"/>
              </a:endParaRPr>
            </a:p>
          </p:txBody>
        </p:sp>
        <p:sp>
          <p:nvSpPr>
            <p:cNvPr id="106" name="Oval 105">
              <a:extLst>
                <a:ext uri="{FF2B5EF4-FFF2-40B4-BE49-F238E27FC236}">
                  <a16:creationId xmlns="" xmlns:a16="http://schemas.microsoft.com/office/drawing/2014/main" id="{52FCEC98-610E-3D45-BEF5-EB738A39C300}"/>
                </a:ext>
              </a:extLst>
            </p:cNvPr>
            <p:cNvSpPr/>
            <p:nvPr/>
          </p:nvSpPr>
          <p:spPr>
            <a:xfrm rot="10800000">
              <a:off x="990600" y="3124200"/>
              <a:ext cx="228600" cy="2286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-ROMAN"/>
                <a:cs typeface="TIMES-ROMAN"/>
              </a:endParaRPr>
            </a:p>
          </p:txBody>
        </p:sp>
        <p:sp>
          <p:nvSpPr>
            <p:cNvPr id="107" name="Oval 106">
              <a:extLst>
                <a:ext uri="{FF2B5EF4-FFF2-40B4-BE49-F238E27FC236}">
                  <a16:creationId xmlns="" xmlns:a16="http://schemas.microsoft.com/office/drawing/2014/main" id="{2266D184-5171-8542-B3E8-B248ECA2ED17}"/>
                </a:ext>
              </a:extLst>
            </p:cNvPr>
            <p:cNvSpPr/>
            <p:nvPr/>
          </p:nvSpPr>
          <p:spPr>
            <a:xfrm rot="10800000">
              <a:off x="990600" y="2743200"/>
              <a:ext cx="228600" cy="2286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-ROMAN"/>
                <a:cs typeface="TIMES-ROMAN"/>
              </a:endParaRPr>
            </a:p>
          </p:txBody>
        </p:sp>
        <p:sp>
          <p:nvSpPr>
            <p:cNvPr id="108" name="Oval 107">
              <a:extLst>
                <a:ext uri="{FF2B5EF4-FFF2-40B4-BE49-F238E27FC236}">
                  <a16:creationId xmlns="" xmlns:a16="http://schemas.microsoft.com/office/drawing/2014/main" id="{3E650DFD-612E-084A-A33A-6AF55FBA3788}"/>
                </a:ext>
              </a:extLst>
            </p:cNvPr>
            <p:cNvSpPr/>
            <p:nvPr/>
          </p:nvSpPr>
          <p:spPr>
            <a:xfrm rot="10800000">
              <a:off x="990600" y="2362200"/>
              <a:ext cx="228600" cy="2286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-ROMAN"/>
                <a:cs typeface="TIMES-ROMAN"/>
              </a:endParaRPr>
            </a:p>
          </p:txBody>
        </p:sp>
      </p:grpSp>
      <p:grpSp>
        <p:nvGrpSpPr>
          <p:cNvPr id="109" name="Group 108">
            <a:extLst>
              <a:ext uri="{FF2B5EF4-FFF2-40B4-BE49-F238E27FC236}">
                <a16:creationId xmlns="" xmlns:a16="http://schemas.microsoft.com/office/drawing/2014/main" id="{DA265631-95C5-A54C-BAB6-ABE4344E9AF5}"/>
              </a:ext>
            </a:extLst>
          </p:cNvPr>
          <p:cNvGrpSpPr/>
          <p:nvPr/>
        </p:nvGrpSpPr>
        <p:grpSpPr>
          <a:xfrm>
            <a:off x="4267200" y="2913097"/>
            <a:ext cx="381000" cy="1295400"/>
            <a:chOff x="914400" y="2209800"/>
            <a:chExt cx="381000" cy="1295400"/>
          </a:xfrm>
        </p:grpSpPr>
        <p:sp>
          <p:nvSpPr>
            <p:cNvPr id="110" name="Rounded Rectangle 109">
              <a:extLst>
                <a:ext uri="{FF2B5EF4-FFF2-40B4-BE49-F238E27FC236}">
                  <a16:creationId xmlns="" xmlns:a16="http://schemas.microsoft.com/office/drawing/2014/main" id="{F52C6BD7-1588-4149-AF10-B9A42CC5B7C1}"/>
                </a:ext>
              </a:extLst>
            </p:cNvPr>
            <p:cNvSpPr/>
            <p:nvPr/>
          </p:nvSpPr>
          <p:spPr>
            <a:xfrm rot="10800000">
              <a:off x="914400" y="2209800"/>
              <a:ext cx="381000" cy="1295400"/>
            </a:xfrm>
            <a:prstGeom prst="roundRect">
              <a:avLst/>
            </a:prstGeom>
            <a:solidFill>
              <a:srgbClr val="22B900"/>
            </a:solidFill>
            <a:ln>
              <a:solidFill>
                <a:schemeClr val="tx1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-ROMAN"/>
                <a:cs typeface="TIMES-ROMAN"/>
              </a:endParaRPr>
            </a:p>
          </p:txBody>
        </p:sp>
        <p:sp>
          <p:nvSpPr>
            <p:cNvPr id="111" name="Oval 110">
              <a:extLst>
                <a:ext uri="{FF2B5EF4-FFF2-40B4-BE49-F238E27FC236}">
                  <a16:creationId xmlns="" xmlns:a16="http://schemas.microsoft.com/office/drawing/2014/main" id="{8B346EC6-7E0A-E44D-A682-764A3A2351B6}"/>
                </a:ext>
              </a:extLst>
            </p:cNvPr>
            <p:cNvSpPr/>
            <p:nvPr/>
          </p:nvSpPr>
          <p:spPr>
            <a:xfrm rot="10800000">
              <a:off x="990600" y="3124200"/>
              <a:ext cx="228600" cy="2286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-ROMAN"/>
                <a:cs typeface="TIMES-ROMAN"/>
              </a:endParaRPr>
            </a:p>
          </p:txBody>
        </p:sp>
        <p:sp>
          <p:nvSpPr>
            <p:cNvPr id="112" name="Oval 111">
              <a:extLst>
                <a:ext uri="{FF2B5EF4-FFF2-40B4-BE49-F238E27FC236}">
                  <a16:creationId xmlns="" xmlns:a16="http://schemas.microsoft.com/office/drawing/2014/main" id="{96FE0508-87FF-BB41-A66A-2B7F0C9FD0A5}"/>
                </a:ext>
              </a:extLst>
            </p:cNvPr>
            <p:cNvSpPr/>
            <p:nvPr/>
          </p:nvSpPr>
          <p:spPr>
            <a:xfrm rot="10800000">
              <a:off x="990600" y="2743200"/>
              <a:ext cx="228600" cy="2286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-ROMAN"/>
                <a:cs typeface="TIMES-ROMAN"/>
              </a:endParaRPr>
            </a:p>
          </p:txBody>
        </p:sp>
        <p:sp>
          <p:nvSpPr>
            <p:cNvPr id="113" name="Oval 112">
              <a:extLst>
                <a:ext uri="{FF2B5EF4-FFF2-40B4-BE49-F238E27FC236}">
                  <a16:creationId xmlns="" xmlns:a16="http://schemas.microsoft.com/office/drawing/2014/main" id="{3B4EFFE4-5E02-3E40-B04C-93B3AC4526D0}"/>
                </a:ext>
              </a:extLst>
            </p:cNvPr>
            <p:cNvSpPr/>
            <p:nvPr/>
          </p:nvSpPr>
          <p:spPr>
            <a:xfrm rot="10800000">
              <a:off x="990600" y="2362200"/>
              <a:ext cx="228600" cy="2286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-ROMAN"/>
                <a:cs typeface="TIMES-ROMAN"/>
              </a:endParaRPr>
            </a:p>
          </p:txBody>
        </p:sp>
      </p:grpSp>
      <p:grpSp>
        <p:nvGrpSpPr>
          <p:cNvPr id="114" name="Group 113">
            <a:extLst>
              <a:ext uri="{FF2B5EF4-FFF2-40B4-BE49-F238E27FC236}">
                <a16:creationId xmlns="" xmlns:a16="http://schemas.microsoft.com/office/drawing/2014/main" id="{F7D42C7E-5A14-3546-BFF9-C3D1A18071A3}"/>
              </a:ext>
            </a:extLst>
          </p:cNvPr>
          <p:cNvGrpSpPr/>
          <p:nvPr/>
        </p:nvGrpSpPr>
        <p:grpSpPr>
          <a:xfrm>
            <a:off x="5616311" y="2913097"/>
            <a:ext cx="381000" cy="1295400"/>
            <a:chOff x="914400" y="2209800"/>
            <a:chExt cx="381000" cy="1295400"/>
          </a:xfrm>
        </p:grpSpPr>
        <p:sp>
          <p:nvSpPr>
            <p:cNvPr id="115" name="Rounded Rectangle 114">
              <a:extLst>
                <a:ext uri="{FF2B5EF4-FFF2-40B4-BE49-F238E27FC236}">
                  <a16:creationId xmlns="" xmlns:a16="http://schemas.microsoft.com/office/drawing/2014/main" id="{D1F74CD7-D712-604F-9E1A-55F613FFBE2D}"/>
                </a:ext>
              </a:extLst>
            </p:cNvPr>
            <p:cNvSpPr/>
            <p:nvPr/>
          </p:nvSpPr>
          <p:spPr>
            <a:xfrm rot="10800000">
              <a:off x="914400" y="2209800"/>
              <a:ext cx="381000" cy="1295400"/>
            </a:xfrm>
            <a:prstGeom prst="roundRect">
              <a:avLst/>
            </a:prstGeom>
            <a:solidFill>
              <a:srgbClr val="22B900"/>
            </a:solidFill>
            <a:ln>
              <a:solidFill>
                <a:schemeClr val="tx1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-ROMAN"/>
                <a:cs typeface="TIMES-ROMAN"/>
              </a:endParaRPr>
            </a:p>
          </p:txBody>
        </p:sp>
        <p:sp>
          <p:nvSpPr>
            <p:cNvPr id="116" name="Oval 115">
              <a:extLst>
                <a:ext uri="{FF2B5EF4-FFF2-40B4-BE49-F238E27FC236}">
                  <a16:creationId xmlns="" xmlns:a16="http://schemas.microsoft.com/office/drawing/2014/main" id="{D20F5215-8AAB-1B48-9050-836E7038ABBA}"/>
                </a:ext>
              </a:extLst>
            </p:cNvPr>
            <p:cNvSpPr/>
            <p:nvPr/>
          </p:nvSpPr>
          <p:spPr>
            <a:xfrm rot="10800000">
              <a:off x="990600" y="3124200"/>
              <a:ext cx="228600" cy="2286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-ROMAN"/>
                <a:cs typeface="TIMES-ROMAN"/>
              </a:endParaRPr>
            </a:p>
          </p:txBody>
        </p:sp>
        <p:sp>
          <p:nvSpPr>
            <p:cNvPr id="117" name="Oval 116">
              <a:extLst>
                <a:ext uri="{FF2B5EF4-FFF2-40B4-BE49-F238E27FC236}">
                  <a16:creationId xmlns="" xmlns:a16="http://schemas.microsoft.com/office/drawing/2014/main" id="{35AB97E1-E4E4-9C4C-AE1A-1370CEDA225F}"/>
                </a:ext>
              </a:extLst>
            </p:cNvPr>
            <p:cNvSpPr/>
            <p:nvPr/>
          </p:nvSpPr>
          <p:spPr>
            <a:xfrm rot="10800000">
              <a:off x="990600" y="2743200"/>
              <a:ext cx="228600" cy="2286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-ROMAN"/>
                <a:cs typeface="TIMES-ROMAN"/>
              </a:endParaRPr>
            </a:p>
          </p:txBody>
        </p:sp>
        <p:sp>
          <p:nvSpPr>
            <p:cNvPr id="118" name="Oval 117">
              <a:extLst>
                <a:ext uri="{FF2B5EF4-FFF2-40B4-BE49-F238E27FC236}">
                  <a16:creationId xmlns="" xmlns:a16="http://schemas.microsoft.com/office/drawing/2014/main" id="{C2A64FED-A821-5848-9663-13B3164FE267}"/>
                </a:ext>
              </a:extLst>
            </p:cNvPr>
            <p:cNvSpPr/>
            <p:nvPr/>
          </p:nvSpPr>
          <p:spPr>
            <a:xfrm rot="10800000">
              <a:off x="990600" y="2362200"/>
              <a:ext cx="228600" cy="2286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-ROMAN"/>
                <a:cs typeface="TIMES-ROMAN"/>
              </a:endParaRPr>
            </a:p>
          </p:txBody>
        </p:sp>
      </p:grpSp>
      <p:grpSp>
        <p:nvGrpSpPr>
          <p:cNvPr id="119" name="Group 118">
            <a:extLst>
              <a:ext uri="{FF2B5EF4-FFF2-40B4-BE49-F238E27FC236}">
                <a16:creationId xmlns="" xmlns:a16="http://schemas.microsoft.com/office/drawing/2014/main" id="{165D14F1-A773-0641-94B6-F71F866C3AF9}"/>
              </a:ext>
            </a:extLst>
          </p:cNvPr>
          <p:cNvGrpSpPr/>
          <p:nvPr/>
        </p:nvGrpSpPr>
        <p:grpSpPr>
          <a:xfrm>
            <a:off x="6860838" y="2913097"/>
            <a:ext cx="381000" cy="1295400"/>
            <a:chOff x="914400" y="2209800"/>
            <a:chExt cx="381000" cy="1295400"/>
          </a:xfrm>
        </p:grpSpPr>
        <p:sp>
          <p:nvSpPr>
            <p:cNvPr id="120" name="Rounded Rectangle 119">
              <a:extLst>
                <a:ext uri="{FF2B5EF4-FFF2-40B4-BE49-F238E27FC236}">
                  <a16:creationId xmlns="" xmlns:a16="http://schemas.microsoft.com/office/drawing/2014/main" id="{4A6C7AAA-C825-0E40-AB78-62D44688673A}"/>
                </a:ext>
              </a:extLst>
            </p:cNvPr>
            <p:cNvSpPr/>
            <p:nvPr/>
          </p:nvSpPr>
          <p:spPr>
            <a:xfrm rot="10800000">
              <a:off x="914400" y="2209800"/>
              <a:ext cx="381000" cy="1295400"/>
            </a:xfrm>
            <a:prstGeom prst="roundRect">
              <a:avLst/>
            </a:prstGeom>
            <a:solidFill>
              <a:srgbClr val="22B900"/>
            </a:solidFill>
            <a:ln>
              <a:solidFill>
                <a:schemeClr val="tx1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-ROMAN"/>
                <a:cs typeface="TIMES-ROMAN"/>
              </a:endParaRPr>
            </a:p>
          </p:txBody>
        </p:sp>
        <p:sp>
          <p:nvSpPr>
            <p:cNvPr id="121" name="Oval 120">
              <a:extLst>
                <a:ext uri="{FF2B5EF4-FFF2-40B4-BE49-F238E27FC236}">
                  <a16:creationId xmlns="" xmlns:a16="http://schemas.microsoft.com/office/drawing/2014/main" id="{7D64638B-A71C-7A40-BB46-B05CE1133026}"/>
                </a:ext>
              </a:extLst>
            </p:cNvPr>
            <p:cNvSpPr/>
            <p:nvPr/>
          </p:nvSpPr>
          <p:spPr>
            <a:xfrm rot="10800000">
              <a:off x="990600" y="3124200"/>
              <a:ext cx="228600" cy="2286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-ROMAN"/>
                <a:cs typeface="TIMES-ROMAN"/>
              </a:endParaRPr>
            </a:p>
          </p:txBody>
        </p:sp>
        <p:sp>
          <p:nvSpPr>
            <p:cNvPr id="122" name="Oval 121">
              <a:extLst>
                <a:ext uri="{FF2B5EF4-FFF2-40B4-BE49-F238E27FC236}">
                  <a16:creationId xmlns="" xmlns:a16="http://schemas.microsoft.com/office/drawing/2014/main" id="{800130EB-8EA5-2B44-AB58-C2C1B589FC83}"/>
                </a:ext>
              </a:extLst>
            </p:cNvPr>
            <p:cNvSpPr/>
            <p:nvPr/>
          </p:nvSpPr>
          <p:spPr>
            <a:xfrm rot="10800000">
              <a:off x="990600" y="2743200"/>
              <a:ext cx="228600" cy="2286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-ROMAN"/>
                <a:cs typeface="TIMES-ROMAN"/>
              </a:endParaRPr>
            </a:p>
          </p:txBody>
        </p:sp>
        <p:sp>
          <p:nvSpPr>
            <p:cNvPr id="123" name="Oval 122">
              <a:extLst>
                <a:ext uri="{FF2B5EF4-FFF2-40B4-BE49-F238E27FC236}">
                  <a16:creationId xmlns="" xmlns:a16="http://schemas.microsoft.com/office/drawing/2014/main" id="{3202D1F5-B460-9149-8E37-CBFDF3625C26}"/>
                </a:ext>
              </a:extLst>
            </p:cNvPr>
            <p:cNvSpPr/>
            <p:nvPr/>
          </p:nvSpPr>
          <p:spPr>
            <a:xfrm rot="10800000">
              <a:off x="990600" y="2362200"/>
              <a:ext cx="228600" cy="228600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-ROMAN"/>
                <a:cs typeface="TIMES-ROMAN"/>
              </a:endParaRPr>
            </a:p>
          </p:txBody>
        </p:sp>
      </p:grpSp>
      <p:cxnSp>
        <p:nvCxnSpPr>
          <p:cNvPr id="124" name="Straight Arrow Connector 123">
            <a:extLst>
              <a:ext uri="{FF2B5EF4-FFF2-40B4-BE49-F238E27FC236}">
                <a16:creationId xmlns="" xmlns:a16="http://schemas.microsoft.com/office/drawing/2014/main" id="{14D6172B-421F-3E4C-8CDD-DB457ACABCD4}"/>
              </a:ext>
            </a:extLst>
          </p:cNvPr>
          <p:cNvCxnSpPr>
            <a:cxnSpLocks/>
            <a:stCxn id="100" idx="1"/>
            <a:endCxn id="105" idx="3"/>
          </p:cNvCxnSpPr>
          <p:nvPr/>
        </p:nvCxnSpPr>
        <p:spPr bwMode="auto">
          <a:xfrm>
            <a:off x="2124845" y="3560797"/>
            <a:ext cx="815713" cy="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5" name="Straight Arrow Connector 124">
            <a:extLst>
              <a:ext uri="{FF2B5EF4-FFF2-40B4-BE49-F238E27FC236}">
                <a16:creationId xmlns="" xmlns:a16="http://schemas.microsoft.com/office/drawing/2014/main" id="{1C8E5166-87E6-0548-80F7-B4489602BA0A}"/>
              </a:ext>
            </a:extLst>
          </p:cNvPr>
          <p:cNvCxnSpPr/>
          <p:nvPr/>
        </p:nvCxnSpPr>
        <p:spPr bwMode="auto">
          <a:xfrm flipV="1">
            <a:off x="1921645" y="4208497"/>
            <a:ext cx="0" cy="4572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6" name="Straight Arrow Connector 125">
            <a:extLst>
              <a:ext uri="{FF2B5EF4-FFF2-40B4-BE49-F238E27FC236}">
                <a16:creationId xmlns="" xmlns:a16="http://schemas.microsoft.com/office/drawing/2014/main" id="{1E00EF0A-7240-9645-A4B2-2F547D6A1DE4}"/>
              </a:ext>
            </a:extLst>
          </p:cNvPr>
          <p:cNvCxnSpPr/>
          <p:nvPr/>
        </p:nvCxnSpPr>
        <p:spPr bwMode="auto">
          <a:xfrm flipV="1">
            <a:off x="3118358" y="4208497"/>
            <a:ext cx="0" cy="4572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7" name="Straight Arrow Connector 126">
            <a:extLst>
              <a:ext uri="{FF2B5EF4-FFF2-40B4-BE49-F238E27FC236}">
                <a16:creationId xmlns="" xmlns:a16="http://schemas.microsoft.com/office/drawing/2014/main" id="{F305F93B-5EFF-9248-98C1-4A1281438A14}"/>
              </a:ext>
            </a:extLst>
          </p:cNvPr>
          <p:cNvCxnSpPr/>
          <p:nvPr/>
        </p:nvCxnSpPr>
        <p:spPr bwMode="auto">
          <a:xfrm flipV="1">
            <a:off x="4445000" y="4208497"/>
            <a:ext cx="0" cy="4572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8" name="Straight Arrow Connector 127">
            <a:extLst>
              <a:ext uri="{FF2B5EF4-FFF2-40B4-BE49-F238E27FC236}">
                <a16:creationId xmlns="" xmlns:a16="http://schemas.microsoft.com/office/drawing/2014/main" id="{F09DBA1D-D635-C043-AA45-9913BB53CF44}"/>
              </a:ext>
            </a:extLst>
          </p:cNvPr>
          <p:cNvCxnSpPr/>
          <p:nvPr/>
        </p:nvCxnSpPr>
        <p:spPr bwMode="auto">
          <a:xfrm flipV="1">
            <a:off x="5794111" y="4208497"/>
            <a:ext cx="0" cy="4572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29" name="Straight Arrow Connector 128">
            <a:extLst>
              <a:ext uri="{FF2B5EF4-FFF2-40B4-BE49-F238E27FC236}">
                <a16:creationId xmlns="" xmlns:a16="http://schemas.microsoft.com/office/drawing/2014/main" id="{8D72F6CD-F76A-4A4B-8A22-8A63B79C58F2}"/>
              </a:ext>
            </a:extLst>
          </p:cNvPr>
          <p:cNvCxnSpPr/>
          <p:nvPr/>
        </p:nvCxnSpPr>
        <p:spPr bwMode="auto">
          <a:xfrm flipV="1">
            <a:off x="7038638" y="4208497"/>
            <a:ext cx="0" cy="4572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0" name="Straight Arrow Connector 129">
            <a:extLst>
              <a:ext uri="{FF2B5EF4-FFF2-40B4-BE49-F238E27FC236}">
                <a16:creationId xmlns="" xmlns:a16="http://schemas.microsoft.com/office/drawing/2014/main" id="{220CB7D2-F079-5047-BF60-74B5029AF113}"/>
              </a:ext>
            </a:extLst>
          </p:cNvPr>
          <p:cNvCxnSpPr>
            <a:cxnSpLocks/>
            <a:stCxn id="115" idx="2"/>
            <a:endCxn id="45" idx="0"/>
          </p:cNvCxnSpPr>
          <p:nvPr/>
        </p:nvCxnSpPr>
        <p:spPr bwMode="auto">
          <a:xfrm flipV="1">
            <a:off x="5806811" y="2493097"/>
            <a:ext cx="12814" cy="4200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1" name="Straight Arrow Connector 130">
            <a:extLst>
              <a:ext uri="{FF2B5EF4-FFF2-40B4-BE49-F238E27FC236}">
                <a16:creationId xmlns="" xmlns:a16="http://schemas.microsoft.com/office/drawing/2014/main" id="{38DD3907-96EC-1B40-ADE1-318CE7463025}"/>
              </a:ext>
            </a:extLst>
          </p:cNvPr>
          <p:cNvCxnSpPr>
            <a:cxnSpLocks/>
            <a:stCxn id="120" idx="2"/>
          </p:cNvCxnSpPr>
          <p:nvPr/>
        </p:nvCxnSpPr>
        <p:spPr bwMode="auto">
          <a:xfrm flipV="1">
            <a:off x="7051338" y="2493097"/>
            <a:ext cx="14762" cy="4200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2" name="Straight Arrow Connector 131">
            <a:extLst>
              <a:ext uri="{FF2B5EF4-FFF2-40B4-BE49-F238E27FC236}">
                <a16:creationId xmlns="" xmlns:a16="http://schemas.microsoft.com/office/drawing/2014/main" id="{67F17C05-3C83-5B41-BB13-BB0A7BEF6BB2}"/>
              </a:ext>
            </a:extLst>
          </p:cNvPr>
          <p:cNvCxnSpPr>
            <a:cxnSpLocks/>
            <a:stCxn id="110" idx="2"/>
          </p:cNvCxnSpPr>
          <p:nvPr/>
        </p:nvCxnSpPr>
        <p:spPr bwMode="auto">
          <a:xfrm flipH="1" flipV="1">
            <a:off x="4453020" y="2502379"/>
            <a:ext cx="4680" cy="410718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3" name="Straight Arrow Connector 132">
            <a:extLst>
              <a:ext uri="{FF2B5EF4-FFF2-40B4-BE49-F238E27FC236}">
                <a16:creationId xmlns="" xmlns:a16="http://schemas.microsoft.com/office/drawing/2014/main" id="{CEC3AB0F-AB83-FF4E-B47D-3A7C1EB3732D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3132614" y="2512468"/>
            <a:ext cx="4680" cy="410718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4" name="Straight Arrow Connector 133">
            <a:extLst>
              <a:ext uri="{FF2B5EF4-FFF2-40B4-BE49-F238E27FC236}">
                <a16:creationId xmlns="" xmlns:a16="http://schemas.microsoft.com/office/drawing/2014/main" id="{0ED72C21-418A-3345-ACCF-2ABDA392B44F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1927326" y="2501260"/>
            <a:ext cx="4680" cy="410718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35" name="Text Box 10">
            <a:extLst>
              <a:ext uri="{FF2B5EF4-FFF2-40B4-BE49-F238E27FC236}">
                <a16:creationId xmlns="" xmlns:a16="http://schemas.microsoft.com/office/drawing/2014/main" id="{C98A2B3C-1FC8-CD4F-89C4-5F8C4ABC9C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807" y="3978561"/>
            <a:ext cx="9103545" cy="15696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sz="3200" dirty="0">
                <a:cs typeface="Courier New"/>
              </a:rPr>
              <a:t>train these LSTM parameters to produce continuous structured outputs with high score under </a:t>
            </a:r>
            <a:r>
              <a:rPr lang="en-US" altLang="ja-JP" sz="3200" dirty="0" err="1">
                <a:cs typeface="Courier New"/>
              </a:rPr>
              <a:t>pretrained</a:t>
            </a:r>
            <a:r>
              <a:rPr lang="en-US" altLang="ja-JP" sz="3200" dirty="0">
                <a:cs typeface="Courier New"/>
              </a:rPr>
              <a:t> </a:t>
            </a:r>
            <a:r>
              <a:rPr lang="en-US" altLang="ja-JP" sz="3200" dirty="0" smtClean="0">
                <a:cs typeface="Courier New"/>
              </a:rPr>
              <a:t>structured score </a:t>
            </a:r>
            <a:r>
              <a:rPr lang="en-US" altLang="ja-JP" sz="3200" dirty="0">
                <a:cs typeface="Courier New"/>
              </a:rPr>
              <a:t>function</a:t>
            </a:r>
          </a:p>
        </p:txBody>
      </p:sp>
    </p:spTree>
    <p:extLst>
      <p:ext uri="{BB962C8B-B14F-4D97-AF65-F5344CB8AC3E}">
        <p14:creationId xmlns:p14="http://schemas.microsoft.com/office/powerpoint/2010/main" val="417755126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934459C-647D-5F4E-9B09-12271099A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Inference Networks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F51DBBB0-7855-CF45-ACC8-4B04DEFFF6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429" y="1000300"/>
            <a:ext cx="7372350" cy="48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10">
            <a:extLst>
              <a:ext uri="{FF2B5EF4-FFF2-40B4-BE49-F238E27FC236}">
                <a16:creationId xmlns="" xmlns:a16="http://schemas.microsoft.com/office/drawing/2014/main" id="{AEF3586D-0B63-6843-BBE7-076FAA9693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407" y="6317270"/>
            <a:ext cx="9144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dirty="0">
                <a:solidFill>
                  <a:srgbClr val="288CD2"/>
                </a:solidFill>
                <a:cs typeface="Courier New"/>
              </a:rPr>
              <a:t>Tu &amp; </a:t>
            </a:r>
            <a:r>
              <a:rPr lang="en-US" altLang="ja-JP" dirty="0" err="1">
                <a:solidFill>
                  <a:srgbClr val="288CD2"/>
                </a:solidFill>
                <a:cs typeface="Courier New"/>
              </a:rPr>
              <a:t>Gimpel</a:t>
            </a:r>
            <a:r>
              <a:rPr lang="en-US" altLang="ja-JP" dirty="0">
                <a:solidFill>
                  <a:srgbClr val="288CD2"/>
                </a:solidFill>
                <a:cs typeface="Courier New"/>
              </a:rPr>
              <a:t> (2018): </a:t>
            </a:r>
            <a:r>
              <a:rPr lang="en-US" altLang="ja-JP" i="1" dirty="0">
                <a:solidFill>
                  <a:srgbClr val="288CD2"/>
                </a:solidFill>
                <a:cs typeface="Courier New"/>
              </a:rPr>
              <a:t>Learning Approximate Inference Networks for Structured Prediction</a:t>
            </a:r>
          </a:p>
        </p:txBody>
      </p:sp>
    </p:spTree>
    <p:extLst>
      <p:ext uri="{BB962C8B-B14F-4D97-AF65-F5344CB8AC3E}">
        <p14:creationId xmlns:p14="http://schemas.microsoft.com/office/powerpoint/2010/main" val="126997596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09A7B7D-53D5-C645-B6F0-69CD2FCED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Empirical Comparison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="" xmlns:a16="http://schemas.microsoft.com/office/drawing/2014/main" id="{5A31B806-1072-B143-81B5-178C54B54F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8936" y="931347"/>
            <a:ext cx="6821715" cy="33729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4C0E9D84-CE78-AB4F-9FF1-EB6E73F15E28}"/>
              </a:ext>
            </a:extLst>
          </p:cNvPr>
          <p:cNvSpPr/>
          <p:nvPr/>
        </p:nvSpPr>
        <p:spPr>
          <a:xfrm>
            <a:off x="6915149" y="1697875"/>
            <a:ext cx="2167344" cy="797473"/>
          </a:xfrm>
          <a:prstGeom prst="rect">
            <a:avLst/>
          </a:prstGeom>
          <a:noFill/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68" tIns="34284" rIns="68568" bIns="34284" rtlCol="0" anchor="ctr"/>
          <a:lstStyle>
            <a:defPPr>
              <a:defRPr lang="en-US"/>
            </a:defPPr>
            <a:lvl1pPr marL="0" algn="l" defTabSz="3291279" rtl="0" eaLnBrk="1" latinLnBrk="0" hangingPunct="1">
              <a:defRPr sz="6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1645640" algn="l" defTabSz="3291279" rtl="0" eaLnBrk="1" latinLnBrk="0" hangingPunct="1">
              <a:defRPr sz="6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3291279" algn="l" defTabSz="3291279" rtl="0" eaLnBrk="1" latinLnBrk="0" hangingPunct="1">
              <a:defRPr sz="6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4936919" algn="l" defTabSz="3291279" rtl="0" eaLnBrk="1" latinLnBrk="0" hangingPunct="1">
              <a:defRPr sz="6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6582559" algn="l" defTabSz="3291279" rtl="0" eaLnBrk="1" latinLnBrk="0" hangingPunct="1">
              <a:defRPr sz="6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8228198" algn="l" defTabSz="3291279" rtl="0" eaLnBrk="1" latinLnBrk="0" hangingPunct="1">
              <a:defRPr sz="6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9873837" algn="l" defTabSz="3291279" rtl="0" eaLnBrk="1" latinLnBrk="0" hangingPunct="1">
              <a:defRPr sz="6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1519478" algn="l" defTabSz="3291279" rtl="0" eaLnBrk="1" latinLnBrk="0" hangingPunct="1">
              <a:defRPr sz="6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3165118" algn="l" defTabSz="3291279" rtl="0" eaLnBrk="1" latinLnBrk="0" hangingPunct="1">
              <a:defRPr sz="6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>
                <a:solidFill>
                  <a:srgbClr val="288CD2"/>
                </a:solidFill>
                <a:cs typeface="Times New Roman" panose="02020603050405020304" pitchFamily="18" charset="0"/>
              </a:rPr>
              <a:t># of gradient descent iterations 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="" xmlns:a16="http://schemas.microsoft.com/office/drawing/2014/main" id="{B3A42555-89E2-824D-9216-57583CA19F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49" y="4637029"/>
            <a:ext cx="9086851" cy="1500317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sequence labeling task with 400 labels (CCG </a:t>
            </a:r>
            <a:r>
              <a:rPr lang="en-US" dirty="0" err="1"/>
              <a:t>supertagging</a:t>
            </a:r>
            <a:r>
              <a:rPr lang="en-US" dirty="0"/>
              <a:t>)</a:t>
            </a:r>
          </a:p>
          <a:p>
            <a:r>
              <a:rPr lang="en-US" dirty="0"/>
              <a:t>model is a BLSTM-CRF</a:t>
            </a:r>
          </a:p>
          <a:p>
            <a:r>
              <a:rPr lang="en-US" dirty="0"/>
              <a:t>inference network shows a much better speed/accuracy trade-off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="" xmlns:a16="http://schemas.microsoft.com/office/drawing/2014/main" id="{6BF45B41-E1E2-DA4D-B822-BA0C33CEABA1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6490607" y="1365123"/>
            <a:ext cx="991687" cy="383721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288CD2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" name="Text Box 10">
            <a:extLst>
              <a:ext uri="{FF2B5EF4-FFF2-40B4-BE49-F238E27FC236}">
                <a16:creationId xmlns="" xmlns:a16="http://schemas.microsoft.com/office/drawing/2014/main" id="{47DC3DC1-42A9-C84E-BFAA-D5210147E8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4156" y="6137347"/>
            <a:ext cx="7649936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ja-JP" sz="2000" dirty="0">
                <a:solidFill>
                  <a:srgbClr val="288CD2"/>
                </a:solidFill>
                <a:cs typeface="Courier New"/>
              </a:rPr>
              <a:t>Tu &amp; </a:t>
            </a:r>
            <a:r>
              <a:rPr lang="en-US" altLang="ja-JP" sz="2000" dirty="0" err="1">
                <a:solidFill>
                  <a:srgbClr val="288CD2"/>
                </a:solidFill>
                <a:cs typeface="Courier New"/>
              </a:rPr>
              <a:t>Gimpel</a:t>
            </a:r>
            <a:r>
              <a:rPr lang="en-US" altLang="ja-JP" sz="2000" dirty="0">
                <a:solidFill>
                  <a:srgbClr val="288CD2"/>
                </a:solidFill>
                <a:cs typeface="Courier New"/>
              </a:rPr>
              <a:t> (2019): </a:t>
            </a:r>
            <a:r>
              <a:rPr lang="en-US" altLang="ja-JP" sz="2000" i="1" dirty="0">
                <a:solidFill>
                  <a:srgbClr val="288CD2"/>
                </a:solidFill>
                <a:cs typeface="Courier New"/>
              </a:rPr>
              <a:t>Benchmarking Approximate Inference Methods for Neural Structured Prediction</a:t>
            </a:r>
          </a:p>
        </p:txBody>
      </p:sp>
    </p:spTree>
    <p:extLst>
      <p:ext uri="{BB962C8B-B14F-4D97-AF65-F5344CB8AC3E}">
        <p14:creationId xmlns:p14="http://schemas.microsoft.com/office/powerpoint/2010/main" val="318369833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Integer Linear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often formulate inference as optimizing an integer linear program</a:t>
            </a:r>
          </a:p>
          <a:p>
            <a:r>
              <a:rPr lang="en-US" dirty="0"/>
              <a:t>we can then use off-the-shelf ILP solvers</a:t>
            </a:r>
          </a:p>
          <a:p>
            <a:r>
              <a:rPr lang="en-US" dirty="0"/>
              <a:t>sometimes we can relax the ILP to an LP (remove integer constraints), then solve the LP which can be done efficiently, then convert the relaxed structure to a discrete one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82507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789619E-6EA8-E54F-9610-BB54C88C7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Inference: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82DFA93-98AB-7A40-83CB-CE44D600DC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exact DP algorithms if parts are small</a:t>
            </a:r>
          </a:p>
          <a:p>
            <a:r>
              <a:rPr lang="en-US" dirty="0"/>
              <a:t>beam search</a:t>
            </a:r>
          </a:p>
          <a:p>
            <a:pPr lvl="1"/>
            <a:r>
              <a:rPr lang="en-US" dirty="0"/>
              <a:t>can improve with heuristics (“heuristic search”)</a:t>
            </a:r>
          </a:p>
          <a:p>
            <a:pPr lvl="1"/>
            <a:r>
              <a:rPr lang="en-US" dirty="0"/>
              <a:t>can handle non-local features / large parts</a:t>
            </a:r>
          </a:p>
          <a:p>
            <a:pPr lvl="1"/>
            <a:r>
              <a:rPr lang="en-US" dirty="0"/>
              <a:t>recombination can help, though not with large parts</a:t>
            </a:r>
          </a:p>
          <a:p>
            <a:r>
              <a:rPr lang="en-US" dirty="0"/>
              <a:t>coarse-to-fine</a:t>
            </a:r>
          </a:p>
          <a:p>
            <a:r>
              <a:rPr lang="en-US" dirty="0"/>
              <a:t>gradient descent for inference</a:t>
            </a:r>
          </a:p>
          <a:p>
            <a:r>
              <a:rPr lang="en-US" dirty="0"/>
              <a:t>inference networks</a:t>
            </a:r>
          </a:p>
          <a:p>
            <a:r>
              <a:rPr lang="en-US" dirty="0"/>
              <a:t>linear programming / ILP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FEF79E75-1392-A641-8DDD-11AA0DE91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35362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35</a:t>
            </a:fld>
            <a:endParaRPr lang="en-US"/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="" xmlns:a16="http://schemas.microsoft.com/office/drawing/2014/main" id="{98270859-B3C3-664D-9748-3C7C4A1CFACE}"/>
              </a:ext>
            </a:extLst>
          </p:cNvPr>
          <p:cNvCxnSpPr/>
          <p:nvPr/>
        </p:nvCxnSpPr>
        <p:spPr bwMode="auto">
          <a:xfrm flipV="1">
            <a:off x="6243401" y="1536759"/>
            <a:ext cx="283613" cy="659972"/>
          </a:xfrm>
          <a:prstGeom prst="straightConnector1">
            <a:avLst/>
          </a:prstGeom>
          <a:solidFill>
            <a:schemeClr val="accent1"/>
          </a:solidFill>
          <a:ln w="44450" cap="rnd" cmpd="sng" algn="ctr">
            <a:solidFill>
              <a:srgbClr val="FF0000"/>
            </a:solidFill>
            <a:prstDash val="solid"/>
            <a:round/>
            <a:headEnd type="none" w="med" len="med"/>
            <a:tailEnd type="triangl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6" name="TextBox 25">
            <a:extLst>
              <a:ext uri="{FF2B5EF4-FFF2-40B4-BE49-F238E27FC236}">
                <a16:creationId xmlns="" xmlns:a16="http://schemas.microsoft.com/office/drawing/2014/main" id="{4532883D-CC44-794C-BC83-08DFFAAB3019}"/>
              </a:ext>
            </a:extLst>
          </p:cNvPr>
          <p:cNvSpPr txBox="1"/>
          <p:nvPr/>
        </p:nvSpPr>
        <p:spPr>
          <a:xfrm>
            <a:off x="5702845" y="2065899"/>
            <a:ext cx="2560316" cy="461665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  <a:effectLst>
            <a:softEdge rad="50800"/>
          </a:effectLst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alibri"/>
                <a:cs typeface="Calibri"/>
              </a:rPr>
              <a:t>l</a:t>
            </a:r>
            <a:r>
              <a:rPr lang="en-US" sz="2400" b="1" i="0" dirty="0">
                <a:solidFill>
                  <a:srgbClr val="FF0000"/>
                </a:solidFill>
                <a:latin typeface="Calibri"/>
                <a:cs typeface="Calibri"/>
              </a:rPr>
              <a:t>earning</a:t>
            </a:r>
            <a:r>
              <a:rPr lang="en-US" sz="2400" i="0" dirty="0">
                <a:solidFill>
                  <a:srgbClr val="FF0000"/>
                </a:solidFill>
                <a:latin typeface="Calibri"/>
                <a:cs typeface="Calibri"/>
              </a:rPr>
              <a:t>: choose  </a:t>
            </a:r>
            <a:r>
              <a:rPr lang="en-US" sz="2400" i="0" dirty="0">
                <a:solidFill>
                  <a:schemeClr val="bg1"/>
                </a:solidFill>
                <a:latin typeface="Calibri"/>
                <a:cs typeface="Calibri"/>
              </a:rPr>
              <a:t>_</a:t>
            </a:r>
            <a:endParaRPr lang="en-US" sz="2400" i="0" dirty="0">
              <a:solidFill>
                <a:srgbClr val="FF0000"/>
              </a:solidFill>
              <a:latin typeface="Calibri"/>
              <a:cs typeface="Calibri"/>
            </a:endParaRPr>
          </a:p>
        </p:txBody>
      </p:sp>
      <p:sp>
        <p:nvSpPr>
          <p:cNvPr id="19" name="Title 1">
            <a:extLst>
              <a:ext uri="{FF2B5EF4-FFF2-40B4-BE49-F238E27FC236}">
                <a16:creationId xmlns="" xmlns:a16="http://schemas.microsoft.com/office/drawing/2014/main" id="{0FB18455-30C2-4F4A-A6DC-24587ED45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71398"/>
            <a:ext cx="8229600" cy="726831"/>
          </a:xfrm>
        </p:spPr>
        <p:txBody>
          <a:bodyPr>
            <a:noAutofit/>
          </a:bodyPr>
          <a:lstStyle/>
          <a:p>
            <a:r>
              <a:rPr lang="en-US" sz="3600" dirty="0"/>
              <a:t>Learning in Structured Prediction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746" y="1219259"/>
            <a:ext cx="5753100" cy="635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9439" y="2165145"/>
            <a:ext cx="190500" cy="266700"/>
          </a:xfrm>
          <a:prstGeom prst="rect">
            <a:avLst/>
          </a:prstGeom>
        </p:spPr>
      </p:pic>
      <p:sp>
        <p:nvSpPr>
          <p:cNvPr id="20" name="Content Placeholder 2">
            <a:extLst>
              <a:ext uri="{FF2B5EF4-FFF2-40B4-BE49-F238E27FC236}">
                <a16:creationId xmlns="" xmlns:a16="http://schemas.microsoft.com/office/drawing/2014/main" id="{4D60F536-8B0B-4545-A5A2-D526F9F0A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695" y="2680881"/>
            <a:ext cx="8736849" cy="4040593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most loss functions used in structured prediction have the same form as those used in multi-class classification</a:t>
            </a:r>
          </a:p>
          <a:p>
            <a:endParaRPr lang="en-US" dirty="0"/>
          </a:p>
          <a:p>
            <a:r>
              <a:rPr lang="en-US" dirty="0"/>
              <a:t>part that changes: now structured inference is required for computing gradients</a:t>
            </a:r>
          </a:p>
          <a:p>
            <a:endParaRPr lang="en-US" dirty="0"/>
          </a:p>
          <a:p>
            <a:r>
              <a:rPr lang="en-US" dirty="0"/>
              <a:t>we can use any inference strategy we discussed in the context of learning</a:t>
            </a:r>
          </a:p>
          <a:p>
            <a:endParaRPr lang="en-US" dirty="0"/>
          </a:p>
          <a:p>
            <a:r>
              <a:rPr lang="en-US" dirty="0"/>
              <a:t>there are also new inference problems that arise for certain loss functions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563339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Cost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895939"/>
            <a:ext cx="8420237" cy="5460411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288CD2"/>
                </a:solidFill>
              </a:rPr>
              <a:t>cost function</a:t>
            </a:r>
            <a:r>
              <a:rPr lang="en-US" sz="2400" dirty="0"/>
              <a:t>: how different are these two structures?</a:t>
            </a:r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typically used to compare predicted structure to gold standard</a:t>
            </a:r>
          </a:p>
          <a:p>
            <a:r>
              <a:rPr lang="en-US" sz="2400" dirty="0"/>
              <a:t>should reflect evaluation metric for task</a:t>
            </a:r>
          </a:p>
          <a:p>
            <a:endParaRPr lang="en-US" sz="2400" dirty="0"/>
          </a:p>
          <a:p>
            <a:r>
              <a:rPr lang="en-US" sz="2400" dirty="0"/>
              <a:t>usual conventions:</a:t>
            </a:r>
          </a:p>
          <a:p>
            <a:r>
              <a:rPr lang="en-US" sz="2400" dirty="0">
                <a:solidFill>
                  <a:schemeClr val="bg1"/>
                </a:solidFill>
              </a:rPr>
              <a:t>for classification, what cost should we use?</a:t>
            </a:r>
          </a:p>
          <a:p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36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6600" y="1683040"/>
            <a:ext cx="2590800" cy="3048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4220" y="3664062"/>
            <a:ext cx="1816100" cy="3175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4220" y="4239758"/>
            <a:ext cx="3098800" cy="33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18959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Cost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34111"/>
            <a:ext cx="8229600" cy="5122239"/>
          </a:xfrm>
        </p:spPr>
        <p:txBody>
          <a:bodyPr>
            <a:normAutofit/>
          </a:bodyPr>
          <a:lstStyle/>
          <a:p>
            <a:r>
              <a:rPr lang="en-US" sz="2400" dirty="0"/>
              <a:t>typical cost for multi-class classification:</a:t>
            </a:r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how about for sequences?</a:t>
            </a:r>
          </a:p>
          <a:p>
            <a:endParaRPr lang="en-US" sz="2400" dirty="0"/>
          </a:p>
          <a:p>
            <a:pPr lvl="1"/>
            <a:r>
              <a:rPr lang="en-US" sz="2000" dirty="0"/>
              <a:t>“Hamming cost”: </a:t>
            </a:r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pPr lvl="1"/>
            <a:r>
              <a:rPr lang="en-US" sz="2000" dirty="0"/>
              <a:t>“0-1 cost”: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37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3220" y="2059905"/>
            <a:ext cx="2768600" cy="3302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2452" y="3162787"/>
            <a:ext cx="3429000" cy="9398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8920" y="4569900"/>
            <a:ext cx="2882900" cy="330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BB788214-4B8D-EA4C-98B8-FA91F59507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0652" y="2661030"/>
            <a:ext cx="2590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57425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0298"/>
            <a:ext cx="8229600" cy="726831"/>
          </a:xfrm>
        </p:spPr>
        <p:txBody>
          <a:bodyPr>
            <a:normAutofit/>
          </a:bodyPr>
          <a:lstStyle/>
          <a:p>
            <a:r>
              <a:rPr lang="en-US" sz="3600" dirty="0"/>
              <a:t>Empirical Risk Minimization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38</a:t>
            </a:fld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177800" y="3941964"/>
            <a:ext cx="8623300" cy="1273453"/>
          </a:xfrm>
        </p:spPr>
        <p:txBody>
          <a:bodyPr>
            <a:normAutofit/>
          </a:bodyPr>
          <a:lstStyle/>
          <a:p>
            <a:r>
              <a:rPr lang="en-US" sz="2800" dirty="0"/>
              <a:t>this is intractable so we typically minimize a </a:t>
            </a:r>
            <a:r>
              <a:rPr lang="en-US" sz="2800" b="1" dirty="0"/>
              <a:t>surrogate loss function</a:t>
            </a:r>
            <a:r>
              <a:rPr lang="en-US" sz="2800" dirty="0"/>
              <a:t> instead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2300" y="1585028"/>
            <a:ext cx="5359400" cy="736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C2B24951-57C7-424A-9D2B-BB6159C57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5784" y="3060010"/>
            <a:ext cx="4927600" cy="54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38227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7578"/>
            <a:ext cx="8229600" cy="726831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0000"/>
                </a:solidFill>
              </a:rPr>
              <a:t>Loss Functions for Structured Prediction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39</a:t>
            </a:fld>
            <a:endParaRPr lang="en-US" dirty="0"/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6298974"/>
              </p:ext>
            </p:extLst>
          </p:nvPr>
        </p:nvGraphicFramePr>
        <p:xfrm>
          <a:off x="-1" y="1071880"/>
          <a:ext cx="9144001" cy="1284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248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34958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871929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46228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name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loss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where used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82194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cost (“0-1”)</a:t>
                      </a: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MERT (</a:t>
                      </a:r>
                      <a:r>
                        <a:rPr lang="en-US" dirty="0" err="1">
                          <a:solidFill>
                            <a:srgbClr val="000000"/>
                          </a:solidFill>
                        </a:rPr>
                        <a:t>Och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, 2003)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5245" y="1874028"/>
            <a:ext cx="2730500" cy="31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43705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7578"/>
            <a:ext cx="8229600" cy="726831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0000"/>
                </a:solidFill>
              </a:rPr>
              <a:t>Loss Functions for Structured Prediction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40</a:t>
            </a:fld>
            <a:endParaRPr lang="en-US" dirty="0"/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5337207"/>
              </p:ext>
            </p:extLst>
          </p:nvPr>
        </p:nvGraphicFramePr>
        <p:xfrm>
          <a:off x="-1" y="1071880"/>
          <a:ext cx="9144001" cy="21986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248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34958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871929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46228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name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loss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where used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82194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cost (“0-1”)</a:t>
                      </a: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MERT (</a:t>
                      </a:r>
                      <a:r>
                        <a:rPr lang="en-US" dirty="0" err="1">
                          <a:solidFill>
                            <a:srgbClr val="000000"/>
                          </a:solidFill>
                        </a:rPr>
                        <a:t>Och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, 2003)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821944"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rgbClr val="000000"/>
                          </a:solidFill>
                        </a:rPr>
                        <a:t>percep-tron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structured perceptron </a:t>
                      </a:r>
                      <a:r>
                        <a:rPr lang="en-US" baseline="0" dirty="0">
                          <a:solidFill>
                            <a:srgbClr val="000000"/>
                          </a:solidFill>
                        </a:rPr>
                        <a:t>(Collins, 2002)</a:t>
                      </a:r>
                      <a:endParaRPr lang="en-US" i="1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5245" y="1874028"/>
            <a:ext cx="2730500" cy="3175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1096" y="2626372"/>
            <a:ext cx="4640665" cy="500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25877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7578"/>
            <a:ext cx="8229600" cy="726831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0000"/>
                </a:solidFill>
              </a:rPr>
              <a:t>Loss Functions for Structured Prediction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41</a:t>
            </a:fld>
            <a:endParaRPr lang="en-US" dirty="0"/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2755303"/>
              </p:ext>
            </p:extLst>
          </p:nvPr>
        </p:nvGraphicFramePr>
        <p:xfrm>
          <a:off x="-1" y="1071880"/>
          <a:ext cx="9144001" cy="31130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248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34958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871929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46228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name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loss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where used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82194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cost (“0-1”)</a:t>
                      </a: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MERT (</a:t>
                      </a:r>
                      <a:r>
                        <a:rPr lang="en-US" dirty="0" err="1">
                          <a:solidFill>
                            <a:srgbClr val="000000"/>
                          </a:solidFill>
                        </a:rPr>
                        <a:t>Och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, 2003)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821944"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rgbClr val="000000"/>
                          </a:solidFill>
                        </a:rPr>
                        <a:t>percep-tron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structured perceptron </a:t>
                      </a:r>
                      <a:r>
                        <a:rPr lang="en-US" baseline="0" dirty="0">
                          <a:solidFill>
                            <a:srgbClr val="000000"/>
                          </a:solidFill>
                        </a:rPr>
                        <a:t>(Collins, 2002)</a:t>
                      </a:r>
                      <a:endParaRPr lang="en-US" i="1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82194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hinge</a:t>
                      </a: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structured SVMs</a:t>
                      </a:r>
                    </a:p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(</a:t>
                      </a:r>
                      <a:r>
                        <a:rPr lang="en-US" dirty="0" err="1">
                          <a:solidFill>
                            <a:srgbClr val="000000"/>
                          </a:solidFill>
                        </a:rPr>
                        <a:t>Taskar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 et al., </a:t>
                      </a:r>
                      <a:r>
                        <a:rPr lang="en-US" i="1" dirty="0">
                          <a:solidFill>
                            <a:srgbClr val="000000"/>
                          </a:solidFill>
                        </a:rPr>
                        <a:t>inter alia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5245" y="1874028"/>
            <a:ext cx="2730500" cy="3175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1096" y="2626372"/>
            <a:ext cx="4640665" cy="50070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753" y="3529925"/>
            <a:ext cx="6211493" cy="476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88004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Max-Margin Markov Networks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42</a:t>
            </a:fld>
            <a:endParaRPr lang="en-US"/>
          </a:p>
        </p:txBody>
      </p:sp>
      <p:pic>
        <p:nvPicPr>
          <p:cNvPr id="8" name="Picture 7" descr="Screen Shot 2016-02-02 at 12.23.11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0481" y="1034552"/>
            <a:ext cx="6604000" cy="5691368"/>
          </a:xfrm>
          <a:prstGeom prst="rect">
            <a:avLst/>
          </a:prstGeom>
          <a:ln>
            <a:solidFill>
              <a:srgbClr val="000000"/>
            </a:solidFill>
          </a:ln>
        </p:spPr>
      </p:pic>
    </p:spTree>
    <p:extLst>
      <p:ext uri="{BB962C8B-B14F-4D97-AF65-F5344CB8AC3E}">
        <p14:creationId xmlns:p14="http://schemas.microsoft.com/office/powerpoint/2010/main" val="11597568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Maximum-Margin Markov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63436"/>
            <a:ext cx="8229600" cy="4762728"/>
          </a:xfrm>
        </p:spPr>
        <p:txBody>
          <a:bodyPr>
            <a:normAutofit/>
          </a:bodyPr>
          <a:lstStyle/>
          <a:p>
            <a:r>
              <a:rPr lang="en-US" dirty="0"/>
              <a:t>parts function contains parts on consecutive labels (“bigram parts”)</a:t>
            </a:r>
          </a:p>
          <a:p>
            <a:r>
              <a:rPr lang="en-US" dirty="0"/>
              <a:t>arbitrary features of input are permitted</a:t>
            </a:r>
          </a:p>
          <a:p>
            <a:r>
              <a:rPr lang="en-US" dirty="0"/>
              <a:t>test-time inference uses Viterbi Algorithm</a:t>
            </a:r>
          </a:p>
          <a:p>
            <a:r>
              <a:rPr lang="en-US" dirty="0"/>
              <a:t>learning done by minimizing </a:t>
            </a:r>
            <a:r>
              <a:rPr lang="en-US" b="1" dirty="0"/>
              <a:t>hinge</a:t>
            </a:r>
            <a:r>
              <a:rPr lang="en-US" dirty="0"/>
              <a:t> loss (inference algorithms used to compute </a:t>
            </a:r>
            <a:r>
              <a:rPr lang="en-US" b="1" dirty="0" err="1"/>
              <a:t>subgradients</a:t>
            </a:r>
            <a:r>
              <a:rPr lang="en-US" dirty="0"/>
              <a:t>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26736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180E91C-A929-C24D-ADB8-E9EF26C3A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 New Structured Inference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3F2303E-4624-2A4E-87AD-3FB6588CF2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136" y="1073740"/>
            <a:ext cx="9037864" cy="5441360"/>
          </a:xfrm>
        </p:spPr>
        <p:txBody>
          <a:bodyPr>
            <a:normAutofit/>
          </a:bodyPr>
          <a:lstStyle/>
          <a:p>
            <a:r>
              <a:rPr lang="en-US" dirty="0"/>
              <a:t>test-time inference: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“cost-augmented” inference includes cost function:</a:t>
            </a:r>
          </a:p>
          <a:p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only used during training</a:t>
            </a:r>
          </a:p>
          <a:p>
            <a:pPr lvl="1"/>
            <a:r>
              <a:rPr lang="en-US" dirty="0"/>
              <a:t>we can use all the same argmax inference algorithms as for the test-time inference problem as long as the cost function parts are not too big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4F9F000D-5402-CA43-8033-E39C37D55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44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F3A3BD0F-6329-F74E-A826-C70AECA2B59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3449"/>
          <a:stretch/>
        </p:blipFill>
        <p:spPr>
          <a:xfrm>
            <a:off x="2419350" y="3663791"/>
            <a:ext cx="4742428" cy="5461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080E95F6-D5FF-EB4E-A4FD-1B4E6AD62C0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41155"/>
          <a:stretch/>
        </p:blipFill>
        <p:spPr>
          <a:xfrm>
            <a:off x="3192236" y="1999496"/>
            <a:ext cx="3111911" cy="586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6768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7578"/>
            <a:ext cx="8229600" cy="726831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0000"/>
                </a:solidFill>
              </a:rPr>
              <a:t>Loss Functions for Structured Prediction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45</a:t>
            </a:fld>
            <a:endParaRPr lang="en-US" dirty="0"/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/>
          </p:nvPr>
        </p:nvGraphicFramePr>
        <p:xfrm>
          <a:off x="-1" y="1071880"/>
          <a:ext cx="9144001" cy="31130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248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34958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871929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46228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name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loss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where used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82194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cost (“0-1”)</a:t>
                      </a: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MERT (</a:t>
                      </a:r>
                      <a:r>
                        <a:rPr lang="en-US" dirty="0" err="1">
                          <a:solidFill>
                            <a:srgbClr val="000000"/>
                          </a:solidFill>
                        </a:rPr>
                        <a:t>Och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, 2003)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821944"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rgbClr val="000000"/>
                          </a:solidFill>
                        </a:rPr>
                        <a:t>percep-tron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structured perceptron </a:t>
                      </a:r>
                      <a:r>
                        <a:rPr lang="en-US" baseline="0" dirty="0">
                          <a:solidFill>
                            <a:srgbClr val="000000"/>
                          </a:solidFill>
                        </a:rPr>
                        <a:t>(Collins, 2002)</a:t>
                      </a:r>
                      <a:endParaRPr lang="en-US" i="1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82194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hinge</a:t>
                      </a: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structured SVMs</a:t>
                      </a:r>
                    </a:p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(</a:t>
                      </a:r>
                      <a:r>
                        <a:rPr lang="en-US" dirty="0" err="1">
                          <a:solidFill>
                            <a:srgbClr val="000000"/>
                          </a:solidFill>
                        </a:rPr>
                        <a:t>Taskar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 et al., </a:t>
                      </a:r>
                      <a:r>
                        <a:rPr lang="en-US" i="1" dirty="0">
                          <a:solidFill>
                            <a:srgbClr val="000000"/>
                          </a:solidFill>
                        </a:rPr>
                        <a:t>inter alia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5245" y="1874028"/>
            <a:ext cx="2730500" cy="3175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1096" y="2626372"/>
            <a:ext cx="4640665" cy="50070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753" y="3529925"/>
            <a:ext cx="6211493" cy="476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09723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AD0EC5A-DF01-DB4B-BAC7-8CB84810C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106136"/>
            <a:ext cx="8229600" cy="726831"/>
          </a:xfrm>
        </p:spPr>
        <p:txBody>
          <a:bodyPr>
            <a:noAutofit/>
          </a:bodyPr>
          <a:lstStyle/>
          <a:p>
            <a:r>
              <a:rPr lang="en-US" sz="3200" dirty="0"/>
              <a:t>Visualizing Losses for Binary Classification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2F18822F-7928-914B-A2B4-C3AF5E3B2F67}"/>
              </a:ext>
            </a:extLst>
          </p:cNvPr>
          <p:cNvSpPr txBox="1"/>
          <p:nvPr/>
        </p:nvSpPr>
        <p:spPr>
          <a:xfrm>
            <a:off x="367393" y="5806437"/>
            <a:ext cx="7952013" cy="1015663"/>
          </a:xfrm>
          <a:prstGeom prst="rect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this is for binary classification, so </a:t>
            </a:r>
            <a:r>
              <a:rPr lang="en-US" sz="2000" i="1" dirty="0"/>
              <a:t>y</a:t>
            </a:r>
            <a:r>
              <a:rPr lang="en-US" sz="2000" dirty="0"/>
              <a:t> is either -1 or 1</a:t>
            </a:r>
          </a:p>
          <a:p>
            <a:r>
              <a:rPr lang="en-US" sz="2000" i="1" dirty="0"/>
              <a:t>m</a:t>
            </a:r>
            <a:r>
              <a:rPr lang="en-US" sz="2000" dirty="0"/>
              <a:t> = cost multiplier</a:t>
            </a:r>
          </a:p>
          <a:p>
            <a:r>
              <a:rPr lang="en-US" sz="2000" i="1" dirty="0"/>
              <a:t>z</a:t>
            </a:r>
            <a:r>
              <a:rPr lang="en-US" sz="2000" dirty="0"/>
              <a:t> = classifier score (the larger it is, the more confident the classifier is)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6F30EC81-2BD3-6049-A3F3-B543EC9E131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1"/>
          <a:stretch/>
        </p:blipFill>
        <p:spPr>
          <a:xfrm>
            <a:off x="971550" y="620695"/>
            <a:ext cx="7211119" cy="5185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87031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7578"/>
            <a:ext cx="8229600" cy="726831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0000"/>
                </a:solidFill>
              </a:rPr>
              <a:t>Loss Functions for Structured Prediction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47</a:t>
            </a:fld>
            <a:endParaRPr lang="en-US" dirty="0"/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/>
          </p:nvPr>
        </p:nvGraphicFramePr>
        <p:xfrm>
          <a:off x="-1" y="1071880"/>
          <a:ext cx="9144001" cy="39349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248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34958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871929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46228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name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loss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where used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82194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cost (“0-1”)</a:t>
                      </a: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MERT (</a:t>
                      </a:r>
                      <a:r>
                        <a:rPr lang="en-US" dirty="0" err="1">
                          <a:solidFill>
                            <a:srgbClr val="000000"/>
                          </a:solidFill>
                        </a:rPr>
                        <a:t>Och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, 2003)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821944"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rgbClr val="000000"/>
                          </a:solidFill>
                        </a:rPr>
                        <a:t>percep-tron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structured perceptron </a:t>
                      </a:r>
                      <a:r>
                        <a:rPr lang="en-US" baseline="0" dirty="0">
                          <a:solidFill>
                            <a:srgbClr val="000000"/>
                          </a:solidFill>
                        </a:rPr>
                        <a:t>(Collins, 2002)</a:t>
                      </a:r>
                      <a:endParaRPr lang="en-US" i="1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82194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hinge</a:t>
                      </a: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structured SVMs</a:t>
                      </a:r>
                    </a:p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(</a:t>
                      </a:r>
                      <a:r>
                        <a:rPr lang="en-US" dirty="0" err="1">
                          <a:solidFill>
                            <a:srgbClr val="000000"/>
                          </a:solidFill>
                        </a:rPr>
                        <a:t>Taskar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 et al., </a:t>
                      </a:r>
                      <a:r>
                        <a:rPr lang="en-US" i="1" dirty="0">
                          <a:solidFill>
                            <a:srgbClr val="000000"/>
                          </a:solidFill>
                        </a:rPr>
                        <a:t>inter alia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82194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log</a:t>
                      </a: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0" dirty="0">
                          <a:solidFill>
                            <a:srgbClr val="000000"/>
                          </a:solidFill>
                        </a:rPr>
                        <a:t>CRFs (Lafferty et al., 2001)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5245" y="1874028"/>
            <a:ext cx="2730500" cy="3175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1096" y="2626372"/>
            <a:ext cx="4640665" cy="50070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753" y="3529925"/>
            <a:ext cx="6211493" cy="47602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1897" y="4270693"/>
            <a:ext cx="5546901" cy="684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28519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(Chain) Conditional Random Fields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48</a:t>
            </a:fld>
            <a:endParaRPr lang="en-US"/>
          </a:p>
        </p:txBody>
      </p:sp>
      <p:pic>
        <p:nvPicPr>
          <p:cNvPr id="7" name="Picture 6" descr="Screen Shot 2016-02-02 at 12.18.38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981" y="1097280"/>
            <a:ext cx="8408939" cy="535432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1720676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(Chain) Conditional Random Fields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28750"/>
            <a:ext cx="8229600" cy="4697414"/>
          </a:xfrm>
        </p:spPr>
        <p:txBody>
          <a:bodyPr>
            <a:normAutofit/>
          </a:bodyPr>
          <a:lstStyle/>
          <a:p>
            <a:r>
              <a:rPr lang="en-US" dirty="0"/>
              <a:t>parts function contains parts on consecutive labels (“bigram parts”)</a:t>
            </a:r>
          </a:p>
          <a:p>
            <a:r>
              <a:rPr lang="en-US" dirty="0"/>
              <a:t>arbitrary features of input are permitted</a:t>
            </a:r>
          </a:p>
          <a:p>
            <a:r>
              <a:rPr lang="en-US" dirty="0"/>
              <a:t>test-time inference uses Viterbi Algorithm</a:t>
            </a:r>
          </a:p>
          <a:p>
            <a:r>
              <a:rPr lang="en-US" dirty="0"/>
              <a:t>learning done by minimizing log loss (DP algorithms used to compute gradients)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47318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7578"/>
            <a:ext cx="8229600" cy="726831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0000"/>
                </a:solidFill>
              </a:rPr>
              <a:t>Loss Functions for Structured Prediction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50</a:t>
            </a:fld>
            <a:endParaRPr lang="en-US" dirty="0"/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/>
          </p:nvPr>
        </p:nvGraphicFramePr>
        <p:xfrm>
          <a:off x="-1" y="1071880"/>
          <a:ext cx="9144001" cy="39349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248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34958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871929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46228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name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loss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where used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82194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cost (“0-1”)</a:t>
                      </a: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MERT (</a:t>
                      </a:r>
                      <a:r>
                        <a:rPr lang="en-US" dirty="0" err="1">
                          <a:solidFill>
                            <a:srgbClr val="000000"/>
                          </a:solidFill>
                        </a:rPr>
                        <a:t>Och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, 2003)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821944"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rgbClr val="000000"/>
                          </a:solidFill>
                        </a:rPr>
                        <a:t>percep-tron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structured perceptron </a:t>
                      </a:r>
                      <a:r>
                        <a:rPr lang="en-US" baseline="0" dirty="0">
                          <a:solidFill>
                            <a:srgbClr val="000000"/>
                          </a:solidFill>
                        </a:rPr>
                        <a:t>(Collins, 2002)</a:t>
                      </a:r>
                      <a:endParaRPr lang="en-US" i="1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82194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hinge</a:t>
                      </a: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structured SVMs</a:t>
                      </a:r>
                    </a:p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(</a:t>
                      </a:r>
                      <a:r>
                        <a:rPr lang="en-US" dirty="0" err="1">
                          <a:solidFill>
                            <a:srgbClr val="000000"/>
                          </a:solidFill>
                        </a:rPr>
                        <a:t>Taskar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 et al., </a:t>
                      </a:r>
                      <a:r>
                        <a:rPr lang="en-US" i="1" dirty="0">
                          <a:solidFill>
                            <a:srgbClr val="000000"/>
                          </a:solidFill>
                        </a:rPr>
                        <a:t>inter alia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82194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log</a:t>
                      </a: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0" dirty="0">
                          <a:solidFill>
                            <a:srgbClr val="000000"/>
                          </a:solidFill>
                        </a:rPr>
                        <a:t>CRFs (Lafferty et al., 2001)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5245" y="1874028"/>
            <a:ext cx="2730500" cy="3175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1096" y="2626372"/>
            <a:ext cx="4640665" cy="50070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753" y="3529925"/>
            <a:ext cx="6211493" cy="476021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1897" y="4270693"/>
            <a:ext cx="5546901" cy="684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91138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AD0EC5A-DF01-DB4B-BAC7-8CB84810C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106136"/>
            <a:ext cx="8229600" cy="726831"/>
          </a:xfrm>
        </p:spPr>
        <p:txBody>
          <a:bodyPr>
            <a:noAutofit/>
          </a:bodyPr>
          <a:lstStyle/>
          <a:p>
            <a:r>
              <a:rPr lang="en-US" sz="3200" dirty="0"/>
              <a:t>Visualizing Losses for Binary Classification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7E2F018D-1F40-E547-B717-79100EE584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890" y="549634"/>
            <a:ext cx="8242284" cy="517417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2F18822F-7928-914B-A2B4-C3AF5E3B2F67}"/>
              </a:ext>
            </a:extLst>
          </p:cNvPr>
          <p:cNvSpPr txBox="1"/>
          <p:nvPr/>
        </p:nvSpPr>
        <p:spPr>
          <a:xfrm>
            <a:off x="367393" y="5806437"/>
            <a:ext cx="7952013" cy="1015663"/>
          </a:xfrm>
          <a:prstGeom prst="rect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this is for binary classification, so </a:t>
            </a:r>
            <a:r>
              <a:rPr lang="en-US" sz="2000" i="1" dirty="0"/>
              <a:t>y</a:t>
            </a:r>
            <a:r>
              <a:rPr lang="en-US" sz="2000" dirty="0"/>
              <a:t> is either -1 or 1</a:t>
            </a:r>
          </a:p>
          <a:p>
            <a:r>
              <a:rPr lang="en-US" sz="2000" i="1" dirty="0"/>
              <a:t>m</a:t>
            </a:r>
            <a:r>
              <a:rPr lang="en-US" sz="2000" dirty="0"/>
              <a:t> = cost multiplier</a:t>
            </a:r>
          </a:p>
          <a:p>
            <a:r>
              <a:rPr lang="en-US" sz="2000" i="1" dirty="0"/>
              <a:t>z</a:t>
            </a:r>
            <a:r>
              <a:rPr lang="en-US" sz="2000" dirty="0"/>
              <a:t> = classifier score (the larger it is, the more confident the classifier is)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12AC25B0-4C57-4242-8FBF-467AF24F9A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9208" y="834832"/>
            <a:ext cx="2266043" cy="32932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BB88C53D-1668-7E4C-B09F-BE88606C2A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9208" y="1131546"/>
            <a:ext cx="2347686" cy="35135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D3EF60D2-2423-3443-B9A0-894905C53AD9}"/>
              </a:ext>
            </a:extLst>
          </p:cNvPr>
          <p:cNvSpPr/>
          <p:nvPr/>
        </p:nvSpPr>
        <p:spPr>
          <a:xfrm>
            <a:off x="7796895" y="1088686"/>
            <a:ext cx="522512" cy="37555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29247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7578"/>
            <a:ext cx="8229600" cy="726831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000000"/>
                </a:solidFill>
              </a:rPr>
              <a:t>Loss Functions for Structured Prediction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FF3AF9-2D61-8E40-AE3D-8390D801ED2C}" type="slidenum">
              <a:rPr lang="en-US" smtClean="0"/>
              <a:t>52</a:t>
            </a:fld>
            <a:endParaRPr lang="en-US" dirty="0"/>
          </a:p>
        </p:txBody>
      </p:sp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9344979"/>
              </p:ext>
            </p:extLst>
          </p:nvPr>
        </p:nvGraphicFramePr>
        <p:xfrm>
          <a:off x="-1" y="1071880"/>
          <a:ext cx="9144001" cy="48493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248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34958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871929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46228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name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loss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where used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82194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cost (“0-1”)</a:t>
                      </a: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MERT (</a:t>
                      </a:r>
                      <a:r>
                        <a:rPr lang="en-US" dirty="0" err="1">
                          <a:solidFill>
                            <a:srgbClr val="000000"/>
                          </a:solidFill>
                        </a:rPr>
                        <a:t>Och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, 2003)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821944">
                <a:tc>
                  <a:txBody>
                    <a:bodyPr/>
                    <a:lstStyle/>
                    <a:p>
                      <a:pPr algn="ctr"/>
                      <a:r>
                        <a:rPr lang="en-US" dirty="0" err="1">
                          <a:solidFill>
                            <a:srgbClr val="000000"/>
                          </a:solidFill>
                        </a:rPr>
                        <a:t>percep-tron</a:t>
                      </a:r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structured perceptron </a:t>
                      </a:r>
                      <a:r>
                        <a:rPr lang="en-US" baseline="0" dirty="0">
                          <a:solidFill>
                            <a:srgbClr val="000000"/>
                          </a:solidFill>
                        </a:rPr>
                        <a:t>(Collins, 2002)</a:t>
                      </a:r>
                      <a:endParaRPr lang="en-US" i="1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82194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hinge</a:t>
                      </a: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structured SVMs</a:t>
                      </a:r>
                    </a:p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(</a:t>
                      </a:r>
                      <a:r>
                        <a:rPr lang="en-US" dirty="0" err="1">
                          <a:solidFill>
                            <a:srgbClr val="000000"/>
                          </a:solidFill>
                        </a:rPr>
                        <a:t>Taskar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 et al., </a:t>
                      </a:r>
                      <a:r>
                        <a:rPr lang="en-US" i="1" dirty="0">
                          <a:solidFill>
                            <a:srgbClr val="000000"/>
                          </a:solidFill>
                        </a:rPr>
                        <a:t>inter alia</a:t>
                      </a:r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82194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000000"/>
                          </a:solidFill>
                        </a:rPr>
                        <a:t>log</a:t>
                      </a: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0" dirty="0">
                          <a:solidFill>
                            <a:srgbClr val="000000"/>
                          </a:solidFill>
                        </a:rPr>
                        <a:t>CRFs (Lafferty et al., 2001)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821944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solidFill>
                            <a:srgbClr val="000000"/>
                          </a:solidFill>
                        </a:rPr>
                        <a:t>softmax</a:t>
                      </a:r>
                      <a:r>
                        <a:rPr lang="en-US" sz="1600" dirty="0">
                          <a:solidFill>
                            <a:srgbClr val="000000"/>
                          </a:solidFill>
                        </a:rPr>
                        <a:t> margin</a:t>
                      </a:r>
                    </a:p>
                  </a:txBody>
                  <a:tcPr anchor="ctr"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i="0" dirty="0" err="1">
                          <a:solidFill>
                            <a:srgbClr val="000000"/>
                          </a:solidFill>
                        </a:rPr>
                        <a:t>Povey</a:t>
                      </a:r>
                      <a:r>
                        <a:rPr lang="en-US" i="0" dirty="0">
                          <a:solidFill>
                            <a:srgbClr val="000000"/>
                          </a:solidFill>
                        </a:rPr>
                        <a:t> et al. (2008), Gimpel &amp; Smith (2010)</a:t>
                      </a:r>
                    </a:p>
                  </a:txBody>
                  <a:tcPr anchor="ctr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5245" y="1874028"/>
            <a:ext cx="2730500" cy="3175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1096" y="2626372"/>
            <a:ext cx="4640665" cy="50070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753" y="3529925"/>
            <a:ext cx="6211493" cy="47602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1897" y="4270693"/>
            <a:ext cx="5546901" cy="68451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0674" y="5233010"/>
            <a:ext cx="6211492" cy="594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65331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572175" y="1560610"/>
            <a:ext cx="266584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800" dirty="0">
                <a:solidFill>
                  <a:srgbClr val="000000"/>
                </a:solidFill>
                <a:latin typeface="Calibri"/>
                <a:cs typeface="Calibri"/>
              </a:rPr>
              <a:t>p</a:t>
            </a:r>
            <a:r>
              <a:rPr lang="en-US" sz="2800" i="0" dirty="0">
                <a:solidFill>
                  <a:srgbClr val="000000"/>
                </a:solidFill>
                <a:latin typeface="Calibri"/>
                <a:cs typeface="Calibri"/>
              </a:rPr>
              <a:t>erceptron loss</a:t>
            </a: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696198" y="4365951"/>
            <a:ext cx="2168236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800" dirty="0">
                <a:solidFill>
                  <a:srgbClr val="000000"/>
                </a:solidFill>
                <a:latin typeface="Calibri"/>
                <a:cs typeface="Calibri"/>
              </a:rPr>
              <a:t>m</a:t>
            </a:r>
            <a:r>
              <a:rPr lang="en-US" sz="2800" i="0" dirty="0">
                <a:solidFill>
                  <a:srgbClr val="000000"/>
                </a:solidFill>
                <a:latin typeface="Calibri"/>
                <a:cs typeface="Calibri"/>
              </a:rPr>
              <a:t>ax-margin</a:t>
            </a: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5932026" y="4365967"/>
            <a:ext cx="266007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800" i="0" dirty="0" err="1">
                <a:solidFill>
                  <a:srgbClr val="000000"/>
                </a:solidFill>
                <a:latin typeface="Calibri"/>
                <a:cs typeface="Calibri"/>
              </a:rPr>
              <a:t>softmax</a:t>
            </a:r>
            <a:r>
              <a:rPr lang="en-US" sz="2800" i="0" dirty="0">
                <a:solidFill>
                  <a:srgbClr val="000000"/>
                </a:solidFill>
                <a:latin typeface="Calibri"/>
                <a:cs typeface="Calibri"/>
              </a:rPr>
              <a:t>-margin</a:t>
            </a: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5946800" y="1576618"/>
            <a:ext cx="212435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800" i="0" dirty="0">
                <a:solidFill>
                  <a:srgbClr val="000000"/>
                </a:solidFill>
                <a:latin typeface="Calibri"/>
                <a:cs typeface="Calibri"/>
              </a:rPr>
              <a:t>log loss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1500907" y="2211612"/>
            <a:ext cx="496455" cy="2112819"/>
          </a:xfrm>
          <a:prstGeom prst="downArrow">
            <a:avLst>
              <a:gd name="adj1" fmla="val 50000"/>
              <a:gd name="adj2" fmla="val 67593"/>
            </a:avLst>
          </a:prstGeom>
          <a:solidFill>
            <a:srgbClr val="0062AC"/>
          </a:solidFill>
          <a:ln w="38100" cmpd="sng"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rgbClr val="0062AC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15" name="Down Arrow 14"/>
          <p:cNvSpPr/>
          <p:nvPr/>
        </p:nvSpPr>
        <p:spPr>
          <a:xfrm rot="16200000">
            <a:off x="4511452" y="280071"/>
            <a:ext cx="535717" cy="3128812"/>
          </a:xfrm>
          <a:prstGeom prst="downArrow">
            <a:avLst>
              <a:gd name="adj1" fmla="val 50000"/>
              <a:gd name="adj2" fmla="val 66212"/>
            </a:avLst>
          </a:prstGeom>
          <a:solidFill>
            <a:srgbClr val="C50C0C"/>
          </a:solidFill>
          <a:ln w="38100" cmpd="sng"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rgbClr val="DD1010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17" name="TextBox 16"/>
          <p:cNvSpPr txBox="1">
            <a:spLocks noChangeArrowheads="1"/>
          </p:cNvSpPr>
          <p:nvPr/>
        </p:nvSpPr>
        <p:spPr bwMode="auto">
          <a:xfrm>
            <a:off x="1131450" y="2763489"/>
            <a:ext cx="1235374" cy="766364"/>
          </a:xfrm>
          <a:prstGeom prst="rect">
            <a:avLst/>
          </a:prstGeom>
          <a:solidFill>
            <a:schemeClr val="bg1"/>
          </a:solidFill>
          <a:ln w="38100" cmpd="sng">
            <a:solidFill>
              <a:srgbClr val="0062AC"/>
            </a:solidFill>
          </a:ln>
          <a:extLst/>
        </p:spPr>
        <p:txBody>
          <a:bodyPr wrap="square" lIns="0" tIns="0" rIns="0" bIns="27432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400" i="0" dirty="0">
                <a:solidFill>
                  <a:srgbClr val="0062AC"/>
                </a:solidFill>
                <a:latin typeface="Calibri"/>
                <a:cs typeface="Calibri"/>
              </a:rPr>
              <a:t>add cost function</a:t>
            </a:r>
          </a:p>
        </p:txBody>
      </p:sp>
      <p:sp>
        <p:nvSpPr>
          <p:cNvPr id="21" name="TextBox 20"/>
          <p:cNvSpPr txBox="1">
            <a:spLocks noChangeArrowheads="1"/>
          </p:cNvSpPr>
          <p:nvPr/>
        </p:nvSpPr>
        <p:spPr bwMode="auto">
          <a:xfrm>
            <a:off x="3655952" y="1645900"/>
            <a:ext cx="2075861" cy="397032"/>
          </a:xfrm>
          <a:prstGeom prst="rect">
            <a:avLst/>
          </a:prstGeom>
          <a:solidFill>
            <a:schemeClr val="bg1"/>
          </a:solidFill>
          <a:ln w="38100" cmpd="sng">
            <a:solidFill>
              <a:srgbClr val="C50C0C"/>
            </a:solidFill>
          </a:ln>
          <a:extLst/>
        </p:spPr>
        <p:txBody>
          <a:bodyPr wrap="square" lIns="0" tIns="0" rIns="0" bIns="27432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400" i="0" dirty="0">
                <a:solidFill>
                  <a:srgbClr val="C50C0C"/>
                </a:solidFill>
                <a:latin typeface="Calibri"/>
                <a:cs typeface="Calibri"/>
              </a:rPr>
              <a:t>max to </a:t>
            </a:r>
            <a:r>
              <a:rPr lang="en-US" sz="2400" i="0" dirty="0" err="1">
                <a:solidFill>
                  <a:srgbClr val="C50C0C"/>
                </a:solidFill>
                <a:latin typeface="Calibri"/>
                <a:cs typeface="Calibri"/>
              </a:rPr>
              <a:t>softmax</a:t>
            </a:r>
            <a:endParaRPr lang="en-US" sz="2400" i="0" dirty="0">
              <a:solidFill>
                <a:srgbClr val="C50C0C"/>
              </a:solidFill>
              <a:latin typeface="Calibri"/>
              <a:cs typeface="Calibri"/>
            </a:endParaRPr>
          </a:p>
        </p:txBody>
      </p:sp>
      <p:sp>
        <p:nvSpPr>
          <p:cNvPr id="29" name="Down Arrow 28"/>
          <p:cNvSpPr/>
          <p:nvPr/>
        </p:nvSpPr>
        <p:spPr>
          <a:xfrm rot="16200000">
            <a:off x="4150574" y="3099481"/>
            <a:ext cx="535717" cy="3128812"/>
          </a:xfrm>
          <a:prstGeom prst="downArrow">
            <a:avLst>
              <a:gd name="adj1" fmla="val 50000"/>
              <a:gd name="adj2" fmla="val 66212"/>
            </a:avLst>
          </a:prstGeom>
          <a:solidFill>
            <a:srgbClr val="C50C0C"/>
          </a:solidFill>
          <a:ln w="38100" cmpd="sng"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rgbClr val="DD1010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0" name="TextBox 29"/>
          <p:cNvSpPr txBox="1">
            <a:spLocks noChangeArrowheads="1"/>
          </p:cNvSpPr>
          <p:nvPr/>
        </p:nvSpPr>
        <p:spPr bwMode="auto">
          <a:xfrm>
            <a:off x="3295074" y="4465310"/>
            <a:ext cx="2075861" cy="397032"/>
          </a:xfrm>
          <a:prstGeom prst="rect">
            <a:avLst/>
          </a:prstGeom>
          <a:solidFill>
            <a:schemeClr val="bg1"/>
          </a:solidFill>
          <a:ln w="38100" cmpd="sng">
            <a:solidFill>
              <a:srgbClr val="C50C0C"/>
            </a:solidFill>
          </a:ln>
          <a:extLst/>
        </p:spPr>
        <p:txBody>
          <a:bodyPr wrap="square" lIns="0" tIns="0" rIns="0" bIns="27432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400" i="0" dirty="0">
                <a:solidFill>
                  <a:srgbClr val="C50C0C"/>
                </a:solidFill>
                <a:latin typeface="Calibri"/>
                <a:cs typeface="Calibri"/>
              </a:rPr>
              <a:t>max to </a:t>
            </a:r>
            <a:r>
              <a:rPr lang="en-US" sz="2400" i="0" dirty="0" err="1">
                <a:solidFill>
                  <a:srgbClr val="C50C0C"/>
                </a:solidFill>
                <a:latin typeface="Calibri"/>
                <a:cs typeface="Calibri"/>
              </a:rPr>
              <a:t>softmax</a:t>
            </a:r>
            <a:endParaRPr lang="en-US" sz="2400" i="0" dirty="0">
              <a:solidFill>
                <a:srgbClr val="C50C0C"/>
              </a:solidFill>
              <a:latin typeface="Calibri"/>
              <a:cs typeface="Calibri"/>
            </a:endParaRPr>
          </a:p>
        </p:txBody>
      </p:sp>
      <p:sp>
        <p:nvSpPr>
          <p:cNvPr id="31" name="Down Arrow 30"/>
          <p:cNvSpPr/>
          <p:nvPr/>
        </p:nvSpPr>
        <p:spPr>
          <a:xfrm>
            <a:off x="6871606" y="2283195"/>
            <a:ext cx="496455" cy="2112819"/>
          </a:xfrm>
          <a:prstGeom prst="downArrow">
            <a:avLst>
              <a:gd name="adj1" fmla="val 50000"/>
              <a:gd name="adj2" fmla="val 67593"/>
            </a:avLst>
          </a:prstGeom>
          <a:solidFill>
            <a:srgbClr val="0062AC"/>
          </a:solidFill>
          <a:ln w="38100" cmpd="sng"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1" u="none" strike="noStrike" cap="none" normalizeH="0" baseline="0">
              <a:ln>
                <a:noFill/>
              </a:ln>
              <a:solidFill>
                <a:srgbClr val="0062AC"/>
              </a:solidFill>
              <a:effectLst/>
              <a:latin typeface="Times New Roman" pitchFamily="18" charset="0"/>
              <a:ea typeface="TIMES-ROMAN"/>
              <a:cs typeface="TIMES-ROMAN"/>
            </a:endParaRPr>
          </a:p>
        </p:txBody>
      </p:sp>
      <p:sp>
        <p:nvSpPr>
          <p:cNvPr id="32" name="TextBox 31"/>
          <p:cNvSpPr txBox="1">
            <a:spLocks noChangeArrowheads="1"/>
          </p:cNvSpPr>
          <p:nvPr/>
        </p:nvSpPr>
        <p:spPr bwMode="auto">
          <a:xfrm>
            <a:off x="6502149" y="2835072"/>
            <a:ext cx="1235374" cy="766364"/>
          </a:xfrm>
          <a:prstGeom prst="rect">
            <a:avLst/>
          </a:prstGeom>
          <a:solidFill>
            <a:schemeClr val="bg1"/>
          </a:solidFill>
          <a:ln w="38100" cmpd="sng">
            <a:solidFill>
              <a:srgbClr val="0062AC"/>
            </a:solidFill>
          </a:ln>
          <a:extLst/>
        </p:spPr>
        <p:txBody>
          <a:bodyPr wrap="square" lIns="0" tIns="0" rIns="0" bIns="27432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algn="ctr" eaLnBrk="1" hangingPunct="1"/>
            <a:r>
              <a:rPr lang="en-US" sz="2400" i="0" dirty="0">
                <a:solidFill>
                  <a:srgbClr val="0062AC"/>
                </a:solidFill>
                <a:latin typeface="Calibri"/>
                <a:cs typeface="Calibri"/>
              </a:rPr>
              <a:t>add cost function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="" xmlns:a16="http://schemas.microsoft.com/office/drawing/2014/main" id="{A6935A1C-7E88-E640-8843-A9E84660EB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292" y="1168164"/>
            <a:ext cx="3553959" cy="38345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="" xmlns:a16="http://schemas.microsoft.com/office/drawing/2014/main" id="{4855D9EA-D935-934A-8742-856A3B9CD4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56" y="4985860"/>
            <a:ext cx="4994994" cy="38279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="" xmlns:a16="http://schemas.microsoft.com/office/drawing/2014/main" id="{92C6D245-39C6-4140-9315-3C8BF45086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3882" y="1079834"/>
            <a:ext cx="4393021" cy="54211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="" xmlns:a16="http://schemas.microsoft.com/office/drawing/2014/main" id="{B8536CC6-8B6D-F640-84AB-3B08CFDC01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39192" y="5411677"/>
            <a:ext cx="5715000" cy="546980"/>
          </a:xfrm>
          <a:prstGeom prst="rect">
            <a:avLst/>
          </a:prstGeom>
        </p:spPr>
      </p:pic>
      <p:sp>
        <p:nvSpPr>
          <p:cNvPr id="23" name="Title 1">
            <a:extLst>
              <a:ext uri="{FF2B5EF4-FFF2-40B4-BE49-F238E27FC236}">
                <a16:creationId xmlns="" xmlns:a16="http://schemas.microsoft.com/office/drawing/2014/main" id="{5F6D94DE-7FFF-5042-B203-D744A07B7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57015"/>
            <a:ext cx="8534400" cy="685800"/>
          </a:xfrm>
        </p:spPr>
        <p:txBody>
          <a:bodyPr>
            <a:normAutofit/>
          </a:bodyPr>
          <a:lstStyle/>
          <a:p>
            <a:r>
              <a:rPr lang="en-US" sz="3600" dirty="0"/>
              <a:t>Relationships Among Losses</a:t>
            </a:r>
            <a:endParaRPr lang="en-US" sz="3600" dirty="0">
              <a:solidFill>
                <a:srgbClr val="0062A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684377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 animBg="1"/>
      <p:bldP spid="15" grpId="0" animBg="1"/>
      <p:bldP spid="17" grpId="0" animBg="1"/>
      <p:bldP spid="21" grpId="0" animBg="1"/>
      <p:bldP spid="29" grpId="0" animBg="1"/>
      <p:bldP spid="30" grpId="0" animBg="1"/>
      <p:bldP spid="31" grpId="0" animBg="1"/>
      <p:bldP spid="32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74220</TotalTime>
  <Words>7972</Words>
  <Application>Microsoft Macintosh PowerPoint</Application>
  <PresentationFormat>On-screen Show (4:3)</PresentationFormat>
  <Paragraphs>597</Paragraphs>
  <Slides>53</Slides>
  <Notes>22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4" baseType="lpstr">
      <vt:lpstr>Office Theme</vt:lpstr>
      <vt:lpstr>TTIC 31210: Advanced Natural Language Processing</vt:lpstr>
      <vt:lpstr>Roadmap</vt:lpstr>
      <vt:lpstr>Assignments</vt:lpstr>
      <vt:lpstr>Inference with Structured Predictors</vt:lpstr>
      <vt:lpstr>Greedy Inference</vt:lpstr>
      <vt:lpstr>Beam Search (beam size b = 2)</vt:lpstr>
      <vt:lpstr>Extend Hypotheses</vt:lpstr>
      <vt:lpstr>Prune Hypotheses (b = 2)</vt:lpstr>
      <vt:lpstr>Prune Hypotheses (b = 2)</vt:lpstr>
      <vt:lpstr>Extend Hypotheses</vt:lpstr>
      <vt:lpstr>Prune Hypotheses (b = 2)</vt:lpstr>
      <vt:lpstr>Prune Hypotheses (b = 2)</vt:lpstr>
      <vt:lpstr>Recombination</vt:lpstr>
      <vt:lpstr>Recombination</vt:lpstr>
      <vt:lpstr>Recombination with Ranked Backpointers</vt:lpstr>
      <vt:lpstr>Recombination in Beam Search</vt:lpstr>
      <vt:lpstr>Beam Search for Phrase-Based Machine Translation</vt:lpstr>
      <vt:lpstr>Recombination for Phrase-Based Machine Translation</vt:lpstr>
      <vt:lpstr>Recombination for Phrase-Based Machine Translation</vt:lpstr>
      <vt:lpstr>Gradient Descent for Inference</vt:lpstr>
      <vt:lpstr>Relaxing Discrete Output Space for POS Tagging</vt:lpstr>
      <vt:lpstr>Relaxing Discrete Output Space for POS Tagging</vt:lpstr>
      <vt:lpstr>Relaxing Discrete Output Space for POS Tagging</vt:lpstr>
      <vt:lpstr>Relaxing Discrete Output Space for POS Tagging</vt:lpstr>
      <vt:lpstr>Gradient Descent for Inference</vt:lpstr>
      <vt:lpstr>Empirical Comparison</vt:lpstr>
      <vt:lpstr>Inference Networks for Structured Prediction</vt:lpstr>
      <vt:lpstr>Inference Networks for POS Tagging</vt:lpstr>
      <vt:lpstr>PowerPoint Presentation</vt:lpstr>
      <vt:lpstr>PowerPoint Presentation</vt:lpstr>
      <vt:lpstr>Inference Networks</vt:lpstr>
      <vt:lpstr>Empirical Comparison</vt:lpstr>
      <vt:lpstr>Integer Linear Programming</vt:lpstr>
      <vt:lpstr>Inference: Summary</vt:lpstr>
      <vt:lpstr>Learning in Structured Prediction</vt:lpstr>
      <vt:lpstr>Cost Functions</vt:lpstr>
      <vt:lpstr>Cost Functions</vt:lpstr>
      <vt:lpstr>Empirical Risk Minimization</vt:lpstr>
      <vt:lpstr>Loss Functions for Structured Prediction</vt:lpstr>
      <vt:lpstr>Loss Functions for Structured Prediction</vt:lpstr>
      <vt:lpstr>Loss Functions for Structured Prediction</vt:lpstr>
      <vt:lpstr>Max-Margin Markov Networks</vt:lpstr>
      <vt:lpstr>Maximum-Margin Markov Networks</vt:lpstr>
      <vt:lpstr>A New Structured Inference Problem</vt:lpstr>
      <vt:lpstr>Loss Functions for Structured Prediction</vt:lpstr>
      <vt:lpstr>Visualizing Losses for Binary Classification</vt:lpstr>
      <vt:lpstr>Loss Functions for Structured Prediction</vt:lpstr>
      <vt:lpstr>(Chain) Conditional Random Fields</vt:lpstr>
      <vt:lpstr>(Chain) Conditional Random Fields</vt:lpstr>
      <vt:lpstr>Loss Functions for Structured Prediction</vt:lpstr>
      <vt:lpstr>Visualizing Losses for Binary Classification</vt:lpstr>
      <vt:lpstr>Loss Functions for Structured Prediction</vt:lpstr>
      <vt:lpstr>Relationships Among Losses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TTIC 31190: Natural Language Processing</dc:title>
  <dc:creator>Kevin Gimpel</dc:creator>
  <cp:lastModifiedBy>Kevin</cp:lastModifiedBy>
  <cp:revision>1324</cp:revision>
  <dcterms:created xsi:type="dcterms:W3CDTF">2015-08-31T18:15:35Z</dcterms:created>
  <dcterms:modified xsi:type="dcterms:W3CDTF">2019-05-01T21:02:10Z</dcterms:modified>
</cp:coreProperties>
</file>